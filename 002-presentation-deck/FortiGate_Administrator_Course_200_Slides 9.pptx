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6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notesMaster" Target="notesMasters/notes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https://docs.fortinet.com/document/fortigate/7.6.4/administration-guide/954635/getting-started
- Internal reference: FortiGate_Fortinet_200_slides_training_FULL.pptx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FORTIGATE ADMINISTRATOR COURSE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to operational readiness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046720" y="-731520"/>
            <a:ext cx="5212080" cy="5212080"/>
          </a:xfrm>
          <a:prstGeom prst="arc">
            <a:avLst/>
          </a:prstGeom>
          <a:solidFill>
            <a:srgbClr val="E60012">
              <a:alpha val="88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FORTIGATE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B4BA"/>
                </a:solidFill>
              </a:rPr>
              <a:t>Administrator Course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4F2"/>
                </a:solidFill>
              </a:rPr>
              <a:t>200-slide beginner training deck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65836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System settings • Policies • NAT • Routing • Identity • Security profiles • VPN • SD-WAN • HA • Troubleshooting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6C0D0"/>
                </a:solidFill>
              </a:rPr>
              <a:t>Designed for instructor-led learning with labs, checkpoints, and operational validation.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989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1A0B6"/>
                </a:solidFill>
              </a:rPr>
              <a:t>FortiOS 7.6 aligned | English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Agenda and course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14 modules • beginner-first explanations • configuration and troubleshooting practice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6DDE8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0012"/>
                </a:solidFill>
              </a:rPr>
              <a:t>1–4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8952" y="2560320"/>
            <a:ext cx="21488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338"/>
                </a:solidFill>
              </a:rPr>
              <a:t>Foundations, system, logging, policies/NAT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4160520"/>
            <a:ext cx="21488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Outcome: explain, configure, verify and troubleshoot.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EEF2F8"/>
          </a:solidFill>
          <a:ln w="15240">
            <a:solidFill>
              <a:srgbClr val="D6DDE8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75304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0012"/>
                </a:solidFill>
              </a:rPr>
              <a:t>5–7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75304" y="2560320"/>
            <a:ext cx="21488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338"/>
                </a:solidFill>
              </a:rPr>
              <a:t>Routing, authentication and FSSO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75304" y="4160520"/>
            <a:ext cx="21488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Outcome: explain, configure, verify and troubleshoot.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7064" y="1600200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6DDE8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91656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0012"/>
                </a:solidFill>
              </a:rPr>
              <a:t>8–11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91656" y="2560320"/>
            <a:ext cx="21488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338"/>
                </a:solidFill>
              </a:rPr>
              <a:t>Certificates, AV, web, IPS and application control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1656" y="4160520"/>
            <a:ext cx="21488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Outcome: explain, configure, verify and troubleshoot.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43416" y="1600200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EEF2F8"/>
          </a:solidFill>
          <a:ln w="15240">
            <a:solidFill>
              <a:srgbClr val="D6DDE8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08008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0012"/>
                </a:solidFill>
              </a:rPr>
              <a:t>12–14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08008" y="2560320"/>
            <a:ext cx="21488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338"/>
                </a:solidFill>
              </a:rPr>
              <a:t>IPsec, SD-WAN, HA and troubleshooting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08008" y="4160520"/>
            <a:ext cx="21488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Outcome: explain, configure, verify and troubleshoot.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003 | Course goals and learning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Explain the security purpose in plain language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packet or session fields involved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Relate the concept to a FortiGate decision point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understanding with a simple traffic example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004 | What a firewall is and where it sits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Identify the packet or session fields involved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Relate the concept to a FortiGate decision point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understanding with a simple traffic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005 | Packet anatomy: Ethernet, IP, TCP and UDP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Explain the security purpose in plain language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packet or session fields involved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Relate the concept to a FortiGate decision point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understanding with a simple traffic example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packet anatomy: ethernet, ip, tcp and udp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006 | The OSI model for firewall operators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Identify the packet or session fields involved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Relate the concept to a FortiGate decision point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understanding with a simple traffic example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007 | Packet filtering versus stateful inspection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Explain the security purpose in plain language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packet or session fields involved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Relate the concept to a FortiGate decision point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understanding with a simple traffic example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008 | How a stateful firewall builds sessions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Identify the packet or session fields involved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Relate the concept to a FortiGate decision point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understanding with a simple traffic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009 | The five-tuple and session matching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Explain the security purpose in plain language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packet or session fields involved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Relate the concept to a FortiGate decision point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understanding with a simple traffic example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the five-tuple and session matching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010 | TCP handshake and connection teardown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Identify the packet or session fields involved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Relate the concept to a FortiGate decision point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understanding with a simple traffic example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011 | UDP flows and timeout-based state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Explain the security purpose in plain language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packet or session fields involved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Relate the concept to a FortiGate decision point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understanding with a simple traffic example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012 | ICMP: reachability is not application health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Identify the packet or session fields involved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Relate the concept to a FortiGate decision point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understanding with a simple traffic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013 | Next-generation firewall capabilities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Explain the security purpose in plain language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packet or session fields involved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Relate the concept to a FortiGate decision point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understanding with a simple traffic example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next-generation firewall capabilities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014 | Threat surface, trust boundaries and zones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Identify the packet or session fields involved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Relate the concept to a FortiGate decision point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understanding with a simple traffic example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015 | Defense in depth and least privilege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Explain the security purpose in plain language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packet or session fields involved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Relate the concept to a FortiGate decision point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understanding with a simple traffic example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016 | Reference lab topology and addressing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Identify the packet or session fields involved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Relate the concept to a FortiGate decision point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understanding with a simple traffic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017 | How to read a packet-flow diagram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Explain the security purpose in plain language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packet or session fields involved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Relate the concept to a FortiGate decision point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understanding with a simple traffic example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how to read a packet-flow diagram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018 | Operator safety: change, test and rollback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Foundations of Firewalls and Packet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Explain the security purpose in plain 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Identify the packet or session fields involved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Relate the concept to a FortiGate decision point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understanding with a simple traffic example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019 | Factory default access and first login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State the configuration objective and prerequisite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the GUI first, then identify the equivalent CLI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least privilege to management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state, save a backup and document rollback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020 | Initial hardening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the GUI first, then identify the equivalent CLI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least privilege to management 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state, save a backup and document rollback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021 | Hostname, time zone and NTP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State the configuration objective and prerequisite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the GUI first, then identify the equivalent CLI context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least privilege to management access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state, save a backup and document rollback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hostname, time zone and ntp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022 | DNS configuration and FortiGuard reachability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the GUI first, then identify the equivalent CLI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least privilege to management access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state, save a backup and document rollback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023 | GUI navigation and dashboard widgets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State the configuration objective and prerequisite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the GUI first, then identify the equivalent CLI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least privilege to management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state, save a backup and document rollback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024 | CLI structure: config, show, get and diagnose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the GUI first, then identify the equivalent CLI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least privilege to management 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state, save a backup and document rollback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025 | Administrator profiles and least privilege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State the configuration objective and prerequisite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the GUI first, then identify the equivalent CLI context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least privilege to management access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state, save a backup and document rollback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administrator profiles and least privilege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026 | Trusted hosts and management-plane restriction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the GUI first, then identify the equivalent CLI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least privilege to management access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state, save a backup and document rollback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027 | Administrative services: HTTPS, SSH, ping and SNMP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State the configuration objective and prerequisite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the GUI first, then identify the equivalent CLI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least privilege to management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state, save a backup and document rollback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028 | Local administrators and MFA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the GUI first, then identify the equivalent CLI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least privilege to management 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state, save a backup and document rollback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029 | Configuration backup and restore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State the configuration objective and prerequisite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the GUI first, then identify the equivalent CLI context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least privilege to management access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state, save a backup and document rollback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configuration backup and restore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030 | Firmware lifecycle and upgrade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the GUI first, then identify the equivalent CLI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least privilege to management access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state, save a backup and document rollback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031 | Device registration methods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State the configuration objective and prerequisite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the GUI first, then identify the equivalent CLI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least privilege to management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state, save a backup and document rollback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032 | FortiCare and FortiGuard service status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the GUI first, then identify the equivalent CLI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least privilege to management 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state, save a backup and document rollback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033 | Physical interfaces and interface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State the configuration objective and prerequisite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the GUI first, then identify the equivalent CLI context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least privilege to management access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state, save a backup and document rollback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physical interfaces and interface roles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034 | VLAN interfaces and 802.1Q tagging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the GUI first, then identify the equivalent CLI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least privilege to management access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state, save a backup and document rollback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035 | Zones and policy simplification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State the configuration objective and prerequisite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the GUI first, then identify the equivalent CLI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least privilege to management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state, save a backup and document rollback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036 | DHCP server and DHCP relay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the GUI first, then identify the equivalent CLI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least privilege to management 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state, save a backup and document rollback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037 | Link aggregation and redundant interfaces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State the configuration objective and prerequisite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the GUI first, then identify the equivalent CLI context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least privilege to management access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state, save a backup and document rollback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link aggregation and redundant interfaces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038 | Loopback interfaces and management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the GUI first, then identify the equivalent CLI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least privilege to management access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state, save a backup and document rollback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039 | VDOM concepts and administrative domains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State the configuration objective and prerequisite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the GUI first, then identify the equivalent CLI context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least privilege to management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state, save a backup and document rollback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040 | System settings lab and validation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System and Network Settings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State the configuration objective and prerequisite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the GUI first, then identify the equivalent CLI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least privilege to management access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state, save a backup and document rollback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041 | Why logging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correct log type and expected evidence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Filter by time, source, destination, policy or user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Correlate traffic, event and security records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Turn findings into an operational 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why logging matters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042 | Traffic logs versus event logs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Filter by time, source, destination, policy or user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Correlate traffic, event and security records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Turn findings into an operational 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043 | Security event log families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correct log type and expected 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Filter by time, source, destination, policy or user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Correlate traffic, event and security records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Turn findings into an operational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044 | Local disk and memory logging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Filter by time, source, destination, policy or user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Correlate traffic, event and security records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Turn findings into an operational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045 | Remote syslog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correct log type and expected evidence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Filter by time, source, destination, policy or user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Correlate traffic, event and security records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Turn findings into an operational 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remote syslog architecture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046 | FortiAnalyzer role and registration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Filter by time, source, destination, policy or user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Correlate traffic, event and security records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Turn findings into an operational 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047 | Log severity and retention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correct log type and expected 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Filter by time, source, destination, policy or user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Correlate traffic, event and security records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Turn findings into an operational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048 | Policy logging choices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Filter by time, source, destination, policy or user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Correlate traffic, event and security records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Turn findings into an operational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049 | FortiView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correct log type and expected evidence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Filter by time, source, destination, policy or user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Correlate traffic, event and security records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Turn findings into an operational 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fortiview overview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050 | Sessions, sources and destinations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Filter by time, source, destination, policy or user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Correlate traffic, event and security records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Turn findings into an operational 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051 | Application and web activity views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correct log type and expected 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Filter by time, source, destination, policy or user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Correlate traffic, event and security records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Turn findings into an operational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052 | System performance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Filter by time, source, destination, policy or user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Correlate traffic, event and security records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Turn findings into an operational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053 | CPU, memory and session baselines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correct log type and expected evidence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Filter by time, source, destination, policy or user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Correlate traffic, event and security records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Turn findings into an operational 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cpu, memory and session baselines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054 | Interface counters and error indicators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Filter by time, source, destination, policy or user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Correlate traffic, event and security records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Turn findings into an operational 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055 | Searching and filtering FortiGate logs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correct log type and expected 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Filter by time, source, destination, policy or user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Correlate traffic, event and security records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Turn findings into an operational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056 | Searching and filtering FortiAnalyzer logs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Filter by time, source, destination, policy or user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Correlate traffic, event and security records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Turn findings into an operational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057 | Correlating traffic and security events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correct log type and expected evidence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Filter by time, source, destination, policy or user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Correlate traffic, event and security records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Turn findings into an operational 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correlating traffic and security events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058 | Time synchronization for investigations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Filter by time, source, destination, policy or user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Correlate traffic, event and security records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Turn findings into an operational 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059 | Alerting and operational dashboards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correct log type and expected 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Filter by time, source, destination, policy or user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Correlate traffic, event and security records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Turn findings into an operational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060 | Logging lab: generate, find and explain an event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Logging and Monitoring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correct log type and expected evidence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Filter by time, source, destination, policy or user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Correlate traffic, event and security records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Turn findings into an operational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061 | Policy building blocks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source, destination, service, schedule and action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Place the rule according to first-match logic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NAT only where the traffic design requires it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with hit count, session state and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policy building blocks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062 | Address, FQDN and geography objects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Place the rule according to first-match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NAT only where the traffic design requires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with hit count, session state and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063 | Service objects and port ranges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source, destination, service, schedule and 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Place the rule according to first-match logic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NAT only where the traffic design requires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with hit count, session state and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064 | Schedules and time-based access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Place the rule according to first-match logic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NAT only where the traffic design requires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with hit count, session state and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065 | Policy order and first-match behavior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source, destination, service, schedule and action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Place the rule according to first-match logic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NAT only where the traffic design requires it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with hit count, session state and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policy order and first-match behavior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066 | Implicit deny and default security posture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Place the rule according to first-match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NAT only where the traffic design requires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with hit count, session state and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067 | Building an IPv4 firewall policy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source, destination, service, schedule and 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Place the rule according to first-match logic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NAT only where the traffic design requires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with hit count, session state and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068 | Policy status, hit count and usage review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Place the rule according to first-match logic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NAT only where the traffic design requires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with hit count, session state and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069 | Logging allowed and denied traffic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source, destination, service, schedule and action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Place the rule according to first-match logic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NAT only where the traffic design requires it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with hit count, session state and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logging allowed and denied traffic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070 | Source NAT with outgoing-interface address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Place the rule according to first-match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NAT only where the traffic design requires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with hit count, session state and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071 | Dynamic source NAT with IP pools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source, destination, service, schedule and 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Place the rule according to first-match logic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NAT only where the traffic design requires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with hit count, session state and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072 | Port address translation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Place the rule according to first-match logic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NAT only where the traffic design requires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with hit count, session state and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073 | Central SNAT versus policy NAT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source, destination, service, schedule and action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Place the rule according to first-match logic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NAT only where the traffic design requires it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with hit count, session state and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central snat versus policy nat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074 | Destination NAT with virtual IPs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Place the rule according to first-match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NAT only where the traffic design requires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with hit count, session state and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075 | Port forwarding for published services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source, destination, service, schedule and 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Place the rule according to first-match logic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NAT only where the traffic design requires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with hit count, session state and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076 | One-to-one NAT and mapped addresses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Place the rule according to first-match logic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NAT only where the traffic design requires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with hit count, session state and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077 | Hairpin NAT and split DNS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source, destination, service, schedule and action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Place the rule according to first-match logic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Apply NAT only where the traffic design requires it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with hit count, session state and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hairpin nat and split dns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078 | NAT troubleshooting with session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Place the rule according to first-match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Apply NAT only where the traffic design requires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with hit count, session state and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079 | Policy cleanup and lifecycle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source, destination, service, schedule and 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Place the rule according to first-match logic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Apply NAT only where the traffic design requires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with hit count, session state and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080 | Firewall policy and NAT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Policies and NAT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source, destination, service, schedule and action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Place the rule according to first-match logic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Apply NAT only where the traffic design requires 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with hit count, session state and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081 | How FortiGate makes a forwarding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destination prefix and candidate routes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Compare prefix length, distance and priority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next-hop reachability and return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failover without creating asymmetric routing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how fortigate makes a forwarding decision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082 | Reading the IPv4 routing 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Compare prefix length, distance and priority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next-hop reachability and return path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failover without creating asymmetric routing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083 | Connected, static and dynamic routes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destination prefix and candidate routes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Compare prefix length, distance and priority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next-hop reachability and return path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failover without creating asymmetric routing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084 | Administrative distance and route priority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Compare prefix length, distance and priority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next-hop reachability and return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failover without creating asymmetric routing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085 | Configuring a default route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destination prefix and candidate routes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Compare prefix length, distance and priority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next-hop reachability and return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failover without creating asymmetric routing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configuring a default route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086 | Configuring specific static routes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Compare prefix length, distance and priority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next-hop reachability and return path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failover without creating asymmetric routing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087 | Route lookup and longest-prefix match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destination prefix and candidate routes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Compare prefix length, distance and priority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next-hop reachability and return path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failover without creating asymmetric routing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088 | Recursive next-hop resolution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Compare prefix length, distance and priority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next-hop reachability and return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failover without creating asymmetric routing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089 | Blackhole routes and loop prevention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destination prefix and candidate routes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Compare prefix length, distance and priority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next-hop reachability and return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failover without creating asymmetric routing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blackhole routes and loop prevention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090 | Policy routes and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Compare prefix length, distance and priority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next-hop reachability and return path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failover without creating asymmetric routing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091 | ECMP load balancing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destination prefix and candidate routes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Compare prefix length, distance and priority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next-hop reachability and return path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failover without creating asymmetric routing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092 | ECMP algorithms and flow persistence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Compare prefix length, distance and priority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next-hop reachability and return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failover without creating asymmetric routing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093 | Static route failover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destination prefix and candidate routes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Compare prefix length, distance and priority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next-hop reachability and return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failover without creating asymmetric routing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static route failover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094 | Link health monitoring and dead gateway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Compare prefix length, distance and priority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next-hop reachability and return path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failover without creating asymmetric routing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095 | Route redundancy test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destination prefix and candidate routes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Compare prefix length, distance and priority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next-hop reachability and return path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failover without creating asymmetric routing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096 | OSPF concepts for beginners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Compare prefix length, distance and priority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next-hop reachability and return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failover without creating asymmetric routing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097 | BGP concepts for beginners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the destination prefix and candidate routes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Compare prefix length, distance and priority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next-hop reachability and return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failover without creating asymmetric routing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bgp concepts for beginners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098 | Route redistribution risks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Compare prefix length, distance and priority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next-hop reachability and return path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failover without creating asymmetric routing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099 | Asymmetric routing and session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the destination prefix and candidate routes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Compare prefix length, distance and priority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next-hop reachability and return path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failover without creating asymmetric routing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100 | Routing lab: failover and ECMP verification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Routing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the destination prefix and candidate routes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Compare prefix length, distance and priority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next-hop reachability and return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failover without creating asymmetric routing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101 | Identity-aware policy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Map identity source, group and policy requirement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the remote server before applying enforcement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Observe authenticated users and timeout behavior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logs to separate credential, group and connectivity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identity-aware policy concepts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102 | Local users and user groups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the remote server before applying enforcement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Observe authenticated users and timeout behavior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logs to separate credential, group and connectivity failures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103 | Remote LDAP server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Map identity source, group and policy requirement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the remote server before applying enforcement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Observe authenticated users and timeout behavior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logs to separate credential, group and connectivity failures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104 | LDAP bind, search base and group matching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the remote server before applying enforcement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Observe authenticated users and timeout behavior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logs to separate credential, group and connectivity failures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105 | Testing LDAP connectivity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Map identity source, group and policy requirement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the remote server before applying enforcement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Observe authenticated users and timeout behavior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logs to separate credential, group and connectivity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testing ldap connectivity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106 | Remote RADIUS server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the remote server before applying enforcement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Observe authenticated users and timeout behavior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logs to separate credential, group and connectivity failures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107 | RADIUS authentication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Map identity source, group and policy requirement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the remote server before applying enforcement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Observe authenticated users and timeout behavior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logs to separate credential, group and connectivity failures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108 | User groups in firewall policies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the remote server before applying enforcement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Observe authenticated users and timeout behavior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logs to separate credential, group and connectivity failures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109 | Captive portal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Map identity source, group and policy requirement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the remote server before applying enforcement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Observe authenticated users and timeout behavior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logs to separate credential, group and connectivity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captive portal concepts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110 | Authentication schemes and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the remote server before applying enforcement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Observe authenticated users and timeout behavior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logs to separate credential, group and connectivity failures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111 | Monitoring authenticated firewall users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Map identity source, group and policy requirement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the remote server before applying enforcement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Observe authenticated users and timeout behavior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logs to separate credential, group and connectivity failures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112 | Authentication timeout and reauthentication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Test the remote server before applying enforcement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Observe authenticated users and timeout behavior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logs to separate credential, group and connectivity failures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113 | Troubleshooting failed LDAP authentication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Map identity source, group and policy requirement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Test the remote server before applying enforcement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Observe authenticated users and timeout behavior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logs to separate credential, group and connectivity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troubleshooting failed ldap authentication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114 | Troubleshooting failed RADIUS authentication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Map identity source, group and policy requirement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Test the remote server before applying enforcement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Observe authenticated users and timeout behavior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logs to separate credential, group and connectivity failures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115 | Authentication lab and user monitoring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Firewall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Map identity source, group and policy requirement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Test the remote server before applying enforcement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Observe authenticated users and timeout behavior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logs to separate credential, group and connectivity failures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116 | Why transparent identity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Limit imported groups to those required by policy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Design collector resilience and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identity in the policy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117 | FSSO architecture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Describe how FortiGate learns the user-to-IP mapping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Limit imported groups to those required by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Design collector resilience and monitoring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identity in the policy log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fsso architecture overview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118 | Active Directory logon events and user mapping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Limit imported groups to those required by policy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Design collector resilience and monitoring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identity in the policy log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119 | Collector Agent mode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Describe how FortiGate learns the user-to-IP mapping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Limit imported groups to those required by policy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Design collector resilience and monitoring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identity in the policy log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120 | Polling mode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Limit imported groups to those required by policy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Design collector resilience and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identity in the policy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121 | Domain controller integration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Describe how FortiGate learns the user-to-IP mapping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Limit imported groups to those required by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Design collector resilience and monitoring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identity in the policy log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domain controller integration considerations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122 | User-to-IP mapping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Limit imported groups to those required by policy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Design collector resilience and monitoring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identity in the policy log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123 | FSSO groups and FortiGate policies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Describe how FortiGate learns the user-to-IP mapping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Limit imported groups to those required by policy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Design collector resilience and monitoring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identity in the policy log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124 | Nested groups and group filters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Limit imported groups to those required by policy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Design collector resilience and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identity in the policy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125 | Monitoring learned FSSO users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Describe how FortiGate learns the user-to-IP mapping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Limit imported groups to those required by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Design collector resilience and monitoring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identity in the policy log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monitoring learned fsso users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126 | Multiple domains and sites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Limit imported groups to those required by policy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Design collector resilience and monitoring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identity in the policy log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127 | Resilience and collector redundancy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Describe how FortiGate learns the user-to-IP mapping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Limit imported groups to those required by policy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Design collector resilience and monitoring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Validate identity in the policy log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128 | Common FSSO failure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Limit imported groups to those required by policy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Design collector resilience and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Validate identity in the policy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129 | Privacy and operational controls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Describe how FortiGate learns the user-to-IP mapping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Limit imported groups to those required by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Design collector resilience and monitoring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Validate identity in the policy log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privacy and operational controls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130 | FSSO with Microsoft AD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Fortinet Single Sign-On (FSSO)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Describe how FortiGate learns the user-to-IP mapping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Limit imported groups to those required by policy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Design collector resilience and monitoring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Validate identity in the policy log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131 | Encryption, hashing and digital signatures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certificate purpose, owner and trust chain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Protect private keys and plan renewal before expiry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Choose certificate or deep inspection deliberately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Document exceptions for privacy and compatibility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132 | Public key infrastructure fundamentals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Protect private keys and plan renewal before expiry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Choose certificate or deep inspection deliberately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Document exceptions for privacy and compatibility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133 | Certificates, keys and trust chains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certificate purpose, owner and trust chain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Protect private keys and plan renewal before expiry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Choose certificate or deep inspection deliberately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Document exceptions for privacy and compatibility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certificates, keys and trust chains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134 | CN, SAN, validity and key usage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Protect private keys and plan renewal before expiry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Choose certificate or deep inspection deliberately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Document exceptions for privacy and compatibility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135 | Root, intermediate and leaf certificates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certificate purpose, owner and trust chain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Protect private keys and plan renewal before expiry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Choose certificate or deep inspection deliberately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Document exceptions for privacy and compatibility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136 | Generating a certificate signing request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Protect private keys and plan renewal before expiry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Choose certificate or deep inspection deliberately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Document exceptions for privacy and compatibility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137 | Importing local and remote certificates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certificate purpose, owner and trust chain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Protect private keys and plan renewal before expiry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Choose certificate or deep inspection deliberately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Document exceptions for privacy and compatibility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importing local and remote certificates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138 | Certificate renewal and expiration monitoring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Protect private keys and plan renewal before expiry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Choose certificate or deep inspection deliberately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Document exceptions for privacy and compatibility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139 | Administrative GUI certificates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certificate purpose, owner and trust chain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Protect private keys and plan renewal before expiry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Choose certificate or deep inspection deliberately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Document exceptions for privacy and compatibility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140 | IPsec and authentication certificates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Protect private keys and plan renewal before expiry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Choose certificate or deep inspection deliberately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Document exceptions for privacy and compatibility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141 | Certificate inspection versus deep inspection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certificate purpose, owner and trust chain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Protect private keys and plan renewal before expiry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Choose certificate or deep inspection deliberately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Document exceptions for privacy and compatibility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certificate inspection versus deep inspection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142 | How HTTPS deep inspection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Protect private keys and plan renewal before expiry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Choose certificate or deep inspection deliberately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Document exceptions for privacy and compatibility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143 | Deploying the FortiGate inspection 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certificate purpose, owner and trust chain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Protect private keys and plan renewal before expiry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Choose certificate or deep inspection deliberately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Document exceptions for privacy and compatibility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144 | Certificate pinning and application breakage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Protect private keys and plan renewal before expiry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Choose certificate or deep inspection deliberately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Document exceptions for privacy and compatibility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145 | SSL inspection exemptions and governance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Identify certificate purpose, owner and trust chain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Protect private keys and plan renewal before expiry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Choose certificate or deep inspection deliberately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Document exceptions for privacy and compatibility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ssl inspection exemptions and governance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146 | Privacy, legal and data-handling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Protect private keys and plan renewal before expiry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Choose certificate or deep inspection deliberately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Document exceptions for privacy and compatibility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147 | Troubleshooting TLS negotiation failures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Identify certificate purpose, owner and trust chain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Protect private keys and plan renewal before expiry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Choose certificate or deep inspection deliberately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Document exceptions for privacy and compatibility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148 | Certificate operations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Certificate Operations and SSL Inspection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Identify certificate purpose, owner and trust chain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Protect private keys and plan renewal before expiry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Choose certificate or deep inspection deliberately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Document exceptions for privacy and compatibility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149 | Malware and antivirus fundamentals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what content can be scanned on this traffic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profile settings based on risk and protocol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SSL inspection where encrypted visibility is required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detection in antivirus event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malware and antivirus fundamentals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150 | FortiGuard antivirus signatures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Select profile settings based on risk and protocol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SSL inspection where encrypted visibility is required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detection in antivirus event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151 | Flow-based versus proxy-based inspection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what content can be scanned on this traffic 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profile settings based on risk and protocol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SSL inspection where encrypted visibility is required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detection in antivirus event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152 | Antivirus profiles and protocol coverage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Select profile settings based on risk and protocol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SSL inspection where encrypted visibility is required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detection in antivirus event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153 | Scan modes and file-size limits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what content can be scanned on this traffic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profile settings based on risk and protocol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SSL inspection where encrypted visibility is required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detection in antivirus event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scan modes and file-size limits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154 | Handling infected files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Select profile settings based on risk and protocol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SSL inspection where encrypted visibility is required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detection in antivirus event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155 | Block, monitor and quarantine decisions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what content can be scanned on this traffic 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profile settings based on risk and protocol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SSL inspection where encrypted visibility is required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detection in antivirus event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156 | Botnet and outbreak protection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Select profile settings based on risk and protocol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SSL inspection where encrypted visibility is required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detection in antivirus event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156</a:t>
            </a:fld>
            <a:endParaRPr 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157 | Encrypted traffic and antivirus visibility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what content can be scanned on this traffic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profile settings based on risk and protocol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SSL inspection where encrypted visibility is required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detection in antivirus event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encrypted traffic and antivirus visibility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157</a:t>
            </a:fld>
            <a:endParaRPr 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158 | Applying antivirus to firewall policies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Select profile settings based on risk and protocol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SSL inspection where encrypted visibility is required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detection in antivirus event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158</a:t>
            </a:fld>
            <a:endParaRPr 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159 | Reading antivirus event logs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what content can be scanned on this traffic 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profile settings based on risk and protocol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SSL inspection where encrypted visibility is required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detection in antivirus event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159</a:t>
            </a:fld>
            <a:endParaRPr 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160 | Testing with safe validation files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Select profile settings based on risk and protocol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SSL inspection where encrypted visibility is required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Confirm detection in antivirus event logs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160</a:t>
            </a:fld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161 | False positives and exception handling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Define what content can be scanned on this traffic path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profile settings based on risk and protocol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SSL inspection where encrypted visibility is required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Confirm detection in antivirus event logs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false positives and exception handling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161</a:t>
            </a:fld>
            <a:endParaRPr 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162 | Antivirus performance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Define what content can be scanned on this traffic path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Select profile settings based on risk and protocol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SSL inspection where encrypted visibility is required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Confirm detection in antivirus event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162</a:t>
            </a:fld>
            <a:endParaRPr lang="en-US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163 | Antivirus lab and evidence review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Antivirus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Define what content can be scanned on this traffic 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profile settings based on risk and protocol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SSL inspection where encrypted visibility is required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Confirm detection in antivirus event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163</a:t>
            </a:fld>
            <a:endParaRPr 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164 | Web risk and acceptable-use controls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Combine category controls with precise URL exceptions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Plan HTTPS inspection and user communication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Review web filter logs before tuning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164</a:t>
            </a:fld>
            <a:endParaRPr lang="en-US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165 | FortiGuard web categories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Translate acceptable-use goals into category actions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Combine category controls with precise URL exceptions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Plan HTTPS inspection and user communication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Review web filter logs before tuning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fortiguard web categories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165</a:t>
            </a:fld>
            <a:endParaRPr 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166 | Category actions: allow, monitor, warning and block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Combine category controls with precise URL exceptions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Plan HTTPS inspection and user communication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Review web filter logs before tuning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166</a:t>
            </a:fld>
            <a:endParaRPr 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167 | Static URL filters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Translate acceptable-use goals into category actions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Combine category controls with precise URL exceptions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Plan HTTPS inspection and user communication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Review web filter logs before tuning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167</a:t>
            </a:fld>
            <a:endParaRPr lang="en-US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168 | Wildcard and regular-expression matching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Combine category controls with precise URL exceptions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Plan HTTPS inspection and user communication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Review web filter logs before tuning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168</a:t>
            </a:fld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169 | Web content filtering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Translate acceptable-use goals into category actions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Combine category controls with precise URL exceptions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Plan HTTPS inspection and user communication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Review web filter logs before tuning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web content filtering concepts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169</a:t>
            </a:fld>
            <a:endParaRPr 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170 | Safe search and search-engine controls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Combine category controls with precise URL exceptions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Plan HTTPS inspection and user communication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Review web filter logs before tuning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170</a:t>
            </a:fld>
            <a:endParaRPr lang="en-US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171 | Proxy avoidance and anonymizer categories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Translate acceptable-use goals into category actions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Combine category controls with precise URL exceptions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Plan HTTPS inspection and user communication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Review web filter logs before tuning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171</a:t>
            </a:fld>
            <a:endParaRPr lang="en-US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172 | HTTPS visibility and certificate inspection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Combine category controls with precise URL exceptions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Plan HTTPS inspection and user communication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Review web filter logs before tuning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172</a:t>
            </a:fld>
            <a:endParaRPr 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173 | User and group-based web policy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Translate acceptable-use goals into category actions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Combine category controls with precise URL exceptions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Plan HTTPS inspection and user communication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Review web filter logs before tuning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user and group-based web policy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173</a:t>
            </a:fld>
            <a:endParaRPr lang="en-US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174 | Replacement messages and user experience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Combine category controls with precise URL exceptions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Plan HTTPS inspection and user communication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Review web filter logs before tuning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174</a:t>
            </a:fld>
            <a:endParaRPr lang="en-US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175 | Web rating overrides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Translate acceptable-use goals into category actions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Combine category controls with precise URL exceptions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Plan HTTPS inspection and user communication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Review web filter logs before tuning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175</a:t>
            </a:fld>
            <a:endParaRPr 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176 | Reading web filter logs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Combine category controls with precise URL exceptions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Plan HTTPS inspection and user communication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Review web filter logs before tuning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176</a:t>
            </a:fld>
            <a:endParaRPr lang="en-US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177 | Troubleshooting overblocking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Translate acceptable-use goals into category actions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Combine category controls with precise URL exceptions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Plan HTTPS inspection and user communication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Review web filter logs before tuning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troubleshooting overblocking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177</a:t>
            </a:fld>
            <a:endParaRPr lang="en-US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178 | Web filtering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Web Filtering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Translate acceptable-use goals into category actions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Combine category controls with precise URL exceptions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Plan HTTPS inspection and user communication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Review web filter logs before tuning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178</a:t>
            </a:fld>
            <a:endParaRPr lang="en-US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179 | Intrusion prevention fundamentals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signatures and applications relevant to the policy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Start with monitoring where false-positive risk is 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Enforce protocol and application intent, not ports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Tune using event evidence and business ownership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179</a:t>
            </a:fld>
            <a:endParaRPr 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180 | Signatures, anomalies and protocol decoders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Start with monitoring where false-positive risk is high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Enforce protocol and application intent, not ports alone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Tune using event evidence and business ownership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180</a:t>
            </a:fld>
            <a:endParaRPr 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181 | IPS sensor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signatures and applications relevant to the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Start with monitoring where false-positive risk is high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Enforce protocol and application intent, not ports alone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Tune using event evidence and business ownership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ips sensor structure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181</a:t>
            </a:fld>
            <a:endParaRPr 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182 | Severity, confidence and target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Start with monitoring where false-positive risk is high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Enforce protocol and application intent, not ports alone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Tune using event evidence and business ownership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182</a:t>
            </a:fld>
            <a:endParaRPr 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183 | Protecting servers versus clients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signatures and applications relevant to the policy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Start with monitoring where false-positive risk is 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Enforce protocol and application intent, not ports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Tune using event evidence and business ownership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183</a:t>
            </a:fld>
            <a:endParaRPr lang="en-US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184 | IPS actions and logging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Start with monitoring where false-positive risk is high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Enforce protocol and application intent, not ports alone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Tune using event evidence and business ownership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184</a:t>
            </a:fld>
            <a:endParaRPr lang="en-US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185 | IPS tuning and false-positive reduction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signatures and applications relevant to the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Start with monitoring where false-positive risk is high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Enforce protocol and application intent, not ports alone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Tune using event evidence and business ownership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ips tuning and false-positive reduction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185</a:t>
            </a:fld>
            <a:endParaRPr lang="en-US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186 | Application identification beyond ports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Start with monitoring where false-positive risk is high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Enforce protocol and application intent, not ports alone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Tune using event evidence and business ownership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186</a:t>
            </a:fld>
            <a:endParaRPr 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187 | Application categories and signatures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signatures and applications relevant to the policy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Start with monitoring where false-positive risk is 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Enforce protocol and application intent, not ports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Tune using event evidence and business ownership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187</a:t>
            </a:fld>
            <a:endParaRPr lang="en-US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188 | Application control actions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Start with monitoring where false-positive risk is high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Enforce protocol and application intent, not ports alone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Tune using event evidence and business ownership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188</a:t>
            </a:fld>
            <a:endParaRPr lang="en-US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189 | Enforcing default application ports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signatures and applications relevant to the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Start with monitoring where false-positive risk is high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Enforce protocol and application intent, not ports alone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Tune using event evidence and business ownership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enforcing default application ports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189</a:t>
            </a:fld>
            <a:endParaRPr lang="en-US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190 | Blocking peer-to-peer and torrent traffic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Start with monitoring where false-positive risk is high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Enforce protocol and application intent, not ports alone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Tune using event evidence and business ownership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190</a:t>
            </a:fld>
            <a:endParaRPr lang="en-US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191 | Controlling remote administration tools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signatures and applications relevant to the policy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Start with monitoring where false-positive risk is 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Enforce protocol and application intent, not ports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Tune using event evidence and business ownership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191</a:t>
            </a:fld>
            <a:endParaRPr lang="en-US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192 | Handling unknown and evasive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Start with monitoring where false-positive risk is high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Enforce protocol and application intent, not ports alone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Tune using event evidence and business ownership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192</a:t>
            </a:fld>
            <a:endParaRPr lang="en-US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193 | Reading IPS and application logs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Select signatures and applications relevant to the policy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Start with monitoring where false-positive risk is high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Enforce protocol and application intent, not ports alone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Tune using event evidence and business ownership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reading ips and application logs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193</a:t>
            </a:fld>
            <a:endParaRPr lang="en-US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194 | Performance and inspection-mode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Select signatures and applications relevant to the policy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Start with monitoring where false-positive risk is high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Enforce protocol and application intent, not ports alone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Tune using event evidence and business ownership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194</a:t>
            </a:fld>
            <a:endParaRPr lang="en-US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195 | Combined IPS and application-control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Intrusion Prevention and Application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Select signatures and applications relevant to the policy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Start with monitoring where false-positive risk is 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Enforce protocol and application intent, not ports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Tune using event evidence and business ownership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195</a:t>
            </a:fld>
            <a:endParaRPr lang="en-US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196 | VPN goals and threat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IPsec VPN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Agree peer addresses, authentication and cryptographic proposal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Build phase 1, phase 2, routes and policies as one design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security associations and bidirectional traffic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filtered IKE debug for negotiation failures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196</a:t>
            </a:fld>
            <a:endParaRPr lang="en-US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197 | IPsec standards and terminology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IPsec VPN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68122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61264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Agree peer addresses, authentication and cryptographic proposal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Build phase 1, phase 2, routes and policies as one design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Verify security associations and bidirectional traffic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3047"/>
                </a:solidFill>
              </a:rPr>
              <a:t>Use filtered IKE debug for negotiation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26680" y="1536192"/>
            <a:ext cx="3840480" cy="4343400"/>
          </a:xfrm>
          <a:prstGeom prst="roundRect">
            <a:avLst>
              <a:gd name="adj" fmla="val 1429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65008" y="18745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  <a:effectLst>
            <a:outerShdw blurRad="1270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01584" y="2039112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 checkpoint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24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0EC"/>
                </a:solidFill>
              </a:rPr>
              <a:t>Can you explain ipsec standards and terminology and identify the evidence that proves it works?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BA"/>
                </a:solidFill>
              </a:rPr>
              <a:t>Evidence beats assumptions.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197</a:t>
            </a:fld>
            <a:endParaRPr lang="en-US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198 | IKE phase 1 and IKE phase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IPsec VPN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Agree peer addresses, authentication and cryptographic proposal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F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2736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2736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2736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Build phase 1, phase 2, routes and policies as one design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Build shared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VERIFY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Verify security associations and bidirectional traffic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Record the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600200"/>
            <a:ext cx="2487168" cy="4343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1847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6C7B"/>
                </a:solidFill>
              </a:rPr>
              <a:t>OPERATE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1031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3D"/>
                </a:solidFill>
              </a:rPr>
              <a:t>Use filtered IKE debug for negotiation failures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6"/>
                </a:solidFill>
              </a:rPr>
              <a:t>Keep it supportable.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198</a:t>
            </a:fld>
            <a:endParaRPr lang="en-US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199 | IKEv1 versus IKEv2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IPsec VPN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27632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Agree peer addresses, authentication and cryptographic proposal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64040" y="193852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Build phase 1, phase 2, routes and policies as one design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4040" y="280720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75888"/>
            <a:ext cx="502920" cy="502920"/>
          </a:xfrm>
          <a:prstGeom prst="ellipse">
            <a:avLst/>
          </a:prstGeom>
          <a:solidFill>
            <a:srgbClr val="233A59"/>
          </a:solidFill>
          <a:ln w="12700">
            <a:solidFill>
              <a:srgbClr val="23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Verify security associations and bidirectional traffic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4040" y="3675888"/>
            <a:ext cx="1417320" cy="502920"/>
          </a:xfrm>
          <a:prstGeom prst="chevron">
            <a:avLst/>
          </a:prstGeom>
          <a:solidFill>
            <a:srgbClr val="EEF2F7"/>
          </a:solidFill>
          <a:ln w="12700">
            <a:solidFill>
              <a:srgbClr val="D8D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67258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B40"/>
                </a:solidFill>
              </a:rPr>
              <a:t>Use filtered IKE debug for negotiation failures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19488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0012"/>
                </a:solidFill>
              </a:rPr>
              <a:t>LAB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5B"/>
                </a:solidFill>
              </a:rPr>
              <a:t>Predict → change → observe → 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199</a:t>
            </a:fld>
            <a:endParaRPr lang="en-US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33"/>
                </a:solidFill>
              </a:rPr>
              <a:t>200 | Encryption, integrity and Diffie-Hellman groups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7385"/>
                </a:solidFill>
              </a:rPr>
              <a:t>IPsec VPN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70832"/>
          </a:xfrm>
          <a:prstGeom prst="roundRect">
            <a:avLst>
              <a:gd name="adj" fmla="val 125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B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Agree peer addresses, authentication and cryptographic proposal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2"/>
                </a:solidFill>
              </a:rPr>
              <a:t>A secure configuration is one that can be explained, verified and supported.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1578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1828800"/>
            <a:ext cx="1143000" cy="114300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53144" y="2148840"/>
            <a:ext cx="411480" cy="457200"/>
          </a:xfrm>
          <a:prstGeom prst="chevron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1828800"/>
            <a:ext cx="1143000" cy="114300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943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A59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047"/>
                </a:solidFill>
              </a:rPr>
              <a:t>Improve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Build phase 1, phase 2, routes and policies as one design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Verify security associations and bidirectional traffic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258"/>
                </a:solidFill>
              </a:rPr>
              <a:t>Use filtered IKE debug for negotiation failures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8493"/>
                </a:solidFill>
              </a:rPr>
              <a:t>Instructor prompt: ask learners to predict the result before showing the configuration or log evidence.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25217</Words>
  <Application>Microsoft Office PowerPoint</Application>
  <PresentationFormat>Widescreen</PresentationFormat>
  <Paragraphs>3489</Paragraphs>
  <Slides>200</Slides>
  <Notes>200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FortiGate Administrator Course - 200 Slides</dc:title>
  <dc:subject>Fortinet FortiGate beginner administrator course</dc:subject>
  <dc:creator>Attila Csontos</dc:creator>
  <cp:lastModifiedBy>Attila Csontos</cp:lastModifiedBy>
  <cp:revision>1</cp:revision>
  <dcterms:created xsi:type="dcterms:W3CDTF">2026-09-08T13:12:09Z</dcterms:created>
  <dcterms:modified xsi:type="dcterms:W3CDTF">2026-09-29T12:41:52Z</dcterms:modified>
</cp:coreProperties>
</file>