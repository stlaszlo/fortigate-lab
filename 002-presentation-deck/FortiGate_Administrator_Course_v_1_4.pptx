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6"/>
  </p:notesMasterIdLst>
  <p:sldIdLst>
    <p:sldId id="256" r:id="rId2"/>
    <p:sldId id="257" r:id="rId3"/>
    <p:sldId id="258" r:id="rId4"/>
    <p:sldId id="263" r:id="rId5"/>
    <p:sldId id="264" r:id="rId6"/>
    <p:sldId id="265" r:id="rId7"/>
    <p:sldId id="266" r:id="rId8"/>
    <p:sldId id="267" r:id="rId9"/>
    <p:sldId id="268" r:id="rId10"/>
    <p:sldId id="269" r:id="rId11"/>
    <p:sldId id="270" r:id="rId12"/>
    <p:sldId id="271" r:id="rId13"/>
    <p:sldId id="272" r:id="rId14"/>
    <p:sldId id="273" r:id="rId15"/>
    <p:sldId id="274" r:id="rId16"/>
    <p:sldId id="275" r:id="rId17"/>
    <p:sldId id="276" r:id="rId18"/>
    <p:sldId id="277" r:id="rId19"/>
    <p:sldId id="278" r:id="rId20"/>
    <p:sldId id="279" r:id="rId21"/>
    <p:sldId id="280" r:id="rId22"/>
    <p:sldId id="281" r:id="rId23"/>
    <p:sldId id="282" r:id="rId24"/>
    <p:sldId id="456" r:id="rId25"/>
    <p:sldId id="457" r:id="rId26"/>
    <p:sldId id="458" r:id="rId27"/>
    <p:sldId id="459"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259" r:id="rId202"/>
    <p:sldId id="260" r:id="rId203"/>
    <p:sldId id="261" r:id="rId204"/>
    <p:sldId id="262" r:id="rId20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224"/>
    <p:restoredTop sz="94610"/>
  </p:normalViewPr>
  <p:slideViewPr>
    <p:cSldViewPr snapToGrid="0" snapToObjects="1">
      <p:cViewPr varScale="1">
        <p:scale>
          <a:sx n="106" d="100"/>
          <a:sy n="106" d="100"/>
        </p:scale>
        <p:origin x="192" y="13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notesMaster" Target="notesMasters/notesMaster1.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presProps" Target="presProps.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slide" Target="slides/slide198.xml"/><Relationship Id="rId203" Type="http://schemas.openxmlformats.org/officeDocument/2006/relationships/slide" Target="slides/slide202.xml"/><Relationship Id="rId208"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theme" Target="theme/theme1.xml"/><Relationship Id="rId190" Type="http://schemas.openxmlformats.org/officeDocument/2006/relationships/slide" Target="slides/slide189.xml"/><Relationship Id="rId204" Type="http://schemas.openxmlformats.org/officeDocument/2006/relationships/slide" Target="slides/slide203.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tableStyles" Target="tableStyles.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10810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4–6 minutes. Protect the block’s practical/discussion reserve; skip optional slides when time is short.</a:t>
            </a:r>
          </a:p>
          <a:p>
            <a:endParaRPr lang="en-GB"/>
          </a:p>
          <a:p>
            <a:r>
              <a:rPr lang="en-GB"/>
              <a:t>Explanation: Four-day instructor-led theory course; Days 1–2 Foundations; Days 3–4 Advanced</a:t>
            </a:r>
          </a:p>
          <a:p>
            <a:endParaRPr lang="en-GB"/>
          </a:p>
          <a:p>
            <a:r>
              <a:rPr lang="en-GB"/>
              <a:t>Typical mistakes to surface: Treating DNS success as proof of end-to-end reachability; Assuming destination port proves the application; Looking at policy without checking route/return path</a:t>
            </a:r>
          </a:p>
          <a:p>
            <a:endParaRPr lang="en-GB"/>
          </a:p>
          <a:p>
            <a:r>
              <a:rPr lang="en-GB"/>
              <a:t>Official reference for instructor preparation: FortiGate/FortiOS 7.6.7 Administration Guide: Life of a packet; Sessions; Debugging the packet flow. CLI syntax cross-check: FortiOS 7.6.7 CLI Reference.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4–6 minutes. Protect the block’s practical/discussion reserve; skip optional slides when time is short.</a:t>
            </a:r>
          </a:p>
          <a:p>
            <a:endParaRPr lang="en-GB"/>
          </a:p>
          <a:p>
            <a:r>
              <a:rPr lang="en-GB"/>
              <a:t>Explanation: Four 90-minute blocks each day; Days 1–2 Foundations; Days 3–4 Advanced; Practice and debrief are protected within every block</a:t>
            </a:r>
          </a:p>
          <a:p>
            <a:endParaRPr lang="en-GB"/>
          </a:p>
          <a:p>
            <a:r>
              <a:rPr lang="en-GB"/>
              <a:t>Typical mistakes to surface: Treating DNS success as proof of end-to-end reachability; Assuming destination port proves the application; Looking at policy without checking route/return path</a:t>
            </a:r>
          </a:p>
          <a:p>
            <a:endParaRPr lang="en-GB"/>
          </a:p>
          <a:p>
            <a:r>
              <a:rPr lang="en-GB"/>
              <a:t>Official reference for instructor preparation: FortiGate/FortiOS 7.6.7 Administration Guide: Life of a packet; Sessions; Debugging the packet flow. CLI syntax cross-check: FortiOS 7.6.7 CLI Reference.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Current lab source of truth: Architecture.md, Deployment.md and Instructor-Guide.md. Validated baseline: Student N FortiGate p1 10.N.0.4, p2 10.N.10.4, p3 10.N.20.4; client 10.N.10.10; DMZ 10.N.20.10; Transit NVA 10.0.40.4; Instructor FortiGate p1 10.0.0.4, p2 10.0.30.4, p3 10.0.10.4. Student-to-Internet routed path is validated. The IPsec/ADVPN overlay remains future work. Guacamole access is TBD.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3 minutes. Protect the block’s practical/discussion reserve; skip optional slides when time is short.</a:t>
            </a:r>
          </a:p>
          <a:p>
            <a:endParaRPr lang="en-GB"/>
          </a:p>
          <a:p>
            <a:r>
              <a:rPr lang="en-GB"/>
              <a:t>Explanation: Explain packet fields, DNS, TCP/UDP and forwarding decisions; Trace a new session through FortiGate decision stages; Distinguish flow/proxy inspection and locate implicit deny</a:t>
            </a:r>
          </a:p>
          <a:p>
            <a:endParaRPr lang="en-GB"/>
          </a:p>
          <a:p>
            <a:r>
              <a:rPr lang="en-GB"/>
              <a:t>Typical mistakes to surface: Treating DNS success as proof of end-to-end reachability; Assuming destination port proves the application; Looking at policy without checking route/return path</a:t>
            </a:r>
          </a:p>
          <a:p>
            <a:endParaRPr lang="en-GB"/>
          </a:p>
          <a:p>
            <a:r>
              <a:rPr lang="en-GB"/>
              <a:t>Official reference for instructor preparation: FortiGate/FortiOS 7.6.7 Administration Guide: Life of a packet; Sessions; Debugging the packet flow. CLI syntax cross-check: FortiOS 7.6.7 CLI Reference.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4–6 minutes. Protect the block’s practical/discussion reserve; skip optional slides when time is short.</a:t>
            </a:r>
          </a:p>
          <a:p>
            <a:endParaRPr lang="en-GB"/>
          </a:p>
          <a:p>
            <a:r>
              <a:rPr lang="en-GB"/>
              <a:t>Explanation: Source and destination IP locate endpoints; Source and destination ports identify transport sockets; Protocol distinguishes TCP, UDP, ICMP and others; Reverse traffic is associated with the created session</a:t>
            </a:r>
          </a:p>
          <a:p>
            <a:endParaRPr lang="en-GB"/>
          </a:p>
          <a:p>
            <a:r>
              <a:rPr lang="en-GB"/>
              <a:t>Typical mistakes to surface: Treating DNS success as proof of end-to-end reachability; Assuming destination port proves the application; Looking at policy without checking route/return path</a:t>
            </a:r>
          </a:p>
          <a:p>
            <a:endParaRPr lang="en-GB"/>
          </a:p>
          <a:p>
            <a:r>
              <a:rPr lang="en-GB"/>
              <a:t>Official reference for instructor preparation: FortiGate/FortiOS 7.6.7 Administration Guide: Life of a packet; Sessions; Debugging the packet flow. CLI syntax cross-check: FortiOS 7.6.7 CLI Reference.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4–6 minutes. Protect the block’s practical/discussion reserve; skip optional slides when time is short.</a:t>
            </a:r>
          </a:p>
          <a:p>
            <a:endParaRPr lang="en-GB"/>
          </a:p>
          <a:p>
            <a:r>
              <a:rPr lang="en-GB"/>
              <a:t>Explanation: Client asks a resolver, not the authoritative server directly in most enterprise designs; Recursive resolution follows cache, root, TLD and authoritative data as needed; A/AAAA answers provide addresses; TTL controls cache lifetime; DNS success does not prove policy or route success to the returned address</a:t>
            </a:r>
          </a:p>
          <a:p>
            <a:endParaRPr lang="en-GB"/>
          </a:p>
          <a:p>
            <a:r>
              <a:rPr lang="en-GB"/>
              <a:t>Typical mistakes to surface: Treating DNS success as proof of end-to-end reachability; Assuming destination port proves the application; Looking at policy without checking route/return path</a:t>
            </a:r>
          </a:p>
          <a:p>
            <a:endParaRPr lang="en-GB"/>
          </a:p>
          <a:p>
            <a:r>
              <a:rPr lang="en-GB"/>
              <a:t>Official reference for instructor preparation: FortiGate/FortiOS 7.6.7 Administration Guide: Life of a packet; Sessions; Debugging the packet flow. CLI syntax cross-check: FortiOS 7.6.7 CLI Reference.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Expected result: after the SYN is accepted, diagnose sys session list shows the original and reply tuples; reply packet/byte counters increase after SYN-ACK. Source: FortiOS 7.6.7 Administration Guide — Sessions and TCP session handling.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Technical question for instructor review: compare this simplified teaching order with the exact FortiOS 7.6.7 “Life of a packet” documentation and features enabled in the Azure lab. Source: FortiOS 7.6.7 Administration Guide — Life of a packet, policy routes, firewall policy, NAT and security profiles.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7–9 minutes. Protect the block’s practical/discussion reserve; skip optional slides when time is short.</a:t>
            </a:r>
          </a:p>
          <a:p>
            <a:endParaRPr lang="en-GB"/>
          </a:p>
          <a:p>
            <a:r>
              <a:rPr lang="en-GB"/>
              <a:t>Explanation: Packet arrives on LAN; source/destination and ingress interface are known; Route lookup identifies WAN and next hop; First-match policy permits traffic and applies SNAT; Session records original and translated tuples; security profiles inspect as configured</a:t>
            </a:r>
          </a:p>
          <a:p>
            <a:endParaRPr lang="en-GB"/>
          </a:p>
          <a:p>
            <a:r>
              <a:rPr lang="en-GB"/>
              <a:t>Typical mistakes to surface: Treating DNS success as proof of end-to-end reachability; Assuming destination port proves the application; Looking at policy without checking route/return path</a:t>
            </a:r>
          </a:p>
          <a:p>
            <a:endParaRPr lang="en-GB"/>
          </a:p>
          <a:p>
            <a:r>
              <a:rPr lang="en-GB"/>
              <a:t>Official reference for instructor preparation: FortiGate/FortiOS 7.6.7 Administration Guide: Life of a packet; Sessions; Debugging the packet flow. CLI syntax cross-check: FortiOS 7.6.7 CLI Reference.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 minutes. Protect the block’s practical/discussion reserve; skip optional slides when time is short.</a:t>
            </a:r>
          </a:p>
          <a:p>
            <a:endParaRPr lang="en-GB"/>
          </a:p>
          <a:p>
            <a:r>
              <a:rPr lang="en-GB"/>
              <a:t>Explanation: Treating DNS success as proof of end-to-end reachability; Assuming destination port proves the application; Looking at policy without checking route/return path</a:t>
            </a:r>
          </a:p>
          <a:p>
            <a:endParaRPr lang="en-GB"/>
          </a:p>
          <a:p>
            <a:r>
              <a:rPr lang="en-GB"/>
              <a:t>Typical mistakes to surface: Treating DNS success as proof of end-to-end reachability; Assuming destination port proves the application; Looking at policy without checking route/return path</a:t>
            </a:r>
          </a:p>
          <a:p>
            <a:endParaRPr lang="en-GB"/>
          </a:p>
          <a:p>
            <a:r>
              <a:rPr lang="en-GB"/>
              <a:t>Official reference for instructor preparation: FortiGate/FortiOS 7.6.7 Administration Guide: Life of a packet; Sessions; Debugging the packet flow. CLI syntax cross-check: FortiOS 7.6.7 CLI Reference.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5–7 minutes. Protect the block’s practical/discussion reserve; skip optional slides when time is short.</a:t>
            </a:r>
          </a:p>
          <a:p>
            <a:endParaRPr lang="en-GB"/>
          </a:p>
          <a:p>
            <a:r>
              <a:rPr lang="en-GB"/>
              <a:t>Explanation: Reproduce one flow and record its five-tuple; Check route and neighbor reachability; Identify the matched policy and NAT decision; Confirm session creation and reverse traffic; Use filtered sniffer/debug only if earlier state/output is inconclusive</a:t>
            </a:r>
          </a:p>
          <a:p>
            <a:endParaRPr lang="en-GB"/>
          </a:p>
          <a:p>
            <a:r>
              <a:rPr lang="en-GB"/>
              <a:t>Typical mistakes to surface: Treating DNS success as proof of end-to-end reachability; Assuming destination port proves the application; Looking at policy without checking route/return path</a:t>
            </a:r>
          </a:p>
          <a:p>
            <a:endParaRPr lang="en-GB"/>
          </a:p>
          <a:p>
            <a:r>
              <a:rPr lang="en-GB"/>
              <a:t>Official reference for instructor preparation: FortiGate/FortiOS 7.6.7 Administration Guide: Life of a packet; Sessions; Debugging the packet flow. CLI syntax cross-check: FortiOS 7.6.7 CLI Reference.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Exercise: Packet Flow and Session Visibility (hands-on; instructor capture fallback).</a:t>
            </a:r>
          </a:p>
          <a:p>
            <a:r>
              <a:rPr lang="en-GB"/>
              <a:t>Preparation: assign Student N endpoint host IPs only after the Linux endpoints exist; preserve management access.</a:t>
            </a:r>
          </a:p>
          <a:p>
            <a:r>
              <a:rPr lang="en-GB"/>
              <a:t>Core steps: predict five-tuple and path; generate one LAN-to-DMZ TCP flow; inspect route, policy ID, session original/reply tuples, packet capture and log.</a:t>
            </a:r>
          </a:p>
          <a:p>
            <a:r>
              <a:rPr lang="en-GB"/>
              <a:t>Answer key: the chosen route and policy must match the actual ingress/egress interfaces; both session directions and counters increase. A one-way counter points to return-path, policy, endpoint or asymmetric-flow investigation.</a:t>
            </a:r>
          </a:p>
          <a:p>
            <a:r>
              <a:rPr lang="en-GB"/>
              <a:t>Reset: stop debug/capture, clear filters, remove only the test session.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5–7 minutes. Protect the block’s practical/discussion reserve; skip optional slides when time is short.</a:t>
            </a:r>
          </a:p>
          <a:p>
            <a:endParaRPr lang="en-GB"/>
          </a:p>
          <a:p>
            <a:r>
              <a:rPr lang="en-GB"/>
              <a:t>Explanation: Which five values identify a TCP/UDP flow?; Why can a return packet bypass a second full policy decision?</a:t>
            </a:r>
          </a:p>
          <a:p>
            <a:endParaRPr lang="en-GB"/>
          </a:p>
          <a:p>
            <a:r>
              <a:rPr lang="en-GB"/>
              <a:t>Typical mistakes to surface: Treating DNS success as proof of end-to-end reachability; Assuming destination port proves the application; Looking at policy without checking route/return path</a:t>
            </a:r>
          </a:p>
          <a:p>
            <a:endParaRPr lang="en-GB"/>
          </a:p>
          <a:p>
            <a:r>
              <a:rPr lang="en-GB"/>
              <a:t>Official reference for instructor preparation: FortiGate/FortiOS 7.6.7 Administration Guide: Life of a packet; Sessions; Debugging the packet flow. CLI syntax cross-check: FortiOS 7.6.7 CLI Reference.</a:t>
            </a:r>
          </a:p>
          <a:p>
            <a:endParaRPr lang="en-GB"/>
          </a:p>
          <a:p>
            <a:r>
              <a:rPr lang="en-GB"/>
              <a:t>Knowledge check answer key:</a:t>
            </a:r>
          </a:p>
          <a:p>
            <a:endParaRPr lang="en-GB"/>
          </a:p>
          <a:p>
            <a:r>
              <a:rPr lang="en-GB"/>
              <a:t>Q: Which five values identify a TCP/UDP flow?</a:t>
            </a:r>
          </a:p>
          <a:p>
            <a:r>
              <a:rPr lang="en-GB"/>
              <a:t>A: Source IP, destination IP, source port, destination port and IP protocol.</a:t>
            </a:r>
          </a:p>
          <a:p>
            <a:endParaRPr lang="en-GB"/>
          </a:p>
          <a:p>
            <a:r>
              <a:rPr lang="en-GB"/>
              <a:t>Q: Why can a return packet bypass a second full policy decision?</a:t>
            </a:r>
          </a:p>
          <a:p>
            <a:r>
              <a:rPr lang="en-GB"/>
              <a:t>A: It matches established session state containing the stored forwarding, policy and NAT decisions.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Block 2 orientation. Guacamole deployment/access is not established in the current architecture documents; use &lt;access-url&gt;, &lt;username&gt; and &lt;credential-source&gt; placeholders. Keep management interfaces, routes and shared instructor infrastructure unchanged. Official references: FortiOS 7.6.7 Administration Guide—Using the CLI, configuration backups/restores and firmware; FortiOS 7.6.7 CLI Reference.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Starting access details remain instructor placeholders because the current sources do not establish final URLs, credentials or Guacamole deployment. Demonstrate both GUI and SSH/console only after the instructor confirms the supported access route. `get system status` is inspection, but its output may reveal serial/licensing details; do not share screenshots externally.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Use a live prompt comparison. FortiOS commands are not Cisco IOS or Linux commands. Avoid teaching shell concepts such as cd, ls, sudo or editing files. The Linux client at 10.N.10.10 is the authoritative source for forwarded-client tests.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Official FortiOS CLI documentation groups configuration, display, operational and diagnostic commands, but risk depends on the exact subcommand and parameters. `execute` includes harmless tests and disruptive actions; `diagnose` includes read-only inspection and debug/session operations that can affect performance or state.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Use a student-specific name such as student01-temp-cli. In a table, `edit &lt;identifier&gt;` selects or creates an entry; `next` finishes the entry and returns to the table; `end` exits configuration mode. The subnet command uses the documented client IP /32. Cleanup is `config firewall address`, `delete "student0N-temp-cli"`, `end`. Confirm no policy references the object before deletion.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FortiOS CLI Reference identifies which branches are tables and the syntax for each setting. Avoid assuming that every `config` branch supports `edit`. Nested contexts exist in policies and profiles; use contextual help instead of memorizing paths from another release.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Official CLI Reference: use `?` to verify available commands and options; commands can vary by FortiGate model, build, feature state and permissions. Demonstrate help at top level and within `config firewall address`. Completion behavior should be shown live on the 7.6.7 lab rather than described as Cisco-style shorthand.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FortiOS `show` presents configured values, generally omitting defaults; `show full-configuration` includes default-valued settings. `get` meaning depends on command/context and is commonly used for operational state. Demonstrate output on port2 (10.N.10.4) without changing it. Do not paste `show` output as a substitute for a supported configuration backup.</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FortiOS supports configuration save modes under `config system global` (`cfg-save`). Do not change the cohort setting during class. In automatic mode, accepted configuration is persisted automatically. In manual mode, `execute cfg save` is required to save persistent state. Revert mode has additional timeout behavior and should remain an instructor topic. Exporting a backup is separate from persistence.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Official 7.6.7 CLI workflow shown: `execute backup config sftp &lt;backup_file&gt; &lt;sftp_server&gt; &lt;username&gt; &lt;password&gt;`. The current lab documents do not define an SFTP service, hostname, account or storage path, so use placeholders and provision/test the service before delivery. If SFTP is not available, use the supported GUI configuration Backup action and a controlled browser download. Confirm whether global/VDOM scope and encrypted backup options are appropriate. Do not display real passwords during projection.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Live restoration is restricted to a disposable student FortiGate with a tested recovery path and instructor supervision. The current documents do not provision SFTP; the CLI syntax is a template until a reachable server is tested. Before restore, compare model/platform, FortiOS build/upgrade path, VDOM scope and pod-specific addresses. Preserve out-of-band/emergency access. After reboot/interruption, verify `get system status`, interfaces, routes, DNS, management reachability and a forwarded client test. Store exact recovery steps in the instructor runbook.</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Instructor-only procedure: obtain the exact image from the authorized Fortinet support channel; read 7.6.7 release notes and the supported upgrade-path guidance; verify platform/model and licensing; export configuration; preserve recovery access; use the supported GUI firmware upload/upgrade workflow; confirm installation/reboot; verify the running build and data path. Do not run a cohort-wide upgrade/downgrade. Uploading/selecting an image is distinct from confirming installation. Replacing an Azure Marketplace VM image is an infrastructure lifecycle operation, not the same FortiOS firmware workflow.</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Student01 for the worked path and Student N for reuse. The current architecture validates client 10.1.10.10 → Student FG 10.1.10.4 → Transit NVA 10.0.40.4 → Instructor FG 10.0.0.4 → Internet. `execute ping` is local-out traffic. A Linux client ping/dig/curl/traceroute is the required forwarded test. Do not infer Guacamole availability.</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Exercise duration 20–25 minutes. Exact starting state: assigned Student N FortiGate on 7.6.7; management access functioning; instructor baseline export retained; browser download location or tested SFTP service available. Students must not modify management interfaces, routes, policies, cfg-save mode or instructor resources. Expected: temporary object uses 10.N.10.10 255.255.255.255; backup filename includes pod and date; deletion succeeds because the object is not referenced. If `show firewall address "student0N-temp-cli"` after cleanup returns no object, cleanup is complete. Instructor checks the exported file location and retains/deletes it according to storage policy.</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3 minutes. Protect the block’s practical/discussion reserve; skip optional slides when time is short.</a:t>
            </a:r>
          </a:p>
          <a:p>
            <a:endParaRPr lang="en-GB"/>
          </a:p>
          <a:p>
            <a:r>
              <a:rPr lang="en-GB"/>
              <a:t>Explanation: Choose LAN/WAN/DMZ boundaries using least privilege; Explain FortiSwitch/FortiLink roles without assuming lab availability; Build ordered policies from reusable objects and logging requirements</a:t>
            </a:r>
          </a:p>
          <a:p>
            <a:endParaRPr lang="en-GB"/>
          </a:p>
          <a:p>
            <a:r>
              <a:rPr lang="en-GB"/>
              <a:t>Typical mistakes to surface: Using “all” because object creation feels slow; Grouping unlike interfaces into one zone; Leaving logging off until an incident occurs</a:t>
            </a:r>
          </a:p>
          <a:p>
            <a:endParaRPr lang="en-GB"/>
          </a:p>
          <a:p>
            <a:r>
              <a:rPr lang="en-GB"/>
              <a:t>Official reference for instructor preparation: FortiGate/FortiOS 7.6.7 Administration Guide: Firewall policy; Zones; Addresses and services; FortiLink/FortiSwitch integration. Confirm FortiSwitch compatibility matrix.</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Expected result: the HTTPS test matches the intended policy ID; a guest-to-DMZ test is denied. Source: FortiOS 7.6.7 Administration Guide — Zones and firewall policies.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4–6 minutes. Protect the block’s practical/discussion reserve; skip optional slides when time is short.</a:t>
            </a:r>
          </a:p>
          <a:p>
            <a:endParaRPr lang="en-GB"/>
          </a:p>
          <a:p>
            <a:r>
              <a:rPr lang="en-GB"/>
              <a:t>Explanation: A zone groups interfaces for policy references and consistent treatment; Do not combine interfaces with different trust or logging requirements; Intra-zone traffic behavior must be explicitly understood and tested; Naming should reveal function, not physical port number</a:t>
            </a:r>
          </a:p>
          <a:p>
            <a:endParaRPr lang="en-GB"/>
          </a:p>
          <a:p>
            <a:r>
              <a:rPr lang="en-GB"/>
              <a:t>Typical mistakes to surface: Using “all” because object creation feels slow; Grouping unlike interfaces into one zone; Leaving logging off until an incident occurs</a:t>
            </a:r>
          </a:p>
          <a:p>
            <a:endParaRPr lang="en-GB"/>
          </a:p>
          <a:p>
            <a:r>
              <a:rPr lang="en-GB"/>
              <a:t>Official reference for instructor preparation: FortiGate/FortiOS 7.6.7 Administration Guide: Firewall policy; Zones; Addresses and services; FortiLink/FortiSwitch integration. Confirm FortiSwitch compatibility matrix.</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[OPTIONAL DEEP DIVE] Stable ID: D1-B03-S031</a:t>
            </a:r>
          </a:p>
          <a:p>
            <a:endParaRPr lang="en-GB"/>
          </a:p>
          <a:p>
            <a:r>
              <a:rPr lang="en-GB"/>
              <a:t>Approximate timing: 4–6 minutes. Protect the block’s practical/discussion reserve; skip optional slides when time is short.</a:t>
            </a:r>
          </a:p>
          <a:p>
            <a:endParaRPr lang="en-GB"/>
          </a:p>
          <a:p>
            <a:r>
              <a:rPr lang="en-GB"/>
              <a:t>Explanation: FortiLink is the management/control connection for supported FortiSwitch deployments; FortiGate can manage switch ports, VLANs and topology from the Security Fabric/LAN edge workflow; Access, trunk and native VLAN choices remain layer-2 design decisions; Model, FortiOS/FortiSwitchOS and topology support must be confirmed</a:t>
            </a:r>
          </a:p>
          <a:p>
            <a:endParaRPr lang="en-GB"/>
          </a:p>
          <a:p>
            <a:r>
              <a:rPr lang="en-GB"/>
              <a:t>Typical mistakes to surface: Using “all” because object creation feels slow; Grouping unlike interfaces into one zone; Leaving logging off until an incident occurs</a:t>
            </a:r>
          </a:p>
          <a:p>
            <a:endParaRPr lang="en-GB"/>
          </a:p>
          <a:p>
            <a:r>
              <a:rPr lang="en-GB"/>
              <a:t>Official reference for instructor preparation: FortiGate/FortiOS 7.6.7 Administration Guide: Firewall policy; Zones; Addresses and services; FortiLink/FortiSwitch integration. Confirm FortiSwitch compatibility matrix.</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4–6 minutes. Protect the block’s practical/discussion reserve; skip optional slides when time is short.</a:t>
            </a:r>
          </a:p>
          <a:p>
            <a:endParaRPr lang="en-GB"/>
          </a:p>
          <a:p>
            <a:r>
              <a:rPr lang="en-GB"/>
              <a:t>Explanation: A policy is evaluated in sequence for ingress/egress, addresses, service, schedule and other selectors; The first matching enabled policy supplies action, NAT, logging and profiles; Broad rules above narrow rules can shadow intended controls; Objects and groups reduce error when they have clear names and owners</a:t>
            </a:r>
          </a:p>
          <a:p>
            <a:endParaRPr lang="en-GB"/>
          </a:p>
          <a:p>
            <a:r>
              <a:rPr lang="en-GB"/>
              <a:t>Typical mistakes to surface: Using “all” because object creation feels slow; Grouping unlike interfaces into one zone; Leaving logging off until an incident occurs</a:t>
            </a:r>
          </a:p>
          <a:p>
            <a:endParaRPr lang="en-GB"/>
          </a:p>
          <a:p>
            <a:r>
              <a:rPr lang="en-GB"/>
              <a:t>Official reference for instructor preparation: FortiGate/FortiOS 7.6.7 Administration Guide: Firewall policy; Zones; Addresses and services; FortiLink/FortiSwitch integration. Confirm FortiSwitch compatibility matrix.</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7–9 minutes. Protect the block’s practical/discussion reserve; skip optional slides when time is short.</a:t>
            </a:r>
          </a:p>
          <a:p>
            <a:endParaRPr lang="en-GB"/>
          </a:p>
          <a:p>
            <a:r>
              <a:rPr lang="en-GB"/>
              <a:t>Explanation: State business flow: source zone, destination, service and owner; Create address/service objects with durable names; Order narrow exceptions before broad patterns; Enable the logging required for operations and audit</a:t>
            </a:r>
          </a:p>
          <a:p>
            <a:endParaRPr lang="en-GB"/>
          </a:p>
          <a:p>
            <a:r>
              <a:rPr lang="en-GB"/>
              <a:t>Typical mistakes to surface: Using “all” because object creation feels slow; Grouping unlike interfaces into one zone; Leaving logging off until an incident occurs</a:t>
            </a:r>
          </a:p>
          <a:p>
            <a:endParaRPr lang="en-GB"/>
          </a:p>
          <a:p>
            <a:r>
              <a:rPr lang="en-GB"/>
              <a:t>Official reference for instructor preparation: FortiGate/FortiOS 7.6.7 Administration Guide: Firewall policy; Zones; Addresses and services; FortiLink/FortiSwitch integration. Confirm FortiSwitch compatibility matrix.</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 minutes. Protect the block’s practical/discussion reserve; skip optional slides when time is short.</a:t>
            </a:r>
          </a:p>
          <a:p>
            <a:endParaRPr lang="en-GB"/>
          </a:p>
          <a:p>
            <a:r>
              <a:rPr lang="en-GB"/>
              <a:t>Explanation: Using “all” because object creation feels slow; Grouping unlike interfaces into one zone; Leaving logging off until an incident occurs</a:t>
            </a:r>
          </a:p>
          <a:p>
            <a:endParaRPr lang="en-GB"/>
          </a:p>
          <a:p>
            <a:r>
              <a:rPr lang="en-GB"/>
              <a:t>Typical mistakes to surface: Using “all” because object creation feels slow; Grouping unlike interfaces into one zone; Leaving logging off until an incident occurs</a:t>
            </a:r>
          </a:p>
          <a:p>
            <a:endParaRPr lang="en-GB"/>
          </a:p>
          <a:p>
            <a:r>
              <a:rPr lang="en-GB"/>
              <a:t>Official reference for instructor preparation: FortiGate/FortiOS 7.6.7 Administration Guide: Firewall policy; Zones; Addresses and services; FortiLink/FortiSwitch integration. Confirm FortiSwitch compatibility matrix.</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5–7 minutes. Protect the block’s practical/discussion reserve; skip optional slides when time is short.</a:t>
            </a:r>
          </a:p>
          <a:p>
            <a:endParaRPr lang="en-GB"/>
          </a:p>
          <a:p>
            <a:r>
              <a:rPr lang="en-GB"/>
              <a:t>Explanation: Confirm ingress and expected egress interfaces; Resolve object membership to concrete IP/port values; Check policy order and shadowing; Inspect hit count and traffic log; Test an explicit negative case</a:t>
            </a:r>
          </a:p>
          <a:p>
            <a:endParaRPr lang="en-GB"/>
          </a:p>
          <a:p>
            <a:r>
              <a:rPr lang="en-GB"/>
              <a:t>Typical mistakes to surface: Using “all” because object creation feels slow; Grouping unlike interfaces into one zone; Leaving logging off until an incident occurs</a:t>
            </a:r>
          </a:p>
          <a:p>
            <a:endParaRPr lang="en-GB"/>
          </a:p>
          <a:p>
            <a:r>
              <a:rPr lang="en-GB"/>
              <a:t>Official reference for instructor preparation: FortiGate/FortiOS 7.6.7 Administration Guide: Firewall policy; Zones; Addresses and services; FortiLink/FortiSwitch integration. Confirm FortiSwitch compatibility matrix.</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Exercise: Build LAN-to-DMZ Segmentation (hands-on when endpoints exist).</a:t>
            </a:r>
          </a:p>
          <a:p>
            <a:r>
              <a:rPr lang="en-GB"/>
              <a:t>Preparation: planned Linux LAN client/DMZ server, assigned host IPs, and baseline policy backup.</a:t>
            </a:r>
          </a:p>
          <a:p>
            <a:r>
              <a:rPr lang="en-GB"/>
              <a:t>Answer key: only the assigned service from LAN to DMZ is accepted and logged; unrelated service is denied. Objects use Student N subnets, not invented host addresses.</a:t>
            </a:r>
          </a:p>
          <a:p>
            <a:r>
              <a:rPr lang="en-GB"/>
              <a:t>Reset: remove temporary broad policy or test objects and retain the approved least-privilege baseline.</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5–7 minutes. Protect the block’s practical/discussion reserve; skip optional slides when time is short.</a:t>
            </a:r>
          </a:p>
          <a:p>
            <a:endParaRPr lang="en-GB"/>
          </a:p>
          <a:p>
            <a:r>
              <a:rPr lang="en-GB"/>
              <a:t>Explanation: What decides which of two matching policies is used?; When is a zone a poor abstraction?</a:t>
            </a:r>
          </a:p>
          <a:p>
            <a:endParaRPr lang="en-GB"/>
          </a:p>
          <a:p>
            <a:r>
              <a:rPr lang="en-GB"/>
              <a:t>Typical mistakes to surface: Using “all” because object creation feels slow; Grouping unlike interfaces into one zone; Leaving logging off until an incident occurs</a:t>
            </a:r>
          </a:p>
          <a:p>
            <a:endParaRPr lang="en-GB"/>
          </a:p>
          <a:p>
            <a:r>
              <a:rPr lang="en-GB"/>
              <a:t>Official reference for instructor preparation: FortiGate/FortiOS 7.6.7 Administration Guide: Firewall policy; Zones; Addresses and services; FortiLink/FortiSwitch integration. Confirm FortiSwitch compatibility matrix.</a:t>
            </a:r>
          </a:p>
          <a:p>
            <a:endParaRPr lang="en-GB"/>
          </a:p>
          <a:p>
            <a:r>
              <a:rPr lang="en-GB"/>
              <a:t>Knowledge check answer key:</a:t>
            </a:r>
          </a:p>
          <a:p>
            <a:endParaRPr lang="en-GB"/>
          </a:p>
          <a:p>
            <a:r>
              <a:rPr lang="en-GB"/>
              <a:t>Q: What decides which of two matching policies is used?</a:t>
            </a:r>
          </a:p>
          <a:p>
            <a:r>
              <a:rPr lang="en-GB"/>
              <a:t>A: The first enabled policy in sequence that matches all selectors.</a:t>
            </a:r>
          </a:p>
          <a:p>
            <a:endParaRPr lang="en-GB"/>
          </a:p>
          <a:p>
            <a:r>
              <a:rPr lang="en-GB"/>
              <a:t>Q: When is a zone a poor abstraction?</a:t>
            </a:r>
          </a:p>
          <a:p>
            <a:r>
              <a:rPr lang="en-GB"/>
              <a:t>A: When member interfaces have different trust, logging or policy intent.</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3 minutes. Protect the block’s practical/discussion reserve; skip optional slides when time is short.</a:t>
            </a:r>
          </a:p>
          <a:p>
            <a:endParaRPr lang="en-GB"/>
          </a:p>
          <a:p>
            <a:r>
              <a:rPr lang="en-GB"/>
              <a:t>Explanation: Trace SNAT/PAT, DNAT/VIP and hairpin flows in both directions; Select Traffic, Event and Security logs for the question asked; Use session, sniffer and debug-flow diagnostics safely</a:t>
            </a:r>
          </a:p>
          <a:p>
            <a:endParaRPr lang="en-GB"/>
          </a:p>
          <a:p>
            <a:r>
              <a:rPr lang="en-GB"/>
              <a:t>Typical mistakes to surface: Looking only at the public side of DNAT; Running unfiltered debug on a busy device; Forgetting to stop/reset debug or treating session clear as harmless</a:t>
            </a:r>
          </a:p>
          <a:p>
            <a:endParaRPr lang="en-GB"/>
          </a:p>
          <a:p>
            <a:r>
              <a:rPr lang="en-GB"/>
              <a:t>Official reference for instructor preparation: FortiGate/FortiOS 7.6.7 Administration Guide: NAT; Virtual IPs; Logging; Session table; Packet sniffer; Debugging the packet flow. FortiOS 7.6.7 CLI Reference.</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Expected result: the session lists original and reply tuples; WAN capture shows 198.51.100.2:62001 while LAN capture shows 10.1.10.10:51514. Source: FortiOS 7.6.7 Administration Guide — Source NAT and sessions.</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Expected result: WAN capture targets 198.51.100.10:443, DMZ capture targets 10.1.20.10:8443, and the traffic log shows the VIP policy ID. Source: FortiOS 7.6.7 Administration Guide — Virtual IPs and DNAT.</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Expected result: one session shows the VIP destination mapping and, when required by the design, a translated source that returns through FortiGate. Source: FortiOS 7.6.7 Administration Guide — Hairpin NAT / VIP examples.</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4–6 minutes. Protect the block’s practical/discussion reserve; skip optional slides when time is short.</a:t>
            </a:r>
          </a:p>
          <a:p>
            <a:endParaRPr lang="en-GB"/>
          </a:p>
          <a:p>
            <a:r>
              <a:rPr lang="en-GB"/>
              <a:t>Explanation: Traffic logs show policy, action, interfaces, addresses, ports and bytes; Event logs show system/admin/HA/routing events; Security logs show profile detections and actions; Session table shows live state; sniffer shows packets; debug flow explains decisions</a:t>
            </a:r>
          </a:p>
          <a:p>
            <a:endParaRPr lang="en-GB"/>
          </a:p>
          <a:p>
            <a:r>
              <a:rPr lang="en-GB"/>
              <a:t>Typical mistakes to surface: Looking only at the public side of DNAT; Running unfiltered debug on a busy device; Forgetting to stop/reset debug or treating session clear as harmless</a:t>
            </a:r>
          </a:p>
          <a:p>
            <a:endParaRPr lang="en-GB"/>
          </a:p>
          <a:p>
            <a:r>
              <a:rPr lang="en-GB"/>
              <a:t>Official reference for instructor preparation: FortiGate/FortiOS 7.6.7 Administration Guide: NAT; Virtual IPs; Logging; Session table; Packet sniffer; Debugging the packet flow. FortiOS 7.6.7 CLI Reference.</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7–9 minutes. Protect the block’s practical/discussion reserve; skip optional slides when time is short.</a:t>
            </a:r>
          </a:p>
          <a:p>
            <a:endParaRPr lang="en-GB"/>
          </a:p>
          <a:p>
            <a:r>
              <a:rPr lang="en-GB"/>
              <a:t>Explanation: Record original client/server tuple; Record translated tuple at WAN or server side; Match the return packet to the reply direction; Confirm log policy ID and byte counters increase</a:t>
            </a:r>
          </a:p>
          <a:p>
            <a:endParaRPr lang="en-GB"/>
          </a:p>
          <a:p>
            <a:r>
              <a:rPr lang="en-GB"/>
              <a:t>Typical mistakes to surface: Looking only at the public side of DNAT; Running unfiltered debug on a busy device; Forgetting to stop/reset debug or treating session clear as harmless</a:t>
            </a:r>
          </a:p>
          <a:p>
            <a:endParaRPr lang="en-GB"/>
          </a:p>
          <a:p>
            <a:r>
              <a:rPr lang="en-GB"/>
              <a:t>Official reference for instructor preparation: FortiGate/FortiOS 7.6.7 Administration Guide: NAT; Virtual IPs; Logging; Session table; Packet sniffer; Debugging the packet flow. FortiOS 7.6.7 CLI Reference.</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 minutes. Protect the block’s practical/discussion reserve; skip optional slides when time is short.</a:t>
            </a:r>
          </a:p>
          <a:p>
            <a:endParaRPr lang="en-GB"/>
          </a:p>
          <a:p>
            <a:r>
              <a:rPr lang="en-GB"/>
              <a:t>Explanation: Looking only at the public side of DNAT; Running unfiltered debug on a busy device; Forgetting to stop/reset debug or treating session clear as harmless</a:t>
            </a:r>
          </a:p>
          <a:p>
            <a:endParaRPr lang="en-GB"/>
          </a:p>
          <a:p>
            <a:r>
              <a:rPr lang="en-GB"/>
              <a:t>Typical mistakes to surface: Looking only at the public side of DNAT; Running unfiltered debug on a busy device; Forgetting to stop/reset debug or treating session clear as harmless</a:t>
            </a:r>
          </a:p>
          <a:p>
            <a:endParaRPr lang="en-GB"/>
          </a:p>
          <a:p>
            <a:r>
              <a:rPr lang="en-GB"/>
              <a:t>Official reference for instructor preparation: FortiGate/FortiOS 7.6.7 Administration Guide: NAT; Virtual IPs; Logging; Session table; Packet sniffer; Debugging the packet flow. FortiOS 7.6.7 CLI Reference.</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5–7 minutes. Protect the block’s practical/discussion reserve; skip optional slides when time is short.</a:t>
            </a:r>
          </a:p>
          <a:p>
            <a:endParaRPr lang="en-GB"/>
          </a:p>
          <a:p>
            <a:r>
              <a:rPr lang="en-GB"/>
              <a:t>Explanation: Define the expected original and translated tuples; Check route and matching policy/VIP; Inspect live session state; Capture at two interfaces to localize loss; Run filtered debug flow; disable/reset immediately</a:t>
            </a:r>
          </a:p>
          <a:p>
            <a:endParaRPr lang="en-GB"/>
          </a:p>
          <a:p>
            <a:r>
              <a:rPr lang="en-GB"/>
              <a:t>Typical mistakes to surface: Looking only at the public side of DNAT; Running unfiltered debug on a busy device; Forgetting to stop/reset debug or treating session clear as harmless</a:t>
            </a:r>
          </a:p>
          <a:p>
            <a:endParaRPr lang="en-GB"/>
          </a:p>
          <a:p>
            <a:r>
              <a:rPr lang="en-GB"/>
              <a:t>Official reference for instructor preparation: FortiGate/FortiOS 7.6.7 Administration Guide: NAT; Virtual IPs; Logging; Session table; Packet sniffer; Debugging the packet flow. FortiOS 7.6.7 CLI Reference.</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Exercise: Publish, NAT and Troubleshoot a DMZ Service.</a:t>
            </a:r>
          </a:p>
          <a:p>
            <a:r>
              <a:rPr lang="en-GB"/>
              <a:t>Preparation: assign the DMZ server host IP and published test IP/port from the lab worksheet; do not use the documentation addresses from conceptual slides.</a:t>
            </a:r>
          </a:p>
          <a:p>
            <a:r>
              <a:rPr lang="en-GB"/>
              <a:t>Fault choices: wrong VIP mapping, wrong policy destination/service, missing DMZ return route, or stale session. Inject one only.</a:t>
            </a:r>
          </a:p>
          <a:p>
            <a:r>
              <a:rPr lang="en-GB"/>
              <a:t>Answer key: WAN-side tuple translates to the assigned DMZ server; policy ID and captures match; reply translation is visible.</a:t>
            </a:r>
          </a:p>
          <a:p>
            <a:r>
              <a:rPr lang="en-GB"/>
              <a:t>Reset: remove the fault/test VIP as directed, clear only test sessions, stop capture/debug.</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5–7 minutes. Protect the block’s practical/discussion reserve; skip optional slides when time is short.</a:t>
            </a:r>
          </a:p>
          <a:p>
            <a:endParaRPr lang="en-GB"/>
          </a:p>
          <a:p>
            <a:r>
              <a:rPr lang="en-GB"/>
              <a:t>Explanation: Which log best proves the firewall policy and NAT result for a connection?; What must be done after a debug-flow demonstration?</a:t>
            </a:r>
          </a:p>
          <a:p>
            <a:endParaRPr lang="en-GB"/>
          </a:p>
          <a:p>
            <a:r>
              <a:rPr lang="en-GB"/>
              <a:t>Typical mistakes to surface: Looking only at the public side of DNAT; Running unfiltered debug on a busy device; Forgetting to stop/reset debug or treating session clear as harmless</a:t>
            </a:r>
          </a:p>
          <a:p>
            <a:endParaRPr lang="en-GB"/>
          </a:p>
          <a:p>
            <a:r>
              <a:rPr lang="en-GB"/>
              <a:t>Official reference for instructor preparation: FortiGate/FortiOS 7.6.7 Administration Guide: NAT; Virtual IPs; Logging; Session table; Packet sniffer; Debugging the packet flow. FortiOS 7.6.7 CLI Reference.</a:t>
            </a:r>
          </a:p>
          <a:p>
            <a:endParaRPr lang="en-GB"/>
          </a:p>
          <a:p>
            <a:r>
              <a:rPr lang="en-GB"/>
              <a:t>Knowledge check answer key:</a:t>
            </a:r>
          </a:p>
          <a:p>
            <a:endParaRPr lang="en-GB"/>
          </a:p>
          <a:p>
            <a:r>
              <a:rPr lang="en-GB"/>
              <a:t>Q: Which log best proves the firewall policy and NAT result for a connection?</a:t>
            </a:r>
          </a:p>
          <a:p>
            <a:r>
              <a:rPr lang="en-GB"/>
              <a:t>A: The Traffic log, correlated with session and packet state/output.</a:t>
            </a:r>
          </a:p>
          <a:p>
            <a:endParaRPr lang="en-GB"/>
          </a:p>
          <a:p>
            <a:r>
              <a:rPr lang="en-GB"/>
              <a:t>Q: What must be done after a debug-flow demonstration?</a:t>
            </a:r>
          </a:p>
          <a:p>
            <a:r>
              <a:rPr lang="en-GB"/>
              <a:t>A: Disable debug output and reset filters/state; retain only necessary state/output.</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3 minutes. Protect the block’s practical/discussion reserve; skip optional slides when time is short.</a:t>
            </a:r>
          </a:p>
          <a:p>
            <a:endParaRPr lang="en-GB"/>
          </a:p>
          <a:p>
            <a:r>
              <a:rPr lang="en-GB"/>
              <a:t>Explanation: Interpret static and default routes in the routing table; Explain longest prefix, administrative distance, priority and ECMP; Validate next-hop and return-path behavior</a:t>
            </a:r>
          </a:p>
          <a:p>
            <a:endParaRPr lang="en-GB"/>
          </a:p>
          <a:p>
            <a:r>
              <a:rPr lang="en-GB"/>
              <a:t>Typical mistakes to surface: Comparing distance across different prefix lengths; Assuming ECMP means per-packet round robin; Ignoring the reverse destination route</a:t>
            </a:r>
          </a:p>
          <a:p>
            <a:endParaRPr lang="en-GB"/>
          </a:p>
          <a:p>
            <a:r>
              <a:rPr lang="en-GB"/>
              <a:t>Official reference for instructor preparation: FortiGate/FortiOS 7.6.7 Administration Guide: Static routing; Routing table; ECMP. FortiOS 7.6.7 CLI Reference.</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4–6 minutes. Protect the block’s practical/discussion reserve; skip optional slides when time is short.</a:t>
            </a:r>
          </a:p>
          <a:p>
            <a:endParaRPr lang="en-GB"/>
          </a:p>
          <a:p>
            <a:r>
              <a:rPr lang="en-GB"/>
              <a:t>Explanation: Connected, static and dynamic routes can all be candidates; Longest prefix match chooses the narrowest destination range first; Administrative distance compares route sources for the same prefix; Priority can break ties within the same route source; verify exact behavior in the deployed build</a:t>
            </a:r>
          </a:p>
          <a:p>
            <a:endParaRPr lang="en-GB"/>
          </a:p>
          <a:p>
            <a:r>
              <a:rPr lang="en-GB"/>
              <a:t>Typical mistakes to surface: Comparing distance across different prefix lengths; Assuming ECMP means per-packet round robin; Ignoring the reverse destination route</a:t>
            </a:r>
          </a:p>
          <a:p>
            <a:endParaRPr lang="en-GB"/>
          </a:p>
          <a:p>
            <a:r>
              <a:rPr lang="en-GB"/>
              <a:t>Official reference for instructor preparation: FortiGate/FortiOS 7.6.7 Administration Guide: Static routing; Routing table; ECMP. FortiOS 7.6.7 CLI Reference.</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4–6 minutes. Protect the block’s practical/discussion reserve; skip optional slides when time is short.</a:t>
            </a:r>
          </a:p>
          <a:p>
            <a:endParaRPr lang="en-GB"/>
          </a:p>
          <a:p>
            <a:r>
              <a:rPr lang="en-GB"/>
              <a:t>Explanation: 0.0.0.0/0 matches any IPv4 destination but loses to every more-specific route; The next hop must be reachable on the configured interface; Multiple defaults can provide preference or ECMP depending on distance/priority and state; Default gateway on a host points to FortiGate; default route on FortiGate points upstream</a:t>
            </a:r>
          </a:p>
          <a:p>
            <a:endParaRPr lang="en-GB"/>
          </a:p>
          <a:p>
            <a:r>
              <a:rPr lang="en-GB"/>
              <a:t>Typical mistakes to surface: Comparing distance across different prefix lengths; Assuming ECMP means per-packet round robin; Ignoring the reverse destination route</a:t>
            </a:r>
          </a:p>
          <a:p>
            <a:endParaRPr lang="en-GB"/>
          </a:p>
          <a:p>
            <a:r>
              <a:rPr lang="en-GB"/>
              <a:t>Official reference for instructor preparation: FortiGate/FortiOS 7.6.7 Administration Guide: Static routing; Routing table; ECMP. FortiOS 7.6.7 CLI Reference.</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4–6 minutes. Protect the block’s practical/discussion reserve; skip optional slides when time is short.</a:t>
            </a:r>
          </a:p>
          <a:p>
            <a:endParaRPr lang="en-GB"/>
          </a:p>
          <a:p>
            <a:r>
              <a:rPr lang="en-GB"/>
              <a:t>Explanation: Lower distance is preferred for equal prefixes; Different protocols have defaults; explicit changes should be documented; A lower distance does not fix an unreachable next hop; Use SD-WAN/health logic for measured service quality rather than abusing distance</a:t>
            </a:r>
          </a:p>
          <a:p>
            <a:endParaRPr lang="en-GB"/>
          </a:p>
          <a:p>
            <a:r>
              <a:rPr lang="en-GB"/>
              <a:t>Typical mistakes to surface: Comparing distance across different prefix lengths; Assuming ECMP means per-packet round robin; Ignoring the reverse destination route</a:t>
            </a:r>
          </a:p>
          <a:p>
            <a:endParaRPr lang="en-GB"/>
          </a:p>
          <a:p>
            <a:r>
              <a:rPr lang="en-GB"/>
              <a:t>Official reference for instructor preparation: FortiGate/FortiOS 7.6.7 Administration Guide: Static routing; Routing table; ECMP. FortiOS 7.6.7 CLI Reference.</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4–6 minutes. Protect the block’s practical/discussion reserve; skip optional slides when time is short.</a:t>
            </a:r>
          </a:p>
          <a:p>
            <a:endParaRPr lang="en-GB"/>
          </a:p>
          <a:p>
            <a:r>
              <a:rPr lang="en-GB"/>
              <a:t>Explanation: Routes must be equal under relevant selection criteria; A session is normally pinned to one selected next hop; Per-packet assumptions are unsafe; hashing and platform behavior require confirmation; Symmetry, NAT and upstream state affect failover outcomes</a:t>
            </a:r>
          </a:p>
          <a:p>
            <a:endParaRPr lang="en-GB"/>
          </a:p>
          <a:p>
            <a:r>
              <a:rPr lang="en-GB"/>
              <a:t>Typical mistakes to surface: Comparing distance across different prefix lengths; Assuming ECMP means per-packet round robin; Ignoring the reverse destination route</a:t>
            </a:r>
          </a:p>
          <a:p>
            <a:endParaRPr lang="en-GB"/>
          </a:p>
          <a:p>
            <a:r>
              <a:rPr lang="en-GB"/>
              <a:t>Official reference for instructor preparation: FortiGate/FortiOS 7.6.7 Administration Guide: Static routing; Routing table; ECMP. FortiOS 7.6.7 CLI Reference.</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7–9 minutes. Protect the block’s practical/discussion reserve; skip optional slides when time is short.</a:t>
            </a:r>
          </a:p>
          <a:p>
            <a:endParaRPr lang="en-GB"/>
          </a:p>
          <a:p>
            <a:r>
              <a:rPr lang="en-GB"/>
              <a:t>Explanation: List every matching prefix; Choose longest prefix; For equal prefixes compare distance then applicable priority/metric; Confirm next-hop/interface state and perform return lookup</a:t>
            </a:r>
          </a:p>
          <a:p>
            <a:endParaRPr lang="en-GB"/>
          </a:p>
          <a:p>
            <a:r>
              <a:rPr lang="en-GB"/>
              <a:t>Typical mistakes to surface: Comparing distance across different prefix lengths; Assuming ECMP means per-packet round robin; Ignoring the reverse destination route</a:t>
            </a:r>
          </a:p>
          <a:p>
            <a:endParaRPr lang="en-GB"/>
          </a:p>
          <a:p>
            <a:r>
              <a:rPr lang="en-GB"/>
              <a:t>Official reference for instructor preparation: FortiGate/FortiOS 7.6.7 Administration Guide: Static routing; Routing table; ECMP. FortiOS 7.6.7 CLI Reference.</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 minutes. Protect the block’s practical/discussion reserve; skip optional slides when time is short.</a:t>
            </a:r>
          </a:p>
          <a:p>
            <a:endParaRPr lang="en-GB"/>
          </a:p>
          <a:p>
            <a:r>
              <a:rPr lang="en-GB"/>
              <a:t>Explanation: Comparing distance across different prefix lengths; Assuming ECMP means per-packet round robin; Ignoring the reverse destination route</a:t>
            </a:r>
          </a:p>
          <a:p>
            <a:endParaRPr lang="en-GB"/>
          </a:p>
          <a:p>
            <a:r>
              <a:rPr lang="en-GB"/>
              <a:t>Typical mistakes to surface: Comparing distance across different prefix lengths; Assuming ECMP means per-packet round robin; Ignoring the reverse destination route</a:t>
            </a:r>
          </a:p>
          <a:p>
            <a:endParaRPr lang="en-GB"/>
          </a:p>
          <a:p>
            <a:r>
              <a:rPr lang="en-GB"/>
              <a:t>Official reference for instructor preparation: FortiGate/FortiOS 7.6.7 Administration Guide: Static routing; Routing table; ECMP. FortiOS 7.6.7 CLI Reference.</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5–7 minutes. Protect the block’s practical/discussion reserve; skip optional slides when time is short.</a:t>
            </a:r>
          </a:p>
          <a:p>
            <a:endParaRPr lang="en-GB"/>
          </a:p>
          <a:p>
            <a:r>
              <a:rPr lang="en-GB"/>
              <a:t>Explanation: Look up the exact destination; Verify the selected prefix and next hop; Test next-hop reachability from the expected source; Check policy/session egress; Repeat lookup for return destination</a:t>
            </a:r>
          </a:p>
          <a:p>
            <a:endParaRPr lang="en-GB"/>
          </a:p>
          <a:p>
            <a:r>
              <a:rPr lang="en-GB"/>
              <a:t>Typical mistakes to surface: Comparing distance across different prefix lengths; Assuming ECMP means per-packet round robin; Ignoring the reverse destination route</a:t>
            </a:r>
          </a:p>
          <a:p>
            <a:endParaRPr lang="en-GB"/>
          </a:p>
          <a:p>
            <a:r>
              <a:rPr lang="en-GB"/>
              <a:t>Official reference for instructor preparation: FortiGate/FortiOS 7.6.7 Administration Guide: Static routing; Routing table; ECMP. FortiOS 7.6.7 CLI Reference.</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Exercise: Route Selection and Failure Analysis.</a:t>
            </a:r>
          </a:p>
          <a:p>
            <a:r>
              <a:rPr lang="en-GB"/>
              <a:t>Preparation: provide isolated candidate routes and preserve the management/default-breakout path.</a:t>
            </a:r>
          </a:p>
          <a:p>
            <a:r>
              <a:rPr lang="en-GB"/>
              <a:t>Answer key: longest prefix wins before distance/priority comparisons among equivalent prefixes. The active route and forwarding test must change consistently after the controlled withdrawal.</a:t>
            </a:r>
          </a:p>
          <a:p>
            <a:r>
              <a:rPr lang="en-GB"/>
              <a:t>Reset: restore original routes and verify management plus shared Internet breakout.</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5–7 minutes. Protect the block’s practical/discussion reserve; skip optional slides when time is short.</a:t>
            </a:r>
          </a:p>
          <a:p>
            <a:endParaRPr lang="en-GB"/>
          </a:p>
          <a:p>
            <a:r>
              <a:rPr lang="en-GB"/>
              <a:t>Explanation: Which criterion is evaluated before administrative distance?; Why might equal routes not visibly split one connection?</a:t>
            </a:r>
          </a:p>
          <a:p>
            <a:endParaRPr lang="en-GB"/>
          </a:p>
          <a:p>
            <a:r>
              <a:rPr lang="en-GB"/>
              <a:t>Typical mistakes to surface: Comparing distance across different prefix lengths; Assuming ECMP means per-packet round robin; Ignoring the reverse destination route</a:t>
            </a:r>
          </a:p>
          <a:p>
            <a:endParaRPr lang="en-GB"/>
          </a:p>
          <a:p>
            <a:r>
              <a:rPr lang="en-GB"/>
              <a:t>Official reference for instructor preparation: FortiGate/FortiOS 7.6.7 Administration Guide: Static routing; Routing table; ECMP. FortiOS 7.6.7 CLI Reference.</a:t>
            </a:r>
          </a:p>
          <a:p>
            <a:endParaRPr lang="en-GB"/>
          </a:p>
          <a:p>
            <a:r>
              <a:rPr lang="en-GB"/>
              <a:t>Knowledge check answer key:</a:t>
            </a:r>
          </a:p>
          <a:p>
            <a:endParaRPr lang="en-GB"/>
          </a:p>
          <a:p>
            <a:r>
              <a:rPr lang="en-GB"/>
              <a:t>Q: Which criterion is evaluated before administrative distance?</a:t>
            </a:r>
          </a:p>
          <a:p>
            <a:r>
              <a:rPr lang="en-GB"/>
              <a:t>A: Longest prefix match.</a:t>
            </a:r>
          </a:p>
          <a:p>
            <a:endParaRPr lang="en-GB"/>
          </a:p>
          <a:p>
            <a:r>
              <a:rPr lang="en-GB"/>
              <a:t>Q: Why might equal routes not visibly split one connection?</a:t>
            </a:r>
          </a:p>
          <a:p>
            <a:r>
              <a:rPr lang="en-GB"/>
              <a:t>A: Path selection is generally session/flow based, so one five-tuple remains pinned.</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3 minutes. Protect the block’s practical/discussion reserve; skip optional slides when time is short.</a:t>
            </a:r>
          </a:p>
          <a:p>
            <a:endParaRPr lang="en-GB"/>
          </a:p>
          <a:p>
            <a:r>
              <a:rPr lang="en-GB"/>
              <a:t>Explanation: Create clear address, service and group objects; Apply naming, reuse and ownership conventions; Review policies for maintainability and operational clarity</a:t>
            </a:r>
          </a:p>
          <a:p>
            <a:endParaRPr lang="en-GB"/>
          </a:p>
          <a:p>
            <a:r>
              <a:rPr lang="en-GB"/>
              <a:t>Typical mistakes to surface: Creating duplicates instead of finding canonical objects; Using groups to conceal unrelated networks; Deleting a zero-hit rule without checking observation period</a:t>
            </a:r>
          </a:p>
          <a:p>
            <a:endParaRPr lang="en-GB"/>
          </a:p>
          <a:p>
            <a:r>
              <a:rPr lang="en-GB"/>
              <a:t>Official reference for instructor preparation: FortiGate/FortiOS 7.6.7 Administration Guide: Firewall addresses; Services; Object groups; Firewall policy best practices.</a:t>
            </a:r>
          </a:p>
          <a:p>
            <a:endParaRPr lang="en-GB"/>
          </a:p>
          <a:p>
            <a:r>
              <a:rPr lang="en-GB"/>
              <a:t>[OPTIONAL SUPPLEMENT — IDENTITY/AUTHENTICATION, 10–15 MINUTES IF NEEDED]</a:t>
            </a:r>
          </a:p>
          <a:p>
            <a:r>
              <a:rPr lang="en-GB"/>
              <a:t>LDAP: FortiGate binds/searches a directory using a configured base DN and attributes; connectivity, TLS trust, bind permissions and group lookup are separate failure points. LDAP validates directory credentials/attributes but does not by itself create an IP-to-user mapping for transparent policy.</a:t>
            </a:r>
          </a:p>
          <a:p>
            <a:r>
              <a:rPr lang="en-GB"/>
              <a:t>RADIUS: the FortiGate acts as a network access client and receives Access-Accept, Access-Reject or Access-Challenge. Shared secret, client/NAS identity, source IP, timeout and returned group attributes must agree. Preserve a local break-glass administrator.</a:t>
            </a:r>
          </a:p>
          <a:p>
            <a:r>
              <a:rPr lang="en-GB"/>
              <a:t>FSSO: collector/agent methods learn user logon information and map user/group to workstation IP for identity-aware policy. Shared/NATed devices, stale logoff data, collector reachability and group filters affect accuracy. Validate the live user/IP mapping and matched policy rather than assuming directory success proves FSSO.</a:t>
            </a:r>
          </a:p>
          <a:p>
            <a:r>
              <a:rPr lang="en-GB"/>
              <a:t>Optional demo: test one LDAP/RADIUS server object, then inspect one FSSO user/IP mapping; do not let this supplement displace routing, VPN, EMS, HA or SD-WAN.</a:t>
            </a:r>
          </a:p>
          <a:p>
            <a:r>
              <a:rPr lang="en-GB"/>
              <a:t>Official preparation references: FortiGate/FortiOS 7.6.7 Administration Guide — LDAP servers, RADIUS servers, Firewall authentication and FSSO. Confirm FortiOS 7.6.7 build and authentication architecture.</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4–6 minutes. Protect the block’s practical/discussion reserve; skip optional slides when time is short.</a:t>
            </a:r>
          </a:p>
          <a:p>
            <a:endParaRPr lang="en-GB"/>
          </a:p>
          <a:p>
            <a:r>
              <a:rPr lang="en-GB"/>
              <a:t>Explanation: Address objects represent hosts, subnets, ranges, FQDNs or interfaces as supported; Service objects represent protocol and port ranges; Groups reduce repetition but can hide overly broad membership; Comments, owners and lifecycle information improve change safety</a:t>
            </a:r>
          </a:p>
          <a:p>
            <a:endParaRPr lang="en-GB"/>
          </a:p>
          <a:p>
            <a:r>
              <a:rPr lang="en-GB"/>
              <a:t>Typical mistakes to surface: Creating duplicates instead of finding canonical objects; Using groups to conceal unrelated networks; Deleting a zero-hit rule without checking observation period</a:t>
            </a:r>
          </a:p>
          <a:p>
            <a:endParaRPr lang="en-GB"/>
          </a:p>
          <a:p>
            <a:r>
              <a:rPr lang="en-GB"/>
              <a:t>Official reference for instructor preparation: FortiGate/FortiOS 7.6.7 Administration Guide: Firewall addresses; Services; Object groups; Firewall policy best practices.</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4–6 minutes. Protect the block’s practical/discussion reserve; skip optional slides when time is short.</a:t>
            </a:r>
          </a:p>
          <a:p>
            <a:endParaRPr lang="en-GB"/>
          </a:p>
          <a:p>
            <a:r>
              <a:rPr lang="en-GB"/>
              <a:t>Explanation: Name by function, environment and scope rather than transient ticket numbers; Avoid embedding unverified geography or ownership; Use consistent prefixes only when they add search value; Document exceptions and expiration dates for temporary objects</a:t>
            </a:r>
          </a:p>
          <a:p>
            <a:endParaRPr lang="en-GB"/>
          </a:p>
          <a:p>
            <a:r>
              <a:rPr lang="en-GB"/>
              <a:t>Typical mistakes to surface: Creating duplicates instead of finding canonical objects; Using groups to conceal unrelated networks; Deleting a zero-hit rule without checking observation period</a:t>
            </a:r>
          </a:p>
          <a:p>
            <a:endParaRPr lang="en-GB"/>
          </a:p>
          <a:p>
            <a:r>
              <a:rPr lang="en-GB"/>
              <a:t>Official reference for instructor preparation: FortiGate/FortiOS 7.6.7 Administration Guide: Firewall addresses; Services; Object groups; Firewall policy best practices.</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4–6 minutes. Protect the block’s practical/discussion reserve; skip optional slides when time is short.</a:t>
            </a:r>
          </a:p>
          <a:p>
            <a:endParaRPr lang="en-GB"/>
          </a:p>
          <a:p>
            <a:r>
              <a:rPr lang="en-GB"/>
              <a:t>Explanation: Reuse canonical network/service objects; Create a group when members genuinely share policy treatment; Do not create mega-groups that make logging and review opaque; FQDN/dynamic objects add resolution dependencies that must be monitored</a:t>
            </a:r>
          </a:p>
          <a:p>
            <a:endParaRPr lang="en-GB"/>
          </a:p>
          <a:p>
            <a:r>
              <a:rPr lang="en-GB"/>
              <a:t>Typical mistakes to surface: Creating duplicates instead of finding canonical objects; Using groups to conceal unrelated networks; Deleting a zero-hit rule without checking observation period</a:t>
            </a:r>
          </a:p>
          <a:p>
            <a:endParaRPr lang="en-GB"/>
          </a:p>
          <a:p>
            <a:r>
              <a:rPr lang="en-GB"/>
              <a:t>Official reference for instructor preparation: FortiGate/FortiOS 7.6.7 Administration Guide: Firewall addresses; Services; Object groups; Firewall policy best practices.</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4–6 minutes. Protect the block’s practical/discussion reserve; skip optional slides when time is short.</a:t>
            </a:r>
          </a:p>
          <a:p>
            <a:endParaRPr lang="en-GB"/>
          </a:p>
          <a:p>
            <a:r>
              <a:rPr lang="en-GB"/>
              <a:t>Explanation: Place narrow exceptions intentionally; Separate flows with different owners, logging or security profiles; Use comments and change records to explain why a rule exists; Review zero-hit, expired and shadowed policies carefully before removal</a:t>
            </a:r>
          </a:p>
          <a:p>
            <a:endParaRPr lang="en-GB"/>
          </a:p>
          <a:p>
            <a:r>
              <a:rPr lang="en-GB"/>
              <a:t>Typical mistakes to surface: Creating duplicates instead of finding canonical objects; Using groups to conceal unrelated networks; Deleting a zero-hit rule without checking observation period</a:t>
            </a:r>
          </a:p>
          <a:p>
            <a:endParaRPr lang="en-GB"/>
          </a:p>
          <a:p>
            <a:r>
              <a:rPr lang="en-GB"/>
              <a:t>Official reference for instructor preparation: FortiGate/FortiOS 7.6.7 Administration Guide: Firewall addresses; Services; Object groups; Firewall policy best practices.</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7–9 minutes. Protect the block’s practical/discussion reserve; skip optional slides when time is short.</a:t>
            </a:r>
          </a:p>
          <a:p>
            <a:endParaRPr lang="en-GB"/>
          </a:p>
          <a:p>
            <a:r>
              <a:rPr lang="en-GB"/>
              <a:t>Explanation: Resolve all object/group members; Compare scope to the documented flow; Check ordering and overlapping rules; Confirm logs and security profiles support operations</a:t>
            </a:r>
          </a:p>
          <a:p>
            <a:endParaRPr lang="en-GB"/>
          </a:p>
          <a:p>
            <a:r>
              <a:rPr lang="en-GB"/>
              <a:t>Typical mistakes to surface: Creating duplicates instead of finding canonical objects; Using groups to conceal unrelated networks; Deleting a zero-hit rule without checking observation period</a:t>
            </a:r>
          </a:p>
          <a:p>
            <a:endParaRPr lang="en-GB"/>
          </a:p>
          <a:p>
            <a:r>
              <a:rPr lang="en-GB"/>
              <a:t>Official reference for instructor preparation: FortiGate/FortiOS 7.6.7 Administration Guide: Firewall addresses; Services; Object groups; Firewall policy best practices.</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 minutes. Protect the block’s practical/discussion reserve; skip optional slides when time is short.</a:t>
            </a:r>
          </a:p>
          <a:p>
            <a:endParaRPr lang="en-GB"/>
          </a:p>
          <a:p>
            <a:r>
              <a:rPr lang="en-GB"/>
              <a:t>Explanation: Creating duplicates instead of finding canonical objects; Using groups to conceal unrelated networks; Deleting a zero-hit rule without checking observation period</a:t>
            </a:r>
          </a:p>
          <a:p>
            <a:endParaRPr lang="en-GB"/>
          </a:p>
          <a:p>
            <a:r>
              <a:rPr lang="en-GB"/>
              <a:t>Typical mistakes to surface: Creating duplicates instead of finding canonical objects; Using groups to conceal unrelated networks; Deleting a zero-hit rule without checking observation period</a:t>
            </a:r>
          </a:p>
          <a:p>
            <a:endParaRPr lang="en-GB"/>
          </a:p>
          <a:p>
            <a:r>
              <a:rPr lang="en-GB"/>
              <a:t>Official reference for instructor preparation: FortiGate/FortiOS 7.6.7 Administration Guide: Firewall addresses; Services; Object groups; Firewall policy best practices.</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5–7 minutes. Protect the block’s practical/discussion reserve; skip optional slides when time is short.</a:t>
            </a:r>
          </a:p>
          <a:p>
            <a:endParaRPr lang="en-GB"/>
          </a:p>
          <a:p>
            <a:r>
              <a:rPr lang="en-GB"/>
              <a:t>Explanation: Start from a failing/desired five-tuple; Resolve object membership; Check service protocol and port ranges; Inspect order, action, NAT and profiles; Use log/hit state/output and change history</a:t>
            </a:r>
          </a:p>
          <a:p>
            <a:endParaRPr lang="en-GB"/>
          </a:p>
          <a:p>
            <a:r>
              <a:rPr lang="en-GB"/>
              <a:t>Typical mistakes to surface: Creating duplicates instead of finding canonical objects; Using groups to conceal unrelated networks; Deleting a zero-hit rule without checking observation period</a:t>
            </a:r>
          </a:p>
          <a:p>
            <a:endParaRPr lang="en-GB"/>
          </a:p>
          <a:p>
            <a:r>
              <a:rPr lang="en-GB"/>
              <a:t>Official reference for instructor preparation: FortiGate/FortiOS 7.6.7 Administration Guide: Firewall addresses; Services; Object groups; Firewall policy best practices.</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Exercise: Refactor a Bad Firewall Rulebase.</a:t>
            </a:r>
          </a:p>
          <a:p>
            <a:r>
              <a:rPr lang="en-GB"/>
              <a:t>Preparation: distribute a flawed copy, never the only known-good configuration.</a:t>
            </a:r>
          </a:p>
          <a:p>
            <a:r>
              <a:rPr lang="en-GB"/>
              <a:t>Answer key: remove/merge duplicate objects, narrow broad selectors, order specific rules before broader intent where required, and enable useful logging. Required flows remain allowed; prohibited flows remain denied.</a:t>
            </a:r>
          </a:p>
          <a:p>
            <a:r>
              <a:rPr lang="en-GB"/>
              <a:t>Reset: export work for review and restore the approved baseline.</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5–7 minutes. Protect the block’s practical/discussion reserve; skip optional slides when time is short.</a:t>
            </a:r>
          </a:p>
          <a:p>
            <a:endParaRPr lang="en-GB"/>
          </a:p>
          <a:p>
            <a:r>
              <a:rPr lang="en-GB"/>
              <a:t>Explanation: When should objects be grouped?; Why is a zero hit count insufficient to delete a rule?</a:t>
            </a:r>
          </a:p>
          <a:p>
            <a:endParaRPr lang="en-GB"/>
          </a:p>
          <a:p>
            <a:r>
              <a:rPr lang="en-GB"/>
              <a:t>Typical mistakes to surface: Creating duplicates instead of finding canonical objects; Using groups to conceal unrelated networks; Deleting a zero-hit rule without checking observation period</a:t>
            </a:r>
          </a:p>
          <a:p>
            <a:endParaRPr lang="en-GB"/>
          </a:p>
          <a:p>
            <a:r>
              <a:rPr lang="en-GB"/>
              <a:t>Official reference for instructor preparation: FortiGate/FortiOS 7.6.7 Administration Guide: Firewall addresses; Services; Object groups; Firewall policy best practices.</a:t>
            </a:r>
          </a:p>
          <a:p>
            <a:endParaRPr lang="en-GB"/>
          </a:p>
          <a:p>
            <a:r>
              <a:rPr lang="en-GB"/>
              <a:t>Knowledge check answer key:</a:t>
            </a:r>
          </a:p>
          <a:p>
            <a:endParaRPr lang="en-GB"/>
          </a:p>
          <a:p>
            <a:r>
              <a:rPr lang="en-GB"/>
              <a:t>Q: When should objects be grouped?</a:t>
            </a:r>
          </a:p>
          <a:p>
            <a:r>
              <a:rPr lang="en-GB"/>
              <a:t>A: When all members share the same policy intent and lifecycle.</a:t>
            </a:r>
          </a:p>
          <a:p>
            <a:endParaRPr lang="en-GB"/>
          </a:p>
          <a:p>
            <a:r>
              <a:rPr lang="en-GB"/>
              <a:t>Q: Why is a zero hit count insufficient to delete a rule?</a:t>
            </a:r>
          </a:p>
          <a:p>
            <a:r>
              <a:rPr lang="en-GB"/>
              <a:t>A: The observation window, logging, seasonality and dependency/change history may be incomplete.</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3 minutes. Protect the block’s practical/discussion reserve; skip optional slides when time is short.</a:t>
            </a:r>
          </a:p>
          <a:p>
            <a:endParaRPr lang="en-GB"/>
          </a:p>
          <a:p>
            <a:r>
              <a:rPr lang="en-GB"/>
              <a:t>Explanation: Explain AV, IPS, Web Filter and Application Control roles; Sequence security profiles with inspection prerequisites; Compare certificate and deep inspection with PKI and operational impacts</a:t>
            </a:r>
          </a:p>
          <a:p>
            <a:endParaRPr lang="en-GB"/>
          </a:p>
          <a:p>
            <a:r>
              <a:rPr lang="en-GB"/>
              <a:t>Typical mistakes to surface: Enabling deep inspection without distributing the CA; Assuming every profile can inspect encrypted payload under certificate inspection; Treating a security log as proof of routing or return path</a:t>
            </a:r>
          </a:p>
          <a:p>
            <a:endParaRPr lang="en-GB"/>
          </a:p>
          <a:p>
            <a:r>
              <a:rPr lang="en-GB"/>
              <a:t>Official reference for instructor preparation: FortiGate/FortiOS 7.6.7 Administration Guide: Security profiles; Inspection modes; SSL/SSH inspection; Certificates. Confirm FortiGuard package/service prerequisites and 7.6.7 release notes.</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4–6 minutes. Protect the block’s practical/discussion reserve; skip optional slides when time is short.</a:t>
            </a:r>
          </a:p>
          <a:p>
            <a:endParaRPr lang="en-GB"/>
          </a:p>
          <a:p>
            <a:r>
              <a:rPr lang="en-GB"/>
              <a:t>Explanation: Antivirus scans supported content/files for malware; IPS matches exploit/protocol behavior using signatures and engines; Web Filter classifies and controls web destinations/categories; Application Control identifies applications beyond simple port labels</a:t>
            </a:r>
          </a:p>
          <a:p>
            <a:endParaRPr lang="en-GB"/>
          </a:p>
          <a:p>
            <a:r>
              <a:rPr lang="en-GB"/>
              <a:t>Typical mistakes to surface: Enabling deep inspection without distributing the CA; Assuming every profile can inspect encrypted payload under certificate inspection; Treating a security log as proof of routing or return path</a:t>
            </a:r>
          </a:p>
          <a:p>
            <a:endParaRPr lang="en-GB"/>
          </a:p>
          <a:p>
            <a:r>
              <a:rPr lang="en-GB"/>
              <a:t>Official reference for instructor preparation: FortiGate/FortiOS 7.6.7 Administration Guide: Security profiles; Inspection modes; SSL/SSH inspection; Certificates. Confirm FortiGuard package/service prerequisites and 7.6.7 release notes.</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4–6 minutes. Protect the block’s practical/discussion reserve; skip optional slides when time is short.</a:t>
            </a:r>
          </a:p>
          <a:p>
            <a:endParaRPr lang="en-GB"/>
          </a:p>
          <a:p>
            <a:r>
              <a:rPr lang="en-GB"/>
              <a:t>Explanation: Flow mode streams traffic through engines with lower buffering; Proxy mode terminates/proxies supported protocols for deeper protocol handling; Feature behavior and availability vary by profile/protocol/release; Choose mode by required controls and tested compatibility, not habit</a:t>
            </a:r>
          </a:p>
          <a:p>
            <a:endParaRPr lang="en-GB"/>
          </a:p>
          <a:p>
            <a:r>
              <a:rPr lang="en-GB"/>
              <a:t>Typical mistakes to surface: Enabling deep inspection without distributing the CA; Assuming every profile can inspect encrypted payload under certificate inspection; Treating a security log as proof of routing or return path</a:t>
            </a:r>
          </a:p>
          <a:p>
            <a:endParaRPr lang="en-GB"/>
          </a:p>
          <a:p>
            <a:r>
              <a:rPr lang="en-GB"/>
              <a:t>Official reference for instructor preparation: FortiGate/FortiOS 7.6.7 Administration Guide: Security profiles; Inspection modes; SSL/SSH inspection; Certificates. Confirm FortiGuard package/service prerequisites and 7.6.7 release notes.</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4–6 minutes. Protect the block’s practical/discussion reserve; skip optional slides when time is short.</a:t>
            </a:r>
          </a:p>
          <a:p>
            <a:endParaRPr lang="en-GB"/>
          </a:p>
          <a:p>
            <a:r>
              <a:rPr lang="en-GB"/>
              <a:t>Explanation: Certificate inspection observes TLS handshake/certificate metadata without decrypting payload; Deep inspection decrypts and re-encrypts TLS traffic to expose content; Deep inspection requires endpoint trust in the inspection CA and policy/privacy approval; Exceptions are often needed for pinning, unsupported protocols or regulated traffic</a:t>
            </a:r>
          </a:p>
          <a:p>
            <a:endParaRPr lang="en-GB"/>
          </a:p>
          <a:p>
            <a:r>
              <a:rPr lang="en-GB"/>
              <a:t>Typical mistakes to surface: Enabling deep inspection without distributing the CA; Assuming every profile can inspect encrypted payload under certificate inspection; Treating a security log as proof of routing or return path</a:t>
            </a:r>
          </a:p>
          <a:p>
            <a:endParaRPr lang="en-GB"/>
          </a:p>
          <a:p>
            <a:r>
              <a:rPr lang="en-GB"/>
              <a:t>Official reference for instructor preparation: FortiGate/FortiOS 7.6.7 Administration Guide: Security profiles; Inspection modes; SSL/SSH inspection; Certificates. Confirm FortiGuard package/service prerequisites and 7.6.7 release notes.</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Expected result: under deep inspection, the browser certificate issuer is the configured inspection CA; under certificate inspection, the original server certificate remains end to end. Source: FortiOS 7.6.7 Administration Guide — SSL/SSH inspection and deep inspection.</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7–9 minutes. Protect the block’s practical/discussion reserve; skip optional slides when time is short.</a:t>
            </a:r>
          </a:p>
          <a:p>
            <a:endParaRPr lang="en-GB"/>
          </a:p>
          <a:p>
            <a:r>
              <a:rPr lang="en-GB"/>
              <a:t>Explanation: Policy permits and selects inspection mode; TLS inspection exposes available metadata/content; AV/IPS/Web/App engines apply relevant controls; Traffic and security logs record different state/output</a:t>
            </a:r>
          </a:p>
          <a:p>
            <a:endParaRPr lang="en-GB"/>
          </a:p>
          <a:p>
            <a:r>
              <a:rPr lang="en-GB"/>
              <a:t>Typical mistakes to surface: Enabling deep inspection without distributing the CA; Assuming every profile can inspect encrypted payload under certificate inspection; Treating a security log as proof of routing or return path</a:t>
            </a:r>
          </a:p>
          <a:p>
            <a:endParaRPr lang="en-GB"/>
          </a:p>
          <a:p>
            <a:r>
              <a:rPr lang="en-GB"/>
              <a:t>Official reference for instructor preparation: FortiGate/FortiOS 7.6.7 Administration Guide: Security profiles; Inspection modes; SSL/SSH inspection; Certificates. Confirm FortiGuard package/service prerequisites and 7.6.7 release notes.</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 minutes. Protect the block’s practical/discussion reserve; skip optional slides when time is short.</a:t>
            </a:r>
          </a:p>
          <a:p>
            <a:endParaRPr lang="en-GB"/>
          </a:p>
          <a:p>
            <a:r>
              <a:rPr lang="en-GB"/>
              <a:t>Explanation: Enabling deep inspection without distributing the CA; Assuming every profile can inspect encrypted payload under certificate inspection; Treating a security log as proof of routing or return path</a:t>
            </a:r>
          </a:p>
          <a:p>
            <a:endParaRPr lang="en-GB"/>
          </a:p>
          <a:p>
            <a:r>
              <a:rPr lang="en-GB"/>
              <a:t>Typical mistakes to surface: Enabling deep inspection without distributing the CA; Assuming every profile can inspect encrypted payload under certificate inspection; Treating a security log as proof of routing or return path</a:t>
            </a:r>
          </a:p>
          <a:p>
            <a:endParaRPr lang="en-GB"/>
          </a:p>
          <a:p>
            <a:r>
              <a:rPr lang="en-GB"/>
              <a:t>Official reference for instructor preparation: FortiGate/FortiOS 7.6.7 Administration Guide: Security profiles; Inspection modes; SSL/SSH inspection; Certificates. Confirm FortiGuard package/service prerequisites and 7.6.7 release notes.</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5–7 minutes. Protect the block’s practical/discussion reserve; skip optional slides when time is short.</a:t>
            </a:r>
          </a:p>
          <a:p>
            <a:endParaRPr lang="en-GB"/>
          </a:p>
          <a:p>
            <a:r>
              <a:rPr lang="en-GB"/>
              <a:t>Explanation: Prove basic path and policy first; Check TLS handshake/certificate errors; Confirm inspection mode and client trust; Identify which profile blocked or reset the session; Test an approved exception without broad bypass</a:t>
            </a:r>
          </a:p>
          <a:p>
            <a:endParaRPr lang="en-GB"/>
          </a:p>
          <a:p>
            <a:r>
              <a:rPr lang="en-GB"/>
              <a:t>Typical mistakes to surface: Enabling deep inspection without distributing the CA; Assuming every profile can inspect encrypted payload under certificate inspection; Treating a security log as proof of routing or return path</a:t>
            </a:r>
          </a:p>
          <a:p>
            <a:endParaRPr lang="en-GB"/>
          </a:p>
          <a:p>
            <a:r>
              <a:rPr lang="en-GB"/>
              <a:t>Official reference for instructor preparation: FortiGate/FortiOS 7.6.7 Administration Guide: Security profiles; Inspection modes; SSL/SSH inspection; Certificates. Confirm FortiGuard package/service prerequisites and 7.6.7 release notes.</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Exercise: Inspect and Block Controlled Security Events.</a:t>
            </a:r>
          </a:p>
          <a:p>
            <a:r>
              <a:rPr lang="en-GB"/>
              <a:t>Core local exercise: planned Linux LAN client to planned DMZ HTTP/HTTPS server. Run safe EICAR AV test, review web-filter action/log, observe application-control classification, compare certificate inspection with deep inspection, and troubleshoot inspection-CA trust.</a:t>
            </a:r>
          </a:p>
          <a:p>
            <a:r>
              <a:rPr lang="en-GB"/>
              <a:t>Expected core: EICAR is blocked/quarantined or denied according to the prevalidated profile and logged; certificate inspection sees TLS metadata; deep inspection re-signs the server certificate and works only when the client trusts the FortiGate inspection CA.</a:t>
            </a:r>
          </a:p>
          <a:p>
            <a:r>
              <a:rPr lang="en-GB"/>
              <a:t>Optional extensions: controlled IPS-trigger traffic and Internet/FortiGuard-dependent web/app tests. Prevalidate the exact IPS signature, traffic recipe, target service, entitlement, profile action and expected log before class. Do not use arbitrary scans or promise a trigger.</a:t>
            </a:r>
          </a:p>
          <a:p>
            <a:r>
              <a:rPr lang="en-GB"/>
              <a:t>Reset: remove EICAR/test files, restore profiles/policy and client trust snapshot, stop captures/debug. Keep local core manageable; move procedures and exact signatures to the lab guide.</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5–7 minutes. Protect the block’s practical/discussion reserve; skip optional slides when time is short.</a:t>
            </a:r>
          </a:p>
          <a:p>
            <a:endParaRPr lang="en-GB"/>
          </a:p>
          <a:p>
            <a:r>
              <a:rPr lang="en-GB"/>
              <a:t>Explanation: What payload does certificate inspection decrypt?; Why can deep inspection break an otherwise reachable site?</a:t>
            </a:r>
          </a:p>
          <a:p>
            <a:endParaRPr lang="en-GB"/>
          </a:p>
          <a:p>
            <a:r>
              <a:rPr lang="en-GB"/>
              <a:t>Typical mistakes to surface: Enabling deep inspection without distributing the CA; Assuming every profile can inspect encrypted payload under certificate inspection; Treating a security log as proof of routing or return path</a:t>
            </a:r>
          </a:p>
          <a:p>
            <a:endParaRPr lang="en-GB"/>
          </a:p>
          <a:p>
            <a:r>
              <a:rPr lang="en-GB"/>
              <a:t>Official reference for instructor preparation: FortiGate/FortiOS 7.6.7 Administration Guide: Security profiles; Inspection modes; SSL/SSH inspection; Certificates. Confirm FortiGuard package/service prerequisites and 7.6.7 release notes.</a:t>
            </a:r>
          </a:p>
          <a:p>
            <a:endParaRPr lang="en-GB"/>
          </a:p>
          <a:p>
            <a:r>
              <a:rPr lang="en-GB"/>
              <a:t>Knowledge check answer key:</a:t>
            </a:r>
          </a:p>
          <a:p>
            <a:endParaRPr lang="en-GB"/>
          </a:p>
          <a:p>
            <a:r>
              <a:rPr lang="en-GB"/>
              <a:t>Q: What payload does certificate inspection decrypt?</a:t>
            </a:r>
          </a:p>
          <a:p>
            <a:r>
              <a:rPr lang="en-GB"/>
              <a:t>A: None; it uses visible TLS handshake and certificate metadata.</a:t>
            </a:r>
          </a:p>
          <a:p>
            <a:endParaRPr lang="en-GB"/>
          </a:p>
          <a:p>
            <a:r>
              <a:rPr lang="en-GB"/>
              <a:t>Q: Why can deep inspection break an otherwise reachable site?</a:t>
            </a:r>
          </a:p>
          <a:p>
            <a:r>
              <a:rPr lang="en-GB"/>
              <a:t>A: The client may not trust the inspection CA, the application may pin certificates, or protocol/privacy exceptions may apply.</a:t>
            </a:r>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Day 2 operations owns deeper maintenance/recovery discussion. Revisit backup compatibility, recovery access, release notes, upgrade path, firmware validation and post-reboot checks. Live restore or firmware change remains instructor-supervised on a disposable appliance only.</a:t>
            </a:r>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4–6 minutes. Protect the block’s practical/discussion reserve; skip optional slides when time is short.</a:t>
            </a:r>
          </a:p>
          <a:p>
            <a:endParaRPr lang="en-GB"/>
          </a:p>
          <a:p>
            <a:r>
              <a:rPr lang="en-GB"/>
              <a:t>Explanation: Management plane serves GUI/CLI/API and administration; Control plane learns routing, HA and system state; Data plane forwards sessions and applies security processing; A plane can be healthy while another is constrained</a:t>
            </a:r>
          </a:p>
          <a:p>
            <a:endParaRPr lang="en-GB"/>
          </a:p>
          <a:p>
            <a:r>
              <a:rPr lang="en-GB"/>
              <a:t>Typical mistakes to surface: Assuming appliance ASIC commands apply to FortiGate-VM; Upgrading without configuration backup and release-note review; Treating Conserve Mode as a single process fault</a:t>
            </a:r>
          </a:p>
          <a:p>
            <a:endParaRPr lang="en-GB"/>
          </a:p>
          <a:p>
            <a:r>
              <a:rPr lang="en-GB"/>
              <a:t>Official reference for instructor preparation: FortiGate/FortiOS 7.6.7 Administration Guide: Hardware acceleration; Sessions; System performance; Conserve Mode; Firmware upgrades and release notes. Model-specific hardware guide required.</a:t>
            </a:r>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Instructor review: use model-specific hardware guides for NP/CP eligibility and counters. The Azure FGVM lab demonstrates software processing and Azure networking, not FortiASIC offload. Source: FortiOS 7.6.7 Administration Guide — Hardware acceleration; FortiGate-VM for Azure documentation.</a:t>
            </a:r>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4–6 minutes. Protect the block’s practical/discussion reserve; skip optional slides when time is short.</a:t>
            </a:r>
          </a:p>
          <a:p>
            <a:endParaRPr lang="en-GB"/>
          </a:p>
          <a:p>
            <a:r>
              <a:rPr lang="en-GB"/>
              <a:t>Explanation: Session setup and exceptional traffic require CPU decisions; Established eligible sessions may be offloaded; Inspection, fragmentation, tunneling or feature choices can affect eligibility; No-offload is not automatically a fault; compare with documented support</a:t>
            </a:r>
          </a:p>
          <a:p>
            <a:endParaRPr lang="en-GB"/>
          </a:p>
          <a:p>
            <a:r>
              <a:rPr lang="en-GB"/>
              <a:t>Typical mistakes to surface: Assuming appliance ASIC commands apply to FortiGate-VM; Upgrading without configuration backup and release-note review; Treating Conserve Mode as a single process fault</a:t>
            </a:r>
          </a:p>
          <a:p>
            <a:endParaRPr lang="en-GB"/>
          </a:p>
          <a:p>
            <a:r>
              <a:rPr lang="en-GB"/>
              <a:t>Official reference for instructor preparation: FortiGate/FortiOS 7.6.7 Administration Guide: Hardware acceleration; Sessions; System performance; Conserve Mode; Firmware upgrades and release notes. Model-specific hardware guide required.</a:t>
            </a:r>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7–9 minutes. Protect the block’s practical/discussion reserve; skip optional slides when time is short.</a:t>
            </a:r>
          </a:p>
          <a:p>
            <a:endParaRPr lang="en-GB"/>
          </a:p>
          <a:p>
            <a:r>
              <a:rPr lang="en-GB"/>
              <a:t>Explanation: Confirm firmware build and support policy before change; Back up configuration and document rollback; Track session count, CPU and memory against normal workload; Recognize Conserve Mode as protective behavior under memory pressure</a:t>
            </a:r>
          </a:p>
          <a:p>
            <a:endParaRPr lang="en-GB"/>
          </a:p>
          <a:p>
            <a:r>
              <a:rPr lang="en-GB"/>
              <a:t>Typical mistakes to surface: Assuming appliance ASIC commands apply to FortiGate-VM; Upgrading without configuration backup and release-note review; Treating Conserve Mode as a single process fault</a:t>
            </a:r>
          </a:p>
          <a:p>
            <a:endParaRPr lang="en-GB"/>
          </a:p>
          <a:p>
            <a:r>
              <a:rPr lang="en-GB"/>
              <a:t>Official reference for instructor preparation: FortiGate/FortiOS 7.6.7 Administration Guide: Hardware acceleration; Sessions; System performance; Conserve Mode; Firmware upgrades and release notes. Model-specific hardware guide required.</a:t>
            </a:r>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 minutes. Protect the block’s practical/discussion reserve; skip optional slides when time is short.</a:t>
            </a:r>
          </a:p>
          <a:p>
            <a:endParaRPr lang="en-GB"/>
          </a:p>
          <a:p>
            <a:r>
              <a:rPr lang="en-GB"/>
              <a:t>Explanation: Assuming appliance ASIC commands apply to FortiGate-VM; Upgrading without configuration backup and release-note review; Treating Conserve Mode as a single process fault</a:t>
            </a:r>
          </a:p>
          <a:p>
            <a:endParaRPr lang="en-GB"/>
          </a:p>
          <a:p>
            <a:r>
              <a:rPr lang="en-GB"/>
              <a:t>Typical mistakes to surface: Assuming appliance ASIC commands apply to FortiGate-VM; Upgrading without configuration backup and release-note review; Treating Conserve Mode as a single process fault</a:t>
            </a:r>
          </a:p>
          <a:p>
            <a:endParaRPr lang="en-GB"/>
          </a:p>
          <a:p>
            <a:r>
              <a:rPr lang="en-GB"/>
              <a:t>Official reference for instructor preparation: FortiGate/FortiOS 7.6.7 Administration Guide: Hardware acceleration; Sessions; System performance; Conserve Mode; Firmware upgrades and release notes. Model-specific hardware guide required.</a:t>
            </a:r>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5–7 minutes. Protect the block’s practical/discussion reserve; skip optional slides when time is short.</a:t>
            </a:r>
          </a:p>
          <a:p>
            <a:endParaRPr lang="en-GB"/>
          </a:p>
          <a:p>
            <a:r>
              <a:rPr lang="en-GB"/>
              <a:t>Explanation: Confirm current build/model/VM and recent changes; Compare CPU, memory and session counts to baseline; Identify top consumers and inspection load; Check Conserve Mode thresholds/events and proxy behavior; Mitigate safely; preserve state/output before restart/upgrade</a:t>
            </a:r>
          </a:p>
          <a:p>
            <a:endParaRPr lang="en-GB"/>
          </a:p>
          <a:p>
            <a:r>
              <a:rPr lang="en-GB"/>
              <a:t>Typical mistakes to surface: Assuming appliance ASIC commands apply to FortiGate-VM; Upgrading without configuration backup and release-note review; Treating Conserve Mode as a single process fault</a:t>
            </a:r>
          </a:p>
          <a:p>
            <a:endParaRPr lang="en-GB"/>
          </a:p>
          <a:p>
            <a:r>
              <a:rPr lang="en-GB"/>
              <a:t>Official reference for instructor preparation: FortiGate/FortiOS 7.6.7 Administration Guide: Hardware acceleration; Sessions; System performance; Conserve Mode; Firmware upgrades and release notes. Model-specific hardware guide required.</a:t>
            </a:r>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Exercise: Operate and Observe the Firewall.</a:t>
            </a:r>
          </a:p>
          <a:p>
            <a:r>
              <a:rPr lang="en-GB"/>
              <a:t>Answer key: a single timestamped tuple links session, traffic log, interface counters and packet capture. CPU/memory are compared to the recorded baseline, not generic thresholds.</a:t>
            </a:r>
          </a:p>
          <a:p>
            <a:r>
              <a:rPr lang="en-GB"/>
              <a:t>Reset: configuration unchanged; stop captures/debug and clear filters.</a:t>
            </a:r>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5–7 minutes. Protect the block’s practical/discussion reserve; skip optional slides when time is short.</a:t>
            </a:r>
          </a:p>
          <a:p>
            <a:endParaRPr lang="en-GB"/>
          </a:p>
          <a:p>
            <a:r>
              <a:rPr lang="en-GB"/>
              <a:t>Explanation: Why can a VM lab not prove NP/CP offload behavior?; What is Conserve Mode?</a:t>
            </a:r>
          </a:p>
          <a:p>
            <a:endParaRPr lang="en-GB"/>
          </a:p>
          <a:p>
            <a:r>
              <a:rPr lang="en-GB"/>
              <a:t>Typical mistakes to surface: Assuming appliance ASIC commands apply to FortiGate-VM; Upgrading without configuration backup and release-note review; Treating Conserve Mode as a single process fault</a:t>
            </a:r>
          </a:p>
          <a:p>
            <a:endParaRPr lang="en-GB"/>
          </a:p>
          <a:p>
            <a:r>
              <a:rPr lang="en-GB"/>
              <a:t>Official reference for instructor preparation: FortiGate/FortiOS 7.6.7 Administration Guide: Hardware acceleration; Sessions; System performance; Conserve Mode; Firmware upgrades and release notes. Model-specific hardware guide required.</a:t>
            </a:r>
          </a:p>
          <a:p>
            <a:endParaRPr lang="en-GB"/>
          </a:p>
          <a:p>
            <a:r>
              <a:rPr lang="en-GB"/>
              <a:t>Knowledge check answer key:</a:t>
            </a:r>
          </a:p>
          <a:p>
            <a:endParaRPr lang="en-GB"/>
          </a:p>
          <a:p>
            <a:r>
              <a:rPr lang="en-GB"/>
              <a:t>Q: Why can a VM lab not prove NP/CP offload behavior?</a:t>
            </a:r>
          </a:p>
          <a:p>
            <a:r>
              <a:rPr lang="en-GB"/>
              <a:t>A: The VM does not contain the appliance’s ASIC datapath; acceleration depends on virtual platform capabilities.</a:t>
            </a:r>
          </a:p>
          <a:p>
            <a:endParaRPr lang="en-GB"/>
          </a:p>
          <a:p>
            <a:r>
              <a:rPr lang="en-GB"/>
              <a:t>Q: What is Conserve Mode?</a:t>
            </a:r>
          </a:p>
          <a:p>
            <a:r>
              <a:rPr lang="en-GB"/>
              <a:t>A: A protective FortiOS state triggered by memory pressure that changes/limits processing to preserve system stability; investigate causes and thresholds for the exact build.</a:t>
            </a:r>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3 minutes. Protect the block’s practical/discussion reserve; skip optional slides when time is short.</a:t>
            </a:r>
          </a:p>
          <a:p>
            <a:endParaRPr lang="en-GB"/>
          </a:p>
          <a:p>
            <a:r>
              <a:rPr lang="en-GB"/>
              <a:t>Explanation: Explain route selection interactions with PBR; Plan controlled route redistribution; Establish OSPF neighbors and trace LSA-to-route exchange</a:t>
            </a:r>
          </a:p>
          <a:p>
            <a:endParaRPr lang="en-GB"/>
          </a:p>
          <a:p>
            <a:r>
              <a:rPr lang="en-GB"/>
              <a:t>Typical mistakes to surface: Troubleshooting only the routing table when adjacency is down; Redistributing everything without filters/tags; Using PBR to mask an addressing or return-path problem</a:t>
            </a:r>
          </a:p>
          <a:p>
            <a:endParaRPr lang="en-GB"/>
          </a:p>
          <a:p>
            <a:r>
              <a:rPr lang="en-GB"/>
              <a:t>Official reference for instructor preparation: FortiGate/FortiOS 7.6.7 Administration Guide: Policy routes; OSPF; Route maps and prefix lists; Route redistribution. FortiOS 7.6.7 CLI Reference.</a:t>
            </a:r>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4–6 minutes. Protect the block’s practical/discussion reserve; skip optional slides when time is short.</a:t>
            </a:r>
          </a:p>
          <a:p>
            <a:endParaRPr lang="en-GB"/>
          </a:p>
          <a:p>
            <a:r>
              <a:rPr lang="en-GB"/>
              <a:t>Explanation: A policy route matches fields such as ingress, source, destination and service as supported; If matched and valid, it directs a next hop/interface before normal route selection; A supporting route and reachable next hop are still required; PBR increases operational complexity; document scope and fallback</a:t>
            </a:r>
          </a:p>
          <a:p>
            <a:endParaRPr lang="en-GB"/>
          </a:p>
          <a:p>
            <a:r>
              <a:rPr lang="en-GB"/>
              <a:t>Typical mistakes to surface: Troubleshooting only the routing table when adjacency is down; Redistributing everything without filters/tags; Using PBR to mask an addressing or return-path problem</a:t>
            </a:r>
          </a:p>
          <a:p>
            <a:endParaRPr lang="en-GB"/>
          </a:p>
          <a:p>
            <a:r>
              <a:rPr lang="en-GB"/>
              <a:t>Official reference for instructor preparation: FortiGate/FortiOS 7.6.7 Administration Guide: Policy routes; OSPF; Route maps and prefix lists; Route redistribution. FortiOS 7.6.7 CLI Reference.</a:t>
            </a:r>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4–6 minutes. Protect the block’s practical/discussion reserve; skip optional slides when time is short.</a:t>
            </a:r>
          </a:p>
          <a:p>
            <a:endParaRPr lang="en-GB"/>
          </a:p>
          <a:p>
            <a:r>
              <a:rPr lang="en-GB"/>
              <a:t>Explanation: Redistribute only intentional prefixes with route maps/prefix filters; Metrics and tags help prevent loops and control preference; A route in one database is not automatically advertised into another; Default-route origination should be conditional and documented</a:t>
            </a:r>
          </a:p>
          <a:p>
            <a:endParaRPr lang="en-GB"/>
          </a:p>
          <a:p>
            <a:r>
              <a:rPr lang="en-GB"/>
              <a:t>Typical mistakes to surface: Troubleshooting only the routing table when adjacency is down; Redistributing everything without filters/tags; Using PBR to mask an addressing or return-path problem</a:t>
            </a:r>
          </a:p>
          <a:p>
            <a:endParaRPr lang="en-GB"/>
          </a:p>
          <a:p>
            <a:r>
              <a:rPr lang="en-GB"/>
              <a:t>Official reference for instructor preparation: FortiGate/FortiOS 7.6.7 Administration Guide: Policy routes; OSPF; Route maps and prefix lists; Route redistribution. FortiOS 7.6.7 CLI Reference.</a:t>
            </a:r>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Expected result: the neighbor reaches Full; the LSDB contains the branch prefix; HQ installs 10.2.10.0/24 with the intended OSPF next hop. Source: FortiOS 7.6.7 Administration Guide — OSPF neighbors, LSDB and routing table.</a:t>
            </a:r>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4–6 minutes. Protect the block’s practical/discussion reserve; skip optional slides when time is short.</a:t>
            </a:r>
          </a:p>
          <a:p>
            <a:endParaRPr lang="en-GB"/>
          </a:p>
          <a:p>
            <a:r>
              <a:rPr lang="en-GB"/>
              <a:t>Explanation: Routers flood link-state information within defined scope; Area design limits flooding and supports hierarchy; The LSDB is not the routing table; SPF derives candidate paths; Route type and metric influence the installed result</a:t>
            </a:r>
          </a:p>
          <a:p>
            <a:endParaRPr lang="en-GB"/>
          </a:p>
          <a:p>
            <a:r>
              <a:rPr lang="en-GB"/>
              <a:t>Typical mistakes to surface: Troubleshooting only the routing table when adjacency is down; Redistributing everything without filters/tags; Using PBR to mask an addressing or return-path problem</a:t>
            </a:r>
          </a:p>
          <a:p>
            <a:endParaRPr lang="en-GB"/>
          </a:p>
          <a:p>
            <a:r>
              <a:rPr lang="en-GB"/>
              <a:t>Official reference for instructor preparation: FortiGate/FortiOS 7.6.7 Administration Guide: Policy routes; OSPF; Route maps and prefix lists; Route redistribution. FortiOS 7.6.7 CLI Reference.</a:t>
            </a:r>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7–9 minutes. Protect the block’s practical/discussion reserve; skip optional slides when time is short.</a:t>
            </a:r>
          </a:p>
          <a:p>
            <a:endParaRPr lang="en-GB"/>
          </a:p>
          <a:p>
            <a:r>
              <a:rPr lang="en-GB"/>
              <a:t>Explanation: Confirm interface and router ID; Reach Full neighbor state where expected; Verify prefix exists in LSDB with intended LSA/type; Verify active route and return route; Test traffic and preserve packet/session state/output</a:t>
            </a:r>
          </a:p>
          <a:p>
            <a:endParaRPr lang="en-GB"/>
          </a:p>
          <a:p>
            <a:r>
              <a:rPr lang="en-GB"/>
              <a:t>Typical mistakes to surface: Troubleshooting only the routing table when adjacency is down; Redistributing everything without filters/tags; Using PBR to mask an addressing or return-path problem</a:t>
            </a:r>
          </a:p>
          <a:p>
            <a:endParaRPr lang="en-GB"/>
          </a:p>
          <a:p>
            <a:r>
              <a:rPr lang="en-GB"/>
              <a:t>Official reference for instructor preparation: FortiGate/FortiOS 7.6.7 Administration Guide: Policy routes; OSPF; Route maps and prefix lists; Route redistribution. FortiOS 7.6.7 CLI Reference.</a:t>
            </a:r>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 minutes. Protect the block’s practical/discussion reserve; skip optional slides when time is short.</a:t>
            </a:r>
          </a:p>
          <a:p>
            <a:endParaRPr lang="en-GB"/>
          </a:p>
          <a:p>
            <a:r>
              <a:rPr lang="en-GB"/>
              <a:t>Explanation: Troubleshooting only the routing table when adjacency is down; Redistributing everything without filters/tags; Using PBR to mask an addressing or return-path problem</a:t>
            </a:r>
          </a:p>
          <a:p>
            <a:endParaRPr lang="en-GB"/>
          </a:p>
          <a:p>
            <a:r>
              <a:rPr lang="en-GB"/>
              <a:t>Typical mistakes to surface: Troubleshooting only the routing table when adjacency is down; Redistributing everything without filters/tags; Using PBR to mask an addressing or return-path problem</a:t>
            </a:r>
          </a:p>
          <a:p>
            <a:endParaRPr lang="en-GB"/>
          </a:p>
          <a:p>
            <a:r>
              <a:rPr lang="en-GB"/>
              <a:t>Official reference for instructor preparation: FortiGate/FortiOS 7.6.7 Administration Guide: Policy routes; OSPF; Route maps and prefix lists; Route redistribution. FortiOS 7.6.7 CLI Reference.</a:t>
            </a:r>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5–7 minutes. Protect the block’s practical/discussion reserve; skip optional slides when time is short.</a:t>
            </a:r>
          </a:p>
          <a:p>
            <a:endParaRPr lang="en-GB"/>
          </a:p>
          <a:p>
            <a:r>
              <a:rPr lang="en-GB"/>
              <a:t>Explanation: Check physical/IP reachability and PBR scope; Verify OSPF interface/area/timers/authentication/MTU; Inspect neighbor state transition; Inspect LSDB and redistribution filter; Confirm active route, policy and return path</a:t>
            </a:r>
          </a:p>
          <a:p>
            <a:endParaRPr lang="en-GB"/>
          </a:p>
          <a:p>
            <a:r>
              <a:rPr lang="en-GB"/>
              <a:t>Typical mistakes to surface: Troubleshooting only the routing table when adjacency is down; Redistributing everything without filters/tags; Using PBR to mask an addressing or return-path problem</a:t>
            </a:r>
          </a:p>
          <a:p>
            <a:endParaRPr lang="en-GB"/>
          </a:p>
          <a:p>
            <a:r>
              <a:rPr lang="en-GB"/>
              <a:t>Official reference for instructor preparation: FortiGate/FortiOS 7.6.7 Administration Guide: Policy routes; OSPF; Route maps and prefix lists; Route redistribution. FortiOS 7.6.7 CLI Reference.</a:t>
            </a:r>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Exercise: Dynamic Routing across the Overlay.</a:t>
            </a:r>
          </a:p>
          <a:p>
            <a:r>
              <a:rPr lang="en-GB"/>
              <a:t>Required preparation: build and validate an instructor-provided training tunnel before class; supply tunnel IPs, router IDs and reset snapshot. This is a preparation requirement, not a claim that the deployment already exists.</a:t>
            </a:r>
          </a:p>
          <a:p>
            <a:r>
              <a:rPr lang="en-GB"/>
              <a:t>Students may change OSPF only. They must not delete/rename the tunnel or alter shared management routes.</a:t>
            </a:r>
          </a:p>
          <a:p>
            <a:r>
              <a:rPr lang="en-GB"/>
              <a:t>Answer key: OSPF reaches Full; expected Student01/Student02 prefix appears in LSDB and active table; test traffic follows the training tunnel.</a:t>
            </a:r>
          </a:p>
          <a:p>
            <a:r>
              <a:rPr lang="en-GB"/>
              <a:t>Fallback: instructor demonstration if validation is incomplete. Reset only routing changes.</a:t>
            </a:r>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5–7 minutes. Protect the block’s practical/discussion reserve; skip optional slides when time is short.</a:t>
            </a:r>
          </a:p>
          <a:p>
            <a:endParaRPr lang="en-GB"/>
          </a:p>
          <a:p>
            <a:r>
              <a:rPr lang="en-GB"/>
              <a:t>Explanation: Which state/output proves route exchange beyond adjacency?; Why filter redistribution?</a:t>
            </a:r>
          </a:p>
          <a:p>
            <a:endParaRPr lang="en-GB"/>
          </a:p>
          <a:p>
            <a:r>
              <a:rPr lang="en-GB"/>
              <a:t>Typical mistakes to surface: Troubleshooting only the routing table when adjacency is down; Redistributing everything without filters/tags; Using PBR to mask an addressing or return-path problem</a:t>
            </a:r>
          </a:p>
          <a:p>
            <a:endParaRPr lang="en-GB"/>
          </a:p>
          <a:p>
            <a:r>
              <a:rPr lang="en-GB"/>
              <a:t>Official reference for instructor preparation: FortiGate/FortiOS 7.6.7 Administration Guide: Policy routes; OSPF; Route maps and prefix lists; Route redistribution. FortiOS 7.6.7 CLI Reference.</a:t>
            </a:r>
          </a:p>
          <a:p>
            <a:endParaRPr lang="en-GB"/>
          </a:p>
          <a:p>
            <a:r>
              <a:rPr lang="en-GB"/>
              <a:t>Knowledge check answer key:</a:t>
            </a:r>
          </a:p>
          <a:p>
            <a:endParaRPr lang="en-GB"/>
          </a:p>
          <a:p>
            <a:r>
              <a:rPr lang="en-GB"/>
              <a:t>Q: Which state/output proves route exchange beyond adjacency?</a:t>
            </a:r>
          </a:p>
          <a:p>
            <a:r>
              <a:rPr lang="en-GB"/>
              <a:t>A: The expected LSA/prefix in the database and installed route on the peer.</a:t>
            </a:r>
          </a:p>
          <a:p>
            <a:endParaRPr lang="en-GB"/>
          </a:p>
          <a:p>
            <a:r>
              <a:rPr lang="en-GB"/>
              <a:t>Q: Why filter redistribution?</a:t>
            </a:r>
          </a:p>
          <a:p>
            <a:r>
              <a:rPr lang="en-GB"/>
              <a:t>A: To limit scope, prevent loops/leaks and preserve predictable path selection.</a:t>
            </a:r>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3 minutes. Protect the block’s practical/discussion reserve; skip optional slides when time is short.</a:t>
            </a:r>
          </a:p>
          <a:p>
            <a:endParaRPr lang="en-GB"/>
          </a:p>
          <a:p>
            <a:r>
              <a:rPr lang="en-GB"/>
              <a:t>Explanation: Explain autonomous systems, eBGP/iBGP and neighbor establishment; Advertise only intended prefixes; Use attributes and filters to predict path selection</a:t>
            </a:r>
          </a:p>
          <a:p>
            <a:endParaRPr lang="en-GB"/>
          </a:p>
          <a:p>
            <a:r>
              <a:rPr lang="en-GB"/>
              <a:t>Typical mistakes to surface: Calling Active state established; Advertising a broad aggregate/default unintentionally; Changing AS_PATH/MED before checking next-hop reachability</a:t>
            </a:r>
          </a:p>
          <a:p>
            <a:endParaRPr lang="en-GB"/>
          </a:p>
          <a:p>
            <a:r>
              <a:rPr lang="en-GB"/>
              <a:t>Official reference for instructor preparation: FortiGate/FortiOS 7.6.7 Administration Guide: BGP; BGP neighbors; Route maps and prefix lists; BGP path selection. FortiOS 7.6.7 CLI Reference.</a:t>
            </a:r>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Expected result: only 10.1.10.0/24 is advertised; the peer receives it, marks one path best, resolves the next hop and installs the route. Source: FortiOS 7.6.7 Administration Guide — BGP, route maps and prefix lists.</a:t>
            </a:r>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4–6 minutes. Protect the block’s practical/discussion reserve; skip optional slides when time is short.</a:t>
            </a:r>
          </a:p>
          <a:p>
            <a:endParaRPr lang="en-GB"/>
          </a:p>
          <a:p>
            <a:r>
              <a:rPr lang="en-GB"/>
              <a:t>Explanation: Idle/Connect/Active indicate transport or retry state; OpenSent/OpenConfirm indicate BGP capability/parameter exchange; Established permits UPDATE messages; Timers, source address, multihop, password and AS configuration must agree</a:t>
            </a:r>
          </a:p>
          <a:p>
            <a:endParaRPr lang="en-GB"/>
          </a:p>
          <a:p>
            <a:r>
              <a:rPr lang="en-GB"/>
              <a:t>Typical mistakes to surface: Calling Active state established; Advertising a broad aggregate/default unintentionally; Changing AS_PATH/MED before checking next-hop reachability</a:t>
            </a:r>
          </a:p>
          <a:p>
            <a:endParaRPr lang="en-GB"/>
          </a:p>
          <a:p>
            <a:r>
              <a:rPr lang="en-GB"/>
              <a:t>Official reference for instructor preparation: FortiGate/FortiOS 7.6.7 Administration Guide: BGP; BGP neighbors; Route maps and prefix lists; BGP path selection. FortiOS 7.6.7 CLI Reference.</a:t>
            </a:r>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4–6 minutes. Protect the block’s practical/discussion reserve; skip optional slides when time is short.</a:t>
            </a:r>
          </a:p>
          <a:p>
            <a:endParaRPr lang="en-GB"/>
          </a:p>
          <a:p>
            <a:r>
              <a:rPr lang="en-GB"/>
              <a:t>Explanation: eBGP exchanges routes across AS boundaries and commonly changes next-hop behavior; iBGP distributes external/internal reachability within one AS; iBGP split-horizon requires full mesh or route reflectors at scale; IGP reachability to BGP next hops remains essential</a:t>
            </a:r>
          </a:p>
          <a:p>
            <a:endParaRPr lang="en-GB"/>
          </a:p>
          <a:p>
            <a:r>
              <a:rPr lang="en-GB"/>
              <a:t>Typical mistakes to surface: Calling Active state established; Advertising a broad aggregate/default unintentionally; Changing AS_PATH/MED before checking next-hop reachability</a:t>
            </a:r>
          </a:p>
          <a:p>
            <a:endParaRPr lang="en-GB"/>
          </a:p>
          <a:p>
            <a:r>
              <a:rPr lang="en-GB"/>
              <a:t>Official reference for instructor preparation: FortiGate/FortiOS 7.6.7 Administration Guide: BGP; BGP neighbors; Route maps and prefix lists; BGP path selection. FortiOS 7.6.7 CLI Reference.</a:t>
            </a:r>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4–6 minutes. Protect the block’s practical/discussion reserve; skip optional slides when time is short.</a:t>
            </a:r>
          </a:p>
          <a:p>
            <a:endParaRPr lang="en-GB"/>
          </a:p>
          <a:p>
            <a:r>
              <a:rPr lang="en-GB"/>
              <a:t>Explanation: A network statement/redistribution mechanism does not create reachability by itself; The prefix must meet the platform’s origination conditions; Outbound filters prevent accidental leaks; Inbound filters and maximum-prefix controls limit accepted scope</a:t>
            </a:r>
          </a:p>
          <a:p>
            <a:endParaRPr lang="en-GB"/>
          </a:p>
          <a:p>
            <a:r>
              <a:rPr lang="en-GB"/>
              <a:t>Typical mistakes to surface: Calling Active state established; Advertising a broad aggregate/default unintentionally; Changing AS_PATH/MED before checking next-hop reachability</a:t>
            </a:r>
          </a:p>
          <a:p>
            <a:endParaRPr lang="en-GB"/>
          </a:p>
          <a:p>
            <a:r>
              <a:rPr lang="en-GB"/>
              <a:t>Official reference for instructor preparation: FortiGate/FortiOS 7.6.7 Administration Guide: BGP; BGP neighbors; Route maps and prefix lists; BGP path selection. FortiOS 7.6.7 CLI Reference.</a:t>
            </a:r>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4–6 minutes. Protect the block’s practical/discussion reserve; skip optional slides when time is short.</a:t>
            </a:r>
          </a:p>
          <a:p>
            <a:endParaRPr lang="en-GB"/>
          </a:p>
          <a:p>
            <a:r>
              <a:rPr lang="en-GB"/>
              <a:t>Explanation: Policy can set weight/local preference and other attributes depending on scope; AS_PATH length, origin, MED, eBGP/iBGP and IGP cost are evaluated in an implementation-defined order; Only compare attributes when earlier criteria tie; Document which attributes are locally significant and confirm exact FortiOS order</a:t>
            </a:r>
          </a:p>
          <a:p>
            <a:endParaRPr lang="en-GB"/>
          </a:p>
          <a:p>
            <a:r>
              <a:rPr lang="en-GB"/>
              <a:t>Typical mistakes to surface: Calling Active state established; Advertising a broad aggregate/default unintentionally; Changing AS_PATH/MED before checking next-hop reachability</a:t>
            </a:r>
          </a:p>
          <a:p>
            <a:endParaRPr lang="en-GB"/>
          </a:p>
          <a:p>
            <a:r>
              <a:rPr lang="en-GB"/>
              <a:t>Official reference for instructor preparation: FortiGate/FortiOS 7.6.7 Administration Guide: BGP; BGP neighbors; Route maps and prefix lists; BGP path selection. FortiOS 7.6.7 CLI Reference.</a:t>
            </a:r>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4–6 minutes. Protect the block’s practical/discussion reserve; skip optional slides when time is short.</a:t>
            </a:r>
          </a:p>
          <a:p>
            <a:endParaRPr lang="en-GB"/>
          </a:p>
          <a:p>
            <a:r>
              <a:rPr lang="en-GB"/>
              <a:t>Explanation: Prefix lists match address and prefix-length ranges; Route maps match and permit/deny or set attributes; Direction matters: inbound changes acceptance; outbound changes advertisement; Always include an explicit policy for default/unmatched routes</a:t>
            </a:r>
          </a:p>
          <a:p>
            <a:endParaRPr lang="en-GB"/>
          </a:p>
          <a:p>
            <a:r>
              <a:rPr lang="en-GB"/>
              <a:t>Typical mistakes to surface: Calling Active state established; Advertising a broad aggregate/default unintentionally; Changing AS_PATH/MED before checking next-hop reachability</a:t>
            </a:r>
          </a:p>
          <a:p>
            <a:endParaRPr lang="en-GB"/>
          </a:p>
          <a:p>
            <a:r>
              <a:rPr lang="en-GB"/>
              <a:t>Official reference for instructor preparation: FortiGate/FortiOS 7.6.7 Administration Guide: BGP; BGP neighbors; Route maps and prefix lists; BGP path selection. FortiOS 7.6.7 CLI Reference.</a:t>
            </a:r>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4–6 minutes. Protect the block’s practical/discussion reserve; skip optional slides when time is short.</a:t>
            </a:r>
          </a:p>
          <a:p>
            <a:endParaRPr lang="en-GB"/>
          </a:p>
          <a:p>
            <a:r>
              <a:rPr lang="en-GB"/>
              <a:t>Explanation: Peer state: Established with stable uptime; Control plane: expected prefix received/advertised and best path selected; Routing table: BGP route installed with intended next hop; Data plane: policy/session/packet state/output follows that next hop</a:t>
            </a:r>
          </a:p>
          <a:p>
            <a:endParaRPr lang="en-GB"/>
          </a:p>
          <a:p>
            <a:r>
              <a:rPr lang="en-GB"/>
              <a:t>Typical mistakes to surface: Calling Active state established; Advertising a broad aggregate/default unintentionally; Changing AS_PATH/MED before checking next-hop reachability</a:t>
            </a:r>
          </a:p>
          <a:p>
            <a:endParaRPr lang="en-GB"/>
          </a:p>
          <a:p>
            <a:r>
              <a:rPr lang="en-GB"/>
              <a:t>Official reference for instructor preparation: FortiGate/FortiOS 7.6.7 Administration Guide: BGP; BGP neighbors; Route maps and prefix lists; BGP path selection. FortiOS 7.6.7 CLI Reference.</a:t>
            </a:r>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7–9 minutes. Protect the block’s practical/discussion reserve; skip optional slides when time is short.</a:t>
            </a:r>
          </a:p>
          <a:p>
            <a:endParaRPr lang="en-GB"/>
          </a:p>
          <a:p>
            <a:r>
              <a:rPr lang="en-GB"/>
              <a:t>Explanation: Establish one eBGP peer; Originate one exact lab prefix; Apply outbound prefix filter; Confirm remote receipt and best path; Withdraw or deny and observe controlled change</a:t>
            </a:r>
          </a:p>
          <a:p>
            <a:endParaRPr lang="en-GB"/>
          </a:p>
          <a:p>
            <a:r>
              <a:rPr lang="en-GB"/>
              <a:t>Typical mistakes to surface: Calling Active state established; Advertising a broad aggregate/default unintentionally; Changing AS_PATH/MED before checking next-hop reachability</a:t>
            </a:r>
          </a:p>
          <a:p>
            <a:endParaRPr lang="en-GB"/>
          </a:p>
          <a:p>
            <a:r>
              <a:rPr lang="en-GB"/>
              <a:t>Official reference for instructor preparation: FortiGate/FortiOS 7.6.7 Administration Guide: BGP; BGP neighbors; Route maps and prefix lists; BGP path selection. FortiOS 7.6.7 CLI Reference.</a:t>
            </a:r>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 minutes. Protect the block’s practical/discussion reserve; skip optional slides when time is short.</a:t>
            </a:r>
          </a:p>
          <a:p>
            <a:endParaRPr lang="en-GB"/>
          </a:p>
          <a:p>
            <a:r>
              <a:rPr lang="en-GB"/>
              <a:t>Explanation: Calling Active state established; Advertising a broad aggregate/default unintentionally; Changing AS_PATH/MED before checking next-hop reachability</a:t>
            </a:r>
          </a:p>
          <a:p>
            <a:endParaRPr lang="en-GB"/>
          </a:p>
          <a:p>
            <a:r>
              <a:rPr lang="en-GB"/>
              <a:t>Typical mistakes to surface: Calling Active state established; Advertising a broad aggregate/default unintentionally; Changing AS_PATH/MED before checking next-hop reachability</a:t>
            </a:r>
          </a:p>
          <a:p>
            <a:endParaRPr lang="en-GB"/>
          </a:p>
          <a:p>
            <a:r>
              <a:rPr lang="en-GB"/>
              <a:t>Official reference for instructor preparation: FortiGate/FortiOS 7.6.7 Administration Guide: BGP; BGP neighbors; Route maps and prefix lists; BGP path selection. FortiOS 7.6.7 CLI Reference.</a:t>
            </a:r>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5–7 minutes. Protect the block’s practical/discussion reserve; skip optional slides when time is short.</a:t>
            </a:r>
          </a:p>
          <a:p>
            <a:endParaRPr lang="en-GB"/>
          </a:p>
          <a:p>
            <a:r>
              <a:rPr lang="en-GB"/>
              <a:t>Explanation: Verify route and TCP/179 reachability to peer; Check local/remote AS, update source, password and timers; Reach Established; inspect notifications if not; Verify origination and inbound/outbound filters; Confirm best path, active route and return path</a:t>
            </a:r>
          </a:p>
          <a:p>
            <a:endParaRPr lang="en-GB"/>
          </a:p>
          <a:p>
            <a:r>
              <a:rPr lang="en-GB"/>
              <a:t>Typical mistakes to surface: Calling Active state established; Advertising a broad aggregate/default unintentionally; Changing AS_PATH/MED before checking next-hop reachability</a:t>
            </a:r>
          </a:p>
          <a:p>
            <a:endParaRPr lang="en-GB"/>
          </a:p>
          <a:p>
            <a:r>
              <a:rPr lang="en-GB"/>
              <a:t>Official reference for instructor preparation: FortiGate/FortiOS 7.6.7 Administration Guide: BGP; BGP neighbors; Route maps and prefix lists; BGP path selection. FortiOS 7.6.7 CLI Reference.</a:t>
            </a:r>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Exercise: Small BGP Route Exchange.</a:t>
            </a:r>
          </a:p>
          <a:p>
            <a:r>
              <a:rPr lang="en-GB"/>
              <a:t>Required preparation: reuse the protected morning training tunnel without changing it; supply peer tunnel IPs, ASNs and router IDs.</a:t>
            </a:r>
          </a:p>
          <a:p>
            <a:r>
              <a:rPr lang="en-GB"/>
              <a:t>Answer key: TCP/179 succeeds, peer reaches Established, explicit prefix list permits one Student pod /24, peer receives/selects/installs it, next hop resolves.</a:t>
            </a:r>
          </a:p>
          <a:p>
            <a:r>
              <a:rPr lang="en-GB"/>
              <a:t>Reset BGP/filter changes only. Preserve tunnel and management access.</a:t>
            </a:r>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5–7 minutes. Protect the block’s practical/discussion reserve; skip optional slides when time is short.</a:t>
            </a:r>
          </a:p>
          <a:p>
            <a:endParaRPr lang="en-GB"/>
          </a:p>
          <a:p>
            <a:r>
              <a:rPr lang="en-GB"/>
              <a:t>Explanation: What does Established prove?; Which path wins if local preference differs?</a:t>
            </a:r>
          </a:p>
          <a:p>
            <a:endParaRPr lang="en-GB"/>
          </a:p>
          <a:p>
            <a:r>
              <a:rPr lang="en-GB"/>
              <a:t>Typical mistakes to surface: Calling Active state established; Advertising a broad aggregate/default unintentionally; Changing AS_PATH/MED before checking next-hop reachability</a:t>
            </a:r>
          </a:p>
          <a:p>
            <a:endParaRPr lang="en-GB"/>
          </a:p>
          <a:p>
            <a:r>
              <a:rPr lang="en-GB"/>
              <a:t>Official reference for instructor preparation: FortiGate/FortiOS 7.6.7 Administration Guide: BGP; BGP neighbors; Route maps and prefix lists; BGP path selection. FortiOS 7.6.7 CLI Reference.</a:t>
            </a:r>
          </a:p>
          <a:p>
            <a:endParaRPr lang="en-GB"/>
          </a:p>
          <a:p>
            <a:r>
              <a:rPr lang="en-GB"/>
              <a:t>Knowledge check answer key:</a:t>
            </a:r>
          </a:p>
          <a:p>
            <a:endParaRPr lang="en-GB"/>
          </a:p>
          <a:p>
            <a:r>
              <a:rPr lang="en-GB"/>
              <a:t>Q: What does Established prove?</a:t>
            </a:r>
          </a:p>
          <a:p>
            <a:r>
              <a:rPr lang="en-GB"/>
              <a:t>A: The BGP session exchanged OPEN/KEEPALIVE successfully; it does not prove any particular prefix is permitted or installed.</a:t>
            </a:r>
          </a:p>
          <a:p>
            <a:endParaRPr lang="en-GB"/>
          </a:p>
          <a:p>
            <a:r>
              <a:rPr lang="en-GB"/>
              <a:t>Q: Which path wins if local preference differs?</a:t>
            </a:r>
          </a:p>
          <a:p>
            <a:r>
              <a:rPr lang="en-GB"/>
              <a:t>A: The higher local preference wins before later criteria such as AS_PATH, subject to the exact FortiOS selection order.</a:t>
            </a:r>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3 minutes. Protect the block’s practical/discussion reserve; skip optional slides when time is short.</a:t>
            </a:r>
          </a:p>
          <a:p>
            <a:endParaRPr lang="en-GB"/>
          </a:p>
          <a:p>
            <a:r>
              <a:rPr lang="en-GB"/>
              <a:t>Explanation: Relate IKEv2 Phase 1, Phase 2 and route-based forwarding; Design selectors, routes and policies as one system; Explain ADVPN underlay/overlay, hub/spoke and shortcut behavior</a:t>
            </a:r>
          </a:p>
          <a:p>
            <a:endParaRPr lang="en-GB"/>
          </a:p>
          <a:p>
            <a:r>
              <a:rPr lang="en-GB"/>
              <a:t>Typical mistakes to surface: Checking only tunnel-up status; Confusing underlay peer reachability with overlay protected routing; Assuming an ADVPN/OSPF example applies to every 7.6.7 deployment variant</a:t>
            </a:r>
          </a:p>
          <a:p>
            <a:endParaRPr lang="en-GB"/>
          </a:p>
          <a:p>
            <a:r>
              <a:rPr lang="en-GB"/>
              <a:t>Official reference for instructor preparation: FortiGate/FortiOS 7.6.7 Administration Guide: IPsec VPN; IKEv2; Route-based VPN; ADVPN; Dynamic routing over IPsec. FortiOS 7.6.7 CLI Reference and release notes.</a:t>
            </a:r>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Expected result: IKE and IPsec SAs are established, the branch route points to the tunnel interface, matching policies allow the flow, and encaps/decaps counters increase. Source: FortiOS 7.6.7 Administration Guide — IKEv2 and route-based IPsec VPN.</a:t>
            </a:r>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4–6 minutes. Protect the block’s practical/discussion reserve; skip optional slides when time is short.</a:t>
            </a:r>
          </a:p>
          <a:p>
            <a:endParaRPr lang="en-GB"/>
          </a:p>
          <a:p>
            <a:r>
              <a:rPr lang="en-GB"/>
              <a:t>Explanation: Peers exchange proposals, identities, authentication and key material; Proposal, authentication method, IDs and reachability must be compatible; NAT traversal and fragmentation behavior depend on path/design; Logs/debug should be filtered by peer and stopped after capture</a:t>
            </a:r>
          </a:p>
          <a:p>
            <a:endParaRPr lang="en-GB"/>
          </a:p>
          <a:p>
            <a:r>
              <a:rPr lang="en-GB"/>
              <a:t>Typical mistakes to surface: Checking only tunnel-up status; Confusing underlay peer reachability with overlay protected routing; Assuming an ADVPN/OSPF example applies to every 7.6.7 deployment variant</a:t>
            </a:r>
          </a:p>
          <a:p>
            <a:endParaRPr lang="en-GB"/>
          </a:p>
          <a:p>
            <a:r>
              <a:rPr lang="en-GB"/>
              <a:t>Official reference for instructor preparation: FortiGate/FortiOS 7.6.7 Administration Guide: IPsec VPN; IKEv2; Route-based VPN; ADVPN; Dynamic routing over IPsec. FortiOS 7.6.7 CLI Reference and release notes.</a:t>
            </a:r>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4–6 minutes. Protect the block’s practical/discussion reserve; skip optional slides when time is short.</a:t>
            </a:r>
          </a:p>
          <a:p>
            <a:endParaRPr lang="en-GB"/>
          </a:p>
          <a:p>
            <a:r>
              <a:rPr lang="en-GB"/>
              <a:t>Explanation: Route-based designs may use broad selectors but still require routing/policy boundaries; Mismatched local/remote selectors prevent or limit SA establishment; Overlapping prefixes complicate route and identity decisions; Rekey/lifetime mismatches can appear as intermittent failures</a:t>
            </a:r>
          </a:p>
          <a:p>
            <a:endParaRPr lang="en-GB"/>
          </a:p>
          <a:p>
            <a:r>
              <a:rPr lang="en-GB"/>
              <a:t>Typical mistakes to surface: Checking only tunnel-up status; Confusing underlay peer reachability with overlay protected routing; Assuming an ADVPN/OSPF example applies to every 7.6.7 deployment variant</a:t>
            </a:r>
          </a:p>
          <a:p>
            <a:endParaRPr lang="en-GB"/>
          </a:p>
          <a:p>
            <a:r>
              <a:rPr lang="en-GB"/>
              <a:t>Official reference for instructor preparation: FortiGate/FortiOS 7.6.7 Administration Guide: IPsec VPN; IKEv2; Route-based VPN; ADVPN; Dynamic routing over IPsec. FortiOS 7.6.7 CLI Reference and release notes.</a:t>
            </a:r>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4–6 minutes. Protect the block’s practical/discussion reserve; skip optional slides when time is short.</a:t>
            </a:r>
          </a:p>
          <a:p>
            <a:endParaRPr lang="en-GB"/>
          </a:p>
          <a:p>
            <a:r>
              <a:rPr lang="en-GB"/>
              <a:t>Explanation: Define underlay resilience, addressing, routing ownership and crypto standards; Choose static mesh, hub-spoke or dynamic overlay based on scale and traffic patterns; Account for MTU/MSS, NAT, asymmetric paths and overlapping networks; Document monitoring, certificate/PSK lifecycle and change coordination</a:t>
            </a:r>
          </a:p>
          <a:p>
            <a:endParaRPr lang="en-GB"/>
          </a:p>
          <a:p>
            <a:r>
              <a:rPr lang="en-GB"/>
              <a:t>Typical mistakes to surface: Checking only tunnel-up status; Confusing underlay peer reachability with overlay protected routing; Assuming an ADVPN/OSPF example applies to every 7.6.7 deployment variant</a:t>
            </a:r>
          </a:p>
          <a:p>
            <a:endParaRPr lang="en-GB"/>
          </a:p>
          <a:p>
            <a:r>
              <a:rPr lang="en-GB"/>
              <a:t>Official reference for instructor preparation: FortiGate/FortiOS 7.6.7 Administration Guide: IPsec VPN; IKEv2; Route-based VPN; ADVPN; Dynamic routing over IPsec. FortiOS 7.6.7 CLI Reference and release notes.</a:t>
            </a:r>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Instructor review: ADVPN generation and OSPF-over-ADVPN behavior are release/design dependent. Confirm the supported FortiOS 7.6.7 Azure topology before lab use. Source: FortiOS 7.6.7 Administration Guide — ADVPN and dynamic routing over IPsec.</a:t>
            </a:r>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[OPTIONAL DEEP DIVE] Stable ID: D3-B11-S116</a:t>
            </a:r>
          </a:p>
          <a:p>
            <a:endParaRPr lang="en-GB"/>
          </a:p>
          <a:p>
            <a:r>
              <a:rPr lang="en-GB"/>
              <a:t>Approximate timing: 4–6 minutes. Protect the block’s practical/discussion reserve; skip optional slides when time is short.</a:t>
            </a:r>
          </a:p>
          <a:p>
            <a:endParaRPr lang="en-GB"/>
          </a:p>
          <a:p>
            <a:r>
              <a:rPr lang="en-GB"/>
              <a:t>Explanation: Neighbor model, network type and area design must fit the overlay; Shortcut routing must not break next-hop resolution; Hub route reflection/advertisement choices affect spoke reachability; Scale testing must include neighbors, LSAs, routes, tunnels and CPU/memory</a:t>
            </a:r>
          </a:p>
          <a:p>
            <a:endParaRPr lang="en-GB"/>
          </a:p>
          <a:p>
            <a:r>
              <a:rPr lang="en-GB"/>
              <a:t>Typical mistakes to surface: Checking only tunnel-up status; Confusing underlay peer reachability with overlay protected routing; Assuming an ADVPN/OSPF example applies to every 7.6.7 deployment variant</a:t>
            </a:r>
          </a:p>
          <a:p>
            <a:endParaRPr lang="en-GB"/>
          </a:p>
          <a:p>
            <a:r>
              <a:rPr lang="en-GB"/>
              <a:t>Official reference for instructor preparation: FortiGate/FortiOS 7.6.7 Administration Guide: IPsec VPN; IKEv2; Route-based VPN; ADVPN; Dynamic routing over IPsec. FortiOS 7.6.7 CLI Reference and release notes.</a:t>
            </a:r>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[OPTIONAL DEEP DIVE] Stable ID: D3-B11-S117</a:t>
            </a:r>
          </a:p>
          <a:p>
            <a:endParaRPr lang="en-GB"/>
          </a:p>
          <a:p>
            <a:r>
              <a:rPr lang="en-GB"/>
              <a:t>Approximate timing: 4–6 minutes. Protect the block’s practical/discussion reserve; skip optional slides when time is short.</a:t>
            </a:r>
          </a:p>
          <a:p>
            <a:endParaRPr lang="en-GB"/>
          </a:p>
          <a:p>
            <a:r>
              <a:rPr lang="en-GB"/>
              <a:t>Explanation: Estimate concurrent hub-spoke and shortcut tunnels; Account for route scale, neighbor scale, session count, crypto throughput and inspection; Use platform data sheets and validated design guides, not slide estimates; Failure/rekey storms can be more demanding than steady state</a:t>
            </a:r>
          </a:p>
          <a:p>
            <a:endParaRPr lang="en-GB"/>
          </a:p>
          <a:p>
            <a:r>
              <a:rPr lang="en-GB"/>
              <a:t>Typical mistakes to surface: Checking only tunnel-up status; Confusing underlay peer reachability with overlay protected routing; Assuming an ADVPN/OSPF example applies to every 7.6.7 deployment variant</a:t>
            </a:r>
          </a:p>
          <a:p>
            <a:endParaRPr lang="en-GB"/>
          </a:p>
          <a:p>
            <a:r>
              <a:rPr lang="en-GB"/>
              <a:t>Official reference for instructor preparation: FortiGate/FortiOS 7.6.7 Administration Guide: IPsec VPN; IKEv2; Route-based VPN; ADVPN; Dynamic routing over IPsec. FortiOS 7.6.7 CLI Reference and release notes.</a:t>
            </a:r>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7–9 minutes. Protect the block’s practical/discussion reserve; skip optional slides when time is short.</a:t>
            </a:r>
          </a:p>
          <a:p>
            <a:endParaRPr lang="en-GB"/>
          </a:p>
          <a:p>
            <a:r>
              <a:rPr lang="en-GB"/>
              <a:t>Explanation: Underlay reaches peer address; IKEv2 authenticates peers and creates IKE SA; CHILD SA selectors protect intended prefixes; Routes send traffic to tunnel; policies permit both directions; Return route and session counters prove bidirectional flow</a:t>
            </a:r>
          </a:p>
          <a:p>
            <a:endParaRPr lang="en-GB"/>
          </a:p>
          <a:p>
            <a:r>
              <a:rPr lang="en-GB"/>
              <a:t>Typical mistakes to surface: Checking only tunnel-up status; Confusing underlay peer reachability with overlay protected routing; Assuming an ADVPN/OSPF example applies to every 7.6.7 deployment variant</a:t>
            </a:r>
          </a:p>
          <a:p>
            <a:endParaRPr lang="en-GB"/>
          </a:p>
          <a:p>
            <a:r>
              <a:rPr lang="en-GB"/>
              <a:t>Official reference for instructor preparation: FortiGate/FortiOS 7.6.7 Administration Guide: IPsec VPN; IKEv2; Route-based VPN; ADVPN; Dynamic routing over IPsec. FortiOS 7.6.7 CLI Reference and release notes.</a:t>
            </a:r>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 minutes. Protect the block’s practical/discussion reserve; skip optional slides when time is short.</a:t>
            </a:r>
          </a:p>
          <a:p>
            <a:endParaRPr lang="en-GB"/>
          </a:p>
          <a:p>
            <a:r>
              <a:rPr lang="en-GB"/>
              <a:t>Explanation: Checking only tunnel-up status; Confusing underlay peer reachability with overlay protected routing; Assuming an ADVPN/OSPF example applies to every 7.6.7 deployment variant</a:t>
            </a:r>
          </a:p>
          <a:p>
            <a:endParaRPr lang="en-GB"/>
          </a:p>
          <a:p>
            <a:r>
              <a:rPr lang="en-GB"/>
              <a:t>Typical mistakes to surface: Checking only tunnel-up status; Confusing underlay peer reachability with overlay protected routing; Assuming an ADVPN/OSPF example applies to every 7.6.7 deployment variant</a:t>
            </a:r>
          </a:p>
          <a:p>
            <a:endParaRPr lang="en-GB"/>
          </a:p>
          <a:p>
            <a:r>
              <a:rPr lang="en-GB"/>
              <a:t>Official reference for instructor preparation: FortiGate/FortiOS 7.6.7 Administration Guide: IPsec VPN; IKEv2; Route-based VPN; ADVPN; Dynamic routing over IPsec. FortiOS 7.6.7 CLI Reference and release notes.</a:t>
            </a:r>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5–7 minutes. Protect the block’s practical/discussion reserve; skip optional slides when time is short.</a:t>
            </a:r>
          </a:p>
          <a:p>
            <a:endParaRPr lang="en-GB"/>
          </a:p>
          <a:p>
            <a:r>
              <a:rPr lang="en-GB"/>
              <a:t>Explanation: Prove underlay route and UDP/500/4500 reachability; Validate Phase 1 identity/proposal/authentication; Validate Phase 2 selectors/proposals and counters; Check overlay route, policies and return path; Capture filtered packets/IKE diagnostics; reset debug</a:t>
            </a:r>
          </a:p>
          <a:p>
            <a:endParaRPr lang="en-GB"/>
          </a:p>
          <a:p>
            <a:r>
              <a:rPr lang="en-GB"/>
              <a:t>Typical mistakes to surface: Checking only tunnel-up status; Confusing underlay peer reachability with overlay protected routing; Assuming an ADVPN/OSPF example applies to every 7.6.7 deployment variant</a:t>
            </a:r>
          </a:p>
          <a:p>
            <a:endParaRPr lang="en-GB"/>
          </a:p>
          <a:p>
            <a:r>
              <a:rPr lang="en-GB"/>
              <a:t>Official reference for instructor preparation: FortiGate/FortiOS 7.6.7 Administration Guide: IPsec VPN; IKEv2; Route-based VPN; ADVPN; Dynamic routing over IPsec. FortiOS 7.6.7 CLI Reference and release notes.</a:t>
            </a:r>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Exercise: Build Hub-and-Spoke IPsec and Observe the Overlay.</a:t>
            </a:r>
          </a:p>
          <a:p>
            <a:r>
              <a:rPr lang="en-GB"/>
              <a:t>Preparation: after lunch, use a separate tunnel or restore an isolated exercise baseline. The morning training tunnel remains untouched.</a:t>
            </a:r>
          </a:p>
          <a:p>
            <a:r>
              <a:rPr lang="en-GB"/>
              <a:t>Core answer: underlay reaches peers; IKE/IPsec SAs form; protected route and policies select the tunnel; encap/decap counters increase.</a:t>
            </a:r>
          </a:p>
          <a:p>
            <a:r>
              <a:rPr lang="en-GB"/>
              <a:t>Planned practical objectives retained: observe ADVPN shortcut and OSPF over the overlay. Prevalidate exact FortiOS 7.6.7 configuration and reset. If not validated, demonstrate these steps—do not silently downgrade the objective.</a:t>
            </a:r>
          </a:p>
          <a:p>
            <a:r>
              <a:rPr lang="en-GB"/>
              <a:t>Reset the isolated afternoon baseline.</a:t>
            </a:r>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5–7 minutes. Protect the block’s practical/discussion reserve; skip optional slides when time is short.</a:t>
            </a:r>
          </a:p>
          <a:p>
            <a:endParaRPr lang="en-GB"/>
          </a:p>
          <a:p>
            <a:r>
              <a:rPr lang="en-GB"/>
              <a:t>Explanation: What does a route-based tunnel still need after SAs are up?; What is the ADVPN shortcut for?</a:t>
            </a:r>
          </a:p>
          <a:p>
            <a:endParaRPr lang="en-GB"/>
          </a:p>
          <a:p>
            <a:r>
              <a:rPr lang="en-GB"/>
              <a:t>Typical mistakes to surface: Checking only tunnel-up status; Confusing underlay peer reachability with overlay protected routing; Assuming an ADVPN/OSPF example applies to every 7.6.7 deployment variant</a:t>
            </a:r>
          </a:p>
          <a:p>
            <a:endParaRPr lang="en-GB"/>
          </a:p>
          <a:p>
            <a:r>
              <a:rPr lang="en-GB"/>
              <a:t>Official reference for instructor preparation: FortiGate/FortiOS 7.6.7 Administration Guide: IPsec VPN; IKEv2; Route-based VPN; ADVPN; Dynamic routing over IPsec. FortiOS 7.6.7 CLI Reference and release notes.</a:t>
            </a:r>
          </a:p>
          <a:p>
            <a:endParaRPr lang="en-GB"/>
          </a:p>
          <a:p>
            <a:r>
              <a:rPr lang="en-GB"/>
              <a:t>Knowledge check answer key:</a:t>
            </a:r>
          </a:p>
          <a:p>
            <a:endParaRPr lang="en-GB"/>
          </a:p>
          <a:p>
            <a:r>
              <a:rPr lang="en-GB"/>
              <a:t>Q: What does a route-based tunnel still need after SAs are up?</a:t>
            </a:r>
          </a:p>
          <a:p>
            <a:r>
              <a:rPr lang="en-GB"/>
              <a:t>A: Routes, firewall policies, matching selectors and a valid return path.</a:t>
            </a:r>
          </a:p>
          <a:p>
            <a:endParaRPr lang="en-GB"/>
          </a:p>
          <a:p>
            <a:r>
              <a:rPr lang="en-GB"/>
              <a:t>Q: What is the ADVPN shortcut for?</a:t>
            </a:r>
          </a:p>
          <a:p>
            <a:r>
              <a:rPr lang="en-GB"/>
              <a:t>A: To let eligible spoke-to-spoke data bypass the hub after dynamic discovery, while the underlay still reaches tunnel endpoints.</a:t>
            </a:r>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3 minutes. Protect the block’s practical/discussion reserve; skip optional slides when time is short.</a:t>
            </a:r>
          </a:p>
          <a:p>
            <a:endParaRPr lang="en-GB"/>
          </a:p>
          <a:p>
            <a:r>
              <a:rPr lang="en-GB"/>
              <a:t>Explanation: Localize failure across underlay, IKE, IPsec, routing, policy and return path; Interpret Phase 1/2 state and selectors; Use packet capture and CLI diagnostics without uncontrolled debug</a:t>
            </a:r>
          </a:p>
          <a:p>
            <a:endParaRPr lang="en-GB"/>
          </a:p>
          <a:p>
            <a:r>
              <a:rPr lang="en-GB"/>
              <a:t>Typical mistakes to surface: Restarting IKE before preserving failure state/output; Clearing all sessions instead of using a fresh tuple/filter; Declaring success from Phase 1 only</a:t>
            </a:r>
          </a:p>
          <a:p>
            <a:endParaRPr lang="en-GB"/>
          </a:p>
          <a:p>
            <a:r>
              <a:rPr lang="en-GB"/>
              <a:t>Official reference for instructor preparation: FortiGate/FortiOS 7.6.7 Administration Guide: IPsec monitoring and troubleshooting; Debugging IPsec VPN; Packet sniffer; Sessions. FortiOS 7.6.7 CLI Reference.</a:t>
            </a:r>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4–6 minutes. Protect the block’s practical/discussion reserve; skip optional slides when time is short.</a:t>
            </a:r>
          </a:p>
          <a:p>
            <a:endParaRPr lang="en-GB"/>
          </a:p>
          <a:p>
            <a:r>
              <a:rPr lang="en-GB"/>
              <a:t>Explanation: Underlay route and peer reachability precede IKE; IKE SA precedes CHILD/IPsec SA; Selectors and traffic triggers affect Phase 2; Routes, policies and return path determine usable data flow</a:t>
            </a:r>
          </a:p>
          <a:p>
            <a:endParaRPr lang="en-GB"/>
          </a:p>
          <a:p>
            <a:r>
              <a:rPr lang="en-GB"/>
              <a:t>Typical mistakes to surface: Restarting IKE before preserving failure state/output; Clearing all sessions instead of using a fresh tuple/filter; Declaring success from Phase 1 only</a:t>
            </a:r>
          </a:p>
          <a:p>
            <a:endParaRPr lang="en-GB"/>
          </a:p>
          <a:p>
            <a:r>
              <a:rPr lang="en-GB"/>
              <a:t>Official reference for instructor preparation: FortiGate/FortiOS 7.6.7 Administration Guide: IPsec monitoring and troubleshooting; Debugging IPsec VPN; Packet sniffer; Sessions. FortiOS 7.6.7 CLI Reference.</a:t>
            </a:r>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4–6 minutes. Protect the block’s practical/discussion reserve; skip optional slides when time is short.</a:t>
            </a:r>
          </a:p>
          <a:p>
            <a:endParaRPr lang="en-GB"/>
          </a:p>
          <a:p>
            <a:r>
              <a:rPr lang="en-GB"/>
              <a:t>Explanation: No response suggests path, NAT or peer availability; Proposal mismatch prevents cryptographic agreement; Authentication/ID mismatch fails after initial exchange; Certificate failures require time, chain and identity checks</a:t>
            </a:r>
          </a:p>
          <a:p>
            <a:endParaRPr lang="en-GB"/>
          </a:p>
          <a:p>
            <a:r>
              <a:rPr lang="en-GB"/>
              <a:t>Typical mistakes to surface: Restarting IKE before preserving failure state/output; Clearing all sessions instead of using a fresh tuple/filter; Declaring success from Phase 1 only</a:t>
            </a:r>
          </a:p>
          <a:p>
            <a:endParaRPr lang="en-GB"/>
          </a:p>
          <a:p>
            <a:r>
              <a:rPr lang="en-GB"/>
              <a:t>Official reference for instructor preparation: FortiGate/FortiOS 7.6.7 Administration Guide: IPsec monitoring and troubleshooting; Debugging IPsec VPN; Packet sniffer; Sessions. FortiOS 7.6.7 CLI Reference.</a:t>
            </a:r>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4–6 minutes. Protect the block’s practical/discussion reserve; skip optional slides when time is short.</a:t>
            </a:r>
          </a:p>
          <a:p>
            <a:endParaRPr lang="en-GB"/>
          </a:p>
          <a:p>
            <a:r>
              <a:rPr lang="en-GB"/>
              <a:t>Explanation: An IKE SA can be healthy while no CHILD SA exists; Selector mismatch or proposal mismatch prevents data SA; Encaps/decaps counters show directionality; Rekey failures may preserve old state briefly, causing intermittent symptoms</a:t>
            </a:r>
          </a:p>
          <a:p>
            <a:endParaRPr lang="en-GB"/>
          </a:p>
          <a:p>
            <a:r>
              <a:rPr lang="en-GB"/>
              <a:t>Typical mistakes to surface: Restarting IKE before preserving failure state/output; Clearing all sessions instead of using a fresh tuple/filter; Declaring success from Phase 1 only</a:t>
            </a:r>
          </a:p>
          <a:p>
            <a:endParaRPr lang="en-GB"/>
          </a:p>
          <a:p>
            <a:r>
              <a:rPr lang="en-GB"/>
              <a:t>Official reference for instructor preparation: FortiGate/FortiOS 7.6.7 Administration Guide: IPsec monitoring and troubleshooting; Debugging IPsec VPN; Packet sniffer; Sessions. FortiOS 7.6.7 CLI Reference.</a:t>
            </a:r>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4–6 minutes. Protect the block’s practical/discussion reserve; skip optional slides when time is short.</a:t>
            </a:r>
          </a:p>
          <a:p>
            <a:endParaRPr lang="en-GB"/>
          </a:p>
          <a:p>
            <a:r>
              <a:rPr lang="en-GB"/>
              <a:t>Explanation: Route lookup must select the tunnel for the protected destination; Policy ingress/egress pair must match actual interfaces; A broader WAN route can steal traffic if overlay route is absent; Return path must choose the reciprocal tunnel or valid symmetric design</a:t>
            </a:r>
          </a:p>
          <a:p>
            <a:endParaRPr lang="en-GB"/>
          </a:p>
          <a:p>
            <a:r>
              <a:rPr lang="en-GB"/>
              <a:t>Typical mistakes to surface: Restarting IKE before preserving failure state/output; Clearing all sessions instead of using a fresh tuple/filter; Declaring success from Phase 1 only</a:t>
            </a:r>
          </a:p>
          <a:p>
            <a:endParaRPr lang="en-GB"/>
          </a:p>
          <a:p>
            <a:r>
              <a:rPr lang="en-GB"/>
              <a:t>Official reference for instructor preparation: FortiGate/FortiOS 7.6.7 Administration Guide: IPsec monitoring and troubleshooting; Debugging IPsec VPN; Packet sniffer; Sessions. FortiOS 7.6.7 CLI Reference.</a:t>
            </a:r>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4–6 minutes. Protect the block’s practical/discussion reserve; skip optional slides when time is short.</a:t>
            </a:r>
          </a:p>
          <a:p>
            <a:endParaRPr lang="en-GB"/>
          </a:p>
          <a:p>
            <a:r>
              <a:rPr lang="en-GB"/>
              <a:t>Explanation: Existing sessions can continue using old routing/policy decisions; A configuration fix may require a new test tuple or authorized session clear; NAT is usually unintended for site-to-site protected traffic unless designed; Asymmetric return creates one-sided counters and incomplete sessions</a:t>
            </a:r>
          </a:p>
          <a:p>
            <a:endParaRPr lang="en-GB"/>
          </a:p>
          <a:p>
            <a:r>
              <a:rPr lang="en-GB"/>
              <a:t>Typical mistakes to surface: Restarting IKE before preserving failure state/output; Clearing all sessions instead of using a fresh tuple/filter; Declaring success from Phase 1 only</a:t>
            </a:r>
          </a:p>
          <a:p>
            <a:endParaRPr lang="en-GB"/>
          </a:p>
          <a:p>
            <a:r>
              <a:rPr lang="en-GB"/>
              <a:t>Official reference for instructor preparation: FortiGate/FortiOS 7.6.7 Administration Guide: IPsec monitoring and troubleshooting; Debugging IPsec VPN; Packet sniffer; Sessions. FortiOS 7.6.7 CLI Reference.</a:t>
            </a:r>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4–6 minutes. Protect the block’s practical/discussion reserve; skip optional slides when time is short.</a:t>
            </a:r>
          </a:p>
          <a:p>
            <a:endParaRPr lang="en-GB"/>
          </a:p>
          <a:p>
            <a:r>
              <a:rPr lang="en-GB"/>
              <a:t>Explanation: Capture IKE on the underlay and protected traffic on LAN/tunnel-relevant interfaces; One-sided protected packets reveal where forwarding stops; ESP versus UDP/4500 depends on NAT traversal/path; Schematic output must be labelled illustrative unless captured in the declared lab</a:t>
            </a:r>
          </a:p>
          <a:p>
            <a:endParaRPr lang="en-GB"/>
          </a:p>
          <a:p>
            <a:r>
              <a:rPr lang="en-GB"/>
              <a:t>Typical mistakes to surface: Restarting IKE before preserving failure state/output; Clearing all sessions instead of using a fresh tuple/filter; Declaring success from Phase 1 only</a:t>
            </a:r>
          </a:p>
          <a:p>
            <a:endParaRPr lang="en-GB"/>
          </a:p>
          <a:p>
            <a:r>
              <a:rPr lang="en-GB"/>
              <a:t>Official reference for instructor preparation: FortiGate/FortiOS 7.6.7 Administration Guide: IPsec monitoring and troubleshooting; Debugging IPsec VPN; Packet sniffer; Sessions. FortiOS 7.6.7 CLI Reference.</a:t>
            </a:r>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4–6 minutes. Protect the block’s practical/discussion reserve; skip optional slides when time is short.</a:t>
            </a:r>
          </a:p>
          <a:p>
            <a:endParaRPr lang="en-GB"/>
          </a:p>
          <a:p>
            <a:r>
              <a:rPr lang="en-GB"/>
              <a:t>Explanation: Certificate inspection reads TLS handshake/certificate metadata without decrypting application payload; Deep inspection proxies TLS and exposes payload to security profiles; Deep inspection requires endpoint trust in the FortiGate inspection CA; Pinning, privacy policy and performance may require scoped exceptions</a:t>
            </a:r>
          </a:p>
          <a:p>
            <a:endParaRPr lang="en-GB"/>
          </a:p>
          <a:p>
            <a:r>
              <a:rPr lang="en-GB"/>
              <a:t>Typical mistakes to surface: Restarting IKE before preserving failure state/output; Clearing all sessions instead of using a fresh tuple/filter; Declaring success from Phase 1 only</a:t>
            </a:r>
          </a:p>
          <a:p>
            <a:endParaRPr lang="en-GB"/>
          </a:p>
          <a:p>
            <a:r>
              <a:rPr lang="en-GB"/>
              <a:t>Official reference for instructor preparation: FortiGate/FortiOS 7.6.7 Administration Guide: IPsec monitoring and troubleshooting; Debugging IPsec VPN; Packet sniffer; Sessions. FortiOS 7.6.7 CLI Reference.</a:t>
            </a:r>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7–9 minutes. Protect the block’s practical/discussion reserve; skip optional slides when time is short.</a:t>
            </a:r>
          </a:p>
          <a:p>
            <a:endParaRPr lang="en-GB"/>
          </a:p>
          <a:p>
            <a:r>
              <a:rPr lang="en-GB"/>
              <a:t>Explanation: Symptom: Branch cannot reach HQ server; Check underlay and IKE state; Check CHILD SA selectors/counters; Check route and policy on both peers; Check session and captures; remediate only the failed layer</a:t>
            </a:r>
          </a:p>
          <a:p>
            <a:endParaRPr lang="en-GB"/>
          </a:p>
          <a:p>
            <a:r>
              <a:rPr lang="en-GB"/>
              <a:t>Typical mistakes to surface: Restarting IKE before preserving failure state/output; Clearing all sessions instead of using a fresh tuple/filter; Declaring success from Phase 1 only</a:t>
            </a:r>
          </a:p>
          <a:p>
            <a:endParaRPr lang="en-GB"/>
          </a:p>
          <a:p>
            <a:r>
              <a:rPr lang="en-GB"/>
              <a:t>Official reference for instructor preparation: FortiGate/FortiOS 7.6.7 Administration Guide: IPsec monitoring and troubleshooting; Debugging IPsec VPN; Packet sniffer; Sessions. FortiOS 7.6.7 CLI Reference.</a:t>
            </a:r>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 minutes. Protect the block’s practical/discussion reserve; skip optional slides when time is short.</a:t>
            </a:r>
          </a:p>
          <a:p>
            <a:endParaRPr lang="en-GB"/>
          </a:p>
          <a:p>
            <a:r>
              <a:rPr lang="en-GB"/>
              <a:t>Explanation: Restarting IKE before preserving failure state/output; Clearing all sessions instead of using a fresh tuple/filter; Declaring success from Phase 1 only</a:t>
            </a:r>
          </a:p>
          <a:p>
            <a:endParaRPr lang="en-GB"/>
          </a:p>
          <a:p>
            <a:r>
              <a:rPr lang="en-GB"/>
              <a:t>Typical mistakes to surface: Restarting IKE before preserving failure state/output; Clearing all sessions instead of using a fresh tuple/filter; Declaring success from Phase 1 only</a:t>
            </a:r>
          </a:p>
          <a:p>
            <a:endParaRPr lang="en-GB"/>
          </a:p>
          <a:p>
            <a:r>
              <a:rPr lang="en-GB"/>
              <a:t>Official reference for instructor preparation: FortiGate/FortiOS 7.6.7 Administration Guide: IPsec monitoring and troubleshooting; Debugging IPsec VPN; Packet sniffer; Sessions. FortiOS 7.6.7 CLI Reference.</a:t>
            </a:r>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5–7 minutes. Protect the block’s practical/discussion reserve; skip optional slides when time is short.</a:t>
            </a:r>
          </a:p>
          <a:p>
            <a:endParaRPr lang="en-GB"/>
          </a:p>
          <a:p>
            <a:r>
              <a:rPr lang="en-GB"/>
              <a:t>Explanation: Underlay route/capture; Phase 1 peer/proposal/identity; Phase 2 selectors/proposal/counters; Overlay route and policies; Session, NAT and return-path capture</a:t>
            </a:r>
          </a:p>
          <a:p>
            <a:endParaRPr lang="en-GB"/>
          </a:p>
          <a:p>
            <a:r>
              <a:rPr lang="en-GB"/>
              <a:t>Typical mistakes to surface: Restarting IKE before preserving failure state/output; Clearing all sessions instead of using a fresh tuple/filter; Declaring success from Phase 1 only</a:t>
            </a:r>
          </a:p>
          <a:p>
            <a:endParaRPr lang="en-GB"/>
          </a:p>
          <a:p>
            <a:r>
              <a:rPr lang="en-GB"/>
              <a:t>Official reference for instructor preparation: FortiGate/FortiOS 7.6.7 Administration Guide: IPsec monitoring and troubleshooting; Debugging IPsec VPN; Packet sniffer; Sessions. FortiOS 7.6.7 CLI Reference.</a:t>
            </a:r>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Exercise: Broken VPN Ticket.</a:t>
            </a:r>
          </a:p>
          <a:p>
            <a:r>
              <a:rPr lang="en-GB"/>
              <a:t>Inject one prevalidated fault in the separate afternoon tunnel: disabled test policy, selector mismatch, missing protected route, or safe Phase 1 dependency. Record the solution separately from student materials.</a:t>
            </a:r>
          </a:p>
          <a:p>
            <a:r>
              <a:rPr lang="en-GB"/>
              <a:t>Answer key follows underlay → IKE → IPsec selectors/counters → route → policy → return path. The final retest has bidirectional counters and service success.</a:t>
            </a:r>
          </a:p>
          <a:p>
            <a:r>
              <a:rPr lang="en-GB"/>
              <a:t>Reset every fault and restore the known-good afternoon snapshot; morning tunnel and management stay untouched.</a:t>
            </a:r>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5–7 minutes. Protect the block’s practical/discussion reserve; skip optional slides when time is short.</a:t>
            </a:r>
          </a:p>
          <a:p>
            <a:endParaRPr lang="en-GB"/>
          </a:p>
          <a:p>
            <a:r>
              <a:rPr lang="en-GB"/>
              <a:t>Explanation: If encaps increases but decaps stays zero, what does it suggest?; Why use a new five-tuple after a route change?</a:t>
            </a:r>
          </a:p>
          <a:p>
            <a:endParaRPr lang="en-GB"/>
          </a:p>
          <a:p>
            <a:r>
              <a:rPr lang="en-GB"/>
              <a:t>Typical mistakes to surface: Restarting IKE before preserving failure state/output; Clearing all sessions instead of using a fresh tuple/filter; Declaring success from Phase 1 only</a:t>
            </a:r>
          </a:p>
          <a:p>
            <a:endParaRPr lang="en-GB"/>
          </a:p>
          <a:p>
            <a:r>
              <a:rPr lang="en-GB"/>
              <a:t>Official reference for instructor preparation: FortiGate/FortiOS 7.6.7 Administration Guide: IPsec monitoring and troubleshooting; Debugging IPsec VPN; Packet sniffer; Sessions. FortiOS 7.6.7 CLI Reference.</a:t>
            </a:r>
          </a:p>
          <a:p>
            <a:endParaRPr lang="en-GB"/>
          </a:p>
          <a:p>
            <a:r>
              <a:rPr lang="en-GB"/>
              <a:t>Knowledge check answer key:</a:t>
            </a:r>
          </a:p>
          <a:p>
            <a:endParaRPr lang="en-GB"/>
          </a:p>
          <a:p>
            <a:r>
              <a:rPr lang="en-GB"/>
              <a:t>Q: If encaps increases but decaps stays zero, what does it suggest?</a:t>
            </a:r>
          </a:p>
          <a:p>
            <a:r>
              <a:rPr lang="en-GB"/>
              <a:t>A: Local traffic enters encryption but return protected traffic is not arriving; inspect remote routing/policy/peer path.</a:t>
            </a:r>
          </a:p>
          <a:p>
            <a:endParaRPr lang="en-GB"/>
          </a:p>
          <a:p>
            <a:r>
              <a:rPr lang="en-GB"/>
              <a:t>Q: Why use a new five-tuple after a route change?</a:t>
            </a:r>
          </a:p>
          <a:p>
            <a:r>
              <a:rPr lang="en-GB"/>
              <a:t>A: Existing session state may retain the previous egress/policy decision.</a:t>
            </a:r>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3 minutes. Protect the block’s practical/discussion reserve; skip optional slides when time is short.</a:t>
            </a:r>
          </a:p>
          <a:p>
            <a:endParaRPr lang="en-GB"/>
          </a:p>
          <a:p>
            <a:r>
              <a:rPr lang="en-GB"/>
              <a:t>Explanation: Describe FortiClient components, VPN profiles and endpoint integration; Explain EMS telemetry and centralized profile management; Compare EMS and Intune by use case without claiming equivalence</a:t>
            </a:r>
          </a:p>
          <a:p>
            <a:endParaRPr lang="en-GB"/>
          </a:p>
          <a:p>
            <a:r>
              <a:rPr lang="en-GB"/>
              <a:t>Typical mistakes to surface: Assuming every FortiClient installation is EMS-managed; Claiming EMS and Intune are interchangeable; Troubleshooting only on the gateway</a:t>
            </a:r>
          </a:p>
          <a:p>
            <a:endParaRPr lang="en-GB"/>
          </a:p>
          <a:p>
            <a:r>
              <a:rPr lang="en-GB"/>
              <a:t>Official reference for instructor preparation: Official FortiClient and FortiClient EMS Administration Guides for the deployed FortiClient/EMS release; FortiGate/FortiOS 7.6.7 Administration Guide: Remote access and endpoint/ZTNA integration. Confirm licensing and support matrix.</a:t>
            </a:r>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4–6 minutes. Protect the block’s practical/discussion reserve; skip optional slides when time is short.</a:t>
            </a:r>
          </a:p>
          <a:p>
            <a:endParaRPr lang="en-GB"/>
          </a:p>
          <a:p>
            <a:r>
              <a:rPr lang="en-GB"/>
              <a:t>Explanation: Available modules depend on edition, platform, license and EMS policy; VPN, endpoint telemetry, ZTNA and security features have separate prerequisites; FortiGate remote-access settings and FortiClient profile must align; Client logs are essential state/output when GUI status is insufficient</a:t>
            </a:r>
          </a:p>
          <a:p>
            <a:endParaRPr lang="en-GB"/>
          </a:p>
          <a:p>
            <a:r>
              <a:rPr lang="en-GB"/>
              <a:t>Typical mistakes to surface: Assuming every FortiClient installation is EMS-managed; Claiming EMS and Intune are interchangeable; Troubleshooting only on the gateway</a:t>
            </a:r>
          </a:p>
          <a:p>
            <a:endParaRPr lang="en-GB"/>
          </a:p>
          <a:p>
            <a:r>
              <a:rPr lang="en-GB"/>
              <a:t>Official reference for instructor preparation: Official FortiClient and FortiClient EMS Administration Guides for the deployed FortiClient/EMS release; FortiGate/FortiOS 7.6.7 Administration Guide: Remote access and endpoint/ZTNA integration. Confirm licensing and support matrix.</a:t>
            </a:r>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4–6 minutes. Protect the block’s practical/discussion reserve; skip optional slides when time is short.</a:t>
            </a:r>
          </a:p>
          <a:p>
            <a:endParaRPr lang="en-GB"/>
          </a:p>
          <a:p>
            <a:r>
              <a:rPr lang="en-GB"/>
              <a:t>Explanation: Profile defines gateway, tunnel type and user/certificate parameters as supported; Split/full tunnel and DNS behavior affect traffic path; MFA/SSO/certificate methods require matching FortiGate identity design; Remote-access option support must be checked for exact FortiOS/FortiClient release</a:t>
            </a:r>
          </a:p>
          <a:p>
            <a:endParaRPr lang="en-GB"/>
          </a:p>
          <a:p>
            <a:r>
              <a:rPr lang="en-GB"/>
              <a:t>Typical mistakes to surface: Assuming every FortiClient installation is EMS-managed; Claiming EMS and Intune are interchangeable; Troubleshooting only on the gateway</a:t>
            </a:r>
          </a:p>
          <a:p>
            <a:endParaRPr lang="en-GB"/>
          </a:p>
          <a:p>
            <a:r>
              <a:rPr lang="en-GB"/>
              <a:t>Official reference for instructor preparation: Official FortiClient and FortiClient EMS Administration Guides for the deployed FortiClient/EMS release; FortiGate/FortiOS 7.6.7 Administration Guide: Remote access and endpoint/ZTNA integration. Confirm licensing and support matrix.</a:t>
            </a:r>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Expected result: the endpoint is registered to the intended EMS, receives the assigned profile, and its VPN/access session appears on FortiGate. FortiClient/EMS exact release and licensing remain instructor review items. Source: official FortiClient EMS Administration Guide and FortiOS 7.6.7 Administration Guide — endpoint integration.</a:t>
            </a:r>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4–6 minutes. Protect the block’s practical/discussion reserve; skip optional slides when time is short.</a:t>
            </a:r>
          </a:p>
          <a:p>
            <a:endParaRPr lang="en-GB"/>
          </a:p>
          <a:p>
            <a:r>
              <a:rPr lang="en-GB"/>
              <a:t>Explanation: Endpoint tags/posture can inform access policy where supported; Certificate deployment and trust stores can enable deep inspection or VPN authentication; Client upgrades/profile changes need staged rollout and rollback; Privacy and endpoint-ownership boundaries must be documented</a:t>
            </a:r>
          </a:p>
          <a:p>
            <a:endParaRPr lang="en-GB"/>
          </a:p>
          <a:p>
            <a:r>
              <a:rPr lang="en-GB"/>
              <a:t>Typical mistakes to surface: Assuming every FortiClient installation is EMS-managed; Claiming EMS and Intune are interchangeable; Troubleshooting only on the gateway</a:t>
            </a:r>
          </a:p>
          <a:p>
            <a:endParaRPr lang="en-GB"/>
          </a:p>
          <a:p>
            <a:r>
              <a:rPr lang="en-GB"/>
              <a:t>Official reference for instructor preparation: Official FortiClient and FortiClient EMS Administration Guides for the deployed FortiClient/EMS release; FortiGate/FortiOS 7.6.7 Administration Guide: Remote access and endpoint/ZTNA integration. Confirm licensing and support matrix.</a:t>
            </a:r>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4–6 minutes. Protect the block’s practical/discussion reserve; skip optional slides when time is short.</a:t>
            </a:r>
          </a:p>
          <a:p>
            <a:endParaRPr lang="en-GB"/>
          </a:p>
          <a:p>
            <a:r>
              <a:rPr lang="en-GB"/>
              <a:t>Explanation: Certificate inspection uses visible TLS metadata and does not decrypt payload; Deep inspection requires endpoint trust in the inspection CA and exposes payload to profiles; EMS can help distribute relevant FortiClient/endpoint policy in supported designs; Intune may distribute certificates/configuration, but it does not become EMS or replace FortiGate inspection policy</a:t>
            </a:r>
          </a:p>
          <a:p>
            <a:endParaRPr lang="en-GB"/>
          </a:p>
          <a:p>
            <a:r>
              <a:rPr lang="en-GB"/>
              <a:t>Typical mistakes to surface: Assuming every FortiClient installation is EMS-managed; Claiming EMS and Intune are interchangeable; Troubleshooting only on the gateway</a:t>
            </a:r>
          </a:p>
          <a:p>
            <a:endParaRPr lang="en-GB"/>
          </a:p>
          <a:p>
            <a:r>
              <a:rPr lang="en-GB"/>
              <a:t>Official reference for instructor preparation: Official FortiClient and FortiClient EMS Administration Guides for the deployed FortiClient/EMS release; FortiGate/FortiOS 7.6.7 Administration Guide: Remote access and endpoint/ZTNA integration. Confirm licensing and support matrix.</a:t>
            </a:r>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4–6 minutes. Protect the block’s practical/discussion reserve; skip optional slides when time is short.</a:t>
            </a:r>
          </a:p>
          <a:p>
            <a:endParaRPr lang="en-GB"/>
          </a:p>
          <a:p>
            <a:r>
              <a:rPr lang="en-GB"/>
              <a:t>Explanation: EMS is FortiClient-centric: profiles, telemetry and network-access integrations; Intune manages broader device/app/compliance configuration in Microsoft ecosystems; They can coexist: Intune enrolls/configures device; EMS manages FortiClient-specific posture/profile; Replacement is use-case specific; never claim blanket feature equivalence</a:t>
            </a:r>
          </a:p>
          <a:p>
            <a:endParaRPr lang="en-GB"/>
          </a:p>
          <a:p>
            <a:r>
              <a:rPr lang="en-GB"/>
              <a:t>Typical mistakes to surface: Assuming every FortiClient installation is EMS-managed; Claiming EMS and Intune are interchangeable; Troubleshooting only on the gateway</a:t>
            </a:r>
          </a:p>
          <a:p>
            <a:endParaRPr lang="en-GB"/>
          </a:p>
          <a:p>
            <a:r>
              <a:rPr lang="en-GB"/>
              <a:t>Official reference for instructor preparation: Official FortiClient and FortiClient EMS Administration Guides for the deployed FortiClient/EMS release; FortiGate/FortiOS 7.6.7 Administration Guide: Remote access and endpoint/ZTNA integration. Confirm licensing and support matrix.</a:t>
            </a:r>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4–6 minutes. Protect the block’s practical/discussion reserve; skip optional slides when time is short.</a:t>
            </a:r>
          </a:p>
          <a:p>
            <a:endParaRPr lang="en-GB"/>
          </a:p>
          <a:p>
            <a:r>
              <a:rPr lang="en-GB"/>
              <a:t>Explanation: Endpoint network state and routes/DNS; FortiClient event/VPN logs; EMS profile/telemetry status if used; FortiGate authentication, VPN, policy and session logs</a:t>
            </a:r>
          </a:p>
          <a:p>
            <a:endParaRPr lang="en-GB"/>
          </a:p>
          <a:p>
            <a:r>
              <a:rPr lang="en-GB"/>
              <a:t>Typical mistakes to surface: Assuming every FortiClient installation is EMS-managed; Claiming EMS and Intune are interchangeable; Troubleshooting only on the gateway</a:t>
            </a:r>
          </a:p>
          <a:p>
            <a:endParaRPr lang="en-GB"/>
          </a:p>
          <a:p>
            <a:r>
              <a:rPr lang="en-GB"/>
              <a:t>Official reference for instructor preparation: Official FortiClient and FortiClient EMS Administration Guides for the deployed FortiClient/EMS release; FortiGate/FortiOS 7.6.7 Administration Guide: Remote access and endpoint/ZTNA integration. Confirm licensing and support matrix.</a:t>
            </a:r>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7–9 minutes. Protect the block’s practical/discussion reserve; skip optional slides when time is short.</a:t>
            </a:r>
          </a:p>
          <a:p>
            <a:endParaRPr lang="en-GB"/>
          </a:p>
          <a:p>
            <a:r>
              <a:rPr lang="en-GB"/>
              <a:t>Explanation: Requirement: consistent VPN gateway and certificate trust; Choose EMS, Intune or coexistence based on ownership and supported controls; Deploy to a pilot group; Validate client and FortiGate state/output; Define rollback and help-desk signals</a:t>
            </a:r>
          </a:p>
          <a:p>
            <a:endParaRPr lang="en-GB"/>
          </a:p>
          <a:p>
            <a:r>
              <a:rPr lang="en-GB"/>
              <a:t>Typical mistakes to surface: Assuming every FortiClient installation is EMS-managed; Claiming EMS and Intune are interchangeable; Troubleshooting only on the gateway</a:t>
            </a:r>
          </a:p>
          <a:p>
            <a:endParaRPr lang="en-GB"/>
          </a:p>
          <a:p>
            <a:r>
              <a:rPr lang="en-GB"/>
              <a:t>Official reference for instructor preparation: Official FortiClient and FortiClient EMS Administration Guides for the deployed FortiClient/EMS release; FortiGate/FortiOS 7.6.7 Administration Guide: Remote access and endpoint/ZTNA integration. Confirm licensing and support matrix.</a:t>
            </a:r>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 minutes. Protect the block’s practical/discussion reserve; skip optional slides when time is short.</a:t>
            </a:r>
          </a:p>
          <a:p>
            <a:endParaRPr lang="en-GB"/>
          </a:p>
          <a:p>
            <a:r>
              <a:rPr lang="en-GB"/>
              <a:t>Explanation: Assuming every FortiClient installation is EMS-managed; Claiming EMS and Intune are interchangeable; Troubleshooting only on the gateway</a:t>
            </a:r>
          </a:p>
          <a:p>
            <a:endParaRPr lang="en-GB"/>
          </a:p>
          <a:p>
            <a:r>
              <a:rPr lang="en-GB"/>
              <a:t>Typical mistakes to surface: Assuming every FortiClient installation is EMS-managed; Claiming EMS and Intune are interchangeable; Troubleshooting only on the gateway</a:t>
            </a:r>
          </a:p>
          <a:p>
            <a:endParaRPr lang="en-GB"/>
          </a:p>
          <a:p>
            <a:r>
              <a:rPr lang="en-GB"/>
              <a:t>Official reference for instructor preparation: Official FortiClient and FortiClient EMS Administration Guides for the deployed FortiClient/EMS release; FortiGate/FortiOS 7.6.7 Administration Guide: Remote access and endpoint/ZTNA integration. Confirm licensing and support matrix.</a:t>
            </a:r>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5–7 minutes. Protect the block’s practical/discussion reserve; skip optional slides when time is short.</a:t>
            </a:r>
          </a:p>
          <a:p>
            <a:endParaRPr lang="en-GB"/>
          </a:p>
          <a:p>
            <a:r>
              <a:rPr lang="en-GB"/>
              <a:t>Explanation: Confirm endpoint OS/client/version/license; Verify assigned profile and gateway reachability; Check authentication/certificate trust; Inspect client and EMS logs; Correlate FortiGate VPN/policy/session state/output</a:t>
            </a:r>
          </a:p>
          <a:p>
            <a:endParaRPr lang="en-GB"/>
          </a:p>
          <a:p>
            <a:r>
              <a:rPr lang="en-GB"/>
              <a:t>Typical mistakes to surface: Assuming every FortiClient installation is EMS-managed; Claiming EMS and Intune are interchangeable; Troubleshooting only on the gateway</a:t>
            </a:r>
          </a:p>
          <a:p>
            <a:endParaRPr lang="en-GB"/>
          </a:p>
          <a:p>
            <a:r>
              <a:rPr lang="en-GB"/>
              <a:t>Official reference for instructor preparation: Official FortiClient and FortiClient EMS Administration Guides for the deployed FortiClient/EMS release; FortiGate/FortiOS 7.6.7 Administration Guide: Remote access and endpoint/ZTNA integration. Confirm licensing and support matrix.</a:t>
            </a:r>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Default delivery: FortiClient/EMS theory plus optional instructor demonstration.</a:t>
            </a:r>
          </a:p>
          <a:p>
            <a:r>
              <a:rPr lang="en-GB"/>
              <a:t>Base lab does not include EMS. Provide an architecture/profile/log artefact set. If a supported tenant, license and managed endpoint are built, demonstrate registration and profile assignment.</a:t>
            </a:r>
          </a:p>
          <a:p>
            <a:r>
              <a:rPr lang="en-GB"/>
              <a:t>Answer key: EMS manages supported endpoint policy/telemetry; FortiClient applies the assigned profile; FortiGate makes gateway/policy/VPN decisions. CA distribution can support trust but does not move TLS inspection into EMS.</a:t>
            </a:r>
          </a:p>
          <a:p>
            <a:r>
              <a:rPr lang="en-GB"/>
              <a:t>Reset optional demo artefacts only.</a:t>
            </a:r>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5–7 minutes. Protect the block’s practical/discussion reserve; skip optional slides when time is short.</a:t>
            </a:r>
          </a:p>
          <a:p>
            <a:endParaRPr lang="en-GB"/>
          </a:p>
          <a:p>
            <a:r>
              <a:rPr lang="en-GB"/>
              <a:t>Explanation: When can EMS and Intune coexist?; What does FortiClient “connected” fail to prove?</a:t>
            </a:r>
          </a:p>
          <a:p>
            <a:endParaRPr lang="en-GB"/>
          </a:p>
          <a:p>
            <a:r>
              <a:rPr lang="en-GB"/>
              <a:t>Typical mistakes to surface: Assuming every FortiClient installation is EMS-managed; Claiming EMS and Intune are interchangeable; Troubleshooting only on the gateway</a:t>
            </a:r>
          </a:p>
          <a:p>
            <a:endParaRPr lang="en-GB"/>
          </a:p>
          <a:p>
            <a:r>
              <a:rPr lang="en-GB"/>
              <a:t>Official reference for instructor preparation: Official FortiClient and FortiClient EMS Administration Guides for the deployed FortiClient/EMS release; FortiGate/FortiOS 7.6.7 Administration Guide: Remote access and endpoint/ZTNA integration. Confirm licensing and support matrix.</a:t>
            </a:r>
          </a:p>
          <a:p>
            <a:endParaRPr lang="en-GB"/>
          </a:p>
          <a:p>
            <a:r>
              <a:rPr lang="en-GB"/>
              <a:t>Knowledge check answer key:</a:t>
            </a:r>
          </a:p>
          <a:p>
            <a:endParaRPr lang="en-GB"/>
          </a:p>
          <a:p>
            <a:r>
              <a:rPr lang="en-GB"/>
              <a:t>Q: When can EMS and Intune coexist?</a:t>
            </a:r>
          </a:p>
          <a:p>
            <a:r>
              <a:rPr lang="en-GB"/>
              <a:t>A: When ownership is explicit—for example, Intune manages broad device configuration while EMS manages FortiClient-specific profiles and telemetry.</a:t>
            </a:r>
          </a:p>
          <a:p>
            <a:endParaRPr lang="en-GB"/>
          </a:p>
          <a:p>
            <a:r>
              <a:rPr lang="en-GB"/>
              <a:t>Q: What does FortiClient “connected” fail to prove?</a:t>
            </a:r>
          </a:p>
          <a:p>
            <a:r>
              <a:rPr lang="en-GB"/>
              <a:t>A: That routes, DNS, FortiGate policy and the target application path are working end to end.</a:t>
            </a:r>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3 minutes. Protect the block’s practical/discussion reserve; skip optional slides when time is short.</a:t>
            </a:r>
          </a:p>
          <a:p>
            <a:endParaRPr lang="en-GB"/>
          </a:p>
          <a:p>
            <a:r>
              <a:rPr lang="en-GB"/>
              <a:t>Explanation: Explain FGCP prerequisites, heartbeat, election and synchronization; Trace Active-Passive failover and session impact; Separate appliance HA demonstration from cloud HA designs</a:t>
            </a:r>
          </a:p>
          <a:p>
            <a:endParaRPr lang="en-GB"/>
          </a:p>
          <a:p>
            <a:r>
              <a:rPr lang="en-GB"/>
              <a:t>Typical mistakes to surface: Building HA with mismatched firmware or modes; Assuming configuration sync means all sessions survive; Testing cloud HA with appliance assumptions</a:t>
            </a:r>
          </a:p>
          <a:p>
            <a:endParaRPr lang="en-GB"/>
          </a:p>
          <a:p>
            <a:r>
              <a:rPr lang="en-GB"/>
              <a:t>Official reference for instructor preparation: FortiGate/FortiOS 7.6.7 Administration Guide: FGCP HA; Primary election; Session pickup; HA troubleshooting. Model-specific and cloud-provider deployment guides required.</a:t>
            </a:r>
          </a:p>
          <a:p>
            <a:endParaRPr lang="en-GB"/>
          </a:p>
          <a:p>
            <a:r>
              <a:rPr lang="en-GB"/>
              <a:t>Azure lab emphasis: use an Azure-supported HA design only if the required pair and Azure networking components are provisioned. The heartbeat, election and session-synchronization explanation also covers physical appliances, but cable/link demonstrations require separate hardware.</a:t>
            </a:r>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Expected result: before failover, members are synchronized and one unit is primary; after the approved trigger, the secondary becomes primary and eligible sessions recover as designed. Azure HA requires the current Fortinet Azure architecture. Source: FortiOS 7.6.7 Administration Guide — FGCP HA, session pickup and failover; FortiGate-VM for Azure HA guide.</a:t>
            </a:r>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4–6 minutes. Protect the block’s practical/discussion reserve; skip optional slides when time is short.</a:t>
            </a:r>
          </a:p>
          <a:p>
            <a:endParaRPr lang="en-GB"/>
          </a:p>
          <a:p>
            <a:r>
              <a:rPr lang="en-GB"/>
              <a:t>Explanation: Priority, override behavior, monitored interfaces and uptime/state influence election according to configuration; Preemption/override choices affect whether the preferred unit reclaims primary; A stable cluster is more important than repeatedly forcing preferred ownership; Document expected primary and the exact trigger for change</a:t>
            </a:r>
          </a:p>
          <a:p>
            <a:endParaRPr lang="en-GB"/>
          </a:p>
          <a:p>
            <a:r>
              <a:rPr lang="en-GB"/>
              <a:t>Typical mistakes to surface: Building HA with mismatched firmware or modes; Assuming configuration sync means all sessions survive; Testing cloud HA with appliance assumptions</a:t>
            </a:r>
          </a:p>
          <a:p>
            <a:endParaRPr lang="en-GB"/>
          </a:p>
          <a:p>
            <a:r>
              <a:rPr lang="en-GB"/>
              <a:t>Official reference for instructor preparation: FortiGate/FortiOS 7.6.7 Administration Guide: FGCP HA; Primary election; Session pickup; HA troubleshooting. Model-specific and cloud-provider deployment guides required.</a:t>
            </a:r>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4–6 minutes. Protect the block’s practical/discussion reserve; skip optional slides when time is short.</a:t>
            </a:r>
          </a:p>
          <a:p>
            <a:endParaRPr lang="en-GB"/>
          </a:p>
          <a:p>
            <a:r>
              <a:rPr lang="en-GB"/>
              <a:t>Explanation: Most configuration is synchronized; some member-specific settings remain local; Session pickup/session synchronization must be configured and supported for desired protocols/features; Security engine and dynamic state behavior may vary during failover; Checksum mismatch requires investigation before relying on redundancy</a:t>
            </a:r>
          </a:p>
          <a:p>
            <a:endParaRPr lang="en-GB"/>
          </a:p>
          <a:p>
            <a:r>
              <a:rPr lang="en-GB"/>
              <a:t>Typical mistakes to surface: Building HA with mismatched firmware or modes; Assuming configuration sync means all sessions survive; Testing cloud HA with appliance assumptions</a:t>
            </a:r>
          </a:p>
          <a:p>
            <a:endParaRPr lang="en-GB"/>
          </a:p>
          <a:p>
            <a:r>
              <a:rPr lang="en-GB"/>
              <a:t>Official reference for instructor preparation: FortiGate/FortiOS 7.6.7 Administration Guide: FGCP HA; Primary election; Session pickup; HA troubleshooting. Model-specific and cloud-provider deployment guides required.</a:t>
            </a:r>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4–6 minutes. Protect the block’s practical/discussion reserve; skip optional slides when time is short.</a:t>
            </a:r>
          </a:p>
          <a:p>
            <a:endParaRPr lang="en-GB"/>
          </a:p>
          <a:p>
            <a:r>
              <a:rPr lang="en-GB"/>
              <a:t>Explanation: Heartbeat loss, monitored interface failure and device failure are distinct events; Link-monitor/path health mechanisms may be needed beyond physical interface state; Failover time includes detection, election, forwarding convergence and upstream learning; Flapping monitored links can cause repeated disruption</a:t>
            </a:r>
          </a:p>
          <a:p>
            <a:endParaRPr lang="en-GB"/>
          </a:p>
          <a:p>
            <a:r>
              <a:rPr lang="en-GB"/>
              <a:t>Typical mistakes to surface: Building HA with mismatched firmware or modes; Assuming configuration sync means all sessions survive; Testing cloud HA with appliance assumptions</a:t>
            </a:r>
          </a:p>
          <a:p>
            <a:endParaRPr lang="en-GB"/>
          </a:p>
          <a:p>
            <a:r>
              <a:rPr lang="en-GB"/>
              <a:t>Official reference for instructor preparation: FortiGate/FortiOS 7.6.7 Administration Guide: FGCP HA; Primary election; Session pickup; HA troubleshooting. Model-specific and cloud-provider deployment guides required.</a:t>
            </a:r>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4–6 minutes. Protect the block’s practical/discussion reserve; skip optional slides when time is short.</a:t>
            </a:r>
          </a:p>
          <a:p>
            <a:endParaRPr lang="en-GB"/>
          </a:p>
          <a:p>
            <a:r>
              <a:rPr lang="en-GB"/>
              <a:t>Explanation: Synced eligible sessions can continue with limited interruption; Unsynchronized or unsupported sessions must be re-established; NAT, IPsec, routing and authentication state have specific HA considerations; Measure user impact, not only role change</a:t>
            </a:r>
          </a:p>
          <a:p>
            <a:endParaRPr lang="en-GB"/>
          </a:p>
          <a:p>
            <a:r>
              <a:rPr lang="en-GB"/>
              <a:t>Typical mistakes to surface: Building HA with mismatched firmware or modes; Assuming configuration sync means all sessions survive; Testing cloud HA with appliance assumptions</a:t>
            </a:r>
          </a:p>
          <a:p>
            <a:endParaRPr lang="en-GB"/>
          </a:p>
          <a:p>
            <a:r>
              <a:rPr lang="en-GB"/>
              <a:t>Official reference for instructor preparation: FortiGate/FortiOS 7.6.7 Administration Guide: FGCP HA; Primary election; Session pickup; HA troubleshooting. Model-specific and cloud-provider deployment guides required.</a:t>
            </a:r>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4–6 minutes. Protect the block’s practical/discussion reserve; skip optional slides when time is short.</a:t>
            </a:r>
          </a:p>
          <a:p>
            <a:endParaRPr lang="en-GB"/>
          </a:p>
          <a:p>
            <a:r>
              <a:rPr lang="en-GB"/>
              <a:t>Explanation: Firmware/model mismatch prevents expected formation; Heartbeat VLAN/switch behavior can introduce loss or loops; Duplicate management/IP design can make a healthy cluster appear unreachable; Upstream/downstream MAC/ARP convergence can dominate outage time</a:t>
            </a:r>
          </a:p>
          <a:p>
            <a:endParaRPr lang="en-GB"/>
          </a:p>
          <a:p>
            <a:r>
              <a:rPr lang="en-GB"/>
              <a:t>Typical mistakes to surface: Building HA with mismatched firmware or modes; Assuming configuration sync means all sessions survive; Testing cloud HA with appliance assumptions</a:t>
            </a:r>
          </a:p>
          <a:p>
            <a:endParaRPr lang="en-GB"/>
          </a:p>
          <a:p>
            <a:r>
              <a:rPr lang="en-GB"/>
              <a:t>Official reference for instructor preparation: FortiGate/FortiOS 7.6.7 Administration Guide: FGCP HA; Primary election; Session pickup; HA troubleshooting. Model-specific and cloud-provider deployment guides required.</a:t>
            </a:r>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[OPTIONAL DEEP DIVE] Stable ID: D4-B14-S156</a:t>
            </a:r>
          </a:p>
          <a:p>
            <a:endParaRPr lang="en-GB"/>
          </a:p>
          <a:p>
            <a:r>
              <a:rPr lang="en-GB"/>
              <a:t>Approximate timing: 4–6 minutes. Protect the block’s practical/discussion reserve; skip optional slides when time is short.</a:t>
            </a:r>
          </a:p>
          <a:p>
            <a:endParaRPr lang="en-GB"/>
          </a:p>
          <a:p>
            <a:r>
              <a:rPr lang="en-GB"/>
              <a:t>Explanation: Cloud instances lack physical heartbeat/transparent L2 assumptions in many designs; Routing, load balancers, APIs and provider failover mechanisms may be required; Licensing and bootstrap/state synchronization depend on marketplace/deployment model; Use the exact Fortinet cloud deployment guide for the platform</a:t>
            </a:r>
          </a:p>
          <a:p>
            <a:endParaRPr lang="en-GB"/>
          </a:p>
          <a:p>
            <a:r>
              <a:rPr lang="en-GB"/>
              <a:t>Typical mistakes to surface: Building HA with mismatched firmware or modes; Assuming configuration sync means all sessions survive; Testing cloud HA with appliance assumptions</a:t>
            </a:r>
          </a:p>
          <a:p>
            <a:endParaRPr lang="en-GB"/>
          </a:p>
          <a:p>
            <a:r>
              <a:rPr lang="en-GB"/>
              <a:t>Official reference for instructor preparation: FortiGate/FortiOS 7.6.7 Administration Guide: FGCP HA; Primary election; Session pickup; HA troubleshooting. Model-specific and cloud-provider deployment guides required.</a:t>
            </a:r>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7–9 minutes. Protect the block’s practical/discussion reserve; skip optional slides when time is short.</a:t>
            </a:r>
          </a:p>
          <a:p>
            <a:endParaRPr lang="en-GB"/>
          </a:p>
          <a:p>
            <a:r>
              <a:rPr lang="en-GB"/>
              <a:t>Explanation: Record primary/secondary and sync state; Generate an eligible test session; Trigger one approved monitored failure; Measure role, packet loss and session result; Restore and confirm stable resynchronization</a:t>
            </a:r>
          </a:p>
          <a:p>
            <a:endParaRPr lang="en-GB"/>
          </a:p>
          <a:p>
            <a:r>
              <a:rPr lang="en-GB"/>
              <a:t>Typical mistakes to surface: Building HA with mismatched firmware or modes; Assuming configuration sync means all sessions survive; Testing cloud HA with appliance assumptions</a:t>
            </a:r>
          </a:p>
          <a:p>
            <a:endParaRPr lang="en-GB"/>
          </a:p>
          <a:p>
            <a:r>
              <a:rPr lang="en-GB"/>
              <a:t>Official reference for instructor preparation: FortiGate/FortiOS 7.6.7 Administration Guide: FGCP HA; Primary election; Session pickup; HA troubleshooting. Model-specific and cloud-provider deployment guides required.</a:t>
            </a:r>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 minutes. Protect the block’s practical/discussion reserve; skip optional slides when time is short.</a:t>
            </a:r>
          </a:p>
          <a:p>
            <a:endParaRPr lang="en-GB"/>
          </a:p>
          <a:p>
            <a:r>
              <a:rPr lang="en-GB"/>
              <a:t>Explanation: Building HA with mismatched firmware or modes; Assuming configuration sync means all sessions survive; Testing cloud HA with appliance assumptions</a:t>
            </a:r>
          </a:p>
          <a:p>
            <a:endParaRPr lang="en-GB"/>
          </a:p>
          <a:p>
            <a:r>
              <a:rPr lang="en-GB"/>
              <a:t>Typical mistakes to surface: Building HA with mismatched firmware or modes; Assuming configuration sync means all sessions survive; Testing cloud HA with appliance assumptions</a:t>
            </a:r>
          </a:p>
          <a:p>
            <a:endParaRPr lang="en-GB"/>
          </a:p>
          <a:p>
            <a:r>
              <a:rPr lang="en-GB"/>
              <a:t>Official reference for instructor preparation: FortiGate/FortiOS 7.6.7 Administration Guide: FGCP HA; Primary election; Session pickup; HA troubleshooting. Model-specific and cloud-provider deployment guides required.</a:t>
            </a:r>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5–7 minutes. Protect the block’s practical/discussion reserve; skip optional slides when time is short.</a:t>
            </a:r>
          </a:p>
          <a:p>
            <a:endParaRPr lang="en-GB"/>
          </a:p>
          <a:p>
            <a:r>
              <a:rPr lang="en-GB"/>
              <a:t>Explanation: Check member compatibility and heartbeat; Confirm role/election and sync checksums; Inspect monitored failure event; Separate role change from network convergence; Validate session/application recovery and resync</a:t>
            </a:r>
          </a:p>
          <a:p>
            <a:endParaRPr lang="en-GB"/>
          </a:p>
          <a:p>
            <a:r>
              <a:rPr lang="en-GB"/>
              <a:t>Typical mistakes to surface: Building HA with mismatched firmware or modes; Assuming configuration sync means all sessions survive; Testing cloud HA with appliance assumptions</a:t>
            </a:r>
          </a:p>
          <a:p>
            <a:endParaRPr lang="en-GB"/>
          </a:p>
          <a:p>
            <a:r>
              <a:rPr lang="en-GB"/>
              <a:t>Official reference for instructor preparation: FortiGate/FortiOS 7.6.7 Administration Guide: FGCP HA; Primary election; Session pickup; HA troubleshooting. Model-specific and cloud-provider deployment guides required.</a:t>
            </a:r>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Default delivery: theory plus event/configuration analysis. Use a live demonstration only with a dedicated instructor HA pair.</a:t>
            </a:r>
          </a:p>
          <a:p>
            <a:r>
              <a:rPr lang="en-GB"/>
              <a:t>Preparation for live demo: compatible pair, heartbeat links, synchronized config, monitored interface and recovery plan. Do not reuse student base units as an assumed pair.</a:t>
            </a:r>
          </a:p>
          <a:p>
            <a:r>
              <a:rPr lang="en-GB"/>
              <a:t>Answer key: identify primary/secondary, sync state, election/failover trigger and session impact. Azure FGVM observations are distinct from physical FGCP/NP/CP behavior.</a:t>
            </a:r>
          </a:p>
          <a:p>
            <a:r>
              <a:rPr lang="en-GB"/>
              <a:t>Reset demo pair to healthy synchronized state.</a:t>
            </a:r>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5–7 minutes. Protect the block’s practical/discussion reserve; skip optional slides when time is short.</a:t>
            </a:r>
          </a:p>
          <a:p>
            <a:endParaRPr lang="en-GB"/>
          </a:p>
          <a:p>
            <a:r>
              <a:rPr lang="en-GB"/>
              <a:t>Explanation: What is the heartbeat used for?; Why can traffic remain interrupted after the secondary becomes primary?</a:t>
            </a:r>
          </a:p>
          <a:p>
            <a:endParaRPr lang="en-GB"/>
          </a:p>
          <a:p>
            <a:r>
              <a:rPr lang="en-GB"/>
              <a:t>Typical mistakes to surface: Building HA with mismatched firmware or modes; Assuming configuration sync means all sessions survive; Testing cloud HA with appliance assumptions</a:t>
            </a:r>
          </a:p>
          <a:p>
            <a:endParaRPr lang="en-GB"/>
          </a:p>
          <a:p>
            <a:r>
              <a:rPr lang="en-GB"/>
              <a:t>Official reference for instructor preparation: FortiGate/FortiOS 7.6.7 Administration Guide: FGCP HA; Primary election; Session pickup; HA troubleshooting. Model-specific and cloud-provider deployment guides required.</a:t>
            </a:r>
          </a:p>
          <a:p>
            <a:endParaRPr lang="en-GB"/>
          </a:p>
          <a:p>
            <a:r>
              <a:rPr lang="en-GB"/>
              <a:t>Knowledge check answer key:</a:t>
            </a:r>
          </a:p>
          <a:p>
            <a:endParaRPr lang="en-GB"/>
          </a:p>
          <a:p>
            <a:r>
              <a:rPr lang="en-GB"/>
              <a:t>Q: What is the heartbeat used for?</a:t>
            </a:r>
          </a:p>
          <a:p>
            <a:r>
              <a:rPr lang="en-GB"/>
              <a:t>A: Member health, election and synchronization/control exchange between cluster units.</a:t>
            </a:r>
          </a:p>
          <a:p>
            <a:endParaRPr lang="en-GB"/>
          </a:p>
          <a:p>
            <a:r>
              <a:rPr lang="en-GB"/>
              <a:t>Q: Why can traffic remain interrupted after the secondary becomes primary?</a:t>
            </a:r>
          </a:p>
          <a:p>
            <a:r>
              <a:rPr lang="en-GB"/>
              <a:t>A: Adjacent network convergence, unsynchronized sessions or dependent routing/security state may still be recovering.</a:t>
            </a:r>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3 minutes. Protect the block’s practical/discussion reserve; skip optional slides when time is short.</a:t>
            </a:r>
          </a:p>
          <a:p>
            <a:endParaRPr lang="en-GB"/>
          </a:p>
          <a:p>
            <a:r>
              <a:rPr lang="en-GB"/>
              <a:t>Explanation: Build SD-WAN from members, zones, health checks and rules; Predict SLA-based application path selection and failover; Place FortiAnalyzer, FortiManager and security services without inventing entitlements</a:t>
            </a:r>
          </a:p>
          <a:p>
            <a:endParaRPr lang="en-GB"/>
          </a:p>
          <a:p>
            <a:r>
              <a:rPr lang="en-GB"/>
              <a:t>Typical mistakes to surface: Probing only the local gateway; Expecting an existing session to move seamlessly; Assuming FortiAnalyzer or FortiManager is included/licensed</a:t>
            </a:r>
          </a:p>
          <a:p>
            <a:endParaRPr lang="en-GB"/>
          </a:p>
          <a:p>
            <a:r>
              <a:rPr lang="en-GB"/>
              <a:t>Official reference for instructor preparation: FortiGate/FortiOS 7.6.7 Administration Guide: SD-WAN members/zones; Performance SLA; SD-WAN rules; Diagnostics. Official FortiManager, FortiAnalyzer and FortiGuard service documentation for current licensing.</a:t>
            </a:r>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Illustrative values only. Expected result: before degradation, the new voice session uses ISP-A; after ISP-A fails the stated SLA, a new session uses ISP-B. Confirm actual egress in SD-WAN service state and session output. Source: FortiOS 7.6.7 Administration Guide — SD-WAN performance SLA and rules.</a:t>
            </a:r>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4–6 minutes. Protect the block’s practical/discussion reserve; skip optional slides when time is short.</a:t>
            </a:r>
          </a:p>
          <a:p>
            <a:endParaRPr lang="en-GB"/>
          </a:p>
          <a:p>
            <a:r>
              <a:rPr lang="en-GB"/>
              <a:t>Explanation: Target should represent the path/service dependency, not only the next-hop router; Latency, jitter and packet loss thresholds define SLA state as supported; Probe interval/fail/recovery settings trade responsiveness against instability; Multiple targets can reduce false positives but complicate interpretation</a:t>
            </a:r>
          </a:p>
          <a:p>
            <a:endParaRPr lang="en-GB"/>
          </a:p>
          <a:p>
            <a:r>
              <a:rPr lang="en-GB"/>
              <a:t>Typical mistakes to surface: Probing only the local gateway; Expecting an existing session to move seamlessly; Assuming FortiAnalyzer or FortiManager is included/licensed</a:t>
            </a:r>
          </a:p>
          <a:p>
            <a:endParaRPr lang="en-GB"/>
          </a:p>
          <a:p>
            <a:r>
              <a:rPr lang="en-GB"/>
              <a:t>Official reference for instructor preparation: FortiGate/FortiOS 7.6.7 Administration Guide: SD-WAN members/zones; Performance SLA; SD-WAN rules; Diagnostics. Official FortiManager, FortiAnalyzer and FortiGuard service documentation for current licensing.</a:t>
            </a:r>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4–6 minutes. Protect the block’s practical/discussion reserve; skip optional slides when time is short.</a:t>
            </a:r>
          </a:p>
          <a:p>
            <a:endParaRPr lang="en-GB"/>
          </a:p>
          <a:p>
            <a:r>
              <a:rPr lang="en-GB"/>
              <a:t>Explanation: A member can be up but out of SLA; Rules can prefer, balance or choose based on quality/cost strategies as supported; Hysteresis/recovery behavior prevents oscillation; Existing sessions may remain pinned while new sessions choose differently</a:t>
            </a:r>
          </a:p>
          <a:p>
            <a:endParaRPr lang="en-GB"/>
          </a:p>
          <a:p>
            <a:r>
              <a:rPr lang="en-GB"/>
              <a:t>Typical mistakes to surface: Probing only the local gateway; Expecting an existing session to move seamlessly; Assuming FortiAnalyzer or FortiManager is included/licensed</a:t>
            </a:r>
          </a:p>
          <a:p>
            <a:endParaRPr lang="en-GB"/>
          </a:p>
          <a:p>
            <a:r>
              <a:rPr lang="en-GB"/>
              <a:t>Official reference for instructor preparation: FortiGate/FortiOS 7.6.7 Administration Guide: SD-WAN members/zones; Performance SLA; SD-WAN rules; Diagnostics. Official FortiManager, FortiAnalyzer and FortiGuard service documentation for current licensing.</a:t>
            </a:r>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4–6 minutes. Protect the block’s practical/discussion reserve; skip optional slides when time is short.</a:t>
            </a:r>
          </a:p>
          <a:p>
            <a:endParaRPr lang="en-GB"/>
          </a:p>
          <a:p>
            <a:r>
              <a:rPr lang="en-GB"/>
              <a:t>Explanation: Rules can use address/service/application constructs depending on design; Application identity may be learned after initial packets; Fallback/default rule must be intentional; Security profiles and SSL visibility affect application identification</a:t>
            </a:r>
          </a:p>
          <a:p>
            <a:endParaRPr lang="en-GB"/>
          </a:p>
          <a:p>
            <a:r>
              <a:rPr lang="en-GB"/>
              <a:t>Typical mistakes to surface: Probing only the local gateway; Expecting an existing session to move seamlessly; Assuming FortiAnalyzer or FortiManager is included/licensed</a:t>
            </a:r>
          </a:p>
          <a:p>
            <a:endParaRPr lang="en-GB"/>
          </a:p>
          <a:p>
            <a:r>
              <a:rPr lang="en-GB"/>
              <a:t>Official reference for instructor preparation: FortiGate/FortiOS 7.6.7 Administration Guide: SD-WAN members/zones; Performance SLA; SD-WAN rules; Diagnostics. Official FortiManager, FortiAnalyzer and FortiGuard service documentation for current licensing.</a:t>
            </a:r>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4–6 minutes. Protect the block’s practical/discussion reserve; skip optional slides when time is short.</a:t>
            </a:r>
          </a:p>
          <a:p>
            <a:endParaRPr lang="en-GB"/>
          </a:p>
          <a:p>
            <a:r>
              <a:rPr lang="en-GB"/>
              <a:t>Explanation: Probe detects threshold breach; Rule removes or de-prioritizes member; New sessions select another eligible path; Existing session continuity depends on NAT, remote state and design</a:t>
            </a:r>
          </a:p>
          <a:p>
            <a:endParaRPr lang="en-GB"/>
          </a:p>
          <a:p>
            <a:r>
              <a:rPr lang="en-GB"/>
              <a:t>Typical mistakes to surface: Probing only the local gateway; Expecting an existing session to move seamlessly; Assuming FortiAnalyzer or FortiManager is included/licensed</a:t>
            </a:r>
          </a:p>
          <a:p>
            <a:endParaRPr lang="en-GB"/>
          </a:p>
          <a:p>
            <a:r>
              <a:rPr lang="en-GB"/>
              <a:t>Official reference for instructor preparation: FortiGate/FortiOS 7.6.7 Administration Guide: SD-WAN members/zones; Performance SLA; SD-WAN rules; Diagnostics. Official FortiManager, FortiAnalyzer and FortiGuard service documentation for current licensing.</a:t>
            </a:r>
          </a:p>
        </p:txBody>
      </p:sp>
      <p:sp>
        <p:nvSpPr>
          <p:cNvPr id="4" name="Slide Number Placeholder 3"/>
          <p:cNvSpPr>
            <a:spLocks noGrp="1"/>
          </p:cNvSpPr>
          <p:nvPr>
            <p:ph type="sldNum" sz="quarter" idx="10"/>
          </p:nvPr>
        </p:nvSpPr>
        <p:spPr/>
        <p:txBody>
          <a:bodyPr/>
          <a:lstStyle/>
          <a:p>
            <a:fld id="{F7021451-1387-4CA6-816F-3879F97B5CBC}" type="slidenum">
              <a:rPr lang="en-US"/>
              <a:t>167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4–6 minutes. Protect the block’s practical/discussion reserve; skip optional slides when time is short.</a:t>
            </a:r>
          </a:p>
          <a:p>
            <a:endParaRPr lang="en-GB"/>
          </a:p>
          <a:p>
            <a:r>
              <a:rPr lang="en-GB"/>
              <a:t>Explanation: Check member/health-check state; Confirm rule match and priority/strategy; Inspect route/policy/session chosen interface; Capture packets at candidate egresses; Correlate traffic logs with SLA events</a:t>
            </a:r>
          </a:p>
          <a:p>
            <a:endParaRPr lang="en-GB"/>
          </a:p>
          <a:p>
            <a:r>
              <a:rPr lang="en-GB"/>
              <a:t>Typical mistakes to surface: Probing only the local gateway; Expecting an existing session to move seamlessly; Assuming FortiAnalyzer or FortiManager is included/licensed</a:t>
            </a:r>
          </a:p>
          <a:p>
            <a:endParaRPr lang="en-GB"/>
          </a:p>
          <a:p>
            <a:r>
              <a:rPr lang="en-GB"/>
              <a:t>Official reference for instructor preparation: FortiGate/FortiOS 7.6.7 Administration Guide: SD-WAN members/zones; Performance SLA; SD-WAN rules; Diagnostics. Official FortiManager, FortiAnalyzer and FortiGuard service documentation for current licensing.</a:t>
            </a:r>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4–6 minutes. Protect the block’s practical/discussion reserve; skip optional slides when time is short.</a:t>
            </a:r>
          </a:p>
          <a:p>
            <a:endParaRPr lang="en-GB"/>
          </a:p>
          <a:p>
            <a:r>
              <a:rPr lang="en-GB"/>
              <a:t>Explanation: FortiAnalyzer centralizes logs, analytics and reporting workflows; FortiManager centralizes configuration, policy packages and controlled deployment; FortiOS includes local management, routing, SD-WAN and security capabilities subject to platform/build; Security services and cloud subscriptions add update/intelligence/management value; exact entitlement must be verified</a:t>
            </a:r>
          </a:p>
          <a:p>
            <a:endParaRPr lang="en-GB"/>
          </a:p>
          <a:p>
            <a:r>
              <a:rPr lang="en-GB"/>
              <a:t>Typical mistakes to surface: Probing only the local gateway; Expecting an existing session to move seamlessly; Assuming FortiAnalyzer or FortiManager is included/licensed</a:t>
            </a:r>
          </a:p>
          <a:p>
            <a:endParaRPr lang="en-GB"/>
          </a:p>
          <a:p>
            <a:r>
              <a:rPr lang="en-GB"/>
              <a:t>Official reference for instructor preparation: FortiGate/FortiOS 7.6.7 Administration Guide: SD-WAN members/zones; Performance SLA; SD-WAN rules; Diagnostics. Official FortiManager, FortiAnalyzer and FortiGuard service documentation for current licensing.</a:t>
            </a:r>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[OPTIONAL DEEP DIVE] Stable ID: D4-B15-S170</a:t>
            </a:r>
          </a:p>
          <a:p>
            <a:endParaRPr lang="en-GB"/>
          </a:p>
          <a:p>
            <a:r>
              <a:rPr lang="en-GB"/>
              <a:t>Approximate timing: 4–6 minutes. Protect the block’s practical/discussion reserve; skip optional slides when time is short.</a:t>
            </a:r>
          </a:p>
          <a:p>
            <a:endParaRPr lang="en-GB"/>
          </a:p>
          <a:p>
            <a:r>
              <a:rPr lang="en-GB"/>
              <a:t>Explanation: Base FortiOS feature availability varies by model/release; FortiGuard services require relevant subscriptions and connectivity; Manager/analyzer cloud/on-prem offerings have separate sizing and licensing; Avoid promising retention, device counts or service entitlement without current documentation</a:t>
            </a:r>
          </a:p>
          <a:p>
            <a:endParaRPr lang="en-GB"/>
          </a:p>
          <a:p>
            <a:r>
              <a:rPr lang="en-GB"/>
              <a:t>Typical mistakes to surface: Probing only the local gateway; Expecting an existing session to move seamlessly; Assuming FortiAnalyzer or FortiManager is included/licensed</a:t>
            </a:r>
          </a:p>
          <a:p>
            <a:endParaRPr lang="en-GB"/>
          </a:p>
          <a:p>
            <a:r>
              <a:rPr lang="en-GB"/>
              <a:t>Official reference for instructor preparation: FortiGate/FortiOS 7.6.7 Administration Guide: SD-WAN members/zones; Performance SLA; SD-WAN rules; Diagnostics. Official FortiManager, FortiAnalyzer and FortiGuard service documentation for current licensing.</a:t>
            </a:r>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Expected result: ISP-A reports out-of-SLA values, the voice rule selects ISP-B, and a new session shows ISP-B as egress with the expected source NAT. Source: FortiOS 7.6.7 Administration Guide — SD-WAN diagnostics and session verification.</a:t>
            </a:r>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 minutes. Protect the block’s practical/discussion reserve; skip optional slides when time is short.</a:t>
            </a:r>
          </a:p>
          <a:p>
            <a:endParaRPr lang="en-GB"/>
          </a:p>
          <a:p>
            <a:r>
              <a:rPr lang="en-GB"/>
              <a:t>Explanation: Probing only the local gateway; Expecting an existing session to move seamlessly; Assuming FortiAnalyzer or FortiManager is included/licensed</a:t>
            </a:r>
          </a:p>
          <a:p>
            <a:endParaRPr lang="en-GB"/>
          </a:p>
          <a:p>
            <a:r>
              <a:rPr lang="en-GB"/>
              <a:t>Typical mistakes to surface: Probing only the local gateway; Expecting an existing session to move seamlessly; Assuming FortiAnalyzer or FortiManager is included/licensed</a:t>
            </a:r>
          </a:p>
          <a:p>
            <a:endParaRPr lang="en-GB"/>
          </a:p>
          <a:p>
            <a:r>
              <a:rPr lang="en-GB"/>
              <a:t>Official reference for instructor preparation: FortiGate/FortiOS 7.6.7 Administration Guide: SD-WAN members/zones; Performance SLA; SD-WAN rules; Diagnostics. Official FortiManager, FortiAnalyzer and FortiGuard service documentation for current licensing.</a:t>
            </a:r>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5–7 minutes. Protect the block’s practical/discussion reserve; skip optional slides when time is short.</a:t>
            </a:r>
          </a:p>
          <a:p>
            <a:endParaRPr lang="en-GB"/>
          </a:p>
          <a:p>
            <a:r>
              <a:rPr lang="en-GB"/>
              <a:t>Explanation: Check member/link and probe reachability; Review SLA raw values and threshold state; Confirm matched SD-WAN rule; Inspect route, policy, session and NAT egress; Capture both links; test new session and recovery</a:t>
            </a:r>
          </a:p>
          <a:p>
            <a:endParaRPr lang="en-GB"/>
          </a:p>
          <a:p>
            <a:r>
              <a:rPr lang="en-GB"/>
              <a:t>Typical mistakes to surface: Probing only the local gateway; Expecting an existing session to move seamlessly; Assuming FortiAnalyzer or FortiManager is included/licensed</a:t>
            </a:r>
          </a:p>
          <a:p>
            <a:endParaRPr lang="en-GB"/>
          </a:p>
          <a:p>
            <a:r>
              <a:rPr lang="en-GB"/>
              <a:t>Official reference for instructor preparation: FortiGate/FortiOS 7.6.7 Administration Guide: SD-WAN members/zones; Performance SLA; SD-WAN rules; Diagnostics. Official FortiManager, FortiAnalyzer and FortiGuard service documentation for current licensing.</a:t>
            </a:r>
          </a:p>
        </p:txBody>
      </p:sp>
      <p:sp>
        <p:nvSpPr>
          <p:cNvPr id="4" name="Slide Number Placeholder 3"/>
          <p:cNvSpPr>
            <a:spLocks noGrp="1"/>
          </p:cNvSpPr>
          <p:nvPr>
            <p:ph type="sldNum" sz="quarter" idx="10"/>
          </p:nvPr>
        </p:nvSpPr>
        <p:spPr/>
        <p:txBody>
          <a:bodyPr/>
          <a:lstStyle/>
          <a:p>
            <a:fld id="{F7021451-1387-4CA6-816F-3879F97B5CBC}" type="slidenum">
              <a:rPr lang="en-US"/>
              <a:t>173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Default delivery: worked SD-WAN path-selection scenarios.</a:t>
            </a:r>
          </a:p>
          <a:p>
            <a:r>
              <a:rPr lang="en-GB"/>
              <a:t>Base lab has one controllable path. Hands-on is an optional extension only when a second independently controllable path exists.</a:t>
            </a:r>
          </a:p>
          <a:p>
            <a:r>
              <a:rPr lang="en-GB"/>
              <a:t>Answer key: health-check result changes member eligibility; rule chooses among eligible members; a new session confirms actual egress and NAT. Existing sessions may not move.</a:t>
            </a:r>
          </a:p>
          <a:p>
            <a:r>
              <a:rPr lang="en-GB"/>
              <a:t>FortiAnalyzer/FortiManager are architecture and operational positioning only; no appliance is assumed.</a:t>
            </a:r>
          </a:p>
          <a:p>
            <a:r>
              <a:rPr lang="en-GB"/>
              <a:t>Reset optional SLA/rule changes and preserve shared Internet breakout.</a:t>
            </a:r>
          </a:p>
        </p:txBody>
      </p:sp>
      <p:sp>
        <p:nvSpPr>
          <p:cNvPr id="4" name="Slide Number Placeholder 3"/>
          <p:cNvSpPr>
            <a:spLocks noGrp="1"/>
          </p:cNvSpPr>
          <p:nvPr>
            <p:ph type="sldNum" sz="quarter" idx="10"/>
          </p:nvPr>
        </p:nvSpPr>
        <p:spPr/>
        <p:txBody>
          <a:bodyPr/>
          <a:lstStyle/>
          <a:p>
            <a:fld id="{F7021451-1387-4CA6-816F-3879F97B5CBC}" type="slidenum">
              <a:rPr lang="en-US"/>
              <a:t>174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5–7 minutes. Protect the block’s practical/discussion reserve; skip optional slides when time is short.</a:t>
            </a:r>
          </a:p>
          <a:p>
            <a:endParaRPr lang="en-GB"/>
          </a:p>
          <a:p>
            <a:r>
              <a:rPr lang="en-GB"/>
              <a:t>Explanation: What is the difference between a member being up and in SLA?; What proves the selected path?</a:t>
            </a:r>
          </a:p>
          <a:p>
            <a:endParaRPr lang="en-GB"/>
          </a:p>
          <a:p>
            <a:r>
              <a:rPr lang="en-GB"/>
              <a:t>Typical mistakes to surface: Probing only the local gateway; Expecting an existing session to move seamlessly; Assuming FortiAnalyzer or FortiManager is included/licensed</a:t>
            </a:r>
          </a:p>
          <a:p>
            <a:endParaRPr lang="en-GB"/>
          </a:p>
          <a:p>
            <a:r>
              <a:rPr lang="en-GB"/>
              <a:t>Official reference for instructor preparation: FortiGate/FortiOS 7.6.7 Administration Guide: SD-WAN members/zones; Performance SLA; SD-WAN rules; Diagnostics. Official FortiManager, FortiAnalyzer and FortiGuard service documentation for current licensing.</a:t>
            </a:r>
          </a:p>
          <a:p>
            <a:endParaRPr lang="en-GB"/>
          </a:p>
          <a:p>
            <a:r>
              <a:rPr lang="en-GB"/>
              <a:t>Knowledge check answer key:</a:t>
            </a:r>
          </a:p>
          <a:p>
            <a:endParaRPr lang="en-GB"/>
          </a:p>
          <a:p>
            <a:r>
              <a:rPr lang="en-GB"/>
              <a:t>Q: What is the difference between a member being up and in SLA?</a:t>
            </a:r>
          </a:p>
          <a:p>
            <a:r>
              <a:rPr lang="en-GB"/>
              <a:t>A: Up indicates basic availability; in-SLA means measured criteria meet the rule’s thresholds.</a:t>
            </a:r>
          </a:p>
          <a:p>
            <a:endParaRPr lang="en-GB"/>
          </a:p>
          <a:p>
            <a:r>
              <a:rPr lang="en-GB"/>
              <a:t>Q: What proves the selected path?</a:t>
            </a:r>
          </a:p>
          <a:p>
            <a:r>
              <a:rPr lang="en-GB"/>
              <a:t>A: Rule/service state plus session egress/NAT and packet or traffic-log state/output on the chosen member.</a:t>
            </a:r>
          </a:p>
        </p:txBody>
      </p:sp>
      <p:sp>
        <p:nvSpPr>
          <p:cNvPr id="4" name="Slide Number Placeholder 3"/>
          <p:cNvSpPr>
            <a:spLocks noGrp="1"/>
          </p:cNvSpPr>
          <p:nvPr>
            <p:ph type="sldNum" sz="quarter" idx="10"/>
          </p:nvPr>
        </p:nvSpPr>
        <p:spPr/>
        <p:txBody>
          <a:bodyPr/>
          <a:lstStyle/>
          <a:p>
            <a:fld id="{F7021451-1387-4CA6-816F-3879F97B5CBC}" type="slidenum">
              <a:rPr lang="en-US"/>
              <a:t>175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3 minutes. Protect the block’s practical/discussion reserve; skip optional slides when time is short.</a:t>
            </a:r>
          </a:p>
          <a:p>
            <a:endParaRPr lang="en-GB"/>
          </a:p>
          <a:p>
            <a:r>
              <a:rPr lang="en-GB"/>
              <a:t>Explanation: Relate session scale, offload, inspection and resource use; Troubleshoot CPU, memory and Conserve Mode from state/output; Complete an integrated policy/routing/VPN/SD-WAN capstone</a:t>
            </a:r>
          </a:p>
          <a:p>
            <a:endParaRPr lang="en-GB"/>
          </a:p>
          <a:p>
            <a:r>
              <a:rPr lang="en-GB"/>
              <a:t>Typical mistakes to surface: Changing policy, route and tunnel simultaneously; Clearing sessions or restarting before preserving state/output; Using a VM result to claim appliance offload/capacity</a:t>
            </a:r>
          </a:p>
          <a:p>
            <a:endParaRPr lang="en-GB"/>
          </a:p>
          <a:p>
            <a:r>
              <a:rPr lang="en-GB"/>
              <a:t>Official reference for instructor preparation: FortiGate/FortiOS 7.6.7 Administration Guide: System performance; Sessions; Hardware acceleration; Conserve Mode; SSL inspection; Troubleshooting. Exact model hardware guide, CLI Reference and release notes required.</a:t>
            </a:r>
          </a:p>
        </p:txBody>
      </p:sp>
      <p:sp>
        <p:nvSpPr>
          <p:cNvPr id="4" name="Slide Number Placeholder 3"/>
          <p:cNvSpPr>
            <a:spLocks noGrp="1"/>
          </p:cNvSpPr>
          <p:nvPr>
            <p:ph type="sldNum" sz="quarter" idx="10"/>
          </p:nvPr>
        </p:nvSpPr>
        <p:spPr/>
        <p:txBody>
          <a:bodyPr/>
          <a:lstStyle/>
          <a:p>
            <a:fld id="{F7021451-1387-4CA6-816F-3879F97B5CBC}" type="slidenum">
              <a:rPr lang="en-US"/>
              <a:t>176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4–6 minutes. Protect the block’s practical/discussion reserve; skip optional slides when time is short.</a:t>
            </a:r>
          </a:p>
          <a:p>
            <a:endParaRPr lang="en-GB"/>
          </a:p>
          <a:p>
            <a:r>
              <a:rPr lang="en-GB"/>
              <a:t>Explanation: Concurrent sessions differ from new sessions per second; Long-lived, idle and half-open sessions consume different operational attention; NAT, inspection and logging add state/resources; Use model datasheet and measured baseline; never copy a generic maximum into design</a:t>
            </a:r>
          </a:p>
          <a:p>
            <a:endParaRPr lang="en-GB"/>
          </a:p>
          <a:p>
            <a:r>
              <a:rPr lang="en-GB"/>
              <a:t>Typical mistakes to surface: Changing policy, route and tunnel simultaneously; Clearing sessions or restarting before preserving state/output; Using a VM result to claim appliance offload/capacity</a:t>
            </a:r>
          </a:p>
          <a:p>
            <a:endParaRPr lang="en-GB"/>
          </a:p>
          <a:p>
            <a:r>
              <a:rPr lang="en-GB"/>
              <a:t>Official reference for instructor preparation: FortiGate/FortiOS 7.6.7 Administration Guide: System performance; Sessions; Hardware acceleration; Conserve Mode; SSL inspection; Troubleshooting. Exact model hardware guide, CLI Reference and release notes required.</a:t>
            </a:r>
          </a:p>
        </p:txBody>
      </p:sp>
      <p:sp>
        <p:nvSpPr>
          <p:cNvPr id="4" name="Slide Number Placeholder 3"/>
          <p:cNvSpPr>
            <a:spLocks noGrp="1"/>
          </p:cNvSpPr>
          <p:nvPr>
            <p:ph type="sldNum" sz="quarter" idx="10"/>
          </p:nvPr>
        </p:nvSpPr>
        <p:spPr/>
        <p:txBody>
          <a:bodyPr/>
          <a:lstStyle/>
          <a:p>
            <a:fld id="{F7021451-1387-4CA6-816F-3879F97B5CBC}" type="slidenum">
              <a:rPr lang="en-US"/>
              <a:t>177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[OPTIONAL DEEP DIVE] Stable ID: D4-B16-S178</a:t>
            </a:r>
          </a:p>
          <a:p>
            <a:endParaRPr lang="en-GB"/>
          </a:p>
          <a:p>
            <a:r>
              <a:rPr lang="en-GB"/>
              <a:t>Approximate timing: 4–6 minutes. Protect the block’s practical/discussion reserve; skip optional slides when time is short.</a:t>
            </a:r>
          </a:p>
          <a:p>
            <a:endParaRPr lang="en-GB"/>
          </a:p>
          <a:p>
            <a:r>
              <a:rPr lang="en-GB"/>
              <a:t>Explanation: Check whether the session and enabled features are eligible; First packets and exception traffic can remain on CPU; VM acceleration uses hypervisor/cloud mechanisms rather than appliance NP/CP; A no-offload flag is state/output to investigate, not automatic misconfiguration</a:t>
            </a:r>
          </a:p>
          <a:p>
            <a:endParaRPr lang="en-GB"/>
          </a:p>
          <a:p>
            <a:r>
              <a:rPr lang="en-GB"/>
              <a:t>Typical mistakes to surface: Changing policy, route and tunnel simultaneously; Clearing sessions or restarting before preserving state/output; Using a VM result to claim appliance offload/capacity</a:t>
            </a:r>
          </a:p>
          <a:p>
            <a:endParaRPr lang="en-GB"/>
          </a:p>
          <a:p>
            <a:r>
              <a:rPr lang="en-GB"/>
              <a:t>Official reference for instructor preparation: FortiGate/FortiOS 7.6.7 Administration Guide: System performance; Sessions; Hardware acceleration; Conserve Mode; SSL inspection; Troubleshooting. Exact model hardware guide, CLI Reference and release notes required.</a:t>
            </a:r>
          </a:p>
        </p:txBody>
      </p:sp>
      <p:sp>
        <p:nvSpPr>
          <p:cNvPr id="4" name="Slide Number Placeholder 3"/>
          <p:cNvSpPr>
            <a:spLocks noGrp="1"/>
          </p:cNvSpPr>
          <p:nvPr>
            <p:ph type="sldNum" sz="quarter" idx="10"/>
          </p:nvPr>
        </p:nvSpPr>
        <p:spPr/>
        <p:txBody>
          <a:bodyPr/>
          <a:lstStyle/>
          <a:p>
            <a:fld id="{F7021451-1387-4CA6-816F-3879F97B5CBC}" type="slidenum">
              <a:rPr lang="en-US"/>
              <a:t>178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4–6 minutes. Protect the block’s practical/discussion reserve; skip optional slides when time is short.</a:t>
            </a:r>
          </a:p>
          <a:p>
            <a:endParaRPr lang="en-GB"/>
          </a:p>
          <a:p>
            <a:r>
              <a:rPr lang="en-GB"/>
              <a:t>Explanation: Identify whether load is sustained or bursty; Locate responsible processes/cores and traffic changes; Correlate policy/profile, routing events, logging and session setup; Avoid restarting before preserving state/output and understanding impact</a:t>
            </a:r>
          </a:p>
          <a:p>
            <a:endParaRPr lang="en-GB"/>
          </a:p>
          <a:p>
            <a:r>
              <a:rPr lang="en-GB"/>
              <a:t>Typical mistakes to surface: Changing policy, route and tunnel simultaneously; Clearing sessions or restarting before preserving state/output; Using a VM result to claim appliance offload/capacity</a:t>
            </a:r>
          </a:p>
          <a:p>
            <a:endParaRPr lang="en-GB"/>
          </a:p>
          <a:p>
            <a:r>
              <a:rPr lang="en-GB"/>
              <a:t>Official reference for instructor preparation: FortiGate/FortiOS 7.6.7 Administration Guide: System performance; Sessions; Hardware acceleration; Conserve Mode; SSL inspection; Troubleshooting. Exact model hardware guide, CLI Reference and release notes required.</a:t>
            </a:r>
          </a:p>
        </p:txBody>
      </p:sp>
      <p:sp>
        <p:nvSpPr>
          <p:cNvPr id="4" name="Slide Number Placeholder 3"/>
          <p:cNvSpPr>
            <a:spLocks noGrp="1"/>
          </p:cNvSpPr>
          <p:nvPr>
            <p:ph type="sldNum" sz="quarter" idx="10"/>
          </p:nvPr>
        </p:nvSpPr>
        <p:spPr/>
        <p:txBody>
          <a:bodyPr/>
          <a:lstStyle/>
          <a:p>
            <a:fld id="{F7021451-1387-4CA6-816F-3879F97B5CBC}" type="slidenum">
              <a:rPr lang="en-US"/>
              <a:t>179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4–6 minutes. Protect the block’s practical/discussion reserve; skip optional slides when time is short.</a:t>
            </a:r>
          </a:p>
          <a:p>
            <a:endParaRPr lang="en-GB"/>
          </a:p>
          <a:p>
            <a:r>
              <a:rPr lang="en-GB"/>
              <a:t>Explanation: Track used memory, proxy buffers, sessions and process growth; Conserve Mode is triggered by system memory thresholds and protects stability; Entry/exit thresholds and behavior must be confirmed for exact build/model; A reboot removes state/output and may only postpone recurrence</a:t>
            </a:r>
          </a:p>
          <a:p>
            <a:endParaRPr lang="en-GB"/>
          </a:p>
          <a:p>
            <a:r>
              <a:rPr lang="en-GB"/>
              <a:t>Typical mistakes to surface: Changing policy, route and tunnel simultaneously; Clearing sessions or restarting before preserving state/output; Using a VM result to claim appliance offload/capacity</a:t>
            </a:r>
          </a:p>
          <a:p>
            <a:endParaRPr lang="en-GB"/>
          </a:p>
          <a:p>
            <a:r>
              <a:rPr lang="en-GB"/>
              <a:t>Official reference for instructor preparation: FortiGate/FortiOS 7.6.7 Administration Guide: System performance; Sessions; Hardware acceleration; Conserve Mode; SSL inspection; Troubleshooting. Exact model hardware guide, CLI Reference and release notes required.</a:t>
            </a:r>
          </a:p>
        </p:txBody>
      </p:sp>
      <p:sp>
        <p:nvSpPr>
          <p:cNvPr id="4" name="Slide Number Placeholder 3"/>
          <p:cNvSpPr>
            <a:spLocks noGrp="1"/>
          </p:cNvSpPr>
          <p:nvPr>
            <p:ph type="sldNum" sz="quarter" idx="10"/>
          </p:nvPr>
        </p:nvSpPr>
        <p:spPr/>
        <p:txBody>
          <a:bodyPr/>
          <a:lstStyle/>
          <a:p>
            <a:fld id="{F7021451-1387-4CA6-816F-3879F97B5CBC}" type="slidenum">
              <a:rPr lang="en-US"/>
              <a:t>180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4–6 minutes. Protect the block’s practical/discussion reserve; skip optional slides when time is short.</a:t>
            </a:r>
          </a:p>
          <a:p>
            <a:endParaRPr lang="en-GB"/>
          </a:p>
          <a:p>
            <a:r>
              <a:rPr lang="en-GB"/>
              <a:t>Explanation: First protect stability and reduce unsafe load; Identify whether sessions, proxy inspection or a process dominates; Apply scoped mitigation and monitor exit/re-entry; Escalate with state/output when leak/defect is suspected</a:t>
            </a:r>
          </a:p>
          <a:p>
            <a:endParaRPr lang="en-GB"/>
          </a:p>
          <a:p>
            <a:r>
              <a:rPr lang="en-GB"/>
              <a:t>Typical mistakes to surface: Changing policy, route and tunnel simultaneously; Clearing sessions or restarting before preserving state/output; Using a VM result to claim appliance offload/capacity</a:t>
            </a:r>
          </a:p>
          <a:p>
            <a:endParaRPr lang="en-GB"/>
          </a:p>
          <a:p>
            <a:r>
              <a:rPr lang="en-GB"/>
              <a:t>Official reference for instructor preparation: FortiGate/FortiOS 7.6.7 Administration Guide: System performance; Sessions; Hardware acceleration; Conserve Mode; SSL inspection; Troubleshooting. Exact model hardware guide, CLI Reference and release notes required.</a:t>
            </a:r>
          </a:p>
        </p:txBody>
      </p:sp>
      <p:sp>
        <p:nvSpPr>
          <p:cNvPr id="4" name="Slide Number Placeholder 3"/>
          <p:cNvSpPr>
            <a:spLocks noGrp="1"/>
          </p:cNvSpPr>
          <p:nvPr>
            <p:ph type="sldNum" sz="quarter" idx="10"/>
          </p:nvPr>
        </p:nvSpPr>
        <p:spPr/>
        <p:txBody>
          <a:bodyPr/>
          <a:lstStyle/>
          <a:p>
            <a:fld id="{F7021451-1387-4CA6-816F-3879F97B5CBC}" type="slidenum">
              <a:rPr lang="en-US"/>
              <a:t>181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4–6 minutes. Protect the block’s practical/discussion reserve; skip optional slides when time is short.</a:t>
            </a:r>
          </a:p>
          <a:p>
            <a:endParaRPr lang="en-GB"/>
          </a:p>
          <a:p>
            <a:r>
              <a:rPr lang="en-GB"/>
              <a:t>Explanation: Deep inspection adds TLS termination, certificate generation and content scanning; Cipher suites, key sizes, session resumption and traffic mix affect cost; Certificate inspection has lower visibility and generally lower processing cost; Capacity planning must use representative encrypted traffic and enabled profiles</a:t>
            </a:r>
          </a:p>
          <a:p>
            <a:endParaRPr lang="en-GB"/>
          </a:p>
          <a:p>
            <a:r>
              <a:rPr lang="en-GB"/>
              <a:t>Typical mistakes to surface: Changing policy, route and tunnel simultaneously; Clearing sessions or restarting before preserving state/output; Using a VM result to claim appliance offload/capacity</a:t>
            </a:r>
          </a:p>
          <a:p>
            <a:endParaRPr lang="en-GB"/>
          </a:p>
          <a:p>
            <a:r>
              <a:rPr lang="en-GB"/>
              <a:t>Official reference for instructor preparation: FortiGate/FortiOS 7.6.7 Administration Guide: System performance; Sessions; Hardware acceleration; Conserve Mode; SSL inspection; Troubleshooting. Exact model hardware guide, CLI Reference and release notes required.</a:t>
            </a:r>
          </a:p>
        </p:txBody>
      </p:sp>
      <p:sp>
        <p:nvSpPr>
          <p:cNvPr id="4" name="Slide Number Placeholder 3"/>
          <p:cNvSpPr>
            <a:spLocks noGrp="1"/>
          </p:cNvSpPr>
          <p:nvPr>
            <p:ph type="sldNum" sz="quarter" idx="10"/>
          </p:nvPr>
        </p:nvSpPr>
        <p:spPr/>
        <p:txBody>
          <a:bodyPr/>
          <a:lstStyle/>
          <a:p>
            <a:fld id="{F7021451-1387-4CA6-816F-3879F97B5CBC}" type="slidenum">
              <a:rPr lang="en-US"/>
              <a:t>182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4–6 minutes. Protect the block’s practical/discussion reserve; skip optional slides when time is short.</a:t>
            </a:r>
          </a:p>
          <a:p>
            <a:endParaRPr lang="en-GB"/>
          </a:p>
          <a:p>
            <a:r>
              <a:rPr lang="en-GB"/>
              <a:t>Explanation: AV, IPS, Web and App Control engage different engines and update packages; Encrypted traffic requires sufficient inspection visibility before content scanning; Logging volume and disk/remote transport can become bottlenecks; Profile tuning should preserve security requirements and use measured state/output</a:t>
            </a:r>
          </a:p>
          <a:p>
            <a:endParaRPr lang="en-GB"/>
          </a:p>
          <a:p>
            <a:r>
              <a:rPr lang="en-GB"/>
              <a:t>Typical mistakes to surface: Changing policy, route and tunnel simultaneously; Clearing sessions or restarting before preserving state/output; Using a VM result to claim appliance offload/capacity</a:t>
            </a:r>
          </a:p>
          <a:p>
            <a:endParaRPr lang="en-GB"/>
          </a:p>
          <a:p>
            <a:r>
              <a:rPr lang="en-GB"/>
              <a:t>Official reference for instructor preparation: FortiGate/FortiOS 7.6.7 Administration Guide: System performance; Sessions; Hardware acceleration; Conserve Mode; SSL inspection; Troubleshooting. Exact model hardware guide, CLI Reference and release notes required.</a:t>
            </a:r>
          </a:p>
        </p:txBody>
      </p:sp>
      <p:sp>
        <p:nvSpPr>
          <p:cNvPr id="4" name="Slide Number Placeholder 3"/>
          <p:cNvSpPr>
            <a:spLocks noGrp="1"/>
          </p:cNvSpPr>
          <p:nvPr>
            <p:ph type="sldNum" sz="quarter" idx="10"/>
          </p:nvPr>
        </p:nvSpPr>
        <p:spPr/>
        <p:txBody>
          <a:bodyPr/>
          <a:lstStyle/>
          <a:p>
            <a:fld id="{F7021451-1387-4CA6-816F-3879F97B5CBC}" type="slidenum">
              <a:rPr lang="en-US"/>
              <a:t>183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4–6 minutes. Protect the block’s practical/discussion reserve; skip optional slides when time is short.</a:t>
            </a:r>
          </a:p>
          <a:p>
            <a:endParaRPr lang="en-GB"/>
          </a:p>
          <a:p>
            <a:r>
              <a:rPr lang="en-GB"/>
              <a:t>Explanation: Start with symptom and exact five-tuple/time; Check physical/interface and routing; Check policy/NAT/session; Check VPN/SD-WAN/security-profile layers as applicable; Check resource pressure and recent changes last/throughout</a:t>
            </a:r>
          </a:p>
          <a:p>
            <a:endParaRPr lang="en-GB"/>
          </a:p>
          <a:p>
            <a:r>
              <a:rPr lang="en-GB"/>
              <a:t>Typical mistakes to surface: Changing policy, route and tunnel simultaneously; Clearing sessions or restarting before preserving state/output; Using a VM result to claim appliance offload/capacity</a:t>
            </a:r>
          </a:p>
          <a:p>
            <a:endParaRPr lang="en-GB"/>
          </a:p>
          <a:p>
            <a:r>
              <a:rPr lang="en-GB"/>
              <a:t>Official reference for instructor preparation: FortiGate/FortiOS 7.6.7 Administration Guide: System performance; Sessions; Hardware acceleration; Conserve Mode; SSL inspection; Troubleshooting. Exact model hardware guide, CLI Reference and release notes required.</a:t>
            </a:r>
          </a:p>
        </p:txBody>
      </p:sp>
      <p:sp>
        <p:nvSpPr>
          <p:cNvPr id="4" name="Slide Number Placeholder 3"/>
          <p:cNvSpPr>
            <a:spLocks noGrp="1"/>
          </p:cNvSpPr>
          <p:nvPr>
            <p:ph type="sldNum" sz="quarter" idx="10"/>
          </p:nvPr>
        </p:nvSpPr>
        <p:spPr/>
        <p:txBody>
          <a:bodyPr/>
          <a:lstStyle/>
          <a:p>
            <a:fld id="{F7021451-1387-4CA6-816F-3879F97B5CBC}" type="slidenum">
              <a:rPr lang="en-US"/>
              <a:t>184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Mandatory capstone uses the validated base pod: client 10.N.10.10, FortiGate p2 10.N.10.4 and p3 10.N.20.4, DMZ server 10.N.20.10. Internet breakout uses Transit NVA 10.0.40.4 and Instructor FortiGate 10.0.0.4. The IPsec/ADVPN overlay is future work and must not be required.</a:t>
            </a:r>
          </a:p>
        </p:txBody>
      </p:sp>
      <p:sp>
        <p:nvSpPr>
          <p:cNvPr id="4" name="Slide Number Placeholder 3"/>
          <p:cNvSpPr>
            <a:spLocks noGrp="1"/>
          </p:cNvSpPr>
          <p:nvPr>
            <p:ph type="sldNum" sz="quarter" idx="10"/>
          </p:nvPr>
        </p:nvSpPr>
        <p:spPr/>
        <p:txBody>
          <a:bodyPr/>
          <a:lstStyle/>
          <a:p>
            <a:fld id="{F7021451-1387-4CA6-816F-3879F97B5CBC}" type="slidenum">
              <a:rPr lang="en-US"/>
              <a:t>185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4–6 minutes. Protect the block’s practical/discussion reserve; skip optional slides when time is short.</a:t>
            </a:r>
          </a:p>
          <a:p>
            <a:endParaRPr lang="en-GB"/>
          </a:p>
          <a:p>
            <a:r>
              <a:rPr lang="en-GB"/>
              <a:t>Explanation: User reports HTTPS timeout to branch application; DNS answer is correct and must be recorded; Traffic may fail at policy, overlay route, SD-WAN rule or resource pressure; Teams must avoid changing more than one variable at a time</a:t>
            </a:r>
          </a:p>
          <a:p>
            <a:endParaRPr lang="en-GB"/>
          </a:p>
          <a:p>
            <a:r>
              <a:rPr lang="en-GB"/>
              <a:t>Typical mistakes to surface: Changing policy, route and tunnel simultaneously; Clearing sessions or restarting before preserving state/output; Using a VM result to claim appliance offload/capacity</a:t>
            </a:r>
          </a:p>
          <a:p>
            <a:endParaRPr lang="en-GB"/>
          </a:p>
          <a:p>
            <a:r>
              <a:rPr lang="en-GB"/>
              <a:t>Official reference for instructor preparation: FortiGate/FortiOS 7.6.7 Administration Guide: System performance; Sessions; Hardware acceleration; Conserve Mode; SSL inspection; Troubleshooting. Exact model hardware guide, CLI Reference and release notes required.</a:t>
            </a:r>
          </a:p>
        </p:txBody>
      </p:sp>
      <p:sp>
        <p:nvSpPr>
          <p:cNvPr id="4" name="Slide Number Placeholder 3"/>
          <p:cNvSpPr>
            <a:spLocks noGrp="1"/>
          </p:cNvSpPr>
          <p:nvPr>
            <p:ph type="sldNum" sz="quarter" idx="10"/>
          </p:nvPr>
        </p:nvSpPr>
        <p:spPr/>
        <p:txBody>
          <a:bodyPr/>
          <a:lstStyle/>
          <a:p>
            <a:fld id="{F7021451-1387-4CA6-816F-3879F97B5CBC}" type="slidenum">
              <a:rPr lang="en-US"/>
              <a:t>186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Instructor-only fault menu and solutions.</a:t>
            </a:r>
          </a:p>
          <a:p>
            <a:r>
              <a:rPr lang="en-GB"/>
              <a:t>Policy/object: wrong service/address/order → compare exact tuple and matched policy; restore approved object/policy.</a:t>
            </a:r>
          </a:p>
          <a:p>
            <a:r>
              <a:rPr lang="en-GB"/>
              <a:t>Routing: missing/wrong protected prefix → verify lookup; restore expected overlay route.</a:t>
            </a:r>
          </a:p>
          <a:p>
            <a:r>
              <a:rPr lang="en-GB"/>
              <a:t>VPN: disabled test policy or selector dependency → verify SA/selectors/counters; restore known-good tunnel dependency.</a:t>
            </a:r>
          </a:p>
          <a:p>
            <a:r>
              <a:rPr lang="en-GB"/>
              <a:t>Inspection trust: deep-inspection profile with untrusted CA → install the prepared CA or restore certificate-inspection baseline as directed.</a:t>
            </a:r>
          </a:p>
          <a:p>
            <a:r>
              <a:rPr lang="en-GB"/>
              <a:t>Inject only prevalidated faults. Do not require SD-WAN, HA, EMS, FortiAnalyzer or FortiManager for the mandatory case.</a:t>
            </a:r>
          </a:p>
        </p:txBody>
      </p:sp>
      <p:sp>
        <p:nvSpPr>
          <p:cNvPr id="4" name="Slide Number Placeholder 3"/>
          <p:cNvSpPr>
            <a:spLocks noGrp="1"/>
          </p:cNvSpPr>
          <p:nvPr>
            <p:ph type="sldNum" sz="quarter" idx="10"/>
          </p:nvPr>
        </p:nvSpPr>
        <p:spPr/>
        <p:txBody>
          <a:bodyPr/>
          <a:lstStyle/>
          <a:p>
            <a:fld id="{F7021451-1387-4CA6-816F-3879F97B5CBC}" type="slidenum">
              <a:rPr lang="en-US"/>
              <a:t>187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4–6 minutes. Protect the block’s practical/discussion reserve; skip optional slides when time is short.</a:t>
            </a:r>
          </a:p>
          <a:p>
            <a:endParaRPr lang="en-GB"/>
          </a:p>
          <a:p>
            <a:r>
              <a:rPr lang="en-GB"/>
              <a:t>Explanation: Exact test tuple, timestamp and expected path; Route/PBR/SD-WAN decision; Matched policy, NAT and session state; VPN SA/selectors/counters when used; Packet/log state/output and CPU/memory status</a:t>
            </a:r>
          </a:p>
          <a:p>
            <a:endParaRPr lang="en-GB"/>
          </a:p>
          <a:p>
            <a:r>
              <a:rPr lang="en-GB"/>
              <a:t>Typical mistakes to surface: Changing policy, route and tunnel simultaneously; Clearing sessions or restarting before preserving state/output; Using a VM result to claim appliance offload/capacity</a:t>
            </a:r>
          </a:p>
          <a:p>
            <a:endParaRPr lang="en-GB"/>
          </a:p>
          <a:p>
            <a:r>
              <a:rPr lang="en-GB"/>
              <a:t>Official reference for instructor preparation: FortiGate/FortiOS 7.6.7 Administration Guide: System performance; Sessions; Hardware acceleration; Conserve Mode; SSL inspection; Troubleshooting. Exact model hardware guide, CLI Reference and release notes required.</a:t>
            </a:r>
          </a:p>
        </p:txBody>
      </p:sp>
      <p:sp>
        <p:nvSpPr>
          <p:cNvPr id="4" name="Slide Number Placeholder 3"/>
          <p:cNvSpPr>
            <a:spLocks noGrp="1"/>
          </p:cNvSpPr>
          <p:nvPr>
            <p:ph type="sldNum" sz="quarter" idx="10"/>
          </p:nvPr>
        </p:nvSpPr>
        <p:spPr/>
        <p:txBody>
          <a:bodyPr/>
          <a:lstStyle/>
          <a:p>
            <a:fld id="{F7021451-1387-4CA6-816F-3879F97B5CBC}" type="slidenum">
              <a:rPr lang="en-US"/>
              <a:t>188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4–6 minutes. Protect the block’s practical/discussion reserve; skip optional slides when time is short.</a:t>
            </a:r>
          </a:p>
          <a:p>
            <a:endParaRPr lang="en-GB"/>
          </a:p>
          <a:p>
            <a:r>
              <a:rPr lang="en-GB"/>
              <a:t>Explanation: Reproduce once and freeze the test definition; Predict path using route, policy and overlay state; Collect minimally invasive state/output; Name the failed decision and proposed change; Apply approved change; retest; restore injected fault baseline</a:t>
            </a:r>
          </a:p>
          <a:p>
            <a:endParaRPr lang="en-GB"/>
          </a:p>
          <a:p>
            <a:r>
              <a:rPr lang="en-GB"/>
              <a:t>Typical mistakes to surface: Changing policy, route and tunnel simultaneously; Clearing sessions or restarting before preserving state/output; Using a VM result to claim appliance offload/capacity</a:t>
            </a:r>
          </a:p>
          <a:p>
            <a:endParaRPr lang="en-GB"/>
          </a:p>
          <a:p>
            <a:r>
              <a:rPr lang="en-GB"/>
              <a:t>Official reference for instructor preparation: FortiGate/FortiOS 7.6.7 Administration Guide: System performance; Sessions; Hardware acceleration; Conserve Mode; SSL inspection; Troubleshooting. Exact model hardware guide, CLI Reference and release notes required.</a:t>
            </a:r>
          </a:p>
        </p:txBody>
      </p:sp>
      <p:sp>
        <p:nvSpPr>
          <p:cNvPr id="4" name="Slide Number Placeholder 3"/>
          <p:cNvSpPr>
            <a:spLocks noGrp="1"/>
          </p:cNvSpPr>
          <p:nvPr>
            <p:ph type="sldNum" sz="quarter" idx="10"/>
          </p:nvPr>
        </p:nvSpPr>
        <p:spPr/>
        <p:txBody>
          <a:bodyPr/>
          <a:lstStyle/>
          <a:p>
            <a:fld id="{F7021451-1387-4CA6-816F-3879F97B5CBC}" type="slidenum">
              <a:rPr lang="en-US"/>
              <a:t>189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4–6 minutes. Protect the block’s practical/discussion reserve; skip optional slides when time is short.</a:t>
            </a:r>
          </a:p>
          <a:p>
            <a:endParaRPr lang="en-GB"/>
          </a:p>
          <a:p>
            <a:r>
              <a:rPr lang="en-GB"/>
              <a:t>Explanation: Expected route/member/tunnel selected; Correct policy/VIP/NAT and security profile applied; Bidirectional packets and session byte counters increase; Application succeeds without Conserve Mode or abnormal resource trend; Rollback remains available and intentional faults are removed</a:t>
            </a:r>
          </a:p>
          <a:p>
            <a:endParaRPr lang="en-GB"/>
          </a:p>
          <a:p>
            <a:r>
              <a:rPr lang="en-GB"/>
              <a:t>Typical mistakes to surface: Changing policy, route and tunnel simultaneously; Clearing sessions or restarting before preserving state/output; Using a VM result to claim appliance offload/capacity</a:t>
            </a:r>
          </a:p>
          <a:p>
            <a:endParaRPr lang="en-GB"/>
          </a:p>
          <a:p>
            <a:r>
              <a:rPr lang="en-GB"/>
              <a:t>Official reference for instructor preparation: FortiGate/FortiOS 7.6.7 Administration Guide: System performance; Sessions; Hardware acceleration; Conserve Mode; SSL inspection; Troubleshooting. Exact model hardware guide, CLI Reference and release notes required.</a:t>
            </a:r>
          </a:p>
        </p:txBody>
      </p:sp>
      <p:sp>
        <p:nvSpPr>
          <p:cNvPr id="4" name="Slide Number Placeholder 3"/>
          <p:cNvSpPr>
            <a:spLocks noGrp="1"/>
          </p:cNvSpPr>
          <p:nvPr>
            <p:ph type="sldNum" sz="quarter" idx="10"/>
          </p:nvPr>
        </p:nvSpPr>
        <p:spPr/>
        <p:txBody>
          <a:bodyPr/>
          <a:lstStyle/>
          <a:p>
            <a:fld id="{F7021451-1387-4CA6-816F-3879F97B5CBC}" type="slidenum">
              <a:rPr lang="en-US"/>
              <a:t>190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[OPTIONAL DEEP DIVE] Stable ID: D4-B16-S191</a:t>
            </a:r>
          </a:p>
          <a:p>
            <a:endParaRPr lang="en-GB"/>
          </a:p>
          <a:p>
            <a:r>
              <a:rPr lang="en-GB"/>
              <a:t>Approximate timing: 4–6 minutes. Protect the block’s practical/discussion reserve; skip optional slides when time is short.</a:t>
            </a:r>
          </a:p>
          <a:p>
            <a:endParaRPr lang="en-GB"/>
          </a:p>
          <a:p>
            <a:r>
              <a:rPr lang="en-GB"/>
              <a:t>Explanation: Expected result: route and tunnel are healthy; debug/log shows deny or wrong policy/service; Fix: restore intended lab object/policy order/action; Retest: new HTTPS tuple matches intended policy and logs accept; Debrief: route reachability did not imply policy permission</a:t>
            </a:r>
          </a:p>
          <a:p>
            <a:endParaRPr lang="en-GB"/>
          </a:p>
          <a:p>
            <a:r>
              <a:rPr lang="en-GB"/>
              <a:t>Typical mistakes to surface: Changing policy, route and tunnel simultaneously; Clearing sessions or restarting before preserving state/output; Using a VM result to claim appliance offload/capacity</a:t>
            </a:r>
          </a:p>
          <a:p>
            <a:endParaRPr lang="en-GB"/>
          </a:p>
          <a:p>
            <a:r>
              <a:rPr lang="en-GB"/>
              <a:t>Official reference for instructor preparation: FortiGate/FortiOS 7.6.7 Administration Guide: System performance; Sessions; Hardware acceleration; Conserve Mode; SSL inspection; Troubleshooting. Exact model hardware guide, CLI Reference and release notes required.</a:t>
            </a:r>
          </a:p>
        </p:txBody>
      </p:sp>
      <p:sp>
        <p:nvSpPr>
          <p:cNvPr id="4" name="Slide Number Placeholder 3"/>
          <p:cNvSpPr>
            <a:spLocks noGrp="1"/>
          </p:cNvSpPr>
          <p:nvPr>
            <p:ph type="sldNum" sz="quarter" idx="10"/>
          </p:nvPr>
        </p:nvSpPr>
        <p:spPr/>
        <p:txBody>
          <a:bodyPr/>
          <a:lstStyle/>
          <a:p>
            <a:fld id="{F7021451-1387-4CA6-816F-3879F97B5CBC}" type="slidenum">
              <a:rPr lang="en-US"/>
              <a:t>191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[OPTIONAL DEEP DIVE] Stable ID: D4-B16-S192</a:t>
            </a:r>
          </a:p>
          <a:p>
            <a:endParaRPr lang="en-GB"/>
          </a:p>
          <a:p>
            <a:r>
              <a:rPr lang="en-GB"/>
              <a:t>Approximate timing: 4–6 minutes. Protect the block’s practical/discussion reserve; skip optional slides when time is short.</a:t>
            </a:r>
          </a:p>
          <a:p>
            <a:endParaRPr lang="en-GB"/>
          </a:p>
          <a:p>
            <a:r>
              <a:rPr lang="en-GB"/>
              <a:t>Explanation: Expected result: policy is plausible but route selects wrong interface or Phase 2 counters are one-sided; Fix: restore exact lab route or reciprocal selector/return route; Retest: tunnel counters increase both directions and session uses tunnel; Debrief: Phase 1 up did not prove the protected subnet path</a:t>
            </a:r>
          </a:p>
          <a:p>
            <a:endParaRPr lang="en-GB"/>
          </a:p>
          <a:p>
            <a:r>
              <a:rPr lang="en-GB"/>
              <a:t>Typical mistakes to surface: Changing policy, route and tunnel simultaneously; Clearing sessions or restarting before preserving state/output; Using a VM result to claim appliance offload/capacity</a:t>
            </a:r>
          </a:p>
          <a:p>
            <a:endParaRPr lang="en-GB"/>
          </a:p>
          <a:p>
            <a:r>
              <a:rPr lang="en-GB"/>
              <a:t>Official reference for instructor preparation: FortiGate/FortiOS 7.6.7 Administration Guide: System performance; Sessions; Hardware acceleration; Conserve Mode; SSL inspection; Troubleshooting. Exact model hardware guide, CLI Reference and release notes required.</a:t>
            </a:r>
          </a:p>
        </p:txBody>
      </p:sp>
      <p:sp>
        <p:nvSpPr>
          <p:cNvPr id="4" name="Slide Number Placeholder 3"/>
          <p:cNvSpPr>
            <a:spLocks noGrp="1"/>
          </p:cNvSpPr>
          <p:nvPr>
            <p:ph type="sldNum" sz="quarter" idx="10"/>
          </p:nvPr>
        </p:nvSpPr>
        <p:spPr/>
        <p:txBody>
          <a:bodyPr/>
          <a:lstStyle/>
          <a:p>
            <a:fld id="{F7021451-1387-4CA6-816F-3879F97B5CBC}" type="slidenum">
              <a:rPr lang="en-US"/>
              <a:t>192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[OPTIONAL DEEP DIVE] Stable ID: D4-B16-S193</a:t>
            </a:r>
          </a:p>
          <a:p>
            <a:endParaRPr lang="en-GB"/>
          </a:p>
          <a:p>
            <a:r>
              <a:rPr lang="en-GB"/>
              <a:t>Approximate timing: 4–6 minutes. Protect the block’s practical/discussion reserve; skip optional slides when time is short.</a:t>
            </a:r>
          </a:p>
          <a:p>
            <a:endParaRPr lang="en-GB"/>
          </a:p>
          <a:p>
            <a:r>
              <a:rPr lang="en-GB"/>
              <a:t>Explanation: Expected result: rule/SLA selects degraded member, or instructor snapshot shows memory protection event; Fix: correct lab SLA target/rule or apply scoped resource mitigation per runbook; Retest: new session uses healthy member; memory remains stable below recovery threshold; Debrief: link-up and role state were incomplete state/output</a:t>
            </a:r>
          </a:p>
          <a:p>
            <a:endParaRPr lang="en-GB"/>
          </a:p>
          <a:p>
            <a:r>
              <a:rPr lang="en-GB"/>
              <a:t>Typical mistakes to surface: Changing policy, route and tunnel simultaneously; Clearing sessions or restarting before preserving state/output; Using a VM result to claim appliance offload/capacity</a:t>
            </a:r>
          </a:p>
          <a:p>
            <a:endParaRPr lang="en-GB"/>
          </a:p>
          <a:p>
            <a:r>
              <a:rPr lang="en-GB"/>
              <a:t>Official reference for instructor preparation: FortiGate/FortiOS 7.6.7 Administration Guide: System performance; Sessions; Hardware acceleration; Conserve Mode; SSL inspection; Troubleshooting. Exact model hardware guide, CLI Reference and release notes required.</a:t>
            </a:r>
          </a:p>
        </p:txBody>
      </p:sp>
      <p:sp>
        <p:nvSpPr>
          <p:cNvPr id="4" name="Slide Number Placeholder 3"/>
          <p:cNvSpPr>
            <a:spLocks noGrp="1"/>
          </p:cNvSpPr>
          <p:nvPr>
            <p:ph type="sldNum" sz="quarter" idx="10"/>
          </p:nvPr>
        </p:nvSpPr>
        <p:spPr/>
        <p:txBody>
          <a:bodyPr/>
          <a:lstStyle/>
          <a:p>
            <a:fld id="{F7021451-1387-4CA6-816F-3879F97B5CBC}" type="slidenum">
              <a:rPr lang="en-US"/>
              <a:t>193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[OPTIONAL DEEP DIVE] Stable ID: D4-B16-S194</a:t>
            </a:r>
          </a:p>
          <a:p>
            <a:endParaRPr lang="en-GB"/>
          </a:p>
          <a:p>
            <a:r>
              <a:rPr lang="en-GB"/>
              <a:t>Approximate timing: 4–6 minutes. Protect the block’s practical/discussion reserve; skip optional slides when time is short.</a:t>
            </a:r>
          </a:p>
          <a:p>
            <a:endParaRPr lang="en-GB"/>
          </a:p>
          <a:p>
            <a:r>
              <a:rPr lang="en-GB"/>
              <a:t>Explanation: State model, exact FortiOS build and topology; Give timestamps, timezone, symptom and reproduction; Include filtered diagnostics and before/after change record; Remove credentials/private data and identify business impact</a:t>
            </a:r>
          </a:p>
          <a:p>
            <a:endParaRPr lang="en-GB"/>
          </a:p>
          <a:p>
            <a:r>
              <a:rPr lang="en-GB"/>
              <a:t>Typical mistakes to surface: Changing policy, route and tunnel simultaneously; Clearing sessions or restarting before preserving state/output; Using a VM result to claim appliance offload/capacity</a:t>
            </a:r>
          </a:p>
          <a:p>
            <a:endParaRPr lang="en-GB"/>
          </a:p>
          <a:p>
            <a:r>
              <a:rPr lang="en-GB"/>
              <a:t>Official reference for instructor preparation: FortiGate/FortiOS 7.6.7 Administration Guide: System performance; Sessions; Hardware acceleration; Conserve Mode; SSL inspection; Troubleshooting. Exact model hardware guide, CLI Reference and release notes required.</a:t>
            </a:r>
          </a:p>
        </p:txBody>
      </p:sp>
      <p:sp>
        <p:nvSpPr>
          <p:cNvPr id="4" name="Slide Number Placeholder 3"/>
          <p:cNvSpPr>
            <a:spLocks noGrp="1"/>
          </p:cNvSpPr>
          <p:nvPr>
            <p:ph type="sldNum" sz="quarter" idx="10"/>
          </p:nvPr>
        </p:nvSpPr>
        <p:spPr/>
        <p:txBody>
          <a:bodyPr/>
          <a:lstStyle/>
          <a:p>
            <a:fld id="{F7021451-1387-4CA6-816F-3879F97B5CBC}" type="slidenum">
              <a:rPr lang="en-US"/>
              <a:t>194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7–9 minutes. Protect the block’s practical/discussion reserve; skip optional slides when time is short.</a:t>
            </a:r>
          </a:p>
          <a:p>
            <a:endParaRPr lang="en-GB"/>
          </a:p>
          <a:p>
            <a:r>
              <a:rPr lang="en-GB"/>
              <a:t>Explanation: Teams receive symptom plus one or two declared achievable faults; They predict expected path and collect route/policy/session/overlay/resource state/output; They propose one reversible change; They prove restoration and remove intentional faults; Class compares state/output quality and false leads</a:t>
            </a:r>
          </a:p>
          <a:p>
            <a:endParaRPr lang="en-GB"/>
          </a:p>
          <a:p>
            <a:r>
              <a:rPr lang="en-GB"/>
              <a:t>Typical mistakes to surface: Changing policy, route and tunnel simultaneously; Clearing sessions or restarting before preserving state/output; Using a VM result to claim appliance offload/capacity</a:t>
            </a:r>
          </a:p>
          <a:p>
            <a:endParaRPr lang="en-GB"/>
          </a:p>
          <a:p>
            <a:r>
              <a:rPr lang="en-GB"/>
              <a:t>Official reference for instructor preparation: FortiGate/FortiOS 7.6.7 Administration Guide: System performance; Sessions; Hardware acceleration; Conserve Mode; SSL inspection; Troubleshooting. Exact model hardware guide, CLI Reference and release notes required.</a:t>
            </a:r>
          </a:p>
        </p:txBody>
      </p:sp>
      <p:sp>
        <p:nvSpPr>
          <p:cNvPr id="4" name="Slide Number Placeholder 3"/>
          <p:cNvSpPr>
            <a:spLocks noGrp="1"/>
          </p:cNvSpPr>
          <p:nvPr>
            <p:ph type="sldNum" sz="quarter" idx="10"/>
          </p:nvPr>
        </p:nvSpPr>
        <p:spPr/>
        <p:txBody>
          <a:bodyPr/>
          <a:lstStyle/>
          <a:p>
            <a:fld id="{F7021451-1387-4CA6-816F-3879F97B5CBC}" type="slidenum">
              <a:rPr lang="en-US"/>
              <a:t>195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4 minutes. Protect the block’s practical/discussion reserve; skip optional slides when time is short.</a:t>
            </a:r>
          </a:p>
          <a:p>
            <a:endParaRPr lang="en-GB"/>
          </a:p>
          <a:p>
            <a:r>
              <a:rPr lang="en-GB"/>
              <a:t>Explanation: Changing policy, route and tunnel simultaneously; Clearing sessions or restarting before preserving state/output; Using a VM result to claim appliance offload/capacity</a:t>
            </a:r>
          </a:p>
          <a:p>
            <a:endParaRPr lang="en-GB"/>
          </a:p>
          <a:p>
            <a:r>
              <a:rPr lang="en-GB"/>
              <a:t>Typical mistakes to surface: Changing policy, route and tunnel simultaneously; Clearing sessions or restarting before preserving state/output; Using a VM result to claim appliance offload/capacity</a:t>
            </a:r>
          </a:p>
          <a:p>
            <a:endParaRPr lang="en-GB"/>
          </a:p>
          <a:p>
            <a:r>
              <a:rPr lang="en-GB"/>
              <a:t>Official reference for instructor preparation: FortiGate/FortiOS 7.6.7 Administration Guide: System performance; Sessions; Hardware acceleration; Conserve Mode; SSL inspection; Troubleshooting. Exact model hardware guide, CLI Reference and release notes required.</a:t>
            </a:r>
          </a:p>
        </p:txBody>
      </p:sp>
      <p:sp>
        <p:nvSpPr>
          <p:cNvPr id="4" name="Slide Number Placeholder 3"/>
          <p:cNvSpPr>
            <a:spLocks noGrp="1"/>
          </p:cNvSpPr>
          <p:nvPr>
            <p:ph type="sldNum" sz="quarter" idx="10"/>
          </p:nvPr>
        </p:nvSpPr>
        <p:spPr/>
        <p:txBody>
          <a:bodyPr/>
          <a:lstStyle/>
          <a:p>
            <a:fld id="{F7021451-1387-4CA6-816F-3879F97B5CBC}" type="slidenum">
              <a:rPr lang="en-US"/>
              <a:t>196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5–7 minutes. Protect the block’s practical/discussion reserve; skip optional slides when time is short.</a:t>
            </a:r>
          </a:p>
          <a:p>
            <a:endParaRPr lang="en-GB"/>
          </a:p>
          <a:p>
            <a:r>
              <a:rPr lang="en-GB"/>
              <a:t>Explanation: Define tuple/time/symptom; Check route/PBR/SD-WAN/VPN state; Check policy/NAT/session/logs; Check packet direction and security profile; Check CPU/memory/Conserve events and validate one reversible fix</a:t>
            </a:r>
          </a:p>
          <a:p>
            <a:endParaRPr lang="en-GB"/>
          </a:p>
          <a:p>
            <a:r>
              <a:rPr lang="en-GB"/>
              <a:t>Typical mistakes to surface: Changing policy, route and tunnel simultaneously; Clearing sessions or restarting before preserving state/output; Using a VM result to claim appliance offload/capacity</a:t>
            </a:r>
          </a:p>
          <a:p>
            <a:endParaRPr lang="en-GB"/>
          </a:p>
          <a:p>
            <a:r>
              <a:rPr lang="en-GB"/>
              <a:t>Official reference for instructor preparation: FortiGate/FortiOS 7.6.7 Administration Guide: System performance; Sessions; Hardware acceleration; Conserve Mode; SSL inspection; Troubleshooting. Exact model hardware guide, CLI Reference and release notes required.</a:t>
            </a:r>
          </a:p>
        </p:txBody>
      </p:sp>
      <p:sp>
        <p:nvSpPr>
          <p:cNvPr id="4" name="Slide Number Placeholder 3"/>
          <p:cNvSpPr>
            <a:spLocks noGrp="1"/>
          </p:cNvSpPr>
          <p:nvPr>
            <p:ph type="sldNum" sz="quarter" idx="10"/>
          </p:nvPr>
        </p:nvSpPr>
        <p:spPr/>
        <p:txBody>
          <a:bodyPr/>
          <a:lstStyle/>
          <a:p>
            <a:fld id="{F7021451-1387-4CA6-816F-3879F97B5CBC}" type="slidenum">
              <a:rPr lang="en-US"/>
              <a:t>197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Enterprise Branch Incident mandatory faults must stay inside the validated base lab: policy/object, local route/return path, session/NAT and certificate trust/security inspection. VPN/ADVPN, SD-WAN, HA and EMS are future or optional extensions only.</a:t>
            </a:r>
          </a:p>
        </p:txBody>
      </p:sp>
      <p:sp>
        <p:nvSpPr>
          <p:cNvPr id="4" name="Slide Number Placeholder 3"/>
          <p:cNvSpPr>
            <a:spLocks noGrp="1"/>
          </p:cNvSpPr>
          <p:nvPr>
            <p:ph type="sldNum" sz="quarter" idx="10"/>
          </p:nvPr>
        </p:nvSpPr>
        <p:spPr/>
        <p:txBody>
          <a:bodyPr/>
          <a:lstStyle/>
          <a:p>
            <a:fld id="{F7021451-1387-4CA6-816F-3879F97B5CBC}" type="slidenum">
              <a:rPr lang="en-US"/>
              <a:t>198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5–7 minutes. Protect the block’s practical/discussion reserve; skip optional slides when time is short.</a:t>
            </a:r>
          </a:p>
          <a:p>
            <a:endParaRPr lang="en-GB"/>
          </a:p>
          <a:p>
            <a:r>
              <a:rPr lang="en-GB"/>
              <a:t>Explanation: What is the first deliverable in the capstone?; When is the incident resolved?</a:t>
            </a:r>
          </a:p>
          <a:p>
            <a:endParaRPr lang="en-GB"/>
          </a:p>
          <a:p>
            <a:r>
              <a:rPr lang="en-GB"/>
              <a:t>Typical mistakes to surface: Changing policy, route and tunnel simultaneously; Clearing sessions or restarting before preserving state/output; Using a VM result to claim appliance offload/capacity</a:t>
            </a:r>
          </a:p>
          <a:p>
            <a:endParaRPr lang="en-GB"/>
          </a:p>
          <a:p>
            <a:r>
              <a:rPr lang="en-GB"/>
              <a:t>Official reference for instructor preparation: FortiGate/FortiOS 7.6.7 Administration Guide: System performance; Sessions; Hardware acceleration; Conserve Mode; SSL inspection; Troubleshooting. Exact model hardware guide, CLI Reference and release notes required.</a:t>
            </a:r>
          </a:p>
          <a:p>
            <a:endParaRPr lang="en-GB"/>
          </a:p>
          <a:p>
            <a:r>
              <a:rPr lang="en-GB"/>
              <a:t>Knowledge check answer key:</a:t>
            </a:r>
          </a:p>
          <a:p>
            <a:endParaRPr lang="en-GB"/>
          </a:p>
          <a:p>
            <a:r>
              <a:rPr lang="en-GB"/>
              <a:t>Q: What is the first deliverable in the capstone?</a:t>
            </a:r>
          </a:p>
          <a:p>
            <a:r>
              <a:rPr lang="en-GB"/>
              <a:t>A: A precise symptom/test definition: timestamp, five-tuple, expected path and success criterion.</a:t>
            </a:r>
          </a:p>
          <a:p>
            <a:endParaRPr lang="en-GB"/>
          </a:p>
          <a:p>
            <a:r>
              <a:rPr lang="en-GB"/>
              <a:t>Q: When is the incident resolved?</a:t>
            </a:r>
          </a:p>
          <a:p>
            <a:r>
              <a:rPr lang="en-GB"/>
              <a:t>A: When the intended path/policy/overlay is proven, bidirectional application traffic succeeds, resources are stable and injected faults are removed with rollback retained.</a:t>
            </a:r>
          </a:p>
        </p:txBody>
      </p:sp>
      <p:sp>
        <p:nvSpPr>
          <p:cNvPr id="4" name="Slide Number Placeholder 3"/>
          <p:cNvSpPr>
            <a:spLocks noGrp="1"/>
          </p:cNvSpPr>
          <p:nvPr>
            <p:ph type="sldNum" sz="quarter" idx="10"/>
          </p:nvPr>
        </p:nvSpPr>
        <p:spPr/>
        <p:txBody>
          <a:bodyPr/>
          <a:lstStyle/>
          <a:p>
            <a:fld id="{F7021451-1387-4CA6-816F-3879F97B5CBC}" type="slidenum">
              <a:rPr lang="en-US"/>
              <a:t>199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Approximate timing: 5–10 minutes. Protect the block’s practical/discussion reserve; skip optional slides when time is short.</a:t>
            </a:r>
          </a:p>
          <a:p>
            <a:endParaRPr lang="en-GB"/>
          </a:p>
          <a:p>
            <a:r>
              <a:rPr lang="en-GB"/>
              <a:t>Explanation: Every block includes theory, worked state/output, mistakes, troubleshooting, practical handoff and knowledge check; Advanced coverage completes BGP, IPsec/ADVPN, VPN validation, FortiClient/EMS, HA, SD-WAN and performance; Optional deep dives are marked in notes; practice time is protected; Instructor validates FortiOS 7.6.7 build, platform, licensing and lab topology before delivery</a:t>
            </a:r>
          </a:p>
          <a:p>
            <a:endParaRPr lang="en-GB"/>
          </a:p>
          <a:p>
            <a:r>
              <a:rPr lang="en-GB"/>
              <a:t>Typical mistakes to surface: Changing policy, route and tunnel simultaneously; Clearing sessions or restarting before preserving state/output; Using a VM result to claim appliance offload/capacity</a:t>
            </a:r>
          </a:p>
          <a:p>
            <a:endParaRPr lang="en-GB"/>
          </a:p>
          <a:p>
            <a:r>
              <a:rPr lang="en-GB"/>
              <a:t>Official reference for instructor preparation: FortiGate/FortiOS 7.6.7 Administration Guide: System performance; Sessions; Hardware acceleration; Conserve Mode; SSL inspection; Troubleshooting. Exact model hardware guide, CLI Reference and release notes required.</a:t>
            </a:r>
          </a:p>
          <a:p>
            <a:endParaRPr lang="en-GB"/>
          </a:p>
          <a:p>
            <a:r>
              <a:rPr lang="en-GB"/>
              <a:t>Knowledge check answer key:</a:t>
            </a:r>
          </a:p>
          <a:p>
            <a:endParaRPr lang="en-GB"/>
          </a:p>
          <a:p>
            <a:r>
              <a:rPr lang="en-GB"/>
              <a:t>Q: What state/output chain should a FortiGate administrator build?</a:t>
            </a:r>
          </a:p>
          <a:p>
            <a:r>
              <a:rPr lang="en-GB"/>
              <a:t>A: Tuple/time → route/PBR/SD-WAN/VPN → policy/NAT/session → packet/log/profile → CPU/memory state.</a:t>
            </a:r>
          </a:p>
          <a:p>
            <a:endParaRPr lang="en-GB"/>
          </a:p>
          <a:p>
            <a:r>
              <a:rPr lang="en-GB"/>
              <a:t>Q: What remains to be confirmed before delivery?</a:t>
            </a:r>
          </a:p>
          <a:p>
            <a:r>
              <a:rPr lang="en-GB"/>
              <a:t>A: Exact FortiOS 7.6.x build, platform/model, feature support, licensing and actual lab resources.</a:t>
            </a:r>
          </a:p>
        </p:txBody>
      </p:sp>
      <p:sp>
        <p:nvSpPr>
          <p:cNvPr id="4" name="Slide Number Placeholder 3"/>
          <p:cNvSpPr>
            <a:spLocks noGrp="1"/>
          </p:cNvSpPr>
          <p:nvPr>
            <p:ph type="sldNum" sz="quarter" idx="10"/>
          </p:nvPr>
        </p:nvSpPr>
        <p:spPr/>
        <p:txBody>
          <a:bodyPr/>
          <a:lstStyle/>
          <a:p>
            <a:fld id="{F7021451-1387-4CA6-816F-3879F97B5CBC}" type="slidenum">
              <a:rPr lang="en-US"/>
              <a:t>200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Version 1.4 change summary for instructors only. The source architecture, status and exercise constraints are based on the supplied Fortinet training-lab mapping requirements. Keep this appendix out of normal student delivery.</a:t>
            </a:r>
          </a:p>
        </p:txBody>
      </p:sp>
      <p:sp>
        <p:nvSpPr>
          <p:cNvPr id="4" name="Slide Number Placeholder 3"/>
          <p:cNvSpPr>
            <a:spLocks noGrp="1"/>
          </p:cNvSpPr>
          <p:nvPr>
            <p:ph type="sldNum" sz="quarter" idx="10"/>
          </p:nvPr>
        </p:nvSpPr>
        <p:spPr/>
        <p:txBody>
          <a:bodyPr/>
          <a:lstStyle/>
          <a:p>
            <a:fld id="{F7021451-1387-4CA6-816F-3879F97B5CBC}" type="slidenum">
              <a:rPr lang="en-US"/>
              <a:t>201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Unresolved preparation: final access URLs/SSH targets and credential delivery; Guacamole deployment; backup storage destination; SFTP service/host/account/reachability; configuration scope and encryption policy; tested restore and emergency-access procedure; authorized FGVM firmware image and upgrade/recovery procedure. The three attached lab documents intentionally do not establish these details.</a:t>
            </a:r>
          </a:p>
        </p:txBody>
      </p:sp>
      <p:sp>
        <p:nvSpPr>
          <p:cNvPr id="4" name="Slide Number Placeholder 3"/>
          <p:cNvSpPr>
            <a:spLocks noGrp="1"/>
          </p:cNvSpPr>
          <p:nvPr>
            <p:ph type="sldNum" sz="quarter" idx="10"/>
          </p:nvPr>
        </p:nvSpPr>
        <p:spPr/>
        <p:txBody>
          <a:bodyPr/>
          <a:lstStyle/>
          <a:p>
            <a:fld id="{F7021451-1387-4CA6-816F-3879F97B5CBC}" type="slidenum">
              <a:rPr lang="en-US"/>
              <a:t>202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Coverage matrix verified after Day 1 Block 2 expansion. All 16 blocks remain covered. Day 1 Block 2 now spans slides 14–27; all subsequent block ranges shift by four slides.</a:t>
            </a:r>
          </a:p>
        </p:txBody>
      </p:sp>
      <p:sp>
        <p:nvSpPr>
          <p:cNvPr id="4" name="Slide Number Placeholder 3"/>
          <p:cNvSpPr>
            <a:spLocks noGrp="1"/>
          </p:cNvSpPr>
          <p:nvPr>
            <p:ph type="sldNum" sz="quarter" idx="10"/>
          </p:nvPr>
        </p:nvSpPr>
        <p:spPr/>
        <p:txBody>
          <a:bodyPr/>
          <a:lstStyle/>
          <a:p>
            <a:fld id="{F7021451-1387-4CA6-816F-3879F97B5CBC}" type="slidenum">
              <a:rPr lang="en-US"/>
              <a:t>203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Coverage matrix verified after Day 1 Block 2 expansion. All 16 blocks remain covered. Day 1 Block 2 now spans slides 14–27; all subsequent block ranges shift by four slides.</a:t>
            </a:r>
          </a:p>
        </p:txBody>
      </p:sp>
      <p:sp>
        <p:nvSpPr>
          <p:cNvPr id="4" name="Slide Number Placeholder 3"/>
          <p:cNvSpPr>
            <a:spLocks noGrp="1"/>
          </p:cNvSpPr>
          <p:nvPr>
            <p:ph type="sldNum" sz="quarter" idx="10"/>
          </p:nvPr>
        </p:nvSpPr>
        <p:spPr/>
        <p:txBody>
          <a:bodyPr/>
          <a:lstStyle/>
          <a:p>
            <a:fld id="{F7021451-1387-4CA6-816F-3879F97B5CBC}" type="slidenum">
              <a:rPr lang="en-US"/>
              <a:t>204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E60012"/>
          </a:solidFill>
          <a:ln w="12700">
            <a:solidFill>
              <a:srgbClr val="E60012"/>
            </a:solidFill>
            <a:prstDash val="solid"/>
          </a:ln>
        </p:spPr>
        <p:txBody>
          <a:bodyPr/>
          <a:lstStyle/>
          <a:p>
            <a:endParaRPr lang="en-HU"/>
          </a:p>
        </p:txBody>
      </p:sp>
      <p:sp>
        <p:nvSpPr>
          <p:cNvPr id="3" name="Text 1"/>
          <p:cNvSpPr/>
          <p:nvPr/>
        </p:nvSpPr>
        <p:spPr>
          <a:xfrm>
            <a:off x="457200" y="228600"/>
            <a:ext cx="4389120" cy="228600"/>
          </a:xfrm>
          <a:prstGeom prst="rect">
            <a:avLst/>
          </a:prstGeom>
          <a:noFill/>
          <a:ln/>
        </p:spPr>
        <p:txBody>
          <a:bodyPr wrap="square" lIns="0" tIns="0" rIns="0" bIns="0" rtlCol="0" anchor="ctr"/>
          <a:lstStyle/>
          <a:p>
            <a:pPr marL="0" indent="0">
              <a:buNone/>
            </a:pPr>
            <a:r>
              <a:rPr lang="en-US" sz="900" b="1">
                <a:solidFill>
                  <a:srgbClr val="5B6573"/>
                </a:solidFill>
                <a:latin typeface="Aptos" pitchFamily="34" charset="0"/>
                <a:ea typeface="Aptos" pitchFamily="34" charset="-122"/>
                <a:cs typeface="Aptos" pitchFamily="34" charset="-120"/>
              </a:rPr>
              <a:t>FORTIGATE ADMINISTRATOR COURSE</a:t>
            </a:r>
            <a:endParaRPr lang="en-US" sz="900"/>
          </a:p>
        </p:txBody>
      </p:sp>
      <p:sp>
        <p:nvSpPr>
          <p:cNvPr id="4" name="Text 2"/>
          <p:cNvSpPr/>
          <p:nvPr/>
        </p:nvSpPr>
        <p:spPr>
          <a:xfrm>
            <a:off x="7498080" y="228600"/>
            <a:ext cx="4206240" cy="228600"/>
          </a:xfrm>
          <a:prstGeom prst="rect">
            <a:avLst/>
          </a:prstGeom>
          <a:noFill/>
          <a:ln/>
        </p:spPr>
        <p:txBody>
          <a:bodyPr wrap="square" lIns="0" tIns="0" rIns="0" bIns="0" rtlCol="0" anchor="ctr"/>
          <a:lstStyle/>
          <a:p>
            <a:pPr marL="0" indent="0" algn="r">
              <a:buNone/>
            </a:pPr>
            <a:r>
              <a:rPr lang="en-US" sz="900">
                <a:solidFill>
                  <a:srgbClr val="7A8594"/>
                </a:solidFill>
                <a:latin typeface="Aptos" pitchFamily="34" charset="0"/>
                <a:ea typeface="Aptos" pitchFamily="34" charset="-122"/>
                <a:cs typeface="Aptos" pitchFamily="34" charset="-120"/>
              </a:rPr>
              <a:t>Beginner to operational readiness</a:t>
            </a:r>
            <a:endParaRPr lang="en-US" sz="900"/>
          </a:p>
        </p:txBody>
      </p:sp>
      <p:sp>
        <p:nvSpPr>
          <p:cNvPr id="5" name="Shape 3"/>
          <p:cNvSpPr/>
          <p:nvPr/>
        </p:nvSpPr>
        <p:spPr>
          <a:xfrm>
            <a:off x="457200" y="6473952"/>
            <a:ext cx="11247120" cy="0"/>
          </a:xfrm>
          <a:prstGeom prst="line">
            <a:avLst/>
          </a:prstGeom>
          <a:noFill/>
          <a:ln w="12700">
            <a:solidFill>
              <a:srgbClr val="D8DEE8"/>
            </a:solidFill>
            <a:prstDash val="solid"/>
          </a:ln>
        </p:spPr>
        <p:txBody>
          <a:bodyPr/>
          <a:lstStyle/>
          <a:p>
            <a:endParaRPr lang="en-HU"/>
          </a:p>
        </p:txBody>
      </p:sp>
      <p:sp>
        <p:nvSpPr>
          <p:cNvPr id="25" name="Slide Number Placeholder 0"/>
          <p:cNvSpPr>
            <a:spLocks noGrp="1"/>
          </p:cNvSpPr>
          <p:nvPr>
            <p:ph type="sldNum" sz="quarter" idx="4294967295"/>
          </p:nvPr>
        </p:nvSpPr>
        <p:spPr>
          <a:xfrm>
            <a:off x="11384280" y="6510528"/>
            <a:ext cx="365760" cy="182880"/>
          </a:xfrm>
          <a:prstGeom prst="rect">
            <a:avLst/>
          </a:prstGeom>
          <a:extLst>
            <a:ext uri="{C572A759-6A51-4108-AA02-DFA0A04FC94B}">
              <ma14:wrappingTextBoxFlag xmlns:ma14="http://schemas.microsoft.com/office/mac/drawingml/2011/main" xmlns="" val="0"/>
            </a:ext>
          </a:extLst>
        </p:spPr>
        <p:txBody>
          <a:bodyPr/>
          <a:lstStyle>
            <a:lvl1pPr>
              <a:defRPr sz="900">
                <a:solidFill>
                  <a:srgbClr val="687385"/>
                </a:solidFill>
                <a:latin typeface="Aptos"/>
                <a:ea typeface="Aptos"/>
                <a:cs typeface="Aptos"/>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510528"/>
            <a:ext cx="365760" cy="182880"/>
          </a:xfrm>
          <a:prstGeom prst="rect">
            <a:avLst/>
          </a:prstGeom>
          <a:extLst>
            <a:ext uri="{C572A759-6A51-4108-AA02-DFA0A04FC94B}">
              <ma14:wrappingTextBoxFlag xmlns:ma14="http://schemas.microsoft.com/office/mac/drawingml/2011/main" xmlns="" val="0"/>
            </a:ext>
          </a:extLst>
        </p:spPr>
        <p:txBody>
          <a:bodyPr/>
          <a:lstStyle>
            <a:lvl1pPr>
              <a:defRPr sz="900">
                <a:solidFill>
                  <a:srgbClr val="687385"/>
                </a:solidFill>
                <a:latin typeface="Aptos"/>
                <a:ea typeface="Aptos"/>
                <a:cs typeface="Aptos"/>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58.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60.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62.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163.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164.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165.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166.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167.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168.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169.xm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70.xml"/><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71.xml"/><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172.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173.xm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174.xm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175.xml"/><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176.xml"/><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177.xml"/><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178.xml"/><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2" Type="http://schemas.openxmlformats.org/officeDocument/2006/relationships/notesSlide" Target="../notesSlides/notesSlide179.xml"/><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180.xml"/><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181.xml"/><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2" Type="http://schemas.openxmlformats.org/officeDocument/2006/relationships/notesSlide" Target="../notesSlides/notesSlide182.xml"/><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2" Type="http://schemas.openxmlformats.org/officeDocument/2006/relationships/notesSlide" Target="../notesSlides/notesSlide183.xml"/><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2" Type="http://schemas.openxmlformats.org/officeDocument/2006/relationships/notesSlide" Target="../notesSlides/notesSlide184.xml"/><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185.xml"/><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186.xml"/><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187.xml"/><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188.xml"/><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189.xml"/><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2" Type="http://schemas.openxmlformats.org/officeDocument/2006/relationships/notesSlide" Target="../notesSlides/notesSlide190.xml"/><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2" Type="http://schemas.openxmlformats.org/officeDocument/2006/relationships/notesSlide" Target="../notesSlides/notesSlide191.xml"/><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2" Type="http://schemas.openxmlformats.org/officeDocument/2006/relationships/notesSlide" Target="../notesSlides/notesSlide192.xml"/><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2" Type="http://schemas.openxmlformats.org/officeDocument/2006/relationships/notesSlide" Target="../notesSlides/notesSlide193.xml"/><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2" Type="http://schemas.openxmlformats.org/officeDocument/2006/relationships/notesSlide" Target="../notesSlides/notesSlide194.xml"/><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2" Type="http://schemas.openxmlformats.org/officeDocument/2006/relationships/notesSlide" Target="../notesSlides/notesSlide195.xml"/><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2" Type="http://schemas.openxmlformats.org/officeDocument/2006/relationships/notesSlide" Target="../notesSlides/notesSlide196.xml"/><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2" Type="http://schemas.openxmlformats.org/officeDocument/2006/relationships/notesSlide" Target="../notesSlides/notesSlide197.xml"/><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2" Type="http://schemas.openxmlformats.org/officeDocument/2006/relationships/notesSlide" Target="../notesSlides/notesSlide198.xml"/><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2" Type="http://schemas.openxmlformats.org/officeDocument/2006/relationships/notesSlide" Target="../notesSlides/notesSlide199.xml"/><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2" Type="http://schemas.openxmlformats.org/officeDocument/2006/relationships/notesSlide" Target="../notesSlides/notesSlide200.xml"/><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2" Type="http://schemas.openxmlformats.org/officeDocument/2006/relationships/notesSlide" Target="../notesSlides/notesSlide201.xml"/><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2" Type="http://schemas.openxmlformats.org/officeDocument/2006/relationships/notesSlide" Target="../notesSlides/notesSlide202.xml"/><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2" Type="http://schemas.openxmlformats.org/officeDocument/2006/relationships/notesSlide" Target="../notesSlides/notesSlide203.xml"/><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2" Type="http://schemas.openxmlformats.org/officeDocument/2006/relationships/notesSlide" Target="../notesSlides/notesSlide20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827"/>
        </a:solidFill>
        <a:effectLst/>
      </p:bgPr>
    </p:bg>
    <p:spTree>
      <p:nvGrpSpPr>
        <p:cNvPr id="1" name=""/>
        <p:cNvGrpSpPr/>
        <p:nvPr/>
      </p:nvGrpSpPr>
      <p:grpSpPr>
        <a:xfrm>
          <a:off x="0" y="0"/>
          <a:ext cx="1" cy="1"/>
          <a:chOff x="0" y="0"/>
          <a:chExt cx="1" cy="1"/>
        </a:xfrm>
      </p:grpSpPr>
      <p:sp>
        <p:nvSpPr>
          <p:cNvPr id="2" name="Rectangle 1"/>
          <p:cNvSpPr/>
          <p:nvPr/>
        </p:nvSpPr>
        <p:spPr>
          <a:xfrm>
            <a:off x="0" y="0"/>
            <a:ext cx="146304" cy="6858000"/>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a:spLocks/>
          </p:cNvSpPr>
          <p:nvPr/>
        </p:nvSpPr>
        <p:spPr>
          <a:xfrm>
            <a:off x="658368" y="658368"/>
            <a:ext cx="2743200" cy="274320"/>
          </a:xfrm>
          <a:prstGeom prst="rect">
            <a:avLst/>
          </a:prstGeom>
          <a:noFill/>
        </p:spPr>
        <p:txBody>
          <a:bodyPr wrap="square" lIns="27432" tIns="27432" rIns="27432" bIns="27432" anchor="t">
            <a:spAutoFit/>
          </a:bodyPr>
          <a:lstStyle/>
          <a:p>
            <a:pPr algn="l">
              <a:spcAft>
                <a:spcPts val="0"/>
              </a:spcAft>
            </a:pPr>
            <a:r>
              <a:rPr lang="en-GB" sz="1400" b="1">
                <a:solidFill>
                  <a:srgbClr val="E60012"/>
                </a:solidFill>
              </a:rPr>
              <a:t>FORTIGATE</a:t>
            </a:r>
          </a:p>
        </p:txBody>
      </p:sp>
      <p:sp>
        <p:nvSpPr>
          <p:cNvPr id="4" name="TextBox 3"/>
          <p:cNvSpPr txBox="1">
            <a:spLocks/>
          </p:cNvSpPr>
          <p:nvPr/>
        </p:nvSpPr>
        <p:spPr>
          <a:xfrm>
            <a:off x="658368" y="1261872"/>
            <a:ext cx="7772400" cy="658368"/>
          </a:xfrm>
          <a:prstGeom prst="rect">
            <a:avLst/>
          </a:prstGeom>
          <a:noFill/>
        </p:spPr>
        <p:txBody>
          <a:bodyPr wrap="square" lIns="27432" tIns="27432" rIns="27432" bIns="27432" anchor="t">
            <a:spAutoFit/>
          </a:bodyPr>
          <a:lstStyle/>
          <a:p>
            <a:pPr algn="l">
              <a:spcAft>
                <a:spcPts val="0"/>
              </a:spcAft>
            </a:pPr>
            <a:r>
              <a:rPr lang="en-GB" sz="3800" b="1">
                <a:solidFill>
                  <a:srgbClr val="FFFFFF"/>
                </a:solidFill>
              </a:rPr>
              <a:t>Administrator Course</a:t>
            </a:r>
          </a:p>
        </p:txBody>
      </p:sp>
      <p:sp>
        <p:nvSpPr>
          <p:cNvPr id="5" name="TextBox 4"/>
          <p:cNvSpPr txBox="1">
            <a:spLocks/>
          </p:cNvSpPr>
          <p:nvPr/>
        </p:nvSpPr>
        <p:spPr>
          <a:xfrm>
            <a:off x="658368" y="1975104"/>
            <a:ext cx="6583680" cy="393954"/>
          </a:xfrm>
          <a:prstGeom prst="rect">
            <a:avLst/>
          </a:prstGeom>
          <a:noFill/>
        </p:spPr>
        <p:txBody>
          <a:bodyPr wrap="square" lIns="27432" tIns="27432" rIns="27432" bIns="27432" anchor="t">
            <a:spAutoFit/>
          </a:bodyPr>
          <a:lstStyle/>
          <a:p>
            <a:pPr algn="l">
              <a:spcAft>
                <a:spcPts val="0"/>
              </a:spcAft>
            </a:pPr>
            <a:r>
              <a:rPr lang="en-GB" sz="2200" b="1">
                <a:solidFill>
                  <a:srgbClr val="D8E0EA"/>
                </a:solidFill>
              </a:rPr>
              <a:t>Foundations + Advanced • v1.5</a:t>
            </a:r>
          </a:p>
        </p:txBody>
      </p:sp>
      <p:sp>
        <p:nvSpPr>
          <p:cNvPr id="6" name="TextBox 5"/>
          <p:cNvSpPr txBox="1">
            <a:spLocks/>
          </p:cNvSpPr>
          <p:nvPr/>
        </p:nvSpPr>
        <p:spPr>
          <a:xfrm>
            <a:off x="676656" y="2670048"/>
            <a:ext cx="9692640" cy="320040"/>
          </a:xfrm>
          <a:prstGeom prst="rect">
            <a:avLst/>
          </a:prstGeom>
          <a:noFill/>
        </p:spPr>
        <p:txBody>
          <a:bodyPr wrap="square" lIns="27432" tIns="27432" rIns="27432" bIns="27432" anchor="t">
            <a:spAutoFit/>
          </a:bodyPr>
          <a:lstStyle/>
          <a:p>
            <a:pPr algn="l">
              <a:spcAft>
                <a:spcPts val="0"/>
              </a:spcAft>
            </a:pPr>
            <a:r>
              <a:rPr lang="en-GB" sz="1700" b="0">
                <a:solidFill>
                  <a:srgbClr val="FFFFFF"/>
                </a:solidFill>
              </a:rPr>
              <a:t>Four days • 16 instructor-led blocks • theory with practical handoffs</a:t>
            </a:r>
          </a:p>
        </p:txBody>
      </p:sp>
      <p:sp>
        <p:nvSpPr>
          <p:cNvPr id="7" name="TextBox 6"/>
          <p:cNvSpPr txBox="1">
            <a:spLocks/>
          </p:cNvSpPr>
          <p:nvPr/>
        </p:nvSpPr>
        <p:spPr>
          <a:xfrm>
            <a:off x="676656" y="3310128"/>
            <a:ext cx="9875520" cy="301621"/>
          </a:xfrm>
          <a:prstGeom prst="rect">
            <a:avLst/>
          </a:prstGeom>
          <a:noFill/>
        </p:spPr>
        <p:txBody>
          <a:bodyPr wrap="square" lIns="27432" tIns="27432" rIns="27432" bIns="27432" anchor="t">
            <a:spAutoFit/>
          </a:bodyPr>
          <a:lstStyle/>
          <a:p>
            <a:pPr algn="l">
              <a:spcAft>
                <a:spcPts val="0"/>
              </a:spcAft>
            </a:pPr>
            <a:r>
              <a:rPr lang="en-GB" sz="1600" b="0">
                <a:solidFill>
                  <a:srgbClr val="C9D1DD"/>
                </a:solidFill>
              </a:rPr>
              <a:t>Lab baseline: FortiOS 7.6.7 on Azure FortiGate-VM • physical appliance theory included</a:t>
            </a:r>
          </a:p>
        </p:txBody>
      </p:sp>
      <p:cxnSp>
        <p:nvCxnSpPr>
          <p:cNvPr id="8" name="Connector 7"/>
          <p:cNvCxnSpPr/>
          <p:nvPr/>
        </p:nvCxnSpPr>
        <p:spPr>
          <a:xfrm>
            <a:off x="676656" y="5047488"/>
            <a:ext cx="10479024" cy="0"/>
          </a:xfrm>
          <a:prstGeom prst="line">
            <a:avLst/>
          </a:prstGeom>
          <a:ln w="12700">
            <a:solidFill>
              <a:srgbClr val="40516A"/>
            </a:solidFill>
          </a:ln>
        </p:spPr>
        <p:style>
          <a:lnRef idx="2">
            <a:schemeClr val="accent1"/>
          </a:lnRef>
          <a:fillRef idx="0">
            <a:schemeClr val="accent1"/>
          </a:fillRef>
          <a:effectRef idx="1">
            <a:schemeClr val="accent1"/>
          </a:effectRef>
          <a:fontRef idx="minor">
            <a:schemeClr val="tx1"/>
          </a:fontRef>
        </p:style>
      </p:cxnSp>
      <p:sp>
        <p:nvSpPr>
          <p:cNvPr id="9" name="TextBox 8"/>
          <p:cNvSpPr txBox="1">
            <a:spLocks/>
          </p:cNvSpPr>
          <p:nvPr/>
        </p:nvSpPr>
        <p:spPr>
          <a:xfrm>
            <a:off x="676656" y="5340096"/>
            <a:ext cx="7315200" cy="256032"/>
          </a:xfrm>
          <a:prstGeom prst="rect">
            <a:avLst/>
          </a:prstGeom>
          <a:noFill/>
        </p:spPr>
        <p:txBody>
          <a:bodyPr wrap="square" lIns="27432" tIns="27432" rIns="27432" bIns="27432" anchor="t">
            <a:spAutoFit/>
          </a:bodyPr>
          <a:lstStyle/>
          <a:p>
            <a:pPr algn="l">
              <a:spcAft>
                <a:spcPts val="0"/>
              </a:spcAft>
            </a:pPr>
            <a:r>
              <a:rPr lang="en-GB" sz="1400" b="1">
                <a:solidFill>
                  <a:srgbClr val="FFFFFF"/>
                </a:solidFill>
              </a:rPr>
              <a:t>09:00–16:00 daily  |  Four 90-minute blocks per day</a:t>
            </a:r>
          </a:p>
        </p:txBody>
      </p:sp>
      <p:sp>
        <p:nvSpPr>
          <p:cNvPr id="10" name="TextBox 9"/>
          <p:cNvSpPr txBox="1"/>
          <p:nvPr/>
        </p:nvSpPr>
        <p:spPr>
          <a:xfrm>
            <a:off x="676656" y="5760720"/>
            <a:ext cx="9144000" cy="240066"/>
          </a:xfrm>
          <a:prstGeom prst="rect">
            <a:avLst/>
          </a:prstGeom>
          <a:noFill/>
        </p:spPr>
        <p:txBody>
          <a:bodyPr wrap="square" lIns="27432" tIns="27432" rIns="27432" bIns="27432" anchor="t">
            <a:spAutoFit/>
          </a:bodyPr>
          <a:lstStyle/>
          <a:p>
            <a:pPr algn="l">
              <a:spcAft>
                <a:spcPts val="0"/>
              </a:spcAft>
            </a:pPr>
            <a:r>
              <a:rPr sz="1200" b="0">
                <a:solidFill>
                  <a:srgbClr val="AEB8C6"/>
                </a:solidFill>
              </a:rPr>
              <a:t>Editable theory deck • illustrative addressing • </a:t>
            </a:r>
            <a:r>
              <a:rPr lang="en-GB" sz="1200" b="0">
                <a:solidFill>
                  <a:srgbClr val="AEB8C6"/>
                </a:solidFill>
              </a:rPr>
              <a:t>observable packet and protocol behavior</a:t>
            </a:r>
            <a:endParaRPr sz="1200" b="0">
              <a:solidFill>
                <a:srgbClr val="AEB8C6"/>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46304"/>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2</a:t>
            </a:r>
          </a:p>
        </p:txBody>
      </p:sp>
      <p:sp>
        <p:nvSpPr>
          <p:cNvPr id="9" name="TextBox 8"/>
          <p:cNvSpPr txBox="1">
            <a:spLocks/>
          </p:cNvSpPr>
          <p:nvPr/>
        </p:nvSpPr>
        <p:spPr>
          <a:xfrm>
            <a:off x="502920" y="621792"/>
            <a:ext cx="11109960" cy="455509"/>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Four days build from packet behavior to integrated operations</a:t>
            </a:r>
          </a:p>
        </p:txBody>
      </p:sp>
      <p:sp>
        <p:nvSpPr>
          <p:cNvPr id="10" name="TextBox 9"/>
          <p:cNvSpPr txBox="1">
            <a:spLocks/>
          </p:cNvSpPr>
          <p:nvPr/>
        </p:nvSpPr>
        <p:spPr>
          <a:xfrm>
            <a:off x="521207" y="1133856"/>
            <a:ext cx="10698480" cy="256032"/>
          </a:xfrm>
          <a:prstGeom prst="rect">
            <a:avLst/>
          </a:prstGeom>
          <a:noFill/>
        </p:spPr>
        <p:txBody>
          <a:bodyPr wrap="square" lIns="27432" tIns="27432" rIns="27432" bIns="27432" anchor="t">
            <a:spAutoFit/>
          </a:bodyPr>
          <a:lstStyle/>
          <a:p>
            <a:pPr algn="l">
              <a:spcAft>
                <a:spcPts val="0"/>
              </a:spcAft>
            </a:pPr>
            <a:r>
              <a:rPr lang="en-GB" sz="1100" b="0">
                <a:solidFill>
                  <a:srgbClr val="687385"/>
                </a:solidFill>
              </a:rPr>
              <a:t>Every 90-minute block reserves time for practice and discussion</a:t>
            </a:r>
          </a:p>
        </p:txBody>
      </p:sp>
      <p:sp>
        <p:nvSpPr>
          <p:cNvPr id="11" name="TextBox 10"/>
          <p:cNvSpPr txBox="1">
            <a:spLocks/>
          </p:cNvSpPr>
          <p:nvPr/>
        </p:nvSpPr>
        <p:spPr>
          <a:xfrm>
            <a:off x="658368" y="1600200"/>
            <a:ext cx="2468880" cy="274320"/>
          </a:xfrm>
          <a:prstGeom prst="rect">
            <a:avLst/>
          </a:prstGeom>
          <a:noFill/>
        </p:spPr>
        <p:txBody>
          <a:bodyPr wrap="square" lIns="27432" tIns="27432" rIns="27432" bIns="27432" anchor="t">
            <a:spAutoFit/>
          </a:bodyPr>
          <a:lstStyle/>
          <a:p>
            <a:pPr algn="l">
              <a:spcAft>
                <a:spcPts val="0"/>
              </a:spcAft>
            </a:pPr>
            <a:r>
              <a:rPr lang="en-GB" sz="1300" b="1">
                <a:solidFill>
                  <a:srgbClr val="E60012"/>
                </a:solidFill>
              </a:rPr>
              <a:t>DAY 1</a:t>
            </a:r>
          </a:p>
        </p:txBody>
      </p:sp>
      <p:cxnSp>
        <p:nvCxnSpPr>
          <p:cNvPr id="12" name="Connector 11"/>
          <p:cNvCxnSpPr/>
          <p:nvPr/>
        </p:nvCxnSpPr>
        <p:spPr>
          <a:xfrm>
            <a:off x="658368" y="1965960"/>
            <a:ext cx="2468880"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13" name="TextBox 12"/>
          <p:cNvSpPr txBox="1">
            <a:spLocks/>
          </p:cNvSpPr>
          <p:nvPr/>
        </p:nvSpPr>
        <p:spPr>
          <a:xfrm>
            <a:off x="658368" y="2194560"/>
            <a:ext cx="2468880" cy="201168"/>
          </a:xfrm>
          <a:prstGeom prst="rect">
            <a:avLst/>
          </a:prstGeom>
          <a:noFill/>
        </p:spPr>
        <p:txBody>
          <a:bodyPr wrap="square" lIns="27432" tIns="27432" rIns="27432" bIns="27432" anchor="t">
            <a:spAutoFit/>
          </a:bodyPr>
          <a:lstStyle/>
          <a:p>
            <a:pPr algn="l">
              <a:spcAft>
                <a:spcPts val="0"/>
              </a:spcAft>
            </a:pPr>
            <a:r>
              <a:rPr lang="en-HU" sz="1000" b="1">
                <a:solidFill>
                  <a:srgbClr val="687385"/>
                </a:solidFill>
              </a:rPr>
              <a:t>09:00–10:30</a:t>
            </a:r>
          </a:p>
        </p:txBody>
      </p:sp>
      <p:sp>
        <p:nvSpPr>
          <p:cNvPr id="14" name="TextBox 13"/>
          <p:cNvSpPr txBox="1">
            <a:spLocks/>
          </p:cNvSpPr>
          <p:nvPr/>
        </p:nvSpPr>
        <p:spPr>
          <a:xfrm>
            <a:off x="658368" y="2450591"/>
            <a:ext cx="2468880" cy="640080"/>
          </a:xfrm>
          <a:prstGeom prst="rect">
            <a:avLst/>
          </a:prstGeom>
          <a:noFill/>
        </p:spPr>
        <p:txBody>
          <a:bodyPr wrap="square" lIns="27432" tIns="27432" rIns="27432" bIns="27432" anchor="t">
            <a:spAutoFit/>
          </a:bodyPr>
          <a:lstStyle/>
          <a:p>
            <a:pPr algn="l">
              <a:spcAft>
                <a:spcPts val="0"/>
              </a:spcAft>
            </a:pPr>
            <a:r>
              <a:rPr lang="en-GB" sz="1500" b="1">
                <a:solidFill>
                  <a:srgbClr val="1E2B40"/>
                </a:solidFill>
              </a:rPr>
              <a:t>Network Foundations &amp; FortiGate Packet Flow</a:t>
            </a:r>
          </a:p>
        </p:txBody>
      </p:sp>
      <p:sp>
        <p:nvSpPr>
          <p:cNvPr id="15" name="TextBox 14"/>
          <p:cNvSpPr txBox="1">
            <a:spLocks/>
          </p:cNvSpPr>
          <p:nvPr/>
        </p:nvSpPr>
        <p:spPr>
          <a:xfrm>
            <a:off x="658368" y="3127248"/>
            <a:ext cx="2468880" cy="201168"/>
          </a:xfrm>
          <a:prstGeom prst="rect">
            <a:avLst/>
          </a:prstGeom>
          <a:noFill/>
        </p:spPr>
        <p:txBody>
          <a:bodyPr wrap="square" lIns="27432" tIns="27432" rIns="27432" bIns="27432" anchor="t">
            <a:spAutoFit/>
          </a:bodyPr>
          <a:lstStyle/>
          <a:p>
            <a:pPr algn="l">
              <a:spcAft>
                <a:spcPts val="0"/>
              </a:spcAft>
            </a:pPr>
            <a:r>
              <a:rPr lang="en-HU" sz="1000" b="1">
                <a:solidFill>
                  <a:srgbClr val="687385"/>
                </a:solidFill>
              </a:rPr>
              <a:t>10:30–12:00</a:t>
            </a:r>
          </a:p>
        </p:txBody>
      </p:sp>
      <p:sp>
        <p:nvSpPr>
          <p:cNvPr id="16" name="TextBox 15"/>
          <p:cNvSpPr txBox="1">
            <a:spLocks/>
          </p:cNvSpPr>
          <p:nvPr/>
        </p:nvSpPr>
        <p:spPr>
          <a:xfrm>
            <a:off x="658368" y="3383280"/>
            <a:ext cx="2468880" cy="640080"/>
          </a:xfrm>
          <a:prstGeom prst="rect">
            <a:avLst/>
          </a:prstGeom>
          <a:noFill/>
        </p:spPr>
        <p:txBody>
          <a:bodyPr wrap="square" lIns="27432" tIns="27432" rIns="27432" bIns="27432" anchor="t">
            <a:spAutoFit/>
          </a:bodyPr>
          <a:lstStyle/>
          <a:p>
            <a:pPr algn="l">
              <a:spcAft>
                <a:spcPts val="0"/>
              </a:spcAft>
            </a:pPr>
            <a:r>
              <a:rPr lang="en-GB" sz="1500" b="1">
                <a:solidFill>
                  <a:srgbClr val="1E2B40"/>
                </a:solidFill>
              </a:rPr>
              <a:t>FortiGate Introduction &amp; Initial Configuration</a:t>
            </a:r>
          </a:p>
        </p:txBody>
      </p:sp>
      <p:sp>
        <p:nvSpPr>
          <p:cNvPr id="17" name="TextBox 16"/>
          <p:cNvSpPr txBox="1">
            <a:spLocks/>
          </p:cNvSpPr>
          <p:nvPr/>
        </p:nvSpPr>
        <p:spPr>
          <a:xfrm>
            <a:off x="658368" y="4059935"/>
            <a:ext cx="2468880" cy="201168"/>
          </a:xfrm>
          <a:prstGeom prst="rect">
            <a:avLst/>
          </a:prstGeom>
          <a:noFill/>
        </p:spPr>
        <p:txBody>
          <a:bodyPr wrap="square" lIns="27432" tIns="27432" rIns="27432" bIns="27432" anchor="t">
            <a:spAutoFit/>
          </a:bodyPr>
          <a:lstStyle/>
          <a:p>
            <a:pPr algn="l">
              <a:spcAft>
                <a:spcPts val="0"/>
              </a:spcAft>
            </a:pPr>
            <a:r>
              <a:rPr lang="en-HU" sz="1000" b="1">
                <a:solidFill>
                  <a:srgbClr val="687385"/>
                </a:solidFill>
              </a:rPr>
              <a:t>13:00–14:30</a:t>
            </a:r>
          </a:p>
        </p:txBody>
      </p:sp>
      <p:sp>
        <p:nvSpPr>
          <p:cNvPr id="18" name="TextBox 17"/>
          <p:cNvSpPr txBox="1">
            <a:spLocks/>
          </p:cNvSpPr>
          <p:nvPr/>
        </p:nvSpPr>
        <p:spPr>
          <a:xfrm>
            <a:off x="658368" y="4315968"/>
            <a:ext cx="2468880" cy="640080"/>
          </a:xfrm>
          <a:prstGeom prst="rect">
            <a:avLst/>
          </a:prstGeom>
          <a:noFill/>
        </p:spPr>
        <p:txBody>
          <a:bodyPr wrap="square" lIns="27432" tIns="27432" rIns="27432" bIns="27432" anchor="t">
            <a:spAutoFit/>
          </a:bodyPr>
          <a:lstStyle/>
          <a:p>
            <a:pPr algn="l">
              <a:spcAft>
                <a:spcPts val="0"/>
              </a:spcAft>
            </a:pPr>
            <a:r>
              <a:rPr lang="en-GB" sz="1500" b="1">
                <a:solidFill>
                  <a:srgbClr val="1E2B40"/>
                </a:solidFill>
              </a:rPr>
              <a:t>Segmentation, Zones &amp; Firewall Policy Design</a:t>
            </a:r>
          </a:p>
        </p:txBody>
      </p:sp>
      <p:sp>
        <p:nvSpPr>
          <p:cNvPr id="19" name="TextBox 18"/>
          <p:cNvSpPr txBox="1">
            <a:spLocks/>
          </p:cNvSpPr>
          <p:nvPr/>
        </p:nvSpPr>
        <p:spPr>
          <a:xfrm>
            <a:off x="658368" y="4992623"/>
            <a:ext cx="2468880" cy="201168"/>
          </a:xfrm>
          <a:prstGeom prst="rect">
            <a:avLst/>
          </a:prstGeom>
          <a:noFill/>
        </p:spPr>
        <p:txBody>
          <a:bodyPr wrap="square" lIns="27432" tIns="27432" rIns="27432" bIns="27432" anchor="t">
            <a:spAutoFit/>
          </a:bodyPr>
          <a:lstStyle/>
          <a:p>
            <a:pPr algn="l">
              <a:spcAft>
                <a:spcPts val="0"/>
              </a:spcAft>
            </a:pPr>
            <a:r>
              <a:rPr lang="en-HU" sz="1000" b="1">
                <a:solidFill>
                  <a:srgbClr val="687385"/>
                </a:solidFill>
              </a:rPr>
              <a:t>14:30–16:00</a:t>
            </a:r>
          </a:p>
        </p:txBody>
      </p:sp>
      <p:sp>
        <p:nvSpPr>
          <p:cNvPr id="20" name="TextBox 19"/>
          <p:cNvSpPr txBox="1"/>
          <p:nvPr/>
        </p:nvSpPr>
        <p:spPr>
          <a:xfrm>
            <a:off x="658368" y="5248655"/>
            <a:ext cx="2468880" cy="640080"/>
          </a:xfrm>
          <a:prstGeom prst="rect">
            <a:avLst/>
          </a:prstGeom>
          <a:noFill/>
        </p:spPr>
        <p:txBody>
          <a:bodyPr wrap="square" lIns="27432" tIns="27432" rIns="27432" bIns="27432" anchor="t">
            <a:spAutoFit/>
          </a:bodyPr>
          <a:lstStyle/>
          <a:p>
            <a:pPr algn="l">
              <a:spcAft>
                <a:spcPts val="0"/>
              </a:spcAft>
            </a:pPr>
            <a:r>
              <a:rPr sz="1500" b="1">
                <a:solidFill>
                  <a:srgbClr val="1E2B40"/>
                </a:solidFill>
              </a:rPr>
              <a:t>NAT, Logging &amp; CLI Troubleshooting</a:t>
            </a:r>
          </a:p>
        </p:txBody>
      </p:sp>
      <p:sp>
        <p:nvSpPr>
          <p:cNvPr id="21" name="TextBox 20"/>
          <p:cNvSpPr txBox="1"/>
          <p:nvPr/>
        </p:nvSpPr>
        <p:spPr>
          <a:xfrm>
            <a:off x="3429000" y="1600200"/>
            <a:ext cx="2468880" cy="274320"/>
          </a:xfrm>
          <a:prstGeom prst="rect">
            <a:avLst/>
          </a:prstGeom>
          <a:noFill/>
        </p:spPr>
        <p:txBody>
          <a:bodyPr wrap="square" lIns="27432" tIns="27432" rIns="27432" bIns="27432" anchor="t">
            <a:spAutoFit/>
          </a:bodyPr>
          <a:lstStyle/>
          <a:p>
            <a:pPr algn="l">
              <a:spcAft>
                <a:spcPts val="0"/>
              </a:spcAft>
            </a:pPr>
            <a:r>
              <a:rPr sz="1300" b="1">
                <a:solidFill>
                  <a:srgbClr val="E60012"/>
                </a:solidFill>
              </a:rPr>
              <a:t>DAY 2</a:t>
            </a:r>
          </a:p>
        </p:txBody>
      </p:sp>
      <p:cxnSp>
        <p:nvCxnSpPr>
          <p:cNvPr id="22" name="Connector 21"/>
          <p:cNvCxnSpPr/>
          <p:nvPr/>
        </p:nvCxnSpPr>
        <p:spPr>
          <a:xfrm>
            <a:off x="3429000" y="1965960"/>
            <a:ext cx="2468880"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429000" y="2194560"/>
            <a:ext cx="2468880" cy="201168"/>
          </a:xfrm>
          <a:prstGeom prst="rect">
            <a:avLst/>
          </a:prstGeom>
          <a:noFill/>
        </p:spPr>
        <p:txBody>
          <a:bodyPr wrap="square" lIns="27432" tIns="27432" rIns="27432" bIns="27432" anchor="t">
            <a:spAutoFit/>
          </a:bodyPr>
          <a:lstStyle/>
          <a:p>
            <a:pPr algn="l">
              <a:spcAft>
                <a:spcPts val="0"/>
              </a:spcAft>
            </a:pPr>
            <a:r>
              <a:rPr sz="1000" b="1">
                <a:solidFill>
                  <a:srgbClr val="687385"/>
                </a:solidFill>
              </a:rPr>
              <a:t>09:00–10:30</a:t>
            </a:r>
          </a:p>
        </p:txBody>
      </p:sp>
      <p:sp>
        <p:nvSpPr>
          <p:cNvPr id="24" name="TextBox 23"/>
          <p:cNvSpPr txBox="1"/>
          <p:nvPr/>
        </p:nvSpPr>
        <p:spPr>
          <a:xfrm>
            <a:off x="3429000" y="2450591"/>
            <a:ext cx="2468880" cy="640080"/>
          </a:xfrm>
          <a:prstGeom prst="rect">
            <a:avLst/>
          </a:prstGeom>
          <a:noFill/>
        </p:spPr>
        <p:txBody>
          <a:bodyPr wrap="square" lIns="27432" tIns="27432" rIns="27432" bIns="27432" anchor="t">
            <a:spAutoFit/>
          </a:bodyPr>
          <a:lstStyle/>
          <a:p>
            <a:pPr algn="l">
              <a:spcAft>
                <a:spcPts val="0"/>
              </a:spcAft>
            </a:pPr>
            <a:r>
              <a:rPr sz="1500" b="1">
                <a:solidFill>
                  <a:srgbClr val="1E2B40"/>
                </a:solidFill>
              </a:rPr>
              <a:t>Routing Fundamentals &amp; Route Selection</a:t>
            </a:r>
          </a:p>
        </p:txBody>
      </p:sp>
      <p:sp>
        <p:nvSpPr>
          <p:cNvPr id="25" name="TextBox 24"/>
          <p:cNvSpPr txBox="1"/>
          <p:nvPr/>
        </p:nvSpPr>
        <p:spPr>
          <a:xfrm>
            <a:off x="3429000" y="3127248"/>
            <a:ext cx="2468880" cy="201168"/>
          </a:xfrm>
          <a:prstGeom prst="rect">
            <a:avLst/>
          </a:prstGeom>
          <a:noFill/>
        </p:spPr>
        <p:txBody>
          <a:bodyPr wrap="square" lIns="27432" tIns="27432" rIns="27432" bIns="27432" anchor="t">
            <a:spAutoFit/>
          </a:bodyPr>
          <a:lstStyle/>
          <a:p>
            <a:pPr algn="l">
              <a:spcAft>
                <a:spcPts val="0"/>
              </a:spcAft>
            </a:pPr>
            <a:r>
              <a:rPr sz="1000" b="1">
                <a:solidFill>
                  <a:srgbClr val="687385"/>
                </a:solidFill>
              </a:rPr>
              <a:t>10:30–12:00</a:t>
            </a:r>
          </a:p>
        </p:txBody>
      </p:sp>
      <p:sp>
        <p:nvSpPr>
          <p:cNvPr id="26" name="TextBox 25"/>
          <p:cNvSpPr txBox="1"/>
          <p:nvPr/>
        </p:nvSpPr>
        <p:spPr>
          <a:xfrm>
            <a:off x="3429000" y="3383280"/>
            <a:ext cx="2468880" cy="640080"/>
          </a:xfrm>
          <a:prstGeom prst="rect">
            <a:avLst/>
          </a:prstGeom>
          <a:noFill/>
        </p:spPr>
        <p:txBody>
          <a:bodyPr wrap="square" lIns="27432" tIns="27432" rIns="27432" bIns="27432" anchor="t">
            <a:spAutoFit/>
          </a:bodyPr>
          <a:lstStyle/>
          <a:p>
            <a:pPr algn="l">
              <a:spcAft>
                <a:spcPts val="0"/>
              </a:spcAft>
            </a:pPr>
            <a:r>
              <a:rPr sz="1500" b="1">
                <a:solidFill>
                  <a:srgbClr val="1E2B40"/>
                </a:solidFill>
              </a:rPr>
              <a:t>Object Management &amp; Policy Design Best Practices</a:t>
            </a:r>
          </a:p>
        </p:txBody>
      </p:sp>
      <p:sp>
        <p:nvSpPr>
          <p:cNvPr id="27" name="TextBox 26"/>
          <p:cNvSpPr txBox="1"/>
          <p:nvPr/>
        </p:nvSpPr>
        <p:spPr>
          <a:xfrm>
            <a:off x="3429000" y="4059935"/>
            <a:ext cx="2468880" cy="201168"/>
          </a:xfrm>
          <a:prstGeom prst="rect">
            <a:avLst/>
          </a:prstGeom>
          <a:noFill/>
        </p:spPr>
        <p:txBody>
          <a:bodyPr wrap="square" lIns="27432" tIns="27432" rIns="27432" bIns="27432" anchor="t">
            <a:spAutoFit/>
          </a:bodyPr>
          <a:lstStyle/>
          <a:p>
            <a:pPr algn="l">
              <a:spcAft>
                <a:spcPts val="0"/>
              </a:spcAft>
            </a:pPr>
            <a:r>
              <a:rPr sz="1000" b="1">
                <a:solidFill>
                  <a:srgbClr val="687385"/>
                </a:solidFill>
              </a:rPr>
              <a:t>13:00–14:30</a:t>
            </a:r>
          </a:p>
        </p:txBody>
      </p:sp>
      <p:sp>
        <p:nvSpPr>
          <p:cNvPr id="28" name="TextBox 27"/>
          <p:cNvSpPr txBox="1"/>
          <p:nvPr/>
        </p:nvSpPr>
        <p:spPr>
          <a:xfrm>
            <a:off x="3429000" y="4315968"/>
            <a:ext cx="2468880" cy="640080"/>
          </a:xfrm>
          <a:prstGeom prst="rect">
            <a:avLst/>
          </a:prstGeom>
          <a:noFill/>
        </p:spPr>
        <p:txBody>
          <a:bodyPr wrap="square" lIns="27432" tIns="27432" rIns="27432" bIns="27432" anchor="t">
            <a:spAutoFit/>
          </a:bodyPr>
          <a:lstStyle/>
          <a:p>
            <a:pPr algn="l">
              <a:spcAft>
                <a:spcPts val="0"/>
              </a:spcAft>
            </a:pPr>
            <a:r>
              <a:rPr sz="1500" b="1">
                <a:solidFill>
                  <a:srgbClr val="1E2B40"/>
                </a:solidFill>
              </a:rPr>
              <a:t>Security Services &amp; SSL Inspection</a:t>
            </a:r>
          </a:p>
        </p:txBody>
      </p:sp>
      <p:sp>
        <p:nvSpPr>
          <p:cNvPr id="29" name="TextBox 28"/>
          <p:cNvSpPr txBox="1"/>
          <p:nvPr/>
        </p:nvSpPr>
        <p:spPr>
          <a:xfrm>
            <a:off x="3429000" y="4992623"/>
            <a:ext cx="2468880" cy="201168"/>
          </a:xfrm>
          <a:prstGeom prst="rect">
            <a:avLst/>
          </a:prstGeom>
          <a:noFill/>
        </p:spPr>
        <p:txBody>
          <a:bodyPr wrap="square" lIns="27432" tIns="27432" rIns="27432" bIns="27432" anchor="t">
            <a:spAutoFit/>
          </a:bodyPr>
          <a:lstStyle/>
          <a:p>
            <a:pPr algn="l">
              <a:spcAft>
                <a:spcPts val="0"/>
              </a:spcAft>
            </a:pPr>
            <a:r>
              <a:rPr sz="1000" b="1">
                <a:solidFill>
                  <a:srgbClr val="687385"/>
                </a:solidFill>
              </a:rPr>
              <a:t>14:30–16:00</a:t>
            </a:r>
          </a:p>
        </p:txBody>
      </p:sp>
      <p:sp>
        <p:nvSpPr>
          <p:cNvPr id="30" name="TextBox 29"/>
          <p:cNvSpPr txBox="1"/>
          <p:nvPr/>
        </p:nvSpPr>
        <p:spPr>
          <a:xfrm>
            <a:off x="3429000" y="5248655"/>
            <a:ext cx="2468880" cy="640080"/>
          </a:xfrm>
          <a:prstGeom prst="rect">
            <a:avLst/>
          </a:prstGeom>
          <a:noFill/>
        </p:spPr>
        <p:txBody>
          <a:bodyPr wrap="square" lIns="27432" tIns="27432" rIns="27432" bIns="27432" anchor="t">
            <a:spAutoFit/>
          </a:bodyPr>
          <a:lstStyle/>
          <a:p>
            <a:pPr algn="l">
              <a:spcAft>
                <a:spcPts val="0"/>
              </a:spcAft>
            </a:pPr>
            <a:r>
              <a:rPr sz="1500" b="1">
                <a:solidFill>
                  <a:srgbClr val="1E2B40"/>
                </a:solidFill>
              </a:rPr>
              <a:t>FortiGate Hardware Architecture, Monitoring &amp; Operations</a:t>
            </a:r>
          </a:p>
        </p:txBody>
      </p:sp>
      <p:sp>
        <p:nvSpPr>
          <p:cNvPr id="31" name="TextBox 30"/>
          <p:cNvSpPr txBox="1"/>
          <p:nvPr/>
        </p:nvSpPr>
        <p:spPr>
          <a:xfrm>
            <a:off x="6199631" y="1600200"/>
            <a:ext cx="2468880" cy="274320"/>
          </a:xfrm>
          <a:prstGeom prst="rect">
            <a:avLst/>
          </a:prstGeom>
          <a:noFill/>
        </p:spPr>
        <p:txBody>
          <a:bodyPr wrap="square" lIns="27432" tIns="27432" rIns="27432" bIns="27432" anchor="t">
            <a:spAutoFit/>
          </a:bodyPr>
          <a:lstStyle/>
          <a:p>
            <a:pPr algn="l">
              <a:spcAft>
                <a:spcPts val="0"/>
              </a:spcAft>
            </a:pPr>
            <a:r>
              <a:rPr sz="1300" b="1">
                <a:solidFill>
                  <a:srgbClr val="E60012"/>
                </a:solidFill>
              </a:rPr>
              <a:t>DAY 3</a:t>
            </a:r>
          </a:p>
        </p:txBody>
      </p:sp>
      <p:cxnSp>
        <p:nvCxnSpPr>
          <p:cNvPr id="32" name="Connector 31"/>
          <p:cNvCxnSpPr/>
          <p:nvPr/>
        </p:nvCxnSpPr>
        <p:spPr>
          <a:xfrm>
            <a:off x="6199631" y="1965960"/>
            <a:ext cx="2468881"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199631" y="2194560"/>
            <a:ext cx="2468880" cy="201168"/>
          </a:xfrm>
          <a:prstGeom prst="rect">
            <a:avLst/>
          </a:prstGeom>
          <a:noFill/>
        </p:spPr>
        <p:txBody>
          <a:bodyPr wrap="square" lIns="27432" tIns="27432" rIns="27432" bIns="27432" anchor="t">
            <a:spAutoFit/>
          </a:bodyPr>
          <a:lstStyle/>
          <a:p>
            <a:pPr algn="l">
              <a:spcAft>
                <a:spcPts val="0"/>
              </a:spcAft>
            </a:pPr>
            <a:r>
              <a:rPr sz="1000" b="1">
                <a:solidFill>
                  <a:srgbClr val="687385"/>
                </a:solidFill>
              </a:rPr>
              <a:t>09:00–10:30</a:t>
            </a:r>
          </a:p>
        </p:txBody>
      </p:sp>
      <p:sp>
        <p:nvSpPr>
          <p:cNvPr id="34" name="TextBox 33"/>
          <p:cNvSpPr txBox="1"/>
          <p:nvPr/>
        </p:nvSpPr>
        <p:spPr>
          <a:xfrm>
            <a:off x="6199631" y="2450591"/>
            <a:ext cx="2468880" cy="640080"/>
          </a:xfrm>
          <a:prstGeom prst="rect">
            <a:avLst/>
          </a:prstGeom>
          <a:noFill/>
        </p:spPr>
        <p:txBody>
          <a:bodyPr wrap="square" lIns="27432" tIns="27432" rIns="27432" bIns="27432" anchor="t">
            <a:spAutoFit/>
          </a:bodyPr>
          <a:lstStyle/>
          <a:p>
            <a:pPr algn="l">
              <a:spcAft>
                <a:spcPts val="0"/>
              </a:spcAft>
            </a:pPr>
            <a:r>
              <a:rPr sz="1500" b="1">
                <a:solidFill>
                  <a:srgbClr val="1E2B40"/>
                </a:solidFill>
              </a:rPr>
              <a:t>Route Selection, PBR &amp; OSPF</a:t>
            </a:r>
          </a:p>
        </p:txBody>
      </p:sp>
      <p:sp>
        <p:nvSpPr>
          <p:cNvPr id="35" name="TextBox 34"/>
          <p:cNvSpPr txBox="1"/>
          <p:nvPr/>
        </p:nvSpPr>
        <p:spPr>
          <a:xfrm>
            <a:off x="6199631" y="3127248"/>
            <a:ext cx="2468880" cy="201168"/>
          </a:xfrm>
          <a:prstGeom prst="rect">
            <a:avLst/>
          </a:prstGeom>
          <a:noFill/>
        </p:spPr>
        <p:txBody>
          <a:bodyPr wrap="square" lIns="27432" tIns="27432" rIns="27432" bIns="27432" anchor="t">
            <a:spAutoFit/>
          </a:bodyPr>
          <a:lstStyle/>
          <a:p>
            <a:pPr algn="l">
              <a:spcAft>
                <a:spcPts val="0"/>
              </a:spcAft>
            </a:pPr>
            <a:r>
              <a:rPr sz="1000" b="1">
                <a:solidFill>
                  <a:srgbClr val="687385"/>
                </a:solidFill>
              </a:rPr>
              <a:t>10:30–12:00</a:t>
            </a:r>
          </a:p>
        </p:txBody>
      </p:sp>
      <p:sp>
        <p:nvSpPr>
          <p:cNvPr id="36" name="TextBox 35"/>
          <p:cNvSpPr txBox="1"/>
          <p:nvPr/>
        </p:nvSpPr>
        <p:spPr>
          <a:xfrm>
            <a:off x="6199631" y="3383280"/>
            <a:ext cx="2468880" cy="640080"/>
          </a:xfrm>
          <a:prstGeom prst="rect">
            <a:avLst/>
          </a:prstGeom>
          <a:noFill/>
        </p:spPr>
        <p:txBody>
          <a:bodyPr wrap="square" lIns="27432" tIns="27432" rIns="27432" bIns="27432" anchor="t">
            <a:spAutoFit/>
          </a:bodyPr>
          <a:lstStyle/>
          <a:p>
            <a:pPr algn="l">
              <a:spcAft>
                <a:spcPts val="0"/>
              </a:spcAft>
            </a:pPr>
            <a:r>
              <a:rPr sz="1500" b="1">
                <a:solidFill>
                  <a:srgbClr val="1E2B40"/>
                </a:solidFill>
              </a:rPr>
              <a:t>BGP Fundamentals &amp; Practical Use</a:t>
            </a:r>
          </a:p>
        </p:txBody>
      </p:sp>
      <p:sp>
        <p:nvSpPr>
          <p:cNvPr id="37" name="TextBox 36"/>
          <p:cNvSpPr txBox="1"/>
          <p:nvPr/>
        </p:nvSpPr>
        <p:spPr>
          <a:xfrm>
            <a:off x="6199631" y="4059935"/>
            <a:ext cx="2468880" cy="201168"/>
          </a:xfrm>
          <a:prstGeom prst="rect">
            <a:avLst/>
          </a:prstGeom>
          <a:noFill/>
        </p:spPr>
        <p:txBody>
          <a:bodyPr wrap="square" lIns="27432" tIns="27432" rIns="27432" bIns="27432" anchor="t">
            <a:spAutoFit/>
          </a:bodyPr>
          <a:lstStyle/>
          <a:p>
            <a:pPr algn="l">
              <a:spcAft>
                <a:spcPts val="0"/>
              </a:spcAft>
            </a:pPr>
            <a:r>
              <a:rPr sz="1000" b="1">
                <a:solidFill>
                  <a:srgbClr val="687385"/>
                </a:solidFill>
              </a:rPr>
              <a:t>13:00–14:30</a:t>
            </a:r>
          </a:p>
        </p:txBody>
      </p:sp>
      <p:sp>
        <p:nvSpPr>
          <p:cNvPr id="38" name="TextBox 37"/>
          <p:cNvSpPr txBox="1"/>
          <p:nvPr/>
        </p:nvSpPr>
        <p:spPr>
          <a:xfrm>
            <a:off x="6199631" y="4315968"/>
            <a:ext cx="2468880" cy="640080"/>
          </a:xfrm>
          <a:prstGeom prst="rect">
            <a:avLst/>
          </a:prstGeom>
          <a:noFill/>
        </p:spPr>
        <p:txBody>
          <a:bodyPr wrap="square" lIns="27432" tIns="27432" rIns="27432" bIns="27432" anchor="t">
            <a:spAutoFit/>
          </a:bodyPr>
          <a:lstStyle/>
          <a:p>
            <a:pPr algn="l">
              <a:spcAft>
                <a:spcPts val="0"/>
              </a:spcAft>
            </a:pPr>
            <a:r>
              <a:rPr sz="1500" b="1">
                <a:solidFill>
                  <a:srgbClr val="1E2B40"/>
                </a:solidFill>
              </a:rPr>
              <a:t>IPsec VPN Architecture &amp; ADVPN</a:t>
            </a:r>
          </a:p>
        </p:txBody>
      </p:sp>
      <p:sp>
        <p:nvSpPr>
          <p:cNvPr id="39" name="TextBox 38"/>
          <p:cNvSpPr txBox="1"/>
          <p:nvPr/>
        </p:nvSpPr>
        <p:spPr>
          <a:xfrm>
            <a:off x="6199631" y="4992623"/>
            <a:ext cx="2468880" cy="201168"/>
          </a:xfrm>
          <a:prstGeom prst="rect">
            <a:avLst/>
          </a:prstGeom>
          <a:noFill/>
        </p:spPr>
        <p:txBody>
          <a:bodyPr wrap="square" lIns="27432" tIns="27432" rIns="27432" bIns="27432" anchor="t">
            <a:spAutoFit/>
          </a:bodyPr>
          <a:lstStyle/>
          <a:p>
            <a:pPr algn="l">
              <a:spcAft>
                <a:spcPts val="0"/>
              </a:spcAft>
            </a:pPr>
            <a:r>
              <a:rPr sz="1000" b="1">
                <a:solidFill>
                  <a:srgbClr val="687385"/>
                </a:solidFill>
              </a:rPr>
              <a:t>14:30–16:00</a:t>
            </a:r>
          </a:p>
        </p:txBody>
      </p:sp>
      <p:sp>
        <p:nvSpPr>
          <p:cNvPr id="40" name="TextBox 39"/>
          <p:cNvSpPr txBox="1"/>
          <p:nvPr/>
        </p:nvSpPr>
        <p:spPr>
          <a:xfrm>
            <a:off x="6199631" y="5248655"/>
            <a:ext cx="2468880" cy="640080"/>
          </a:xfrm>
          <a:prstGeom prst="rect">
            <a:avLst/>
          </a:prstGeom>
          <a:noFill/>
        </p:spPr>
        <p:txBody>
          <a:bodyPr wrap="square" lIns="27432" tIns="27432" rIns="27432" bIns="27432" anchor="t">
            <a:spAutoFit/>
          </a:bodyPr>
          <a:lstStyle/>
          <a:p>
            <a:pPr algn="l">
              <a:spcAft>
                <a:spcPts val="0"/>
              </a:spcAft>
            </a:pPr>
            <a:r>
              <a:rPr sz="1500" b="1">
                <a:solidFill>
                  <a:srgbClr val="1E2B40"/>
                </a:solidFill>
              </a:rPr>
              <a:t>VPN Troubleshooting &amp; Operational Validation</a:t>
            </a:r>
          </a:p>
        </p:txBody>
      </p:sp>
      <p:sp>
        <p:nvSpPr>
          <p:cNvPr id="41" name="TextBox 40"/>
          <p:cNvSpPr txBox="1"/>
          <p:nvPr/>
        </p:nvSpPr>
        <p:spPr>
          <a:xfrm>
            <a:off x="8970264" y="1600200"/>
            <a:ext cx="2468880" cy="274320"/>
          </a:xfrm>
          <a:prstGeom prst="rect">
            <a:avLst/>
          </a:prstGeom>
          <a:noFill/>
        </p:spPr>
        <p:txBody>
          <a:bodyPr wrap="square" lIns="27432" tIns="27432" rIns="27432" bIns="27432" anchor="t">
            <a:spAutoFit/>
          </a:bodyPr>
          <a:lstStyle/>
          <a:p>
            <a:pPr algn="l">
              <a:spcAft>
                <a:spcPts val="0"/>
              </a:spcAft>
            </a:pPr>
            <a:r>
              <a:rPr sz="1300" b="1">
                <a:solidFill>
                  <a:srgbClr val="E60012"/>
                </a:solidFill>
              </a:rPr>
              <a:t>DAY 4</a:t>
            </a:r>
          </a:p>
        </p:txBody>
      </p:sp>
      <p:cxnSp>
        <p:nvCxnSpPr>
          <p:cNvPr id="42" name="Connector 41"/>
          <p:cNvCxnSpPr/>
          <p:nvPr/>
        </p:nvCxnSpPr>
        <p:spPr>
          <a:xfrm>
            <a:off x="8970264" y="1965960"/>
            <a:ext cx="2468880"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8970264" y="2194560"/>
            <a:ext cx="2468880" cy="201168"/>
          </a:xfrm>
          <a:prstGeom prst="rect">
            <a:avLst/>
          </a:prstGeom>
          <a:noFill/>
        </p:spPr>
        <p:txBody>
          <a:bodyPr wrap="square" lIns="27432" tIns="27432" rIns="27432" bIns="27432" anchor="t">
            <a:spAutoFit/>
          </a:bodyPr>
          <a:lstStyle/>
          <a:p>
            <a:pPr algn="l">
              <a:spcAft>
                <a:spcPts val="0"/>
              </a:spcAft>
            </a:pPr>
            <a:r>
              <a:rPr sz="1000" b="1">
                <a:solidFill>
                  <a:srgbClr val="687385"/>
                </a:solidFill>
              </a:rPr>
              <a:t>09:00–10:30</a:t>
            </a:r>
          </a:p>
        </p:txBody>
      </p:sp>
      <p:sp>
        <p:nvSpPr>
          <p:cNvPr id="44" name="TextBox 43"/>
          <p:cNvSpPr txBox="1"/>
          <p:nvPr/>
        </p:nvSpPr>
        <p:spPr>
          <a:xfrm>
            <a:off x="8970264" y="2450591"/>
            <a:ext cx="2468880" cy="640080"/>
          </a:xfrm>
          <a:prstGeom prst="rect">
            <a:avLst/>
          </a:prstGeom>
          <a:noFill/>
        </p:spPr>
        <p:txBody>
          <a:bodyPr wrap="square" lIns="27432" tIns="27432" rIns="27432" bIns="27432" anchor="t">
            <a:spAutoFit/>
          </a:bodyPr>
          <a:lstStyle/>
          <a:p>
            <a:pPr algn="l">
              <a:spcAft>
                <a:spcPts val="0"/>
              </a:spcAft>
            </a:pPr>
            <a:r>
              <a:rPr sz="1500" b="1">
                <a:solidFill>
                  <a:srgbClr val="1E2B40"/>
                </a:solidFill>
              </a:rPr>
              <a:t>FortiClient Architecture &amp; EMS Awareness</a:t>
            </a:r>
          </a:p>
        </p:txBody>
      </p:sp>
      <p:sp>
        <p:nvSpPr>
          <p:cNvPr id="45" name="TextBox 44"/>
          <p:cNvSpPr txBox="1"/>
          <p:nvPr/>
        </p:nvSpPr>
        <p:spPr>
          <a:xfrm>
            <a:off x="8970264" y="3127248"/>
            <a:ext cx="2468880" cy="201168"/>
          </a:xfrm>
          <a:prstGeom prst="rect">
            <a:avLst/>
          </a:prstGeom>
          <a:noFill/>
        </p:spPr>
        <p:txBody>
          <a:bodyPr wrap="square" lIns="27432" tIns="27432" rIns="27432" bIns="27432" anchor="t">
            <a:spAutoFit/>
          </a:bodyPr>
          <a:lstStyle/>
          <a:p>
            <a:pPr algn="l">
              <a:spcAft>
                <a:spcPts val="0"/>
              </a:spcAft>
            </a:pPr>
            <a:r>
              <a:rPr sz="1000" b="1">
                <a:solidFill>
                  <a:srgbClr val="687385"/>
                </a:solidFill>
              </a:rPr>
              <a:t>10:30–12:00</a:t>
            </a:r>
          </a:p>
        </p:txBody>
      </p:sp>
      <p:sp>
        <p:nvSpPr>
          <p:cNvPr id="46" name="TextBox 45"/>
          <p:cNvSpPr txBox="1"/>
          <p:nvPr/>
        </p:nvSpPr>
        <p:spPr>
          <a:xfrm>
            <a:off x="8970264" y="3383280"/>
            <a:ext cx="2468880" cy="640080"/>
          </a:xfrm>
          <a:prstGeom prst="rect">
            <a:avLst/>
          </a:prstGeom>
          <a:noFill/>
        </p:spPr>
        <p:txBody>
          <a:bodyPr wrap="square" lIns="27432" tIns="27432" rIns="27432" bIns="27432" anchor="t">
            <a:spAutoFit/>
          </a:bodyPr>
          <a:lstStyle/>
          <a:p>
            <a:pPr algn="l">
              <a:spcAft>
                <a:spcPts val="0"/>
              </a:spcAft>
            </a:pPr>
            <a:r>
              <a:rPr sz="1500" b="1">
                <a:solidFill>
                  <a:srgbClr val="1E2B40"/>
                </a:solidFill>
              </a:rPr>
              <a:t>FortiGate High Availability Fundamentals</a:t>
            </a:r>
          </a:p>
        </p:txBody>
      </p:sp>
      <p:sp>
        <p:nvSpPr>
          <p:cNvPr id="47" name="TextBox 46"/>
          <p:cNvSpPr txBox="1"/>
          <p:nvPr/>
        </p:nvSpPr>
        <p:spPr>
          <a:xfrm>
            <a:off x="8970264" y="4059935"/>
            <a:ext cx="2468880" cy="201168"/>
          </a:xfrm>
          <a:prstGeom prst="rect">
            <a:avLst/>
          </a:prstGeom>
          <a:noFill/>
        </p:spPr>
        <p:txBody>
          <a:bodyPr wrap="square" lIns="27432" tIns="27432" rIns="27432" bIns="27432" anchor="t">
            <a:spAutoFit/>
          </a:bodyPr>
          <a:lstStyle/>
          <a:p>
            <a:pPr algn="l">
              <a:spcAft>
                <a:spcPts val="0"/>
              </a:spcAft>
            </a:pPr>
            <a:r>
              <a:rPr sz="1000" b="1">
                <a:solidFill>
                  <a:srgbClr val="687385"/>
                </a:solidFill>
              </a:rPr>
              <a:t>13:00–14:30</a:t>
            </a:r>
          </a:p>
        </p:txBody>
      </p:sp>
      <p:sp>
        <p:nvSpPr>
          <p:cNvPr id="48" name="TextBox 47"/>
          <p:cNvSpPr txBox="1"/>
          <p:nvPr/>
        </p:nvSpPr>
        <p:spPr>
          <a:xfrm>
            <a:off x="8970264" y="4315968"/>
            <a:ext cx="2468880" cy="640080"/>
          </a:xfrm>
          <a:prstGeom prst="rect">
            <a:avLst/>
          </a:prstGeom>
          <a:noFill/>
        </p:spPr>
        <p:txBody>
          <a:bodyPr wrap="square" lIns="27432" tIns="27432" rIns="27432" bIns="27432" anchor="t">
            <a:spAutoFit/>
          </a:bodyPr>
          <a:lstStyle/>
          <a:p>
            <a:pPr algn="l">
              <a:spcAft>
                <a:spcPts val="0"/>
              </a:spcAft>
            </a:pPr>
            <a:r>
              <a:rPr sz="1500" b="1">
                <a:solidFill>
                  <a:srgbClr val="1E2B40"/>
                </a:solidFill>
              </a:rPr>
              <a:t>Fortinet SD-WAN &amp; Design Considerations</a:t>
            </a:r>
          </a:p>
        </p:txBody>
      </p:sp>
      <p:sp>
        <p:nvSpPr>
          <p:cNvPr id="49" name="TextBox 48"/>
          <p:cNvSpPr txBox="1"/>
          <p:nvPr/>
        </p:nvSpPr>
        <p:spPr>
          <a:xfrm>
            <a:off x="8970264" y="4992623"/>
            <a:ext cx="2468880" cy="201168"/>
          </a:xfrm>
          <a:prstGeom prst="rect">
            <a:avLst/>
          </a:prstGeom>
          <a:noFill/>
        </p:spPr>
        <p:txBody>
          <a:bodyPr wrap="square" lIns="27432" tIns="27432" rIns="27432" bIns="27432" anchor="t">
            <a:spAutoFit/>
          </a:bodyPr>
          <a:lstStyle/>
          <a:p>
            <a:pPr algn="l">
              <a:spcAft>
                <a:spcPts val="0"/>
              </a:spcAft>
            </a:pPr>
            <a:r>
              <a:rPr sz="1000" b="1">
                <a:solidFill>
                  <a:srgbClr val="687385"/>
                </a:solidFill>
              </a:rPr>
              <a:t>14:30–16:00</a:t>
            </a:r>
          </a:p>
        </p:txBody>
      </p:sp>
      <p:sp>
        <p:nvSpPr>
          <p:cNvPr id="50" name="TextBox 49"/>
          <p:cNvSpPr txBox="1"/>
          <p:nvPr/>
        </p:nvSpPr>
        <p:spPr>
          <a:xfrm>
            <a:off x="8970264" y="5248655"/>
            <a:ext cx="2468880" cy="640080"/>
          </a:xfrm>
          <a:prstGeom prst="rect">
            <a:avLst/>
          </a:prstGeom>
          <a:noFill/>
        </p:spPr>
        <p:txBody>
          <a:bodyPr wrap="square" lIns="27432" tIns="27432" rIns="27432" bIns="27432" anchor="t">
            <a:spAutoFit/>
          </a:bodyPr>
          <a:lstStyle/>
          <a:p>
            <a:pPr algn="l">
              <a:spcAft>
                <a:spcPts val="0"/>
              </a:spcAft>
            </a:pPr>
            <a:r>
              <a:rPr sz="1500" b="1">
                <a:solidFill>
                  <a:srgbClr val="1E2B40"/>
                </a:solidFill>
              </a:rPr>
              <a:t>Performance Optimization, Advanced Troubleshooting &amp; Capstone</a:t>
            </a:r>
          </a:p>
        </p:txBody>
      </p:sp>
      <p:sp>
        <p:nvSpPr>
          <p:cNvPr id="51" name="TextBox 50"/>
          <p:cNvSpPr txBox="1"/>
          <p:nvPr/>
        </p:nvSpPr>
        <p:spPr>
          <a:xfrm>
            <a:off x="502920" y="420624"/>
            <a:ext cx="10744200" cy="146304"/>
          </a:xfrm>
          <a:prstGeom prst="rect">
            <a:avLst/>
          </a:prstGeom>
          <a:noFill/>
        </p:spPr>
        <p:txBody>
          <a:bodyPr wrap="none" lIns="0" tIns="0" rIns="0" bIns="0">
            <a:spAutoFit/>
          </a:bodyPr>
          <a:lstStyle/>
          <a:p>
            <a:pPr algn="l"/>
            <a:r>
              <a:rPr sz="850" b="1">
                <a:solidFill>
                  <a:srgbClr val="687385"/>
                </a:solidFill>
              </a:rPr>
              <a:t>COURSE MAP</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p:nvPr/>
        </p:nvSpPr>
        <p:spPr>
          <a:xfrm>
            <a:off x="502920" y="411480"/>
            <a:ext cx="548640" cy="137160"/>
          </a:xfrm>
          <a:prstGeom prst="rect">
            <a:avLst/>
          </a:prstGeom>
          <a:noFill/>
        </p:spPr>
        <p:txBody>
          <a:bodyPr wrap="square" lIns="36576" tIns="36576" rIns="36576" bIns="36576" anchor="t">
            <a:spAutoFit/>
          </a:bodyPr>
          <a:lstStyle/>
          <a:p>
            <a:pPr algn="l">
              <a:spcAft>
                <a:spcPts val="0"/>
              </a:spcAft>
            </a:pPr>
            <a:r>
              <a:rPr sz="750" b="1">
                <a:solidFill>
                  <a:srgbClr val="687385"/>
                </a:solidFill>
              </a:rPr>
              <a:t>003</a:t>
            </a:r>
          </a:p>
        </p:txBody>
      </p:sp>
      <p:sp>
        <p:nvSpPr>
          <p:cNvPr id="4" name="TextBox 3"/>
          <p:cNvSpPr txBox="1"/>
          <p:nvPr/>
        </p:nvSpPr>
        <p:spPr>
          <a:xfrm>
            <a:off x="502920" y="621792"/>
            <a:ext cx="11109960" cy="473976"/>
          </a:xfrm>
          <a:prstGeom prst="rect">
            <a:avLst/>
          </a:prstGeom>
          <a:noFill/>
        </p:spPr>
        <p:txBody>
          <a:bodyPr wrap="square" lIns="36576" tIns="36576" rIns="36576" bIns="36576" anchor="t">
            <a:spAutoFit/>
          </a:bodyPr>
          <a:lstStyle/>
          <a:p>
            <a:pPr algn="l">
              <a:spcAft>
                <a:spcPts val="0"/>
              </a:spcAft>
            </a:pPr>
            <a:r>
              <a:rPr lang="en-GB" sz="2600" b="1">
                <a:solidFill>
                  <a:srgbClr val="1E2B40"/>
                </a:solidFill>
              </a:rPr>
              <a:t>Validated training lab: Azure underlay and Student N pods</a:t>
            </a:r>
            <a:endParaRPr sz="2600" b="1">
              <a:solidFill>
                <a:srgbClr val="1E2B40"/>
              </a:solidFill>
            </a:endParaRPr>
          </a:p>
        </p:txBody>
      </p:sp>
      <p:sp>
        <p:nvSpPr>
          <p:cNvPr id="5" name="TextBox 4"/>
          <p:cNvSpPr txBox="1"/>
          <p:nvPr/>
        </p:nvSpPr>
        <p:spPr>
          <a:xfrm>
            <a:off x="521207" y="1143000"/>
            <a:ext cx="10789920" cy="243143"/>
          </a:xfrm>
          <a:prstGeom prst="rect">
            <a:avLst/>
          </a:prstGeom>
          <a:noFill/>
        </p:spPr>
        <p:txBody>
          <a:bodyPr wrap="square" lIns="36576" tIns="36576" rIns="36576" bIns="36576" anchor="t">
            <a:spAutoFit/>
          </a:bodyPr>
          <a:lstStyle/>
          <a:p>
            <a:pPr algn="l">
              <a:spcAft>
                <a:spcPts val="0"/>
              </a:spcAft>
            </a:pPr>
            <a:r>
              <a:rPr lang="en-GB" sz="1100" b="0">
                <a:solidFill>
                  <a:srgbClr val="687385"/>
                </a:solidFill>
              </a:rPr>
              <a:t>FortiOS 7.6.7 • October 2026 validated endpoint and routed-path baseline</a:t>
            </a:r>
            <a:endParaRPr sz="1100" b="0">
              <a:solidFill>
                <a:srgbClr val="687385"/>
              </a:solidFill>
            </a:endParaRPr>
          </a:p>
        </p:txBody>
      </p:sp>
      <p:cxnSp>
        <p:nvCxnSpPr>
          <p:cNvPr id="6" name="Connector 5"/>
          <p:cNvCxnSpPr/>
          <p:nvPr/>
        </p:nvCxnSpPr>
        <p:spPr>
          <a:xfrm>
            <a:off x="502920" y="6473952"/>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7" name="TextBox 6"/>
          <p:cNvSpPr txBox="1">
            <a:spLocks/>
          </p:cNvSpPr>
          <p:nvPr/>
        </p:nvSpPr>
        <p:spPr>
          <a:xfrm>
            <a:off x="11109960" y="6537960"/>
            <a:ext cx="502920" cy="189283"/>
          </a:xfrm>
          <a:prstGeom prst="rect">
            <a:avLst/>
          </a:prstGeom>
          <a:noFill/>
        </p:spPr>
        <p:txBody>
          <a:bodyPr wrap="square" lIns="36576" tIns="36576" rIns="36576" bIns="36576" anchor="t">
            <a:spAutoFit/>
          </a:bodyPr>
          <a:lstStyle/>
          <a:p>
            <a:pPr algn="r">
              <a:spcAft>
                <a:spcPts val="0"/>
              </a:spcAft>
            </a:pPr>
            <a:r>
              <a:rPr lang="en-HU" sz="750" b="0">
                <a:solidFill>
                  <a:srgbClr val="687385"/>
                </a:solidFill>
              </a:rPr>
              <a:t>3</a:t>
            </a:r>
          </a:p>
        </p:txBody>
      </p:sp>
      <p:sp>
        <p:nvSpPr>
          <p:cNvPr id="8" name="Rectangle 7"/>
          <p:cNvSpPr>
            <a:spLocks/>
          </p:cNvSpPr>
          <p:nvPr/>
        </p:nvSpPr>
        <p:spPr>
          <a:xfrm>
            <a:off x="502920" y="1874519"/>
            <a:ext cx="1600200" cy="9144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9" name="TextBox 8"/>
          <p:cNvSpPr txBox="1">
            <a:spLocks/>
          </p:cNvSpPr>
          <p:nvPr/>
        </p:nvSpPr>
        <p:spPr>
          <a:xfrm>
            <a:off x="576072" y="2011680"/>
            <a:ext cx="1453896" cy="256032"/>
          </a:xfrm>
          <a:prstGeom prst="rect">
            <a:avLst/>
          </a:prstGeom>
          <a:noFill/>
        </p:spPr>
        <p:txBody>
          <a:bodyPr wrap="square" lIns="36576" tIns="36576" rIns="36576" bIns="36576" anchor="t">
            <a:spAutoFit/>
          </a:bodyPr>
          <a:lstStyle/>
          <a:p>
            <a:pPr algn="ctr">
              <a:spcAft>
                <a:spcPts val="0"/>
              </a:spcAft>
            </a:pPr>
            <a:r>
              <a:rPr lang="en-GB" sz="1200" b="1">
                <a:solidFill>
                  <a:srgbClr val="FFFFFF"/>
                </a:solidFill>
              </a:rPr>
              <a:t>INSTRUCTOR FGT</a:t>
            </a:r>
          </a:p>
        </p:txBody>
      </p:sp>
      <p:sp>
        <p:nvSpPr>
          <p:cNvPr id="10" name="TextBox 9"/>
          <p:cNvSpPr txBox="1">
            <a:spLocks/>
          </p:cNvSpPr>
          <p:nvPr/>
        </p:nvSpPr>
        <p:spPr>
          <a:xfrm>
            <a:off x="576072" y="2441448"/>
            <a:ext cx="1453896" cy="258532"/>
          </a:xfrm>
          <a:prstGeom prst="rect">
            <a:avLst/>
          </a:prstGeom>
          <a:noFill/>
        </p:spPr>
        <p:txBody>
          <a:bodyPr wrap="square" lIns="36576" tIns="36576" rIns="36576" bIns="36576" anchor="t">
            <a:spAutoFit/>
          </a:bodyPr>
          <a:lstStyle/>
          <a:p>
            <a:pPr algn="ctr">
              <a:spcAft>
                <a:spcPts val="0"/>
              </a:spcAft>
            </a:pPr>
            <a:r>
              <a:rPr lang="en-HU" sz="1200" b="0">
                <a:solidFill>
                  <a:srgbClr val="FFFFFF"/>
                </a:solidFill>
              </a:rPr>
              <a:t>port1 10.0.0.4</a:t>
            </a:r>
          </a:p>
        </p:txBody>
      </p:sp>
      <p:sp>
        <p:nvSpPr>
          <p:cNvPr id="11" name="Right Arrow 10"/>
          <p:cNvSpPr/>
          <p:nvPr/>
        </p:nvSpPr>
        <p:spPr>
          <a:xfrm>
            <a:off x="2103120" y="2212848"/>
            <a:ext cx="502920" cy="201168"/>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2" name="TextBox 11"/>
          <p:cNvSpPr txBox="1">
            <a:spLocks/>
          </p:cNvSpPr>
          <p:nvPr/>
        </p:nvSpPr>
        <p:spPr>
          <a:xfrm>
            <a:off x="2103120" y="1956815"/>
            <a:ext cx="502920" cy="212366"/>
          </a:xfrm>
          <a:prstGeom prst="rect">
            <a:avLst/>
          </a:prstGeom>
          <a:noFill/>
        </p:spPr>
        <p:txBody>
          <a:bodyPr wrap="square" lIns="36576" tIns="36576" rIns="36576" bIns="36576" anchor="t">
            <a:spAutoFit/>
          </a:bodyPr>
          <a:lstStyle/>
          <a:p>
            <a:pPr algn="ctr">
              <a:spcAft>
                <a:spcPts val="0"/>
              </a:spcAft>
            </a:pPr>
            <a:r>
              <a:rPr lang="en-GB" sz="900" b="1">
                <a:solidFill>
                  <a:srgbClr val="687385"/>
                </a:solidFill>
              </a:rPr>
              <a:t>transit</a:t>
            </a:r>
          </a:p>
        </p:txBody>
      </p:sp>
      <p:sp>
        <p:nvSpPr>
          <p:cNvPr id="13" name="Rectangle 12"/>
          <p:cNvSpPr>
            <a:spLocks/>
          </p:cNvSpPr>
          <p:nvPr/>
        </p:nvSpPr>
        <p:spPr>
          <a:xfrm>
            <a:off x="2606040" y="1691640"/>
            <a:ext cx="1920240" cy="128016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4" name="TextBox 13"/>
          <p:cNvSpPr txBox="1">
            <a:spLocks/>
          </p:cNvSpPr>
          <p:nvPr/>
        </p:nvSpPr>
        <p:spPr>
          <a:xfrm>
            <a:off x="2679192" y="1856231"/>
            <a:ext cx="1773936" cy="566309"/>
          </a:xfrm>
          <a:prstGeom prst="rect">
            <a:avLst/>
          </a:prstGeom>
          <a:noFill/>
        </p:spPr>
        <p:txBody>
          <a:bodyPr wrap="square" lIns="36576" tIns="36576" rIns="36576" bIns="36576" anchor="t">
            <a:spAutoFit/>
          </a:bodyPr>
          <a:lstStyle/>
          <a:p>
            <a:pPr algn="ctr">
              <a:spcAft>
                <a:spcPts val="0"/>
              </a:spcAft>
            </a:pPr>
            <a:r>
              <a:rPr lang="en-GB" sz="1600" b="1">
                <a:solidFill>
                  <a:srgbClr val="FFFFFF"/>
                </a:solidFill>
              </a:rPr>
              <a:t>LINUX ROUTER NVA</a:t>
            </a:r>
          </a:p>
        </p:txBody>
      </p:sp>
      <p:sp>
        <p:nvSpPr>
          <p:cNvPr id="15" name="TextBox 14"/>
          <p:cNvSpPr txBox="1">
            <a:spLocks/>
          </p:cNvSpPr>
          <p:nvPr/>
        </p:nvSpPr>
        <p:spPr>
          <a:xfrm>
            <a:off x="2679192" y="2267712"/>
            <a:ext cx="1773936" cy="273921"/>
          </a:xfrm>
          <a:prstGeom prst="rect">
            <a:avLst/>
          </a:prstGeom>
          <a:noFill/>
        </p:spPr>
        <p:txBody>
          <a:bodyPr wrap="square" lIns="36576" tIns="36576" rIns="36576" bIns="36576" anchor="t">
            <a:spAutoFit/>
          </a:bodyPr>
          <a:lstStyle/>
          <a:p>
            <a:pPr algn="ctr">
              <a:spcAft>
                <a:spcPts val="0"/>
              </a:spcAft>
            </a:pPr>
            <a:r>
              <a:rPr lang="en-GB" sz="1300" b="0">
                <a:solidFill>
                  <a:srgbClr val="FFFFFF"/>
                </a:solidFill>
              </a:rPr>
              <a:t>10.0.40.4</a:t>
            </a:r>
          </a:p>
        </p:txBody>
      </p:sp>
      <p:sp>
        <p:nvSpPr>
          <p:cNvPr id="16" name="Rectangle 15"/>
          <p:cNvSpPr>
            <a:spLocks/>
          </p:cNvSpPr>
          <p:nvPr/>
        </p:nvSpPr>
        <p:spPr>
          <a:xfrm>
            <a:off x="2606040" y="3657600"/>
            <a:ext cx="1920240" cy="9144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7" name="TextBox 16"/>
          <p:cNvSpPr txBox="1">
            <a:spLocks/>
          </p:cNvSpPr>
          <p:nvPr/>
        </p:nvSpPr>
        <p:spPr>
          <a:xfrm>
            <a:off x="2679192" y="3822191"/>
            <a:ext cx="1773936" cy="256032"/>
          </a:xfrm>
          <a:prstGeom prst="rect">
            <a:avLst/>
          </a:prstGeom>
          <a:noFill/>
        </p:spPr>
        <p:txBody>
          <a:bodyPr wrap="square" lIns="36576" tIns="36576" rIns="36576" bIns="36576" anchor="t">
            <a:spAutoFit/>
          </a:bodyPr>
          <a:lstStyle/>
          <a:p>
            <a:pPr algn="ctr">
              <a:spcAft>
                <a:spcPts val="0"/>
              </a:spcAft>
            </a:pPr>
            <a:r>
              <a:rPr lang="en-GB" sz="1200" b="1">
                <a:solidFill>
                  <a:srgbClr val="FFFFFF"/>
                </a:solidFill>
              </a:rPr>
              <a:t>INSTR. SERVICES</a:t>
            </a:r>
          </a:p>
        </p:txBody>
      </p:sp>
      <p:sp>
        <p:nvSpPr>
          <p:cNvPr id="18" name="TextBox 17"/>
          <p:cNvSpPr txBox="1">
            <a:spLocks/>
          </p:cNvSpPr>
          <p:nvPr/>
        </p:nvSpPr>
        <p:spPr>
          <a:xfrm>
            <a:off x="2679192" y="4206240"/>
            <a:ext cx="1773936" cy="412421"/>
          </a:xfrm>
          <a:prstGeom prst="rect">
            <a:avLst/>
          </a:prstGeom>
          <a:noFill/>
        </p:spPr>
        <p:txBody>
          <a:bodyPr wrap="square" lIns="36576" tIns="36576" rIns="36576" bIns="36576" anchor="t">
            <a:spAutoFit/>
          </a:bodyPr>
          <a:lstStyle/>
          <a:p>
            <a:pPr algn="ctr">
              <a:spcAft>
                <a:spcPts val="0"/>
              </a:spcAft>
            </a:pPr>
            <a:r>
              <a:rPr lang="en-HU" sz="1100" b="0">
                <a:solidFill>
                  <a:srgbClr val="FFFFFF"/>
                </a:solidFill>
              </a:rPr>
              <a:t>p2 10.0.30.4 • p3 10.0.10.4</a:t>
            </a:r>
          </a:p>
          <a:p>
            <a:endParaRPr lang="en-HU" sz="1100" b="0">
              <a:solidFill>
                <a:srgbClr val="FFFFFF"/>
              </a:solidFill>
            </a:endParaRPr>
          </a:p>
        </p:txBody>
      </p:sp>
      <p:sp>
        <p:nvSpPr>
          <p:cNvPr id="19" name="Right Arrow 18"/>
          <p:cNvSpPr>
            <a:spLocks/>
          </p:cNvSpPr>
          <p:nvPr/>
        </p:nvSpPr>
        <p:spPr>
          <a:xfrm>
            <a:off x="4526280" y="2212848"/>
            <a:ext cx="548640" cy="201168"/>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20" name="TextBox 19"/>
          <p:cNvSpPr txBox="1">
            <a:spLocks/>
          </p:cNvSpPr>
          <p:nvPr/>
        </p:nvSpPr>
        <p:spPr>
          <a:xfrm>
            <a:off x="4526280" y="1956815"/>
            <a:ext cx="548640" cy="228600"/>
          </a:xfrm>
          <a:prstGeom prst="rect">
            <a:avLst/>
          </a:prstGeom>
          <a:noFill/>
        </p:spPr>
        <p:txBody>
          <a:bodyPr wrap="square" lIns="36576" tIns="36576" rIns="36576" bIns="36576" anchor="t">
            <a:spAutoFit/>
          </a:bodyPr>
          <a:lstStyle/>
          <a:p>
            <a:pPr algn="ctr">
              <a:spcAft>
                <a:spcPts val="0"/>
              </a:spcAft>
            </a:pPr>
            <a:r>
              <a:rPr lang="en-GB" sz="900" b="1">
                <a:solidFill>
                  <a:srgbClr val="687385"/>
                </a:solidFill>
              </a:rPr>
              <a:t>underlay</a:t>
            </a:r>
          </a:p>
        </p:txBody>
      </p:sp>
      <p:sp>
        <p:nvSpPr>
          <p:cNvPr id="21" name="Rectangle 20"/>
          <p:cNvSpPr>
            <a:spLocks/>
          </p:cNvSpPr>
          <p:nvPr/>
        </p:nvSpPr>
        <p:spPr>
          <a:xfrm>
            <a:off x="5074920" y="1691640"/>
            <a:ext cx="2011680" cy="128016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22" name="TextBox 21"/>
          <p:cNvSpPr txBox="1">
            <a:spLocks/>
          </p:cNvSpPr>
          <p:nvPr/>
        </p:nvSpPr>
        <p:spPr>
          <a:xfrm>
            <a:off x="5148072" y="1874519"/>
            <a:ext cx="1865376" cy="320088"/>
          </a:xfrm>
          <a:prstGeom prst="rect">
            <a:avLst/>
          </a:prstGeom>
          <a:noFill/>
        </p:spPr>
        <p:txBody>
          <a:bodyPr wrap="square" lIns="36576" tIns="36576" rIns="36576" bIns="36576" anchor="t">
            <a:spAutoFit/>
          </a:bodyPr>
          <a:lstStyle/>
          <a:p>
            <a:pPr algn="ctr">
              <a:spcAft>
                <a:spcPts val="0"/>
              </a:spcAft>
            </a:pPr>
            <a:r>
              <a:rPr lang="en-GB" sz="1600" b="1">
                <a:solidFill>
                  <a:srgbClr val="FFFFFF"/>
                </a:solidFill>
              </a:rPr>
              <a:t>AZURE UNDERLAY</a:t>
            </a:r>
          </a:p>
        </p:txBody>
      </p:sp>
      <p:sp>
        <p:nvSpPr>
          <p:cNvPr id="23" name="TextBox 22"/>
          <p:cNvSpPr txBox="1">
            <a:spLocks/>
          </p:cNvSpPr>
          <p:nvPr/>
        </p:nvSpPr>
        <p:spPr>
          <a:xfrm>
            <a:off x="5148072" y="2267712"/>
            <a:ext cx="1865376" cy="412421"/>
          </a:xfrm>
          <a:prstGeom prst="rect">
            <a:avLst/>
          </a:prstGeom>
          <a:noFill/>
        </p:spPr>
        <p:txBody>
          <a:bodyPr wrap="square" lIns="36576" tIns="36576" rIns="36576" bIns="36576" anchor="t">
            <a:spAutoFit/>
          </a:bodyPr>
          <a:lstStyle/>
          <a:p>
            <a:pPr algn="ctr">
              <a:spcAft>
                <a:spcPts val="0"/>
              </a:spcAft>
            </a:pPr>
            <a:r>
              <a:rPr lang="en-GB" sz="1100" b="0">
                <a:solidFill>
                  <a:srgbClr val="FFFFFF"/>
                </a:solidFill>
              </a:rPr>
              <a:t>Shared Internet breakout / NAT</a:t>
            </a:r>
          </a:p>
        </p:txBody>
      </p:sp>
      <p:sp>
        <p:nvSpPr>
          <p:cNvPr id="24" name="Right Arrow 23"/>
          <p:cNvSpPr>
            <a:spLocks/>
          </p:cNvSpPr>
          <p:nvPr/>
        </p:nvSpPr>
        <p:spPr>
          <a:xfrm>
            <a:off x="7086600" y="2212848"/>
            <a:ext cx="502920" cy="201168"/>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25" name="TextBox 24"/>
          <p:cNvSpPr txBox="1"/>
          <p:nvPr/>
        </p:nvSpPr>
        <p:spPr>
          <a:xfrm>
            <a:off x="7086600" y="1956815"/>
            <a:ext cx="502920" cy="212366"/>
          </a:xfrm>
          <a:prstGeom prst="rect">
            <a:avLst/>
          </a:prstGeom>
          <a:noFill/>
        </p:spPr>
        <p:txBody>
          <a:bodyPr wrap="square" lIns="36576" tIns="36576" rIns="36576" bIns="36576" anchor="t">
            <a:spAutoFit/>
          </a:bodyPr>
          <a:lstStyle/>
          <a:p>
            <a:pPr algn="ctr">
              <a:spcAft>
                <a:spcPts val="0"/>
              </a:spcAft>
            </a:pPr>
            <a:r>
              <a:rPr lang="en-GB" sz="900" b="1">
                <a:solidFill>
                  <a:srgbClr val="687385"/>
                </a:solidFill>
              </a:rPr>
              <a:t>routed</a:t>
            </a:r>
          </a:p>
        </p:txBody>
      </p:sp>
      <p:sp>
        <p:nvSpPr>
          <p:cNvPr id="26" name="Rectangle 25"/>
          <p:cNvSpPr/>
          <p:nvPr/>
        </p:nvSpPr>
        <p:spPr>
          <a:xfrm>
            <a:off x="7589520" y="1691640"/>
            <a:ext cx="1920240" cy="128016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662672" y="1856231"/>
            <a:ext cx="1773936" cy="320088"/>
          </a:xfrm>
          <a:prstGeom prst="rect">
            <a:avLst/>
          </a:prstGeom>
          <a:noFill/>
        </p:spPr>
        <p:txBody>
          <a:bodyPr wrap="square" lIns="36576" tIns="36576" rIns="36576" bIns="36576" anchor="t">
            <a:spAutoFit/>
          </a:bodyPr>
          <a:lstStyle/>
          <a:p>
            <a:pPr algn="ctr">
              <a:spcAft>
                <a:spcPts val="0"/>
              </a:spcAft>
            </a:pPr>
            <a:r>
              <a:rPr lang="en-GB" sz="1600" b="1">
                <a:solidFill>
                  <a:srgbClr val="FFFFFF"/>
                </a:solidFill>
              </a:rPr>
              <a:t>STUDENT N FGT</a:t>
            </a:r>
          </a:p>
        </p:txBody>
      </p:sp>
      <p:sp>
        <p:nvSpPr>
          <p:cNvPr id="28" name="TextBox 27"/>
          <p:cNvSpPr txBox="1"/>
          <p:nvPr/>
        </p:nvSpPr>
        <p:spPr>
          <a:xfrm>
            <a:off x="7662672" y="2139696"/>
            <a:ext cx="1773936" cy="381643"/>
          </a:xfrm>
          <a:prstGeom prst="rect">
            <a:avLst/>
          </a:prstGeom>
          <a:noFill/>
        </p:spPr>
        <p:txBody>
          <a:bodyPr wrap="square" lIns="36576" tIns="36576" rIns="36576" bIns="36576" anchor="t">
            <a:spAutoFit/>
          </a:bodyPr>
          <a:lstStyle/>
          <a:p>
            <a:pPr algn="ctr">
              <a:spcAft>
                <a:spcPts val="0"/>
              </a:spcAft>
            </a:pPr>
            <a:r>
              <a:rPr lang="en-GB" sz="1000" b="0">
                <a:solidFill>
                  <a:srgbClr val="FFFFFF"/>
                </a:solidFill>
              </a:rPr>
              <a:t>p1/WAN 10.N.0.4</a:t>
            </a:r>
          </a:p>
          <a:p>
            <a:r>
              <a:rPr lang="en-GB" sz="1000">
                <a:solidFill>
                  <a:srgbClr val="FFFFFF"/>
                </a:solidFill>
              </a:rPr>
              <a:t>p2/LAN .10.4 • p3/DMZ .20.4</a:t>
            </a:r>
          </a:p>
        </p:txBody>
      </p:sp>
      <p:sp>
        <p:nvSpPr>
          <p:cNvPr id="29" name="Right Arrow 28"/>
          <p:cNvSpPr/>
          <p:nvPr/>
        </p:nvSpPr>
        <p:spPr>
          <a:xfrm>
            <a:off x="9509760" y="2212848"/>
            <a:ext cx="502920" cy="201168"/>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509760" y="1956815"/>
            <a:ext cx="502920" cy="350865"/>
          </a:xfrm>
          <a:prstGeom prst="rect">
            <a:avLst/>
          </a:prstGeom>
          <a:noFill/>
        </p:spPr>
        <p:txBody>
          <a:bodyPr wrap="square" lIns="36576" tIns="36576" rIns="36576" bIns="36576" anchor="t">
            <a:spAutoFit/>
          </a:bodyPr>
          <a:lstStyle/>
          <a:p>
            <a:pPr algn="ctr">
              <a:spcAft>
                <a:spcPts val="0"/>
              </a:spcAft>
            </a:pPr>
            <a:r>
              <a:rPr lang="en-GB" sz="900" b="1">
                <a:solidFill>
                  <a:srgbClr val="687385"/>
                </a:solidFill>
              </a:rPr>
              <a:t>LAN / DMZ</a:t>
            </a:r>
          </a:p>
        </p:txBody>
      </p:sp>
      <p:sp>
        <p:nvSpPr>
          <p:cNvPr id="31" name="Rectangle 30"/>
          <p:cNvSpPr>
            <a:spLocks/>
          </p:cNvSpPr>
          <p:nvPr/>
        </p:nvSpPr>
        <p:spPr>
          <a:xfrm>
            <a:off x="10012680" y="1874519"/>
            <a:ext cx="1600200" cy="9144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2" name="TextBox 31"/>
          <p:cNvSpPr txBox="1"/>
          <p:nvPr/>
        </p:nvSpPr>
        <p:spPr>
          <a:xfrm>
            <a:off x="10085832" y="1993392"/>
            <a:ext cx="1453896" cy="243143"/>
          </a:xfrm>
          <a:prstGeom prst="rect">
            <a:avLst/>
          </a:prstGeom>
          <a:noFill/>
        </p:spPr>
        <p:txBody>
          <a:bodyPr wrap="square" lIns="36576" tIns="36576" rIns="36576" bIns="36576" anchor="t">
            <a:spAutoFit/>
          </a:bodyPr>
          <a:lstStyle/>
          <a:p>
            <a:pPr algn="ctr">
              <a:spcAft>
                <a:spcPts val="0"/>
              </a:spcAft>
            </a:pPr>
            <a:r>
              <a:rPr lang="en-GB" sz="1100" b="1">
                <a:solidFill>
                  <a:srgbClr val="FFFFFF"/>
                </a:solidFill>
              </a:rPr>
              <a:t>LINUX ENDPOINTS</a:t>
            </a:r>
          </a:p>
        </p:txBody>
      </p:sp>
      <p:sp>
        <p:nvSpPr>
          <p:cNvPr id="33" name="TextBox 32"/>
          <p:cNvSpPr txBox="1"/>
          <p:nvPr/>
        </p:nvSpPr>
        <p:spPr>
          <a:xfrm>
            <a:off x="10085832" y="2295144"/>
            <a:ext cx="1453896" cy="350865"/>
          </a:xfrm>
          <a:prstGeom prst="rect">
            <a:avLst/>
          </a:prstGeom>
          <a:noFill/>
        </p:spPr>
        <p:txBody>
          <a:bodyPr wrap="square" lIns="36576" tIns="36576" rIns="36576" bIns="36576" anchor="t">
            <a:spAutoFit/>
          </a:bodyPr>
          <a:lstStyle/>
          <a:p>
            <a:pPr algn="ctr">
              <a:spcAft>
                <a:spcPts val="0"/>
              </a:spcAft>
            </a:pPr>
            <a:r>
              <a:rPr lang="en-GB" sz="900" b="0">
                <a:solidFill>
                  <a:srgbClr val="FFFFFF"/>
                </a:solidFill>
              </a:rPr>
              <a:t>client 10.N.10.10</a:t>
            </a:r>
          </a:p>
          <a:p>
            <a:r>
              <a:rPr lang="en-GB" sz="900" b="0">
                <a:solidFill>
                  <a:srgbClr val="FFFFFF"/>
                </a:solidFill>
              </a:rPr>
              <a:t>DMZ 10.N.20.10</a:t>
            </a:r>
          </a:p>
        </p:txBody>
      </p:sp>
      <p:sp>
        <p:nvSpPr>
          <p:cNvPr id="34" name="TextBox 33"/>
          <p:cNvSpPr txBox="1"/>
          <p:nvPr/>
        </p:nvSpPr>
        <p:spPr>
          <a:xfrm>
            <a:off x="5212080" y="3886200"/>
            <a:ext cx="1828800" cy="412421"/>
          </a:xfrm>
          <a:prstGeom prst="rect">
            <a:avLst/>
          </a:prstGeom>
          <a:noFill/>
        </p:spPr>
        <p:txBody>
          <a:bodyPr wrap="square" lIns="36576" tIns="36576" rIns="36576" bIns="36576" anchor="t">
            <a:spAutoFit/>
          </a:bodyPr>
          <a:lstStyle/>
          <a:p>
            <a:pPr algn="ctr">
              <a:spcAft>
                <a:spcPts val="0"/>
              </a:spcAft>
            </a:pPr>
            <a:r>
              <a:rPr lang="en-GB" sz="1100" b="1">
                <a:solidFill>
                  <a:srgbClr val="E60012"/>
                </a:solidFill>
              </a:rPr>
              <a:t>FUTURE PROTECTED OVERLAY</a:t>
            </a:r>
          </a:p>
        </p:txBody>
      </p:sp>
      <p:cxnSp>
        <p:nvCxnSpPr>
          <p:cNvPr id="35" name="Connector 34"/>
          <p:cNvCxnSpPr/>
          <p:nvPr/>
        </p:nvCxnSpPr>
        <p:spPr>
          <a:xfrm>
            <a:off x="4480560" y="4251960"/>
            <a:ext cx="5074920"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4709160" y="4407408"/>
            <a:ext cx="4572000" cy="473976"/>
          </a:xfrm>
          <a:prstGeom prst="rect">
            <a:avLst/>
          </a:prstGeom>
          <a:noFill/>
        </p:spPr>
        <p:txBody>
          <a:bodyPr wrap="square" lIns="36576" tIns="36576" rIns="36576" bIns="36576" anchor="t">
            <a:spAutoFit/>
          </a:bodyPr>
          <a:lstStyle/>
          <a:p>
            <a:pPr algn="ctr">
              <a:spcAft>
                <a:spcPts val="0"/>
              </a:spcAft>
            </a:pPr>
            <a:r>
              <a:rPr lang="en-GB" sz="1300" b="1">
                <a:solidFill>
                  <a:srgbClr val="233A59"/>
                </a:solidFill>
              </a:rPr>
              <a:t>Student LAN/DMZ </a:t>
            </a:r>
            <a:r>
              <a:rPr sz="1300" b="1">
                <a:solidFill>
                  <a:srgbClr val="233A59"/>
                </a:solidFill>
              </a:rPr>
              <a:t>↔ </a:t>
            </a:r>
            <a:r>
              <a:rPr lang="en-GB" sz="1300" b="1">
                <a:solidFill>
                  <a:srgbClr val="233A59"/>
                </a:solidFill>
              </a:rPr>
              <a:t>instructor services through IPsec/ADVPN</a:t>
            </a:r>
            <a:endParaRPr sz="1300" b="1">
              <a:solidFill>
                <a:srgbClr val="233A59"/>
              </a:solidFill>
            </a:endParaRPr>
          </a:p>
        </p:txBody>
      </p:sp>
      <p:sp>
        <p:nvSpPr>
          <p:cNvPr id="37" name="TextBox 36"/>
          <p:cNvSpPr txBox="1"/>
          <p:nvPr/>
        </p:nvSpPr>
        <p:spPr>
          <a:xfrm>
            <a:off x="658368" y="5833872"/>
            <a:ext cx="731520" cy="227755"/>
          </a:xfrm>
          <a:prstGeom prst="rect">
            <a:avLst/>
          </a:prstGeom>
          <a:noFill/>
        </p:spPr>
        <p:txBody>
          <a:bodyPr wrap="square" lIns="36576" tIns="36576" rIns="36576" bIns="36576" anchor="t">
            <a:spAutoFit/>
          </a:bodyPr>
          <a:lstStyle/>
          <a:p>
            <a:pPr algn="l">
              <a:spcAft>
                <a:spcPts val="0"/>
              </a:spcAft>
            </a:pPr>
            <a:r>
              <a:rPr lang="en-GB" sz="1000" b="1">
                <a:solidFill>
                  <a:srgbClr val="E60012"/>
                </a:solidFill>
              </a:rPr>
              <a:t>EXAMPLES</a:t>
            </a:r>
            <a:endParaRPr sz="1000" b="1">
              <a:solidFill>
                <a:srgbClr val="E60012"/>
              </a:solidFill>
            </a:endParaRPr>
          </a:p>
        </p:txBody>
      </p:sp>
      <p:sp>
        <p:nvSpPr>
          <p:cNvPr id="38" name="TextBox 37"/>
          <p:cNvSpPr txBox="1"/>
          <p:nvPr/>
        </p:nvSpPr>
        <p:spPr>
          <a:xfrm>
            <a:off x="1417320" y="5769864"/>
            <a:ext cx="9875520" cy="273921"/>
          </a:xfrm>
          <a:prstGeom prst="rect">
            <a:avLst/>
          </a:prstGeom>
          <a:noFill/>
        </p:spPr>
        <p:txBody>
          <a:bodyPr wrap="square" lIns="36576" tIns="36576" rIns="36576" bIns="36576" anchor="t">
            <a:spAutoFit/>
          </a:bodyPr>
          <a:lstStyle/>
          <a:p>
            <a:pPr algn="l">
              <a:spcAft>
                <a:spcPts val="0"/>
              </a:spcAft>
            </a:pPr>
            <a:r>
              <a:rPr lang="en-GB" sz="1300" b="1">
                <a:solidFill>
                  <a:srgbClr val="233A59"/>
                </a:solidFill>
              </a:rPr>
              <a:t>S01: 10.1.0/24 | 10.1.10/24 | 10.1.20/24  •  S02: 10.2.0/24 | 10.2.10/24 | 10.2.20/24  •  Student N substitutes N</a:t>
            </a:r>
            <a:r>
              <a:rPr sz="1300" b="1">
                <a:solidFill>
                  <a:srgbClr val="233A59"/>
                </a:solidFill>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8">
    <p:bg>
      <p:bgPr>
        <a:solidFill>
          <a:srgbClr val="101827"/>
        </a:solidFill>
        <a:effectLst/>
      </p:bgPr>
    </p:bg>
    <p:spTree>
      <p:nvGrpSpPr>
        <p:cNvPr id="1" name=""/>
        <p:cNvGrpSpPr/>
        <p:nvPr/>
      </p:nvGrpSpPr>
      <p:grpSpPr>
        <a:xfrm>
          <a:off x="0" y="0"/>
          <a:ext cx="1" cy="1"/>
          <a:chOff x="0" y="0"/>
          <a:chExt cx="1" cy="1"/>
        </a:xfrm>
      </p:grpSpPr>
      <p:sp>
        <p:nvSpPr>
          <p:cNvPr id="2" name="Rectangle 1"/>
          <p:cNvSpPr/>
          <p:nvPr/>
        </p:nvSpPr>
        <p:spPr>
          <a:xfrm>
            <a:off x="0" y="0"/>
            <a:ext cx="146304" cy="6858000"/>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a:spLocks/>
          </p:cNvSpPr>
          <p:nvPr/>
        </p:nvSpPr>
        <p:spPr>
          <a:xfrm>
            <a:off x="658368" y="566928"/>
            <a:ext cx="5212080" cy="256032"/>
          </a:xfrm>
          <a:prstGeom prst="rect">
            <a:avLst/>
          </a:prstGeom>
          <a:noFill/>
        </p:spPr>
        <p:txBody>
          <a:bodyPr wrap="square" lIns="27432" tIns="27432" rIns="27432" bIns="27432" anchor="t">
            <a:spAutoFit/>
          </a:bodyPr>
          <a:lstStyle/>
          <a:p>
            <a:pPr algn="l">
              <a:spcAft>
                <a:spcPts val="0"/>
              </a:spcAft>
            </a:pPr>
            <a:r>
              <a:rPr lang="en-GB" sz="1400" b="1">
                <a:solidFill>
                  <a:srgbClr val="E60012"/>
                </a:solidFill>
              </a:rPr>
              <a:t>DAY 1  •  09:00–10:30</a:t>
            </a:r>
          </a:p>
        </p:txBody>
      </p:sp>
      <p:sp>
        <p:nvSpPr>
          <p:cNvPr id="4" name="TextBox 3"/>
          <p:cNvSpPr txBox="1">
            <a:spLocks/>
          </p:cNvSpPr>
          <p:nvPr/>
        </p:nvSpPr>
        <p:spPr>
          <a:xfrm>
            <a:off x="658368" y="1097280"/>
            <a:ext cx="10515600" cy="914400"/>
          </a:xfrm>
          <a:prstGeom prst="rect">
            <a:avLst/>
          </a:prstGeom>
          <a:noFill/>
        </p:spPr>
        <p:txBody>
          <a:bodyPr wrap="square" lIns="27432" tIns="27432" rIns="27432" bIns="27432" anchor="t">
            <a:spAutoFit/>
          </a:bodyPr>
          <a:lstStyle/>
          <a:p>
            <a:pPr algn="l">
              <a:spcAft>
                <a:spcPts val="0"/>
              </a:spcAft>
            </a:pPr>
            <a:r>
              <a:rPr lang="en-GB" sz="3400" b="1">
                <a:solidFill>
                  <a:srgbClr val="FFFFFF"/>
                </a:solidFill>
              </a:rPr>
              <a:t>Network Foundations &amp; FortiGate Packet Flow</a:t>
            </a:r>
          </a:p>
        </p:txBody>
      </p:sp>
      <p:sp>
        <p:nvSpPr>
          <p:cNvPr id="5" name="TextBox 4"/>
          <p:cNvSpPr txBox="1">
            <a:spLocks/>
          </p:cNvSpPr>
          <p:nvPr/>
        </p:nvSpPr>
        <p:spPr>
          <a:xfrm>
            <a:off x="676656" y="2084831"/>
            <a:ext cx="8686800" cy="320040"/>
          </a:xfrm>
          <a:prstGeom prst="rect">
            <a:avLst/>
          </a:prstGeom>
          <a:noFill/>
        </p:spPr>
        <p:txBody>
          <a:bodyPr wrap="square" lIns="27432" tIns="27432" rIns="27432" bIns="27432" anchor="t">
            <a:spAutoFit/>
          </a:bodyPr>
          <a:lstStyle/>
          <a:p>
            <a:pPr algn="l">
              <a:spcAft>
                <a:spcPts val="0"/>
              </a:spcAft>
            </a:pPr>
            <a:r>
              <a:rPr lang="en-GB" sz="1500" b="0">
                <a:solidFill>
                  <a:srgbClr val="C9D1DD"/>
                </a:solidFill>
              </a:rPr>
              <a:t>Foundations • Day 1 of 2</a:t>
            </a:r>
          </a:p>
        </p:txBody>
      </p:sp>
      <p:cxnSp>
        <p:nvCxnSpPr>
          <p:cNvPr id="6" name="Connector 5"/>
          <p:cNvCxnSpPr/>
          <p:nvPr/>
        </p:nvCxnSpPr>
        <p:spPr>
          <a:xfrm>
            <a:off x="676656" y="2578608"/>
            <a:ext cx="10616184" cy="0"/>
          </a:xfrm>
          <a:prstGeom prst="line">
            <a:avLst/>
          </a:prstGeom>
          <a:ln w="12700">
            <a:solidFill>
              <a:srgbClr val="40516A"/>
            </a:solidFill>
          </a:ln>
        </p:spPr>
        <p:style>
          <a:lnRef idx="2">
            <a:schemeClr val="accent1"/>
          </a:lnRef>
          <a:fillRef idx="0">
            <a:schemeClr val="accent1"/>
          </a:fillRef>
          <a:effectRef idx="1">
            <a:schemeClr val="accent1"/>
          </a:effectRef>
          <a:fontRef idx="minor">
            <a:schemeClr val="tx1"/>
          </a:fontRef>
        </p:style>
      </p:cxnSp>
      <p:sp>
        <p:nvSpPr>
          <p:cNvPr id="7" name="TextBox 6"/>
          <p:cNvSpPr txBox="1">
            <a:spLocks/>
          </p:cNvSpPr>
          <p:nvPr/>
        </p:nvSpPr>
        <p:spPr>
          <a:xfrm>
            <a:off x="685800" y="2889504"/>
            <a:ext cx="27432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LEARNING OBJECTIVES</a:t>
            </a:r>
          </a:p>
        </p:txBody>
      </p:sp>
      <p:sp>
        <p:nvSpPr>
          <p:cNvPr id="8" name="TextBox 7"/>
          <p:cNvSpPr txBox="1">
            <a:spLocks/>
          </p:cNvSpPr>
          <p:nvPr/>
        </p:nvSpPr>
        <p:spPr>
          <a:xfrm>
            <a:off x="685800" y="3218688"/>
            <a:ext cx="6035040" cy="2057400"/>
          </a:xfrm>
          <a:prstGeom prst="rect">
            <a:avLst/>
          </a:prstGeom>
          <a:noFill/>
        </p:spPr>
        <p:txBody>
          <a:bodyPr wrap="square" lIns="109728" tIns="73152" rIns="109728" bIns="73152" anchor="t">
            <a:spAutoFit/>
          </a:bodyPr>
          <a:lstStyle/>
          <a:p>
            <a:pPr algn="l">
              <a:lnSpc>
                <a:spcPct val="105000"/>
              </a:lnSpc>
              <a:spcAft>
                <a:spcPts val="700"/>
              </a:spcAft>
              <a:defRPr sz="1700">
                <a:solidFill>
                  <a:srgbClr val="FFFFFF"/>
                </a:solidFill>
              </a:defRPr>
            </a:pPr>
            <a:r>
              <a:rPr lang="en-GB"/>
              <a:t>• Explain packet fields, DNS, TCP/UDP and forwarding decisions</a:t>
            </a:r>
          </a:p>
          <a:p>
            <a:pPr>
              <a:lnSpc>
                <a:spcPct val="105000"/>
              </a:lnSpc>
              <a:spcAft>
                <a:spcPts val="700"/>
              </a:spcAft>
              <a:defRPr sz="1700">
                <a:solidFill>
                  <a:srgbClr val="FFFFFF"/>
                </a:solidFill>
              </a:defRPr>
            </a:pPr>
            <a:r>
              <a:rPr lang="en-GB"/>
              <a:t>• Trace a new session through FortiGate decision stages</a:t>
            </a:r>
          </a:p>
          <a:p>
            <a:pPr>
              <a:lnSpc>
                <a:spcPct val="105000"/>
              </a:lnSpc>
              <a:spcAft>
                <a:spcPts val="700"/>
              </a:spcAft>
              <a:defRPr sz="1700">
                <a:solidFill>
                  <a:srgbClr val="FFFFFF"/>
                </a:solidFill>
              </a:defRPr>
            </a:pPr>
            <a:r>
              <a:rPr lang="en-GB"/>
              <a:t>• Distinguish flow/proxy inspection and locate implicit deny</a:t>
            </a:r>
          </a:p>
        </p:txBody>
      </p:sp>
      <p:sp>
        <p:nvSpPr>
          <p:cNvPr id="9" name="TextBox 8"/>
          <p:cNvSpPr txBox="1">
            <a:spLocks/>
          </p:cNvSpPr>
          <p:nvPr/>
        </p:nvSpPr>
        <p:spPr>
          <a:xfrm>
            <a:off x="7315200" y="2889504"/>
            <a:ext cx="36576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PREREQUISITES + PRACTICE RESERVE</a:t>
            </a:r>
          </a:p>
        </p:txBody>
      </p:sp>
      <p:sp>
        <p:nvSpPr>
          <p:cNvPr id="10" name="TextBox 9"/>
          <p:cNvSpPr txBox="1">
            <a:spLocks/>
          </p:cNvSpPr>
          <p:nvPr/>
        </p:nvSpPr>
        <p:spPr>
          <a:xfrm>
            <a:off x="7315200" y="3218688"/>
            <a:ext cx="3886200" cy="1143000"/>
          </a:xfrm>
          <a:prstGeom prst="rect">
            <a:avLst/>
          </a:prstGeom>
          <a:noFill/>
        </p:spPr>
        <p:txBody>
          <a:bodyPr wrap="square" lIns="109728" tIns="73152" rIns="109728" bIns="73152" anchor="t">
            <a:spAutoFit/>
          </a:bodyPr>
          <a:lstStyle/>
          <a:p>
            <a:pPr algn="l">
              <a:lnSpc>
                <a:spcPct val="105000"/>
              </a:lnSpc>
              <a:spcAft>
                <a:spcPts val="600"/>
              </a:spcAft>
              <a:defRPr sz="1500">
                <a:solidFill>
                  <a:srgbClr val="FFFFFF"/>
                </a:solidFill>
              </a:defRPr>
            </a:pPr>
            <a:r>
              <a:rPr lang="en-GB"/>
              <a:t>• Basic IPv4 subnetting</a:t>
            </a:r>
          </a:p>
          <a:p>
            <a:pPr>
              <a:lnSpc>
                <a:spcPct val="105000"/>
              </a:lnSpc>
              <a:spcAft>
                <a:spcPts val="600"/>
              </a:spcAft>
              <a:defRPr sz="1500">
                <a:solidFill>
                  <a:srgbClr val="FFFFFF"/>
                </a:solidFill>
              </a:defRPr>
            </a:pPr>
            <a:r>
              <a:rPr lang="en-GB"/>
              <a:t>• Illustrative topology on slide 3</a:t>
            </a:r>
          </a:p>
          <a:p>
            <a:pPr>
              <a:lnSpc>
                <a:spcPct val="105000"/>
              </a:lnSpc>
              <a:spcAft>
                <a:spcPts val="600"/>
              </a:spcAft>
              <a:defRPr sz="1500">
                <a:solidFill>
                  <a:srgbClr val="FFFFFF"/>
                </a:solidFill>
              </a:defRPr>
            </a:pPr>
            <a:r>
              <a:rPr lang="en-GB"/>
              <a:t>• GUI/CLI access is demonstrated in the next block</a:t>
            </a:r>
          </a:p>
        </p:txBody>
      </p:sp>
      <p:sp>
        <p:nvSpPr>
          <p:cNvPr id="11" name="TextBox 10"/>
          <p:cNvSpPr txBox="1">
            <a:spLocks/>
          </p:cNvSpPr>
          <p:nvPr/>
        </p:nvSpPr>
        <p:spPr>
          <a:xfrm>
            <a:off x="7315200" y="4709160"/>
            <a:ext cx="3931920" cy="685800"/>
          </a:xfrm>
          <a:prstGeom prst="rect">
            <a:avLst/>
          </a:prstGeom>
          <a:noFill/>
        </p:spPr>
        <p:txBody>
          <a:bodyPr wrap="square" lIns="27432" tIns="27432" rIns="27432" bIns="27432" anchor="t">
            <a:spAutoFit/>
          </a:bodyPr>
          <a:lstStyle/>
          <a:p>
            <a:pPr algn="l">
              <a:spcAft>
                <a:spcPts val="0"/>
              </a:spcAft>
            </a:pPr>
            <a:r>
              <a:rPr lang="en-GB" sz="1600" b="1">
                <a:solidFill>
                  <a:srgbClr val="D8E0EA"/>
                </a:solidFill>
              </a:rPr>
              <a:t>Teach ~54 min • reserve ~36 min for guided activity, discussion and debrief</a:t>
            </a:r>
          </a:p>
        </p:txBody>
      </p:sp>
      <p:sp>
        <p:nvSpPr>
          <p:cNvPr id="12" name="TextBox 11"/>
          <p:cNvSpPr txBox="1">
            <a:spLocks/>
          </p:cNvSpPr>
          <p:nvPr/>
        </p:nvSpPr>
        <p:spPr>
          <a:xfrm>
            <a:off x="10424160" y="5715000"/>
            <a:ext cx="731520" cy="363176"/>
          </a:xfrm>
          <a:prstGeom prst="rect">
            <a:avLst/>
          </a:prstGeom>
          <a:noFill/>
        </p:spPr>
        <p:txBody>
          <a:bodyPr wrap="square" lIns="27432" tIns="27432" rIns="27432" bIns="27432" anchor="t">
            <a:spAutoFit/>
          </a:bodyPr>
          <a:lstStyle/>
          <a:p>
            <a:pPr algn="r">
              <a:spcAft>
                <a:spcPts val="0"/>
              </a:spcAft>
            </a:pPr>
            <a:r>
              <a:rPr lang="en-HU" sz="2000" b="1">
                <a:solidFill>
                  <a:srgbClr val="E60012"/>
                </a:solidFill>
              </a:rPr>
              <a:t>004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5</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The five-tuple is the identity of a unidirectional flow</a:t>
            </a:r>
          </a:p>
        </p:txBody>
      </p:sp>
      <p:sp>
        <p:nvSpPr>
          <p:cNvPr id="10" name="TextBox 9"/>
          <p:cNvSpPr txBox="1">
            <a:spLocks/>
          </p:cNvSpPr>
          <p:nvPr/>
        </p:nvSpPr>
        <p:spPr>
          <a:xfrm>
            <a:off x="521207" y="1133856"/>
            <a:ext cx="10698480" cy="256032"/>
          </a:xfrm>
          <a:prstGeom prst="rect">
            <a:avLst/>
          </a:prstGeom>
          <a:noFill/>
        </p:spPr>
        <p:txBody>
          <a:bodyPr wrap="square" lIns="27432" tIns="27432" rIns="27432" bIns="27432" anchor="t">
            <a:spAutoFit/>
          </a:bodyPr>
          <a:lstStyle/>
          <a:p>
            <a:pPr algn="l">
              <a:spcAft>
                <a:spcPts val="0"/>
              </a:spcAft>
            </a:pPr>
            <a:r>
              <a:rPr lang="en-GB" sz="1100" b="0">
                <a:solidFill>
                  <a:srgbClr val="687385"/>
                </a:solidFill>
              </a:rPr>
              <a:t>FortiGate session matching begins with concrete packet fields, not application names</a:t>
            </a:r>
          </a:p>
        </p:txBody>
      </p:sp>
      <p:graphicFrame>
        <p:nvGraphicFramePr>
          <p:cNvPr id="11" name="Table 10"/>
          <p:cNvGraphicFramePr>
            <a:graphicFrameLocks noGrp="1"/>
          </p:cNvGraphicFramePr>
          <p:nvPr/>
        </p:nvGraphicFramePr>
        <p:xfrm>
          <a:off x="658368" y="1600200"/>
          <a:ext cx="6720840" cy="406908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tblGrid>
              <a:tr h="678180">
                <a:tc>
                  <a:txBody>
                    <a:bodyPr/>
                    <a:lstStyle/>
                    <a:p>
                      <a:pPr>
                        <a:defRPr sz="1300" b="1">
                          <a:solidFill>
                            <a:srgbClr val="FFFFFF"/>
                          </a:solidFill>
                        </a:defRPr>
                      </a:pPr>
                      <a:r>
                        <a:rPr b="1">
                          <a:solidFill>
                            <a:srgbClr val="FFFFFF"/>
                          </a:solidFill>
                        </a:rPr>
                        <a:t>FIELD</a:t>
                      </a:r>
                    </a:p>
                  </a:txBody>
                  <a:tcPr marL="73152" marR="73152" marT="36576" marB="36576">
                    <a:solidFill>
                      <a:srgbClr val="17243A"/>
                    </a:solidFill>
                  </a:tcPr>
                </a:tc>
                <a:tc>
                  <a:txBody>
                    <a:bodyPr/>
                    <a:lstStyle/>
                    <a:p>
                      <a:pPr>
                        <a:defRPr sz="1300" b="1">
                          <a:solidFill>
                            <a:srgbClr val="FFFFFF"/>
                          </a:solidFill>
                        </a:defRPr>
                      </a:pPr>
                      <a:r>
                        <a:rPr b="1">
                          <a:solidFill>
                            <a:srgbClr val="FFFFFF"/>
                          </a:solidFill>
                        </a:rPr>
                        <a:t>EXAMPLE</a:t>
                      </a:r>
                    </a:p>
                  </a:txBody>
                  <a:tcPr marL="73152" marR="73152" marT="36576" marB="36576">
                    <a:solidFill>
                      <a:srgbClr val="17243A"/>
                    </a:solidFill>
                  </a:tcPr>
                </a:tc>
                <a:tc>
                  <a:txBody>
                    <a:bodyPr/>
                    <a:lstStyle/>
                    <a:p>
                      <a:pPr>
                        <a:defRPr sz="1300" b="1">
                          <a:solidFill>
                            <a:srgbClr val="FFFFFF"/>
                          </a:solidFill>
                        </a:defRPr>
                      </a:pPr>
                      <a:r>
                        <a:rPr b="1">
                          <a:solidFill>
                            <a:srgbClr val="FFFFFF"/>
                          </a:solidFill>
                        </a:rPr>
                        <a:t>WHY IT MATTERS</a:t>
                      </a:r>
                    </a:p>
                  </a:txBody>
                  <a:tcPr marL="73152" marR="73152" marT="36576" marB="36576">
                    <a:solidFill>
                      <a:srgbClr val="17243A"/>
                    </a:solidFill>
                  </a:tcPr>
                </a:tc>
                <a:extLst>
                  <a:ext uri="{0D108BD9-81ED-4DB2-BD59-A6C34878D82A}">
                    <a16:rowId xmlns:a16="http://schemas.microsoft.com/office/drawing/2014/main" val="10000"/>
                  </a:ext>
                </a:extLst>
              </a:tr>
              <a:tr h="678180">
                <a:tc>
                  <a:txBody>
                    <a:bodyPr/>
                    <a:lstStyle/>
                    <a:p>
                      <a:pPr>
                        <a:defRPr sz="1300">
                          <a:solidFill>
                            <a:srgbClr val="1E2B40"/>
                          </a:solidFill>
                        </a:defRPr>
                      </a:pPr>
                      <a:r>
                        <a:t>Source IP</a:t>
                      </a:r>
                    </a:p>
                  </a:txBody>
                  <a:tcPr marL="73152" marR="73152" marT="36576" marB="36576">
                    <a:solidFill>
                      <a:srgbClr val="FFFFFF"/>
                    </a:solidFill>
                  </a:tcPr>
                </a:tc>
                <a:tc>
                  <a:txBody>
                    <a:bodyPr/>
                    <a:lstStyle/>
                    <a:p>
                      <a:pPr>
                        <a:defRPr sz="1300">
                          <a:solidFill>
                            <a:srgbClr val="1E2B40"/>
                          </a:solidFill>
                        </a:defRPr>
                      </a:pPr>
                      <a:r>
                        <a:t>10.10.10.25</a:t>
                      </a:r>
                    </a:p>
                  </a:txBody>
                  <a:tcPr marL="73152" marR="73152" marT="36576" marB="36576">
                    <a:solidFill>
                      <a:srgbClr val="FFFFFF"/>
                    </a:solidFill>
                  </a:tcPr>
                </a:tc>
                <a:tc>
                  <a:txBody>
                    <a:bodyPr/>
                    <a:lstStyle/>
                    <a:p>
                      <a:pPr>
                        <a:defRPr sz="1300">
                          <a:solidFill>
                            <a:srgbClr val="1E2B40"/>
                          </a:solidFill>
                        </a:defRPr>
                      </a:pPr>
                      <a:r>
                        <a:t>Which host originated the packet</a:t>
                      </a:r>
                    </a:p>
                  </a:txBody>
                  <a:tcPr marL="73152" marR="73152" marT="36576" marB="36576">
                    <a:solidFill>
                      <a:srgbClr val="FFFFFF"/>
                    </a:solidFill>
                  </a:tcPr>
                </a:tc>
                <a:extLst>
                  <a:ext uri="{0D108BD9-81ED-4DB2-BD59-A6C34878D82A}">
                    <a16:rowId xmlns:a16="http://schemas.microsoft.com/office/drawing/2014/main" val="10001"/>
                  </a:ext>
                </a:extLst>
              </a:tr>
              <a:tr h="678180">
                <a:tc>
                  <a:txBody>
                    <a:bodyPr/>
                    <a:lstStyle/>
                    <a:p>
                      <a:pPr>
                        <a:defRPr sz="1300">
                          <a:solidFill>
                            <a:srgbClr val="1E2B40"/>
                          </a:solidFill>
                        </a:defRPr>
                      </a:pPr>
                      <a:r>
                        <a:t>Destination IP</a:t>
                      </a:r>
                    </a:p>
                  </a:txBody>
                  <a:tcPr marL="73152" marR="73152" marT="36576" marB="36576">
                    <a:solidFill>
                      <a:srgbClr val="EEF2F7"/>
                    </a:solidFill>
                  </a:tcPr>
                </a:tc>
                <a:tc>
                  <a:txBody>
                    <a:bodyPr/>
                    <a:lstStyle/>
                    <a:p>
                      <a:pPr>
                        <a:defRPr sz="1300">
                          <a:solidFill>
                            <a:srgbClr val="1E2B40"/>
                          </a:solidFill>
                        </a:defRPr>
                      </a:pPr>
                      <a:r>
                        <a:t>203.0.113.80</a:t>
                      </a:r>
                    </a:p>
                  </a:txBody>
                  <a:tcPr marL="73152" marR="73152" marT="36576" marB="36576">
                    <a:solidFill>
                      <a:srgbClr val="EEF2F7"/>
                    </a:solidFill>
                  </a:tcPr>
                </a:tc>
                <a:tc>
                  <a:txBody>
                    <a:bodyPr/>
                    <a:lstStyle/>
                    <a:p>
                      <a:pPr>
                        <a:defRPr sz="1300">
                          <a:solidFill>
                            <a:srgbClr val="1E2B40"/>
                          </a:solidFill>
                        </a:defRPr>
                      </a:pPr>
                      <a:r>
                        <a:t>Which host the packet targets</a:t>
                      </a:r>
                    </a:p>
                  </a:txBody>
                  <a:tcPr marL="73152" marR="73152" marT="36576" marB="36576">
                    <a:solidFill>
                      <a:srgbClr val="EEF2F7"/>
                    </a:solidFill>
                  </a:tcPr>
                </a:tc>
                <a:extLst>
                  <a:ext uri="{0D108BD9-81ED-4DB2-BD59-A6C34878D82A}">
                    <a16:rowId xmlns:a16="http://schemas.microsoft.com/office/drawing/2014/main" val="10002"/>
                  </a:ext>
                </a:extLst>
              </a:tr>
              <a:tr h="678180">
                <a:tc>
                  <a:txBody>
                    <a:bodyPr/>
                    <a:lstStyle/>
                    <a:p>
                      <a:pPr>
                        <a:defRPr sz="1300">
                          <a:solidFill>
                            <a:srgbClr val="1E2B40"/>
                          </a:solidFill>
                        </a:defRPr>
                      </a:pPr>
                      <a:r>
                        <a:t>Source port</a:t>
                      </a:r>
                    </a:p>
                  </a:txBody>
                  <a:tcPr marL="73152" marR="73152" marT="36576" marB="36576">
                    <a:solidFill>
                      <a:srgbClr val="FFFFFF"/>
                    </a:solidFill>
                  </a:tcPr>
                </a:tc>
                <a:tc>
                  <a:txBody>
                    <a:bodyPr/>
                    <a:lstStyle/>
                    <a:p>
                      <a:pPr>
                        <a:defRPr sz="1300">
                          <a:solidFill>
                            <a:srgbClr val="1E2B40"/>
                          </a:solidFill>
                        </a:defRPr>
                      </a:pPr>
                      <a:r>
                        <a:t>51514</a:t>
                      </a:r>
                    </a:p>
                  </a:txBody>
                  <a:tcPr marL="73152" marR="73152" marT="36576" marB="36576">
                    <a:solidFill>
                      <a:srgbClr val="FFFFFF"/>
                    </a:solidFill>
                  </a:tcPr>
                </a:tc>
                <a:tc>
                  <a:txBody>
                    <a:bodyPr/>
                    <a:lstStyle/>
                    <a:p>
                      <a:pPr>
                        <a:defRPr sz="1300">
                          <a:solidFill>
                            <a:srgbClr val="1E2B40"/>
                          </a:solidFill>
                        </a:defRPr>
                      </a:pPr>
                      <a:r>
                        <a:t>Ephemeral client-side transport port</a:t>
                      </a:r>
                    </a:p>
                  </a:txBody>
                  <a:tcPr marL="73152" marR="73152" marT="36576" marB="36576">
                    <a:solidFill>
                      <a:srgbClr val="FFFFFF"/>
                    </a:solidFill>
                  </a:tcPr>
                </a:tc>
                <a:extLst>
                  <a:ext uri="{0D108BD9-81ED-4DB2-BD59-A6C34878D82A}">
                    <a16:rowId xmlns:a16="http://schemas.microsoft.com/office/drawing/2014/main" val="10003"/>
                  </a:ext>
                </a:extLst>
              </a:tr>
              <a:tr h="678180">
                <a:tc>
                  <a:txBody>
                    <a:bodyPr/>
                    <a:lstStyle/>
                    <a:p>
                      <a:pPr>
                        <a:defRPr sz="1300">
                          <a:solidFill>
                            <a:srgbClr val="1E2B40"/>
                          </a:solidFill>
                        </a:defRPr>
                      </a:pPr>
                      <a:r>
                        <a:t>Destination port</a:t>
                      </a:r>
                    </a:p>
                  </a:txBody>
                  <a:tcPr marL="73152" marR="73152" marT="36576" marB="36576">
                    <a:solidFill>
                      <a:srgbClr val="EEF2F7"/>
                    </a:solidFill>
                  </a:tcPr>
                </a:tc>
                <a:tc>
                  <a:txBody>
                    <a:bodyPr/>
                    <a:lstStyle/>
                    <a:p>
                      <a:pPr>
                        <a:defRPr sz="1300">
                          <a:solidFill>
                            <a:srgbClr val="1E2B40"/>
                          </a:solidFill>
                        </a:defRPr>
                      </a:pPr>
                      <a:r>
                        <a:t>443</a:t>
                      </a:r>
                    </a:p>
                  </a:txBody>
                  <a:tcPr marL="73152" marR="73152" marT="36576" marB="36576">
                    <a:solidFill>
                      <a:srgbClr val="EEF2F7"/>
                    </a:solidFill>
                  </a:tcPr>
                </a:tc>
                <a:tc>
                  <a:txBody>
                    <a:bodyPr/>
                    <a:lstStyle/>
                    <a:p>
                      <a:pPr>
                        <a:defRPr sz="1300">
                          <a:solidFill>
                            <a:srgbClr val="1E2B40"/>
                          </a:solidFill>
                        </a:defRPr>
                      </a:pPr>
                      <a:r>
                        <a:t>Service endpoint; not proof of the application</a:t>
                      </a:r>
                    </a:p>
                  </a:txBody>
                  <a:tcPr marL="73152" marR="73152" marT="36576" marB="36576">
                    <a:solidFill>
                      <a:srgbClr val="EEF2F7"/>
                    </a:solidFill>
                  </a:tcPr>
                </a:tc>
                <a:extLst>
                  <a:ext uri="{0D108BD9-81ED-4DB2-BD59-A6C34878D82A}">
                    <a16:rowId xmlns:a16="http://schemas.microsoft.com/office/drawing/2014/main" val="10004"/>
                  </a:ext>
                </a:extLst>
              </a:tr>
              <a:tr h="678180">
                <a:tc>
                  <a:txBody>
                    <a:bodyPr/>
                    <a:lstStyle/>
                    <a:p>
                      <a:pPr>
                        <a:defRPr sz="1300">
                          <a:solidFill>
                            <a:srgbClr val="1E2B40"/>
                          </a:solidFill>
                        </a:defRPr>
                      </a:pPr>
                      <a:r>
                        <a:t>Protocol</a:t>
                      </a:r>
                    </a:p>
                  </a:txBody>
                  <a:tcPr marL="73152" marR="73152" marT="36576" marB="36576">
                    <a:solidFill>
                      <a:srgbClr val="FFFFFF"/>
                    </a:solidFill>
                  </a:tcPr>
                </a:tc>
                <a:tc>
                  <a:txBody>
                    <a:bodyPr/>
                    <a:lstStyle/>
                    <a:p>
                      <a:pPr>
                        <a:defRPr sz="1300">
                          <a:solidFill>
                            <a:srgbClr val="1E2B40"/>
                          </a:solidFill>
                        </a:defRPr>
                      </a:pPr>
                      <a:r>
                        <a:t>TCP (6)</a:t>
                      </a:r>
                    </a:p>
                  </a:txBody>
                  <a:tcPr marL="73152" marR="73152" marT="36576" marB="36576">
                    <a:solidFill>
                      <a:srgbClr val="FFFFFF"/>
                    </a:solidFill>
                  </a:tcPr>
                </a:tc>
                <a:tc>
                  <a:txBody>
                    <a:bodyPr/>
                    <a:lstStyle/>
                    <a:p>
                      <a:pPr>
                        <a:defRPr sz="1300">
                          <a:solidFill>
                            <a:srgbClr val="1E2B40"/>
                          </a:solidFill>
                        </a:defRPr>
                      </a:pPr>
                      <a:r>
                        <a:t>Separates TCP from UDP/ICMP flows</a:t>
                      </a:r>
                    </a:p>
                  </a:txBody>
                  <a:tcPr marL="73152" marR="73152" marT="36576" marB="36576">
                    <a:solidFill>
                      <a:srgbClr val="FFFFFF"/>
                    </a:solidFill>
                  </a:tcPr>
                </a:tc>
                <a:extLst>
                  <a:ext uri="{0D108BD9-81ED-4DB2-BD59-A6C34878D82A}">
                    <a16:rowId xmlns:a16="http://schemas.microsoft.com/office/drawing/2014/main" val="10005"/>
                  </a:ext>
                </a:extLst>
              </a:tr>
            </a:tbl>
          </a:graphicData>
        </a:graphic>
      </p:graphicFrame>
      <p:cxnSp>
        <p:nvCxnSpPr>
          <p:cNvPr id="12" name="Connector 11"/>
          <p:cNvCxnSpPr/>
          <p:nvPr/>
        </p:nvCxnSpPr>
        <p:spPr>
          <a:xfrm>
            <a:off x="7680960" y="1627632"/>
            <a:ext cx="0" cy="4178808"/>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001000" y="1691640"/>
            <a:ext cx="2926080" cy="237744"/>
          </a:xfrm>
          <a:prstGeom prst="rect">
            <a:avLst/>
          </a:prstGeom>
          <a:noFill/>
        </p:spPr>
        <p:txBody>
          <a:bodyPr wrap="square" lIns="27432" tIns="27432" rIns="27432" bIns="27432" anchor="t">
            <a:spAutoFit/>
          </a:bodyPr>
          <a:lstStyle/>
          <a:p>
            <a:pPr algn="l">
              <a:spcAft>
                <a:spcPts val="0"/>
              </a:spcAft>
            </a:pPr>
            <a:r>
              <a:rPr sz="1100" b="1">
                <a:solidFill>
                  <a:srgbClr val="E60012"/>
                </a:solidFill>
              </a:rPr>
              <a:t>SESSION CONSEQUENCE</a:t>
            </a:r>
          </a:p>
        </p:txBody>
      </p:sp>
      <p:sp>
        <p:nvSpPr>
          <p:cNvPr id="14" name="TextBox 13"/>
          <p:cNvSpPr txBox="1"/>
          <p:nvPr/>
        </p:nvSpPr>
        <p:spPr>
          <a:xfrm>
            <a:off x="8001000" y="2084831"/>
            <a:ext cx="3246120" cy="1508760"/>
          </a:xfrm>
          <a:prstGeom prst="rect">
            <a:avLst/>
          </a:prstGeom>
          <a:noFill/>
        </p:spPr>
        <p:txBody>
          <a:bodyPr wrap="square" lIns="27432" tIns="27432" rIns="27432" bIns="27432" anchor="t">
            <a:spAutoFit/>
          </a:bodyPr>
          <a:lstStyle/>
          <a:p>
            <a:pPr algn="l">
              <a:spcAft>
                <a:spcPts val="0"/>
              </a:spcAft>
            </a:pPr>
            <a:r>
              <a:rPr sz="1700" b="1">
                <a:solidFill>
                  <a:srgbClr val="233A59"/>
                </a:solidFill>
              </a:rPr>
              <a:t>The return packet reverses source and destination. FortiGate associates it with the existing session and applies the stored policy, NAT and security state.</a:t>
            </a:r>
          </a:p>
        </p:txBody>
      </p:sp>
      <p:sp>
        <p:nvSpPr>
          <p:cNvPr id="15" name="TextBox 14"/>
          <p:cNvSpPr txBox="1"/>
          <p:nvPr/>
        </p:nvSpPr>
        <p:spPr>
          <a:xfrm>
            <a:off x="8001000" y="3840480"/>
            <a:ext cx="1828800" cy="228600"/>
          </a:xfrm>
          <a:prstGeom prst="rect">
            <a:avLst/>
          </a:prstGeom>
          <a:noFill/>
        </p:spPr>
        <p:txBody>
          <a:bodyPr wrap="square" lIns="27432" tIns="27432" rIns="27432" bIns="27432" anchor="t">
            <a:spAutoFit/>
          </a:bodyPr>
          <a:lstStyle/>
          <a:p>
            <a:pPr algn="l">
              <a:spcAft>
                <a:spcPts val="0"/>
              </a:spcAft>
            </a:pPr>
            <a:r>
              <a:rPr sz="1100" b="1">
                <a:solidFill>
                  <a:srgbClr val="E60012"/>
                </a:solidFill>
              </a:rPr>
              <a:t>Worked packet</a:t>
            </a:r>
          </a:p>
        </p:txBody>
      </p:sp>
      <p:sp>
        <p:nvSpPr>
          <p:cNvPr id="16" name="TextBox 15"/>
          <p:cNvSpPr txBox="1"/>
          <p:nvPr/>
        </p:nvSpPr>
        <p:spPr>
          <a:xfrm>
            <a:off x="8001000" y="4187952"/>
            <a:ext cx="3246120" cy="978729"/>
          </a:xfrm>
          <a:prstGeom prst="rect">
            <a:avLst/>
          </a:prstGeom>
          <a:noFill/>
        </p:spPr>
        <p:txBody>
          <a:bodyPr wrap="square" lIns="27432" tIns="27432" rIns="27432" bIns="27432" anchor="t">
            <a:spAutoFit/>
          </a:bodyPr>
          <a:lstStyle/>
          <a:p>
            <a:pPr algn="l">
              <a:spcAft>
                <a:spcPts val="0"/>
              </a:spcAft>
            </a:pPr>
            <a:r>
              <a:rPr lang="en-GB" sz="1500" b="0">
                <a:solidFill>
                  <a:srgbClr val="1E2B40"/>
                </a:solidFill>
              </a:rPr>
              <a:t>10.1.10.10:51514</a:t>
            </a:r>
            <a:r>
              <a:rPr sz="1500" b="0">
                <a:solidFill>
                  <a:srgbClr val="1E2B40"/>
                </a:solidFill>
              </a:rPr>
              <a:t> → 203.0.113.80:443 / TCP
Return: 203.0.113.80:443 → translated client tuple</a:t>
            </a:r>
          </a:p>
        </p:txBody>
      </p:sp>
      <p:sp>
        <p:nvSpPr>
          <p:cNvPr id="17" name="TextBox 16"/>
          <p:cNvSpPr txBox="1"/>
          <p:nvPr/>
        </p:nvSpPr>
        <p:spPr>
          <a:xfrm>
            <a:off x="8001000" y="5257800"/>
            <a:ext cx="3246120" cy="424732"/>
          </a:xfrm>
          <a:prstGeom prst="rect">
            <a:avLst/>
          </a:prstGeom>
          <a:noFill/>
        </p:spPr>
        <p:txBody>
          <a:bodyPr wrap="square" lIns="27432" tIns="27432" rIns="27432" bIns="27432" anchor="t">
            <a:spAutoFit/>
          </a:bodyPr>
          <a:lstStyle/>
          <a:p>
            <a:pPr algn="l">
              <a:spcAft>
                <a:spcPts val="0"/>
              </a:spcAft>
            </a:pPr>
            <a:r>
              <a:rPr sz="1200" b="1">
                <a:solidFill>
                  <a:srgbClr val="687385"/>
                </a:solidFill>
              </a:rPr>
              <a:t>Validate: diagnose sys session filter src </a:t>
            </a:r>
            <a:r>
              <a:rPr lang="en-GB" sz="1200" b="1">
                <a:solidFill>
                  <a:srgbClr val="687385"/>
                </a:solidFill>
              </a:rPr>
              <a:t>10.1.10.10;</a:t>
            </a:r>
            <a:r>
              <a:rPr sz="1200" b="1">
                <a:solidFill>
                  <a:srgbClr val="687385"/>
                </a:solidFill>
              </a:rPr>
              <a:t> diagnose sys session list</a:t>
            </a:r>
          </a:p>
        </p:txBody>
      </p:sp>
      <p:sp>
        <p:nvSpPr>
          <p:cNvPr id="18" name="TextBox 17"/>
          <p:cNvSpPr txBox="1"/>
          <p:nvPr/>
        </p:nvSpPr>
        <p:spPr>
          <a:xfrm>
            <a:off x="502920" y="420624"/>
            <a:ext cx="10744200" cy="130805"/>
          </a:xfrm>
          <a:prstGeom prst="rect">
            <a:avLst/>
          </a:prstGeom>
          <a:noFill/>
        </p:spPr>
        <p:txBody>
          <a:bodyPr wrap="square" lIns="0" tIns="0" rIns="0" bIns="0">
            <a:spAutoFit/>
          </a:bodyPr>
          <a:lstStyle/>
          <a:p>
            <a:pPr algn="l"/>
            <a:r>
              <a:rPr lang="en-HU" sz="850" b="1">
                <a:solidFill>
                  <a:srgbClr val="687385"/>
                </a:solidFill>
              </a:rPr>
              <a:t>005</a:t>
            </a:r>
            <a:r>
              <a:rPr sz="850" b="1">
                <a:solidFill>
                  <a:srgbClr val="687385"/>
                </a:solidFill>
              </a:rPr>
              <a:t> • DAY 1 • BLOCK 01 • Network Foundations &amp; Packet Flow</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6</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DNS turns names into routable destinations</a:t>
            </a:r>
          </a:p>
        </p:txBody>
      </p:sp>
      <p:sp>
        <p:nvSpPr>
          <p:cNvPr id="10" name="Rectangle 9"/>
          <p:cNvSpPr/>
          <p:nvPr/>
        </p:nvSpPr>
        <p:spPr>
          <a:xfrm>
            <a:off x="658368" y="1901952"/>
            <a:ext cx="2599182"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1" name="TextBox 10"/>
          <p:cNvSpPr txBox="1">
            <a:spLocks/>
          </p:cNvSpPr>
          <p:nvPr/>
        </p:nvSpPr>
        <p:spPr>
          <a:xfrm>
            <a:off x="768096" y="2020824"/>
            <a:ext cx="411480" cy="219456"/>
          </a:xfrm>
          <a:prstGeom prst="rect">
            <a:avLst/>
          </a:prstGeom>
          <a:noFill/>
        </p:spPr>
        <p:txBody>
          <a:bodyPr wrap="square" lIns="27432" tIns="27432" rIns="27432" bIns="27432" anchor="t">
            <a:spAutoFit/>
          </a:bodyPr>
          <a:lstStyle/>
          <a:p>
            <a:pPr algn="l">
              <a:spcAft>
                <a:spcPts val="0"/>
              </a:spcAft>
            </a:pPr>
            <a:r>
              <a:rPr lang="en-HU" sz="1100" b="1">
                <a:solidFill>
                  <a:srgbClr val="E60012"/>
                </a:solidFill>
              </a:rPr>
              <a:t>01</a:t>
            </a:r>
          </a:p>
        </p:txBody>
      </p:sp>
      <p:sp>
        <p:nvSpPr>
          <p:cNvPr id="12" name="TextBox 11"/>
          <p:cNvSpPr txBox="1">
            <a:spLocks/>
          </p:cNvSpPr>
          <p:nvPr/>
        </p:nvSpPr>
        <p:spPr>
          <a:xfrm>
            <a:off x="768096" y="2340864"/>
            <a:ext cx="2379726" cy="603504"/>
          </a:xfrm>
          <a:prstGeom prst="rect">
            <a:avLst/>
          </a:prstGeom>
          <a:noFill/>
        </p:spPr>
        <p:txBody>
          <a:bodyPr wrap="square" lIns="27432" tIns="27432" rIns="27432" bIns="27432" anchor="ctr">
            <a:spAutoFit/>
          </a:bodyPr>
          <a:lstStyle/>
          <a:p>
            <a:pPr algn="ctr">
              <a:spcAft>
                <a:spcPts val="0"/>
              </a:spcAft>
            </a:pPr>
            <a:r>
              <a:rPr lang="en-GB" sz="1400" b="1">
                <a:solidFill>
                  <a:srgbClr val="1E2B40"/>
                </a:solidFill>
              </a:rPr>
              <a:t>Client query</a:t>
            </a:r>
          </a:p>
        </p:txBody>
      </p:sp>
      <p:cxnSp>
        <p:nvCxnSpPr>
          <p:cNvPr id="13" name="Connector 12"/>
          <p:cNvCxnSpPr/>
          <p:nvPr/>
        </p:nvCxnSpPr>
        <p:spPr>
          <a:xfrm>
            <a:off x="3257550"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3403854" y="1901952"/>
            <a:ext cx="2599182"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5" name="TextBox 14"/>
          <p:cNvSpPr txBox="1">
            <a:spLocks/>
          </p:cNvSpPr>
          <p:nvPr/>
        </p:nvSpPr>
        <p:spPr>
          <a:xfrm>
            <a:off x="3513582" y="2020824"/>
            <a:ext cx="411480" cy="219456"/>
          </a:xfrm>
          <a:prstGeom prst="rect">
            <a:avLst/>
          </a:prstGeom>
          <a:noFill/>
        </p:spPr>
        <p:txBody>
          <a:bodyPr wrap="square" lIns="27432" tIns="27432" rIns="27432" bIns="27432" anchor="t">
            <a:spAutoFit/>
          </a:bodyPr>
          <a:lstStyle/>
          <a:p>
            <a:pPr algn="l">
              <a:spcAft>
                <a:spcPts val="0"/>
              </a:spcAft>
            </a:pPr>
            <a:r>
              <a:rPr lang="en-HU" sz="1100" b="1">
                <a:solidFill>
                  <a:srgbClr val="E60012"/>
                </a:solidFill>
              </a:rPr>
              <a:t>02</a:t>
            </a:r>
          </a:p>
        </p:txBody>
      </p:sp>
      <p:sp>
        <p:nvSpPr>
          <p:cNvPr id="16" name="TextBox 15"/>
          <p:cNvSpPr txBox="1">
            <a:spLocks/>
          </p:cNvSpPr>
          <p:nvPr/>
        </p:nvSpPr>
        <p:spPr>
          <a:xfrm>
            <a:off x="3513582" y="2340864"/>
            <a:ext cx="2379726" cy="603504"/>
          </a:xfrm>
          <a:prstGeom prst="rect">
            <a:avLst/>
          </a:prstGeom>
          <a:noFill/>
        </p:spPr>
        <p:txBody>
          <a:bodyPr wrap="square" lIns="27432" tIns="27432" rIns="27432" bIns="27432" anchor="ctr">
            <a:spAutoFit/>
          </a:bodyPr>
          <a:lstStyle/>
          <a:p>
            <a:pPr algn="ctr">
              <a:spcAft>
                <a:spcPts val="0"/>
              </a:spcAft>
            </a:pPr>
            <a:r>
              <a:rPr lang="en-GB" sz="1400" b="1">
                <a:solidFill>
                  <a:srgbClr val="1E2B40"/>
                </a:solidFill>
              </a:rPr>
              <a:t>Resolver cache</a:t>
            </a:r>
          </a:p>
        </p:txBody>
      </p:sp>
      <p:cxnSp>
        <p:nvCxnSpPr>
          <p:cNvPr id="17" name="Connector 16"/>
          <p:cNvCxnSpPr/>
          <p:nvPr/>
        </p:nvCxnSpPr>
        <p:spPr>
          <a:xfrm>
            <a:off x="6003036"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6149340" y="1901952"/>
            <a:ext cx="2599182"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9" name="TextBox 18"/>
          <p:cNvSpPr txBox="1">
            <a:spLocks/>
          </p:cNvSpPr>
          <p:nvPr/>
        </p:nvSpPr>
        <p:spPr>
          <a:xfrm>
            <a:off x="6259068" y="2020824"/>
            <a:ext cx="411480" cy="219456"/>
          </a:xfrm>
          <a:prstGeom prst="rect">
            <a:avLst/>
          </a:prstGeom>
          <a:noFill/>
        </p:spPr>
        <p:txBody>
          <a:bodyPr wrap="square" lIns="27432" tIns="27432" rIns="27432" bIns="27432" anchor="t">
            <a:spAutoFit/>
          </a:bodyPr>
          <a:lstStyle/>
          <a:p>
            <a:pPr algn="l">
              <a:spcAft>
                <a:spcPts val="0"/>
              </a:spcAft>
            </a:pPr>
            <a:r>
              <a:rPr lang="en-HU" sz="1100" b="1">
                <a:solidFill>
                  <a:srgbClr val="E60012"/>
                </a:solidFill>
              </a:rPr>
              <a:t>03</a:t>
            </a:r>
          </a:p>
        </p:txBody>
      </p:sp>
      <p:sp>
        <p:nvSpPr>
          <p:cNvPr id="20" name="TextBox 19"/>
          <p:cNvSpPr txBox="1">
            <a:spLocks/>
          </p:cNvSpPr>
          <p:nvPr/>
        </p:nvSpPr>
        <p:spPr>
          <a:xfrm>
            <a:off x="6259068" y="2340864"/>
            <a:ext cx="2379726" cy="603504"/>
          </a:xfrm>
          <a:prstGeom prst="rect">
            <a:avLst/>
          </a:prstGeom>
          <a:noFill/>
        </p:spPr>
        <p:txBody>
          <a:bodyPr wrap="square" lIns="27432" tIns="27432" rIns="27432" bIns="27432" anchor="ctr">
            <a:spAutoFit/>
          </a:bodyPr>
          <a:lstStyle/>
          <a:p>
            <a:pPr algn="ctr">
              <a:spcAft>
                <a:spcPts val="0"/>
              </a:spcAft>
            </a:pPr>
            <a:r>
              <a:rPr lang="en-GB" sz="1400" b="1">
                <a:solidFill>
                  <a:srgbClr val="1E2B40"/>
                </a:solidFill>
              </a:rPr>
              <a:t>Authority lookup</a:t>
            </a:r>
          </a:p>
        </p:txBody>
      </p:sp>
      <p:cxnSp>
        <p:nvCxnSpPr>
          <p:cNvPr id="21" name="Connector 20"/>
          <p:cNvCxnSpPr/>
          <p:nvPr/>
        </p:nvCxnSpPr>
        <p:spPr>
          <a:xfrm>
            <a:off x="8748522"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8894826" y="1901952"/>
            <a:ext cx="2599182"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23" name="TextBox 22"/>
          <p:cNvSpPr txBox="1">
            <a:spLocks/>
          </p:cNvSpPr>
          <p:nvPr/>
        </p:nvSpPr>
        <p:spPr>
          <a:xfrm>
            <a:off x="9004554" y="2020824"/>
            <a:ext cx="411480" cy="219456"/>
          </a:xfrm>
          <a:prstGeom prst="rect">
            <a:avLst/>
          </a:prstGeom>
          <a:noFill/>
        </p:spPr>
        <p:txBody>
          <a:bodyPr wrap="square" lIns="27432" tIns="27432" rIns="27432" bIns="27432" anchor="t">
            <a:spAutoFit/>
          </a:bodyPr>
          <a:lstStyle/>
          <a:p>
            <a:pPr algn="l">
              <a:spcAft>
                <a:spcPts val="0"/>
              </a:spcAft>
            </a:pPr>
            <a:r>
              <a:rPr lang="en-HU" sz="1100" b="1">
                <a:solidFill>
                  <a:srgbClr val="E60012"/>
                </a:solidFill>
              </a:rPr>
              <a:t>04</a:t>
            </a:r>
          </a:p>
        </p:txBody>
      </p:sp>
      <p:sp>
        <p:nvSpPr>
          <p:cNvPr id="24" name="TextBox 23"/>
          <p:cNvSpPr txBox="1">
            <a:spLocks/>
          </p:cNvSpPr>
          <p:nvPr/>
        </p:nvSpPr>
        <p:spPr>
          <a:xfrm>
            <a:off x="9004554" y="2340864"/>
            <a:ext cx="2379726" cy="603504"/>
          </a:xfrm>
          <a:prstGeom prst="rect">
            <a:avLst/>
          </a:prstGeom>
          <a:noFill/>
        </p:spPr>
        <p:txBody>
          <a:bodyPr wrap="square" lIns="27432" tIns="27432" rIns="27432" bIns="27432" anchor="ctr">
            <a:spAutoFit/>
          </a:bodyPr>
          <a:lstStyle/>
          <a:p>
            <a:pPr algn="ctr">
              <a:spcAft>
                <a:spcPts val="0"/>
              </a:spcAft>
            </a:pPr>
            <a:r>
              <a:rPr lang="en-GB" sz="1400" b="1">
                <a:solidFill>
                  <a:srgbClr val="1E2B40"/>
                </a:solidFill>
              </a:rPr>
              <a:t>Answer + TTL</a:t>
            </a:r>
          </a:p>
        </p:txBody>
      </p:sp>
      <p:sp>
        <p:nvSpPr>
          <p:cNvPr id="25" name="TextBox 24"/>
          <p:cNvSpPr txBox="1"/>
          <p:nvPr/>
        </p:nvSpPr>
        <p:spPr>
          <a:xfrm>
            <a:off x="658368" y="3703320"/>
            <a:ext cx="2011680" cy="256032"/>
          </a:xfrm>
          <a:prstGeom prst="rect">
            <a:avLst/>
          </a:prstGeom>
          <a:noFill/>
        </p:spPr>
        <p:txBody>
          <a:bodyPr wrap="square" lIns="27432" tIns="27432" rIns="27432" bIns="27432" anchor="t">
            <a:spAutoFit/>
          </a:bodyPr>
          <a:lstStyle/>
          <a:p>
            <a:pPr algn="l">
              <a:spcAft>
                <a:spcPts val="0"/>
              </a:spcAft>
            </a:pPr>
            <a:r>
              <a:rPr sz="1100" b="1">
                <a:solidFill>
                  <a:srgbClr val="E60012"/>
                </a:solidFill>
              </a:rPr>
              <a:t>What to observe</a:t>
            </a:r>
          </a:p>
        </p:txBody>
      </p:sp>
      <p:sp>
        <p:nvSpPr>
          <p:cNvPr id="26" name="TextBox 25"/>
          <p:cNvSpPr txBox="1"/>
          <p:nvPr/>
        </p:nvSpPr>
        <p:spPr>
          <a:xfrm>
            <a:off x="658368" y="4050791"/>
            <a:ext cx="6446520" cy="1508760"/>
          </a:xfrm>
          <a:prstGeom prst="rect">
            <a:avLst/>
          </a:prstGeom>
          <a:noFill/>
        </p:spPr>
        <p:txBody>
          <a:bodyPr wrap="square" lIns="109728" tIns="73152" rIns="109728" bIns="73152" anchor="t">
            <a:spAutoFit/>
          </a:bodyPr>
          <a:lstStyle/>
          <a:p>
            <a:pPr algn="l">
              <a:lnSpc>
                <a:spcPct val="105000"/>
              </a:lnSpc>
              <a:spcAft>
                <a:spcPts val="700"/>
              </a:spcAft>
              <a:defRPr sz="1600">
                <a:solidFill>
                  <a:srgbClr val="1E2B40"/>
                </a:solidFill>
              </a:defRPr>
            </a:pPr>
            <a:r>
              <a:t>• Recursive resolution follows cache, root, TLD and authoritative data as needed</a:t>
            </a:r>
          </a:p>
          <a:p>
            <a:pPr>
              <a:lnSpc>
                <a:spcPct val="105000"/>
              </a:lnSpc>
              <a:spcAft>
                <a:spcPts val="700"/>
              </a:spcAft>
              <a:defRPr sz="1600">
                <a:solidFill>
                  <a:srgbClr val="1E2B40"/>
                </a:solidFill>
              </a:defRPr>
            </a:pPr>
            <a:r>
              <a:t>• A/AAAA answers provide addresses; TTL controls cache lifetime</a:t>
            </a:r>
          </a:p>
          <a:p>
            <a:pPr>
              <a:lnSpc>
                <a:spcPct val="105000"/>
              </a:lnSpc>
              <a:spcAft>
                <a:spcPts val="700"/>
              </a:spcAft>
              <a:defRPr sz="1600">
                <a:solidFill>
                  <a:srgbClr val="1E2B40"/>
                </a:solidFill>
              </a:defRPr>
            </a:pPr>
            <a:r>
              <a:t>• DNS success does not prove policy or route success to the returned address</a:t>
            </a:r>
          </a:p>
        </p:txBody>
      </p:sp>
      <p:cxnSp>
        <p:nvCxnSpPr>
          <p:cNvPr id="27" name="Connector 26"/>
          <p:cNvCxnSpPr/>
          <p:nvPr/>
        </p:nvCxnSpPr>
        <p:spPr>
          <a:xfrm>
            <a:off x="7452360" y="3703320"/>
            <a:ext cx="0" cy="2093976"/>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7772400" y="3703320"/>
            <a:ext cx="292608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INSTRUCTOR DEMONSTRATION</a:t>
            </a:r>
            <a:endParaRPr sz="1100" b="1">
              <a:solidFill>
                <a:srgbClr val="E60012"/>
              </a:solidFill>
            </a:endParaRPr>
          </a:p>
        </p:txBody>
      </p:sp>
      <p:sp>
        <p:nvSpPr>
          <p:cNvPr id="29" name="TextBox 28"/>
          <p:cNvSpPr txBox="1"/>
          <p:nvPr/>
        </p:nvSpPr>
        <p:spPr>
          <a:xfrm>
            <a:off x="7772400" y="4096512"/>
            <a:ext cx="3337560" cy="1234440"/>
          </a:xfrm>
          <a:prstGeom prst="rect">
            <a:avLst/>
          </a:prstGeom>
          <a:noFill/>
        </p:spPr>
        <p:txBody>
          <a:bodyPr wrap="square" lIns="27432" tIns="27432" rIns="27432" bIns="27432" anchor="t">
            <a:spAutoFit/>
          </a:bodyPr>
          <a:lstStyle/>
          <a:p>
            <a:pPr algn="l">
              <a:spcAft>
                <a:spcPts val="0"/>
              </a:spcAft>
            </a:pPr>
            <a:r>
              <a:rPr sz="1500" b="1">
                <a:solidFill>
                  <a:srgbClr val="233A59"/>
                </a:solidFill>
              </a:rPr>
              <a:t>Use a filtered packet capture on UDP/TCP 53 and compare query, response and TTL.</a:t>
            </a:r>
          </a:p>
        </p:txBody>
      </p:sp>
      <p:sp>
        <p:nvSpPr>
          <p:cNvPr id="30" name="TextBox 29"/>
          <p:cNvSpPr txBox="1"/>
          <p:nvPr/>
        </p:nvSpPr>
        <p:spPr>
          <a:xfrm>
            <a:off x="7772400" y="5440680"/>
            <a:ext cx="3337560" cy="363176"/>
          </a:xfrm>
          <a:prstGeom prst="rect">
            <a:avLst/>
          </a:prstGeom>
          <a:noFill/>
        </p:spPr>
        <p:txBody>
          <a:bodyPr wrap="square" lIns="27432" tIns="27432" rIns="27432" bIns="27432" anchor="t">
            <a:spAutoFit/>
          </a:bodyPr>
          <a:lstStyle/>
          <a:p>
            <a:pPr algn="l">
              <a:spcAft>
                <a:spcPts val="0"/>
              </a:spcAft>
            </a:pPr>
            <a:r>
              <a:rPr lang="en-GB" sz="1000" b="0">
                <a:solidFill>
                  <a:srgbClr val="687385"/>
                </a:solidFill>
              </a:rPr>
              <a:t>If debug is used, filter by the test tuple and disable</a:t>
            </a:r>
            <a:r>
              <a:rPr sz="1000" b="0">
                <a:solidFill>
                  <a:srgbClr val="687385"/>
                </a:solidFill>
              </a:rPr>
              <a:t>/reset </a:t>
            </a:r>
            <a:r>
              <a:rPr lang="en-GB" sz="1000" b="0">
                <a:solidFill>
                  <a:srgbClr val="687385"/>
                </a:solidFill>
              </a:rPr>
              <a:t>it immediately </a:t>
            </a:r>
            <a:r>
              <a:rPr sz="1000" b="0">
                <a:solidFill>
                  <a:srgbClr val="687385"/>
                </a:solidFill>
              </a:rPr>
              <a:t>after </a:t>
            </a:r>
            <a:r>
              <a:rPr lang="en-GB" sz="1000" b="0">
                <a:solidFill>
                  <a:srgbClr val="687385"/>
                </a:solidFill>
              </a:rPr>
              <a:t>capture</a:t>
            </a:r>
            <a:r>
              <a:rPr sz="1000" b="0">
                <a:solidFill>
                  <a:srgbClr val="687385"/>
                </a:solidFill>
              </a:rPr>
              <a:t>.</a:t>
            </a:r>
          </a:p>
        </p:txBody>
      </p:sp>
      <p:sp>
        <p:nvSpPr>
          <p:cNvPr id="31" name="TextBox 30"/>
          <p:cNvSpPr txBox="1"/>
          <p:nvPr/>
        </p:nvSpPr>
        <p:spPr>
          <a:xfrm>
            <a:off x="502920" y="420624"/>
            <a:ext cx="10744200" cy="130805"/>
          </a:xfrm>
          <a:prstGeom prst="rect">
            <a:avLst/>
          </a:prstGeom>
          <a:noFill/>
        </p:spPr>
        <p:txBody>
          <a:bodyPr wrap="square" lIns="0" tIns="0" rIns="0" bIns="0">
            <a:spAutoFit/>
          </a:bodyPr>
          <a:lstStyle/>
          <a:p>
            <a:pPr algn="l"/>
            <a:r>
              <a:rPr lang="en-HU" sz="850" b="1">
                <a:solidFill>
                  <a:srgbClr val="687385"/>
                </a:solidFill>
              </a:rPr>
              <a:t>006</a:t>
            </a:r>
            <a:r>
              <a:rPr sz="850" b="1">
                <a:solidFill>
                  <a:srgbClr val="687385"/>
                </a:solidFill>
              </a:rPr>
              <a:t> • DAY 1 • BLOCK 01 • Network Foundations &amp; Packet Flow</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p:nvPr/>
        </p:nvSpPr>
        <p:spPr>
          <a:xfrm>
            <a:off x="502920" y="411480"/>
            <a:ext cx="548640" cy="137160"/>
          </a:xfrm>
          <a:prstGeom prst="rect">
            <a:avLst/>
          </a:prstGeom>
          <a:noFill/>
        </p:spPr>
        <p:txBody>
          <a:bodyPr wrap="square" lIns="36576" tIns="36576" rIns="36576" bIns="36576" anchor="t">
            <a:spAutoFit/>
          </a:bodyPr>
          <a:lstStyle/>
          <a:p>
            <a:pPr algn="l">
              <a:spcAft>
                <a:spcPts val="0"/>
              </a:spcAft>
            </a:pPr>
            <a:r>
              <a:rPr sz="750" b="1">
                <a:solidFill>
                  <a:srgbClr val="687385"/>
                </a:solidFill>
              </a:rPr>
              <a:t>007</a:t>
            </a:r>
          </a:p>
        </p:txBody>
      </p:sp>
      <p:sp>
        <p:nvSpPr>
          <p:cNvPr id="4" name="TextBox 3"/>
          <p:cNvSpPr txBox="1"/>
          <p:nvPr/>
        </p:nvSpPr>
        <p:spPr>
          <a:xfrm>
            <a:off x="502920" y="621792"/>
            <a:ext cx="11109960" cy="548640"/>
          </a:xfrm>
          <a:prstGeom prst="rect">
            <a:avLst/>
          </a:prstGeom>
          <a:noFill/>
        </p:spPr>
        <p:txBody>
          <a:bodyPr wrap="square" lIns="36576" tIns="36576" rIns="36576" bIns="36576" anchor="t">
            <a:spAutoFit/>
          </a:bodyPr>
          <a:lstStyle/>
          <a:p>
            <a:pPr algn="l">
              <a:spcAft>
                <a:spcPts val="0"/>
              </a:spcAft>
            </a:pPr>
            <a:r>
              <a:rPr sz="2600" b="1">
                <a:solidFill>
                  <a:srgbClr val="1E2B40"/>
                </a:solidFill>
              </a:rPr>
              <a:t>TCP handshake creates state that return traffic can reuse</a:t>
            </a:r>
          </a:p>
        </p:txBody>
      </p:sp>
      <p:sp>
        <p:nvSpPr>
          <p:cNvPr id="5" name="TextBox 4"/>
          <p:cNvSpPr txBox="1"/>
          <p:nvPr/>
        </p:nvSpPr>
        <p:spPr>
          <a:xfrm>
            <a:off x="521207" y="1143000"/>
            <a:ext cx="10789920" cy="243143"/>
          </a:xfrm>
          <a:prstGeom prst="rect">
            <a:avLst/>
          </a:prstGeom>
          <a:noFill/>
        </p:spPr>
        <p:txBody>
          <a:bodyPr wrap="square" lIns="36576" tIns="36576" rIns="36576" bIns="36576" anchor="t">
            <a:spAutoFit/>
          </a:bodyPr>
          <a:lstStyle/>
          <a:p>
            <a:pPr algn="l">
              <a:spcAft>
                <a:spcPts val="0"/>
              </a:spcAft>
            </a:pPr>
            <a:r>
              <a:rPr sz="1100" b="0">
                <a:solidFill>
                  <a:srgbClr val="687385"/>
                </a:solidFill>
              </a:rPr>
              <a:t>New connection: client </a:t>
            </a:r>
            <a:r>
              <a:rPr lang="en-GB" sz="1100" b="0">
                <a:solidFill>
                  <a:srgbClr val="687385"/>
                </a:solidFill>
              </a:rPr>
              <a:t>10.1.10.10:51514</a:t>
            </a:r>
            <a:r>
              <a:rPr sz="1100" b="0">
                <a:solidFill>
                  <a:srgbClr val="687385"/>
                </a:solidFill>
              </a:rPr>
              <a:t> → server 203.0.113.80:443</a:t>
            </a:r>
          </a:p>
        </p:txBody>
      </p:sp>
      <p:cxnSp>
        <p:nvCxnSpPr>
          <p:cNvPr id="6" name="Connector 5"/>
          <p:cNvCxnSpPr/>
          <p:nvPr/>
        </p:nvCxnSpPr>
        <p:spPr>
          <a:xfrm>
            <a:off x="502920" y="6473952"/>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7" name="TextBox 6"/>
          <p:cNvSpPr txBox="1">
            <a:spLocks/>
          </p:cNvSpPr>
          <p:nvPr/>
        </p:nvSpPr>
        <p:spPr>
          <a:xfrm>
            <a:off x="11109960" y="6537960"/>
            <a:ext cx="502920" cy="189283"/>
          </a:xfrm>
          <a:prstGeom prst="rect">
            <a:avLst/>
          </a:prstGeom>
          <a:noFill/>
        </p:spPr>
        <p:txBody>
          <a:bodyPr wrap="square" lIns="36576" tIns="36576" rIns="36576" bIns="36576" anchor="t">
            <a:spAutoFit/>
          </a:bodyPr>
          <a:lstStyle/>
          <a:p>
            <a:pPr algn="r">
              <a:spcAft>
                <a:spcPts val="0"/>
              </a:spcAft>
            </a:pPr>
            <a:r>
              <a:rPr lang="en-HU" sz="750" b="0">
                <a:solidFill>
                  <a:srgbClr val="687385"/>
                </a:solidFill>
              </a:rPr>
              <a:t>7</a:t>
            </a:r>
          </a:p>
        </p:txBody>
      </p:sp>
      <p:sp>
        <p:nvSpPr>
          <p:cNvPr id="8" name="Rectangle 7"/>
          <p:cNvSpPr>
            <a:spLocks/>
          </p:cNvSpPr>
          <p:nvPr/>
        </p:nvSpPr>
        <p:spPr>
          <a:xfrm>
            <a:off x="640080" y="2057400"/>
            <a:ext cx="1920240" cy="9144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9" name="TextBox 8"/>
          <p:cNvSpPr txBox="1">
            <a:spLocks/>
          </p:cNvSpPr>
          <p:nvPr/>
        </p:nvSpPr>
        <p:spPr>
          <a:xfrm>
            <a:off x="713231" y="2176272"/>
            <a:ext cx="1773936" cy="304699"/>
          </a:xfrm>
          <a:prstGeom prst="rect">
            <a:avLst/>
          </a:prstGeom>
          <a:noFill/>
        </p:spPr>
        <p:txBody>
          <a:bodyPr wrap="square" lIns="36576" tIns="36576" rIns="36576" bIns="36576" anchor="t">
            <a:spAutoFit/>
          </a:bodyPr>
          <a:lstStyle/>
          <a:p>
            <a:pPr algn="ctr">
              <a:spcAft>
                <a:spcPts val="0"/>
              </a:spcAft>
            </a:pPr>
            <a:r>
              <a:rPr lang="en-GB" sz="1500" b="1">
                <a:solidFill>
                  <a:srgbClr val="FFFFFF"/>
                </a:solidFill>
              </a:rPr>
              <a:t>CLIENT</a:t>
            </a:r>
          </a:p>
        </p:txBody>
      </p:sp>
      <p:sp>
        <p:nvSpPr>
          <p:cNvPr id="10" name="TextBox 9"/>
          <p:cNvSpPr txBox="1">
            <a:spLocks/>
          </p:cNvSpPr>
          <p:nvPr/>
        </p:nvSpPr>
        <p:spPr>
          <a:xfrm>
            <a:off x="713231" y="2532888"/>
            <a:ext cx="1773936" cy="227755"/>
          </a:xfrm>
          <a:prstGeom prst="rect">
            <a:avLst/>
          </a:prstGeom>
          <a:noFill/>
        </p:spPr>
        <p:txBody>
          <a:bodyPr wrap="square" lIns="36576" tIns="36576" rIns="36576" bIns="36576" anchor="t">
            <a:spAutoFit/>
          </a:bodyPr>
          <a:lstStyle/>
          <a:p>
            <a:pPr algn="ctr">
              <a:spcAft>
                <a:spcPts val="0"/>
              </a:spcAft>
            </a:pPr>
            <a:r>
              <a:rPr lang="en-HU" sz="1000" b="0">
                <a:solidFill>
                  <a:srgbClr val="D8E0EA"/>
                </a:solidFill>
              </a:rPr>
              <a:t>10.1.10.10:51514</a:t>
            </a:r>
          </a:p>
        </p:txBody>
      </p:sp>
      <p:sp>
        <p:nvSpPr>
          <p:cNvPr id="11" name="Rectangle 10"/>
          <p:cNvSpPr/>
          <p:nvPr/>
        </p:nvSpPr>
        <p:spPr>
          <a:xfrm>
            <a:off x="5074920" y="1920240"/>
            <a:ext cx="2057400" cy="118872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a:spLocks/>
          </p:cNvSpPr>
          <p:nvPr/>
        </p:nvSpPr>
        <p:spPr>
          <a:xfrm>
            <a:off x="5148072" y="2039112"/>
            <a:ext cx="1911095" cy="304699"/>
          </a:xfrm>
          <a:prstGeom prst="rect">
            <a:avLst/>
          </a:prstGeom>
          <a:noFill/>
        </p:spPr>
        <p:txBody>
          <a:bodyPr wrap="square" lIns="36576" tIns="36576" rIns="36576" bIns="36576" anchor="t">
            <a:spAutoFit/>
          </a:bodyPr>
          <a:lstStyle/>
          <a:p>
            <a:pPr algn="ctr">
              <a:spcAft>
                <a:spcPts val="0"/>
              </a:spcAft>
            </a:pPr>
            <a:r>
              <a:rPr lang="en-GB" sz="1500" b="1">
                <a:solidFill>
                  <a:srgbClr val="FFFFFF"/>
                </a:solidFill>
              </a:rPr>
              <a:t>FORTIGATE</a:t>
            </a:r>
          </a:p>
        </p:txBody>
      </p:sp>
      <p:sp>
        <p:nvSpPr>
          <p:cNvPr id="13" name="TextBox 12"/>
          <p:cNvSpPr txBox="1">
            <a:spLocks/>
          </p:cNvSpPr>
          <p:nvPr/>
        </p:nvSpPr>
        <p:spPr>
          <a:xfrm>
            <a:off x="5148072" y="2395728"/>
            <a:ext cx="1911095" cy="227755"/>
          </a:xfrm>
          <a:prstGeom prst="rect">
            <a:avLst/>
          </a:prstGeom>
          <a:noFill/>
        </p:spPr>
        <p:txBody>
          <a:bodyPr wrap="square" lIns="36576" tIns="36576" rIns="36576" bIns="36576" anchor="t">
            <a:spAutoFit/>
          </a:bodyPr>
          <a:lstStyle/>
          <a:p>
            <a:pPr algn="ctr">
              <a:spcAft>
                <a:spcPts val="0"/>
              </a:spcAft>
            </a:pPr>
            <a:r>
              <a:rPr lang="en-GB" sz="1000" b="0">
                <a:solidFill>
                  <a:srgbClr val="D8E0EA"/>
                </a:solidFill>
              </a:rPr>
              <a:t>policy 12 • session 0042</a:t>
            </a:r>
          </a:p>
        </p:txBody>
      </p:sp>
      <p:sp>
        <p:nvSpPr>
          <p:cNvPr id="14" name="Rectangle 13"/>
          <p:cNvSpPr/>
          <p:nvPr/>
        </p:nvSpPr>
        <p:spPr>
          <a:xfrm>
            <a:off x="9555480" y="2057400"/>
            <a:ext cx="1920240" cy="9144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a:spLocks/>
          </p:cNvSpPr>
          <p:nvPr/>
        </p:nvSpPr>
        <p:spPr>
          <a:xfrm>
            <a:off x="9628632" y="2176272"/>
            <a:ext cx="1773936" cy="304699"/>
          </a:xfrm>
          <a:prstGeom prst="rect">
            <a:avLst/>
          </a:prstGeom>
          <a:noFill/>
        </p:spPr>
        <p:txBody>
          <a:bodyPr wrap="square" lIns="36576" tIns="36576" rIns="36576" bIns="36576" anchor="t">
            <a:spAutoFit/>
          </a:bodyPr>
          <a:lstStyle/>
          <a:p>
            <a:pPr algn="ctr">
              <a:spcAft>
                <a:spcPts val="0"/>
              </a:spcAft>
            </a:pPr>
            <a:r>
              <a:rPr lang="en-GB" sz="1500" b="1">
                <a:solidFill>
                  <a:srgbClr val="FFFFFF"/>
                </a:solidFill>
              </a:rPr>
              <a:t>SERVER</a:t>
            </a:r>
          </a:p>
        </p:txBody>
      </p:sp>
      <p:sp>
        <p:nvSpPr>
          <p:cNvPr id="16" name="TextBox 15"/>
          <p:cNvSpPr txBox="1">
            <a:spLocks/>
          </p:cNvSpPr>
          <p:nvPr/>
        </p:nvSpPr>
        <p:spPr>
          <a:xfrm>
            <a:off x="9628632" y="2532888"/>
            <a:ext cx="1773936" cy="227755"/>
          </a:xfrm>
          <a:prstGeom prst="rect">
            <a:avLst/>
          </a:prstGeom>
          <a:noFill/>
        </p:spPr>
        <p:txBody>
          <a:bodyPr wrap="square" lIns="36576" tIns="36576" rIns="36576" bIns="36576" anchor="t">
            <a:spAutoFit/>
          </a:bodyPr>
          <a:lstStyle/>
          <a:p>
            <a:pPr algn="ctr">
              <a:spcAft>
                <a:spcPts val="0"/>
              </a:spcAft>
            </a:pPr>
            <a:r>
              <a:rPr lang="en-HU" sz="1000" b="0">
                <a:solidFill>
                  <a:srgbClr val="D8E0EA"/>
                </a:solidFill>
              </a:rPr>
              <a:t>203.0.113.80:443</a:t>
            </a:r>
          </a:p>
        </p:txBody>
      </p:sp>
      <p:sp>
        <p:nvSpPr>
          <p:cNvPr id="17" name="Right Arrow 16"/>
          <p:cNvSpPr>
            <a:spLocks/>
          </p:cNvSpPr>
          <p:nvPr/>
        </p:nvSpPr>
        <p:spPr>
          <a:xfrm>
            <a:off x="2606040" y="2011680"/>
            <a:ext cx="2331720" cy="201168"/>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8" name="TextBox 17"/>
          <p:cNvSpPr txBox="1">
            <a:spLocks/>
          </p:cNvSpPr>
          <p:nvPr/>
        </p:nvSpPr>
        <p:spPr>
          <a:xfrm>
            <a:off x="2606040" y="1755648"/>
            <a:ext cx="2331720" cy="212366"/>
          </a:xfrm>
          <a:prstGeom prst="rect">
            <a:avLst/>
          </a:prstGeom>
          <a:noFill/>
        </p:spPr>
        <p:txBody>
          <a:bodyPr wrap="square" lIns="36576" tIns="36576" rIns="36576" bIns="36576" anchor="t">
            <a:spAutoFit/>
          </a:bodyPr>
          <a:lstStyle/>
          <a:p>
            <a:pPr algn="ctr">
              <a:spcAft>
                <a:spcPts val="0"/>
              </a:spcAft>
            </a:pPr>
            <a:r>
              <a:rPr lang="en-GB" sz="900" b="1">
                <a:solidFill>
                  <a:srgbClr val="687385"/>
                </a:solidFill>
              </a:rPr>
              <a:t>1  SYN →</a:t>
            </a:r>
          </a:p>
        </p:txBody>
      </p:sp>
      <p:sp>
        <p:nvSpPr>
          <p:cNvPr id="19" name="Right Arrow 18"/>
          <p:cNvSpPr/>
          <p:nvPr/>
        </p:nvSpPr>
        <p:spPr>
          <a:xfrm>
            <a:off x="7269480" y="2011680"/>
            <a:ext cx="2148840" cy="201168"/>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269480" y="1755648"/>
            <a:ext cx="2148840" cy="228600"/>
          </a:xfrm>
          <a:prstGeom prst="rect">
            <a:avLst/>
          </a:prstGeom>
          <a:noFill/>
        </p:spPr>
        <p:txBody>
          <a:bodyPr wrap="square" lIns="36576" tIns="36576" rIns="36576" bIns="36576" anchor="t">
            <a:spAutoFit/>
          </a:bodyPr>
          <a:lstStyle/>
          <a:p>
            <a:pPr algn="ctr">
              <a:spcAft>
                <a:spcPts val="0"/>
              </a:spcAft>
            </a:pPr>
            <a:r>
              <a:rPr sz="900" b="1">
                <a:solidFill>
                  <a:srgbClr val="687385"/>
                </a:solidFill>
              </a:rPr>
              <a:t>1  SYN →</a:t>
            </a:r>
          </a:p>
        </p:txBody>
      </p:sp>
      <p:sp>
        <p:nvSpPr>
          <p:cNvPr id="21" name="Left Arrow 20"/>
          <p:cNvSpPr/>
          <p:nvPr/>
        </p:nvSpPr>
        <p:spPr>
          <a:xfrm>
            <a:off x="7269480" y="3035808"/>
            <a:ext cx="2148840" cy="201168"/>
          </a:xfrm>
          <a:prstGeom prst="leftArrow">
            <a:avLst/>
          </a:prstGeom>
          <a:solidFill>
            <a:srgbClr val="1676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269480" y="2761488"/>
            <a:ext cx="2148840" cy="201168"/>
          </a:xfrm>
          <a:prstGeom prst="rect">
            <a:avLst/>
          </a:prstGeom>
          <a:noFill/>
        </p:spPr>
        <p:txBody>
          <a:bodyPr wrap="square" lIns="36576" tIns="36576" rIns="36576" bIns="36576" anchor="t">
            <a:spAutoFit/>
          </a:bodyPr>
          <a:lstStyle/>
          <a:p>
            <a:pPr algn="ctr">
              <a:spcAft>
                <a:spcPts val="0"/>
              </a:spcAft>
            </a:pPr>
            <a:r>
              <a:rPr sz="900" b="1">
                <a:solidFill>
                  <a:srgbClr val="687385"/>
                </a:solidFill>
              </a:rPr>
              <a:t>2  ← SYN-ACK</a:t>
            </a:r>
          </a:p>
        </p:txBody>
      </p:sp>
      <p:sp>
        <p:nvSpPr>
          <p:cNvPr id="23" name="Left Arrow 22"/>
          <p:cNvSpPr/>
          <p:nvPr/>
        </p:nvSpPr>
        <p:spPr>
          <a:xfrm>
            <a:off x="2606040" y="3035808"/>
            <a:ext cx="2331720" cy="201168"/>
          </a:xfrm>
          <a:prstGeom prst="leftArrow">
            <a:avLst/>
          </a:prstGeom>
          <a:solidFill>
            <a:srgbClr val="1676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606040" y="2761488"/>
            <a:ext cx="2331720" cy="201168"/>
          </a:xfrm>
          <a:prstGeom prst="rect">
            <a:avLst/>
          </a:prstGeom>
          <a:noFill/>
        </p:spPr>
        <p:txBody>
          <a:bodyPr wrap="square" lIns="36576" tIns="36576" rIns="36576" bIns="36576" anchor="t">
            <a:spAutoFit/>
          </a:bodyPr>
          <a:lstStyle/>
          <a:p>
            <a:pPr algn="ctr">
              <a:spcAft>
                <a:spcPts val="0"/>
              </a:spcAft>
            </a:pPr>
            <a:r>
              <a:rPr sz="900" b="1">
                <a:solidFill>
                  <a:srgbClr val="687385"/>
                </a:solidFill>
              </a:rPr>
              <a:t>2  ← SYN-ACK</a:t>
            </a:r>
          </a:p>
        </p:txBody>
      </p:sp>
      <p:sp>
        <p:nvSpPr>
          <p:cNvPr id="25" name="Right Arrow 24"/>
          <p:cNvSpPr/>
          <p:nvPr/>
        </p:nvSpPr>
        <p:spPr>
          <a:xfrm>
            <a:off x="2606040" y="3730752"/>
            <a:ext cx="2331720" cy="201168"/>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606040" y="3474720"/>
            <a:ext cx="2331720" cy="228600"/>
          </a:xfrm>
          <a:prstGeom prst="rect">
            <a:avLst/>
          </a:prstGeom>
          <a:noFill/>
        </p:spPr>
        <p:txBody>
          <a:bodyPr wrap="square" lIns="36576" tIns="36576" rIns="36576" bIns="36576" anchor="t">
            <a:spAutoFit/>
          </a:bodyPr>
          <a:lstStyle/>
          <a:p>
            <a:pPr algn="ctr">
              <a:spcAft>
                <a:spcPts val="0"/>
              </a:spcAft>
            </a:pPr>
            <a:r>
              <a:rPr sz="900" b="1">
                <a:solidFill>
                  <a:srgbClr val="687385"/>
                </a:solidFill>
              </a:rPr>
              <a:t>3  ACK →</a:t>
            </a:r>
          </a:p>
        </p:txBody>
      </p:sp>
      <p:sp>
        <p:nvSpPr>
          <p:cNvPr id="27" name="Right Arrow 26"/>
          <p:cNvSpPr/>
          <p:nvPr/>
        </p:nvSpPr>
        <p:spPr>
          <a:xfrm>
            <a:off x="7269480" y="3730752"/>
            <a:ext cx="2148840" cy="201168"/>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269480" y="3474720"/>
            <a:ext cx="2148840" cy="228600"/>
          </a:xfrm>
          <a:prstGeom prst="rect">
            <a:avLst/>
          </a:prstGeom>
          <a:noFill/>
        </p:spPr>
        <p:txBody>
          <a:bodyPr wrap="square" lIns="36576" tIns="36576" rIns="36576" bIns="36576" anchor="t">
            <a:spAutoFit/>
          </a:bodyPr>
          <a:lstStyle/>
          <a:p>
            <a:pPr algn="ctr">
              <a:spcAft>
                <a:spcPts val="0"/>
              </a:spcAft>
            </a:pPr>
            <a:r>
              <a:rPr sz="900" b="1">
                <a:solidFill>
                  <a:srgbClr val="687385"/>
                </a:solidFill>
              </a:rPr>
              <a:t>3  ACK →</a:t>
            </a:r>
          </a:p>
        </p:txBody>
      </p:sp>
      <p:sp>
        <p:nvSpPr>
          <p:cNvPr id="29" name="TextBox 28"/>
          <p:cNvSpPr txBox="1"/>
          <p:nvPr/>
        </p:nvSpPr>
        <p:spPr>
          <a:xfrm>
            <a:off x="5257800" y="2761488"/>
            <a:ext cx="1691640" cy="246888"/>
          </a:xfrm>
          <a:prstGeom prst="rect">
            <a:avLst/>
          </a:prstGeom>
          <a:noFill/>
        </p:spPr>
        <p:txBody>
          <a:bodyPr wrap="square" lIns="36576" tIns="36576" rIns="36576" bIns="36576" anchor="t">
            <a:spAutoFit/>
          </a:bodyPr>
          <a:lstStyle/>
          <a:p>
            <a:pPr algn="ctr">
              <a:spcAft>
                <a:spcPts val="0"/>
              </a:spcAft>
            </a:pPr>
            <a:r>
              <a:rPr sz="1100" b="1">
                <a:solidFill>
                  <a:srgbClr val="E60012"/>
                </a:solidFill>
              </a:rPr>
              <a:t>SESSION CREATED</a:t>
            </a:r>
          </a:p>
        </p:txBody>
      </p:sp>
      <p:sp>
        <p:nvSpPr>
          <p:cNvPr id="30" name="TextBox 29"/>
          <p:cNvSpPr txBox="1"/>
          <p:nvPr/>
        </p:nvSpPr>
        <p:spPr>
          <a:xfrm>
            <a:off x="3977639" y="4279392"/>
            <a:ext cx="4297680" cy="658368"/>
          </a:xfrm>
          <a:prstGeom prst="rect">
            <a:avLst/>
          </a:prstGeom>
          <a:noFill/>
        </p:spPr>
        <p:txBody>
          <a:bodyPr wrap="square" lIns="36576" tIns="36576" rIns="36576" bIns="36576" anchor="t">
            <a:spAutoFit/>
          </a:bodyPr>
          <a:lstStyle/>
          <a:p>
            <a:pPr algn="ctr">
              <a:spcAft>
                <a:spcPts val="0"/>
              </a:spcAft>
            </a:pPr>
            <a:r>
              <a:rPr sz="1500" b="1">
                <a:solidFill>
                  <a:srgbClr val="233A59"/>
                </a:solidFill>
              </a:rPr>
              <a:t>The entry stores policy, route, NAT and TCP state. Return packets match the reverse tuple.</a:t>
            </a:r>
          </a:p>
        </p:txBody>
      </p:sp>
      <p:sp>
        <p:nvSpPr>
          <p:cNvPr id="31" name="TextBox 30"/>
          <p:cNvSpPr txBox="1"/>
          <p:nvPr/>
        </p:nvSpPr>
        <p:spPr>
          <a:xfrm>
            <a:off x="658368" y="5833872"/>
            <a:ext cx="731520" cy="182880"/>
          </a:xfrm>
          <a:prstGeom prst="rect">
            <a:avLst/>
          </a:prstGeom>
          <a:noFill/>
        </p:spPr>
        <p:txBody>
          <a:bodyPr wrap="square" lIns="36576" tIns="36576" rIns="36576" bIns="36576" anchor="t">
            <a:spAutoFit/>
          </a:bodyPr>
          <a:lstStyle/>
          <a:p>
            <a:pPr algn="l">
              <a:spcAft>
                <a:spcPts val="0"/>
              </a:spcAft>
            </a:pPr>
            <a:r>
              <a:rPr sz="1000" b="1">
                <a:solidFill>
                  <a:srgbClr val="E60012"/>
                </a:solidFill>
              </a:rPr>
              <a:t>LESSON</a:t>
            </a:r>
          </a:p>
        </p:txBody>
      </p:sp>
      <p:sp>
        <p:nvSpPr>
          <p:cNvPr id="32" name="TextBox 31"/>
          <p:cNvSpPr txBox="1"/>
          <p:nvPr/>
        </p:nvSpPr>
        <p:spPr>
          <a:xfrm>
            <a:off x="1417320" y="5769864"/>
            <a:ext cx="9875520" cy="384048"/>
          </a:xfrm>
          <a:prstGeom prst="rect">
            <a:avLst/>
          </a:prstGeom>
          <a:noFill/>
        </p:spPr>
        <p:txBody>
          <a:bodyPr wrap="square" lIns="36576" tIns="36576" rIns="36576" bIns="36576" anchor="t">
            <a:spAutoFit/>
          </a:bodyPr>
          <a:lstStyle/>
          <a:p>
            <a:pPr algn="l">
              <a:spcAft>
                <a:spcPts val="0"/>
              </a:spcAft>
            </a:pPr>
            <a:r>
              <a:rPr sz="1300" b="1">
                <a:solidFill>
                  <a:srgbClr val="233A59"/>
                </a:solidFill>
              </a:rPr>
              <a:t>Stateful inspection does not “trust replies”; it associates the reverse five-tuple with an existing allowed session.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p:nvPr/>
        </p:nvSpPr>
        <p:spPr>
          <a:xfrm>
            <a:off x="502920" y="411480"/>
            <a:ext cx="548640" cy="137160"/>
          </a:xfrm>
          <a:prstGeom prst="rect">
            <a:avLst/>
          </a:prstGeom>
          <a:noFill/>
        </p:spPr>
        <p:txBody>
          <a:bodyPr wrap="square" lIns="36576" tIns="36576" rIns="36576" bIns="36576" anchor="t">
            <a:spAutoFit/>
          </a:bodyPr>
          <a:lstStyle/>
          <a:p>
            <a:pPr algn="l">
              <a:spcAft>
                <a:spcPts val="0"/>
              </a:spcAft>
            </a:pPr>
            <a:r>
              <a:rPr sz="750" b="1">
                <a:solidFill>
                  <a:srgbClr val="687385"/>
                </a:solidFill>
              </a:rPr>
              <a:t>008</a:t>
            </a:r>
          </a:p>
        </p:txBody>
      </p:sp>
      <p:sp>
        <p:nvSpPr>
          <p:cNvPr id="4" name="TextBox 3"/>
          <p:cNvSpPr txBox="1"/>
          <p:nvPr/>
        </p:nvSpPr>
        <p:spPr>
          <a:xfrm>
            <a:off x="502920" y="621792"/>
            <a:ext cx="11109960" cy="548640"/>
          </a:xfrm>
          <a:prstGeom prst="rect">
            <a:avLst/>
          </a:prstGeom>
          <a:noFill/>
        </p:spPr>
        <p:txBody>
          <a:bodyPr wrap="square" lIns="36576" tIns="36576" rIns="36576" bIns="36576" anchor="t">
            <a:spAutoFit/>
          </a:bodyPr>
          <a:lstStyle/>
          <a:p>
            <a:pPr algn="l">
              <a:spcAft>
                <a:spcPts val="0"/>
              </a:spcAft>
            </a:pPr>
            <a:r>
              <a:rPr sz="2600" b="1">
                <a:solidFill>
                  <a:srgbClr val="1E2B40"/>
                </a:solidFill>
              </a:rPr>
              <a:t>New sessions take the full path; established sessions reuse state</a:t>
            </a:r>
          </a:p>
        </p:txBody>
      </p:sp>
      <p:sp>
        <p:nvSpPr>
          <p:cNvPr id="5" name="TextBox 4"/>
          <p:cNvSpPr txBox="1"/>
          <p:nvPr/>
        </p:nvSpPr>
        <p:spPr>
          <a:xfrm>
            <a:off x="521207" y="1143000"/>
            <a:ext cx="10789920" cy="274320"/>
          </a:xfrm>
          <a:prstGeom prst="rect">
            <a:avLst/>
          </a:prstGeom>
          <a:noFill/>
        </p:spPr>
        <p:txBody>
          <a:bodyPr wrap="square" lIns="36576" tIns="36576" rIns="36576" bIns="36576" anchor="t">
            <a:spAutoFit/>
          </a:bodyPr>
          <a:lstStyle/>
          <a:p>
            <a:pPr algn="l">
              <a:spcAft>
                <a:spcPts val="0"/>
              </a:spcAft>
            </a:pPr>
            <a:r>
              <a:rPr sz="1100" b="0">
                <a:solidFill>
                  <a:srgbClr val="687385"/>
                </a:solidFill>
              </a:rPr>
              <a:t>Simplified teaching view—feature/platform exceptions exist</a:t>
            </a:r>
          </a:p>
        </p:txBody>
      </p:sp>
      <p:cxnSp>
        <p:nvCxnSpPr>
          <p:cNvPr id="6" name="Connector 5"/>
          <p:cNvCxnSpPr/>
          <p:nvPr/>
        </p:nvCxnSpPr>
        <p:spPr>
          <a:xfrm>
            <a:off x="502920" y="6473952"/>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7" name="TextBox 6"/>
          <p:cNvSpPr txBox="1">
            <a:spLocks/>
          </p:cNvSpPr>
          <p:nvPr/>
        </p:nvSpPr>
        <p:spPr>
          <a:xfrm>
            <a:off x="11109960" y="6537960"/>
            <a:ext cx="502920" cy="189283"/>
          </a:xfrm>
          <a:prstGeom prst="rect">
            <a:avLst/>
          </a:prstGeom>
          <a:noFill/>
        </p:spPr>
        <p:txBody>
          <a:bodyPr wrap="square" lIns="36576" tIns="36576" rIns="36576" bIns="36576" anchor="t">
            <a:spAutoFit/>
          </a:bodyPr>
          <a:lstStyle/>
          <a:p>
            <a:pPr algn="r">
              <a:spcAft>
                <a:spcPts val="0"/>
              </a:spcAft>
            </a:pPr>
            <a:r>
              <a:rPr lang="en-HU" sz="750" b="0">
                <a:solidFill>
                  <a:srgbClr val="687385"/>
                </a:solidFill>
              </a:rPr>
              <a:t>8</a:t>
            </a:r>
          </a:p>
        </p:txBody>
      </p:sp>
      <p:sp>
        <p:nvSpPr>
          <p:cNvPr id="8" name="TextBox 7"/>
          <p:cNvSpPr txBox="1">
            <a:spLocks/>
          </p:cNvSpPr>
          <p:nvPr/>
        </p:nvSpPr>
        <p:spPr>
          <a:xfrm>
            <a:off x="685800" y="1508760"/>
            <a:ext cx="1828800" cy="258532"/>
          </a:xfrm>
          <a:prstGeom prst="rect">
            <a:avLst/>
          </a:prstGeom>
          <a:noFill/>
        </p:spPr>
        <p:txBody>
          <a:bodyPr wrap="square" lIns="36576" tIns="36576" rIns="36576" bIns="36576" anchor="t">
            <a:spAutoFit/>
          </a:bodyPr>
          <a:lstStyle/>
          <a:p>
            <a:pPr algn="l">
              <a:spcAft>
                <a:spcPts val="0"/>
              </a:spcAft>
            </a:pPr>
            <a:r>
              <a:rPr lang="en-GB" sz="1200" b="1">
                <a:solidFill>
                  <a:srgbClr val="E60012"/>
                </a:solidFill>
              </a:rPr>
              <a:t>NEW SESSION</a:t>
            </a:r>
          </a:p>
        </p:txBody>
      </p:sp>
      <p:sp>
        <p:nvSpPr>
          <p:cNvPr id="9" name="Rectangle 8"/>
          <p:cNvSpPr>
            <a:spLocks/>
          </p:cNvSpPr>
          <p:nvPr/>
        </p:nvSpPr>
        <p:spPr>
          <a:xfrm>
            <a:off x="502920" y="1874519"/>
            <a:ext cx="1417320" cy="86868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0" name="TextBox 9"/>
          <p:cNvSpPr txBox="1">
            <a:spLocks/>
          </p:cNvSpPr>
          <p:nvPr/>
        </p:nvSpPr>
        <p:spPr>
          <a:xfrm>
            <a:off x="576072" y="1993391"/>
            <a:ext cx="1271016" cy="274320"/>
          </a:xfrm>
          <a:prstGeom prst="rect">
            <a:avLst/>
          </a:prstGeom>
          <a:noFill/>
        </p:spPr>
        <p:txBody>
          <a:bodyPr wrap="square" lIns="36576" tIns="36576" rIns="36576" bIns="36576" anchor="t">
            <a:spAutoFit/>
          </a:bodyPr>
          <a:lstStyle/>
          <a:p>
            <a:pPr algn="ctr">
              <a:spcAft>
                <a:spcPts val="0"/>
              </a:spcAft>
            </a:pPr>
            <a:r>
              <a:rPr lang="en-GB" sz="1500" b="1">
                <a:solidFill>
                  <a:srgbClr val="FFFFFF"/>
                </a:solidFill>
              </a:rPr>
              <a:t>Ingress</a:t>
            </a:r>
          </a:p>
        </p:txBody>
      </p:sp>
      <p:sp>
        <p:nvSpPr>
          <p:cNvPr id="11" name="TextBox 10"/>
          <p:cNvSpPr txBox="1">
            <a:spLocks/>
          </p:cNvSpPr>
          <p:nvPr/>
        </p:nvSpPr>
        <p:spPr>
          <a:xfrm>
            <a:off x="576072" y="2350008"/>
            <a:ext cx="1271016" cy="227755"/>
          </a:xfrm>
          <a:prstGeom prst="rect">
            <a:avLst/>
          </a:prstGeom>
          <a:noFill/>
        </p:spPr>
        <p:txBody>
          <a:bodyPr wrap="square" lIns="36576" tIns="36576" rIns="36576" bIns="36576" anchor="t">
            <a:spAutoFit/>
          </a:bodyPr>
          <a:lstStyle/>
          <a:p>
            <a:pPr algn="ctr">
              <a:spcAft>
                <a:spcPts val="0"/>
              </a:spcAft>
            </a:pPr>
            <a:r>
              <a:rPr lang="en-GB" sz="1000" b="0">
                <a:solidFill>
                  <a:srgbClr val="D8E0EA"/>
                </a:solidFill>
              </a:rPr>
              <a:t>packet + interface</a:t>
            </a:r>
          </a:p>
        </p:txBody>
      </p:sp>
      <p:sp>
        <p:nvSpPr>
          <p:cNvPr id="12" name="Right Arrow 11"/>
          <p:cNvSpPr/>
          <p:nvPr/>
        </p:nvSpPr>
        <p:spPr>
          <a:xfrm>
            <a:off x="1947672" y="2221992"/>
            <a:ext cx="438912" cy="164592"/>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423160" y="1874519"/>
            <a:ext cx="1417320" cy="86868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4" name="TextBox 13"/>
          <p:cNvSpPr txBox="1">
            <a:spLocks/>
          </p:cNvSpPr>
          <p:nvPr/>
        </p:nvSpPr>
        <p:spPr>
          <a:xfrm>
            <a:off x="2496312" y="1993391"/>
            <a:ext cx="1271016" cy="304699"/>
          </a:xfrm>
          <a:prstGeom prst="rect">
            <a:avLst/>
          </a:prstGeom>
          <a:noFill/>
        </p:spPr>
        <p:txBody>
          <a:bodyPr wrap="square" lIns="36576" tIns="36576" rIns="36576" bIns="36576" anchor="t">
            <a:spAutoFit/>
          </a:bodyPr>
          <a:lstStyle/>
          <a:p>
            <a:pPr algn="ctr">
              <a:spcAft>
                <a:spcPts val="0"/>
              </a:spcAft>
            </a:pPr>
            <a:r>
              <a:rPr lang="en-GB" sz="1500" b="1">
                <a:solidFill>
                  <a:srgbClr val="FFFFFF"/>
                </a:solidFill>
              </a:rPr>
              <a:t>Route/PBR</a:t>
            </a:r>
          </a:p>
        </p:txBody>
      </p:sp>
      <p:sp>
        <p:nvSpPr>
          <p:cNvPr id="15" name="TextBox 14"/>
          <p:cNvSpPr txBox="1"/>
          <p:nvPr/>
        </p:nvSpPr>
        <p:spPr>
          <a:xfrm>
            <a:off x="2496312" y="2350008"/>
            <a:ext cx="1271016" cy="310896"/>
          </a:xfrm>
          <a:prstGeom prst="rect">
            <a:avLst/>
          </a:prstGeom>
          <a:noFill/>
        </p:spPr>
        <p:txBody>
          <a:bodyPr wrap="square" lIns="36576" tIns="36576" rIns="36576" bIns="36576" anchor="t">
            <a:spAutoFit/>
          </a:bodyPr>
          <a:lstStyle/>
          <a:p>
            <a:pPr algn="ctr">
              <a:spcAft>
                <a:spcPts val="0"/>
              </a:spcAft>
            </a:pPr>
            <a:r>
              <a:rPr sz="1000" b="0">
                <a:solidFill>
                  <a:srgbClr val="D8E0EA"/>
                </a:solidFill>
              </a:rPr>
              <a:t>candidate egress</a:t>
            </a:r>
          </a:p>
        </p:txBody>
      </p:sp>
      <p:sp>
        <p:nvSpPr>
          <p:cNvPr id="16" name="Right Arrow 15"/>
          <p:cNvSpPr/>
          <p:nvPr/>
        </p:nvSpPr>
        <p:spPr>
          <a:xfrm>
            <a:off x="3867912" y="2221992"/>
            <a:ext cx="438912" cy="164592"/>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7" name="Rectangle 16"/>
          <p:cNvSpPr>
            <a:spLocks/>
          </p:cNvSpPr>
          <p:nvPr/>
        </p:nvSpPr>
        <p:spPr>
          <a:xfrm>
            <a:off x="4343400" y="1874519"/>
            <a:ext cx="1417320" cy="86868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8" name="TextBox 17"/>
          <p:cNvSpPr txBox="1">
            <a:spLocks/>
          </p:cNvSpPr>
          <p:nvPr/>
        </p:nvSpPr>
        <p:spPr>
          <a:xfrm>
            <a:off x="4416552" y="1993391"/>
            <a:ext cx="1271016" cy="304699"/>
          </a:xfrm>
          <a:prstGeom prst="rect">
            <a:avLst/>
          </a:prstGeom>
          <a:noFill/>
        </p:spPr>
        <p:txBody>
          <a:bodyPr wrap="square" lIns="36576" tIns="36576" rIns="36576" bIns="36576" anchor="t">
            <a:spAutoFit/>
          </a:bodyPr>
          <a:lstStyle/>
          <a:p>
            <a:pPr algn="ctr">
              <a:spcAft>
                <a:spcPts val="0"/>
              </a:spcAft>
            </a:pPr>
            <a:r>
              <a:rPr lang="en-GB" sz="1500" b="1">
                <a:solidFill>
                  <a:srgbClr val="FFFFFF"/>
                </a:solidFill>
              </a:rPr>
              <a:t>Policy</a:t>
            </a:r>
          </a:p>
        </p:txBody>
      </p:sp>
      <p:sp>
        <p:nvSpPr>
          <p:cNvPr id="19" name="TextBox 18"/>
          <p:cNvSpPr txBox="1">
            <a:spLocks/>
          </p:cNvSpPr>
          <p:nvPr/>
        </p:nvSpPr>
        <p:spPr>
          <a:xfrm>
            <a:off x="4416552" y="2350008"/>
            <a:ext cx="1271016" cy="227755"/>
          </a:xfrm>
          <a:prstGeom prst="rect">
            <a:avLst/>
          </a:prstGeom>
          <a:noFill/>
        </p:spPr>
        <p:txBody>
          <a:bodyPr wrap="square" lIns="36576" tIns="36576" rIns="36576" bIns="36576" anchor="t">
            <a:spAutoFit/>
          </a:bodyPr>
          <a:lstStyle/>
          <a:p>
            <a:pPr algn="ctr">
              <a:spcAft>
                <a:spcPts val="0"/>
              </a:spcAft>
            </a:pPr>
            <a:r>
              <a:rPr lang="en-GB" sz="1000" b="0">
                <a:solidFill>
                  <a:srgbClr val="D8E0EA"/>
                </a:solidFill>
              </a:rPr>
              <a:t>first matching rule</a:t>
            </a:r>
          </a:p>
        </p:txBody>
      </p:sp>
      <p:sp>
        <p:nvSpPr>
          <p:cNvPr id="20" name="Right Arrow 19"/>
          <p:cNvSpPr>
            <a:spLocks/>
          </p:cNvSpPr>
          <p:nvPr/>
        </p:nvSpPr>
        <p:spPr>
          <a:xfrm>
            <a:off x="5788152" y="2221992"/>
            <a:ext cx="438912" cy="164592"/>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21" name="Rectangle 20"/>
          <p:cNvSpPr>
            <a:spLocks/>
          </p:cNvSpPr>
          <p:nvPr/>
        </p:nvSpPr>
        <p:spPr>
          <a:xfrm>
            <a:off x="6263640" y="1874519"/>
            <a:ext cx="1417320" cy="86868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22" name="TextBox 21"/>
          <p:cNvSpPr txBox="1"/>
          <p:nvPr/>
        </p:nvSpPr>
        <p:spPr>
          <a:xfrm>
            <a:off x="6336792" y="1993391"/>
            <a:ext cx="1271016" cy="274320"/>
          </a:xfrm>
          <a:prstGeom prst="rect">
            <a:avLst/>
          </a:prstGeom>
          <a:noFill/>
        </p:spPr>
        <p:txBody>
          <a:bodyPr wrap="square" lIns="36576" tIns="36576" rIns="36576" bIns="36576" anchor="t">
            <a:spAutoFit/>
          </a:bodyPr>
          <a:lstStyle/>
          <a:p>
            <a:pPr algn="ctr">
              <a:spcAft>
                <a:spcPts val="0"/>
              </a:spcAft>
            </a:pPr>
            <a:r>
              <a:rPr sz="1500" b="1">
                <a:solidFill>
                  <a:srgbClr val="FFFFFF"/>
                </a:solidFill>
              </a:rPr>
              <a:t>NAT</a:t>
            </a:r>
          </a:p>
        </p:txBody>
      </p:sp>
      <p:sp>
        <p:nvSpPr>
          <p:cNvPr id="23" name="TextBox 22"/>
          <p:cNvSpPr txBox="1"/>
          <p:nvPr/>
        </p:nvSpPr>
        <p:spPr>
          <a:xfrm>
            <a:off x="6336792" y="2350008"/>
            <a:ext cx="1271016" cy="310896"/>
          </a:xfrm>
          <a:prstGeom prst="rect">
            <a:avLst/>
          </a:prstGeom>
          <a:noFill/>
        </p:spPr>
        <p:txBody>
          <a:bodyPr wrap="square" lIns="36576" tIns="36576" rIns="36576" bIns="36576" anchor="t">
            <a:spAutoFit/>
          </a:bodyPr>
          <a:lstStyle/>
          <a:p>
            <a:pPr algn="ctr">
              <a:spcAft>
                <a:spcPts val="0"/>
              </a:spcAft>
            </a:pPr>
            <a:r>
              <a:rPr sz="1000" b="0">
                <a:solidFill>
                  <a:srgbClr val="D8E0EA"/>
                </a:solidFill>
              </a:rPr>
              <a:t>original ↔ translated</a:t>
            </a:r>
          </a:p>
        </p:txBody>
      </p:sp>
      <p:sp>
        <p:nvSpPr>
          <p:cNvPr id="24" name="Right Arrow 23"/>
          <p:cNvSpPr/>
          <p:nvPr/>
        </p:nvSpPr>
        <p:spPr>
          <a:xfrm>
            <a:off x="7708392" y="2221992"/>
            <a:ext cx="438912" cy="164592"/>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183880" y="1874519"/>
            <a:ext cx="1417320" cy="86868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257032" y="1993391"/>
            <a:ext cx="1271016" cy="274320"/>
          </a:xfrm>
          <a:prstGeom prst="rect">
            <a:avLst/>
          </a:prstGeom>
          <a:noFill/>
        </p:spPr>
        <p:txBody>
          <a:bodyPr wrap="square" lIns="36576" tIns="36576" rIns="36576" bIns="36576" anchor="t">
            <a:spAutoFit/>
          </a:bodyPr>
          <a:lstStyle/>
          <a:p>
            <a:pPr algn="ctr">
              <a:spcAft>
                <a:spcPts val="0"/>
              </a:spcAft>
            </a:pPr>
            <a:r>
              <a:rPr sz="1500" b="1">
                <a:solidFill>
                  <a:srgbClr val="FFFFFF"/>
                </a:solidFill>
              </a:rPr>
              <a:t>Inspection</a:t>
            </a:r>
          </a:p>
        </p:txBody>
      </p:sp>
      <p:sp>
        <p:nvSpPr>
          <p:cNvPr id="27" name="TextBox 26"/>
          <p:cNvSpPr txBox="1"/>
          <p:nvPr/>
        </p:nvSpPr>
        <p:spPr>
          <a:xfrm>
            <a:off x="8257032" y="2350008"/>
            <a:ext cx="1271016" cy="310896"/>
          </a:xfrm>
          <a:prstGeom prst="rect">
            <a:avLst/>
          </a:prstGeom>
          <a:noFill/>
        </p:spPr>
        <p:txBody>
          <a:bodyPr wrap="square" lIns="36576" tIns="36576" rIns="36576" bIns="36576" anchor="t">
            <a:spAutoFit/>
          </a:bodyPr>
          <a:lstStyle/>
          <a:p>
            <a:pPr algn="ctr">
              <a:spcAft>
                <a:spcPts val="0"/>
              </a:spcAft>
            </a:pPr>
            <a:r>
              <a:rPr sz="1000" b="0">
                <a:solidFill>
                  <a:srgbClr val="D8E0EA"/>
                </a:solidFill>
              </a:rPr>
              <a:t>profiles as configured</a:t>
            </a:r>
          </a:p>
        </p:txBody>
      </p:sp>
      <p:sp>
        <p:nvSpPr>
          <p:cNvPr id="28" name="Right Arrow 27"/>
          <p:cNvSpPr/>
          <p:nvPr/>
        </p:nvSpPr>
        <p:spPr>
          <a:xfrm>
            <a:off x="9628632" y="2221992"/>
            <a:ext cx="438912" cy="164592"/>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10104120" y="1874519"/>
            <a:ext cx="1417320" cy="86868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0177272" y="1993391"/>
            <a:ext cx="1271016" cy="274320"/>
          </a:xfrm>
          <a:prstGeom prst="rect">
            <a:avLst/>
          </a:prstGeom>
          <a:noFill/>
        </p:spPr>
        <p:txBody>
          <a:bodyPr wrap="square" lIns="36576" tIns="36576" rIns="36576" bIns="36576" anchor="t">
            <a:spAutoFit/>
          </a:bodyPr>
          <a:lstStyle/>
          <a:p>
            <a:pPr algn="ctr">
              <a:spcAft>
                <a:spcPts val="0"/>
              </a:spcAft>
            </a:pPr>
            <a:r>
              <a:rPr sz="1500" b="1">
                <a:solidFill>
                  <a:srgbClr val="FFFFFF"/>
                </a:solidFill>
              </a:rPr>
              <a:t>Create session</a:t>
            </a:r>
          </a:p>
        </p:txBody>
      </p:sp>
      <p:sp>
        <p:nvSpPr>
          <p:cNvPr id="31" name="TextBox 30"/>
          <p:cNvSpPr txBox="1"/>
          <p:nvPr/>
        </p:nvSpPr>
        <p:spPr>
          <a:xfrm>
            <a:off x="10177272" y="2350008"/>
            <a:ext cx="1271016" cy="310896"/>
          </a:xfrm>
          <a:prstGeom prst="rect">
            <a:avLst/>
          </a:prstGeom>
          <a:noFill/>
        </p:spPr>
        <p:txBody>
          <a:bodyPr wrap="square" lIns="36576" tIns="36576" rIns="36576" bIns="36576" anchor="t">
            <a:spAutoFit/>
          </a:bodyPr>
          <a:lstStyle/>
          <a:p>
            <a:pPr algn="ctr">
              <a:spcAft>
                <a:spcPts val="0"/>
              </a:spcAft>
            </a:pPr>
            <a:r>
              <a:rPr sz="1000" b="0">
                <a:solidFill>
                  <a:srgbClr val="D8E0EA"/>
                </a:solidFill>
              </a:rPr>
              <a:t>store decisions</a:t>
            </a:r>
          </a:p>
        </p:txBody>
      </p:sp>
      <p:sp>
        <p:nvSpPr>
          <p:cNvPr id="32" name="TextBox 31"/>
          <p:cNvSpPr txBox="1"/>
          <p:nvPr/>
        </p:nvSpPr>
        <p:spPr>
          <a:xfrm>
            <a:off x="685800" y="3246120"/>
            <a:ext cx="2194560" cy="228600"/>
          </a:xfrm>
          <a:prstGeom prst="rect">
            <a:avLst/>
          </a:prstGeom>
          <a:noFill/>
        </p:spPr>
        <p:txBody>
          <a:bodyPr wrap="square" lIns="36576" tIns="36576" rIns="36576" bIns="36576" anchor="t">
            <a:spAutoFit/>
          </a:bodyPr>
          <a:lstStyle/>
          <a:p>
            <a:pPr algn="l">
              <a:spcAft>
                <a:spcPts val="0"/>
              </a:spcAft>
            </a:pPr>
            <a:r>
              <a:rPr sz="1200" b="1">
                <a:solidFill>
                  <a:srgbClr val="1676A3"/>
                </a:solidFill>
              </a:rPr>
              <a:t>ESTABLISHED SESSION</a:t>
            </a:r>
          </a:p>
        </p:txBody>
      </p:sp>
      <p:sp>
        <p:nvSpPr>
          <p:cNvPr id="33" name="Rectangle 32"/>
          <p:cNvSpPr/>
          <p:nvPr/>
        </p:nvSpPr>
        <p:spPr>
          <a:xfrm>
            <a:off x="685800" y="3657600"/>
            <a:ext cx="1828800" cy="9144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58952" y="3776472"/>
            <a:ext cx="1682496" cy="274320"/>
          </a:xfrm>
          <a:prstGeom prst="rect">
            <a:avLst/>
          </a:prstGeom>
          <a:noFill/>
        </p:spPr>
        <p:txBody>
          <a:bodyPr wrap="square" lIns="36576" tIns="36576" rIns="36576" bIns="36576" anchor="t">
            <a:spAutoFit/>
          </a:bodyPr>
          <a:lstStyle/>
          <a:p>
            <a:pPr algn="ctr">
              <a:spcAft>
                <a:spcPts val="0"/>
              </a:spcAft>
            </a:pPr>
            <a:r>
              <a:rPr sz="1500" b="1">
                <a:solidFill>
                  <a:srgbClr val="FFFFFF"/>
                </a:solidFill>
              </a:rPr>
              <a:t>Reverse tuple</a:t>
            </a:r>
          </a:p>
        </p:txBody>
      </p:sp>
      <p:sp>
        <p:nvSpPr>
          <p:cNvPr id="35" name="TextBox 34"/>
          <p:cNvSpPr txBox="1"/>
          <p:nvPr/>
        </p:nvSpPr>
        <p:spPr>
          <a:xfrm>
            <a:off x="758952" y="4133087"/>
            <a:ext cx="1682496" cy="310896"/>
          </a:xfrm>
          <a:prstGeom prst="rect">
            <a:avLst/>
          </a:prstGeom>
          <a:noFill/>
        </p:spPr>
        <p:txBody>
          <a:bodyPr wrap="square" lIns="36576" tIns="36576" rIns="36576" bIns="36576" anchor="t">
            <a:spAutoFit/>
          </a:bodyPr>
          <a:lstStyle/>
          <a:p>
            <a:pPr algn="ctr">
              <a:spcAft>
                <a:spcPts val="0"/>
              </a:spcAft>
            </a:pPr>
            <a:r>
              <a:rPr sz="1000" b="0">
                <a:solidFill>
                  <a:srgbClr val="D8E0EA"/>
                </a:solidFill>
              </a:rPr>
              <a:t>reply packet</a:t>
            </a:r>
          </a:p>
        </p:txBody>
      </p:sp>
      <p:sp>
        <p:nvSpPr>
          <p:cNvPr id="36" name="Right Arrow 35"/>
          <p:cNvSpPr/>
          <p:nvPr/>
        </p:nvSpPr>
        <p:spPr>
          <a:xfrm>
            <a:off x="2542032" y="4005072"/>
            <a:ext cx="640080" cy="164592"/>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3200400" y="3657600"/>
            <a:ext cx="2057400" cy="9144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273552" y="3776472"/>
            <a:ext cx="1911095" cy="274320"/>
          </a:xfrm>
          <a:prstGeom prst="rect">
            <a:avLst/>
          </a:prstGeom>
          <a:noFill/>
        </p:spPr>
        <p:txBody>
          <a:bodyPr wrap="square" lIns="36576" tIns="36576" rIns="36576" bIns="36576" anchor="t">
            <a:spAutoFit/>
          </a:bodyPr>
          <a:lstStyle/>
          <a:p>
            <a:pPr algn="ctr">
              <a:spcAft>
                <a:spcPts val="0"/>
              </a:spcAft>
            </a:pPr>
            <a:r>
              <a:rPr sz="1500" b="1">
                <a:solidFill>
                  <a:srgbClr val="FFFFFF"/>
                </a:solidFill>
              </a:rPr>
              <a:t>Session lookup</a:t>
            </a:r>
          </a:p>
        </p:txBody>
      </p:sp>
      <p:sp>
        <p:nvSpPr>
          <p:cNvPr id="39" name="TextBox 38"/>
          <p:cNvSpPr txBox="1"/>
          <p:nvPr/>
        </p:nvSpPr>
        <p:spPr>
          <a:xfrm>
            <a:off x="3273552" y="4133087"/>
            <a:ext cx="1911095" cy="310896"/>
          </a:xfrm>
          <a:prstGeom prst="rect">
            <a:avLst/>
          </a:prstGeom>
          <a:noFill/>
        </p:spPr>
        <p:txBody>
          <a:bodyPr wrap="square" lIns="36576" tIns="36576" rIns="36576" bIns="36576" anchor="t">
            <a:spAutoFit/>
          </a:bodyPr>
          <a:lstStyle/>
          <a:p>
            <a:pPr algn="ctr">
              <a:spcAft>
                <a:spcPts val="0"/>
              </a:spcAft>
            </a:pPr>
            <a:r>
              <a:rPr sz="1000" b="0">
                <a:solidFill>
                  <a:srgbClr val="D8E0EA"/>
                </a:solidFill>
              </a:rPr>
              <a:t>policy/NAT/egress state</a:t>
            </a:r>
          </a:p>
        </p:txBody>
      </p:sp>
      <p:sp>
        <p:nvSpPr>
          <p:cNvPr id="40" name="Right Arrow 39"/>
          <p:cNvSpPr/>
          <p:nvPr/>
        </p:nvSpPr>
        <p:spPr>
          <a:xfrm>
            <a:off x="5285232" y="4005072"/>
            <a:ext cx="640080" cy="164592"/>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5943600" y="3657600"/>
            <a:ext cx="2057400" cy="9144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016752" y="3776472"/>
            <a:ext cx="1911095" cy="274320"/>
          </a:xfrm>
          <a:prstGeom prst="rect">
            <a:avLst/>
          </a:prstGeom>
          <a:noFill/>
        </p:spPr>
        <p:txBody>
          <a:bodyPr wrap="square" lIns="36576" tIns="36576" rIns="36576" bIns="36576" anchor="t">
            <a:spAutoFit/>
          </a:bodyPr>
          <a:lstStyle/>
          <a:p>
            <a:pPr algn="ctr">
              <a:spcAft>
                <a:spcPts val="0"/>
              </a:spcAft>
            </a:pPr>
            <a:r>
              <a:rPr sz="1500" b="1">
                <a:solidFill>
                  <a:srgbClr val="FFFFFF"/>
                </a:solidFill>
              </a:rPr>
              <a:t>Forward + inspect</a:t>
            </a:r>
          </a:p>
        </p:txBody>
      </p:sp>
      <p:sp>
        <p:nvSpPr>
          <p:cNvPr id="43" name="TextBox 42"/>
          <p:cNvSpPr txBox="1"/>
          <p:nvPr/>
        </p:nvSpPr>
        <p:spPr>
          <a:xfrm>
            <a:off x="6016752" y="4133087"/>
            <a:ext cx="1911095" cy="310896"/>
          </a:xfrm>
          <a:prstGeom prst="rect">
            <a:avLst/>
          </a:prstGeom>
          <a:noFill/>
        </p:spPr>
        <p:txBody>
          <a:bodyPr wrap="square" lIns="36576" tIns="36576" rIns="36576" bIns="36576" anchor="t">
            <a:spAutoFit/>
          </a:bodyPr>
          <a:lstStyle/>
          <a:p>
            <a:pPr algn="ctr">
              <a:spcAft>
                <a:spcPts val="0"/>
              </a:spcAft>
            </a:pPr>
            <a:r>
              <a:rPr sz="1000" b="0">
                <a:solidFill>
                  <a:srgbClr val="D8E0EA"/>
                </a:solidFill>
              </a:rPr>
              <a:t>according to stored state</a:t>
            </a:r>
          </a:p>
        </p:txBody>
      </p:sp>
      <p:sp>
        <p:nvSpPr>
          <p:cNvPr id="44" name="Right Arrow 43"/>
          <p:cNvSpPr/>
          <p:nvPr/>
        </p:nvSpPr>
        <p:spPr>
          <a:xfrm>
            <a:off x="8028431" y="4005072"/>
            <a:ext cx="640080" cy="164592"/>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8686800" y="3657600"/>
            <a:ext cx="2057400" cy="9144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8759952" y="3776472"/>
            <a:ext cx="1911095" cy="274320"/>
          </a:xfrm>
          <a:prstGeom prst="rect">
            <a:avLst/>
          </a:prstGeom>
          <a:noFill/>
        </p:spPr>
        <p:txBody>
          <a:bodyPr wrap="square" lIns="36576" tIns="36576" rIns="36576" bIns="36576" anchor="t">
            <a:spAutoFit/>
          </a:bodyPr>
          <a:lstStyle/>
          <a:p>
            <a:pPr algn="ctr">
              <a:spcAft>
                <a:spcPts val="0"/>
              </a:spcAft>
            </a:pPr>
            <a:r>
              <a:rPr sz="1500" b="1">
                <a:solidFill>
                  <a:srgbClr val="FFFFFF"/>
                </a:solidFill>
              </a:rPr>
              <a:t>Update counters</a:t>
            </a:r>
          </a:p>
        </p:txBody>
      </p:sp>
      <p:sp>
        <p:nvSpPr>
          <p:cNvPr id="47" name="TextBox 46"/>
          <p:cNvSpPr txBox="1"/>
          <p:nvPr/>
        </p:nvSpPr>
        <p:spPr>
          <a:xfrm>
            <a:off x="8759952" y="4133087"/>
            <a:ext cx="1911095" cy="310896"/>
          </a:xfrm>
          <a:prstGeom prst="rect">
            <a:avLst/>
          </a:prstGeom>
          <a:noFill/>
        </p:spPr>
        <p:txBody>
          <a:bodyPr wrap="square" lIns="36576" tIns="36576" rIns="36576" bIns="36576" anchor="t">
            <a:spAutoFit/>
          </a:bodyPr>
          <a:lstStyle/>
          <a:p>
            <a:pPr algn="ctr">
              <a:spcAft>
                <a:spcPts val="0"/>
              </a:spcAft>
            </a:pPr>
            <a:r>
              <a:rPr sz="1000" b="0">
                <a:solidFill>
                  <a:srgbClr val="D8E0EA"/>
                </a:solidFill>
              </a:rPr>
              <a:t>bytes / timeout / TCP</a:t>
            </a:r>
          </a:p>
        </p:txBody>
      </p:sp>
      <p:sp>
        <p:nvSpPr>
          <p:cNvPr id="48" name="TextBox 47"/>
          <p:cNvSpPr txBox="1"/>
          <p:nvPr/>
        </p:nvSpPr>
        <p:spPr>
          <a:xfrm>
            <a:off x="822960" y="5074920"/>
            <a:ext cx="10332720" cy="384048"/>
          </a:xfrm>
          <a:prstGeom prst="rect">
            <a:avLst/>
          </a:prstGeom>
          <a:noFill/>
        </p:spPr>
        <p:txBody>
          <a:bodyPr wrap="square" lIns="36576" tIns="36576" rIns="36576" bIns="36576" anchor="t">
            <a:spAutoFit/>
          </a:bodyPr>
          <a:lstStyle/>
          <a:p>
            <a:pPr algn="ctr">
              <a:spcAft>
                <a:spcPts val="0"/>
              </a:spcAft>
            </a:pPr>
            <a:r>
              <a:rPr sz="1300" b="1">
                <a:solidFill>
                  <a:srgbClr val="C47A00"/>
                </a:solidFill>
              </a:rPr>
              <a:t>Local-in traffic, proxy behavior, tunnels, hardware offload and special features can add or change stages.</a:t>
            </a:r>
          </a:p>
        </p:txBody>
      </p:sp>
      <p:sp>
        <p:nvSpPr>
          <p:cNvPr id="49" name="TextBox 48"/>
          <p:cNvSpPr txBox="1"/>
          <p:nvPr/>
        </p:nvSpPr>
        <p:spPr>
          <a:xfrm>
            <a:off x="658368" y="5833872"/>
            <a:ext cx="731520" cy="182880"/>
          </a:xfrm>
          <a:prstGeom prst="rect">
            <a:avLst/>
          </a:prstGeom>
          <a:noFill/>
        </p:spPr>
        <p:txBody>
          <a:bodyPr wrap="square" lIns="36576" tIns="36576" rIns="36576" bIns="36576" anchor="t">
            <a:spAutoFit/>
          </a:bodyPr>
          <a:lstStyle/>
          <a:p>
            <a:pPr algn="l">
              <a:spcAft>
                <a:spcPts val="0"/>
              </a:spcAft>
            </a:pPr>
            <a:r>
              <a:rPr sz="1000" b="1">
                <a:solidFill>
                  <a:srgbClr val="E60012"/>
                </a:solidFill>
              </a:rPr>
              <a:t>LESSON</a:t>
            </a:r>
          </a:p>
        </p:txBody>
      </p:sp>
      <p:sp>
        <p:nvSpPr>
          <p:cNvPr id="50" name="TextBox 49"/>
          <p:cNvSpPr txBox="1"/>
          <p:nvPr/>
        </p:nvSpPr>
        <p:spPr>
          <a:xfrm>
            <a:off x="1417320" y="5769864"/>
            <a:ext cx="9875520" cy="384048"/>
          </a:xfrm>
          <a:prstGeom prst="rect">
            <a:avLst/>
          </a:prstGeom>
          <a:noFill/>
        </p:spPr>
        <p:txBody>
          <a:bodyPr wrap="square" lIns="36576" tIns="36576" rIns="36576" bIns="36576" anchor="t">
            <a:spAutoFit/>
          </a:bodyPr>
          <a:lstStyle/>
          <a:p>
            <a:pPr algn="l">
              <a:spcAft>
                <a:spcPts val="0"/>
              </a:spcAft>
            </a:pPr>
            <a:r>
              <a:rPr sz="1300" b="1">
                <a:solidFill>
                  <a:srgbClr val="233A59"/>
                </a:solidFill>
              </a:rPr>
              <a:t>Use this as a troubleshooting map, not as a universal implementation pipeline.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p:nvPr/>
        </p:nvSpPr>
        <p:spPr>
          <a:xfrm>
            <a:off x="502920" y="411480"/>
            <a:ext cx="548640" cy="137160"/>
          </a:xfrm>
          <a:prstGeom prst="rect">
            <a:avLst/>
          </a:prstGeom>
          <a:noFill/>
        </p:spPr>
        <p:txBody>
          <a:bodyPr wrap="square" lIns="36576" tIns="36576" rIns="36576" bIns="36576" anchor="t">
            <a:spAutoFit/>
          </a:bodyPr>
          <a:lstStyle/>
          <a:p>
            <a:pPr algn="l">
              <a:spcAft>
                <a:spcPts val="0"/>
              </a:spcAft>
            </a:pPr>
            <a:r>
              <a:rPr sz="750" b="1">
                <a:solidFill>
                  <a:srgbClr val="687385"/>
                </a:solidFill>
              </a:rPr>
              <a:t>009</a:t>
            </a:r>
          </a:p>
        </p:txBody>
      </p:sp>
      <p:sp>
        <p:nvSpPr>
          <p:cNvPr id="4" name="TextBox 3"/>
          <p:cNvSpPr txBox="1"/>
          <p:nvPr/>
        </p:nvSpPr>
        <p:spPr>
          <a:xfrm>
            <a:off x="502920" y="621792"/>
            <a:ext cx="11109960" cy="548640"/>
          </a:xfrm>
          <a:prstGeom prst="rect">
            <a:avLst/>
          </a:prstGeom>
          <a:noFill/>
        </p:spPr>
        <p:txBody>
          <a:bodyPr wrap="square" lIns="36576" tIns="36576" rIns="36576" bIns="36576" anchor="t">
            <a:spAutoFit/>
          </a:bodyPr>
          <a:lstStyle/>
          <a:p>
            <a:pPr algn="l">
              <a:spcAft>
                <a:spcPts val="0"/>
              </a:spcAft>
            </a:pPr>
            <a:r>
              <a:rPr sz="2600" b="1">
                <a:solidFill>
                  <a:srgbClr val="1E2B40"/>
                </a:solidFill>
              </a:rPr>
              <a:t>First HTTPS session</a:t>
            </a:r>
          </a:p>
        </p:txBody>
      </p:sp>
      <p:cxnSp>
        <p:nvCxnSpPr>
          <p:cNvPr id="5" name="Connector 4"/>
          <p:cNvCxnSpPr/>
          <p:nvPr/>
        </p:nvCxnSpPr>
        <p:spPr>
          <a:xfrm>
            <a:off x="502920" y="6473952"/>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109960" y="6537960"/>
            <a:ext cx="502920" cy="137160"/>
          </a:xfrm>
          <a:prstGeom prst="rect">
            <a:avLst/>
          </a:prstGeom>
          <a:noFill/>
        </p:spPr>
        <p:txBody>
          <a:bodyPr wrap="square" lIns="36576" tIns="36576" rIns="36576" bIns="36576" anchor="t">
            <a:spAutoFit/>
          </a:bodyPr>
          <a:lstStyle/>
          <a:p>
            <a:pPr algn="r">
              <a:spcAft>
                <a:spcPts val="0"/>
              </a:spcAft>
            </a:pPr>
            <a:r>
              <a:rPr sz="750" b="0">
                <a:solidFill>
                  <a:srgbClr val="687385"/>
                </a:solidFill>
              </a:rPr>
              <a:t>9</a:t>
            </a:r>
          </a:p>
        </p:txBody>
      </p:sp>
      <p:sp>
        <p:nvSpPr>
          <p:cNvPr id="7" name="Rectangle 6"/>
          <p:cNvSpPr>
            <a:spLocks/>
          </p:cNvSpPr>
          <p:nvPr/>
        </p:nvSpPr>
        <p:spPr>
          <a:xfrm>
            <a:off x="685800" y="1828800"/>
            <a:ext cx="2008022"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8" name="TextBox 7"/>
          <p:cNvSpPr txBox="1">
            <a:spLocks/>
          </p:cNvSpPr>
          <p:nvPr/>
        </p:nvSpPr>
        <p:spPr>
          <a:xfrm>
            <a:off x="777240" y="1938528"/>
            <a:ext cx="365760" cy="227755"/>
          </a:xfrm>
          <a:prstGeom prst="rect">
            <a:avLst/>
          </a:prstGeom>
          <a:noFill/>
        </p:spPr>
        <p:txBody>
          <a:bodyPr wrap="square" lIns="36576" tIns="36576" rIns="36576" bIns="36576" anchor="t">
            <a:spAutoFit/>
          </a:bodyPr>
          <a:lstStyle/>
          <a:p>
            <a:pPr algn="l">
              <a:spcAft>
                <a:spcPts val="0"/>
              </a:spcAft>
            </a:pPr>
            <a:r>
              <a:rPr lang="en-HU" sz="1000" b="1">
                <a:solidFill>
                  <a:srgbClr val="E60012"/>
                </a:solidFill>
              </a:rPr>
              <a:t>01</a:t>
            </a:r>
          </a:p>
        </p:txBody>
      </p:sp>
      <p:sp>
        <p:nvSpPr>
          <p:cNvPr id="9" name="TextBox 8"/>
          <p:cNvSpPr txBox="1">
            <a:spLocks/>
          </p:cNvSpPr>
          <p:nvPr/>
        </p:nvSpPr>
        <p:spPr>
          <a:xfrm>
            <a:off x="795528" y="2351657"/>
            <a:ext cx="1788566" cy="289310"/>
          </a:xfrm>
          <a:prstGeom prst="rect">
            <a:avLst/>
          </a:prstGeom>
          <a:noFill/>
        </p:spPr>
        <p:txBody>
          <a:bodyPr wrap="square" lIns="36576" tIns="36576" rIns="36576" bIns="36576" anchor="ctr">
            <a:spAutoFit/>
          </a:bodyPr>
          <a:lstStyle/>
          <a:p>
            <a:pPr algn="ctr">
              <a:spcAft>
                <a:spcPts val="0"/>
              </a:spcAft>
            </a:pPr>
            <a:r>
              <a:rPr lang="en-GB" sz="1400" b="1">
                <a:solidFill>
                  <a:srgbClr val="FFFFFF"/>
                </a:solidFill>
              </a:rPr>
              <a:t>SYN enters LAN</a:t>
            </a:r>
          </a:p>
        </p:txBody>
      </p:sp>
      <p:sp>
        <p:nvSpPr>
          <p:cNvPr id="10" name="Right Arrow 9"/>
          <p:cNvSpPr/>
          <p:nvPr/>
        </p:nvSpPr>
        <p:spPr>
          <a:xfrm>
            <a:off x="2693822" y="2340864"/>
            <a:ext cx="164592" cy="146304"/>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1" name="Rectangle 10"/>
          <p:cNvSpPr>
            <a:spLocks/>
          </p:cNvSpPr>
          <p:nvPr/>
        </p:nvSpPr>
        <p:spPr>
          <a:xfrm>
            <a:off x="2858414" y="1828800"/>
            <a:ext cx="2008022"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2" name="TextBox 11"/>
          <p:cNvSpPr txBox="1"/>
          <p:nvPr/>
        </p:nvSpPr>
        <p:spPr>
          <a:xfrm>
            <a:off x="2949854" y="1938528"/>
            <a:ext cx="365760" cy="201168"/>
          </a:xfrm>
          <a:prstGeom prst="rect">
            <a:avLst/>
          </a:prstGeom>
          <a:noFill/>
        </p:spPr>
        <p:txBody>
          <a:bodyPr wrap="square" lIns="36576" tIns="36576" rIns="36576" bIns="36576" anchor="t">
            <a:spAutoFit/>
          </a:bodyPr>
          <a:lstStyle/>
          <a:p>
            <a:pPr algn="l">
              <a:spcAft>
                <a:spcPts val="0"/>
              </a:spcAft>
            </a:pPr>
            <a:r>
              <a:rPr sz="1000" b="1">
                <a:solidFill>
                  <a:srgbClr val="E60012"/>
                </a:solidFill>
              </a:rPr>
              <a:t>02</a:t>
            </a:r>
          </a:p>
        </p:txBody>
      </p:sp>
      <p:sp>
        <p:nvSpPr>
          <p:cNvPr id="13" name="TextBox 12"/>
          <p:cNvSpPr txBox="1">
            <a:spLocks/>
          </p:cNvSpPr>
          <p:nvPr/>
        </p:nvSpPr>
        <p:spPr>
          <a:xfrm>
            <a:off x="2968142" y="2267712"/>
            <a:ext cx="1788566" cy="457200"/>
          </a:xfrm>
          <a:prstGeom prst="rect">
            <a:avLst/>
          </a:prstGeom>
          <a:noFill/>
        </p:spPr>
        <p:txBody>
          <a:bodyPr wrap="square" lIns="36576" tIns="36576" rIns="36576" bIns="36576" anchor="ctr">
            <a:spAutoFit/>
          </a:bodyPr>
          <a:lstStyle/>
          <a:p>
            <a:pPr algn="ctr">
              <a:spcAft>
                <a:spcPts val="0"/>
              </a:spcAft>
            </a:pPr>
            <a:r>
              <a:rPr lang="en-GB" sz="1400" b="1">
                <a:solidFill>
                  <a:srgbClr val="FFFFFF"/>
                </a:solidFill>
              </a:rPr>
              <a:t>Route selects WAN</a:t>
            </a:r>
          </a:p>
        </p:txBody>
      </p:sp>
      <p:sp>
        <p:nvSpPr>
          <p:cNvPr id="14" name="Right Arrow 13"/>
          <p:cNvSpPr>
            <a:spLocks/>
          </p:cNvSpPr>
          <p:nvPr/>
        </p:nvSpPr>
        <p:spPr>
          <a:xfrm>
            <a:off x="4866436" y="2340864"/>
            <a:ext cx="164592" cy="146304"/>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5" name="Rectangle 14"/>
          <p:cNvSpPr/>
          <p:nvPr/>
        </p:nvSpPr>
        <p:spPr>
          <a:xfrm>
            <a:off x="5031028" y="1828800"/>
            <a:ext cx="2008022"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a:spLocks/>
          </p:cNvSpPr>
          <p:nvPr/>
        </p:nvSpPr>
        <p:spPr>
          <a:xfrm>
            <a:off x="5122468" y="1938528"/>
            <a:ext cx="365760" cy="201168"/>
          </a:xfrm>
          <a:prstGeom prst="rect">
            <a:avLst/>
          </a:prstGeom>
          <a:noFill/>
        </p:spPr>
        <p:txBody>
          <a:bodyPr wrap="square" lIns="36576" tIns="36576" rIns="36576" bIns="36576" anchor="t">
            <a:spAutoFit/>
          </a:bodyPr>
          <a:lstStyle/>
          <a:p>
            <a:pPr algn="l">
              <a:spcAft>
                <a:spcPts val="0"/>
              </a:spcAft>
            </a:pPr>
            <a:r>
              <a:rPr lang="en-HU" sz="1000" b="1">
                <a:solidFill>
                  <a:srgbClr val="E60012"/>
                </a:solidFill>
              </a:rPr>
              <a:t>03</a:t>
            </a:r>
          </a:p>
        </p:txBody>
      </p:sp>
      <p:sp>
        <p:nvSpPr>
          <p:cNvPr id="17" name="TextBox 16"/>
          <p:cNvSpPr txBox="1"/>
          <p:nvPr/>
        </p:nvSpPr>
        <p:spPr>
          <a:xfrm>
            <a:off x="5140756" y="2351657"/>
            <a:ext cx="1788566" cy="289310"/>
          </a:xfrm>
          <a:prstGeom prst="rect">
            <a:avLst/>
          </a:prstGeom>
          <a:noFill/>
        </p:spPr>
        <p:txBody>
          <a:bodyPr wrap="square" lIns="36576" tIns="36576" rIns="36576" bIns="36576" anchor="ctr">
            <a:spAutoFit/>
          </a:bodyPr>
          <a:lstStyle/>
          <a:p>
            <a:pPr algn="ctr">
              <a:spcAft>
                <a:spcPts val="0"/>
              </a:spcAft>
            </a:pPr>
            <a:r>
              <a:rPr lang="en-GB" sz="1400" b="1">
                <a:solidFill>
                  <a:srgbClr val="FFFFFF"/>
                </a:solidFill>
              </a:rPr>
              <a:t>Policy 12 accepts</a:t>
            </a:r>
          </a:p>
        </p:txBody>
      </p:sp>
      <p:sp>
        <p:nvSpPr>
          <p:cNvPr id="18" name="Right Arrow 17"/>
          <p:cNvSpPr/>
          <p:nvPr/>
        </p:nvSpPr>
        <p:spPr>
          <a:xfrm>
            <a:off x="7039051" y="2340864"/>
            <a:ext cx="164592" cy="146304"/>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203643" y="1828800"/>
            <a:ext cx="2008022"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295083" y="1938528"/>
            <a:ext cx="365760" cy="227755"/>
          </a:xfrm>
          <a:prstGeom prst="rect">
            <a:avLst/>
          </a:prstGeom>
          <a:noFill/>
        </p:spPr>
        <p:txBody>
          <a:bodyPr wrap="square" lIns="36576" tIns="36576" rIns="36576" bIns="36576" anchor="t">
            <a:spAutoFit/>
          </a:bodyPr>
          <a:lstStyle/>
          <a:p>
            <a:pPr algn="l">
              <a:spcAft>
                <a:spcPts val="0"/>
              </a:spcAft>
            </a:pPr>
            <a:r>
              <a:rPr lang="en-HU" sz="1000" b="1">
                <a:solidFill>
                  <a:srgbClr val="E60012"/>
                </a:solidFill>
              </a:rPr>
              <a:t>04</a:t>
            </a:r>
          </a:p>
        </p:txBody>
      </p:sp>
      <p:sp>
        <p:nvSpPr>
          <p:cNvPr id="21" name="TextBox 20"/>
          <p:cNvSpPr txBox="1"/>
          <p:nvPr/>
        </p:nvSpPr>
        <p:spPr>
          <a:xfrm>
            <a:off x="7313371" y="2243935"/>
            <a:ext cx="1788566" cy="504754"/>
          </a:xfrm>
          <a:prstGeom prst="rect">
            <a:avLst/>
          </a:prstGeom>
          <a:noFill/>
        </p:spPr>
        <p:txBody>
          <a:bodyPr wrap="square" lIns="36576" tIns="36576" rIns="36576" bIns="36576" anchor="ctr">
            <a:spAutoFit/>
          </a:bodyPr>
          <a:lstStyle/>
          <a:p>
            <a:pPr algn="ctr">
              <a:spcAft>
                <a:spcPts val="0"/>
              </a:spcAft>
            </a:pPr>
            <a:r>
              <a:rPr lang="en-GB" sz="1400" b="1">
                <a:solidFill>
                  <a:srgbClr val="FFFFFF"/>
                </a:solidFill>
              </a:rPr>
              <a:t>SNAT creates reply tuple</a:t>
            </a:r>
          </a:p>
        </p:txBody>
      </p:sp>
      <p:sp>
        <p:nvSpPr>
          <p:cNvPr id="22" name="Right Arrow 21"/>
          <p:cNvSpPr>
            <a:spLocks/>
          </p:cNvSpPr>
          <p:nvPr/>
        </p:nvSpPr>
        <p:spPr>
          <a:xfrm>
            <a:off x="9211665" y="2340864"/>
            <a:ext cx="164592" cy="146304"/>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23" name="Rectangle 22"/>
          <p:cNvSpPr>
            <a:spLocks/>
          </p:cNvSpPr>
          <p:nvPr/>
        </p:nvSpPr>
        <p:spPr>
          <a:xfrm>
            <a:off x="9376257" y="1828800"/>
            <a:ext cx="2008022"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24" name="TextBox 23"/>
          <p:cNvSpPr txBox="1"/>
          <p:nvPr/>
        </p:nvSpPr>
        <p:spPr>
          <a:xfrm>
            <a:off x="9467697" y="1938528"/>
            <a:ext cx="365760" cy="227755"/>
          </a:xfrm>
          <a:prstGeom prst="rect">
            <a:avLst/>
          </a:prstGeom>
          <a:noFill/>
        </p:spPr>
        <p:txBody>
          <a:bodyPr wrap="square" lIns="36576" tIns="36576" rIns="36576" bIns="36576" anchor="t">
            <a:spAutoFit/>
          </a:bodyPr>
          <a:lstStyle/>
          <a:p>
            <a:pPr algn="l">
              <a:spcAft>
                <a:spcPts val="0"/>
              </a:spcAft>
            </a:pPr>
            <a:r>
              <a:rPr lang="en-HU" sz="1000" b="1">
                <a:solidFill>
                  <a:srgbClr val="E60012"/>
                </a:solidFill>
              </a:rPr>
              <a:t>05</a:t>
            </a:r>
          </a:p>
        </p:txBody>
      </p:sp>
      <p:sp>
        <p:nvSpPr>
          <p:cNvPr id="25" name="TextBox 24"/>
          <p:cNvSpPr txBox="1"/>
          <p:nvPr/>
        </p:nvSpPr>
        <p:spPr>
          <a:xfrm>
            <a:off x="9485985" y="2267712"/>
            <a:ext cx="1788566" cy="457200"/>
          </a:xfrm>
          <a:prstGeom prst="rect">
            <a:avLst/>
          </a:prstGeom>
          <a:noFill/>
        </p:spPr>
        <p:txBody>
          <a:bodyPr wrap="square" lIns="36576" tIns="36576" rIns="36576" bIns="36576" anchor="ctr">
            <a:spAutoFit/>
          </a:bodyPr>
          <a:lstStyle/>
          <a:p>
            <a:pPr algn="ctr">
              <a:spcAft>
                <a:spcPts val="0"/>
              </a:spcAft>
            </a:pPr>
            <a:r>
              <a:rPr sz="1400" b="1">
                <a:solidFill>
                  <a:srgbClr val="FFFFFF"/>
                </a:solidFill>
              </a:rPr>
              <a:t>SYN-ACK matches session</a:t>
            </a:r>
          </a:p>
        </p:txBody>
      </p:sp>
      <p:sp>
        <p:nvSpPr>
          <p:cNvPr id="26" name="TextBox 25"/>
          <p:cNvSpPr txBox="1"/>
          <p:nvPr/>
        </p:nvSpPr>
        <p:spPr>
          <a:xfrm>
            <a:off x="731520" y="3703320"/>
            <a:ext cx="1554480" cy="210312"/>
          </a:xfrm>
          <a:prstGeom prst="rect">
            <a:avLst/>
          </a:prstGeom>
          <a:noFill/>
        </p:spPr>
        <p:txBody>
          <a:bodyPr wrap="square" lIns="36576" tIns="36576" rIns="36576" bIns="36576" anchor="t">
            <a:spAutoFit/>
          </a:bodyPr>
          <a:lstStyle/>
          <a:p>
            <a:pPr algn="l">
              <a:spcAft>
                <a:spcPts val="0"/>
              </a:spcAft>
            </a:pPr>
            <a:r>
              <a:rPr sz="1000" b="1">
                <a:solidFill>
                  <a:srgbClr val="E60012"/>
                </a:solidFill>
              </a:rPr>
              <a:t>EXPECTED RESULT</a:t>
            </a:r>
          </a:p>
        </p:txBody>
      </p:sp>
      <p:sp>
        <p:nvSpPr>
          <p:cNvPr id="27" name="TextBox 26"/>
          <p:cNvSpPr txBox="1"/>
          <p:nvPr/>
        </p:nvSpPr>
        <p:spPr>
          <a:xfrm>
            <a:off x="731520" y="4041648"/>
            <a:ext cx="10424160" cy="594360"/>
          </a:xfrm>
          <a:prstGeom prst="rect">
            <a:avLst/>
          </a:prstGeom>
          <a:noFill/>
        </p:spPr>
        <p:txBody>
          <a:bodyPr wrap="square" lIns="36576" tIns="36576" rIns="36576" bIns="36576" anchor="t">
            <a:spAutoFit/>
          </a:bodyPr>
          <a:lstStyle/>
          <a:p>
            <a:pPr algn="ctr">
              <a:spcAft>
                <a:spcPts val="0"/>
              </a:spcAft>
            </a:pPr>
            <a:r>
              <a:rPr sz="1700" b="1">
                <a:solidFill>
                  <a:srgbClr val="233A59"/>
                </a:solidFill>
              </a:rPr>
              <a:t>A session entry shows the original tuple and the return packets increment the reply counters.</a:t>
            </a:r>
          </a:p>
        </p:txBody>
      </p:sp>
      <p:sp>
        <p:nvSpPr>
          <p:cNvPr id="28" name="TextBox 27"/>
          <p:cNvSpPr txBox="1"/>
          <p:nvPr/>
        </p:nvSpPr>
        <p:spPr>
          <a:xfrm>
            <a:off x="658368" y="5833872"/>
            <a:ext cx="731520" cy="182880"/>
          </a:xfrm>
          <a:prstGeom prst="rect">
            <a:avLst/>
          </a:prstGeom>
          <a:noFill/>
        </p:spPr>
        <p:txBody>
          <a:bodyPr wrap="square" lIns="36576" tIns="36576" rIns="36576" bIns="36576" anchor="t">
            <a:spAutoFit/>
          </a:bodyPr>
          <a:lstStyle/>
          <a:p>
            <a:pPr algn="l">
              <a:spcAft>
                <a:spcPts val="0"/>
              </a:spcAft>
            </a:pPr>
            <a:r>
              <a:rPr sz="1000" b="1">
                <a:solidFill>
                  <a:srgbClr val="E60012"/>
                </a:solidFill>
              </a:rPr>
              <a:t>LESSON</a:t>
            </a:r>
          </a:p>
        </p:txBody>
      </p:sp>
      <p:sp>
        <p:nvSpPr>
          <p:cNvPr id="29" name="TextBox 28"/>
          <p:cNvSpPr txBox="1"/>
          <p:nvPr/>
        </p:nvSpPr>
        <p:spPr>
          <a:xfrm>
            <a:off x="1417320" y="5769864"/>
            <a:ext cx="9875520" cy="384048"/>
          </a:xfrm>
          <a:prstGeom prst="rect">
            <a:avLst/>
          </a:prstGeom>
          <a:noFill/>
        </p:spPr>
        <p:txBody>
          <a:bodyPr wrap="square" lIns="36576" tIns="36576" rIns="36576" bIns="36576" anchor="t">
            <a:spAutoFit/>
          </a:bodyPr>
          <a:lstStyle/>
          <a:p>
            <a:pPr algn="l">
              <a:spcAft>
                <a:spcPts val="0"/>
              </a:spcAft>
            </a:pPr>
            <a:r>
              <a:rPr sz="1300" b="1">
                <a:solidFill>
                  <a:srgbClr val="233A59"/>
                </a:solidFill>
              </a:rPr>
              <a:t>Each step names a FortiGate state or packet change that can be checked directly; stop when the failed step is identified.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p:nvPr/>
        </p:nvSpPr>
        <p:spPr>
          <a:xfrm>
            <a:off x="502920" y="411480"/>
            <a:ext cx="548640" cy="137160"/>
          </a:xfrm>
          <a:prstGeom prst="rect">
            <a:avLst/>
          </a:prstGeom>
          <a:noFill/>
        </p:spPr>
        <p:txBody>
          <a:bodyPr wrap="square" lIns="36576" tIns="36576" rIns="36576" bIns="36576" anchor="t">
            <a:spAutoFit/>
          </a:bodyPr>
          <a:lstStyle/>
          <a:p>
            <a:pPr algn="l">
              <a:spcAft>
                <a:spcPts val="0"/>
              </a:spcAft>
            </a:pPr>
            <a:r>
              <a:rPr sz="750" b="1">
                <a:solidFill>
                  <a:srgbClr val="687385"/>
                </a:solidFill>
              </a:rPr>
              <a:t>010</a:t>
            </a:r>
          </a:p>
        </p:txBody>
      </p:sp>
      <p:sp>
        <p:nvSpPr>
          <p:cNvPr id="4" name="TextBox 3"/>
          <p:cNvSpPr txBox="1"/>
          <p:nvPr/>
        </p:nvSpPr>
        <p:spPr>
          <a:xfrm>
            <a:off x="502920" y="621792"/>
            <a:ext cx="11109960" cy="548640"/>
          </a:xfrm>
          <a:prstGeom prst="rect">
            <a:avLst/>
          </a:prstGeom>
          <a:noFill/>
        </p:spPr>
        <p:txBody>
          <a:bodyPr wrap="square" lIns="36576" tIns="36576" rIns="36576" bIns="36576" anchor="t">
            <a:spAutoFit/>
          </a:bodyPr>
          <a:lstStyle/>
          <a:p>
            <a:pPr algn="l">
              <a:spcAft>
                <a:spcPts val="0"/>
              </a:spcAft>
            </a:pPr>
            <a:r>
              <a:rPr sz="2600" b="1">
                <a:solidFill>
                  <a:srgbClr val="1E2B40"/>
                </a:solidFill>
              </a:rPr>
              <a:t>Common mistakes—and how to correct them</a:t>
            </a:r>
          </a:p>
        </p:txBody>
      </p:sp>
      <p:cxnSp>
        <p:nvCxnSpPr>
          <p:cNvPr id="5" name="Connector 4"/>
          <p:cNvCxnSpPr/>
          <p:nvPr/>
        </p:nvCxnSpPr>
        <p:spPr>
          <a:xfrm>
            <a:off x="502920" y="6473952"/>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109960" y="6537960"/>
            <a:ext cx="502920" cy="137160"/>
          </a:xfrm>
          <a:prstGeom prst="rect">
            <a:avLst/>
          </a:prstGeom>
          <a:noFill/>
        </p:spPr>
        <p:txBody>
          <a:bodyPr wrap="square" lIns="36576" tIns="36576" rIns="36576" bIns="36576" anchor="t">
            <a:spAutoFit/>
          </a:bodyPr>
          <a:lstStyle/>
          <a:p>
            <a:pPr algn="r">
              <a:spcAft>
                <a:spcPts val="0"/>
              </a:spcAft>
            </a:pPr>
            <a:r>
              <a:rPr sz="750" b="0">
                <a:solidFill>
                  <a:srgbClr val="687385"/>
                </a:solidFill>
              </a:rPr>
              <a:t>10</a:t>
            </a:r>
          </a:p>
        </p:txBody>
      </p:sp>
      <p:sp>
        <p:nvSpPr>
          <p:cNvPr id="7" name="TextBox 6"/>
          <p:cNvSpPr txBox="1">
            <a:spLocks/>
          </p:cNvSpPr>
          <p:nvPr/>
        </p:nvSpPr>
        <p:spPr>
          <a:xfrm>
            <a:off x="685800" y="1417320"/>
            <a:ext cx="3291840" cy="243143"/>
          </a:xfrm>
          <a:prstGeom prst="rect">
            <a:avLst/>
          </a:prstGeom>
          <a:noFill/>
        </p:spPr>
        <p:txBody>
          <a:bodyPr wrap="square" lIns="36576" tIns="36576" rIns="36576" bIns="36576" anchor="t">
            <a:spAutoFit/>
          </a:bodyPr>
          <a:lstStyle/>
          <a:p>
            <a:pPr algn="l">
              <a:spcAft>
                <a:spcPts val="0"/>
              </a:spcAft>
            </a:pPr>
            <a:r>
              <a:rPr lang="en-GB" sz="1100" b="1">
                <a:solidFill>
                  <a:srgbClr val="E60012"/>
                </a:solidFill>
              </a:rPr>
              <a:t>MISTAKE</a:t>
            </a:r>
          </a:p>
        </p:txBody>
      </p:sp>
      <p:sp>
        <p:nvSpPr>
          <p:cNvPr id="8" name="TextBox 7"/>
          <p:cNvSpPr txBox="1">
            <a:spLocks/>
          </p:cNvSpPr>
          <p:nvPr/>
        </p:nvSpPr>
        <p:spPr>
          <a:xfrm>
            <a:off x="4160520" y="1417320"/>
            <a:ext cx="7040880" cy="243143"/>
          </a:xfrm>
          <a:prstGeom prst="rect">
            <a:avLst/>
          </a:prstGeom>
          <a:noFill/>
        </p:spPr>
        <p:txBody>
          <a:bodyPr wrap="square" lIns="36576" tIns="36576" rIns="36576" bIns="36576" anchor="t">
            <a:spAutoFit/>
          </a:bodyPr>
          <a:lstStyle/>
          <a:p>
            <a:pPr algn="l">
              <a:spcAft>
                <a:spcPts val="0"/>
              </a:spcAft>
            </a:pPr>
            <a:r>
              <a:rPr lang="en-GB" sz="1100" b="1">
                <a:solidFill>
                  <a:srgbClr val="E60012"/>
                </a:solidFill>
              </a:rPr>
              <a:t>CORRECTION — AND WHY IT HELPS</a:t>
            </a:r>
          </a:p>
        </p:txBody>
      </p:sp>
      <p:sp>
        <p:nvSpPr>
          <p:cNvPr id="9" name="TextBox 8"/>
          <p:cNvSpPr txBox="1">
            <a:spLocks/>
          </p:cNvSpPr>
          <p:nvPr/>
        </p:nvSpPr>
        <p:spPr>
          <a:xfrm>
            <a:off x="685800" y="1783080"/>
            <a:ext cx="3108960" cy="566309"/>
          </a:xfrm>
          <a:prstGeom prst="rect">
            <a:avLst/>
          </a:prstGeom>
          <a:noFill/>
        </p:spPr>
        <p:txBody>
          <a:bodyPr wrap="square" lIns="36576" tIns="36576" rIns="36576" bIns="36576" anchor="t">
            <a:spAutoFit/>
          </a:bodyPr>
          <a:lstStyle/>
          <a:p>
            <a:pPr algn="l">
              <a:spcAft>
                <a:spcPts val="0"/>
              </a:spcAft>
            </a:pPr>
            <a:r>
              <a:rPr lang="en-GB" sz="1600" b="1">
                <a:solidFill>
                  <a:srgbClr val="1E2B40"/>
                </a:solidFill>
              </a:rPr>
              <a:t>DNS success proves the application path</a:t>
            </a:r>
          </a:p>
        </p:txBody>
      </p:sp>
      <p:cxnSp>
        <p:nvCxnSpPr>
          <p:cNvPr id="10" name="Connector 9"/>
          <p:cNvCxnSpPr/>
          <p:nvPr/>
        </p:nvCxnSpPr>
        <p:spPr>
          <a:xfrm>
            <a:off x="3931920" y="1737360"/>
            <a:ext cx="0" cy="96012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251960" y="1783080"/>
            <a:ext cx="6903720" cy="822960"/>
          </a:xfrm>
          <a:prstGeom prst="rect">
            <a:avLst/>
          </a:prstGeom>
          <a:noFill/>
        </p:spPr>
        <p:txBody>
          <a:bodyPr wrap="square" lIns="36576" tIns="36576" rIns="36576" bIns="36576" anchor="t">
            <a:spAutoFit/>
          </a:bodyPr>
          <a:lstStyle/>
          <a:p>
            <a:pPr algn="l">
              <a:spcAft>
                <a:spcPts val="0"/>
              </a:spcAft>
            </a:pPr>
            <a:r>
              <a:rPr sz="1600" b="0">
                <a:solidFill>
                  <a:srgbClr val="233A59"/>
                </a:solidFill>
              </a:rPr>
              <a:t>Test the returned IP and TCP handshake; DNS only proves name resolution.</a:t>
            </a:r>
          </a:p>
        </p:txBody>
      </p:sp>
      <p:cxnSp>
        <p:nvCxnSpPr>
          <p:cNvPr id="12" name="Connector 11"/>
          <p:cNvCxnSpPr/>
          <p:nvPr/>
        </p:nvCxnSpPr>
        <p:spPr>
          <a:xfrm>
            <a:off x="685800" y="2834639"/>
            <a:ext cx="10469880"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13" name="TextBox 12"/>
          <p:cNvSpPr txBox="1">
            <a:spLocks/>
          </p:cNvSpPr>
          <p:nvPr/>
        </p:nvSpPr>
        <p:spPr>
          <a:xfrm>
            <a:off x="685800" y="3081528"/>
            <a:ext cx="3108960" cy="320088"/>
          </a:xfrm>
          <a:prstGeom prst="rect">
            <a:avLst/>
          </a:prstGeom>
          <a:noFill/>
        </p:spPr>
        <p:txBody>
          <a:bodyPr wrap="square" lIns="36576" tIns="36576" rIns="36576" bIns="36576" anchor="t">
            <a:spAutoFit/>
          </a:bodyPr>
          <a:lstStyle/>
          <a:p>
            <a:pPr algn="l">
              <a:spcAft>
                <a:spcPts val="0"/>
              </a:spcAft>
            </a:pPr>
            <a:r>
              <a:rPr lang="en-GB" sz="1600" b="1">
                <a:solidFill>
                  <a:srgbClr val="1E2B40"/>
                </a:solidFill>
              </a:rPr>
              <a:t>Port 443 proves HTTPS</a:t>
            </a:r>
          </a:p>
        </p:txBody>
      </p:sp>
      <p:cxnSp>
        <p:nvCxnSpPr>
          <p:cNvPr id="14" name="Connector 13"/>
          <p:cNvCxnSpPr/>
          <p:nvPr/>
        </p:nvCxnSpPr>
        <p:spPr>
          <a:xfrm>
            <a:off x="3931920" y="3035808"/>
            <a:ext cx="0" cy="96012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5" name="TextBox 14"/>
          <p:cNvSpPr txBox="1">
            <a:spLocks/>
          </p:cNvSpPr>
          <p:nvPr/>
        </p:nvSpPr>
        <p:spPr>
          <a:xfrm>
            <a:off x="4251960" y="3081528"/>
            <a:ext cx="6903720" cy="566309"/>
          </a:xfrm>
          <a:prstGeom prst="rect">
            <a:avLst/>
          </a:prstGeom>
          <a:noFill/>
        </p:spPr>
        <p:txBody>
          <a:bodyPr wrap="square" lIns="36576" tIns="36576" rIns="36576" bIns="36576" anchor="t">
            <a:spAutoFit/>
          </a:bodyPr>
          <a:lstStyle/>
          <a:p>
            <a:pPr algn="l">
              <a:spcAft>
                <a:spcPts val="0"/>
              </a:spcAft>
            </a:pPr>
            <a:r>
              <a:rPr lang="en-GB" sz="1600" b="0">
                <a:solidFill>
                  <a:srgbClr val="233A59"/>
                </a:solidFill>
              </a:rPr>
              <a:t>Inspect the handshake/application state; a port number identifies a socket, not the application.</a:t>
            </a:r>
          </a:p>
        </p:txBody>
      </p:sp>
      <p:cxnSp>
        <p:nvCxnSpPr>
          <p:cNvPr id="16" name="Connector 15"/>
          <p:cNvCxnSpPr/>
          <p:nvPr/>
        </p:nvCxnSpPr>
        <p:spPr>
          <a:xfrm>
            <a:off x="685800" y="4133087"/>
            <a:ext cx="10469880"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17" name="TextBox 16"/>
          <p:cNvSpPr txBox="1">
            <a:spLocks/>
          </p:cNvSpPr>
          <p:nvPr/>
        </p:nvSpPr>
        <p:spPr>
          <a:xfrm>
            <a:off x="685800" y="4379976"/>
            <a:ext cx="3108960" cy="566309"/>
          </a:xfrm>
          <a:prstGeom prst="rect">
            <a:avLst/>
          </a:prstGeom>
          <a:noFill/>
        </p:spPr>
        <p:txBody>
          <a:bodyPr wrap="square" lIns="36576" tIns="36576" rIns="36576" bIns="36576" anchor="t">
            <a:spAutoFit/>
          </a:bodyPr>
          <a:lstStyle/>
          <a:p>
            <a:pPr algn="l">
              <a:spcAft>
                <a:spcPts val="0"/>
              </a:spcAft>
            </a:pPr>
            <a:r>
              <a:rPr lang="en-GB" sz="1600" b="1">
                <a:solidFill>
                  <a:srgbClr val="1E2B40"/>
                </a:solidFill>
              </a:rPr>
              <a:t>Policy is the only forwarding decision</a:t>
            </a:r>
          </a:p>
        </p:txBody>
      </p:sp>
      <p:cxnSp>
        <p:nvCxnSpPr>
          <p:cNvPr id="18" name="Connector 17"/>
          <p:cNvCxnSpPr/>
          <p:nvPr/>
        </p:nvCxnSpPr>
        <p:spPr>
          <a:xfrm>
            <a:off x="3931920" y="4334256"/>
            <a:ext cx="0" cy="96012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251960" y="4379976"/>
            <a:ext cx="6903720" cy="822960"/>
          </a:xfrm>
          <a:prstGeom prst="rect">
            <a:avLst/>
          </a:prstGeom>
          <a:noFill/>
        </p:spPr>
        <p:txBody>
          <a:bodyPr wrap="square" lIns="36576" tIns="36576" rIns="36576" bIns="36576" anchor="t">
            <a:spAutoFit/>
          </a:bodyPr>
          <a:lstStyle/>
          <a:p>
            <a:pPr algn="l">
              <a:spcAft>
                <a:spcPts val="0"/>
              </a:spcAft>
            </a:pPr>
            <a:r>
              <a:rPr sz="1600" b="0">
                <a:solidFill>
                  <a:srgbClr val="233A59"/>
                </a:solidFill>
              </a:rPr>
              <a:t>Check route and return path first; policy cannot repair an absent route.</a:t>
            </a:r>
          </a:p>
        </p:txBody>
      </p:sp>
      <p:cxnSp>
        <p:nvCxnSpPr>
          <p:cNvPr id="20" name="Connector 19"/>
          <p:cNvCxnSpPr/>
          <p:nvPr/>
        </p:nvCxnSpPr>
        <p:spPr>
          <a:xfrm>
            <a:off x="685800" y="5431536"/>
            <a:ext cx="10469880"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58368" y="5833872"/>
            <a:ext cx="731520" cy="182880"/>
          </a:xfrm>
          <a:prstGeom prst="rect">
            <a:avLst/>
          </a:prstGeom>
          <a:noFill/>
        </p:spPr>
        <p:txBody>
          <a:bodyPr wrap="square" lIns="36576" tIns="36576" rIns="36576" bIns="36576" anchor="t">
            <a:spAutoFit/>
          </a:bodyPr>
          <a:lstStyle/>
          <a:p>
            <a:pPr algn="l">
              <a:spcAft>
                <a:spcPts val="0"/>
              </a:spcAft>
            </a:pPr>
            <a:r>
              <a:rPr sz="1000" b="1">
                <a:solidFill>
                  <a:srgbClr val="E60012"/>
                </a:solidFill>
              </a:rPr>
              <a:t>LESSON</a:t>
            </a:r>
          </a:p>
        </p:txBody>
      </p:sp>
      <p:sp>
        <p:nvSpPr>
          <p:cNvPr id="22" name="TextBox 21"/>
          <p:cNvSpPr txBox="1"/>
          <p:nvPr/>
        </p:nvSpPr>
        <p:spPr>
          <a:xfrm>
            <a:off x="1417320" y="5769864"/>
            <a:ext cx="9875520" cy="384048"/>
          </a:xfrm>
          <a:prstGeom prst="rect">
            <a:avLst/>
          </a:prstGeom>
          <a:noFill/>
        </p:spPr>
        <p:txBody>
          <a:bodyPr wrap="square" lIns="36576" tIns="36576" rIns="36576" bIns="36576" anchor="t">
            <a:spAutoFit/>
          </a:bodyPr>
          <a:lstStyle/>
          <a:p>
            <a:pPr algn="l">
              <a:spcAft>
                <a:spcPts val="0"/>
              </a:spcAft>
            </a:pPr>
            <a:r>
              <a:rPr sz="1300" b="1">
                <a:solidFill>
                  <a:srgbClr val="233A59"/>
                </a:solidFill>
              </a:rPr>
              <a:t>A correction changes a concrete configuration, test or interpretation—not merely the wording used to describe it.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11</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Troubleshooting workflow: narrow the failed decision</a:t>
            </a:r>
          </a:p>
        </p:txBody>
      </p:sp>
      <p:sp>
        <p:nvSpPr>
          <p:cNvPr id="10" name="Rectangle 9"/>
          <p:cNvSpPr/>
          <p:nvPr/>
        </p:nvSpPr>
        <p:spPr>
          <a:xfrm>
            <a:off x="658368"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1" name="TextBox 10"/>
          <p:cNvSpPr txBox="1">
            <a:spLocks/>
          </p:cNvSpPr>
          <p:nvPr/>
        </p:nvSpPr>
        <p:spPr>
          <a:xfrm>
            <a:off x="768096" y="2020824"/>
            <a:ext cx="411480" cy="219456"/>
          </a:xfrm>
          <a:prstGeom prst="rect">
            <a:avLst/>
          </a:prstGeom>
          <a:noFill/>
        </p:spPr>
        <p:txBody>
          <a:bodyPr wrap="square" lIns="27432" tIns="27432" rIns="27432" bIns="27432" anchor="t">
            <a:spAutoFit/>
          </a:bodyPr>
          <a:lstStyle/>
          <a:p>
            <a:pPr algn="l">
              <a:spcAft>
                <a:spcPts val="0"/>
              </a:spcAft>
            </a:pPr>
            <a:r>
              <a:rPr lang="en-HU" sz="1100" b="1">
                <a:solidFill>
                  <a:srgbClr val="E60012"/>
                </a:solidFill>
              </a:rPr>
              <a:t>01</a:t>
            </a:r>
          </a:p>
        </p:txBody>
      </p:sp>
      <p:sp>
        <p:nvSpPr>
          <p:cNvPr id="12" name="TextBox 11"/>
          <p:cNvSpPr txBox="1">
            <a:spLocks/>
          </p:cNvSpPr>
          <p:nvPr/>
        </p:nvSpPr>
        <p:spPr>
          <a:xfrm>
            <a:off x="768096" y="2340864"/>
            <a:ext cx="1830628" cy="603504"/>
          </a:xfrm>
          <a:prstGeom prst="rect">
            <a:avLst/>
          </a:prstGeom>
          <a:noFill/>
        </p:spPr>
        <p:txBody>
          <a:bodyPr wrap="square" lIns="27432" tIns="27432" rIns="27432" bIns="27432" anchor="ctr">
            <a:spAutoFit/>
          </a:bodyPr>
          <a:lstStyle/>
          <a:p>
            <a:pPr algn="ctr">
              <a:spcAft>
                <a:spcPts val="0"/>
              </a:spcAft>
            </a:pPr>
            <a:r>
              <a:rPr lang="en-GB" sz="1400" b="1">
                <a:solidFill>
                  <a:srgbClr val="1E2B40"/>
                </a:solidFill>
              </a:rPr>
              <a:t>Reproduce one flow and record its five-tuple</a:t>
            </a:r>
          </a:p>
        </p:txBody>
      </p:sp>
      <p:cxnSp>
        <p:nvCxnSpPr>
          <p:cNvPr id="13" name="Connector 12"/>
          <p:cNvCxnSpPr/>
          <p:nvPr/>
        </p:nvCxnSpPr>
        <p:spPr>
          <a:xfrm>
            <a:off x="2708452"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2854756"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5" name="TextBox 14"/>
          <p:cNvSpPr txBox="1">
            <a:spLocks/>
          </p:cNvSpPr>
          <p:nvPr/>
        </p:nvSpPr>
        <p:spPr>
          <a:xfrm>
            <a:off x="2964484" y="2020824"/>
            <a:ext cx="411480" cy="219456"/>
          </a:xfrm>
          <a:prstGeom prst="rect">
            <a:avLst/>
          </a:prstGeom>
          <a:noFill/>
        </p:spPr>
        <p:txBody>
          <a:bodyPr wrap="square" lIns="27432" tIns="27432" rIns="27432" bIns="27432" anchor="t">
            <a:spAutoFit/>
          </a:bodyPr>
          <a:lstStyle/>
          <a:p>
            <a:pPr algn="l">
              <a:spcAft>
                <a:spcPts val="0"/>
              </a:spcAft>
            </a:pPr>
            <a:r>
              <a:rPr lang="en-HU" sz="1100" b="1">
                <a:solidFill>
                  <a:srgbClr val="E60012"/>
                </a:solidFill>
              </a:rPr>
              <a:t>02</a:t>
            </a:r>
          </a:p>
        </p:txBody>
      </p:sp>
      <p:sp>
        <p:nvSpPr>
          <p:cNvPr id="16" name="TextBox 15"/>
          <p:cNvSpPr txBox="1">
            <a:spLocks/>
          </p:cNvSpPr>
          <p:nvPr/>
        </p:nvSpPr>
        <p:spPr>
          <a:xfrm>
            <a:off x="2964484" y="2340864"/>
            <a:ext cx="1830628" cy="603504"/>
          </a:xfrm>
          <a:prstGeom prst="rect">
            <a:avLst/>
          </a:prstGeom>
          <a:noFill/>
        </p:spPr>
        <p:txBody>
          <a:bodyPr wrap="square" lIns="27432" tIns="27432" rIns="27432" bIns="27432" anchor="ctr">
            <a:spAutoFit/>
          </a:bodyPr>
          <a:lstStyle/>
          <a:p>
            <a:pPr algn="ctr">
              <a:spcAft>
                <a:spcPts val="0"/>
              </a:spcAft>
            </a:pPr>
            <a:r>
              <a:rPr lang="en-GB" sz="1400" b="1">
                <a:solidFill>
                  <a:srgbClr val="1E2B40"/>
                </a:solidFill>
              </a:rPr>
              <a:t>Check route and neighbor reachability</a:t>
            </a:r>
          </a:p>
        </p:txBody>
      </p:sp>
      <p:cxnSp>
        <p:nvCxnSpPr>
          <p:cNvPr id="17" name="Connector 16"/>
          <p:cNvCxnSpPr/>
          <p:nvPr/>
        </p:nvCxnSpPr>
        <p:spPr>
          <a:xfrm>
            <a:off x="4904841"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5051145"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9" name="TextBox 18"/>
          <p:cNvSpPr txBox="1">
            <a:spLocks/>
          </p:cNvSpPr>
          <p:nvPr/>
        </p:nvSpPr>
        <p:spPr>
          <a:xfrm>
            <a:off x="5160873" y="2020824"/>
            <a:ext cx="411480" cy="219456"/>
          </a:xfrm>
          <a:prstGeom prst="rect">
            <a:avLst/>
          </a:prstGeom>
          <a:noFill/>
        </p:spPr>
        <p:txBody>
          <a:bodyPr wrap="square" lIns="27432" tIns="27432" rIns="27432" bIns="27432" anchor="t">
            <a:spAutoFit/>
          </a:bodyPr>
          <a:lstStyle/>
          <a:p>
            <a:pPr algn="l">
              <a:spcAft>
                <a:spcPts val="0"/>
              </a:spcAft>
            </a:pPr>
            <a:r>
              <a:rPr lang="en-HU" sz="1100" b="1">
                <a:solidFill>
                  <a:srgbClr val="E60012"/>
                </a:solidFill>
              </a:rPr>
              <a:t>03</a:t>
            </a:r>
          </a:p>
        </p:txBody>
      </p:sp>
      <p:sp>
        <p:nvSpPr>
          <p:cNvPr id="20" name="TextBox 19"/>
          <p:cNvSpPr txBox="1">
            <a:spLocks/>
          </p:cNvSpPr>
          <p:nvPr/>
        </p:nvSpPr>
        <p:spPr>
          <a:xfrm>
            <a:off x="5160873" y="2340864"/>
            <a:ext cx="1830628" cy="603504"/>
          </a:xfrm>
          <a:prstGeom prst="rect">
            <a:avLst/>
          </a:prstGeom>
          <a:noFill/>
        </p:spPr>
        <p:txBody>
          <a:bodyPr wrap="square" lIns="27432" tIns="27432" rIns="27432" bIns="27432" anchor="ctr">
            <a:spAutoFit/>
          </a:bodyPr>
          <a:lstStyle/>
          <a:p>
            <a:pPr algn="ctr">
              <a:spcAft>
                <a:spcPts val="0"/>
              </a:spcAft>
            </a:pPr>
            <a:r>
              <a:rPr lang="en-GB" sz="1400" b="1">
                <a:solidFill>
                  <a:srgbClr val="1E2B40"/>
                </a:solidFill>
              </a:rPr>
              <a:t>Identify the matched policy and NAT decision</a:t>
            </a:r>
          </a:p>
        </p:txBody>
      </p:sp>
      <p:cxnSp>
        <p:nvCxnSpPr>
          <p:cNvPr id="21" name="Connector 20"/>
          <p:cNvCxnSpPr/>
          <p:nvPr/>
        </p:nvCxnSpPr>
        <p:spPr>
          <a:xfrm>
            <a:off x="7101230"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7247534"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23" name="TextBox 22"/>
          <p:cNvSpPr txBox="1"/>
          <p:nvPr/>
        </p:nvSpPr>
        <p:spPr>
          <a:xfrm>
            <a:off x="7357262" y="2020824"/>
            <a:ext cx="411480" cy="219456"/>
          </a:xfrm>
          <a:prstGeom prst="rect">
            <a:avLst/>
          </a:prstGeom>
          <a:noFill/>
        </p:spPr>
        <p:txBody>
          <a:bodyPr wrap="square" lIns="27432" tIns="27432" rIns="27432" bIns="27432" anchor="t">
            <a:spAutoFit/>
          </a:bodyPr>
          <a:lstStyle/>
          <a:p>
            <a:pPr algn="l">
              <a:spcAft>
                <a:spcPts val="0"/>
              </a:spcAft>
            </a:pPr>
            <a:r>
              <a:rPr sz="1100" b="1">
                <a:solidFill>
                  <a:srgbClr val="E60012"/>
                </a:solidFill>
              </a:rPr>
              <a:t>04</a:t>
            </a:r>
          </a:p>
        </p:txBody>
      </p:sp>
      <p:sp>
        <p:nvSpPr>
          <p:cNvPr id="24" name="TextBox 23"/>
          <p:cNvSpPr txBox="1"/>
          <p:nvPr/>
        </p:nvSpPr>
        <p:spPr>
          <a:xfrm>
            <a:off x="7357262" y="2340864"/>
            <a:ext cx="1830628" cy="603504"/>
          </a:xfrm>
          <a:prstGeom prst="rect">
            <a:avLst/>
          </a:prstGeom>
          <a:noFill/>
        </p:spPr>
        <p:txBody>
          <a:bodyPr wrap="square" lIns="27432" tIns="27432" rIns="27432" bIns="27432" anchor="ctr">
            <a:spAutoFit/>
          </a:bodyPr>
          <a:lstStyle/>
          <a:p>
            <a:pPr algn="ctr">
              <a:spcAft>
                <a:spcPts val="0"/>
              </a:spcAft>
            </a:pPr>
            <a:r>
              <a:rPr sz="1400" b="1">
                <a:solidFill>
                  <a:srgbClr val="1E2B40"/>
                </a:solidFill>
              </a:rPr>
              <a:t>Confirm session creation and reverse traffic</a:t>
            </a:r>
          </a:p>
        </p:txBody>
      </p:sp>
      <p:cxnSp>
        <p:nvCxnSpPr>
          <p:cNvPr id="25" name="Connector 24"/>
          <p:cNvCxnSpPr/>
          <p:nvPr/>
        </p:nvCxnSpPr>
        <p:spPr>
          <a:xfrm>
            <a:off x="9297619"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9443923"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553651" y="2020824"/>
            <a:ext cx="411480" cy="219456"/>
          </a:xfrm>
          <a:prstGeom prst="rect">
            <a:avLst/>
          </a:prstGeom>
          <a:noFill/>
        </p:spPr>
        <p:txBody>
          <a:bodyPr wrap="square" lIns="27432" tIns="27432" rIns="27432" bIns="27432" anchor="t">
            <a:spAutoFit/>
          </a:bodyPr>
          <a:lstStyle/>
          <a:p>
            <a:pPr algn="l">
              <a:spcAft>
                <a:spcPts val="0"/>
              </a:spcAft>
            </a:pPr>
            <a:r>
              <a:rPr sz="1100" b="1">
                <a:solidFill>
                  <a:srgbClr val="E60012"/>
                </a:solidFill>
              </a:rPr>
              <a:t>05</a:t>
            </a:r>
          </a:p>
        </p:txBody>
      </p:sp>
      <p:sp>
        <p:nvSpPr>
          <p:cNvPr id="28" name="TextBox 27"/>
          <p:cNvSpPr txBox="1"/>
          <p:nvPr/>
        </p:nvSpPr>
        <p:spPr>
          <a:xfrm>
            <a:off x="9553651" y="2184029"/>
            <a:ext cx="1830628" cy="917174"/>
          </a:xfrm>
          <a:prstGeom prst="rect">
            <a:avLst/>
          </a:prstGeom>
          <a:noFill/>
        </p:spPr>
        <p:txBody>
          <a:bodyPr wrap="square" lIns="27432" tIns="27432" rIns="27432" bIns="27432" anchor="ctr">
            <a:spAutoFit/>
          </a:bodyPr>
          <a:lstStyle/>
          <a:p>
            <a:pPr algn="ctr">
              <a:spcAft>
                <a:spcPts val="0"/>
              </a:spcAft>
            </a:pPr>
            <a:r>
              <a:rPr sz="1400" b="1">
                <a:solidFill>
                  <a:srgbClr val="1E2B40"/>
                </a:solidFill>
              </a:rPr>
              <a:t>Use filtered sniffer/debug only if </a:t>
            </a:r>
            <a:r>
              <a:rPr lang="en-GB" sz="1400" b="1">
                <a:solidFill>
                  <a:srgbClr val="1E2B40"/>
                </a:solidFill>
              </a:rPr>
              <a:t>route, session and logs are</a:t>
            </a:r>
            <a:r>
              <a:rPr sz="1400" b="1">
                <a:solidFill>
                  <a:srgbClr val="1E2B40"/>
                </a:solidFill>
              </a:rPr>
              <a:t> inconclusive</a:t>
            </a:r>
          </a:p>
        </p:txBody>
      </p:sp>
      <p:sp>
        <p:nvSpPr>
          <p:cNvPr id="29" name="TextBox 28"/>
          <p:cNvSpPr txBox="1"/>
          <p:nvPr/>
        </p:nvSpPr>
        <p:spPr>
          <a:xfrm>
            <a:off x="658368" y="3703320"/>
            <a:ext cx="2011680" cy="256032"/>
          </a:xfrm>
          <a:prstGeom prst="rect">
            <a:avLst/>
          </a:prstGeom>
          <a:noFill/>
        </p:spPr>
        <p:txBody>
          <a:bodyPr wrap="square" lIns="27432" tIns="27432" rIns="27432" bIns="27432" anchor="t">
            <a:spAutoFit/>
          </a:bodyPr>
          <a:lstStyle/>
          <a:p>
            <a:pPr algn="l">
              <a:spcAft>
                <a:spcPts val="0"/>
              </a:spcAft>
            </a:pPr>
            <a:r>
              <a:rPr sz="1100" b="1">
                <a:solidFill>
                  <a:srgbClr val="E60012"/>
                </a:solidFill>
              </a:rPr>
              <a:t>What to observe</a:t>
            </a:r>
          </a:p>
        </p:txBody>
      </p:sp>
      <p:sp>
        <p:nvSpPr>
          <p:cNvPr id="30" name="TextBox 29"/>
          <p:cNvSpPr txBox="1"/>
          <p:nvPr/>
        </p:nvSpPr>
        <p:spPr>
          <a:xfrm>
            <a:off x="658368" y="4050791"/>
            <a:ext cx="6446520" cy="1353640"/>
          </a:xfrm>
          <a:prstGeom prst="rect">
            <a:avLst/>
          </a:prstGeom>
          <a:noFill/>
        </p:spPr>
        <p:txBody>
          <a:bodyPr wrap="square" lIns="109728" tIns="73152" rIns="109728" bIns="73152" anchor="t">
            <a:spAutoFit/>
          </a:bodyPr>
          <a:lstStyle/>
          <a:p>
            <a:pPr algn="l">
              <a:lnSpc>
                <a:spcPct val="105000"/>
              </a:lnSpc>
              <a:spcAft>
                <a:spcPts val="700"/>
              </a:spcAft>
              <a:defRPr sz="1600">
                <a:solidFill>
                  <a:srgbClr val="1E2B40"/>
                </a:solidFill>
              </a:defRPr>
            </a:pPr>
            <a:r>
              <a:t>• Identify the matched policy and NAT decision</a:t>
            </a:r>
          </a:p>
          <a:p>
            <a:pPr>
              <a:lnSpc>
                <a:spcPct val="105000"/>
              </a:lnSpc>
              <a:spcAft>
                <a:spcPts val="700"/>
              </a:spcAft>
              <a:defRPr sz="1600">
                <a:solidFill>
                  <a:srgbClr val="1E2B40"/>
                </a:solidFill>
              </a:defRPr>
            </a:pPr>
            <a:r>
              <a:t>• Confirm session creation and reverse traffic</a:t>
            </a:r>
          </a:p>
          <a:p>
            <a:pPr>
              <a:lnSpc>
                <a:spcPct val="105000"/>
              </a:lnSpc>
              <a:spcAft>
                <a:spcPts val="700"/>
              </a:spcAft>
              <a:defRPr sz="1600">
                <a:solidFill>
                  <a:srgbClr val="1E2B40"/>
                </a:solidFill>
              </a:defRPr>
            </a:pPr>
            <a:r>
              <a:t>• Use filtered sniffer/debug only if </a:t>
            </a:r>
            <a:r>
              <a:rPr lang="en-GB"/>
              <a:t>route, session and logs are</a:t>
            </a:r>
            <a:r>
              <a:t> inconclusive</a:t>
            </a:r>
          </a:p>
        </p:txBody>
      </p:sp>
      <p:cxnSp>
        <p:nvCxnSpPr>
          <p:cNvPr id="31" name="Connector 30"/>
          <p:cNvCxnSpPr/>
          <p:nvPr/>
        </p:nvCxnSpPr>
        <p:spPr>
          <a:xfrm>
            <a:off x="7452360" y="3703320"/>
            <a:ext cx="0" cy="2093976"/>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7772400" y="3703320"/>
            <a:ext cx="292608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INSTRUCTOR DEMONSTRATION</a:t>
            </a:r>
            <a:endParaRPr sz="1100" b="1">
              <a:solidFill>
                <a:srgbClr val="E60012"/>
              </a:solidFill>
            </a:endParaRPr>
          </a:p>
        </p:txBody>
      </p:sp>
      <p:sp>
        <p:nvSpPr>
          <p:cNvPr id="33" name="TextBox 32"/>
          <p:cNvSpPr txBox="1"/>
          <p:nvPr/>
        </p:nvSpPr>
        <p:spPr>
          <a:xfrm>
            <a:off x="7772400" y="4096512"/>
            <a:ext cx="3337560" cy="1234440"/>
          </a:xfrm>
          <a:prstGeom prst="rect">
            <a:avLst/>
          </a:prstGeom>
          <a:noFill/>
        </p:spPr>
        <p:txBody>
          <a:bodyPr wrap="square" lIns="27432" tIns="27432" rIns="27432" bIns="27432" anchor="t">
            <a:spAutoFit/>
          </a:bodyPr>
          <a:lstStyle/>
          <a:p>
            <a:pPr algn="l">
              <a:spcAft>
                <a:spcPts val="0"/>
              </a:spcAft>
            </a:pPr>
            <a:r>
              <a:rPr sz="1500" b="1">
                <a:solidFill>
                  <a:srgbClr val="233A59"/>
                </a:solidFill>
              </a:rPr>
              <a:t>Preserve timestamps and before/after state; stop/reset debug operations.</a:t>
            </a:r>
          </a:p>
        </p:txBody>
      </p:sp>
      <p:sp>
        <p:nvSpPr>
          <p:cNvPr id="34" name="TextBox 33"/>
          <p:cNvSpPr txBox="1"/>
          <p:nvPr/>
        </p:nvSpPr>
        <p:spPr>
          <a:xfrm>
            <a:off x="7772400" y="5440680"/>
            <a:ext cx="3337560" cy="363176"/>
          </a:xfrm>
          <a:prstGeom prst="rect">
            <a:avLst/>
          </a:prstGeom>
          <a:noFill/>
        </p:spPr>
        <p:txBody>
          <a:bodyPr wrap="square" lIns="27432" tIns="27432" rIns="27432" bIns="27432" anchor="t">
            <a:spAutoFit/>
          </a:bodyPr>
          <a:lstStyle/>
          <a:p>
            <a:pPr algn="l">
              <a:spcAft>
                <a:spcPts val="0"/>
              </a:spcAft>
            </a:pPr>
            <a:r>
              <a:rPr lang="en-GB" sz="1000" b="0">
                <a:solidFill>
                  <a:srgbClr val="687385"/>
                </a:solidFill>
              </a:rPr>
              <a:t>If debug is used, filter by the test tuple and disable</a:t>
            </a:r>
            <a:r>
              <a:rPr sz="1000" b="0">
                <a:solidFill>
                  <a:srgbClr val="687385"/>
                </a:solidFill>
              </a:rPr>
              <a:t>/reset </a:t>
            </a:r>
            <a:r>
              <a:rPr lang="en-GB" sz="1000" b="0">
                <a:solidFill>
                  <a:srgbClr val="687385"/>
                </a:solidFill>
              </a:rPr>
              <a:t>it immediately </a:t>
            </a:r>
            <a:r>
              <a:rPr sz="1000" b="0">
                <a:solidFill>
                  <a:srgbClr val="687385"/>
                </a:solidFill>
              </a:rPr>
              <a:t>after </a:t>
            </a:r>
            <a:r>
              <a:rPr lang="en-GB" sz="1000" b="0">
                <a:solidFill>
                  <a:srgbClr val="687385"/>
                </a:solidFill>
              </a:rPr>
              <a:t>capture</a:t>
            </a:r>
            <a:r>
              <a:rPr sz="1000" b="0">
                <a:solidFill>
                  <a:srgbClr val="687385"/>
                </a:solidFill>
              </a:rPr>
              <a:t>.</a:t>
            </a:r>
          </a:p>
        </p:txBody>
      </p:sp>
      <p:sp>
        <p:nvSpPr>
          <p:cNvPr id="35" name="TextBox 34"/>
          <p:cNvSpPr txBox="1"/>
          <p:nvPr/>
        </p:nvSpPr>
        <p:spPr>
          <a:xfrm>
            <a:off x="502920" y="420624"/>
            <a:ext cx="10744200" cy="130805"/>
          </a:xfrm>
          <a:prstGeom prst="rect">
            <a:avLst/>
          </a:prstGeom>
          <a:noFill/>
        </p:spPr>
        <p:txBody>
          <a:bodyPr wrap="square" lIns="0" tIns="0" rIns="0" bIns="0">
            <a:spAutoFit/>
          </a:bodyPr>
          <a:lstStyle/>
          <a:p>
            <a:pPr algn="l"/>
            <a:r>
              <a:rPr lang="en-HU" sz="850" b="1">
                <a:solidFill>
                  <a:srgbClr val="687385"/>
                </a:solidFill>
              </a:rPr>
              <a:t>011</a:t>
            </a:r>
            <a:r>
              <a:rPr sz="850" b="1">
                <a:solidFill>
                  <a:srgbClr val="687385"/>
                </a:solidFill>
              </a:rPr>
              <a:t> • DAY 1 • BLOCK 01 • Network Foundations &amp; Packet Flow</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12</a:t>
            </a:r>
          </a:p>
        </p:txBody>
      </p:sp>
      <p:sp>
        <p:nvSpPr>
          <p:cNvPr id="9" name="TextBox 8"/>
          <p:cNvSpPr txBox="1">
            <a:spLocks/>
          </p:cNvSpPr>
          <p:nvPr/>
        </p:nvSpPr>
        <p:spPr>
          <a:xfrm>
            <a:off x="502920" y="621792"/>
            <a:ext cx="11109960" cy="455509"/>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Practical handoff: Packet Flow and Session Visibility</a:t>
            </a:r>
          </a:p>
        </p:txBody>
      </p:sp>
      <p:sp>
        <p:nvSpPr>
          <p:cNvPr id="10" name="TextBox 9"/>
          <p:cNvSpPr txBox="1">
            <a:spLocks/>
          </p:cNvSpPr>
          <p:nvPr/>
        </p:nvSpPr>
        <p:spPr>
          <a:xfrm>
            <a:off x="658368" y="1554480"/>
            <a:ext cx="6583680" cy="3571427"/>
          </a:xfrm>
          <a:prstGeom prst="rect">
            <a:avLst/>
          </a:prstGeom>
          <a:noFill/>
        </p:spPr>
        <p:txBody>
          <a:bodyPr wrap="square" lIns="109728" tIns="73152" rIns="109728" bIns="73152" anchor="t">
            <a:spAutoFit/>
          </a:bodyPr>
          <a:lstStyle/>
          <a:p>
            <a:pPr algn="l">
              <a:lnSpc>
                <a:spcPct val="105000"/>
              </a:lnSpc>
              <a:spcAft>
                <a:spcPts val="800"/>
              </a:spcAft>
              <a:defRPr sz="1700">
                <a:solidFill>
                  <a:srgbClr val="1E2B40"/>
                </a:solidFill>
              </a:defRPr>
            </a:pPr>
            <a:r>
              <a:rPr lang="en-GB"/>
              <a:t>• START / PREREQUISITES: Student N pod reachable; Student N addressing from slide 3; read-only diagnostics enabled.</a:t>
            </a:r>
          </a:p>
          <a:p>
            <a:pPr>
              <a:lnSpc>
                <a:spcPct val="105000"/>
              </a:lnSpc>
              <a:spcAft>
                <a:spcPts val="800"/>
              </a:spcAft>
              <a:defRPr sz="1700">
                <a:solidFill>
                  <a:srgbClr val="1E2B40"/>
                </a:solidFill>
              </a:defRPr>
            </a:pPr>
            <a:r>
              <a:rPr lang="en-GB"/>
              <a:t>• CHANGE / INVESTIGATE: Predict and trace one LAN-to-DMZ TCP flow: route, policy ID, five-tuple, session and both packet directions.</a:t>
            </a:r>
          </a:p>
          <a:p>
            <a:pPr>
              <a:lnSpc>
                <a:spcPct val="105000"/>
              </a:lnSpc>
              <a:spcAft>
                <a:spcPts val="800"/>
              </a:spcAft>
              <a:defRPr sz="1700">
                <a:solidFill>
                  <a:srgbClr val="1E2B40"/>
                </a:solidFill>
              </a:defRPr>
            </a:pPr>
            <a:r>
              <a:rPr lang="en-GB"/>
              <a:t>• EXPECTED RESULT: The predicted policy and route match; original/reply counters increase and the capture shows both directions.</a:t>
            </a:r>
          </a:p>
          <a:p>
            <a:pPr>
              <a:lnSpc>
                <a:spcPct val="105000"/>
              </a:lnSpc>
              <a:spcAft>
                <a:spcPts val="800"/>
              </a:spcAft>
              <a:defRPr sz="1700">
                <a:solidFill>
                  <a:srgbClr val="1E2B40"/>
                </a:solidFill>
              </a:defRPr>
            </a:pPr>
            <a:r>
              <a:rPr lang="en-GB"/>
              <a:t>• CLEANUP / RESET: Stop filters/debug and clear only the named test session; do not alter shared management access.</a:t>
            </a:r>
          </a:p>
          <a:p>
            <a:pPr>
              <a:lnSpc>
                <a:spcPct val="105000"/>
              </a:lnSpc>
              <a:spcAft>
                <a:spcPts val="800"/>
              </a:spcAft>
              <a:defRPr sz="1700">
                <a:solidFill>
                  <a:srgbClr val="1E2B40"/>
                </a:solidFill>
              </a:defRPr>
            </a:pPr>
            <a:r>
              <a:rPr lang="en-GB"/>
              <a:t>• DELIVERY: Hands-on with the validated Linux client and DMZ server; instructor capture fallback if a pod is unavailable.</a:t>
            </a:r>
          </a:p>
        </p:txBody>
      </p:sp>
      <p:cxnSp>
        <p:nvCxnSpPr>
          <p:cNvPr id="11" name="Connector 10"/>
          <p:cNvCxnSpPr/>
          <p:nvPr/>
        </p:nvCxnSpPr>
        <p:spPr>
          <a:xfrm>
            <a:off x="7452360" y="1600200"/>
            <a:ext cx="0" cy="434340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7790688" y="1627632"/>
            <a:ext cx="342900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PLANNED EXERCISE</a:t>
            </a:r>
          </a:p>
        </p:txBody>
      </p:sp>
      <p:sp>
        <p:nvSpPr>
          <p:cNvPr id="13" name="TextBox 12"/>
          <p:cNvSpPr txBox="1">
            <a:spLocks/>
          </p:cNvSpPr>
          <p:nvPr/>
        </p:nvSpPr>
        <p:spPr>
          <a:xfrm>
            <a:off x="7790688" y="2057400"/>
            <a:ext cx="3337560" cy="1101840"/>
          </a:xfrm>
          <a:prstGeom prst="rect">
            <a:avLst/>
          </a:prstGeom>
          <a:noFill/>
        </p:spPr>
        <p:txBody>
          <a:bodyPr wrap="square" lIns="27432" tIns="27432" rIns="27432" bIns="27432" anchor="t">
            <a:spAutoFit/>
          </a:bodyPr>
          <a:lstStyle/>
          <a:p>
            <a:pPr algn="l">
              <a:spcAft>
                <a:spcPts val="0"/>
              </a:spcAft>
            </a:pPr>
            <a:r>
              <a:rPr lang="en-GB" sz="1700" b="1">
                <a:solidFill>
                  <a:srgbClr val="233A59"/>
                </a:solidFill>
              </a:rPr>
              <a:t>Predict and trace one LAN-to-DMZ TCP flow: route, policy ID, five-tuple, session and both packet directions.</a:t>
            </a:r>
          </a:p>
        </p:txBody>
      </p:sp>
      <p:sp>
        <p:nvSpPr>
          <p:cNvPr id="14" name="TextBox 13"/>
          <p:cNvSpPr txBox="1">
            <a:spLocks/>
          </p:cNvSpPr>
          <p:nvPr/>
        </p:nvSpPr>
        <p:spPr>
          <a:xfrm>
            <a:off x="7790688" y="4073202"/>
            <a:ext cx="18288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EXPECTED RESULT</a:t>
            </a:r>
          </a:p>
        </p:txBody>
      </p:sp>
      <p:sp>
        <p:nvSpPr>
          <p:cNvPr id="15" name="TextBox 14"/>
          <p:cNvSpPr txBox="1">
            <a:spLocks/>
          </p:cNvSpPr>
          <p:nvPr/>
        </p:nvSpPr>
        <p:spPr>
          <a:xfrm>
            <a:off x="7790688" y="4438963"/>
            <a:ext cx="3337560" cy="747897"/>
          </a:xfrm>
          <a:prstGeom prst="rect">
            <a:avLst/>
          </a:prstGeom>
          <a:noFill/>
        </p:spPr>
        <p:txBody>
          <a:bodyPr wrap="square" lIns="27432" tIns="27432" rIns="27432" bIns="27432" anchor="t">
            <a:spAutoFit/>
          </a:bodyPr>
          <a:lstStyle/>
          <a:p>
            <a:pPr algn="l">
              <a:spcAft>
                <a:spcPts val="0"/>
              </a:spcAft>
            </a:pPr>
            <a:r>
              <a:rPr lang="en-GB" sz="1500" b="0">
                <a:solidFill>
                  <a:srgbClr val="1E2B40"/>
                </a:solidFill>
              </a:rPr>
              <a:t>The predicted policy and route match; original/reply counters increase </a:t>
            </a:r>
            <a:r>
              <a:rPr lang="en-GB" sz="1500" b="0" dirty="0">
                <a:solidFill>
                  <a:srgbClr val="1E2B40"/>
                </a:solidFill>
              </a:rPr>
              <a:t>and the </a:t>
            </a:r>
            <a:r>
              <a:rPr lang="en-GB" sz="1500" b="0">
                <a:solidFill>
                  <a:srgbClr val="1E2B40"/>
                </a:solidFill>
              </a:rPr>
              <a:t>capture shows both directions</a:t>
            </a:r>
            <a:r>
              <a:rPr lang="en-GB" sz="1500" b="0" dirty="0">
                <a:solidFill>
                  <a:srgbClr val="1E2B40"/>
                </a:solidFill>
              </a:rPr>
              <a:t>.</a:t>
            </a:r>
          </a:p>
        </p:txBody>
      </p:sp>
      <p:sp>
        <p:nvSpPr>
          <p:cNvPr id="16" name="TextBox 15"/>
          <p:cNvSpPr txBox="1">
            <a:spLocks/>
          </p:cNvSpPr>
          <p:nvPr/>
        </p:nvSpPr>
        <p:spPr>
          <a:xfrm>
            <a:off x="7790688" y="5559552"/>
            <a:ext cx="1097280" cy="209288"/>
          </a:xfrm>
          <a:prstGeom prst="rect">
            <a:avLst/>
          </a:prstGeom>
          <a:noFill/>
        </p:spPr>
        <p:txBody>
          <a:bodyPr wrap="square" lIns="27432" tIns="27432" rIns="27432" bIns="27432" anchor="t">
            <a:spAutoFit/>
          </a:bodyPr>
          <a:lstStyle/>
          <a:p>
            <a:pPr algn="l">
              <a:spcAft>
                <a:spcPts val="0"/>
              </a:spcAft>
            </a:pPr>
            <a:r>
              <a:rPr lang="en-GB" sz="1000" b="1">
                <a:solidFill>
                  <a:srgbClr val="687385"/>
                </a:solidFill>
              </a:rPr>
              <a:t>DELIVERY MODE</a:t>
            </a:r>
          </a:p>
        </p:txBody>
      </p:sp>
      <p:sp>
        <p:nvSpPr>
          <p:cNvPr id="17" name="TextBox 16"/>
          <p:cNvSpPr txBox="1">
            <a:spLocks/>
          </p:cNvSpPr>
          <p:nvPr/>
        </p:nvSpPr>
        <p:spPr>
          <a:xfrm>
            <a:off x="8942832" y="5504688"/>
            <a:ext cx="2258568" cy="270843"/>
          </a:xfrm>
          <a:prstGeom prst="rect">
            <a:avLst/>
          </a:prstGeom>
          <a:noFill/>
        </p:spPr>
        <p:txBody>
          <a:bodyPr wrap="square" lIns="27432" tIns="27432" rIns="27432" bIns="27432" anchor="t">
            <a:spAutoFit/>
          </a:bodyPr>
          <a:lstStyle/>
          <a:p>
            <a:pPr algn="r">
              <a:spcAft>
                <a:spcPts val="0"/>
              </a:spcAft>
            </a:pPr>
            <a:r>
              <a:rPr lang="en-GB" sz="1400" b="0">
                <a:solidFill>
                  <a:srgbClr val="687385"/>
                </a:solidFill>
              </a:rPr>
              <a:t>Hands-on; capture fallback</a:t>
            </a:r>
          </a:p>
        </p:txBody>
      </p:sp>
      <p:sp>
        <p:nvSpPr>
          <p:cNvPr id="18" name="TextBox 17"/>
          <p:cNvSpPr txBox="1">
            <a:spLocks/>
          </p:cNvSpPr>
          <p:nvPr/>
        </p:nvSpPr>
        <p:spPr>
          <a:xfrm>
            <a:off x="502920" y="420624"/>
            <a:ext cx="10744200" cy="130805"/>
          </a:xfrm>
          <a:prstGeom prst="rect">
            <a:avLst/>
          </a:prstGeom>
          <a:noFill/>
        </p:spPr>
        <p:txBody>
          <a:bodyPr wrap="square" lIns="0" tIns="0" rIns="0" bIns="0">
            <a:spAutoFit/>
          </a:bodyPr>
          <a:lstStyle/>
          <a:p>
            <a:pPr algn="l"/>
            <a:r>
              <a:rPr lang="en-GB" sz="850" b="1">
                <a:solidFill>
                  <a:srgbClr val="687385"/>
                </a:solidFill>
              </a:rPr>
              <a:t>012 • DAY 1 • BLOCK 01 • Network Foundations &amp; Packet Flow</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13</a:t>
            </a:r>
          </a:p>
        </p:txBody>
      </p:sp>
      <p:sp>
        <p:nvSpPr>
          <p:cNvPr id="9" name="TextBox 8"/>
          <p:cNvSpPr txBox="1">
            <a:spLocks/>
          </p:cNvSpPr>
          <p:nvPr/>
        </p:nvSpPr>
        <p:spPr>
          <a:xfrm>
            <a:off x="502920" y="621792"/>
            <a:ext cx="11109960" cy="455509"/>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Knowledge check — explain the result</a:t>
            </a:r>
          </a:p>
        </p:txBody>
      </p:sp>
      <p:sp>
        <p:nvSpPr>
          <p:cNvPr id="10" name="TextBox 9"/>
          <p:cNvSpPr txBox="1">
            <a:spLocks/>
          </p:cNvSpPr>
          <p:nvPr/>
        </p:nvSpPr>
        <p:spPr>
          <a:xfrm>
            <a:off x="658368" y="1600200"/>
            <a:ext cx="5312664" cy="292608"/>
          </a:xfrm>
          <a:prstGeom prst="rect">
            <a:avLst/>
          </a:prstGeom>
          <a:noFill/>
        </p:spPr>
        <p:txBody>
          <a:bodyPr wrap="square" lIns="27432" tIns="27432" rIns="27432" bIns="27432" anchor="t">
            <a:spAutoFit/>
          </a:bodyPr>
          <a:lstStyle/>
          <a:p>
            <a:pPr algn="l">
              <a:spcAft>
                <a:spcPts val="0"/>
              </a:spcAft>
            </a:pPr>
            <a:r>
              <a:rPr lang="en-GB" sz="1300" b="1">
                <a:solidFill>
                  <a:srgbClr val="E60012"/>
                </a:solidFill>
              </a:rPr>
              <a:t>QUESTION 1</a:t>
            </a:r>
          </a:p>
        </p:txBody>
      </p:sp>
      <p:cxnSp>
        <p:nvCxnSpPr>
          <p:cNvPr id="11" name="Connector 10"/>
          <p:cNvCxnSpPr/>
          <p:nvPr/>
        </p:nvCxnSpPr>
        <p:spPr>
          <a:xfrm>
            <a:off x="658368" y="1984248"/>
            <a:ext cx="5312664" cy="0"/>
          </a:xfrm>
          <a:prstGeom prst="line">
            <a:avLst/>
          </a:prstGeom>
          <a:ln w="22860">
            <a:solidFill>
              <a:srgbClr val="E60012"/>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658368" y="2176272"/>
            <a:ext cx="5312664" cy="3337560"/>
          </a:xfrm>
          <a:prstGeom prst="rect">
            <a:avLst/>
          </a:prstGeom>
          <a:noFill/>
        </p:spPr>
        <p:txBody>
          <a:bodyPr wrap="square" lIns="109728" tIns="73152" rIns="109728" bIns="73152" anchor="t">
            <a:spAutoFit/>
          </a:bodyPr>
          <a:lstStyle/>
          <a:p>
            <a:pPr algn="l">
              <a:lnSpc>
                <a:spcPct val="105000"/>
              </a:lnSpc>
              <a:spcAft>
                <a:spcPts val="800"/>
              </a:spcAft>
              <a:defRPr sz="1600">
                <a:solidFill>
                  <a:srgbClr val="1E2B40"/>
                </a:solidFill>
              </a:defRPr>
            </a:pPr>
            <a:r>
              <a:rPr lang="en-GB"/>
              <a:t>• Which five values identify a TCP/UDP flow?</a:t>
            </a:r>
          </a:p>
        </p:txBody>
      </p:sp>
      <p:sp>
        <p:nvSpPr>
          <p:cNvPr id="13" name="TextBox 12"/>
          <p:cNvSpPr txBox="1"/>
          <p:nvPr/>
        </p:nvSpPr>
        <p:spPr>
          <a:xfrm>
            <a:off x="6227064" y="1600200"/>
            <a:ext cx="5312664" cy="292608"/>
          </a:xfrm>
          <a:prstGeom prst="rect">
            <a:avLst/>
          </a:prstGeom>
          <a:noFill/>
        </p:spPr>
        <p:txBody>
          <a:bodyPr wrap="square" lIns="27432" tIns="27432" rIns="27432" bIns="27432" anchor="t">
            <a:spAutoFit/>
          </a:bodyPr>
          <a:lstStyle/>
          <a:p>
            <a:pPr algn="l">
              <a:spcAft>
                <a:spcPts val="0"/>
              </a:spcAft>
            </a:pPr>
            <a:r>
              <a:rPr sz="1300" b="1">
                <a:solidFill>
                  <a:srgbClr val="E60012"/>
                </a:solidFill>
              </a:rPr>
              <a:t>QUESTION 2</a:t>
            </a:r>
          </a:p>
        </p:txBody>
      </p:sp>
      <p:cxnSp>
        <p:nvCxnSpPr>
          <p:cNvPr id="14" name="Connector 13"/>
          <p:cNvCxnSpPr/>
          <p:nvPr/>
        </p:nvCxnSpPr>
        <p:spPr>
          <a:xfrm>
            <a:off x="6227064" y="1984248"/>
            <a:ext cx="5312664" cy="0"/>
          </a:xfrm>
          <a:prstGeom prst="line">
            <a:avLst/>
          </a:prstGeom>
          <a:ln w="22860">
            <a:solidFill>
              <a:srgbClr val="E60012"/>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227064" y="2176272"/>
            <a:ext cx="5312664" cy="3337560"/>
          </a:xfrm>
          <a:prstGeom prst="rect">
            <a:avLst/>
          </a:prstGeom>
          <a:noFill/>
        </p:spPr>
        <p:txBody>
          <a:bodyPr wrap="square" lIns="109728" tIns="73152" rIns="109728" bIns="73152" anchor="t">
            <a:spAutoFit/>
          </a:bodyPr>
          <a:lstStyle/>
          <a:p>
            <a:pPr algn="l">
              <a:lnSpc>
                <a:spcPct val="105000"/>
              </a:lnSpc>
              <a:spcAft>
                <a:spcPts val="800"/>
              </a:spcAft>
              <a:defRPr sz="1600">
                <a:solidFill>
                  <a:srgbClr val="1E2B40"/>
                </a:solidFill>
              </a:defRPr>
            </a:pPr>
            <a:r>
              <a:t>• Why can a return packet bypass a second full policy decision?</a:t>
            </a:r>
          </a:p>
        </p:txBody>
      </p:sp>
      <p:sp>
        <p:nvSpPr>
          <p:cNvPr id="16" name="TextBox 15"/>
          <p:cNvSpPr txBox="1"/>
          <p:nvPr/>
        </p:nvSpPr>
        <p:spPr>
          <a:xfrm>
            <a:off x="658368" y="5724144"/>
            <a:ext cx="1234440" cy="224677"/>
          </a:xfrm>
          <a:prstGeom prst="rect">
            <a:avLst/>
          </a:prstGeom>
          <a:noFill/>
        </p:spPr>
        <p:txBody>
          <a:bodyPr wrap="square" lIns="27432" tIns="27432" rIns="27432" bIns="27432" anchor="t">
            <a:spAutoFit/>
          </a:bodyPr>
          <a:lstStyle/>
          <a:p>
            <a:pPr algn="l">
              <a:spcAft>
                <a:spcPts val="0"/>
              </a:spcAft>
            </a:pPr>
            <a:r>
              <a:rPr lang="en-GB" sz="1100" b="1">
                <a:solidFill>
                  <a:srgbClr val="233A59"/>
                </a:solidFill>
              </a:rPr>
              <a:t>KEY DISTINCTION</a:t>
            </a:r>
            <a:endParaRPr sz="1100" b="1">
              <a:solidFill>
                <a:srgbClr val="233A59"/>
              </a:solidFill>
            </a:endParaRPr>
          </a:p>
        </p:txBody>
      </p:sp>
      <p:sp>
        <p:nvSpPr>
          <p:cNvPr id="17" name="TextBox 16"/>
          <p:cNvSpPr txBox="1"/>
          <p:nvPr/>
        </p:nvSpPr>
        <p:spPr>
          <a:xfrm>
            <a:off x="1920240" y="5687568"/>
            <a:ext cx="9235440" cy="329184"/>
          </a:xfrm>
          <a:prstGeom prst="rect">
            <a:avLst/>
          </a:prstGeom>
          <a:noFill/>
        </p:spPr>
        <p:txBody>
          <a:bodyPr wrap="square" lIns="27432" tIns="27432" rIns="27432" bIns="27432" anchor="t">
            <a:spAutoFit/>
          </a:bodyPr>
          <a:lstStyle/>
          <a:p>
            <a:pPr algn="l">
              <a:spcAft>
                <a:spcPts val="0"/>
              </a:spcAft>
            </a:pPr>
            <a:r>
              <a:rPr sz="1400" b="1">
                <a:solidFill>
                  <a:srgbClr val="233A59"/>
                </a:solidFill>
              </a:rPr>
              <a:t>Answers and teaching rationale are in speaker notes.</a:t>
            </a:r>
          </a:p>
        </p:txBody>
      </p:sp>
      <p:sp>
        <p:nvSpPr>
          <p:cNvPr id="18" name="TextBox 17"/>
          <p:cNvSpPr txBox="1"/>
          <p:nvPr/>
        </p:nvSpPr>
        <p:spPr>
          <a:xfrm>
            <a:off x="502920" y="420624"/>
            <a:ext cx="10744200" cy="130805"/>
          </a:xfrm>
          <a:prstGeom prst="rect">
            <a:avLst/>
          </a:prstGeom>
          <a:noFill/>
        </p:spPr>
        <p:txBody>
          <a:bodyPr wrap="square" lIns="0" tIns="0" rIns="0" bIns="0">
            <a:spAutoFit/>
          </a:bodyPr>
          <a:lstStyle/>
          <a:p>
            <a:pPr algn="l"/>
            <a:r>
              <a:rPr lang="en-HU" sz="850" b="1">
                <a:solidFill>
                  <a:srgbClr val="687385"/>
                </a:solidFill>
              </a:rPr>
              <a:t>013</a:t>
            </a:r>
            <a:r>
              <a:rPr sz="850" b="1">
                <a:solidFill>
                  <a:srgbClr val="687385"/>
                </a:solidFill>
              </a:rPr>
              <a:t> • DAY 1 • BLOCK 01 • Network Foundations &amp; Packet Flow</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8">
    <p:bg>
      <p:bgPr>
        <a:solidFill>
          <a:srgbClr val="101827"/>
        </a:solidFill>
        <a:effectLst/>
      </p:bgPr>
    </p:bg>
    <p:spTree>
      <p:nvGrpSpPr>
        <p:cNvPr id="1" name=""/>
        <p:cNvGrpSpPr/>
        <p:nvPr/>
      </p:nvGrpSpPr>
      <p:grpSpPr>
        <a:xfrm>
          <a:off x="0" y="0"/>
          <a:ext cx="1" cy="1"/>
          <a:chOff x="0" y="0"/>
          <a:chExt cx="1" cy="1"/>
        </a:xfrm>
      </p:grpSpPr>
      <p:sp>
        <p:nvSpPr>
          <p:cNvPr id="2" name="Rectangle 1"/>
          <p:cNvSpPr/>
          <p:nvPr/>
        </p:nvSpPr>
        <p:spPr>
          <a:xfrm>
            <a:off x="0" y="0"/>
            <a:ext cx="146304" cy="6858000"/>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a:spLocks/>
          </p:cNvSpPr>
          <p:nvPr/>
        </p:nvSpPr>
        <p:spPr>
          <a:xfrm>
            <a:off x="658368" y="566928"/>
            <a:ext cx="5212080" cy="256032"/>
          </a:xfrm>
          <a:prstGeom prst="rect">
            <a:avLst/>
          </a:prstGeom>
          <a:noFill/>
        </p:spPr>
        <p:txBody>
          <a:bodyPr wrap="square" lIns="27432" tIns="27432" rIns="27432" bIns="27432" anchor="t">
            <a:spAutoFit/>
          </a:bodyPr>
          <a:lstStyle/>
          <a:p>
            <a:pPr algn="l">
              <a:spcAft>
                <a:spcPts val="0"/>
              </a:spcAft>
            </a:pPr>
            <a:r>
              <a:rPr lang="en-GB" sz="1400" b="1">
                <a:solidFill>
                  <a:srgbClr val="E60012"/>
                </a:solidFill>
              </a:rPr>
              <a:t>DAY 1  •  10:30–12:00</a:t>
            </a:r>
          </a:p>
        </p:txBody>
      </p:sp>
      <p:sp>
        <p:nvSpPr>
          <p:cNvPr id="4" name="TextBox 3"/>
          <p:cNvSpPr txBox="1">
            <a:spLocks/>
          </p:cNvSpPr>
          <p:nvPr/>
        </p:nvSpPr>
        <p:spPr>
          <a:xfrm>
            <a:off x="658368" y="1097280"/>
            <a:ext cx="10515600" cy="914400"/>
          </a:xfrm>
          <a:prstGeom prst="rect">
            <a:avLst/>
          </a:prstGeom>
          <a:noFill/>
        </p:spPr>
        <p:txBody>
          <a:bodyPr wrap="square" lIns="27432" tIns="27432" rIns="27432" bIns="27432" anchor="t">
            <a:spAutoFit/>
          </a:bodyPr>
          <a:lstStyle/>
          <a:p>
            <a:pPr algn="l">
              <a:spcAft>
                <a:spcPts val="0"/>
              </a:spcAft>
            </a:pPr>
            <a:r>
              <a:rPr lang="en-GB" sz="3400" b="1">
                <a:solidFill>
                  <a:srgbClr val="FFFFFF"/>
                </a:solidFill>
              </a:rPr>
              <a:t>FortiGate Introduction &amp; Initial Configuration</a:t>
            </a:r>
          </a:p>
        </p:txBody>
      </p:sp>
      <p:sp>
        <p:nvSpPr>
          <p:cNvPr id="5" name="TextBox 4"/>
          <p:cNvSpPr txBox="1">
            <a:spLocks/>
          </p:cNvSpPr>
          <p:nvPr/>
        </p:nvSpPr>
        <p:spPr>
          <a:xfrm>
            <a:off x="676656" y="2084831"/>
            <a:ext cx="8686800" cy="320040"/>
          </a:xfrm>
          <a:prstGeom prst="rect">
            <a:avLst/>
          </a:prstGeom>
          <a:noFill/>
        </p:spPr>
        <p:txBody>
          <a:bodyPr wrap="square" lIns="27432" tIns="27432" rIns="27432" bIns="27432" anchor="t">
            <a:spAutoFit/>
          </a:bodyPr>
          <a:lstStyle/>
          <a:p>
            <a:pPr algn="l">
              <a:spcAft>
                <a:spcPts val="0"/>
              </a:spcAft>
            </a:pPr>
            <a:r>
              <a:rPr lang="en-GB" sz="1500" b="0">
                <a:solidFill>
                  <a:srgbClr val="C9D1DD"/>
                </a:solidFill>
              </a:rPr>
              <a:t>Foundations • Day 1 of 2</a:t>
            </a:r>
          </a:p>
        </p:txBody>
      </p:sp>
      <p:cxnSp>
        <p:nvCxnSpPr>
          <p:cNvPr id="6" name="Connector 5"/>
          <p:cNvCxnSpPr/>
          <p:nvPr/>
        </p:nvCxnSpPr>
        <p:spPr>
          <a:xfrm>
            <a:off x="676656" y="2578608"/>
            <a:ext cx="10616184" cy="0"/>
          </a:xfrm>
          <a:prstGeom prst="line">
            <a:avLst/>
          </a:prstGeom>
          <a:ln w="12700">
            <a:solidFill>
              <a:srgbClr val="40516A"/>
            </a:solidFill>
          </a:ln>
        </p:spPr>
        <p:style>
          <a:lnRef idx="2">
            <a:schemeClr val="accent1"/>
          </a:lnRef>
          <a:fillRef idx="0">
            <a:schemeClr val="accent1"/>
          </a:fillRef>
          <a:effectRef idx="1">
            <a:schemeClr val="accent1"/>
          </a:effectRef>
          <a:fontRef idx="minor">
            <a:schemeClr val="tx1"/>
          </a:fontRef>
        </p:style>
      </p:cxnSp>
      <p:sp>
        <p:nvSpPr>
          <p:cNvPr id="7" name="TextBox 6"/>
          <p:cNvSpPr txBox="1">
            <a:spLocks/>
          </p:cNvSpPr>
          <p:nvPr/>
        </p:nvSpPr>
        <p:spPr>
          <a:xfrm>
            <a:off x="685800" y="2889504"/>
            <a:ext cx="27432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LEARNING OBJECTIVES</a:t>
            </a:r>
          </a:p>
        </p:txBody>
      </p:sp>
      <p:sp>
        <p:nvSpPr>
          <p:cNvPr id="8" name="TextBox 7"/>
          <p:cNvSpPr txBox="1">
            <a:spLocks/>
          </p:cNvSpPr>
          <p:nvPr/>
        </p:nvSpPr>
        <p:spPr>
          <a:xfrm>
            <a:off x="685800" y="3218688"/>
            <a:ext cx="6035040" cy="886397"/>
          </a:xfrm>
          <a:prstGeom prst="rect">
            <a:avLst/>
          </a:prstGeom>
          <a:noFill/>
        </p:spPr>
        <p:txBody>
          <a:bodyPr wrap="square" lIns="109728" tIns="73152" rIns="109728" bIns="73152" anchor="t">
            <a:spAutoFit/>
          </a:bodyPr>
          <a:lstStyle/>
          <a:p>
            <a:r>
              <a:rPr lang="en-GB" sz="1600">
                <a:solidFill>
                  <a:srgbClr val="FFFFFF"/>
                </a:solidFill>
              </a:rPr>
              <a:t>• Navigate the FortiOS GUI and CLI safely</a:t>
            </a:r>
          </a:p>
          <a:p>
            <a:r>
              <a:rPr lang="en-GB" sz="1600">
                <a:solidFill>
                  <a:srgbClr val="FFFFFF"/>
                </a:solidFill>
              </a:rPr>
              <a:t>• Read and change configuration with contextual help</a:t>
            </a:r>
          </a:p>
          <a:p>
            <a:r>
              <a:rPr lang="en-GB" sz="1600">
                <a:solidFill>
                  <a:srgbClr val="FFFFFF"/>
                </a:solidFill>
              </a:rPr>
              <a:t>• Back up, restore and verify a disposable student FortiGate</a:t>
            </a:r>
          </a:p>
        </p:txBody>
      </p:sp>
      <p:sp>
        <p:nvSpPr>
          <p:cNvPr id="9" name="TextBox 8"/>
          <p:cNvSpPr txBox="1">
            <a:spLocks/>
          </p:cNvSpPr>
          <p:nvPr/>
        </p:nvSpPr>
        <p:spPr>
          <a:xfrm>
            <a:off x="7315200" y="2889504"/>
            <a:ext cx="36576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PREREQUISITES + PRACTICE RESERVE</a:t>
            </a:r>
          </a:p>
        </p:txBody>
      </p:sp>
      <p:sp>
        <p:nvSpPr>
          <p:cNvPr id="10" name="TextBox 9"/>
          <p:cNvSpPr txBox="1">
            <a:spLocks/>
          </p:cNvSpPr>
          <p:nvPr/>
        </p:nvSpPr>
        <p:spPr>
          <a:xfrm>
            <a:off x="7315200" y="3218688"/>
            <a:ext cx="3886200" cy="1009507"/>
          </a:xfrm>
          <a:prstGeom prst="rect">
            <a:avLst/>
          </a:prstGeom>
          <a:noFill/>
        </p:spPr>
        <p:txBody>
          <a:bodyPr wrap="square" lIns="109728" tIns="73152" rIns="109728" bIns="73152" anchor="t">
            <a:spAutoFit/>
          </a:bodyPr>
          <a:lstStyle/>
          <a:p>
            <a:r>
              <a:rPr lang="en-GB" sz="1400">
                <a:solidFill>
                  <a:srgbClr val="FFFFFF"/>
                </a:solidFill>
              </a:rPr>
              <a:t>• Assigned Student N appliance and credentials</a:t>
            </a:r>
          </a:p>
          <a:p>
            <a:r>
              <a:rPr lang="en-GB" sz="1400">
                <a:solidFill>
                  <a:srgbClr val="FFFFFF"/>
                </a:solidFill>
              </a:rPr>
              <a:t>• Access URL/SSH target supplied as &lt;TBD&gt;</a:t>
            </a:r>
          </a:p>
          <a:p>
            <a:r>
              <a:rPr lang="en-GB" sz="1400">
                <a:solidFill>
                  <a:srgbClr val="FFFFFF"/>
                </a:solidFill>
              </a:rPr>
              <a:t>• Backup destination or browser download location prepared</a:t>
            </a:r>
          </a:p>
        </p:txBody>
      </p:sp>
      <p:sp>
        <p:nvSpPr>
          <p:cNvPr id="11" name="TextBox 10"/>
          <p:cNvSpPr txBox="1">
            <a:spLocks/>
          </p:cNvSpPr>
          <p:nvPr/>
        </p:nvSpPr>
        <p:spPr>
          <a:xfrm>
            <a:off x="7315200" y="5010912"/>
            <a:ext cx="3931920" cy="486287"/>
          </a:xfrm>
          <a:prstGeom prst="rect">
            <a:avLst/>
          </a:prstGeom>
          <a:noFill/>
        </p:spPr>
        <p:txBody>
          <a:bodyPr wrap="square" lIns="27432" tIns="27432" rIns="27432" bIns="27432" anchor="t">
            <a:spAutoFit/>
          </a:bodyPr>
          <a:lstStyle/>
          <a:p>
            <a:r>
              <a:rPr lang="en-GB" sz="1400" b="1">
                <a:solidFill>
                  <a:srgbClr val="D8E0EA"/>
                </a:solidFill>
              </a:rPr>
              <a:t>Teach ~55 min • reserve ~35 min for guided CLI activity and debrief</a:t>
            </a:r>
          </a:p>
        </p:txBody>
      </p:sp>
      <p:sp>
        <p:nvSpPr>
          <p:cNvPr id="12" name="TextBox 11"/>
          <p:cNvSpPr txBox="1">
            <a:spLocks/>
          </p:cNvSpPr>
          <p:nvPr/>
        </p:nvSpPr>
        <p:spPr>
          <a:xfrm>
            <a:off x="10424160" y="5715000"/>
            <a:ext cx="731520" cy="363176"/>
          </a:xfrm>
          <a:prstGeom prst="rect">
            <a:avLst/>
          </a:prstGeom>
          <a:noFill/>
        </p:spPr>
        <p:txBody>
          <a:bodyPr wrap="square" lIns="27432" tIns="27432" rIns="27432" bIns="27432" anchor="t">
            <a:spAutoFit/>
          </a:bodyPr>
          <a:lstStyle/>
          <a:p>
            <a:pPr algn="r">
              <a:spcAft>
                <a:spcPts val="0"/>
              </a:spcAft>
            </a:pPr>
            <a:r>
              <a:rPr lang="en-HU" sz="2000" b="1">
                <a:solidFill>
                  <a:srgbClr val="E60012"/>
                </a:solidFill>
              </a:rPr>
              <a:t>014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2000"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p:nvPr/>
        </p:nvSpPr>
        <p:spPr>
          <a:xfrm>
            <a:off x="502920" y="219456"/>
            <a:ext cx="3657600" cy="146304"/>
          </a:xfrm>
          <a:prstGeom prst="rect">
            <a:avLst/>
          </a:prstGeom>
          <a:noFill/>
        </p:spPr>
        <p:txBody>
          <a:bodyPr wrap="square" lIns="36576" tIns="36576" rIns="36576" bIns="36576" anchor="t">
            <a:spAutoFit/>
          </a:bodyPr>
          <a:lstStyle/>
          <a:p>
            <a:pPr algn="l"/>
            <a:r>
              <a:rPr sz="750" b="1">
                <a:solidFill>
                  <a:srgbClr val="687385"/>
                </a:solidFill>
              </a:rPr>
              <a:t>FORTIGATE ADMINISTRATOR COURSE</a:t>
            </a:r>
          </a:p>
        </p:txBody>
      </p:sp>
      <p:sp>
        <p:nvSpPr>
          <p:cNvPr id="4" name="TextBox 3"/>
          <p:cNvSpPr txBox="1"/>
          <p:nvPr/>
        </p:nvSpPr>
        <p:spPr>
          <a:xfrm>
            <a:off x="502920" y="420624"/>
            <a:ext cx="10744200" cy="128016"/>
          </a:xfrm>
          <a:prstGeom prst="rect">
            <a:avLst/>
          </a:prstGeom>
          <a:noFill/>
        </p:spPr>
        <p:txBody>
          <a:bodyPr wrap="square" lIns="36576" tIns="36576" rIns="36576" bIns="36576" anchor="t">
            <a:spAutoFit/>
          </a:bodyPr>
          <a:lstStyle/>
          <a:p>
            <a:pPr algn="l"/>
            <a:r>
              <a:rPr sz="850" b="1">
                <a:solidFill>
                  <a:srgbClr val="687385"/>
                </a:solidFill>
              </a:rPr>
              <a:t>015 • DAY 1 • BLOCK 02 • Introduction &amp; Initial Configuration</a:t>
            </a:r>
          </a:p>
        </p:txBody>
      </p:sp>
      <p:sp>
        <p:nvSpPr>
          <p:cNvPr id="5" name="TextBox 4"/>
          <p:cNvSpPr txBox="1"/>
          <p:nvPr/>
        </p:nvSpPr>
        <p:spPr>
          <a:xfrm>
            <a:off x="502920" y="621792"/>
            <a:ext cx="11109960" cy="530352"/>
          </a:xfrm>
          <a:prstGeom prst="rect">
            <a:avLst/>
          </a:prstGeom>
          <a:noFill/>
        </p:spPr>
        <p:txBody>
          <a:bodyPr wrap="square" lIns="36576" tIns="36576" rIns="36576" bIns="36576" anchor="t">
            <a:spAutoFit/>
          </a:bodyPr>
          <a:lstStyle/>
          <a:p>
            <a:pPr algn="l"/>
            <a:r>
              <a:rPr sz="2600" b="1">
                <a:solidFill>
                  <a:srgbClr val="1E2B40"/>
                </a:solidFill>
              </a:rPr>
              <a:t>Reach the assigned FortiGate—and verify where you landed</a:t>
            </a:r>
          </a:p>
        </p:txBody>
      </p:sp>
      <p:sp>
        <p:nvSpPr>
          <p:cNvPr id="6" name="Rectangle 5"/>
          <p:cNvSpPr/>
          <p:nvPr/>
        </p:nvSpPr>
        <p:spPr>
          <a:xfrm>
            <a:off x="502920" y="6473952"/>
            <a:ext cx="11183112" cy="9144"/>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109960" y="6528816"/>
            <a:ext cx="502920" cy="164592"/>
          </a:xfrm>
          <a:prstGeom prst="rect">
            <a:avLst/>
          </a:prstGeom>
          <a:noFill/>
        </p:spPr>
        <p:txBody>
          <a:bodyPr wrap="square" lIns="36576" tIns="36576" rIns="36576" bIns="36576" anchor="t">
            <a:spAutoFit/>
          </a:bodyPr>
          <a:lstStyle/>
          <a:p>
            <a:pPr algn="r"/>
            <a:r>
              <a:rPr sz="750" b="0">
                <a:solidFill>
                  <a:srgbClr val="687385"/>
                </a:solidFill>
              </a:rPr>
              <a:t>15</a:t>
            </a:r>
          </a:p>
        </p:txBody>
      </p:sp>
      <p:sp>
        <p:nvSpPr>
          <p:cNvPr id="8" name="TextBox 7"/>
          <p:cNvSpPr txBox="1">
            <a:spLocks/>
          </p:cNvSpPr>
          <p:nvPr/>
        </p:nvSpPr>
        <p:spPr>
          <a:xfrm>
            <a:off x="658368" y="1417320"/>
            <a:ext cx="3291840" cy="243143"/>
          </a:xfrm>
          <a:prstGeom prst="rect">
            <a:avLst/>
          </a:prstGeom>
          <a:noFill/>
        </p:spPr>
        <p:txBody>
          <a:bodyPr wrap="square" lIns="36576" tIns="36576" rIns="36576" bIns="36576" anchor="t">
            <a:spAutoFit/>
          </a:bodyPr>
          <a:lstStyle/>
          <a:p>
            <a:pPr algn="l"/>
            <a:r>
              <a:rPr lang="en-GB" sz="1100" b="1">
                <a:solidFill>
                  <a:srgbClr val="E60012"/>
                </a:solidFill>
              </a:rPr>
              <a:t>ACCESS</a:t>
            </a:r>
          </a:p>
        </p:txBody>
      </p:sp>
      <p:sp>
        <p:nvSpPr>
          <p:cNvPr id="9" name="TextBox 8"/>
          <p:cNvSpPr txBox="1">
            <a:spLocks/>
          </p:cNvSpPr>
          <p:nvPr/>
        </p:nvSpPr>
        <p:spPr>
          <a:xfrm>
            <a:off x="658368" y="1783080"/>
            <a:ext cx="3383280" cy="1635319"/>
          </a:xfrm>
          <a:prstGeom prst="rect">
            <a:avLst/>
          </a:prstGeom>
          <a:noFill/>
        </p:spPr>
        <p:txBody>
          <a:bodyPr wrap="square" lIns="36576" tIns="27432" rIns="36576" bIns="27432">
            <a:spAutoFit/>
          </a:bodyPr>
          <a:lstStyle/>
          <a:p>
            <a:pPr>
              <a:spcAft>
                <a:spcPts val="400"/>
              </a:spcAft>
            </a:pPr>
            <a:r>
              <a:rPr lang="en-GB" sz="1600">
                <a:solidFill>
                  <a:srgbClr val="1E2B40"/>
                </a:solidFill>
              </a:rPr>
              <a:t>• GUI: https://&lt;student-N-access-url&gt;</a:t>
            </a:r>
          </a:p>
          <a:p>
            <a:pPr>
              <a:spcAft>
                <a:spcPts val="400"/>
              </a:spcAft>
            </a:pPr>
            <a:r>
              <a:rPr lang="en-GB" sz="1600">
                <a:solidFill>
                  <a:srgbClr val="1E2B40"/>
                </a:solidFill>
              </a:rPr>
              <a:t>• CLI: ssh &lt;username&gt;@&lt;student-N-target&gt;</a:t>
            </a:r>
          </a:p>
          <a:p>
            <a:pPr>
              <a:spcAft>
                <a:spcPts val="400"/>
              </a:spcAft>
            </a:pPr>
            <a:r>
              <a:rPr lang="en-GB" sz="1600">
                <a:solidFill>
                  <a:srgbClr val="1E2B40"/>
                </a:solidFill>
              </a:rPr>
              <a:t>• Guacamole: TBD—not yet documented</a:t>
            </a:r>
          </a:p>
        </p:txBody>
      </p:sp>
      <p:sp>
        <p:nvSpPr>
          <p:cNvPr id="10" name="TextBox 9"/>
          <p:cNvSpPr txBox="1">
            <a:spLocks/>
          </p:cNvSpPr>
          <p:nvPr/>
        </p:nvSpPr>
        <p:spPr>
          <a:xfrm>
            <a:off x="4251960" y="1417320"/>
            <a:ext cx="3017520" cy="256032"/>
          </a:xfrm>
          <a:prstGeom prst="rect">
            <a:avLst/>
          </a:prstGeom>
          <a:noFill/>
        </p:spPr>
        <p:txBody>
          <a:bodyPr wrap="square" lIns="36576" tIns="36576" rIns="36576" bIns="36576" anchor="t">
            <a:spAutoFit/>
          </a:bodyPr>
          <a:lstStyle/>
          <a:p>
            <a:pPr algn="l"/>
            <a:r>
              <a:rPr lang="en-GB" sz="1100" b="1">
                <a:solidFill>
                  <a:srgbClr val="E60012"/>
                </a:solidFill>
              </a:rPr>
              <a:t>IDENTIFY</a:t>
            </a:r>
          </a:p>
        </p:txBody>
      </p:sp>
      <p:sp>
        <p:nvSpPr>
          <p:cNvPr id="11" name="Rectangle 10"/>
          <p:cNvSpPr>
            <a:spLocks/>
          </p:cNvSpPr>
          <p:nvPr/>
        </p:nvSpPr>
        <p:spPr>
          <a:xfrm>
            <a:off x="4251960" y="1783080"/>
            <a:ext cx="2834640" cy="502920"/>
          </a:xfrm>
          <a:prstGeom prst="rect">
            <a:avLst/>
          </a:prstGeom>
          <a:solidFill>
            <a:srgbClr val="1E2B40"/>
          </a:solidFill>
          <a:ln>
            <a:no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t"/>
          <a:lstStyle/>
          <a:p>
            <a:pPr algn="l"/>
            <a:r>
              <a:rPr lang="en-GB" sz="1800" b="1">
                <a:solidFill>
                  <a:srgbClr val="E6ECF4"/>
                </a:solidFill>
                <a:latin typeface="Consolas"/>
              </a:rPr>
              <a:t>get system status</a:t>
            </a:r>
          </a:p>
        </p:txBody>
      </p:sp>
      <p:sp>
        <p:nvSpPr>
          <p:cNvPr id="12" name="TextBox 11"/>
          <p:cNvSpPr txBox="1"/>
          <p:nvPr/>
        </p:nvSpPr>
        <p:spPr>
          <a:xfrm>
            <a:off x="4251960" y="2514600"/>
            <a:ext cx="2971800" cy="2011680"/>
          </a:xfrm>
          <a:prstGeom prst="rect">
            <a:avLst/>
          </a:prstGeom>
          <a:noFill/>
        </p:spPr>
        <p:txBody>
          <a:bodyPr wrap="square" lIns="36576" tIns="27432" rIns="36576" bIns="27432">
            <a:spAutoFit/>
          </a:bodyPr>
          <a:lstStyle/>
          <a:p>
            <a:pPr>
              <a:spcAft>
                <a:spcPts val="400"/>
              </a:spcAft>
            </a:pPr>
            <a:r>
              <a:rPr sz="1500">
                <a:solidFill>
                  <a:srgbClr val="1E2B40"/>
                </a:solidFill>
              </a:rPr>
              <a:t>• Confirm FortiOS v7.6.7</a:t>
            </a:r>
          </a:p>
          <a:p>
            <a:pPr>
              <a:spcAft>
                <a:spcPts val="400"/>
              </a:spcAft>
            </a:pPr>
            <a:r>
              <a:rPr sz="1500">
                <a:solidFill>
                  <a:srgbClr val="1E2B40"/>
                </a:solidFill>
              </a:rPr>
              <a:t>• Confirm hostname, serial/model and mode</a:t>
            </a:r>
          </a:p>
          <a:p>
            <a:pPr>
              <a:spcAft>
                <a:spcPts val="400"/>
              </a:spcAft>
            </a:pPr>
            <a:r>
              <a:rPr sz="1500">
                <a:solidFill>
                  <a:srgbClr val="1E2B40"/>
                </a:solidFill>
              </a:rPr>
              <a:t>• Use only your assigned Student N appliance</a:t>
            </a:r>
          </a:p>
        </p:txBody>
      </p:sp>
      <p:sp>
        <p:nvSpPr>
          <p:cNvPr id="13" name="TextBox 12"/>
          <p:cNvSpPr txBox="1">
            <a:spLocks/>
          </p:cNvSpPr>
          <p:nvPr/>
        </p:nvSpPr>
        <p:spPr>
          <a:xfrm>
            <a:off x="7726679" y="1417320"/>
            <a:ext cx="3383280" cy="256032"/>
          </a:xfrm>
          <a:prstGeom prst="rect">
            <a:avLst/>
          </a:prstGeom>
          <a:noFill/>
        </p:spPr>
        <p:txBody>
          <a:bodyPr wrap="square" lIns="36576" tIns="36576" rIns="36576" bIns="36576" anchor="t">
            <a:spAutoFit/>
          </a:bodyPr>
          <a:lstStyle/>
          <a:p>
            <a:pPr algn="l"/>
            <a:r>
              <a:rPr lang="en-GB" sz="1100" b="1">
                <a:solidFill>
                  <a:srgbClr val="E60012"/>
                </a:solidFill>
              </a:rPr>
              <a:t>LAB IDENTITY</a:t>
            </a:r>
          </a:p>
        </p:txBody>
      </p:sp>
      <p:sp>
        <p:nvSpPr>
          <p:cNvPr id="14" name="TextBox 13"/>
          <p:cNvSpPr txBox="1">
            <a:spLocks/>
          </p:cNvSpPr>
          <p:nvPr/>
        </p:nvSpPr>
        <p:spPr>
          <a:xfrm>
            <a:off x="7726679" y="1783080"/>
            <a:ext cx="3429000" cy="1194173"/>
          </a:xfrm>
          <a:prstGeom prst="rect">
            <a:avLst/>
          </a:prstGeom>
          <a:noFill/>
        </p:spPr>
        <p:txBody>
          <a:bodyPr wrap="square" lIns="36576" tIns="27432" rIns="36576" bIns="27432">
            <a:spAutoFit/>
          </a:bodyPr>
          <a:lstStyle/>
          <a:p>
            <a:pPr>
              <a:spcAft>
                <a:spcPts val="400"/>
              </a:spcAft>
            </a:pPr>
            <a:r>
              <a:rPr lang="en-GB" sz="1600">
                <a:solidFill>
                  <a:srgbClr val="1E2B40"/>
                </a:solidFill>
              </a:rPr>
              <a:t>port1  10.N.0.4</a:t>
            </a:r>
          </a:p>
          <a:p>
            <a:pPr>
              <a:spcAft>
                <a:spcPts val="400"/>
              </a:spcAft>
            </a:pPr>
            <a:r>
              <a:rPr lang="en-GB" sz="1600">
                <a:solidFill>
                  <a:srgbClr val="1E2B40"/>
                </a:solidFill>
              </a:rPr>
              <a:t>port2  10.N.10.4</a:t>
            </a:r>
          </a:p>
          <a:p>
            <a:pPr>
              <a:spcAft>
                <a:spcPts val="400"/>
              </a:spcAft>
            </a:pPr>
            <a:r>
              <a:rPr lang="en-GB" sz="1600">
                <a:solidFill>
                  <a:srgbClr val="1E2B40"/>
                </a:solidFill>
              </a:rPr>
              <a:t>port3  10.N.20.4</a:t>
            </a:r>
          </a:p>
          <a:p>
            <a:pPr>
              <a:spcAft>
                <a:spcPts val="400"/>
              </a:spcAft>
            </a:pPr>
            <a:r>
              <a:rPr lang="en-GB" sz="1600">
                <a:solidFill>
                  <a:srgbClr val="1E2B40"/>
                </a:solidFill>
              </a:rPr>
              <a:t>client 10.N.10.10 • DMZ 10.N.20.10</a:t>
            </a:r>
          </a:p>
        </p:txBody>
      </p:sp>
      <p:sp>
        <p:nvSpPr>
          <p:cNvPr id="15" name="TextBox 14"/>
          <p:cNvSpPr txBox="1"/>
          <p:nvPr/>
        </p:nvSpPr>
        <p:spPr>
          <a:xfrm>
            <a:off x="658368" y="5650992"/>
            <a:ext cx="10469880" cy="347472"/>
          </a:xfrm>
          <a:prstGeom prst="rect">
            <a:avLst/>
          </a:prstGeom>
          <a:noFill/>
        </p:spPr>
        <p:txBody>
          <a:bodyPr wrap="square" lIns="36576" tIns="36576" rIns="36576" bIns="36576" anchor="t">
            <a:spAutoFit/>
          </a:bodyPr>
          <a:lstStyle/>
          <a:p>
            <a:pPr algn="l"/>
            <a:r>
              <a:rPr sz="1500" b="1">
                <a:solidFill>
                  <a:srgbClr val="E60012"/>
                </a:solidFill>
              </a:rPr>
              <a:t>Stop if the prompt, hostname or addresses do not match the assigned pod.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2000"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p:nvPr/>
        </p:nvSpPr>
        <p:spPr>
          <a:xfrm>
            <a:off x="502920" y="219456"/>
            <a:ext cx="3657600" cy="146304"/>
          </a:xfrm>
          <a:prstGeom prst="rect">
            <a:avLst/>
          </a:prstGeom>
          <a:noFill/>
        </p:spPr>
        <p:txBody>
          <a:bodyPr wrap="square" lIns="36576" tIns="36576" rIns="36576" bIns="36576" anchor="t">
            <a:spAutoFit/>
          </a:bodyPr>
          <a:lstStyle/>
          <a:p>
            <a:pPr algn="l"/>
            <a:r>
              <a:rPr sz="750" b="1">
                <a:solidFill>
                  <a:srgbClr val="687385"/>
                </a:solidFill>
              </a:rPr>
              <a:t>FORTIGATE ADMINISTRATOR COURSE</a:t>
            </a:r>
          </a:p>
        </p:txBody>
      </p:sp>
      <p:sp>
        <p:nvSpPr>
          <p:cNvPr id="4" name="TextBox 3"/>
          <p:cNvSpPr txBox="1"/>
          <p:nvPr/>
        </p:nvSpPr>
        <p:spPr>
          <a:xfrm>
            <a:off x="502920" y="420624"/>
            <a:ext cx="10744200" cy="128016"/>
          </a:xfrm>
          <a:prstGeom prst="rect">
            <a:avLst/>
          </a:prstGeom>
          <a:noFill/>
        </p:spPr>
        <p:txBody>
          <a:bodyPr wrap="square" lIns="36576" tIns="36576" rIns="36576" bIns="36576" anchor="t">
            <a:spAutoFit/>
          </a:bodyPr>
          <a:lstStyle/>
          <a:p>
            <a:pPr algn="l"/>
            <a:r>
              <a:rPr sz="850" b="1">
                <a:solidFill>
                  <a:srgbClr val="687385"/>
                </a:solidFill>
              </a:rPr>
              <a:t>016 • DAY 1 • BLOCK 02 • Introduction &amp; Initial Configuration</a:t>
            </a:r>
          </a:p>
        </p:txBody>
      </p:sp>
      <p:sp>
        <p:nvSpPr>
          <p:cNvPr id="5" name="TextBox 4"/>
          <p:cNvSpPr txBox="1"/>
          <p:nvPr/>
        </p:nvSpPr>
        <p:spPr>
          <a:xfrm>
            <a:off x="502920" y="621792"/>
            <a:ext cx="11109960" cy="530352"/>
          </a:xfrm>
          <a:prstGeom prst="rect">
            <a:avLst/>
          </a:prstGeom>
          <a:noFill/>
        </p:spPr>
        <p:txBody>
          <a:bodyPr wrap="square" lIns="36576" tIns="36576" rIns="36576" bIns="36576" anchor="t">
            <a:spAutoFit/>
          </a:bodyPr>
          <a:lstStyle/>
          <a:p>
            <a:pPr algn="l"/>
            <a:r>
              <a:rPr sz="2600" b="1">
                <a:solidFill>
                  <a:srgbClr val="1E2B40"/>
                </a:solidFill>
              </a:rPr>
              <a:t>The FortiGate CLI is not the Linux shell</a:t>
            </a:r>
          </a:p>
        </p:txBody>
      </p:sp>
      <p:sp>
        <p:nvSpPr>
          <p:cNvPr id="6" name="Rectangle 5"/>
          <p:cNvSpPr/>
          <p:nvPr/>
        </p:nvSpPr>
        <p:spPr>
          <a:xfrm>
            <a:off x="502920" y="6473952"/>
            <a:ext cx="11183112" cy="9144"/>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109960" y="6528816"/>
            <a:ext cx="502920" cy="164592"/>
          </a:xfrm>
          <a:prstGeom prst="rect">
            <a:avLst/>
          </a:prstGeom>
          <a:noFill/>
        </p:spPr>
        <p:txBody>
          <a:bodyPr wrap="square" lIns="36576" tIns="36576" rIns="36576" bIns="36576" anchor="t">
            <a:spAutoFit/>
          </a:bodyPr>
          <a:lstStyle/>
          <a:p>
            <a:pPr algn="r"/>
            <a:r>
              <a:rPr sz="750" b="0">
                <a:solidFill>
                  <a:srgbClr val="687385"/>
                </a:solidFill>
              </a:rPr>
              <a:t>16</a:t>
            </a:r>
          </a:p>
        </p:txBody>
      </p:sp>
      <p:sp>
        <p:nvSpPr>
          <p:cNvPr id="8" name="TextBox 7"/>
          <p:cNvSpPr txBox="1">
            <a:spLocks/>
          </p:cNvSpPr>
          <p:nvPr/>
        </p:nvSpPr>
        <p:spPr>
          <a:xfrm>
            <a:off x="658368" y="1508760"/>
            <a:ext cx="5321808" cy="258532"/>
          </a:xfrm>
          <a:prstGeom prst="rect">
            <a:avLst/>
          </a:prstGeom>
          <a:noFill/>
        </p:spPr>
        <p:txBody>
          <a:bodyPr wrap="square" lIns="36576" tIns="36576" rIns="36576" bIns="36576" anchor="t">
            <a:spAutoFit/>
          </a:bodyPr>
          <a:lstStyle/>
          <a:p>
            <a:pPr algn="l"/>
            <a:r>
              <a:rPr lang="en-GB" sz="1200" b="1">
                <a:solidFill>
                  <a:srgbClr val="E60012"/>
                </a:solidFill>
              </a:rPr>
              <a:t>FORTIOS CLI</a:t>
            </a:r>
          </a:p>
        </p:txBody>
      </p:sp>
      <p:sp>
        <p:nvSpPr>
          <p:cNvPr id="9" name="TextBox 8"/>
          <p:cNvSpPr txBox="1">
            <a:spLocks/>
          </p:cNvSpPr>
          <p:nvPr/>
        </p:nvSpPr>
        <p:spPr>
          <a:xfrm>
            <a:off x="658368" y="1938528"/>
            <a:ext cx="5285232" cy="1517338"/>
          </a:xfrm>
          <a:prstGeom prst="rect">
            <a:avLst/>
          </a:prstGeom>
          <a:noFill/>
        </p:spPr>
        <p:txBody>
          <a:bodyPr wrap="square" lIns="36576" tIns="27432" rIns="36576" bIns="27432">
            <a:spAutoFit/>
          </a:bodyPr>
          <a:lstStyle/>
          <a:p>
            <a:pPr>
              <a:spcAft>
                <a:spcPts val="400"/>
              </a:spcAft>
            </a:pPr>
            <a:r>
              <a:rPr lang="en-GB" sz="1700">
                <a:solidFill>
                  <a:srgbClr val="1E2B40"/>
                </a:solidFill>
              </a:rPr>
              <a:t>• Prompt identifies the FortiGate context</a:t>
            </a:r>
          </a:p>
          <a:p>
            <a:pPr>
              <a:spcAft>
                <a:spcPts val="400"/>
              </a:spcAft>
            </a:pPr>
            <a:r>
              <a:rPr lang="en-GB" sz="1700">
                <a:solidFill>
                  <a:srgbClr val="1E2B40"/>
                </a:solidFill>
              </a:rPr>
              <a:t>• Commands include config, show, get, execute and diagnose</a:t>
            </a:r>
          </a:p>
          <a:p>
            <a:pPr>
              <a:spcAft>
                <a:spcPts val="400"/>
              </a:spcAft>
            </a:pPr>
            <a:r>
              <a:rPr lang="en-GB" sz="1700">
                <a:solidFill>
                  <a:srgbClr val="1E2B40"/>
                </a:solidFill>
              </a:rPr>
              <a:t>• Configuration is hierarchical—not files under /etc</a:t>
            </a:r>
          </a:p>
          <a:p>
            <a:pPr>
              <a:spcAft>
                <a:spcPts val="400"/>
              </a:spcAft>
            </a:pPr>
            <a:r>
              <a:rPr lang="en-GB" sz="1700">
                <a:solidFill>
                  <a:srgbClr val="1E2B40"/>
                </a:solidFill>
              </a:rPr>
              <a:t>• Use ? and context-aware completion</a:t>
            </a:r>
          </a:p>
        </p:txBody>
      </p:sp>
      <p:sp>
        <p:nvSpPr>
          <p:cNvPr id="10" name="TextBox 9"/>
          <p:cNvSpPr txBox="1">
            <a:spLocks/>
          </p:cNvSpPr>
          <p:nvPr/>
        </p:nvSpPr>
        <p:spPr>
          <a:xfrm>
            <a:off x="6236208" y="1508760"/>
            <a:ext cx="5303520" cy="258532"/>
          </a:xfrm>
          <a:prstGeom prst="rect">
            <a:avLst/>
          </a:prstGeom>
          <a:noFill/>
        </p:spPr>
        <p:txBody>
          <a:bodyPr wrap="square" lIns="36576" tIns="36576" rIns="36576" bIns="36576" anchor="t">
            <a:spAutoFit/>
          </a:bodyPr>
          <a:lstStyle/>
          <a:p>
            <a:pPr algn="l"/>
            <a:r>
              <a:rPr lang="en-GB" sz="1200" b="1">
                <a:solidFill>
                  <a:srgbClr val="E60012"/>
                </a:solidFill>
              </a:rPr>
              <a:t>LINUX CLIENT / DMZ SHELL</a:t>
            </a:r>
          </a:p>
        </p:txBody>
      </p:sp>
      <p:sp>
        <p:nvSpPr>
          <p:cNvPr id="11" name="TextBox 10"/>
          <p:cNvSpPr txBox="1"/>
          <p:nvPr/>
        </p:nvSpPr>
        <p:spPr>
          <a:xfrm>
            <a:off x="6236208" y="1938528"/>
            <a:ext cx="5285232" cy="2926080"/>
          </a:xfrm>
          <a:prstGeom prst="rect">
            <a:avLst/>
          </a:prstGeom>
          <a:noFill/>
        </p:spPr>
        <p:txBody>
          <a:bodyPr wrap="square" lIns="36576" tIns="27432" rIns="36576" bIns="27432">
            <a:spAutoFit/>
          </a:bodyPr>
          <a:lstStyle/>
          <a:p>
            <a:pPr>
              <a:spcAft>
                <a:spcPts val="400"/>
              </a:spcAft>
            </a:pPr>
            <a:r>
              <a:rPr sz="1700">
                <a:solidFill>
                  <a:srgbClr val="1E2B40"/>
                </a:solidFill>
              </a:rPr>
              <a:t>• Prompt belongs to 10.N.10.10 or 10.N.20.10</a:t>
            </a:r>
          </a:p>
          <a:p>
            <a:pPr>
              <a:spcAft>
                <a:spcPts val="400"/>
              </a:spcAft>
            </a:pPr>
            <a:r>
              <a:rPr sz="1700">
                <a:solidFill>
                  <a:srgbClr val="1E2B40"/>
                </a:solidFill>
              </a:rPr>
              <a:t>• Commands include ip, ping, curl, dig and traceroute</a:t>
            </a:r>
          </a:p>
          <a:p>
            <a:pPr>
              <a:spcAft>
                <a:spcPts val="400"/>
              </a:spcAft>
            </a:pPr>
            <a:r>
              <a:rPr sz="1700">
                <a:solidFill>
                  <a:srgbClr val="1E2B40"/>
                </a:solidFill>
              </a:rPr>
              <a:t>• Generates traffic through the FortiGate</a:t>
            </a:r>
          </a:p>
          <a:p>
            <a:pPr>
              <a:spcAft>
                <a:spcPts val="400"/>
              </a:spcAft>
            </a:pPr>
            <a:r>
              <a:rPr sz="1700">
                <a:solidFill>
                  <a:srgbClr val="1E2B40"/>
                </a:solidFill>
              </a:rPr>
              <a:t>• Does not configure FortiOS</a:t>
            </a:r>
          </a:p>
        </p:txBody>
      </p:sp>
      <p:sp>
        <p:nvSpPr>
          <p:cNvPr id="12" name="TextBox 11"/>
          <p:cNvSpPr txBox="1">
            <a:spLocks/>
          </p:cNvSpPr>
          <p:nvPr/>
        </p:nvSpPr>
        <p:spPr>
          <a:xfrm>
            <a:off x="658368" y="5632704"/>
            <a:ext cx="10515600" cy="289310"/>
          </a:xfrm>
          <a:prstGeom prst="rect">
            <a:avLst/>
          </a:prstGeom>
          <a:noFill/>
        </p:spPr>
        <p:txBody>
          <a:bodyPr wrap="square" lIns="36576" tIns="36576" rIns="36576" bIns="36576" anchor="t">
            <a:spAutoFit/>
          </a:bodyPr>
          <a:lstStyle/>
          <a:p>
            <a:pPr algn="l"/>
            <a:r>
              <a:rPr lang="en-GB" sz="1400" b="1">
                <a:solidFill>
                  <a:srgbClr val="E60012"/>
                </a:solidFill>
              </a:rPr>
              <a:t>A successful FortiGate-local ping or telnet tests local-out traffic—not the student client’s forward policy.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2000"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p:nvPr/>
        </p:nvSpPr>
        <p:spPr>
          <a:xfrm>
            <a:off x="502920" y="219456"/>
            <a:ext cx="3657600" cy="146304"/>
          </a:xfrm>
          <a:prstGeom prst="rect">
            <a:avLst/>
          </a:prstGeom>
          <a:noFill/>
        </p:spPr>
        <p:txBody>
          <a:bodyPr wrap="square" lIns="36576" tIns="36576" rIns="36576" bIns="36576" anchor="t">
            <a:spAutoFit/>
          </a:bodyPr>
          <a:lstStyle/>
          <a:p>
            <a:pPr algn="l"/>
            <a:r>
              <a:rPr sz="750" b="1">
                <a:solidFill>
                  <a:srgbClr val="687385"/>
                </a:solidFill>
              </a:rPr>
              <a:t>FORTIGATE ADMINISTRATOR COURSE</a:t>
            </a:r>
          </a:p>
        </p:txBody>
      </p:sp>
      <p:sp>
        <p:nvSpPr>
          <p:cNvPr id="4" name="TextBox 3"/>
          <p:cNvSpPr txBox="1"/>
          <p:nvPr/>
        </p:nvSpPr>
        <p:spPr>
          <a:xfrm>
            <a:off x="502920" y="420624"/>
            <a:ext cx="10744200" cy="128016"/>
          </a:xfrm>
          <a:prstGeom prst="rect">
            <a:avLst/>
          </a:prstGeom>
          <a:noFill/>
        </p:spPr>
        <p:txBody>
          <a:bodyPr wrap="square" lIns="36576" tIns="36576" rIns="36576" bIns="36576" anchor="t">
            <a:spAutoFit/>
          </a:bodyPr>
          <a:lstStyle/>
          <a:p>
            <a:pPr algn="l"/>
            <a:r>
              <a:rPr sz="850" b="1">
                <a:solidFill>
                  <a:srgbClr val="687385"/>
                </a:solidFill>
              </a:rPr>
              <a:t>017 • DAY 1 • BLOCK 02 • Introduction &amp; Initial Configuration</a:t>
            </a:r>
          </a:p>
        </p:txBody>
      </p:sp>
      <p:sp>
        <p:nvSpPr>
          <p:cNvPr id="5" name="TextBox 4"/>
          <p:cNvSpPr txBox="1"/>
          <p:nvPr/>
        </p:nvSpPr>
        <p:spPr>
          <a:xfrm>
            <a:off x="502920" y="621792"/>
            <a:ext cx="11109960" cy="530352"/>
          </a:xfrm>
          <a:prstGeom prst="rect">
            <a:avLst/>
          </a:prstGeom>
          <a:noFill/>
        </p:spPr>
        <p:txBody>
          <a:bodyPr wrap="square" lIns="36576" tIns="36576" rIns="36576" bIns="36576" anchor="t">
            <a:spAutoFit/>
          </a:bodyPr>
          <a:lstStyle/>
          <a:p>
            <a:pPr algn="l"/>
            <a:r>
              <a:rPr sz="2600" b="1">
                <a:solidFill>
                  <a:srgbClr val="1E2B40"/>
                </a:solidFill>
              </a:rPr>
              <a:t>Command families signal intent—but not safety</a:t>
            </a:r>
          </a:p>
        </p:txBody>
      </p:sp>
      <p:sp>
        <p:nvSpPr>
          <p:cNvPr id="6" name="Rectangle 5"/>
          <p:cNvSpPr/>
          <p:nvPr/>
        </p:nvSpPr>
        <p:spPr>
          <a:xfrm>
            <a:off x="502920" y="6473952"/>
            <a:ext cx="11183112" cy="9144"/>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109960" y="6528816"/>
            <a:ext cx="502920" cy="164592"/>
          </a:xfrm>
          <a:prstGeom prst="rect">
            <a:avLst/>
          </a:prstGeom>
          <a:noFill/>
        </p:spPr>
        <p:txBody>
          <a:bodyPr wrap="square" lIns="36576" tIns="36576" rIns="36576" bIns="36576" anchor="t">
            <a:spAutoFit/>
          </a:bodyPr>
          <a:lstStyle/>
          <a:p>
            <a:pPr algn="r"/>
            <a:r>
              <a:rPr sz="750" b="0">
                <a:solidFill>
                  <a:srgbClr val="687385"/>
                </a:solidFill>
              </a:rPr>
              <a:t>17</a:t>
            </a:r>
          </a:p>
        </p:txBody>
      </p:sp>
      <p:graphicFrame>
        <p:nvGraphicFramePr>
          <p:cNvPr id="8" name="Table 7"/>
          <p:cNvGraphicFramePr>
            <a:graphicFrameLocks noGrp="1"/>
          </p:cNvGraphicFramePr>
          <p:nvPr/>
        </p:nvGraphicFramePr>
        <p:xfrm>
          <a:off x="658368" y="1417320"/>
          <a:ext cx="10881360" cy="4251960"/>
        </p:xfrm>
        <a:graphic>
          <a:graphicData uri="http://schemas.openxmlformats.org/drawingml/2006/table">
            <a:tbl>
              <a:tblPr firstRow="1" bandRow="1">
                <a:tableStyleId>{5C22544A-7EE6-4342-B048-85BDC9FD1C3A}</a:tableStyleId>
              </a:tblPr>
              <a:tblGrid>
                <a:gridCol w="1325880">
                  <a:extLst>
                    <a:ext uri="{9D8B030D-6E8A-4147-A177-3AD203B41FA5}">
                      <a16:colId xmlns:a16="http://schemas.microsoft.com/office/drawing/2014/main" val="20000"/>
                    </a:ext>
                  </a:extLst>
                </a:gridCol>
                <a:gridCol w="297180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tblGrid>
              <a:tr h="708660">
                <a:tc>
                  <a:txBody>
                    <a:bodyPr/>
                    <a:lstStyle/>
                    <a:p>
                      <a:r>
                        <a:rPr sz="1100" b="1">
                          <a:solidFill>
                            <a:srgbClr val="FFFFFF"/>
                          </a:solidFill>
                        </a:rPr>
                        <a:t>FAMILY</a:t>
                      </a:r>
                    </a:p>
                  </a:txBody>
                  <a:tcPr marL="64008" marR="64008">
                    <a:solidFill>
                      <a:srgbClr val="1E2B40"/>
                    </a:solidFill>
                  </a:tcPr>
                </a:tc>
                <a:tc>
                  <a:txBody>
                    <a:bodyPr/>
                    <a:lstStyle/>
                    <a:p>
                      <a:r>
                        <a:rPr sz="1100" b="1">
                          <a:solidFill>
                            <a:srgbClr val="FFFFFF"/>
                          </a:solidFill>
                        </a:rPr>
                        <a:t>PRIMARY USE</a:t>
                      </a:r>
                    </a:p>
                  </a:txBody>
                  <a:tcPr marL="64008" marR="64008">
                    <a:solidFill>
                      <a:srgbClr val="1E2B40"/>
                    </a:solidFill>
                  </a:tcPr>
                </a:tc>
                <a:tc>
                  <a:txBody>
                    <a:bodyPr/>
                    <a:lstStyle/>
                    <a:p>
                      <a:r>
                        <a:rPr sz="1100" b="1">
                          <a:solidFill>
                            <a:srgbClr val="FFFFFF"/>
                          </a:solidFill>
                        </a:rPr>
                        <a:t>7.6.7 EXAMPLE</a:t>
                      </a:r>
                    </a:p>
                  </a:txBody>
                  <a:tcPr marL="64008" marR="64008">
                    <a:solidFill>
                      <a:srgbClr val="1E2B40"/>
                    </a:solidFill>
                  </a:tcPr>
                </a:tc>
                <a:tc>
                  <a:txBody>
                    <a:bodyPr/>
                    <a:lstStyle/>
                    <a:p>
                      <a:r>
                        <a:rPr sz="1100" b="1">
                          <a:solidFill>
                            <a:srgbClr val="FFFFFF"/>
                          </a:solidFill>
                        </a:rPr>
                        <a:t>CLASS</a:t>
                      </a:r>
                    </a:p>
                  </a:txBody>
                  <a:tcPr marL="64008" marR="64008">
                    <a:solidFill>
                      <a:srgbClr val="1E2B40"/>
                    </a:solidFill>
                  </a:tcPr>
                </a:tc>
                <a:extLst>
                  <a:ext uri="{0D108BD9-81ED-4DB2-BD59-A6C34878D82A}">
                    <a16:rowId xmlns:a16="http://schemas.microsoft.com/office/drawing/2014/main" val="10000"/>
                  </a:ext>
                </a:extLst>
              </a:tr>
              <a:tr h="708660">
                <a:tc>
                  <a:txBody>
                    <a:bodyPr/>
                    <a:lstStyle/>
                    <a:p>
                      <a:r>
                        <a:rPr sz="1200" b="1">
                          <a:solidFill>
                            <a:srgbClr val="1E2B40"/>
                          </a:solidFill>
                        </a:rPr>
                        <a:t>config</a:t>
                      </a:r>
                    </a:p>
                  </a:txBody>
                  <a:tcPr marL="64008" marR="64008">
                    <a:solidFill>
                      <a:srgbClr val="FFFFFF"/>
                    </a:solidFill>
                  </a:tcPr>
                </a:tc>
                <a:tc>
                  <a:txBody>
                    <a:bodyPr/>
                    <a:lstStyle/>
                    <a:p>
                      <a:r>
                        <a:rPr sz="1200" b="0">
                          <a:solidFill>
                            <a:srgbClr val="1E2B40"/>
                          </a:solidFill>
                        </a:rPr>
                        <a:t>Enter configuration context</a:t>
                      </a:r>
                    </a:p>
                  </a:txBody>
                  <a:tcPr marL="64008" marR="64008">
                    <a:solidFill>
                      <a:srgbClr val="FFFFFF"/>
                    </a:solidFill>
                  </a:tcPr>
                </a:tc>
                <a:tc>
                  <a:txBody>
                    <a:bodyPr/>
                    <a:lstStyle/>
                    <a:p>
                      <a:r>
                        <a:rPr sz="1200" b="0">
                          <a:solidFill>
                            <a:srgbClr val="1E2B40"/>
                          </a:solidFill>
                          <a:latin typeface="Consolas"/>
                        </a:rPr>
                        <a:t>config firewall address</a:t>
                      </a:r>
                    </a:p>
                  </a:txBody>
                  <a:tcPr marL="64008" marR="64008">
                    <a:solidFill>
                      <a:srgbClr val="FFFFFF"/>
                    </a:solidFill>
                  </a:tcPr>
                </a:tc>
                <a:tc>
                  <a:txBody>
                    <a:bodyPr/>
                    <a:lstStyle/>
                    <a:p>
                      <a:r>
                        <a:rPr sz="1200" b="0">
                          <a:solidFill>
                            <a:srgbClr val="E60012"/>
                          </a:solidFill>
                        </a:rPr>
                        <a:t>CONFIG CHANGE</a:t>
                      </a:r>
                    </a:p>
                  </a:txBody>
                  <a:tcPr marL="64008" marR="64008">
                    <a:solidFill>
                      <a:srgbClr val="FFFFFF"/>
                    </a:solidFill>
                  </a:tcPr>
                </a:tc>
                <a:extLst>
                  <a:ext uri="{0D108BD9-81ED-4DB2-BD59-A6C34878D82A}">
                    <a16:rowId xmlns:a16="http://schemas.microsoft.com/office/drawing/2014/main" val="10001"/>
                  </a:ext>
                </a:extLst>
              </a:tr>
              <a:tr h="708660">
                <a:tc>
                  <a:txBody>
                    <a:bodyPr/>
                    <a:lstStyle/>
                    <a:p>
                      <a:r>
                        <a:rPr sz="1200" b="1">
                          <a:solidFill>
                            <a:srgbClr val="1E2B40"/>
                          </a:solidFill>
                        </a:rPr>
                        <a:t>show</a:t>
                      </a:r>
                    </a:p>
                  </a:txBody>
                  <a:tcPr marL="64008" marR="64008">
                    <a:solidFill>
                      <a:srgbClr val="FFFFFF"/>
                    </a:solidFill>
                  </a:tcPr>
                </a:tc>
                <a:tc>
                  <a:txBody>
                    <a:bodyPr/>
                    <a:lstStyle/>
                    <a:p>
                      <a:r>
                        <a:rPr sz="1200" b="0">
                          <a:solidFill>
                            <a:srgbClr val="1E2B40"/>
                          </a:solidFill>
                        </a:rPr>
                        <a:t>Inspect configuration</a:t>
                      </a:r>
                    </a:p>
                  </a:txBody>
                  <a:tcPr marL="64008" marR="64008">
                    <a:solidFill>
                      <a:srgbClr val="FFFFFF"/>
                    </a:solidFill>
                  </a:tcPr>
                </a:tc>
                <a:tc>
                  <a:txBody>
                    <a:bodyPr/>
                    <a:lstStyle/>
                    <a:p>
                      <a:r>
                        <a:rPr sz="1200" b="0">
                          <a:solidFill>
                            <a:srgbClr val="1E2B40"/>
                          </a:solidFill>
                          <a:latin typeface="Consolas"/>
                        </a:rPr>
                        <a:t>show system interface port2</a:t>
                      </a:r>
                    </a:p>
                  </a:txBody>
                  <a:tcPr marL="64008" marR="64008">
                    <a:solidFill>
                      <a:srgbClr val="FFFFFF"/>
                    </a:solidFill>
                  </a:tcPr>
                </a:tc>
                <a:tc>
                  <a:txBody>
                    <a:bodyPr/>
                    <a:lstStyle/>
                    <a:p>
                      <a:r>
                        <a:rPr sz="1200" b="0">
                          <a:solidFill>
                            <a:srgbClr val="E60012"/>
                          </a:solidFill>
                        </a:rPr>
                        <a:t>INSPECTION</a:t>
                      </a:r>
                    </a:p>
                  </a:txBody>
                  <a:tcPr marL="64008" marR="64008">
                    <a:solidFill>
                      <a:srgbClr val="FFFFFF"/>
                    </a:solidFill>
                  </a:tcPr>
                </a:tc>
                <a:extLst>
                  <a:ext uri="{0D108BD9-81ED-4DB2-BD59-A6C34878D82A}">
                    <a16:rowId xmlns:a16="http://schemas.microsoft.com/office/drawing/2014/main" val="10002"/>
                  </a:ext>
                </a:extLst>
              </a:tr>
              <a:tr h="708660">
                <a:tc>
                  <a:txBody>
                    <a:bodyPr/>
                    <a:lstStyle/>
                    <a:p>
                      <a:r>
                        <a:rPr sz="1200" b="1">
                          <a:solidFill>
                            <a:srgbClr val="1E2B40"/>
                          </a:solidFill>
                        </a:rPr>
                        <a:t>get</a:t>
                      </a:r>
                    </a:p>
                  </a:txBody>
                  <a:tcPr marL="64008" marR="64008">
                    <a:solidFill>
                      <a:srgbClr val="FFFFFF"/>
                    </a:solidFill>
                  </a:tcPr>
                </a:tc>
                <a:tc>
                  <a:txBody>
                    <a:bodyPr/>
                    <a:lstStyle/>
                    <a:p>
                      <a:r>
                        <a:rPr sz="1200" b="0">
                          <a:solidFill>
                            <a:srgbClr val="1E2B40"/>
                          </a:solidFill>
                        </a:rPr>
                        <a:t>Settings or runtime, by path</a:t>
                      </a:r>
                    </a:p>
                  </a:txBody>
                  <a:tcPr marL="64008" marR="64008">
                    <a:solidFill>
                      <a:srgbClr val="FFFFFF"/>
                    </a:solidFill>
                  </a:tcPr>
                </a:tc>
                <a:tc>
                  <a:txBody>
                    <a:bodyPr/>
                    <a:lstStyle/>
                    <a:p>
                      <a:r>
                        <a:rPr sz="1200" b="0">
                          <a:solidFill>
                            <a:srgbClr val="1E2B40"/>
                          </a:solidFill>
                          <a:latin typeface="Consolas"/>
                        </a:rPr>
                        <a:t>get system status</a:t>
                      </a:r>
                    </a:p>
                  </a:txBody>
                  <a:tcPr marL="64008" marR="64008">
                    <a:solidFill>
                      <a:srgbClr val="FFFFFF"/>
                    </a:solidFill>
                  </a:tcPr>
                </a:tc>
                <a:tc>
                  <a:txBody>
                    <a:bodyPr/>
                    <a:lstStyle/>
                    <a:p>
                      <a:r>
                        <a:rPr sz="1200" b="0">
                          <a:solidFill>
                            <a:srgbClr val="E60012"/>
                          </a:solidFill>
                        </a:rPr>
                        <a:t>INSPECTION</a:t>
                      </a:r>
                    </a:p>
                  </a:txBody>
                  <a:tcPr marL="64008" marR="64008">
                    <a:solidFill>
                      <a:srgbClr val="FFFFFF"/>
                    </a:solidFill>
                  </a:tcPr>
                </a:tc>
                <a:extLst>
                  <a:ext uri="{0D108BD9-81ED-4DB2-BD59-A6C34878D82A}">
                    <a16:rowId xmlns:a16="http://schemas.microsoft.com/office/drawing/2014/main" val="10003"/>
                  </a:ext>
                </a:extLst>
              </a:tr>
              <a:tr h="708660">
                <a:tc>
                  <a:txBody>
                    <a:bodyPr/>
                    <a:lstStyle/>
                    <a:p>
                      <a:r>
                        <a:rPr sz="1200" b="1">
                          <a:solidFill>
                            <a:srgbClr val="1E2B40"/>
                          </a:solidFill>
                        </a:rPr>
                        <a:t>execute</a:t>
                      </a:r>
                    </a:p>
                  </a:txBody>
                  <a:tcPr marL="64008" marR="64008">
                    <a:solidFill>
                      <a:srgbClr val="FFFFFF"/>
                    </a:solidFill>
                  </a:tcPr>
                </a:tc>
                <a:tc>
                  <a:txBody>
                    <a:bodyPr/>
                    <a:lstStyle/>
                    <a:p>
                      <a:r>
                        <a:rPr sz="1200" b="0">
                          <a:solidFill>
                            <a:srgbClr val="1E2B40"/>
                          </a:solidFill>
                        </a:rPr>
                        <a:t>Perform an operational action</a:t>
                      </a:r>
                    </a:p>
                  </a:txBody>
                  <a:tcPr marL="64008" marR="64008">
                    <a:solidFill>
                      <a:srgbClr val="FFFFFF"/>
                    </a:solidFill>
                  </a:tcPr>
                </a:tc>
                <a:tc>
                  <a:txBody>
                    <a:bodyPr/>
                    <a:lstStyle/>
                    <a:p>
                      <a:r>
                        <a:rPr sz="1200" b="0">
                          <a:solidFill>
                            <a:srgbClr val="1E2B40"/>
                          </a:solidFill>
                          <a:latin typeface="Consolas"/>
                        </a:rPr>
                        <a:t>execute ping 10.0.40.4</a:t>
                      </a:r>
                    </a:p>
                  </a:txBody>
                  <a:tcPr marL="64008" marR="64008">
                    <a:solidFill>
                      <a:srgbClr val="FFFFFF"/>
                    </a:solidFill>
                  </a:tcPr>
                </a:tc>
                <a:tc>
                  <a:txBody>
                    <a:bodyPr/>
                    <a:lstStyle/>
                    <a:p>
                      <a:r>
                        <a:rPr sz="1200" b="0">
                          <a:solidFill>
                            <a:srgbClr val="E60012"/>
                          </a:solidFill>
                        </a:rPr>
                        <a:t>MAY CHANGE / DISRUPT</a:t>
                      </a:r>
                    </a:p>
                  </a:txBody>
                  <a:tcPr marL="64008" marR="64008">
                    <a:solidFill>
                      <a:srgbClr val="FFFFFF"/>
                    </a:solidFill>
                  </a:tcPr>
                </a:tc>
                <a:extLst>
                  <a:ext uri="{0D108BD9-81ED-4DB2-BD59-A6C34878D82A}">
                    <a16:rowId xmlns:a16="http://schemas.microsoft.com/office/drawing/2014/main" val="10004"/>
                  </a:ext>
                </a:extLst>
              </a:tr>
              <a:tr h="708660">
                <a:tc>
                  <a:txBody>
                    <a:bodyPr/>
                    <a:lstStyle/>
                    <a:p>
                      <a:r>
                        <a:rPr sz="1200" b="1">
                          <a:solidFill>
                            <a:srgbClr val="1E2B40"/>
                          </a:solidFill>
                        </a:rPr>
                        <a:t>diagnose</a:t>
                      </a:r>
                    </a:p>
                  </a:txBody>
                  <a:tcPr marL="64008" marR="64008">
                    <a:solidFill>
                      <a:srgbClr val="FFFFFF"/>
                    </a:solidFill>
                  </a:tcPr>
                </a:tc>
                <a:tc>
                  <a:txBody>
                    <a:bodyPr/>
                    <a:lstStyle/>
                    <a:p>
                      <a:r>
                        <a:rPr sz="1200" b="0">
                          <a:solidFill>
                            <a:srgbClr val="1E2B40"/>
                          </a:solidFill>
                        </a:rPr>
                        <a:t>Inspect/debug internal operation</a:t>
                      </a:r>
                    </a:p>
                  </a:txBody>
                  <a:tcPr marL="64008" marR="64008">
                    <a:solidFill>
                      <a:srgbClr val="FFFFFF"/>
                    </a:solidFill>
                  </a:tcPr>
                </a:tc>
                <a:tc>
                  <a:txBody>
                    <a:bodyPr/>
                    <a:lstStyle/>
                    <a:p>
                      <a:r>
                        <a:rPr sz="1200" b="0">
                          <a:solidFill>
                            <a:srgbClr val="1E2B40"/>
                          </a:solidFill>
                          <a:latin typeface="Consolas"/>
                        </a:rPr>
                        <a:t>diagnose sys session list</a:t>
                      </a:r>
                    </a:p>
                  </a:txBody>
                  <a:tcPr marL="64008" marR="64008">
                    <a:solidFill>
                      <a:srgbClr val="FFFFFF"/>
                    </a:solidFill>
                  </a:tcPr>
                </a:tc>
                <a:tc>
                  <a:txBody>
                    <a:bodyPr/>
                    <a:lstStyle/>
                    <a:p>
                      <a:r>
                        <a:rPr sz="1200" b="0">
                          <a:solidFill>
                            <a:srgbClr val="E60012"/>
                          </a:solidFill>
                        </a:rPr>
                        <a:t>INSPECT OR DISRUPT</a:t>
                      </a:r>
                    </a:p>
                  </a:txBody>
                  <a:tcPr marL="64008" marR="64008">
                    <a:solidFill>
                      <a:srgbClr val="FFFFFF"/>
                    </a:solidFill>
                  </a:tcPr>
                </a:tc>
                <a:extLst>
                  <a:ext uri="{0D108BD9-81ED-4DB2-BD59-A6C34878D82A}">
                    <a16:rowId xmlns:a16="http://schemas.microsoft.com/office/drawing/2014/main" val="10005"/>
                  </a:ext>
                </a:extLst>
              </a:tr>
            </a:tbl>
          </a:graphicData>
        </a:graphic>
      </p:graphicFrame>
      <p:sp>
        <p:nvSpPr>
          <p:cNvPr id="9" name="TextBox 8"/>
          <p:cNvSpPr txBox="1">
            <a:spLocks/>
          </p:cNvSpPr>
          <p:nvPr/>
        </p:nvSpPr>
        <p:spPr>
          <a:xfrm>
            <a:off x="658368" y="5806440"/>
            <a:ext cx="10607040" cy="274320"/>
          </a:xfrm>
          <a:prstGeom prst="rect">
            <a:avLst/>
          </a:prstGeom>
          <a:noFill/>
        </p:spPr>
        <p:txBody>
          <a:bodyPr wrap="square" lIns="36576" tIns="36576" rIns="36576" bIns="36576" anchor="t">
            <a:spAutoFit/>
          </a:bodyPr>
          <a:lstStyle/>
          <a:p>
            <a:pPr algn="l"/>
            <a:r>
              <a:rPr lang="en-GB" sz="1300" b="1">
                <a:solidFill>
                  <a:srgbClr val="E60012"/>
                </a:solidFill>
              </a:rPr>
              <a:t>Read the complete command and parameters; family name alone never proves “read-only.”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1" cy="1"/>
          <a:chOff x="0" y="0"/>
          <a:chExt cx="1" cy="1"/>
        </a:xfrm>
      </p:grpSpPr>
      <p:sp>
        <p:nvSpPr>
          <p:cNvPr id="10" name="Rectangle 9"/>
          <p:cNvSpPr>
            <a:spLocks/>
          </p:cNvSpPr>
          <p:nvPr/>
        </p:nvSpPr>
        <p:spPr>
          <a:xfrm>
            <a:off x="658368" y="1572768"/>
            <a:ext cx="6629400" cy="4407408"/>
          </a:xfrm>
          <a:prstGeom prst="rect">
            <a:avLst/>
          </a:prstGeom>
          <a:solidFill>
            <a:srgbClr val="1E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2" name="Rectangle 1"/>
          <p:cNvSpPr/>
          <p:nvPr/>
        </p:nvSpPr>
        <p:spPr>
          <a:xfrm>
            <a:off x="0" y="0"/>
            <a:ext cx="12192000"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p:nvPr/>
        </p:nvSpPr>
        <p:spPr>
          <a:xfrm>
            <a:off x="502920" y="219456"/>
            <a:ext cx="3657600" cy="146304"/>
          </a:xfrm>
          <a:prstGeom prst="rect">
            <a:avLst/>
          </a:prstGeom>
          <a:noFill/>
        </p:spPr>
        <p:txBody>
          <a:bodyPr wrap="square" lIns="36576" tIns="36576" rIns="36576" bIns="36576" anchor="t">
            <a:spAutoFit/>
          </a:bodyPr>
          <a:lstStyle/>
          <a:p>
            <a:pPr algn="l"/>
            <a:r>
              <a:rPr sz="750" b="1">
                <a:solidFill>
                  <a:srgbClr val="687385"/>
                </a:solidFill>
              </a:rPr>
              <a:t>FORTIGATE ADMINISTRATOR COURSE</a:t>
            </a:r>
          </a:p>
        </p:txBody>
      </p:sp>
      <p:sp>
        <p:nvSpPr>
          <p:cNvPr id="4" name="TextBox 3"/>
          <p:cNvSpPr txBox="1"/>
          <p:nvPr/>
        </p:nvSpPr>
        <p:spPr>
          <a:xfrm>
            <a:off x="502920" y="420624"/>
            <a:ext cx="10744200" cy="128016"/>
          </a:xfrm>
          <a:prstGeom prst="rect">
            <a:avLst/>
          </a:prstGeom>
          <a:noFill/>
        </p:spPr>
        <p:txBody>
          <a:bodyPr wrap="square" lIns="36576" tIns="36576" rIns="36576" bIns="36576" anchor="t">
            <a:spAutoFit/>
          </a:bodyPr>
          <a:lstStyle/>
          <a:p>
            <a:pPr algn="l"/>
            <a:r>
              <a:rPr sz="850" b="1">
                <a:solidFill>
                  <a:srgbClr val="687385"/>
                </a:solidFill>
              </a:rPr>
              <a:t>018 • DAY 1 • BLOCK 02 • Introduction &amp; Initial Configuration</a:t>
            </a:r>
          </a:p>
        </p:txBody>
      </p:sp>
      <p:sp>
        <p:nvSpPr>
          <p:cNvPr id="5" name="TextBox 4"/>
          <p:cNvSpPr txBox="1"/>
          <p:nvPr/>
        </p:nvSpPr>
        <p:spPr>
          <a:xfrm>
            <a:off x="502920" y="621792"/>
            <a:ext cx="11109960" cy="530352"/>
          </a:xfrm>
          <a:prstGeom prst="rect">
            <a:avLst/>
          </a:prstGeom>
          <a:noFill/>
        </p:spPr>
        <p:txBody>
          <a:bodyPr wrap="square" lIns="36576" tIns="36576" rIns="36576" bIns="36576" anchor="t">
            <a:spAutoFit/>
          </a:bodyPr>
          <a:lstStyle/>
          <a:p>
            <a:pPr algn="l"/>
            <a:r>
              <a:rPr sz="2600" b="1">
                <a:solidFill>
                  <a:srgbClr val="1E2B40"/>
                </a:solidFill>
              </a:rPr>
              <a:t>Context transitions turn a safe object into configuration</a:t>
            </a:r>
          </a:p>
        </p:txBody>
      </p:sp>
      <p:sp>
        <p:nvSpPr>
          <p:cNvPr id="6" name="Rectangle 5"/>
          <p:cNvSpPr/>
          <p:nvPr/>
        </p:nvSpPr>
        <p:spPr>
          <a:xfrm>
            <a:off x="502920" y="6473952"/>
            <a:ext cx="11183112" cy="9144"/>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109960" y="6528816"/>
            <a:ext cx="502920" cy="164592"/>
          </a:xfrm>
          <a:prstGeom prst="rect">
            <a:avLst/>
          </a:prstGeom>
          <a:noFill/>
        </p:spPr>
        <p:txBody>
          <a:bodyPr wrap="square" lIns="36576" tIns="36576" rIns="36576" bIns="36576" anchor="t">
            <a:spAutoFit/>
          </a:bodyPr>
          <a:lstStyle/>
          <a:p>
            <a:pPr algn="r"/>
            <a:r>
              <a:rPr sz="750" b="0">
                <a:solidFill>
                  <a:srgbClr val="687385"/>
                </a:solidFill>
              </a:rPr>
              <a:t>18</a:t>
            </a:r>
          </a:p>
        </p:txBody>
      </p:sp>
      <p:sp>
        <p:nvSpPr>
          <p:cNvPr id="8" name="TextBox 7"/>
          <p:cNvSpPr txBox="1">
            <a:spLocks/>
          </p:cNvSpPr>
          <p:nvPr/>
        </p:nvSpPr>
        <p:spPr>
          <a:xfrm>
            <a:off x="749808" y="1417320"/>
            <a:ext cx="6263640" cy="228600"/>
          </a:xfrm>
          <a:prstGeom prst="rect">
            <a:avLst/>
          </a:prstGeom>
          <a:noFill/>
        </p:spPr>
        <p:txBody>
          <a:bodyPr wrap="square" lIns="36576" tIns="36576" rIns="36576" bIns="36576" anchor="t">
            <a:spAutoFit/>
          </a:bodyPr>
          <a:lstStyle/>
          <a:p>
            <a:pPr algn="l"/>
            <a:r>
              <a:rPr lang="en-GB" sz="1000" b="1">
                <a:solidFill>
                  <a:srgbClr val="E60012"/>
                </a:solidFill>
              </a:rPr>
              <a:t>ANNOTATED CLI • replace N with your pod number</a:t>
            </a:r>
          </a:p>
        </p:txBody>
      </p:sp>
      <p:sp>
        <p:nvSpPr>
          <p:cNvPr id="9" name="TextBox 8"/>
          <p:cNvSpPr txBox="1">
            <a:spLocks/>
          </p:cNvSpPr>
          <p:nvPr/>
        </p:nvSpPr>
        <p:spPr>
          <a:xfrm>
            <a:off x="749808" y="1755648"/>
            <a:ext cx="6446520" cy="1794337"/>
          </a:xfrm>
          <a:prstGeom prst="rect">
            <a:avLst/>
          </a:prstGeom>
          <a:noFill/>
        </p:spPr>
        <p:txBody>
          <a:bodyPr wrap="square" lIns="36576" tIns="27432" rIns="36576" bIns="27432">
            <a:spAutoFit/>
          </a:bodyPr>
          <a:lstStyle/>
          <a:p>
            <a:pPr>
              <a:spcAft>
                <a:spcPts val="300"/>
              </a:spcAft>
            </a:pPr>
            <a:r>
              <a:rPr lang="en-GB" sz="1400">
                <a:solidFill>
                  <a:srgbClr val="E6ECF4"/>
                </a:solidFill>
                <a:latin typeface="Consolas"/>
              </a:rPr>
              <a:t>config firewall address</a:t>
            </a:r>
          </a:p>
          <a:p>
            <a:pPr>
              <a:spcAft>
                <a:spcPts val="300"/>
              </a:spcAft>
            </a:pPr>
            <a:r>
              <a:rPr lang="en-GB" sz="1400">
                <a:solidFill>
                  <a:srgbClr val="E6ECF4"/>
                </a:solidFill>
                <a:latin typeface="Consolas"/>
              </a:rPr>
              <a:t>    edit "student0N-temp-cli"</a:t>
            </a:r>
          </a:p>
          <a:p>
            <a:pPr>
              <a:spcAft>
                <a:spcPts val="300"/>
              </a:spcAft>
            </a:pPr>
            <a:r>
              <a:rPr lang="en-GB" sz="1400">
                <a:solidFill>
                  <a:srgbClr val="E6ECF4"/>
                </a:solidFill>
                <a:latin typeface="Consolas"/>
              </a:rPr>
              <a:t>        set subnet 10.N.10.10 255.255.255.255</a:t>
            </a:r>
          </a:p>
          <a:p>
            <a:pPr>
              <a:spcAft>
                <a:spcPts val="300"/>
              </a:spcAft>
            </a:pPr>
            <a:r>
              <a:rPr lang="en-GB" sz="1400">
                <a:solidFill>
                  <a:srgbClr val="E6ECF4"/>
                </a:solidFill>
                <a:latin typeface="Consolas"/>
              </a:rPr>
              <a:t>        set comment "temporary CLI exercise"</a:t>
            </a:r>
          </a:p>
          <a:p>
            <a:pPr>
              <a:spcAft>
                <a:spcPts val="300"/>
              </a:spcAft>
            </a:pPr>
            <a:r>
              <a:rPr lang="en-GB" sz="1400">
                <a:solidFill>
                  <a:srgbClr val="E6ECF4"/>
                </a:solidFill>
                <a:latin typeface="Consolas"/>
              </a:rPr>
              <a:t>    next</a:t>
            </a:r>
          </a:p>
          <a:p>
            <a:pPr>
              <a:spcAft>
                <a:spcPts val="300"/>
              </a:spcAft>
            </a:pPr>
            <a:r>
              <a:rPr lang="en-GB" sz="1400">
                <a:solidFill>
                  <a:srgbClr val="E6ECF4"/>
                </a:solidFill>
                <a:latin typeface="Consolas"/>
              </a:rPr>
              <a:t>end</a:t>
            </a:r>
          </a:p>
          <a:p>
            <a:pPr>
              <a:spcAft>
                <a:spcPts val="300"/>
              </a:spcAft>
            </a:pPr>
            <a:r>
              <a:rPr lang="en-GB" sz="1400">
                <a:solidFill>
                  <a:srgbClr val="E6ECF4"/>
                </a:solidFill>
                <a:latin typeface="Consolas"/>
              </a:rPr>
              <a:t>show firewall address "student0N-temp-cli"</a:t>
            </a:r>
          </a:p>
        </p:txBody>
      </p:sp>
      <p:sp>
        <p:nvSpPr>
          <p:cNvPr id="11" name="TextBox 10"/>
          <p:cNvSpPr txBox="1"/>
          <p:nvPr/>
        </p:nvSpPr>
        <p:spPr>
          <a:xfrm>
            <a:off x="7699248" y="1417320"/>
            <a:ext cx="3474720" cy="228600"/>
          </a:xfrm>
          <a:prstGeom prst="rect">
            <a:avLst/>
          </a:prstGeom>
          <a:noFill/>
        </p:spPr>
        <p:txBody>
          <a:bodyPr wrap="square" lIns="36576" tIns="36576" rIns="36576" bIns="36576" anchor="t">
            <a:spAutoFit/>
          </a:bodyPr>
          <a:lstStyle/>
          <a:p>
            <a:pPr algn="l"/>
            <a:r>
              <a:rPr sz="1000" b="1">
                <a:solidFill>
                  <a:srgbClr val="E60012"/>
                </a:solidFill>
              </a:rPr>
              <a:t>CONTEXT</a:t>
            </a:r>
          </a:p>
        </p:txBody>
      </p:sp>
      <p:sp>
        <p:nvSpPr>
          <p:cNvPr id="12" name="TextBox 11"/>
          <p:cNvSpPr txBox="1">
            <a:spLocks/>
          </p:cNvSpPr>
          <p:nvPr/>
        </p:nvSpPr>
        <p:spPr>
          <a:xfrm>
            <a:off x="7699248" y="1783080"/>
            <a:ext cx="3474720" cy="1696875"/>
          </a:xfrm>
          <a:prstGeom prst="rect">
            <a:avLst/>
          </a:prstGeom>
          <a:noFill/>
        </p:spPr>
        <p:txBody>
          <a:bodyPr wrap="square" lIns="36576" tIns="27432" rIns="36576" bIns="27432">
            <a:spAutoFit/>
          </a:bodyPr>
          <a:lstStyle/>
          <a:p>
            <a:pPr>
              <a:spcAft>
                <a:spcPts val="400"/>
              </a:spcAft>
            </a:pPr>
            <a:r>
              <a:rPr lang="en-GB" sz="1500">
                <a:solidFill>
                  <a:srgbClr val="1E2B40"/>
                </a:solidFill>
              </a:rPr>
              <a:t>• config → enter the address table</a:t>
            </a:r>
          </a:p>
          <a:p>
            <a:pPr>
              <a:spcAft>
                <a:spcPts val="400"/>
              </a:spcAft>
            </a:pPr>
            <a:r>
              <a:rPr lang="en-GB" sz="1500">
                <a:solidFill>
                  <a:srgbClr val="1E2B40"/>
                </a:solidFill>
              </a:rPr>
              <a:t>• edit → select/create an object identifier</a:t>
            </a:r>
          </a:p>
          <a:p>
            <a:pPr>
              <a:spcAft>
                <a:spcPts val="400"/>
              </a:spcAft>
            </a:pPr>
            <a:r>
              <a:rPr lang="en-GB" sz="1500">
                <a:solidFill>
                  <a:srgbClr val="1E2B40"/>
                </a:solidFill>
              </a:rPr>
              <a:t>• set → assign a value</a:t>
            </a:r>
          </a:p>
          <a:p>
            <a:pPr>
              <a:spcAft>
                <a:spcPts val="400"/>
              </a:spcAft>
            </a:pPr>
            <a:r>
              <a:rPr lang="en-GB" sz="1500">
                <a:solidFill>
                  <a:srgbClr val="1E2B40"/>
                </a:solidFill>
              </a:rPr>
              <a:t>• next → commit this table entry</a:t>
            </a:r>
          </a:p>
          <a:p>
            <a:pPr>
              <a:spcAft>
                <a:spcPts val="400"/>
              </a:spcAft>
            </a:pPr>
            <a:r>
              <a:rPr lang="en-GB" sz="1500">
                <a:solidFill>
                  <a:srgbClr val="1E2B40"/>
                </a:solidFill>
              </a:rPr>
              <a:t>• end → leave configuration context</a:t>
            </a:r>
          </a:p>
          <a:p>
            <a:pPr>
              <a:spcAft>
                <a:spcPts val="400"/>
              </a:spcAft>
            </a:pPr>
            <a:r>
              <a:rPr lang="en-GB" sz="1500">
                <a:solidFill>
                  <a:srgbClr val="1E2B40"/>
                </a:solidFill>
              </a:rPr>
              <a:t>• show → inspect the resulting object</a:t>
            </a:r>
          </a:p>
        </p:txBody>
      </p:sp>
      <p:sp>
        <p:nvSpPr>
          <p:cNvPr id="13" name="TextBox 12"/>
          <p:cNvSpPr txBox="1">
            <a:spLocks/>
          </p:cNvSpPr>
          <p:nvPr/>
        </p:nvSpPr>
        <p:spPr>
          <a:xfrm>
            <a:off x="7699248" y="5422392"/>
            <a:ext cx="3474720" cy="443198"/>
          </a:xfrm>
          <a:prstGeom prst="rect">
            <a:avLst/>
          </a:prstGeom>
          <a:noFill/>
        </p:spPr>
        <p:txBody>
          <a:bodyPr wrap="square" lIns="36576" tIns="36576" rIns="36576" bIns="36576" anchor="t">
            <a:spAutoFit/>
          </a:bodyPr>
          <a:lstStyle/>
          <a:p>
            <a:pPr algn="l"/>
            <a:r>
              <a:rPr lang="en-GB" sz="1200" b="1">
                <a:solidFill>
                  <a:srgbClr val="E60012"/>
                </a:solidFill>
              </a:rPr>
              <a:t>[CHANGE] Create only the dedicated temporary object; do not edit interfaces, routes or policies.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2000"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p:nvPr/>
        </p:nvSpPr>
        <p:spPr>
          <a:xfrm>
            <a:off x="502920" y="219456"/>
            <a:ext cx="3657600" cy="189283"/>
          </a:xfrm>
          <a:prstGeom prst="rect">
            <a:avLst/>
          </a:prstGeom>
          <a:noFill/>
        </p:spPr>
        <p:txBody>
          <a:bodyPr wrap="square" lIns="36576" tIns="36576" rIns="36576" bIns="36576" anchor="t">
            <a:spAutoFit/>
          </a:bodyPr>
          <a:lstStyle/>
          <a:p>
            <a:pPr algn="l"/>
            <a:r>
              <a:rPr lang="en-GB" sz="750" b="1">
                <a:solidFill>
                  <a:srgbClr val="687385"/>
                </a:solidFill>
              </a:rPr>
              <a:t>FORTIGATE ADMINISTRATOR COURSE</a:t>
            </a:r>
          </a:p>
        </p:txBody>
      </p:sp>
      <p:sp>
        <p:nvSpPr>
          <p:cNvPr id="4" name="TextBox 3"/>
          <p:cNvSpPr txBox="1"/>
          <p:nvPr/>
        </p:nvSpPr>
        <p:spPr>
          <a:xfrm>
            <a:off x="502920" y="420624"/>
            <a:ext cx="10744200" cy="204671"/>
          </a:xfrm>
          <a:prstGeom prst="rect">
            <a:avLst/>
          </a:prstGeom>
          <a:noFill/>
        </p:spPr>
        <p:txBody>
          <a:bodyPr wrap="square" lIns="36576" tIns="36576" rIns="36576" bIns="36576" anchor="t">
            <a:spAutoFit/>
          </a:bodyPr>
          <a:lstStyle/>
          <a:p>
            <a:pPr algn="l"/>
            <a:r>
              <a:rPr lang="en-GB" sz="850" b="1">
                <a:solidFill>
                  <a:srgbClr val="687385"/>
                </a:solidFill>
              </a:rPr>
              <a:t>019 • DAY 1 • BLOCK 02 • Introduction &amp; Initial Configuration</a:t>
            </a:r>
          </a:p>
        </p:txBody>
      </p:sp>
      <p:sp>
        <p:nvSpPr>
          <p:cNvPr id="5" name="TextBox 4"/>
          <p:cNvSpPr txBox="1"/>
          <p:nvPr/>
        </p:nvSpPr>
        <p:spPr>
          <a:xfrm>
            <a:off x="502920" y="621792"/>
            <a:ext cx="11109960" cy="530352"/>
          </a:xfrm>
          <a:prstGeom prst="rect">
            <a:avLst/>
          </a:prstGeom>
          <a:noFill/>
        </p:spPr>
        <p:txBody>
          <a:bodyPr wrap="square" lIns="36576" tIns="36576" rIns="36576" bIns="36576" anchor="t">
            <a:spAutoFit/>
          </a:bodyPr>
          <a:lstStyle/>
          <a:p>
            <a:pPr algn="l"/>
            <a:r>
              <a:rPr sz="2600" b="1">
                <a:solidFill>
                  <a:srgbClr val="1E2B40"/>
                </a:solidFill>
              </a:rPr>
              <a:t>Tables have entries; singleton sections have settings</a:t>
            </a:r>
          </a:p>
        </p:txBody>
      </p:sp>
      <p:sp>
        <p:nvSpPr>
          <p:cNvPr id="6" name="Rectangle 5"/>
          <p:cNvSpPr>
            <a:spLocks/>
          </p:cNvSpPr>
          <p:nvPr/>
        </p:nvSpPr>
        <p:spPr>
          <a:xfrm>
            <a:off x="502920" y="6473952"/>
            <a:ext cx="11183112" cy="9144"/>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7" name="TextBox 6"/>
          <p:cNvSpPr txBox="1">
            <a:spLocks/>
          </p:cNvSpPr>
          <p:nvPr/>
        </p:nvSpPr>
        <p:spPr>
          <a:xfrm>
            <a:off x="11109960" y="6528816"/>
            <a:ext cx="502920" cy="164592"/>
          </a:xfrm>
          <a:prstGeom prst="rect">
            <a:avLst/>
          </a:prstGeom>
          <a:noFill/>
        </p:spPr>
        <p:txBody>
          <a:bodyPr wrap="square" lIns="36576" tIns="36576" rIns="36576" bIns="36576" anchor="t">
            <a:spAutoFit/>
          </a:bodyPr>
          <a:lstStyle/>
          <a:p>
            <a:pPr algn="r"/>
            <a:r>
              <a:rPr lang="en-HU" sz="750" b="0">
                <a:solidFill>
                  <a:srgbClr val="687385"/>
                </a:solidFill>
              </a:rPr>
              <a:t>19</a:t>
            </a:r>
          </a:p>
        </p:txBody>
      </p:sp>
      <p:sp>
        <p:nvSpPr>
          <p:cNvPr id="8" name="TextBox 7"/>
          <p:cNvSpPr txBox="1">
            <a:spLocks/>
          </p:cNvSpPr>
          <p:nvPr/>
        </p:nvSpPr>
        <p:spPr>
          <a:xfrm>
            <a:off x="658368" y="1417320"/>
            <a:ext cx="3246120" cy="243143"/>
          </a:xfrm>
          <a:prstGeom prst="rect">
            <a:avLst/>
          </a:prstGeom>
          <a:noFill/>
        </p:spPr>
        <p:txBody>
          <a:bodyPr wrap="square" lIns="36576" tIns="36576" rIns="36576" bIns="36576" anchor="t">
            <a:spAutoFit/>
          </a:bodyPr>
          <a:lstStyle/>
          <a:p>
            <a:pPr algn="l"/>
            <a:r>
              <a:rPr lang="en-GB" sz="1100" b="1">
                <a:solidFill>
                  <a:srgbClr val="E60012"/>
                </a:solidFill>
              </a:rPr>
              <a:t>TABLE</a:t>
            </a:r>
          </a:p>
        </p:txBody>
      </p:sp>
      <p:sp>
        <p:nvSpPr>
          <p:cNvPr id="9" name="Rectangle 8"/>
          <p:cNvSpPr>
            <a:spLocks/>
          </p:cNvSpPr>
          <p:nvPr/>
        </p:nvSpPr>
        <p:spPr>
          <a:xfrm>
            <a:off x="658368" y="1783080"/>
            <a:ext cx="3246120" cy="502920"/>
          </a:xfrm>
          <a:prstGeom prst="rect">
            <a:avLst/>
          </a:prstGeom>
          <a:solidFill>
            <a:srgbClr val="1E2B40"/>
          </a:solidFill>
          <a:ln>
            <a:no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t"/>
          <a:lstStyle/>
          <a:p>
            <a:pPr algn="l"/>
            <a:r>
              <a:rPr lang="en-GB" sz="1700" b="1">
                <a:solidFill>
                  <a:srgbClr val="E6ECF4"/>
                </a:solidFill>
                <a:latin typeface="Consolas"/>
              </a:rPr>
              <a:t>config firewall address</a:t>
            </a:r>
          </a:p>
        </p:txBody>
      </p:sp>
      <p:sp>
        <p:nvSpPr>
          <p:cNvPr id="10" name="TextBox 9"/>
          <p:cNvSpPr txBox="1">
            <a:spLocks/>
          </p:cNvSpPr>
          <p:nvPr/>
        </p:nvSpPr>
        <p:spPr>
          <a:xfrm>
            <a:off x="658368" y="2487168"/>
            <a:ext cx="3246120" cy="2423160"/>
          </a:xfrm>
          <a:prstGeom prst="rect">
            <a:avLst/>
          </a:prstGeom>
          <a:noFill/>
        </p:spPr>
        <p:txBody>
          <a:bodyPr wrap="square" lIns="36576" tIns="27432" rIns="36576" bIns="27432">
            <a:spAutoFit/>
          </a:bodyPr>
          <a:lstStyle/>
          <a:p>
            <a:pPr>
              <a:spcAft>
                <a:spcPts val="400"/>
              </a:spcAft>
            </a:pPr>
            <a:r>
              <a:rPr lang="en-GB" sz="1500">
                <a:solidFill>
                  <a:srgbClr val="1E2B40"/>
                </a:solidFill>
              </a:rPr>
              <a:t>• Contains named objects</a:t>
            </a:r>
          </a:p>
          <a:p>
            <a:pPr>
              <a:spcAft>
                <a:spcPts val="400"/>
              </a:spcAft>
            </a:pPr>
            <a:r>
              <a:rPr lang="en-GB" sz="1500">
                <a:solidFill>
                  <a:srgbClr val="1E2B40"/>
                </a:solidFill>
              </a:rPr>
              <a:t>• edit "name" selects one entry</a:t>
            </a:r>
          </a:p>
          <a:p>
            <a:pPr>
              <a:spcAft>
                <a:spcPts val="400"/>
              </a:spcAft>
            </a:pPr>
            <a:r>
              <a:rPr lang="en-GB" sz="1500">
                <a:solidFill>
                  <a:srgbClr val="1E2B40"/>
                </a:solidFill>
              </a:rPr>
              <a:t>• next returns to the table</a:t>
            </a:r>
          </a:p>
          <a:p>
            <a:pPr>
              <a:spcAft>
                <a:spcPts val="400"/>
              </a:spcAft>
            </a:pPr>
            <a:r>
              <a:rPr lang="en-GB" sz="1500">
                <a:solidFill>
                  <a:srgbClr val="1E2B40"/>
                </a:solidFill>
              </a:rPr>
              <a:t>• delete "name" removes an entry</a:t>
            </a:r>
          </a:p>
        </p:txBody>
      </p:sp>
      <p:sp>
        <p:nvSpPr>
          <p:cNvPr id="11" name="TextBox 10"/>
          <p:cNvSpPr txBox="1">
            <a:spLocks/>
          </p:cNvSpPr>
          <p:nvPr/>
        </p:nvSpPr>
        <p:spPr>
          <a:xfrm>
            <a:off x="4462272" y="1417320"/>
            <a:ext cx="3246120" cy="256032"/>
          </a:xfrm>
          <a:prstGeom prst="rect">
            <a:avLst/>
          </a:prstGeom>
          <a:noFill/>
        </p:spPr>
        <p:txBody>
          <a:bodyPr wrap="square" lIns="36576" tIns="36576" rIns="36576" bIns="36576" anchor="t">
            <a:spAutoFit/>
          </a:bodyPr>
          <a:lstStyle/>
          <a:p>
            <a:pPr algn="l"/>
            <a:r>
              <a:rPr lang="en-GB" sz="1100" b="1">
                <a:solidFill>
                  <a:srgbClr val="E60012"/>
                </a:solidFill>
              </a:rPr>
              <a:t>SINGLETON</a:t>
            </a:r>
          </a:p>
        </p:txBody>
      </p:sp>
      <p:sp>
        <p:nvSpPr>
          <p:cNvPr id="12" name="Rectangle 11"/>
          <p:cNvSpPr>
            <a:spLocks/>
          </p:cNvSpPr>
          <p:nvPr/>
        </p:nvSpPr>
        <p:spPr>
          <a:xfrm>
            <a:off x="4462272" y="1783080"/>
            <a:ext cx="3246120" cy="502920"/>
          </a:xfrm>
          <a:prstGeom prst="rect">
            <a:avLst/>
          </a:prstGeom>
          <a:solidFill>
            <a:srgbClr val="1E2B40"/>
          </a:solidFill>
          <a:ln>
            <a:no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t"/>
          <a:lstStyle/>
          <a:p>
            <a:pPr algn="l"/>
            <a:r>
              <a:rPr lang="en-GB" sz="1700" b="1">
                <a:solidFill>
                  <a:srgbClr val="E6ECF4"/>
                </a:solidFill>
                <a:latin typeface="Consolas"/>
              </a:rPr>
              <a:t>config system global</a:t>
            </a:r>
          </a:p>
        </p:txBody>
      </p:sp>
      <p:sp>
        <p:nvSpPr>
          <p:cNvPr id="13" name="TextBox 12"/>
          <p:cNvSpPr txBox="1">
            <a:spLocks/>
          </p:cNvSpPr>
          <p:nvPr/>
        </p:nvSpPr>
        <p:spPr>
          <a:xfrm>
            <a:off x="4462272" y="2487168"/>
            <a:ext cx="3246120" cy="1132618"/>
          </a:xfrm>
          <a:prstGeom prst="rect">
            <a:avLst/>
          </a:prstGeom>
          <a:noFill/>
        </p:spPr>
        <p:txBody>
          <a:bodyPr wrap="square" lIns="36576" tIns="27432" rIns="36576" bIns="27432">
            <a:spAutoFit/>
          </a:bodyPr>
          <a:lstStyle/>
          <a:p>
            <a:pPr>
              <a:spcAft>
                <a:spcPts val="400"/>
              </a:spcAft>
            </a:pPr>
            <a:r>
              <a:rPr lang="en-GB" sz="1500">
                <a:solidFill>
                  <a:srgbClr val="1E2B40"/>
                </a:solidFill>
              </a:rPr>
              <a:t>• One section—not a list of objects</a:t>
            </a:r>
          </a:p>
          <a:p>
            <a:pPr>
              <a:spcAft>
                <a:spcPts val="400"/>
              </a:spcAft>
            </a:pPr>
            <a:r>
              <a:rPr lang="en-GB" sz="1500">
                <a:solidFill>
                  <a:srgbClr val="1E2B40"/>
                </a:solidFill>
              </a:rPr>
              <a:t>• set and unset change settings</a:t>
            </a:r>
          </a:p>
          <a:p>
            <a:pPr>
              <a:spcAft>
                <a:spcPts val="400"/>
              </a:spcAft>
            </a:pPr>
            <a:r>
              <a:rPr lang="en-GB" sz="1500">
                <a:solidFill>
                  <a:srgbClr val="1E2B40"/>
                </a:solidFill>
              </a:rPr>
              <a:t>• No object identifier required</a:t>
            </a:r>
          </a:p>
          <a:p>
            <a:pPr>
              <a:spcAft>
                <a:spcPts val="400"/>
              </a:spcAft>
            </a:pPr>
            <a:r>
              <a:rPr lang="en-GB" sz="1500">
                <a:solidFill>
                  <a:srgbClr val="1E2B40"/>
                </a:solidFill>
              </a:rPr>
              <a:t>• end returns to the top prompt</a:t>
            </a:r>
          </a:p>
        </p:txBody>
      </p:sp>
      <p:sp>
        <p:nvSpPr>
          <p:cNvPr id="14" name="TextBox 13"/>
          <p:cNvSpPr txBox="1">
            <a:spLocks/>
          </p:cNvSpPr>
          <p:nvPr/>
        </p:nvSpPr>
        <p:spPr>
          <a:xfrm>
            <a:off x="8247888" y="1417320"/>
            <a:ext cx="3035808" cy="256032"/>
          </a:xfrm>
          <a:prstGeom prst="rect">
            <a:avLst/>
          </a:prstGeom>
          <a:noFill/>
        </p:spPr>
        <p:txBody>
          <a:bodyPr wrap="square" lIns="36576" tIns="36576" rIns="36576" bIns="36576" anchor="t">
            <a:spAutoFit/>
          </a:bodyPr>
          <a:lstStyle/>
          <a:p>
            <a:pPr algn="l"/>
            <a:r>
              <a:rPr lang="en-GB" sz="1100" b="1">
                <a:solidFill>
                  <a:srgbClr val="E60012"/>
                </a:solidFill>
              </a:rPr>
              <a:t>NESTED CONTEXT</a:t>
            </a:r>
          </a:p>
        </p:txBody>
      </p:sp>
      <p:sp>
        <p:nvSpPr>
          <p:cNvPr id="15" name="Rectangle 14"/>
          <p:cNvSpPr/>
          <p:nvPr/>
        </p:nvSpPr>
        <p:spPr>
          <a:xfrm>
            <a:off x="8247888" y="1783080"/>
            <a:ext cx="3035808" cy="1078992"/>
          </a:xfrm>
          <a:prstGeom prst="rect">
            <a:avLst/>
          </a:prstGeom>
          <a:solidFill>
            <a:srgbClr val="1E2B40"/>
          </a:solidFill>
          <a:ln>
            <a:no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t"/>
          <a:lstStyle/>
          <a:p>
            <a:pPr algn="l"/>
            <a:r>
              <a:rPr lang="en-GB" sz="1500" b="1">
                <a:solidFill>
                  <a:srgbClr val="E6ECF4"/>
                </a:solidFill>
                <a:latin typeface="Consolas"/>
              </a:rPr>
              <a:t>config ...
    edit ...
        config ...</a:t>
            </a:r>
          </a:p>
        </p:txBody>
      </p:sp>
      <p:sp>
        <p:nvSpPr>
          <p:cNvPr id="16" name="TextBox 15"/>
          <p:cNvSpPr txBox="1">
            <a:spLocks/>
          </p:cNvSpPr>
          <p:nvPr/>
        </p:nvSpPr>
        <p:spPr>
          <a:xfrm>
            <a:off x="8247888" y="3072384"/>
            <a:ext cx="3035808" cy="1542987"/>
          </a:xfrm>
          <a:prstGeom prst="rect">
            <a:avLst/>
          </a:prstGeom>
          <a:noFill/>
        </p:spPr>
        <p:txBody>
          <a:bodyPr wrap="square" lIns="36576" tIns="27432" rIns="36576" bIns="27432">
            <a:spAutoFit/>
          </a:bodyPr>
          <a:lstStyle/>
          <a:p>
            <a:pPr>
              <a:spcAft>
                <a:spcPts val="400"/>
              </a:spcAft>
            </a:pPr>
            <a:r>
              <a:rPr lang="en-GB" sz="1500">
                <a:solidFill>
                  <a:srgbClr val="1E2B40"/>
                </a:solidFill>
              </a:rPr>
              <a:t>• Prompt/help changes at every level</a:t>
            </a:r>
          </a:p>
          <a:p>
            <a:pPr>
              <a:spcAft>
                <a:spcPts val="400"/>
              </a:spcAft>
            </a:pPr>
            <a:r>
              <a:rPr lang="en-GB" sz="1500">
                <a:solidFill>
                  <a:srgbClr val="1E2B40"/>
                </a:solidFill>
              </a:rPr>
              <a:t>• Commands available here may not exist at top level</a:t>
            </a:r>
          </a:p>
          <a:p>
            <a:pPr>
              <a:spcAft>
                <a:spcPts val="400"/>
              </a:spcAft>
            </a:pPr>
            <a:r>
              <a:rPr lang="en-GB" sz="1500">
                <a:solidFill>
                  <a:srgbClr val="1E2B40"/>
                </a:solidFill>
              </a:rPr>
              <a:t>• Use end to leave the configuration tree</a:t>
            </a:r>
          </a:p>
        </p:txBody>
      </p:sp>
      <p:sp>
        <p:nvSpPr>
          <p:cNvPr id="17" name="TextBox 16"/>
          <p:cNvSpPr txBox="1">
            <a:spLocks/>
          </p:cNvSpPr>
          <p:nvPr/>
        </p:nvSpPr>
        <p:spPr>
          <a:xfrm>
            <a:off x="658368" y="5687568"/>
            <a:ext cx="10607040" cy="289310"/>
          </a:xfrm>
          <a:prstGeom prst="rect">
            <a:avLst/>
          </a:prstGeom>
          <a:noFill/>
        </p:spPr>
        <p:txBody>
          <a:bodyPr wrap="square" lIns="36576" tIns="36576" rIns="36576" bIns="36576" anchor="t">
            <a:spAutoFit/>
          </a:bodyPr>
          <a:lstStyle/>
          <a:p>
            <a:pPr algn="l"/>
            <a:r>
              <a:rPr lang="en-GB" sz="1400" b="1">
                <a:solidFill>
                  <a:srgbClr val="E60012"/>
                </a:solidFill>
              </a:rPr>
              <a:t>unset restores a setting to its default behavior; it is still a configuration change.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2000"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p:nvPr/>
        </p:nvSpPr>
        <p:spPr>
          <a:xfrm>
            <a:off x="502920" y="219456"/>
            <a:ext cx="3657600" cy="189283"/>
          </a:xfrm>
          <a:prstGeom prst="rect">
            <a:avLst/>
          </a:prstGeom>
          <a:noFill/>
        </p:spPr>
        <p:txBody>
          <a:bodyPr wrap="square" lIns="36576" tIns="36576" rIns="36576" bIns="36576" anchor="t">
            <a:spAutoFit/>
          </a:bodyPr>
          <a:lstStyle/>
          <a:p>
            <a:pPr algn="l"/>
            <a:r>
              <a:rPr lang="en-GB" sz="750" b="1">
                <a:solidFill>
                  <a:srgbClr val="687385"/>
                </a:solidFill>
              </a:rPr>
              <a:t>FORTIGATE ADMINISTRATOR COURSE</a:t>
            </a:r>
          </a:p>
        </p:txBody>
      </p:sp>
      <p:sp>
        <p:nvSpPr>
          <p:cNvPr id="4" name="TextBox 3"/>
          <p:cNvSpPr txBox="1"/>
          <p:nvPr/>
        </p:nvSpPr>
        <p:spPr>
          <a:xfrm>
            <a:off x="502920" y="420624"/>
            <a:ext cx="10744200" cy="204671"/>
          </a:xfrm>
          <a:prstGeom prst="rect">
            <a:avLst/>
          </a:prstGeom>
          <a:noFill/>
        </p:spPr>
        <p:txBody>
          <a:bodyPr wrap="square" lIns="36576" tIns="36576" rIns="36576" bIns="36576" anchor="t">
            <a:spAutoFit/>
          </a:bodyPr>
          <a:lstStyle/>
          <a:p>
            <a:pPr algn="l"/>
            <a:r>
              <a:rPr lang="en-GB" sz="850" b="1">
                <a:solidFill>
                  <a:srgbClr val="687385"/>
                </a:solidFill>
              </a:rPr>
              <a:t>020 • DAY 1 • BLOCK 02 • Introduction &amp; Initial Configuration</a:t>
            </a:r>
          </a:p>
        </p:txBody>
      </p:sp>
      <p:sp>
        <p:nvSpPr>
          <p:cNvPr id="5" name="TextBox 4"/>
          <p:cNvSpPr txBox="1"/>
          <p:nvPr/>
        </p:nvSpPr>
        <p:spPr>
          <a:xfrm>
            <a:off x="502920" y="621792"/>
            <a:ext cx="11109960" cy="530352"/>
          </a:xfrm>
          <a:prstGeom prst="rect">
            <a:avLst/>
          </a:prstGeom>
          <a:noFill/>
        </p:spPr>
        <p:txBody>
          <a:bodyPr wrap="square" lIns="36576" tIns="36576" rIns="36576" bIns="36576" anchor="t">
            <a:spAutoFit/>
          </a:bodyPr>
          <a:lstStyle/>
          <a:p>
            <a:pPr algn="l"/>
            <a:r>
              <a:rPr sz="2600" b="1">
                <a:solidFill>
                  <a:srgbClr val="1E2B40"/>
                </a:solidFill>
              </a:rPr>
              <a:t>Discover commands from the current context</a:t>
            </a:r>
          </a:p>
        </p:txBody>
      </p:sp>
      <p:sp>
        <p:nvSpPr>
          <p:cNvPr id="6" name="Rectangle 5"/>
          <p:cNvSpPr>
            <a:spLocks/>
          </p:cNvSpPr>
          <p:nvPr/>
        </p:nvSpPr>
        <p:spPr>
          <a:xfrm>
            <a:off x="502920" y="6473952"/>
            <a:ext cx="11183112" cy="9144"/>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7" name="TextBox 6"/>
          <p:cNvSpPr txBox="1">
            <a:spLocks/>
          </p:cNvSpPr>
          <p:nvPr/>
        </p:nvSpPr>
        <p:spPr>
          <a:xfrm>
            <a:off x="11109960" y="6528816"/>
            <a:ext cx="502920" cy="189283"/>
          </a:xfrm>
          <a:prstGeom prst="rect">
            <a:avLst/>
          </a:prstGeom>
          <a:noFill/>
        </p:spPr>
        <p:txBody>
          <a:bodyPr wrap="square" lIns="36576" tIns="36576" rIns="36576" bIns="36576" anchor="t">
            <a:spAutoFit/>
          </a:bodyPr>
          <a:lstStyle/>
          <a:p>
            <a:pPr algn="r"/>
            <a:r>
              <a:rPr lang="en-HU" sz="750" b="0">
                <a:solidFill>
                  <a:srgbClr val="687385"/>
                </a:solidFill>
              </a:rPr>
              <a:t>20</a:t>
            </a:r>
          </a:p>
        </p:txBody>
      </p:sp>
      <p:sp>
        <p:nvSpPr>
          <p:cNvPr id="8" name="TextBox 7"/>
          <p:cNvSpPr txBox="1">
            <a:spLocks/>
          </p:cNvSpPr>
          <p:nvPr/>
        </p:nvSpPr>
        <p:spPr>
          <a:xfrm>
            <a:off x="658368" y="1417320"/>
            <a:ext cx="5166360" cy="228600"/>
          </a:xfrm>
          <a:prstGeom prst="rect">
            <a:avLst/>
          </a:prstGeom>
          <a:noFill/>
        </p:spPr>
        <p:txBody>
          <a:bodyPr wrap="square" lIns="36576" tIns="36576" rIns="36576" bIns="36576" anchor="t">
            <a:spAutoFit/>
          </a:bodyPr>
          <a:lstStyle/>
          <a:p>
            <a:pPr algn="l"/>
            <a:r>
              <a:rPr lang="en-GB" sz="1000" b="1">
                <a:solidFill>
                  <a:srgbClr val="E60012"/>
                </a:solidFill>
              </a:rPr>
              <a:t>AT THE TOP PROMPT</a:t>
            </a:r>
          </a:p>
        </p:txBody>
      </p:sp>
      <p:sp>
        <p:nvSpPr>
          <p:cNvPr id="9" name="Rectangle 8"/>
          <p:cNvSpPr>
            <a:spLocks/>
          </p:cNvSpPr>
          <p:nvPr/>
        </p:nvSpPr>
        <p:spPr>
          <a:xfrm>
            <a:off x="658368" y="1755648"/>
            <a:ext cx="5166360" cy="1965960"/>
          </a:xfrm>
          <a:prstGeom prst="rect">
            <a:avLst/>
          </a:prstGeom>
          <a:solidFill>
            <a:srgbClr val="1E2B40"/>
          </a:solidFill>
          <a:ln>
            <a:no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t"/>
          <a:lstStyle/>
          <a:p>
            <a:pPr algn="l"/>
            <a:r>
              <a:rPr lang="en-GB" sz="1800" b="0">
                <a:solidFill>
                  <a:srgbClr val="E6ECF4"/>
                </a:solidFill>
                <a:latin typeface="Consolas"/>
              </a:rPr>
              <a:t>?
config ?
get ?
diagnose ?</a:t>
            </a:r>
          </a:p>
        </p:txBody>
      </p:sp>
      <p:sp>
        <p:nvSpPr>
          <p:cNvPr id="10" name="TextBox 9"/>
          <p:cNvSpPr txBox="1"/>
          <p:nvPr/>
        </p:nvSpPr>
        <p:spPr>
          <a:xfrm>
            <a:off x="6199632" y="1417320"/>
            <a:ext cx="5074920" cy="228600"/>
          </a:xfrm>
          <a:prstGeom prst="rect">
            <a:avLst/>
          </a:prstGeom>
          <a:noFill/>
        </p:spPr>
        <p:txBody>
          <a:bodyPr wrap="square" lIns="36576" tIns="36576" rIns="36576" bIns="36576" anchor="t">
            <a:spAutoFit/>
          </a:bodyPr>
          <a:lstStyle/>
          <a:p>
            <a:pPr algn="l"/>
            <a:r>
              <a:rPr sz="1000" b="1">
                <a:solidFill>
                  <a:srgbClr val="E60012"/>
                </a:solidFill>
              </a:rPr>
              <a:t>INSIDE config firewall address</a:t>
            </a:r>
          </a:p>
        </p:txBody>
      </p:sp>
      <p:sp>
        <p:nvSpPr>
          <p:cNvPr id="11" name="Rectangle 10"/>
          <p:cNvSpPr>
            <a:spLocks/>
          </p:cNvSpPr>
          <p:nvPr/>
        </p:nvSpPr>
        <p:spPr>
          <a:xfrm>
            <a:off x="6199632" y="1755648"/>
            <a:ext cx="5074920" cy="1965960"/>
          </a:xfrm>
          <a:prstGeom prst="rect">
            <a:avLst/>
          </a:prstGeom>
          <a:solidFill>
            <a:srgbClr val="1E2B40"/>
          </a:solidFill>
          <a:ln>
            <a:no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t"/>
          <a:lstStyle/>
          <a:p>
            <a:pPr algn="l"/>
            <a:r>
              <a:rPr lang="en-GB" sz="1800" b="0">
                <a:solidFill>
                  <a:srgbClr val="E6ECF4"/>
                </a:solidFill>
                <a:latin typeface="Consolas"/>
              </a:rPr>
              <a:t>?
edit ?
set ?
show ?</a:t>
            </a:r>
          </a:p>
        </p:txBody>
      </p:sp>
      <p:sp>
        <p:nvSpPr>
          <p:cNvPr id="12" name="TextBox 11"/>
          <p:cNvSpPr txBox="1"/>
          <p:nvPr/>
        </p:nvSpPr>
        <p:spPr>
          <a:xfrm>
            <a:off x="658368" y="4160520"/>
            <a:ext cx="10561320" cy="1417320"/>
          </a:xfrm>
          <a:prstGeom prst="rect">
            <a:avLst/>
          </a:prstGeom>
          <a:noFill/>
        </p:spPr>
        <p:txBody>
          <a:bodyPr wrap="square" lIns="36576" tIns="27432" rIns="36576" bIns="27432">
            <a:spAutoFit/>
          </a:bodyPr>
          <a:lstStyle/>
          <a:p>
            <a:pPr>
              <a:spcAft>
                <a:spcPts val="400"/>
              </a:spcAft>
            </a:pPr>
            <a:r>
              <a:rPr sz="1500">
                <a:solidFill>
                  <a:srgbClr val="1E2B40"/>
                </a:solidFill>
              </a:rPr>
              <a:t>• Question-mark help lists valid commands/options at that point.</a:t>
            </a:r>
          </a:p>
          <a:p>
            <a:pPr>
              <a:spcAft>
                <a:spcPts val="400"/>
              </a:spcAft>
            </a:pPr>
            <a:r>
              <a:rPr sz="1500">
                <a:solidFill>
                  <a:srgbClr val="1E2B40"/>
                </a:solidFill>
              </a:rPr>
              <a:t>• Tab completion expands an unambiguous keyword.</a:t>
            </a:r>
          </a:p>
          <a:p>
            <a:pPr>
              <a:spcAft>
                <a:spcPts val="400"/>
              </a:spcAft>
            </a:pPr>
            <a:r>
              <a:rPr sz="1500">
                <a:solidFill>
                  <a:srgbClr val="1E2B40"/>
                </a:solidFill>
              </a:rPr>
              <a:t>• Model, build, feature state and admin permissions affect availability.</a:t>
            </a:r>
          </a:p>
          <a:p>
            <a:pPr>
              <a:spcAft>
                <a:spcPts val="400"/>
              </a:spcAft>
            </a:pPr>
            <a:r>
              <a:rPr sz="1500">
                <a:solidFill>
                  <a:srgbClr val="1E2B40"/>
                </a:solidFill>
              </a:rPr>
              <a:t>• Do not assume Cisco or Linux abbreviations and behavior.</a:t>
            </a:r>
          </a:p>
        </p:txBody>
      </p:sp>
      <p:sp>
        <p:nvSpPr>
          <p:cNvPr id="13" name="TextBox 12"/>
          <p:cNvSpPr txBox="1">
            <a:spLocks/>
          </p:cNvSpPr>
          <p:nvPr/>
        </p:nvSpPr>
        <p:spPr>
          <a:xfrm>
            <a:off x="658368" y="5705856"/>
            <a:ext cx="10561320" cy="273921"/>
          </a:xfrm>
          <a:prstGeom prst="rect">
            <a:avLst/>
          </a:prstGeom>
          <a:noFill/>
        </p:spPr>
        <p:txBody>
          <a:bodyPr wrap="square" lIns="36576" tIns="36576" rIns="36576" bIns="36576" anchor="t">
            <a:spAutoFit/>
          </a:bodyPr>
          <a:lstStyle/>
          <a:p>
            <a:pPr algn="l"/>
            <a:r>
              <a:rPr lang="en-GB" sz="1300" b="1">
                <a:solidFill>
                  <a:srgbClr val="E60012"/>
                </a:solidFill>
              </a:rPr>
              <a:t>[INSPECTION] Read help before entering a parameter that may change state.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2000"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p:nvPr/>
        </p:nvSpPr>
        <p:spPr>
          <a:xfrm>
            <a:off x="502920" y="219456"/>
            <a:ext cx="3657600" cy="146304"/>
          </a:xfrm>
          <a:prstGeom prst="rect">
            <a:avLst/>
          </a:prstGeom>
          <a:noFill/>
        </p:spPr>
        <p:txBody>
          <a:bodyPr wrap="square" lIns="36576" tIns="36576" rIns="36576" bIns="36576" anchor="t">
            <a:spAutoFit/>
          </a:bodyPr>
          <a:lstStyle/>
          <a:p>
            <a:pPr algn="l"/>
            <a:r>
              <a:rPr sz="750" b="1">
                <a:solidFill>
                  <a:srgbClr val="687385"/>
                </a:solidFill>
              </a:rPr>
              <a:t>FORTIGATE ADMINISTRATOR COURSE</a:t>
            </a:r>
          </a:p>
        </p:txBody>
      </p:sp>
      <p:sp>
        <p:nvSpPr>
          <p:cNvPr id="4" name="TextBox 3"/>
          <p:cNvSpPr txBox="1"/>
          <p:nvPr/>
        </p:nvSpPr>
        <p:spPr>
          <a:xfrm>
            <a:off x="502920" y="420624"/>
            <a:ext cx="10744200" cy="128016"/>
          </a:xfrm>
          <a:prstGeom prst="rect">
            <a:avLst/>
          </a:prstGeom>
          <a:noFill/>
        </p:spPr>
        <p:txBody>
          <a:bodyPr wrap="square" lIns="36576" tIns="36576" rIns="36576" bIns="36576" anchor="t">
            <a:spAutoFit/>
          </a:bodyPr>
          <a:lstStyle/>
          <a:p>
            <a:pPr algn="l"/>
            <a:r>
              <a:rPr sz="850" b="1">
                <a:solidFill>
                  <a:srgbClr val="687385"/>
                </a:solidFill>
              </a:rPr>
              <a:t>021 • DAY 1 • BLOCK 02 • Introduction &amp; Initial Configuration</a:t>
            </a:r>
          </a:p>
        </p:txBody>
      </p:sp>
      <p:sp>
        <p:nvSpPr>
          <p:cNvPr id="5" name="TextBox 4"/>
          <p:cNvSpPr txBox="1"/>
          <p:nvPr/>
        </p:nvSpPr>
        <p:spPr>
          <a:xfrm>
            <a:off x="502920" y="621792"/>
            <a:ext cx="11109960" cy="530352"/>
          </a:xfrm>
          <a:prstGeom prst="rect">
            <a:avLst/>
          </a:prstGeom>
          <a:noFill/>
        </p:spPr>
        <p:txBody>
          <a:bodyPr wrap="square" lIns="36576" tIns="36576" rIns="36576" bIns="36576" anchor="t">
            <a:spAutoFit/>
          </a:bodyPr>
          <a:lstStyle/>
          <a:p>
            <a:pPr algn="l"/>
            <a:r>
              <a:rPr sz="2600" b="1">
                <a:solidFill>
                  <a:srgbClr val="1E2B40"/>
                </a:solidFill>
              </a:rPr>
              <a:t>Use one interface to separate configuration from runtime</a:t>
            </a:r>
          </a:p>
        </p:txBody>
      </p:sp>
      <p:sp>
        <p:nvSpPr>
          <p:cNvPr id="6" name="Rectangle 5"/>
          <p:cNvSpPr/>
          <p:nvPr/>
        </p:nvSpPr>
        <p:spPr>
          <a:xfrm>
            <a:off x="502920" y="6473952"/>
            <a:ext cx="11183112" cy="9144"/>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109960" y="6528816"/>
            <a:ext cx="502920" cy="164592"/>
          </a:xfrm>
          <a:prstGeom prst="rect">
            <a:avLst/>
          </a:prstGeom>
          <a:noFill/>
        </p:spPr>
        <p:txBody>
          <a:bodyPr wrap="square" lIns="36576" tIns="36576" rIns="36576" bIns="36576" anchor="t">
            <a:spAutoFit/>
          </a:bodyPr>
          <a:lstStyle/>
          <a:p>
            <a:pPr algn="r"/>
            <a:r>
              <a:rPr sz="750" b="0">
                <a:solidFill>
                  <a:srgbClr val="687385"/>
                </a:solidFill>
              </a:rPr>
              <a:t>21</a:t>
            </a:r>
          </a:p>
        </p:txBody>
      </p:sp>
      <p:sp>
        <p:nvSpPr>
          <p:cNvPr id="8" name="TextBox 7"/>
          <p:cNvSpPr txBox="1">
            <a:spLocks/>
          </p:cNvSpPr>
          <p:nvPr/>
        </p:nvSpPr>
        <p:spPr>
          <a:xfrm>
            <a:off x="658368" y="1417320"/>
            <a:ext cx="3154680" cy="243143"/>
          </a:xfrm>
          <a:prstGeom prst="rect">
            <a:avLst/>
          </a:prstGeom>
          <a:noFill/>
        </p:spPr>
        <p:txBody>
          <a:bodyPr wrap="square" lIns="36576" tIns="36576" rIns="36576" bIns="36576" anchor="t">
            <a:spAutoFit/>
          </a:bodyPr>
          <a:lstStyle/>
          <a:p>
            <a:pPr algn="l"/>
            <a:r>
              <a:rPr lang="en-GB" sz="1100" b="1">
                <a:solidFill>
                  <a:srgbClr val="E60012"/>
                </a:solidFill>
              </a:rPr>
              <a:t>SHOW</a:t>
            </a:r>
          </a:p>
        </p:txBody>
      </p:sp>
      <p:sp>
        <p:nvSpPr>
          <p:cNvPr id="9" name="TextBox 8"/>
          <p:cNvSpPr txBox="1">
            <a:spLocks/>
          </p:cNvSpPr>
          <p:nvPr/>
        </p:nvSpPr>
        <p:spPr>
          <a:xfrm>
            <a:off x="4315968" y="1417320"/>
            <a:ext cx="3154680" cy="243143"/>
          </a:xfrm>
          <a:prstGeom prst="rect">
            <a:avLst/>
          </a:prstGeom>
          <a:noFill/>
        </p:spPr>
        <p:txBody>
          <a:bodyPr wrap="square" lIns="36576" tIns="36576" rIns="36576" bIns="36576" anchor="t">
            <a:spAutoFit/>
          </a:bodyPr>
          <a:lstStyle/>
          <a:p>
            <a:pPr algn="l"/>
            <a:r>
              <a:rPr lang="en-GB" sz="1100" b="1">
                <a:solidFill>
                  <a:srgbClr val="E60012"/>
                </a:solidFill>
              </a:rPr>
              <a:t>SHOW FULL-CONFIGURATION</a:t>
            </a:r>
          </a:p>
        </p:txBody>
      </p:sp>
      <p:sp>
        <p:nvSpPr>
          <p:cNvPr id="10" name="TextBox 9"/>
          <p:cNvSpPr txBox="1">
            <a:spLocks/>
          </p:cNvSpPr>
          <p:nvPr/>
        </p:nvSpPr>
        <p:spPr>
          <a:xfrm>
            <a:off x="7973568" y="1417320"/>
            <a:ext cx="3154680" cy="256032"/>
          </a:xfrm>
          <a:prstGeom prst="rect">
            <a:avLst/>
          </a:prstGeom>
          <a:noFill/>
        </p:spPr>
        <p:txBody>
          <a:bodyPr wrap="square" lIns="36576" tIns="36576" rIns="36576" bIns="36576" anchor="t">
            <a:spAutoFit/>
          </a:bodyPr>
          <a:lstStyle/>
          <a:p>
            <a:pPr algn="l"/>
            <a:r>
              <a:rPr lang="en-GB" sz="1100" b="1">
                <a:solidFill>
                  <a:srgbClr val="E60012"/>
                </a:solidFill>
              </a:rPr>
              <a:t>GET</a:t>
            </a:r>
          </a:p>
        </p:txBody>
      </p:sp>
      <p:sp>
        <p:nvSpPr>
          <p:cNvPr id="11" name="Rectangle 10"/>
          <p:cNvSpPr>
            <a:spLocks/>
          </p:cNvSpPr>
          <p:nvPr/>
        </p:nvSpPr>
        <p:spPr>
          <a:xfrm>
            <a:off x="658368" y="1783080"/>
            <a:ext cx="3154680" cy="685800"/>
          </a:xfrm>
          <a:prstGeom prst="rect">
            <a:avLst/>
          </a:prstGeom>
          <a:solidFill>
            <a:srgbClr val="1E2B40"/>
          </a:solidFill>
          <a:ln>
            <a:no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t"/>
          <a:lstStyle/>
          <a:p>
            <a:pPr algn="l"/>
            <a:r>
              <a:rPr lang="en-GB" sz="1400" b="1">
                <a:solidFill>
                  <a:srgbClr val="E6ECF4"/>
                </a:solidFill>
                <a:latin typeface="Consolas"/>
              </a:rPr>
              <a:t>show system interface port2</a:t>
            </a:r>
          </a:p>
        </p:txBody>
      </p:sp>
      <p:sp>
        <p:nvSpPr>
          <p:cNvPr id="12" name="Rectangle 11"/>
          <p:cNvSpPr>
            <a:spLocks/>
          </p:cNvSpPr>
          <p:nvPr/>
        </p:nvSpPr>
        <p:spPr>
          <a:xfrm>
            <a:off x="4315968" y="1783080"/>
            <a:ext cx="3154680" cy="685800"/>
          </a:xfrm>
          <a:prstGeom prst="rect">
            <a:avLst/>
          </a:prstGeom>
          <a:solidFill>
            <a:srgbClr val="1E2B40"/>
          </a:solidFill>
          <a:ln>
            <a:no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t"/>
          <a:lstStyle/>
          <a:p>
            <a:pPr algn="l"/>
            <a:r>
              <a:rPr lang="en-GB" sz="1300" b="1">
                <a:solidFill>
                  <a:srgbClr val="E6ECF4"/>
                </a:solidFill>
                <a:latin typeface="Consolas"/>
              </a:rPr>
              <a:t>show full-configuration
system interface port2</a:t>
            </a:r>
          </a:p>
        </p:txBody>
      </p:sp>
      <p:sp>
        <p:nvSpPr>
          <p:cNvPr id="13" name="Rectangle 12"/>
          <p:cNvSpPr/>
          <p:nvPr/>
        </p:nvSpPr>
        <p:spPr>
          <a:xfrm>
            <a:off x="7973568" y="1783080"/>
            <a:ext cx="3154680" cy="685800"/>
          </a:xfrm>
          <a:prstGeom prst="rect">
            <a:avLst/>
          </a:prstGeom>
          <a:solidFill>
            <a:srgbClr val="1E2B40"/>
          </a:solidFill>
          <a:ln>
            <a:no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t"/>
          <a:lstStyle/>
          <a:p>
            <a:pPr algn="l"/>
            <a:r>
              <a:rPr sz="1400" b="1">
                <a:solidFill>
                  <a:srgbClr val="E6ECF4"/>
                </a:solidFill>
                <a:latin typeface="Consolas"/>
              </a:rPr>
              <a:t>get system interface physical</a:t>
            </a:r>
          </a:p>
        </p:txBody>
      </p:sp>
      <p:sp>
        <p:nvSpPr>
          <p:cNvPr id="14" name="TextBox 13"/>
          <p:cNvSpPr txBox="1">
            <a:spLocks/>
          </p:cNvSpPr>
          <p:nvPr/>
        </p:nvSpPr>
        <p:spPr>
          <a:xfrm>
            <a:off x="658368" y="2788920"/>
            <a:ext cx="3154680" cy="1463040"/>
          </a:xfrm>
          <a:prstGeom prst="rect">
            <a:avLst/>
          </a:prstGeom>
          <a:noFill/>
        </p:spPr>
        <p:txBody>
          <a:bodyPr wrap="square" lIns="36576" tIns="27432" rIns="36576" bIns="27432">
            <a:spAutoFit/>
          </a:bodyPr>
          <a:lstStyle/>
          <a:p>
            <a:pPr>
              <a:spcAft>
                <a:spcPts val="400"/>
              </a:spcAft>
            </a:pPr>
            <a:r>
              <a:rPr lang="en-GB" sz="1500">
                <a:solidFill>
                  <a:srgbClr val="1E2B40"/>
                </a:solidFill>
              </a:rPr>
              <a:t>• Configured values that differ from defaults</a:t>
            </a:r>
          </a:p>
          <a:p>
            <a:pPr>
              <a:spcAft>
                <a:spcPts val="400"/>
              </a:spcAft>
            </a:pPr>
            <a:r>
              <a:rPr lang="en-GB" sz="1500">
                <a:solidFill>
                  <a:srgbClr val="1E2B40"/>
                </a:solidFill>
              </a:rPr>
              <a:t>• Best concise configuration review</a:t>
            </a:r>
          </a:p>
        </p:txBody>
      </p:sp>
      <p:sp>
        <p:nvSpPr>
          <p:cNvPr id="15" name="TextBox 14"/>
          <p:cNvSpPr txBox="1"/>
          <p:nvPr/>
        </p:nvSpPr>
        <p:spPr>
          <a:xfrm>
            <a:off x="4315968" y="2788920"/>
            <a:ext cx="3154680" cy="1030026"/>
          </a:xfrm>
          <a:prstGeom prst="rect">
            <a:avLst/>
          </a:prstGeom>
          <a:noFill/>
        </p:spPr>
        <p:txBody>
          <a:bodyPr wrap="square" lIns="36576" tIns="27432" rIns="36576" bIns="27432">
            <a:spAutoFit/>
          </a:bodyPr>
          <a:lstStyle/>
          <a:p>
            <a:pPr>
              <a:spcAft>
                <a:spcPts val="400"/>
              </a:spcAft>
            </a:pPr>
            <a:r>
              <a:rPr lang="en-GB" sz="1500">
                <a:solidFill>
                  <a:srgbClr val="1E2B40"/>
                </a:solidFill>
              </a:rPr>
              <a:t>• All configured fields plus default values</a:t>
            </a:r>
          </a:p>
          <a:p>
            <a:pPr>
              <a:spcAft>
                <a:spcPts val="400"/>
              </a:spcAft>
            </a:pPr>
            <a:r>
              <a:rPr lang="en-GB" sz="1500">
                <a:solidFill>
                  <a:srgbClr val="1E2B40"/>
                </a:solidFill>
              </a:rPr>
              <a:t>• Useful when absence from show is ambiguous</a:t>
            </a:r>
          </a:p>
        </p:txBody>
      </p:sp>
      <p:sp>
        <p:nvSpPr>
          <p:cNvPr id="16" name="TextBox 15"/>
          <p:cNvSpPr txBox="1"/>
          <p:nvPr/>
        </p:nvSpPr>
        <p:spPr>
          <a:xfrm>
            <a:off x="7973568" y="2788920"/>
            <a:ext cx="3154680" cy="1030026"/>
          </a:xfrm>
          <a:prstGeom prst="rect">
            <a:avLst/>
          </a:prstGeom>
          <a:noFill/>
        </p:spPr>
        <p:txBody>
          <a:bodyPr wrap="square" lIns="36576" tIns="27432" rIns="36576" bIns="27432">
            <a:spAutoFit/>
          </a:bodyPr>
          <a:lstStyle/>
          <a:p>
            <a:pPr>
              <a:spcAft>
                <a:spcPts val="400"/>
              </a:spcAft>
            </a:pPr>
            <a:r>
              <a:rPr lang="en-GB" sz="1500">
                <a:solidFill>
                  <a:srgbClr val="1E2B40"/>
                </a:solidFill>
              </a:rPr>
              <a:t>• Operational interface state across the system</a:t>
            </a:r>
          </a:p>
          <a:p>
            <a:pPr>
              <a:spcAft>
                <a:spcPts val="400"/>
              </a:spcAft>
            </a:pPr>
            <a:r>
              <a:rPr lang="en-GB" sz="1500">
                <a:solidFill>
                  <a:srgbClr val="1E2B40"/>
                </a:solidFill>
              </a:rPr>
              <a:t>• Link/runtime output—not a restorable config</a:t>
            </a:r>
          </a:p>
        </p:txBody>
      </p:sp>
      <p:sp>
        <p:nvSpPr>
          <p:cNvPr id="17" name="TextBox 16"/>
          <p:cNvSpPr txBox="1"/>
          <p:nvPr/>
        </p:nvSpPr>
        <p:spPr>
          <a:xfrm>
            <a:off x="658368" y="5321808"/>
            <a:ext cx="10561320" cy="502920"/>
          </a:xfrm>
          <a:prstGeom prst="rect">
            <a:avLst/>
          </a:prstGeom>
          <a:noFill/>
        </p:spPr>
        <p:txBody>
          <a:bodyPr wrap="square" lIns="36576" tIns="36576" rIns="36576" bIns="36576" anchor="t">
            <a:spAutoFit/>
          </a:bodyPr>
          <a:lstStyle/>
          <a:p>
            <a:pPr algn="l"/>
            <a:r>
              <a:rPr sz="1400" b="1">
                <a:solidFill>
                  <a:srgbClr val="E60012"/>
                </a:solidFill>
              </a:rPr>
              <a:t>A show text dump is useful for review, but it is not automatically a complete, encrypted, restorable backup.</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2000"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p:nvPr/>
        </p:nvSpPr>
        <p:spPr>
          <a:xfrm>
            <a:off x="502920" y="219456"/>
            <a:ext cx="3657600" cy="146304"/>
          </a:xfrm>
          <a:prstGeom prst="rect">
            <a:avLst/>
          </a:prstGeom>
          <a:noFill/>
        </p:spPr>
        <p:txBody>
          <a:bodyPr wrap="square" lIns="36576" tIns="36576" rIns="36576" bIns="36576" anchor="t">
            <a:spAutoFit/>
          </a:bodyPr>
          <a:lstStyle/>
          <a:p>
            <a:pPr algn="l"/>
            <a:r>
              <a:rPr sz="750" b="1">
                <a:solidFill>
                  <a:srgbClr val="687385"/>
                </a:solidFill>
              </a:rPr>
              <a:t>FORTIGATE ADMINISTRATOR COURSE</a:t>
            </a:r>
          </a:p>
        </p:txBody>
      </p:sp>
      <p:sp>
        <p:nvSpPr>
          <p:cNvPr id="4" name="TextBox 3"/>
          <p:cNvSpPr txBox="1"/>
          <p:nvPr/>
        </p:nvSpPr>
        <p:spPr>
          <a:xfrm>
            <a:off x="502920" y="420624"/>
            <a:ext cx="10744200" cy="128016"/>
          </a:xfrm>
          <a:prstGeom prst="rect">
            <a:avLst/>
          </a:prstGeom>
          <a:noFill/>
        </p:spPr>
        <p:txBody>
          <a:bodyPr wrap="square" lIns="36576" tIns="36576" rIns="36576" bIns="36576" anchor="t">
            <a:spAutoFit/>
          </a:bodyPr>
          <a:lstStyle/>
          <a:p>
            <a:pPr algn="l"/>
            <a:r>
              <a:rPr sz="850" b="1">
                <a:solidFill>
                  <a:srgbClr val="687385"/>
                </a:solidFill>
              </a:rPr>
              <a:t>022 • DAY 1 • BLOCK 02 • Introduction &amp; Initial Configuration</a:t>
            </a:r>
          </a:p>
        </p:txBody>
      </p:sp>
      <p:sp>
        <p:nvSpPr>
          <p:cNvPr id="5" name="TextBox 4"/>
          <p:cNvSpPr txBox="1"/>
          <p:nvPr/>
        </p:nvSpPr>
        <p:spPr>
          <a:xfrm>
            <a:off x="502920" y="621792"/>
            <a:ext cx="11109960" cy="530352"/>
          </a:xfrm>
          <a:prstGeom prst="rect">
            <a:avLst/>
          </a:prstGeom>
          <a:noFill/>
        </p:spPr>
        <p:txBody>
          <a:bodyPr wrap="square" lIns="36576" tIns="36576" rIns="36576" bIns="36576" anchor="t">
            <a:spAutoFit/>
          </a:bodyPr>
          <a:lstStyle/>
          <a:p>
            <a:pPr algn="l"/>
            <a:r>
              <a:rPr sz="2600" b="1">
                <a:solidFill>
                  <a:srgbClr val="1E2B40"/>
                </a:solidFill>
              </a:rPr>
              <a:t>Applying, persisting and exporting are different actions</a:t>
            </a:r>
          </a:p>
        </p:txBody>
      </p:sp>
      <p:sp>
        <p:nvSpPr>
          <p:cNvPr id="6" name="Rectangle 5"/>
          <p:cNvSpPr/>
          <p:nvPr/>
        </p:nvSpPr>
        <p:spPr>
          <a:xfrm>
            <a:off x="502920" y="6473952"/>
            <a:ext cx="11183112" cy="9144"/>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109960" y="6528816"/>
            <a:ext cx="502920" cy="164592"/>
          </a:xfrm>
          <a:prstGeom prst="rect">
            <a:avLst/>
          </a:prstGeom>
          <a:noFill/>
        </p:spPr>
        <p:txBody>
          <a:bodyPr wrap="square" lIns="36576" tIns="36576" rIns="36576" bIns="36576" anchor="t">
            <a:spAutoFit/>
          </a:bodyPr>
          <a:lstStyle/>
          <a:p>
            <a:pPr algn="r"/>
            <a:r>
              <a:rPr sz="750" b="0">
                <a:solidFill>
                  <a:srgbClr val="687385"/>
                </a:solidFill>
              </a:rPr>
              <a:t>22</a:t>
            </a:r>
          </a:p>
        </p:txBody>
      </p:sp>
      <p:sp>
        <p:nvSpPr>
          <p:cNvPr id="8" name="TextBox 7"/>
          <p:cNvSpPr txBox="1">
            <a:spLocks/>
          </p:cNvSpPr>
          <p:nvPr/>
        </p:nvSpPr>
        <p:spPr>
          <a:xfrm>
            <a:off x="658368" y="1847088"/>
            <a:ext cx="310896" cy="227755"/>
          </a:xfrm>
          <a:prstGeom prst="rect">
            <a:avLst/>
          </a:prstGeom>
          <a:noFill/>
        </p:spPr>
        <p:txBody>
          <a:bodyPr wrap="square" lIns="36576" tIns="36576" rIns="36576" bIns="36576" anchor="t">
            <a:spAutoFit/>
          </a:bodyPr>
          <a:lstStyle/>
          <a:p>
            <a:pPr algn="l"/>
            <a:r>
              <a:rPr lang="en-HU" sz="1000" b="1">
                <a:solidFill>
                  <a:srgbClr val="E60012"/>
                </a:solidFill>
              </a:rPr>
              <a:t>1</a:t>
            </a:r>
          </a:p>
        </p:txBody>
      </p:sp>
      <p:sp>
        <p:nvSpPr>
          <p:cNvPr id="9" name="Rectangle 8"/>
          <p:cNvSpPr>
            <a:spLocks/>
          </p:cNvSpPr>
          <p:nvPr/>
        </p:nvSpPr>
        <p:spPr>
          <a:xfrm>
            <a:off x="658368" y="2167128"/>
            <a:ext cx="2331720" cy="329184"/>
          </a:xfrm>
          <a:prstGeom prst="rect">
            <a:avLst/>
          </a:prstGeom>
          <a:solidFill>
            <a:srgbClr val="1E2B40"/>
          </a:solidFill>
          <a:ln>
            <a:no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lang="en-GB" sz="1500" b="1">
                <a:solidFill>
                  <a:srgbClr val="FFFFFF"/>
                </a:solidFill>
              </a:rPr>
              <a:t>EDIT</a:t>
            </a:r>
          </a:p>
        </p:txBody>
      </p:sp>
      <p:sp>
        <p:nvSpPr>
          <p:cNvPr id="10" name="TextBox 9"/>
          <p:cNvSpPr txBox="1">
            <a:spLocks/>
          </p:cNvSpPr>
          <p:nvPr/>
        </p:nvSpPr>
        <p:spPr>
          <a:xfrm>
            <a:off x="658368" y="2670048"/>
            <a:ext cx="2331720" cy="273921"/>
          </a:xfrm>
          <a:prstGeom prst="rect">
            <a:avLst/>
          </a:prstGeom>
          <a:noFill/>
        </p:spPr>
        <p:txBody>
          <a:bodyPr wrap="square" lIns="36576" tIns="36576" rIns="36576" bIns="36576" anchor="t">
            <a:spAutoFit/>
          </a:bodyPr>
          <a:lstStyle/>
          <a:p>
            <a:pPr algn="ctr"/>
            <a:r>
              <a:rPr lang="en-GB" sz="1300" b="1">
                <a:solidFill>
                  <a:srgbClr val="1E2B40"/>
                </a:solidFill>
              </a:rPr>
              <a:t>set / unset / next / end</a:t>
            </a:r>
          </a:p>
        </p:txBody>
      </p:sp>
      <p:sp>
        <p:nvSpPr>
          <p:cNvPr id="11" name="Right Arrow 10"/>
          <p:cNvSpPr/>
          <p:nvPr/>
        </p:nvSpPr>
        <p:spPr>
          <a:xfrm>
            <a:off x="3063239" y="2331720"/>
            <a:ext cx="228600" cy="137160"/>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a:spLocks/>
          </p:cNvSpPr>
          <p:nvPr/>
        </p:nvSpPr>
        <p:spPr>
          <a:xfrm>
            <a:off x="3401568" y="1847088"/>
            <a:ext cx="310896" cy="227755"/>
          </a:xfrm>
          <a:prstGeom prst="rect">
            <a:avLst/>
          </a:prstGeom>
          <a:noFill/>
        </p:spPr>
        <p:txBody>
          <a:bodyPr wrap="square" lIns="36576" tIns="36576" rIns="36576" bIns="36576" anchor="t">
            <a:spAutoFit/>
          </a:bodyPr>
          <a:lstStyle/>
          <a:p>
            <a:pPr algn="l"/>
            <a:r>
              <a:rPr lang="en-HU" sz="1000" b="1">
                <a:solidFill>
                  <a:srgbClr val="E60012"/>
                </a:solidFill>
              </a:rPr>
              <a:t>2</a:t>
            </a:r>
          </a:p>
        </p:txBody>
      </p:sp>
      <p:sp>
        <p:nvSpPr>
          <p:cNvPr id="13" name="Rectangle 12"/>
          <p:cNvSpPr>
            <a:spLocks/>
          </p:cNvSpPr>
          <p:nvPr/>
        </p:nvSpPr>
        <p:spPr>
          <a:xfrm>
            <a:off x="3401568" y="2167128"/>
            <a:ext cx="2331720" cy="329184"/>
          </a:xfrm>
          <a:prstGeom prst="rect">
            <a:avLst/>
          </a:prstGeom>
          <a:solidFill>
            <a:srgbClr val="1E2B40"/>
          </a:solidFill>
          <a:ln>
            <a:no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lang="en-GB" sz="1500" b="1">
                <a:solidFill>
                  <a:srgbClr val="FFFFFF"/>
                </a:solidFill>
              </a:rPr>
              <a:t>ACTIVE STATE</a:t>
            </a:r>
          </a:p>
        </p:txBody>
      </p:sp>
      <p:sp>
        <p:nvSpPr>
          <p:cNvPr id="14" name="TextBox 13"/>
          <p:cNvSpPr txBox="1">
            <a:spLocks/>
          </p:cNvSpPr>
          <p:nvPr/>
        </p:nvSpPr>
        <p:spPr>
          <a:xfrm>
            <a:off x="3401568" y="2670048"/>
            <a:ext cx="2331720" cy="473976"/>
          </a:xfrm>
          <a:prstGeom prst="rect">
            <a:avLst/>
          </a:prstGeom>
          <a:noFill/>
        </p:spPr>
        <p:txBody>
          <a:bodyPr wrap="square" lIns="36576" tIns="36576" rIns="36576" bIns="36576" anchor="t">
            <a:spAutoFit/>
          </a:bodyPr>
          <a:lstStyle/>
          <a:p>
            <a:pPr algn="ctr"/>
            <a:r>
              <a:rPr lang="en-GB" sz="1300" b="1">
                <a:solidFill>
                  <a:srgbClr val="1E2B40"/>
                </a:solidFill>
              </a:rPr>
              <a:t>Accepted changes can affect traffic</a:t>
            </a:r>
          </a:p>
        </p:txBody>
      </p:sp>
      <p:sp>
        <p:nvSpPr>
          <p:cNvPr id="15" name="Right Arrow 14"/>
          <p:cNvSpPr>
            <a:spLocks/>
          </p:cNvSpPr>
          <p:nvPr/>
        </p:nvSpPr>
        <p:spPr>
          <a:xfrm>
            <a:off x="5806440" y="2331720"/>
            <a:ext cx="228600" cy="137160"/>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6" name="TextBox 15"/>
          <p:cNvSpPr txBox="1">
            <a:spLocks/>
          </p:cNvSpPr>
          <p:nvPr/>
        </p:nvSpPr>
        <p:spPr>
          <a:xfrm>
            <a:off x="6144768" y="1847088"/>
            <a:ext cx="310896" cy="227755"/>
          </a:xfrm>
          <a:prstGeom prst="rect">
            <a:avLst/>
          </a:prstGeom>
          <a:noFill/>
        </p:spPr>
        <p:txBody>
          <a:bodyPr wrap="square" lIns="36576" tIns="36576" rIns="36576" bIns="36576" anchor="t">
            <a:spAutoFit/>
          </a:bodyPr>
          <a:lstStyle/>
          <a:p>
            <a:pPr algn="l"/>
            <a:r>
              <a:rPr lang="en-HU" sz="1000" b="1">
                <a:solidFill>
                  <a:srgbClr val="E60012"/>
                </a:solidFill>
              </a:rPr>
              <a:t>3</a:t>
            </a:r>
          </a:p>
        </p:txBody>
      </p:sp>
      <p:sp>
        <p:nvSpPr>
          <p:cNvPr id="17" name="Rectangle 16"/>
          <p:cNvSpPr>
            <a:spLocks/>
          </p:cNvSpPr>
          <p:nvPr/>
        </p:nvSpPr>
        <p:spPr>
          <a:xfrm>
            <a:off x="6144768" y="2167128"/>
            <a:ext cx="2331720" cy="329184"/>
          </a:xfrm>
          <a:prstGeom prst="rect">
            <a:avLst/>
          </a:prstGeom>
          <a:solidFill>
            <a:srgbClr val="1E2B40"/>
          </a:solidFill>
          <a:ln>
            <a:no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lang="en-GB" sz="1500" b="1">
                <a:solidFill>
                  <a:srgbClr val="FFFFFF"/>
                </a:solidFill>
              </a:rPr>
              <a:t>PERSISTENCE</a:t>
            </a:r>
          </a:p>
        </p:txBody>
      </p:sp>
      <p:sp>
        <p:nvSpPr>
          <p:cNvPr id="18" name="TextBox 17"/>
          <p:cNvSpPr txBox="1">
            <a:spLocks/>
          </p:cNvSpPr>
          <p:nvPr/>
        </p:nvSpPr>
        <p:spPr>
          <a:xfrm>
            <a:off x="6144768" y="2670048"/>
            <a:ext cx="2331720" cy="473976"/>
          </a:xfrm>
          <a:prstGeom prst="rect">
            <a:avLst/>
          </a:prstGeom>
          <a:noFill/>
        </p:spPr>
        <p:txBody>
          <a:bodyPr wrap="square" lIns="36576" tIns="36576" rIns="36576" bIns="36576" anchor="t">
            <a:spAutoFit/>
          </a:bodyPr>
          <a:lstStyle/>
          <a:p>
            <a:pPr algn="ctr"/>
            <a:r>
              <a:rPr lang="en-GB" sz="1300" b="1">
                <a:solidFill>
                  <a:srgbClr val="1E2B40"/>
                </a:solidFill>
              </a:rPr>
              <a:t>cfg-save mode controls storage</a:t>
            </a:r>
          </a:p>
        </p:txBody>
      </p:sp>
      <p:sp>
        <p:nvSpPr>
          <p:cNvPr id="19" name="Right Arrow 18"/>
          <p:cNvSpPr/>
          <p:nvPr/>
        </p:nvSpPr>
        <p:spPr>
          <a:xfrm>
            <a:off x="8549640" y="2331720"/>
            <a:ext cx="228600" cy="137160"/>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887968" y="1847088"/>
            <a:ext cx="310896" cy="219456"/>
          </a:xfrm>
          <a:prstGeom prst="rect">
            <a:avLst/>
          </a:prstGeom>
          <a:noFill/>
        </p:spPr>
        <p:txBody>
          <a:bodyPr wrap="square" lIns="36576" tIns="36576" rIns="36576" bIns="36576" anchor="t">
            <a:spAutoFit/>
          </a:bodyPr>
          <a:lstStyle/>
          <a:p>
            <a:pPr algn="l"/>
            <a:r>
              <a:rPr sz="1000" b="1">
                <a:solidFill>
                  <a:srgbClr val="E60012"/>
                </a:solidFill>
              </a:rPr>
              <a:t>4</a:t>
            </a:r>
          </a:p>
        </p:txBody>
      </p:sp>
      <p:sp>
        <p:nvSpPr>
          <p:cNvPr id="21" name="Rectangle 20"/>
          <p:cNvSpPr/>
          <p:nvPr/>
        </p:nvSpPr>
        <p:spPr>
          <a:xfrm>
            <a:off x="8887968" y="2167128"/>
            <a:ext cx="2331720" cy="329184"/>
          </a:xfrm>
          <a:prstGeom prst="rect">
            <a:avLst/>
          </a:prstGeom>
          <a:solidFill>
            <a:srgbClr val="1E2B40"/>
          </a:solidFill>
          <a:ln>
            <a:no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500" b="1">
                <a:solidFill>
                  <a:srgbClr val="FFFFFF"/>
                </a:solidFill>
              </a:rPr>
              <a:t>BACKUP FILE</a:t>
            </a:r>
          </a:p>
        </p:txBody>
      </p:sp>
      <p:sp>
        <p:nvSpPr>
          <p:cNvPr id="22" name="TextBox 21"/>
          <p:cNvSpPr txBox="1"/>
          <p:nvPr/>
        </p:nvSpPr>
        <p:spPr>
          <a:xfrm>
            <a:off x="8887968" y="2670048"/>
            <a:ext cx="2331720" cy="932688"/>
          </a:xfrm>
          <a:prstGeom prst="rect">
            <a:avLst/>
          </a:prstGeom>
          <a:noFill/>
        </p:spPr>
        <p:txBody>
          <a:bodyPr wrap="square" lIns="36576" tIns="36576" rIns="36576" bIns="36576" anchor="t">
            <a:spAutoFit/>
          </a:bodyPr>
          <a:lstStyle/>
          <a:p>
            <a:pPr algn="ctr"/>
            <a:r>
              <a:rPr sz="1300" b="1">
                <a:solidFill>
                  <a:srgbClr val="1E2B40"/>
                </a:solidFill>
              </a:rPr>
              <a:t>Export creates a separate recovery file</a:t>
            </a:r>
          </a:p>
        </p:txBody>
      </p:sp>
      <p:sp>
        <p:nvSpPr>
          <p:cNvPr id="23" name="TextBox 22"/>
          <p:cNvSpPr txBox="1"/>
          <p:nvPr/>
        </p:nvSpPr>
        <p:spPr>
          <a:xfrm>
            <a:off x="658368" y="4133087"/>
            <a:ext cx="2971800" cy="228600"/>
          </a:xfrm>
          <a:prstGeom prst="rect">
            <a:avLst/>
          </a:prstGeom>
          <a:noFill/>
        </p:spPr>
        <p:txBody>
          <a:bodyPr wrap="square" lIns="36576" tIns="36576" rIns="36576" bIns="36576" anchor="t">
            <a:spAutoFit/>
          </a:bodyPr>
          <a:lstStyle/>
          <a:p>
            <a:pPr algn="l"/>
            <a:r>
              <a:rPr sz="1000" b="1">
                <a:solidFill>
                  <a:srgbClr val="E60012"/>
                </a:solidFill>
              </a:rPr>
              <a:t>INSPECT—DO NOT CHANGE IN CLASS</a:t>
            </a:r>
          </a:p>
        </p:txBody>
      </p:sp>
      <p:sp>
        <p:nvSpPr>
          <p:cNvPr id="24" name="Rectangle 23"/>
          <p:cNvSpPr/>
          <p:nvPr/>
        </p:nvSpPr>
        <p:spPr>
          <a:xfrm>
            <a:off x="658368" y="4507992"/>
            <a:ext cx="6492240" cy="566928"/>
          </a:xfrm>
          <a:prstGeom prst="rect">
            <a:avLst/>
          </a:prstGeom>
          <a:solidFill>
            <a:srgbClr val="1E2B40"/>
          </a:solidFill>
          <a:ln>
            <a:no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t"/>
          <a:lstStyle/>
          <a:p>
            <a:pPr algn="l"/>
            <a:r>
              <a:rPr sz="1400" b="0">
                <a:solidFill>
                  <a:srgbClr val="E6ECF4"/>
                </a:solidFill>
                <a:latin typeface="Consolas"/>
              </a:rPr>
              <a:t>show full-configuration system global | grep cfg-save</a:t>
            </a:r>
          </a:p>
        </p:txBody>
      </p:sp>
      <p:sp>
        <p:nvSpPr>
          <p:cNvPr id="25" name="TextBox 24"/>
          <p:cNvSpPr txBox="1"/>
          <p:nvPr/>
        </p:nvSpPr>
        <p:spPr>
          <a:xfrm>
            <a:off x="658368" y="5321808"/>
            <a:ext cx="10515600" cy="530352"/>
          </a:xfrm>
          <a:prstGeom prst="rect">
            <a:avLst/>
          </a:prstGeom>
          <a:noFill/>
        </p:spPr>
        <p:txBody>
          <a:bodyPr wrap="square" lIns="36576" tIns="36576" rIns="36576" bIns="36576" anchor="t">
            <a:spAutoFit/>
          </a:bodyPr>
          <a:lstStyle/>
          <a:p>
            <a:pPr algn="l"/>
            <a:r>
              <a:rPr sz="1400" b="1">
                <a:solidFill>
                  <a:srgbClr val="E60012"/>
                </a:solidFill>
              </a:rPr>
              <a:t>Manual mode uses execute cfg save; there is no universal “copy running-config startup-config” workflow.</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2000"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p:nvPr/>
        </p:nvSpPr>
        <p:spPr>
          <a:xfrm>
            <a:off x="502920" y="219456"/>
            <a:ext cx="3657600" cy="146304"/>
          </a:xfrm>
          <a:prstGeom prst="rect">
            <a:avLst/>
          </a:prstGeom>
          <a:noFill/>
        </p:spPr>
        <p:txBody>
          <a:bodyPr wrap="square" lIns="36576" tIns="36576" rIns="36576" bIns="36576" anchor="t">
            <a:spAutoFit/>
          </a:bodyPr>
          <a:lstStyle/>
          <a:p>
            <a:pPr algn="l"/>
            <a:r>
              <a:rPr sz="750" b="1">
                <a:solidFill>
                  <a:srgbClr val="687385"/>
                </a:solidFill>
              </a:rPr>
              <a:t>FORTIGATE ADMINISTRATOR COURSE</a:t>
            </a:r>
          </a:p>
        </p:txBody>
      </p:sp>
      <p:sp>
        <p:nvSpPr>
          <p:cNvPr id="4" name="TextBox 3"/>
          <p:cNvSpPr txBox="1"/>
          <p:nvPr/>
        </p:nvSpPr>
        <p:spPr>
          <a:xfrm>
            <a:off x="502920" y="420624"/>
            <a:ext cx="10744200" cy="128016"/>
          </a:xfrm>
          <a:prstGeom prst="rect">
            <a:avLst/>
          </a:prstGeom>
          <a:noFill/>
        </p:spPr>
        <p:txBody>
          <a:bodyPr wrap="square" lIns="36576" tIns="36576" rIns="36576" bIns="36576" anchor="t">
            <a:spAutoFit/>
          </a:bodyPr>
          <a:lstStyle/>
          <a:p>
            <a:pPr algn="l"/>
            <a:r>
              <a:rPr sz="850" b="1">
                <a:solidFill>
                  <a:srgbClr val="687385"/>
                </a:solidFill>
              </a:rPr>
              <a:t>023 • DAY 1 • BLOCK 02 • Introduction &amp; Initial Configuration</a:t>
            </a:r>
          </a:p>
        </p:txBody>
      </p:sp>
      <p:sp>
        <p:nvSpPr>
          <p:cNvPr id="5" name="TextBox 4"/>
          <p:cNvSpPr txBox="1"/>
          <p:nvPr/>
        </p:nvSpPr>
        <p:spPr>
          <a:xfrm>
            <a:off x="502920" y="621792"/>
            <a:ext cx="11109960" cy="530352"/>
          </a:xfrm>
          <a:prstGeom prst="rect">
            <a:avLst/>
          </a:prstGeom>
          <a:noFill/>
        </p:spPr>
        <p:txBody>
          <a:bodyPr wrap="square" lIns="36576" tIns="36576" rIns="36576" bIns="36576" anchor="t">
            <a:spAutoFit/>
          </a:bodyPr>
          <a:lstStyle/>
          <a:p>
            <a:pPr algn="l"/>
            <a:r>
              <a:rPr sz="2600" b="1">
                <a:solidFill>
                  <a:srgbClr val="1E2B40"/>
                </a:solidFill>
              </a:rPr>
              <a:t>Back up from FortiGate to controlled storage</a:t>
            </a:r>
          </a:p>
        </p:txBody>
      </p:sp>
      <p:sp>
        <p:nvSpPr>
          <p:cNvPr id="6" name="Rectangle 5"/>
          <p:cNvSpPr/>
          <p:nvPr/>
        </p:nvSpPr>
        <p:spPr>
          <a:xfrm>
            <a:off x="502920" y="6473952"/>
            <a:ext cx="11183112" cy="9144"/>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109960" y="6528816"/>
            <a:ext cx="502920" cy="164592"/>
          </a:xfrm>
          <a:prstGeom prst="rect">
            <a:avLst/>
          </a:prstGeom>
          <a:noFill/>
        </p:spPr>
        <p:txBody>
          <a:bodyPr wrap="square" lIns="36576" tIns="36576" rIns="36576" bIns="36576" anchor="t">
            <a:spAutoFit/>
          </a:bodyPr>
          <a:lstStyle/>
          <a:p>
            <a:pPr algn="r"/>
            <a:r>
              <a:rPr sz="750" b="0">
                <a:solidFill>
                  <a:srgbClr val="687385"/>
                </a:solidFill>
              </a:rPr>
              <a:t>23</a:t>
            </a:r>
          </a:p>
        </p:txBody>
      </p:sp>
      <p:sp>
        <p:nvSpPr>
          <p:cNvPr id="8" name="Rectangle 7"/>
          <p:cNvSpPr>
            <a:spLocks/>
          </p:cNvSpPr>
          <p:nvPr/>
        </p:nvSpPr>
        <p:spPr>
          <a:xfrm>
            <a:off x="914400" y="1874519"/>
            <a:ext cx="2468880" cy="438912"/>
          </a:xfrm>
          <a:prstGeom prst="rect">
            <a:avLst/>
          </a:prstGeom>
          <a:solidFill>
            <a:srgbClr val="1E2B40"/>
          </a:solidFill>
          <a:ln>
            <a:no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lang="en-GB" sz="1500" b="1">
                <a:solidFill>
                  <a:srgbClr val="FFFFFF"/>
                </a:solidFill>
              </a:rPr>
              <a:t>STUDENT N FGT</a:t>
            </a:r>
          </a:p>
        </p:txBody>
      </p:sp>
      <p:sp>
        <p:nvSpPr>
          <p:cNvPr id="9" name="TextBox 8"/>
          <p:cNvSpPr txBox="1">
            <a:spLocks/>
          </p:cNvSpPr>
          <p:nvPr/>
        </p:nvSpPr>
        <p:spPr>
          <a:xfrm>
            <a:off x="914400" y="2404872"/>
            <a:ext cx="2468880" cy="473976"/>
          </a:xfrm>
          <a:prstGeom prst="rect">
            <a:avLst/>
          </a:prstGeom>
          <a:noFill/>
        </p:spPr>
        <p:txBody>
          <a:bodyPr wrap="square" lIns="36576" tIns="36576" rIns="36576" bIns="36576" anchor="t">
            <a:spAutoFit/>
          </a:bodyPr>
          <a:lstStyle/>
          <a:p>
            <a:pPr algn="ctr"/>
            <a:r>
              <a:rPr lang="en-GB" sz="1300" b="1">
                <a:solidFill>
                  <a:srgbClr val="1E2B40"/>
                </a:solidFill>
              </a:rPr>
              <a:t>configuration scope: global or VDOM-aware</a:t>
            </a:r>
          </a:p>
        </p:txBody>
      </p:sp>
      <p:sp>
        <p:nvSpPr>
          <p:cNvPr id="10" name="Rectangle 9"/>
          <p:cNvSpPr>
            <a:spLocks/>
          </p:cNvSpPr>
          <p:nvPr/>
        </p:nvSpPr>
        <p:spPr>
          <a:xfrm>
            <a:off x="4800600" y="1874519"/>
            <a:ext cx="2468880" cy="438912"/>
          </a:xfrm>
          <a:prstGeom prst="rect">
            <a:avLst/>
          </a:prstGeom>
          <a:solidFill>
            <a:srgbClr val="1E2B40"/>
          </a:solidFill>
          <a:ln>
            <a:no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lang="en-GB" sz="1500" b="1">
                <a:solidFill>
                  <a:srgbClr val="FFFFFF"/>
                </a:solidFill>
              </a:rPr>
              <a:t>BACKUP FILE</a:t>
            </a:r>
          </a:p>
        </p:txBody>
      </p:sp>
      <p:sp>
        <p:nvSpPr>
          <p:cNvPr id="11" name="TextBox 10"/>
          <p:cNvSpPr txBox="1"/>
          <p:nvPr/>
        </p:nvSpPr>
        <p:spPr>
          <a:xfrm>
            <a:off x="4800600" y="2404872"/>
            <a:ext cx="2468880" cy="914400"/>
          </a:xfrm>
          <a:prstGeom prst="rect">
            <a:avLst/>
          </a:prstGeom>
          <a:noFill/>
        </p:spPr>
        <p:txBody>
          <a:bodyPr wrap="square" lIns="36576" tIns="36576" rIns="36576" bIns="36576" anchor="t">
            <a:spAutoFit/>
          </a:bodyPr>
          <a:lstStyle/>
          <a:p>
            <a:pPr algn="ctr"/>
            <a:r>
              <a:rPr sz="1300" b="1">
                <a:solidFill>
                  <a:srgbClr val="1E2B40"/>
                </a:solidFill>
              </a:rPr>
              <a:t>student0N-20261004.conf
optional encryption/password</a:t>
            </a:r>
          </a:p>
        </p:txBody>
      </p:sp>
      <p:sp>
        <p:nvSpPr>
          <p:cNvPr id="12" name="Rectangle 11"/>
          <p:cNvSpPr>
            <a:spLocks/>
          </p:cNvSpPr>
          <p:nvPr/>
        </p:nvSpPr>
        <p:spPr>
          <a:xfrm>
            <a:off x="8686800" y="1874519"/>
            <a:ext cx="2468880" cy="438912"/>
          </a:xfrm>
          <a:prstGeom prst="rect">
            <a:avLst/>
          </a:prstGeom>
          <a:solidFill>
            <a:srgbClr val="1E2B40"/>
          </a:solidFill>
          <a:ln>
            <a:no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lang="en-GB" sz="1500" b="1">
                <a:solidFill>
                  <a:srgbClr val="FFFFFF"/>
                </a:solidFill>
              </a:rPr>
              <a:t>DESTINATION</a:t>
            </a:r>
          </a:p>
        </p:txBody>
      </p:sp>
      <p:sp>
        <p:nvSpPr>
          <p:cNvPr id="13" name="TextBox 12"/>
          <p:cNvSpPr txBox="1">
            <a:spLocks/>
          </p:cNvSpPr>
          <p:nvPr/>
        </p:nvSpPr>
        <p:spPr>
          <a:xfrm>
            <a:off x="8686800" y="2404872"/>
            <a:ext cx="2468880" cy="473976"/>
          </a:xfrm>
          <a:prstGeom prst="rect">
            <a:avLst/>
          </a:prstGeom>
          <a:noFill/>
        </p:spPr>
        <p:txBody>
          <a:bodyPr wrap="square" lIns="36576" tIns="36576" rIns="36576" bIns="36576" anchor="t">
            <a:spAutoFit/>
          </a:bodyPr>
          <a:lstStyle/>
          <a:p>
            <a:pPr algn="ctr"/>
            <a:r>
              <a:rPr lang="en-GB" sz="1300" b="1">
                <a:solidFill>
                  <a:srgbClr val="1E2B40"/>
                </a:solidFill>
              </a:rPr>
              <a:t>browser download
or provisioned SFTP storage</a:t>
            </a:r>
          </a:p>
        </p:txBody>
      </p:sp>
      <p:sp>
        <p:nvSpPr>
          <p:cNvPr id="14" name="Right Arrow 13"/>
          <p:cNvSpPr/>
          <p:nvPr/>
        </p:nvSpPr>
        <p:spPr>
          <a:xfrm>
            <a:off x="3639312" y="2267712"/>
            <a:ext cx="749808" cy="219456"/>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ight Arrow 14"/>
          <p:cNvSpPr>
            <a:spLocks/>
          </p:cNvSpPr>
          <p:nvPr/>
        </p:nvSpPr>
        <p:spPr>
          <a:xfrm>
            <a:off x="7516368" y="2267712"/>
            <a:ext cx="749808" cy="219456"/>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6" name="TextBox 15"/>
          <p:cNvSpPr txBox="1">
            <a:spLocks/>
          </p:cNvSpPr>
          <p:nvPr/>
        </p:nvSpPr>
        <p:spPr>
          <a:xfrm>
            <a:off x="658368" y="3803904"/>
            <a:ext cx="5486400" cy="228600"/>
          </a:xfrm>
          <a:prstGeom prst="rect">
            <a:avLst/>
          </a:prstGeom>
          <a:noFill/>
        </p:spPr>
        <p:txBody>
          <a:bodyPr wrap="square" lIns="36576" tIns="36576" rIns="36576" bIns="36576" anchor="t">
            <a:spAutoFit/>
          </a:bodyPr>
          <a:lstStyle/>
          <a:p>
            <a:pPr algn="l"/>
            <a:r>
              <a:rPr lang="en-GB" sz="1000" b="1">
                <a:solidFill>
                  <a:srgbClr val="E60012"/>
                </a:solidFill>
              </a:rPr>
              <a:t>CLI TRANSFER—ONLY AFTER THE INSTRUCTOR PROVISIONS SFTP</a:t>
            </a:r>
          </a:p>
        </p:txBody>
      </p:sp>
      <p:sp>
        <p:nvSpPr>
          <p:cNvPr id="17" name="Rectangle 16"/>
          <p:cNvSpPr>
            <a:spLocks/>
          </p:cNvSpPr>
          <p:nvPr/>
        </p:nvSpPr>
        <p:spPr>
          <a:xfrm>
            <a:off x="658368" y="4160520"/>
            <a:ext cx="10561320" cy="594360"/>
          </a:xfrm>
          <a:prstGeom prst="rect">
            <a:avLst/>
          </a:prstGeom>
          <a:solidFill>
            <a:srgbClr val="1E2B40"/>
          </a:solidFill>
          <a:ln>
            <a:no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t"/>
          <a:lstStyle/>
          <a:p>
            <a:pPr algn="l"/>
            <a:r>
              <a:rPr lang="en-GB" sz="1400" b="0">
                <a:solidFill>
                  <a:srgbClr val="E6ECF4"/>
                </a:solidFill>
                <a:latin typeface="Consolas"/>
              </a:rPr>
              <a:t>execute backup config sftp &lt;file.conf&gt; &lt;sftp-server&gt; &lt;username&gt; &lt;password&gt;</a:t>
            </a:r>
          </a:p>
        </p:txBody>
      </p:sp>
      <p:sp>
        <p:nvSpPr>
          <p:cNvPr id="18" name="TextBox 17"/>
          <p:cNvSpPr txBox="1">
            <a:spLocks/>
          </p:cNvSpPr>
          <p:nvPr/>
        </p:nvSpPr>
        <p:spPr>
          <a:xfrm>
            <a:off x="658368" y="4956048"/>
            <a:ext cx="10561320" cy="758156"/>
          </a:xfrm>
          <a:prstGeom prst="rect">
            <a:avLst/>
          </a:prstGeom>
          <a:noFill/>
        </p:spPr>
        <p:txBody>
          <a:bodyPr wrap="square" lIns="36576" tIns="27432" rIns="36576" bIns="27432">
            <a:spAutoFit/>
          </a:bodyPr>
          <a:lstStyle/>
          <a:p>
            <a:pPr>
              <a:spcAft>
                <a:spcPts val="400"/>
              </a:spcAft>
            </a:pPr>
            <a:r>
              <a:rPr lang="en-GB" sz="1300">
                <a:solidFill>
                  <a:srgbClr val="1E2B40"/>
                </a:solidFill>
              </a:rPr>
              <a:t>• GUI: use the configuration Backup action and record where the browser saved the file.</a:t>
            </a:r>
          </a:p>
          <a:p>
            <a:pPr>
              <a:spcAft>
                <a:spcPts val="400"/>
              </a:spcAft>
            </a:pPr>
            <a:r>
              <a:rPr lang="en-GB" sz="1300">
                <a:solidFill>
                  <a:srgbClr val="1E2B40"/>
                </a:solidFill>
              </a:rPr>
              <a:t>• Protect credentials and backup files; configs can contain sensitive data.</a:t>
            </a:r>
          </a:p>
          <a:p>
            <a:pPr>
              <a:spcAft>
                <a:spcPts val="400"/>
              </a:spcAft>
            </a:pPr>
            <a:r>
              <a:rPr lang="en-GB" sz="1300">
                <a:solidFill>
                  <a:srgbClr val="1E2B40"/>
                </a:solidFill>
              </a:rPr>
              <a:t>• A show text dump is not automatically a complete restorable backup.</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19456"/>
            <a:ext cx="3657600" cy="146304"/>
          </a:xfrm>
          <a:prstGeom prst="rect">
            <a:avLst/>
          </a:prstGeom>
          <a:noFill/>
        </p:spPr>
        <p:txBody>
          <a:bodyPr wrap="square" lIns="36576" tIns="36576" rIns="36576" bIns="36576" anchor="t">
            <a:spAutoFit/>
          </a:bodyPr>
          <a:lstStyle/>
          <a:p>
            <a:pPr algn="l"/>
            <a:r>
              <a:rPr sz="750" b="1">
                <a:solidFill>
                  <a:srgbClr val="687385"/>
                </a:solidFill>
              </a:rPr>
              <a:t>FORTIGATE ADMINISTRATOR COURSE</a:t>
            </a:r>
          </a:p>
        </p:txBody>
      </p:sp>
      <p:sp>
        <p:nvSpPr>
          <p:cNvPr id="4" name="TextBox 3"/>
          <p:cNvSpPr txBox="1"/>
          <p:nvPr/>
        </p:nvSpPr>
        <p:spPr>
          <a:xfrm>
            <a:off x="502920" y="420624"/>
            <a:ext cx="10744200" cy="128016"/>
          </a:xfrm>
          <a:prstGeom prst="rect">
            <a:avLst/>
          </a:prstGeom>
          <a:noFill/>
        </p:spPr>
        <p:txBody>
          <a:bodyPr wrap="square" lIns="36576" tIns="36576" rIns="36576" bIns="36576" anchor="t">
            <a:spAutoFit/>
          </a:bodyPr>
          <a:lstStyle/>
          <a:p>
            <a:pPr algn="l"/>
            <a:r>
              <a:rPr sz="850" b="1">
                <a:solidFill>
                  <a:srgbClr val="687385"/>
                </a:solidFill>
              </a:rPr>
              <a:t>024 • DAY 1 • BLOCK 02 • Introduction &amp; Initial Configuration</a:t>
            </a:r>
          </a:p>
        </p:txBody>
      </p:sp>
      <p:sp>
        <p:nvSpPr>
          <p:cNvPr id="5" name="TextBox 4"/>
          <p:cNvSpPr txBox="1"/>
          <p:nvPr/>
        </p:nvSpPr>
        <p:spPr>
          <a:xfrm>
            <a:off x="502920" y="621792"/>
            <a:ext cx="11109960" cy="530352"/>
          </a:xfrm>
          <a:prstGeom prst="rect">
            <a:avLst/>
          </a:prstGeom>
          <a:noFill/>
        </p:spPr>
        <p:txBody>
          <a:bodyPr wrap="square" lIns="36576" tIns="36576" rIns="36576" bIns="36576" anchor="t">
            <a:spAutoFit/>
          </a:bodyPr>
          <a:lstStyle/>
          <a:p>
            <a:pPr algn="l"/>
            <a:r>
              <a:rPr sz="2600" b="1">
                <a:solidFill>
                  <a:srgbClr val="1E2B40"/>
                </a:solidFill>
              </a:rPr>
              <a:t>Restore moves a reviewed file back to a disposable appliance</a:t>
            </a:r>
          </a:p>
        </p:txBody>
      </p:sp>
      <p:sp>
        <p:nvSpPr>
          <p:cNvPr id="6" name="Rectangle 5"/>
          <p:cNvSpPr/>
          <p:nvPr/>
        </p:nvSpPr>
        <p:spPr>
          <a:xfrm>
            <a:off x="502920" y="6473952"/>
            <a:ext cx="11183112" cy="9144"/>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109960" y="6528816"/>
            <a:ext cx="502920" cy="164592"/>
          </a:xfrm>
          <a:prstGeom prst="rect">
            <a:avLst/>
          </a:prstGeom>
          <a:noFill/>
        </p:spPr>
        <p:txBody>
          <a:bodyPr wrap="square" lIns="36576" tIns="36576" rIns="36576" bIns="36576" anchor="t">
            <a:spAutoFit/>
          </a:bodyPr>
          <a:lstStyle/>
          <a:p>
            <a:pPr algn="r"/>
            <a:r>
              <a:rPr sz="750" b="0">
                <a:solidFill>
                  <a:srgbClr val="687385"/>
                </a:solidFill>
              </a:rPr>
              <a:t>24</a:t>
            </a:r>
          </a:p>
        </p:txBody>
      </p:sp>
      <p:sp>
        <p:nvSpPr>
          <p:cNvPr id="8" name="Rectangle 7"/>
          <p:cNvSpPr/>
          <p:nvPr/>
        </p:nvSpPr>
        <p:spPr>
          <a:xfrm>
            <a:off x="914400" y="1874519"/>
            <a:ext cx="2468880" cy="438912"/>
          </a:xfrm>
          <a:prstGeom prst="rect">
            <a:avLst/>
          </a:prstGeom>
          <a:solidFill>
            <a:srgbClr val="1E2B40"/>
          </a:solidFill>
          <a:ln>
            <a:no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400" b="1">
                <a:solidFill>
                  <a:srgbClr val="FFFFFF"/>
                </a:solidFill>
              </a:rPr>
              <a:t>CONTROLLED STORAGE</a:t>
            </a:r>
          </a:p>
        </p:txBody>
      </p:sp>
      <p:sp>
        <p:nvSpPr>
          <p:cNvPr id="9" name="TextBox 8"/>
          <p:cNvSpPr txBox="1"/>
          <p:nvPr/>
        </p:nvSpPr>
        <p:spPr>
          <a:xfrm>
            <a:off x="914400" y="2404872"/>
            <a:ext cx="2468880" cy="987552"/>
          </a:xfrm>
          <a:prstGeom prst="rect">
            <a:avLst/>
          </a:prstGeom>
          <a:noFill/>
        </p:spPr>
        <p:txBody>
          <a:bodyPr wrap="square" lIns="36576" tIns="36576" rIns="36576" bIns="36576" anchor="t">
            <a:spAutoFit/>
          </a:bodyPr>
          <a:lstStyle/>
          <a:p>
            <a:pPr algn="ctr"/>
            <a:r>
              <a:rPr sz="1250" b="1">
                <a:solidFill>
                  <a:srgbClr val="1E2B40"/>
                </a:solidFill>
              </a:rPr>
              <a:t>review filename, source pod, encryption and integrity</a:t>
            </a:r>
          </a:p>
        </p:txBody>
      </p:sp>
      <p:sp>
        <p:nvSpPr>
          <p:cNvPr id="10" name="Rectangle 9"/>
          <p:cNvSpPr/>
          <p:nvPr/>
        </p:nvSpPr>
        <p:spPr>
          <a:xfrm>
            <a:off x="4800600" y="1874519"/>
            <a:ext cx="2468880" cy="438912"/>
          </a:xfrm>
          <a:prstGeom prst="rect">
            <a:avLst/>
          </a:prstGeom>
          <a:solidFill>
            <a:srgbClr val="1E2B40"/>
          </a:solidFill>
          <a:ln>
            <a:no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400" b="1">
                <a:solidFill>
                  <a:srgbClr val="FFFFFF"/>
                </a:solidFill>
              </a:rPr>
              <a:t>COMPATIBILITY GATE</a:t>
            </a:r>
          </a:p>
        </p:txBody>
      </p:sp>
      <p:sp>
        <p:nvSpPr>
          <p:cNvPr id="11" name="TextBox 10"/>
          <p:cNvSpPr txBox="1"/>
          <p:nvPr/>
        </p:nvSpPr>
        <p:spPr>
          <a:xfrm>
            <a:off x="4800600" y="2404872"/>
            <a:ext cx="2468880" cy="987552"/>
          </a:xfrm>
          <a:prstGeom prst="rect">
            <a:avLst/>
          </a:prstGeom>
          <a:noFill/>
        </p:spPr>
        <p:txBody>
          <a:bodyPr wrap="square" lIns="36576" tIns="36576" rIns="36576" bIns="36576" anchor="t">
            <a:spAutoFit/>
          </a:bodyPr>
          <a:lstStyle/>
          <a:p>
            <a:pPr algn="ctr"/>
            <a:r>
              <a:rPr sz="1250" b="1">
                <a:solidFill>
                  <a:srgbClr val="1E2B40"/>
                </a:solidFill>
              </a:rPr>
              <a:t>platform/model • build/upgrade path • VDOM • pod addresses</a:t>
            </a:r>
          </a:p>
        </p:txBody>
      </p:sp>
      <p:sp>
        <p:nvSpPr>
          <p:cNvPr id="12" name="Rectangle 11"/>
          <p:cNvSpPr/>
          <p:nvPr/>
        </p:nvSpPr>
        <p:spPr>
          <a:xfrm>
            <a:off x="8686800" y="1874519"/>
            <a:ext cx="2468880" cy="438912"/>
          </a:xfrm>
          <a:prstGeom prst="rect">
            <a:avLst/>
          </a:prstGeom>
          <a:solidFill>
            <a:srgbClr val="1E2B40"/>
          </a:solidFill>
          <a:ln>
            <a:no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400" b="1">
                <a:solidFill>
                  <a:srgbClr val="FFFFFF"/>
                </a:solidFill>
              </a:rPr>
              <a:t>STUDENT N FGT</a:t>
            </a:r>
          </a:p>
        </p:txBody>
      </p:sp>
      <p:sp>
        <p:nvSpPr>
          <p:cNvPr id="13" name="TextBox 12"/>
          <p:cNvSpPr txBox="1"/>
          <p:nvPr/>
        </p:nvSpPr>
        <p:spPr>
          <a:xfrm>
            <a:off x="8686800" y="2404872"/>
            <a:ext cx="2468880" cy="987552"/>
          </a:xfrm>
          <a:prstGeom prst="rect">
            <a:avLst/>
          </a:prstGeom>
          <a:noFill/>
        </p:spPr>
        <p:txBody>
          <a:bodyPr wrap="square" lIns="36576" tIns="36576" rIns="36576" bIns="36576" anchor="t">
            <a:spAutoFit/>
          </a:bodyPr>
          <a:lstStyle/>
          <a:p>
            <a:pPr algn="ctr"/>
            <a:r>
              <a:rPr sz="1250" b="1">
                <a:solidFill>
                  <a:srgbClr val="1E2B40"/>
                </a:solidFill>
              </a:rPr>
              <a:t>upload/transfer → restore → interruption/reboot → verify</a:t>
            </a:r>
          </a:p>
        </p:txBody>
      </p:sp>
      <p:sp>
        <p:nvSpPr>
          <p:cNvPr id="14" name="Right Arrow 13"/>
          <p:cNvSpPr/>
          <p:nvPr/>
        </p:nvSpPr>
        <p:spPr>
          <a:xfrm>
            <a:off x="3639312" y="2267712"/>
            <a:ext cx="749808" cy="219456"/>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ight Arrow 14"/>
          <p:cNvSpPr/>
          <p:nvPr/>
        </p:nvSpPr>
        <p:spPr>
          <a:xfrm>
            <a:off x="7516368" y="2267712"/>
            <a:ext cx="749808" cy="219456"/>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8368" y="3785615"/>
            <a:ext cx="5120640" cy="228600"/>
          </a:xfrm>
          <a:prstGeom prst="rect">
            <a:avLst/>
          </a:prstGeom>
          <a:noFill/>
        </p:spPr>
        <p:txBody>
          <a:bodyPr wrap="square" lIns="36576" tIns="36576" rIns="36576" bIns="36576" anchor="t">
            <a:spAutoFit/>
          </a:bodyPr>
          <a:lstStyle/>
          <a:p>
            <a:pPr algn="l"/>
            <a:r>
              <a:rPr sz="1000" b="1">
                <a:solidFill>
                  <a:srgbClr val="E60012"/>
                </a:solidFill>
              </a:rPr>
              <a:t>POTENTIALLY DISRUPTIVE • INSTRUCTOR-SUPERVISED</a:t>
            </a:r>
          </a:p>
        </p:txBody>
      </p:sp>
      <p:sp>
        <p:nvSpPr>
          <p:cNvPr id="17" name="Rectangle 16"/>
          <p:cNvSpPr/>
          <p:nvPr/>
        </p:nvSpPr>
        <p:spPr>
          <a:xfrm>
            <a:off x="658368" y="4133087"/>
            <a:ext cx="10561320" cy="594360"/>
          </a:xfrm>
          <a:prstGeom prst="rect">
            <a:avLst/>
          </a:prstGeom>
          <a:solidFill>
            <a:srgbClr val="1E2B40"/>
          </a:solidFill>
          <a:ln>
            <a:no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t"/>
          <a:lstStyle/>
          <a:p>
            <a:pPr algn="l"/>
            <a:r>
              <a:rPr sz="1400" b="0">
                <a:solidFill>
                  <a:srgbClr val="E6ECF4"/>
                </a:solidFill>
                <a:latin typeface="Consolas"/>
              </a:rPr>
              <a:t>execute restore config sftp &lt;file.conf&gt; &lt;sftp-server&gt; &lt;username&gt; &lt;password&gt;</a:t>
            </a:r>
          </a:p>
        </p:txBody>
      </p:sp>
      <p:sp>
        <p:nvSpPr>
          <p:cNvPr id="18" name="TextBox 17"/>
          <p:cNvSpPr txBox="1"/>
          <p:nvPr/>
        </p:nvSpPr>
        <p:spPr>
          <a:xfrm>
            <a:off x="658368" y="4892040"/>
            <a:ext cx="10561320" cy="1078992"/>
          </a:xfrm>
          <a:prstGeom prst="rect">
            <a:avLst/>
          </a:prstGeom>
          <a:noFill/>
        </p:spPr>
        <p:txBody>
          <a:bodyPr wrap="square" lIns="36576" tIns="27432" rIns="36576" bIns="27432">
            <a:spAutoFit/>
          </a:bodyPr>
          <a:lstStyle/>
          <a:p>
            <a:pPr>
              <a:spcAft>
                <a:spcPts val="400"/>
              </a:spcAft>
            </a:pPr>
            <a:r>
              <a:rPr sz="1300">
                <a:solidFill>
                  <a:srgbClr val="1E2B40"/>
                </a:solidFill>
              </a:rPr>
              <a:t>• GUI alternative: select the reviewed backup file with the configuration Restore action.</a:t>
            </a:r>
          </a:p>
          <a:p>
            <a:pPr>
              <a:spcAft>
                <a:spcPts val="400"/>
              </a:spcAft>
            </a:pPr>
            <a:r>
              <a:rPr sz="1300">
                <a:solidFill>
                  <a:srgbClr val="1E2B40"/>
                </a:solidFill>
              </a:rPr>
              <a:t>• Expect management interruption or reboot; verify build, interfaces, routes, DNS and client forwarding afterward.</a:t>
            </a:r>
          </a:p>
          <a:p>
            <a:pPr>
              <a:spcAft>
                <a:spcPts val="400"/>
              </a:spcAft>
            </a:pPr>
            <a:r>
              <a:rPr sz="1300">
                <a:solidFill>
                  <a:srgbClr val="1E2B40"/>
                </a:solidFill>
              </a:rPr>
              <a:t>• Never restore another pod’s export before reviewing Student N addresses and dependencies.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19456"/>
            <a:ext cx="3657600" cy="146304"/>
          </a:xfrm>
          <a:prstGeom prst="rect">
            <a:avLst/>
          </a:prstGeom>
          <a:noFill/>
        </p:spPr>
        <p:txBody>
          <a:bodyPr wrap="square" lIns="36576" tIns="36576" rIns="36576" bIns="36576" anchor="t">
            <a:spAutoFit/>
          </a:bodyPr>
          <a:lstStyle/>
          <a:p>
            <a:pPr algn="l"/>
            <a:r>
              <a:rPr sz="750" b="1">
                <a:solidFill>
                  <a:srgbClr val="687385"/>
                </a:solidFill>
              </a:rPr>
              <a:t>FORTIGATE ADMINISTRATOR COURSE</a:t>
            </a:r>
          </a:p>
        </p:txBody>
      </p:sp>
      <p:sp>
        <p:nvSpPr>
          <p:cNvPr id="4" name="TextBox 3"/>
          <p:cNvSpPr txBox="1"/>
          <p:nvPr/>
        </p:nvSpPr>
        <p:spPr>
          <a:xfrm>
            <a:off x="502920" y="420624"/>
            <a:ext cx="10744200" cy="128016"/>
          </a:xfrm>
          <a:prstGeom prst="rect">
            <a:avLst/>
          </a:prstGeom>
          <a:noFill/>
        </p:spPr>
        <p:txBody>
          <a:bodyPr wrap="square" lIns="36576" tIns="36576" rIns="36576" bIns="36576" anchor="t">
            <a:spAutoFit/>
          </a:bodyPr>
          <a:lstStyle/>
          <a:p>
            <a:pPr algn="l"/>
            <a:r>
              <a:rPr sz="850" b="1">
                <a:solidFill>
                  <a:srgbClr val="687385"/>
                </a:solidFill>
              </a:rPr>
              <a:t>025 • DAY 1 • BLOCK 02 • Introduction &amp; Initial Configuration</a:t>
            </a:r>
          </a:p>
        </p:txBody>
      </p:sp>
      <p:sp>
        <p:nvSpPr>
          <p:cNvPr id="5" name="TextBox 4"/>
          <p:cNvSpPr txBox="1"/>
          <p:nvPr/>
        </p:nvSpPr>
        <p:spPr>
          <a:xfrm>
            <a:off x="502920" y="621792"/>
            <a:ext cx="11109960" cy="530352"/>
          </a:xfrm>
          <a:prstGeom prst="rect">
            <a:avLst/>
          </a:prstGeom>
          <a:noFill/>
        </p:spPr>
        <p:txBody>
          <a:bodyPr wrap="square" lIns="36576" tIns="36576" rIns="36576" bIns="36576" anchor="t">
            <a:spAutoFit/>
          </a:bodyPr>
          <a:lstStyle/>
          <a:p>
            <a:pPr algn="l"/>
            <a:r>
              <a:rPr sz="2600" b="1">
                <a:solidFill>
                  <a:srgbClr val="1E2B40"/>
                </a:solidFill>
              </a:rPr>
              <a:t>Firmware maintenance is a controlled reboot—not a file copy</a:t>
            </a:r>
          </a:p>
        </p:txBody>
      </p:sp>
      <p:sp>
        <p:nvSpPr>
          <p:cNvPr id="6" name="Rectangle 5"/>
          <p:cNvSpPr/>
          <p:nvPr/>
        </p:nvSpPr>
        <p:spPr>
          <a:xfrm>
            <a:off x="502920" y="6473952"/>
            <a:ext cx="11183112" cy="9144"/>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109960" y="6528816"/>
            <a:ext cx="502920" cy="164592"/>
          </a:xfrm>
          <a:prstGeom prst="rect">
            <a:avLst/>
          </a:prstGeom>
          <a:noFill/>
        </p:spPr>
        <p:txBody>
          <a:bodyPr wrap="square" lIns="36576" tIns="36576" rIns="36576" bIns="36576" anchor="t">
            <a:spAutoFit/>
          </a:bodyPr>
          <a:lstStyle/>
          <a:p>
            <a:pPr algn="r"/>
            <a:r>
              <a:rPr sz="750" b="0">
                <a:solidFill>
                  <a:srgbClr val="687385"/>
                </a:solidFill>
              </a:rPr>
              <a:t>25</a:t>
            </a:r>
          </a:p>
        </p:txBody>
      </p:sp>
      <p:sp>
        <p:nvSpPr>
          <p:cNvPr id="8" name="TextBox 7"/>
          <p:cNvSpPr txBox="1"/>
          <p:nvPr/>
        </p:nvSpPr>
        <p:spPr>
          <a:xfrm>
            <a:off x="658368" y="1755648"/>
            <a:ext cx="320040" cy="228600"/>
          </a:xfrm>
          <a:prstGeom prst="rect">
            <a:avLst/>
          </a:prstGeom>
          <a:noFill/>
        </p:spPr>
        <p:txBody>
          <a:bodyPr wrap="square" lIns="36576" tIns="36576" rIns="36576" bIns="36576" anchor="t">
            <a:spAutoFit/>
          </a:bodyPr>
          <a:lstStyle/>
          <a:p>
            <a:pPr algn="l"/>
            <a:r>
              <a:rPr sz="1000" b="1">
                <a:solidFill>
                  <a:srgbClr val="E60012"/>
                </a:solidFill>
              </a:rPr>
              <a:t>1</a:t>
            </a:r>
          </a:p>
        </p:txBody>
      </p:sp>
      <p:sp>
        <p:nvSpPr>
          <p:cNvPr id="9" name="Rectangle 8"/>
          <p:cNvSpPr/>
          <p:nvPr/>
        </p:nvSpPr>
        <p:spPr>
          <a:xfrm>
            <a:off x="658368" y="2075688"/>
            <a:ext cx="2331720" cy="420624"/>
          </a:xfrm>
          <a:prstGeom prst="rect">
            <a:avLst/>
          </a:prstGeom>
          <a:solidFill>
            <a:srgbClr val="1E2B40"/>
          </a:solidFill>
          <a:ln>
            <a:no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400" b="1">
                <a:solidFill>
                  <a:srgbClr val="FFFFFF"/>
                </a:solidFill>
              </a:rPr>
              <a:t>PREPARE</a:t>
            </a:r>
          </a:p>
        </p:txBody>
      </p:sp>
      <p:sp>
        <p:nvSpPr>
          <p:cNvPr id="10" name="TextBox 9"/>
          <p:cNvSpPr txBox="1"/>
          <p:nvPr/>
        </p:nvSpPr>
        <p:spPr>
          <a:xfrm>
            <a:off x="658368" y="2688336"/>
            <a:ext cx="2331720" cy="1143000"/>
          </a:xfrm>
          <a:prstGeom prst="rect">
            <a:avLst/>
          </a:prstGeom>
          <a:noFill/>
        </p:spPr>
        <p:txBody>
          <a:bodyPr wrap="square" lIns="36576" tIns="36576" rIns="36576" bIns="36576" anchor="t">
            <a:spAutoFit/>
          </a:bodyPr>
          <a:lstStyle/>
          <a:p>
            <a:pPr algn="ctr"/>
            <a:r>
              <a:rPr sz="1300" b="1">
                <a:solidFill>
                  <a:srgbClr val="1E2B40"/>
                </a:solidFill>
              </a:rPr>
              <a:t>Release notes • supported upgrade path • config backup</a:t>
            </a:r>
          </a:p>
        </p:txBody>
      </p:sp>
      <p:sp>
        <p:nvSpPr>
          <p:cNvPr id="11" name="Right Arrow 10"/>
          <p:cNvSpPr/>
          <p:nvPr/>
        </p:nvSpPr>
        <p:spPr>
          <a:xfrm>
            <a:off x="3063239" y="2267712"/>
            <a:ext cx="228600" cy="137160"/>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01568" y="1755648"/>
            <a:ext cx="320040" cy="228600"/>
          </a:xfrm>
          <a:prstGeom prst="rect">
            <a:avLst/>
          </a:prstGeom>
          <a:noFill/>
        </p:spPr>
        <p:txBody>
          <a:bodyPr wrap="square" lIns="36576" tIns="36576" rIns="36576" bIns="36576" anchor="t">
            <a:spAutoFit/>
          </a:bodyPr>
          <a:lstStyle/>
          <a:p>
            <a:pPr algn="l"/>
            <a:r>
              <a:rPr sz="1000" b="1">
                <a:solidFill>
                  <a:srgbClr val="E60012"/>
                </a:solidFill>
              </a:rPr>
              <a:t>2</a:t>
            </a:r>
          </a:p>
        </p:txBody>
      </p:sp>
      <p:sp>
        <p:nvSpPr>
          <p:cNvPr id="13" name="Rectangle 12"/>
          <p:cNvSpPr/>
          <p:nvPr/>
        </p:nvSpPr>
        <p:spPr>
          <a:xfrm>
            <a:off x="3401568" y="2075688"/>
            <a:ext cx="2331720" cy="420624"/>
          </a:xfrm>
          <a:prstGeom prst="rect">
            <a:avLst/>
          </a:prstGeom>
          <a:solidFill>
            <a:srgbClr val="1E2B40"/>
          </a:solidFill>
          <a:ln>
            <a:no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400" b="1">
                <a:solidFill>
                  <a:srgbClr val="FFFFFF"/>
                </a:solidFill>
              </a:rPr>
              <a:t>SELECT IMAGE</a:t>
            </a:r>
          </a:p>
        </p:txBody>
      </p:sp>
      <p:sp>
        <p:nvSpPr>
          <p:cNvPr id="14" name="TextBox 13"/>
          <p:cNvSpPr txBox="1"/>
          <p:nvPr/>
        </p:nvSpPr>
        <p:spPr>
          <a:xfrm>
            <a:off x="3401568" y="2688336"/>
            <a:ext cx="2331720" cy="1143000"/>
          </a:xfrm>
          <a:prstGeom prst="rect">
            <a:avLst/>
          </a:prstGeom>
          <a:noFill/>
        </p:spPr>
        <p:txBody>
          <a:bodyPr wrap="square" lIns="36576" tIns="36576" rIns="36576" bIns="36576" anchor="t">
            <a:spAutoFit/>
          </a:bodyPr>
          <a:lstStyle/>
          <a:p>
            <a:pPr algn="ctr"/>
            <a:r>
              <a:rPr sz="1300" b="1">
                <a:solidFill>
                  <a:srgbClr val="1E2B40"/>
                </a:solidFill>
              </a:rPr>
              <a:t>Correct FortiGate-VM platform image from Fortinet</a:t>
            </a:r>
          </a:p>
        </p:txBody>
      </p:sp>
      <p:sp>
        <p:nvSpPr>
          <p:cNvPr id="15" name="Right Arrow 14"/>
          <p:cNvSpPr/>
          <p:nvPr/>
        </p:nvSpPr>
        <p:spPr>
          <a:xfrm>
            <a:off x="5806440" y="2267712"/>
            <a:ext cx="228600" cy="137160"/>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144768" y="1755648"/>
            <a:ext cx="320040" cy="228600"/>
          </a:xfrm>
          <a:prstGeom prst="rect">
            <a:avLst/>
          </a:prstGeom>
          <a:noFill/>
        </p:spPr>
        <p:txBody>
          <a:bodyPr wrap="square" lIns="36576" tIns="36576" rIns="36576" bIns="36576" anchor="t">
            <a:spAutoFit/>
          </a:bodyPr>
          <a:lstStyle/>
          <a:p>
            <a:pPr algn="l"/>
            <a:r>
              <a:rPr sz="1000" b="1">
                <a:solidFill>
                  <a:srgbClr val="E60012"/>
                </a:solidFill>
              </a:rPr>
              <a:t>3</a:t>
            </a:r>
          </a:p>
        </p:txBody>
      </p:sp>
      <p:sp>
        <p:nvSpPr>
          <p:cNvPr id="17" name="Rectangle 16"/>
          <p:cNvSpPr/>
          <p:nvPr/>
        </p:nvSpPr>
        <p:spPr>
          <a:xfrm>
            <a:off x="6144768" y="2075688"/>
            <a:ext cx="2331720" cy="420624"/>
          </a:xfrm>
          <a:prstGeom prst="rect">
            <a:avLst/>
          </a:prstGeom>
          <a:solidFill>
            <a:srgbClr val="1E2B40"/>
          </a:solidFill>
          <a:ln>
            <a:no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400" b="1">
                <a:solidFill>
                  <a:srgbClr val="FFFFFF"/>
                </a:solidFill>
              </a:rPr>
              <a:t>INSTALL / REBOOT</a:t>
            </a:r>
          </a:p>
        </p:txBody>
      </p:sp>
      <p:sp>
        <p:nvSpPr>
          <p:cNvPr id="18" name="TextBox 17"/>
          <p:cNvSpPr txBox="1"/>
          <p:nvPr/>
        </p:nvSpPr>
        <p:spPr>
          <a:xfrm>
            <a:off x="6144768" y="2688336"/>
            <a:ext cx="2331720" cy="1143000"/>
          </a:xfrm>
          <a:prstGeom prst="rect">
            <a:avLst/>
          </a:prstGeom>
          <a:noFill/>
        </p:spPr>
        <p:txBody>
          <a:bodyPr wrap="square" lIns="36576" tIns="36576" rIns="36576" bIns="36576" anchor="t">
            <a:spAutoFit/>
          </a:bodyPr>
          <a:lstStyle/>
          <a:p>
            <a:pPr algn="ctr"/>
            <a:r>
              <a:rPr sz="1300" b="1">
                <a:solidFill>
                  <a:srgbClr val="1E2B40"/>
                </a:solidFill>
              </a:rPr>
              <a:t>Upload alone is not installation; confirm upgrade triggers reboot</a:t>
            </a:r>
          </a:p>
        </p:txBody>
      </p:sp>
      <p:sp>
        <p:nvSpPr>
          <p:cNvPr id="19" name="Right Arrow 18"/>
          <p:cNvSpPr/>
          <p:nvPr/>
        </p:nvSpPr>
        <p:spPr>
          <a:xfrm>
            <a:off x="8549640" y="2267712"/>
            <a:ext cx="228600" cy="137160"/>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887968" y="1755648"/>
            <a:ext cx="320040" cy="228600"/>
          </a:xfrm>
          <a:prstGeom prst="rect">
            <a:avLst/>
          </a:prstGeom>
          <a:noFill/>
        </p:spPr>
        <p:txBody>
          <a:bodyPr wrap="square" lIns="36576" tIns="36576" rIns="36576" bIns="36576" anchor="t">
            <a:spAutoFit/>
          </a:bodyPr>
          <a:lstStyle/>
          <a:p>
            <a:pPr algn="l"/>
            <a:r>
              <a:rPr sz="1000" b="1">
                <a:solidFill>
                  <a:srgbClr val="E60012"/>
                </a:solidFill>
              </a:rPr>
              <a:t>4</a:t>
            </a:r>
          </a:p>
        </p:txBody>
      </p:sp>
      <p:sp>
        <p:nvSpPr>
          <p:cNvPr id="21" name="Rectangle 20"/>
          <p:cNvSpPr/>
          <p:nvPr/>
        </p:nvSpPr>
        <p:spPr>
          <a:xfrm>
            <a:off x="8887968" y="2075688"/>
            <a:ext cx="2331720" cy="420624"/>
          </a:xfrm>
          <a:prstGeom prst="rect">
            <a:avLst/>
          </a:prstGeom>
          <a:solidFill>
            <a:srgbClr val="1E2B40"/>
          </a:solidFill>
          <a:ln>
            <a:no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400" b="1">
                <a:solidFill>
                  <a:srgbClr val="FFFFFF"/>
                </a:solidFill>
              </a:rPr>
              <a:t>POST-CHECK</a:t>
            </a:r>
          </a:p>
        </p:txBody>
      </p:sp>
      <p:sp>
        <p:nvSpPr>
          <p:cNvPr id="22" name="TextBox 21"/>
          <p:cNvSpPr txBox="1"/>
          <p:nvPr/>
        </p:nvSpPr>
        <p:spPr>
          <a:xfrm>
            <a:off x="8887968" y="2688336"/>
            <a:ext cx="2331720" cy="1143000"/>
          </a:xfrm>
          <a:prstGeom prst="rect">
            <a:avLst/>
          </a:prstGeom>
          <a:noFill/>
        </p:spPr>
        <p:txBody>
          <a:bodyPr wrap="square" lIns="36576" tIns="36576" rIns="36576" bIns="36576" anchor="t">
            <a:spAutoFit/>
          </a:bodyPr>
          <a:lstStyle/>
          <a:p>
            <a:pPr algn="ctr"/>
            <a:r>
              <a:rPr sz="1300" b="1">
                <a:solidFill>
                  <a:srgbClr val="1E2B40"/>
                </a:solidFill>
              </a:rPr>
              <a:t>Build • interfaces • routes • logs • client traffic</a:t>
            </a:r>
          </a:p>
        </p:txBody>
      </p:sp>
      <p:sp>
        <p:nvSpPr>
          <p:cNvPr id="23" name="TextBox 22"/>
          <p:cNvSpPr txBox="1"/>
          <p:nvPr/>
        </p:nvSpPr>
        <p:spPr>
          <a:xfrm>
            <a:off x="658368" y="4315968"/>
            <a:ext cx="1143000" cy="228600"/>
          </a:xfrm>
          <a:prstGeom prst="rect">
            <a:avLst/>
          </a:prstGeom>
          <a:noFill/>
        </p:spPr>
        <p:txBody>
          <a:bodyPr wrap="square" lIns="36576" tIns="36576" rIns="36576" bIns="36576" anchor="t">
            <a:spAutoFit/>
          </a:bodyPr>
          <a:lstStyle/>
          <a:p>
            <a:pPr algn="l"/>
            <a:r>
              <a:rPr sz="1000" b="1">
                <a:solidFill>
                  <a:srgbClr val="E60012"/>
                </a:solidFill>
              </a:rPr>
              <a:t>LAB RULE</a:t>
            </a:r>
          </a:p>
        </p:txBody>
      </p:sp>
      <p:sp>
        <p:nvSpPr>
          <p:cNvPr id="24" name="TextBox 23"/>
          <p:cNvSpPr txBox="1"/>
          <p:nvPr/>
        </p:nvSpPr>
        <p:spPr>
          <a:xfrm>
            <a:off x="1783080" y="4251960"/>
            <a:ext cx="9372600" cy="621792"/>
          </a:xfrm>
          <a:prstGeom prst="rect">
            <a:avLst/>
          </a:prstGeom>
          <a:noFill/>
        </p:spPr>
        <p:txBody>
          <a:bodyPr wrap="square" lIns="36576" tIns="36576" rIns="36576" bIns="36576" anchor="t">
            <a:spAutoFit/>
          </a:bodyPr>
          <a:lstStyle/>
          <a:p>
            <a:pPr algn="l"/>
            <a:r>
              <a:rPr sz="1400" b="1">
                <a:solidFill>
                  <a:srgbClr val="1E2B40"/>
                </a:solidFill>
              </a:rPr>
              <a:t>The lab already runs FortiOS 7.6.7. Use a demonstration/walkthrough unless the instructor supplies a tested alternate image and recovery procedure.</a:t>
            </a:r>
          </a:p>
        </p:txBody>
      </p:sp>
      <p:sp>
        <p:nvSpPr>
          <p:cNvPr id="25" name="TextBox 24"/>
          <p:cNvSpPr txBox="1"/>
          <p:nvPr/>
        </p:nvSpPr>
        <p:spPr>
          <a:xfrm>
            <a:off x="658368" y="5321808"/>
            <a:ext cx="10561320" cy="457200"/>
          </a:xfrm>
          <a:prstGeom prst="rect">
            <a:avLst/>
          </a:prstGeom>
          <a:noFill/>
        </p:spPr>
        <p:txBody>
          <a:bodyPr wrap="square" lIns="36576" tIns="36576" rIns="36576" bIns="36576" anchor="t">
            <a:spAutoFit/>
          </a:bodyPr>
          <a:lstStyle/>
          <a:p>
            <a:pPr algn="l"/>
            <a:r>
              <a:rPr sz="1400" b="1">
                <a:solidFill>
                  <a:srgbClr val="E60012"/>
                </a:solidFill>
              </a:rPr>
              <a:t>Upgrading an existing FGVM is different from replacing the Azure Marketplace VM image.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19456"/>
            <a:ext cx="3657600" cy="146304"/>
          </a:xfrm>
          <a:prstGeom prst="rect">
            <a:avLst/>
          </a:prstGeom>
          <a:noFill/>
        </p:spPr>
        <p:txBody>
          <a:bodyPr wrap="square" lIns="36576" tIns="36576" rIns="36576" bIns="36576" anchor="t">
            <a:spAutoFit/>
          </a:bodyPr>
          <a:lstStyle/>
          <a:p>
            <a:pPr algn="l"/>
            <a:r>
              <a:rPr sz="750" b="1">
                <a:solidFill>
                  <a:srgbClr val="687385"/>
                </a:solidFill>
              </a:rPr>
              <a:t>FORTIGATE ADMINISTRATOR COURSE</a:t>
            </a:r>
          </a:p>
        </p:txBody>
      </p:sp>
      <p:sp>
        <p:nvSpPr>
          <p:cNvPr id="4" name="TextBox 3"/>
          <p:cNvSpPr txBox="1"/>
          <p:nvPr/>
        </p:nvSpPr>
        <p:spPr>
          <a:xfrm>
            <a:off x="502920" y="420624"/>
            <a:ext cx="10744200" cy="128016"/>
          </a:xfrm>
          <a:prstGeom prst="rect">
            <a:avLst/>
          </a:prstGeom>
          <a:noFill/>
        </p:spPr>
        <p:txBody>
          <a:bodyPr wrap="square" lIns="36576" tIns="36576" rIns="36576" bIns="36576" anchor="t">
            <a:spAutoFit/>
          </a:bodyPr>
          <a:lstStyle/>
          <a:p>
            <a:pPr algn="l"/>
            <a:r>
              <a:rPr sz="850" b="1">
                <a:solidFill>
                  <a:srgbClr val="687385"/>
                </a:solidFill>
              </a:rPr>
              <a:t>026 • DAY 1 • BLOCK 02 • Introduction &amp; Initial Configuration</a:t>
            </a:r>
          </a:p>
        </p:txBody>
      </p:sp>
      <p:sp>
        <p:nvSpPr>
          <p:cNvPr id="5" name="TextBox 4"/>
          <p:cNvSpPr txBox="1"/>
          <p:nvPr/>
        </p:nvSpPr>
        <p:spPr>
          <a:xfrm>
            <a:off x="502920" y="621792"/>
            <a:ext cx="11109960" cy="530352"/>
          </a:xfrm>
          <a:prstGeom prst="rect">
            <a:avLst/>
          </a:prstGeom>
          <a:noFill/>
        </p:spPr>
        <p:txBody>
          <a:bodyPr wrap="square" lIns="36576" tIns="36576" rIns="36576" bIns="36576" anchor="t">
            <a:spAutoFit/>
          </a:bodyPr>
          <a:lstStyle/>
          <a:p>
            <a:pPr algn="l"/>
            <a:r>
              <a:rPr sz="2600" b="1">
                <a:solidFill>
                  <a:srgbClr val="1E2B40"/>
                </a:solidFill>
              </a:rPr>
              <a:t>First checks move from appliance state to forwarded traffic</a:t>
            </a:r>
          </a:p>
        </p:txBody>
      </p:sp>
      <p:sp>
        <p:nvSpPr>
          <p:cNvPr id="6" name="Rectangle 5"/>
          <p:cNvSpPr/>
          <p:nvPr/>
        </p:nvSpPr>
        <p:spPr>
          <a:xfrm>
            <a:off x="502920" y="6473952"/>
            <a:ext cx="11183112" cy="9144"/>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109960" y="6528816"/>
            <a:ext cx="502920" cy="164592"/>
          </a:xfrm>
          <a:prstGeom prst="rect">
            <a:avLst/>
          </a:prstGeom>
          <a:noFill/>
        </p:spPr>
        <p:txBody>
          <a:bodyPr wrap="square" lIns="36576" tIns="36576" rIns="36576" bIns="36576" anchor="t">
            <a:spAutoFit/>
          </a:bodyPr>
          <a:lstStyle/>
          <a:p>
            <a:pPr algn="r"/>
            <a:r>
              <a:rPr sz="750" b="0">
                <a:solidFill>
                  <a:srgbClr val="687385"/>
                </a:solidFill>
              </a:rPr>
              <a:t>26</a:t>
            </a:r>
          </a:p>
        </p:txBody>
      </p:sp>
      <p:sp>
        <p:nvSpPr>
          <p:cNvPr id="8" name="TextBox 7"/>
          <p:cNvSpPr txBox="1"/>
          <p:nvPr/>
        </p:nvSpPr>
        <p:spPr>
          <a:xfrm>
            <a:off x="594360" y="1755648"/>
            <a:ext cx="320040" cy="228600"/>
          </a:xfrm>
          <a:prstGeom prst="rect">
            <a:avLst/>
          </a:prstGeom>
          <a:noFill/>
        </p:spPr>
        <p:txBody>
          <a:bodyPr wrap="square" lIns="36576" tIns="36576" rIns="36576" bIns="36576" anchor="t">
            <a:spAutoFit/>
          </a:bodyPr>
          <a:lstStyle/>
          <a:p>
            <a:pPr algn="l"/>
            <a:r>
              <a:rPr sz="1000" b="1">
                <a:solidFill>
                  <a:srgbClr val="E60012"/>
                </a:solidFill>
              </a:rPr>
              <a:t>01</a:t>
            </a:r>
          </a:p>
        </p:txBody>
      </p:sp>
      <p:sp>
        <p:nvSpPr>
          <p:cNvPr id="9" name="Rectangle 8"/>
          <p:cNvSpPr/>
          <p:nvPr/>
        </p:nvSpPr>
        <p:spPr>
          <a:xfrm>
            <a:off x="594360" y="2057400"/>
            <a:ext cx="2048256" cy="457200"/>
          </a:xfrm>
          <a:prstGeom prst="rect">
            <a:avLst/>
          </a:prstGeom>
          <a:solidFill>
            <a:srgbClr val="1E2B40"/>
          </a:solidFill>
          <a:ln>
            <a:no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300" b="1">
                <a:solidFill>
                  <a:srgbClr val="FFFFFF"/>
                </a:solidFill>
              </a:rPr>
              <a:t>BUILD / UPTIME</a:t>
            </a:r>
          </a:p>
        </p:txBody>
      </p:sp>
      <p:sp>
        <p:nvSpPr>
          <p:cNvPr id="10" name="TextBox 9"/>
          <p:cNvSpPr txBox="1"/>
          <p:nvPr/>
        </p:nvSpPr>
        <p:spPr>
          <a:xfrm>
            <a:off x="594360" y="2697480"/>
            <a:ext cx="2048256" cy="1325880"/>
          </a:xfrm>
          <a:prstGeom prst="rect">
            <a:avLst/>
          </a:prstGeom>
          <a:noFill/>
        </p:spPr>
        <p:txBody>
          <a:bodyPr wrap="square" lIns="36576" tIns="36576" rIns="36576" bIns="36576" anchor="t">
            <a:spAutoFit/>
          </a:bodyPr>
          <a:lstStyle/>
          <a:p>
            <a:pPr algn="ctr"/>
            <a:r>
              <a:rPr sz="1150" b="1">
                <a:solidFill>
                  <a:srgbClr val="1E2B40"/>
                </a:solidFill>
                <a:latin typeface="Consolas"/>
              </a:rPr>
              <a:t>get system status
get system performance status</a:t>
            </a:r>
          </a:p>
        </p:txBody>
      </p:sp>
      <p:sp>
        <p:nvSpPr>
          <p:cNvPr id="11" name="Right Arrow 10"/>
          <p:cNvSpPr/>
          <p:nvPr/>
        </p:nvSpPr>
        <p:spPr>
          <a:xfrm>
            <a:off x="2679191" y="2267712"/>
            <a:ext cx="155448" cy="128016"/>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898648" y="1755648"/>
            <a:ext cx="320040" cy="228600"/>
          </a:xfrm>
          <a:prstGeom prst="rect">
            <a:avLst/>
          </a:prstGeom>
          <a:noFill/>
        </p:spPr>
        <p:txBody>
          <a:bodyPr wrap="square" lIns="36576" tIns="36576" rIns="36576" bIns="36576" anchor="t">
            <a:spAutoFit/>
          </a:bodyPr>
          <a:lstStyle/>
          <a:p>
            <a:pPr algn="l"/>
            <a:r>
              <a:rPr sz="1000" b="1">
                <a:solidFill>
                  <a:srgbClr val="E60012"/>
                </a:solidFill>
              </a:rPr>
              <a:t>02</a:t>
            </a:r>
          </a:p>
        </p:txBody>
      </p:sp>
      <p:sp>
        <p:nvSpPr>
          <p:cNvPr id="13" name="Rectangle 12"/>
          <p:cNvSpPr/>
          <p:nvPr/>
        </p:nvSpPr>
        <p:spPr>
          <a:xfrm>
            <a:off x="2898648" y="2057400"/>
            <a:ext cx="2048256" cy="457200"/>
          </a:xfrm>
          <a:prstGeom prst="rect">
            <a:avLst/>
          </a:prstGeom>
          <a:solidFill>
            <a:srgbClr val="1E2B40"/>
          </a:solidFill>
          <a:ln>
            <a:no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300" b="1">
                <a:solidFill>
                  <a:srgbClr val="FFFFFF"/>
                </a:solidFill>
              </a:rPr>
              <a:t>INTERFACES</a:t>
            </a:r>
          </a:p>
        </p:txBody>
      </p:sp>
      <p:sp>
        <p:nvSpPr>
          <p:cNvPr id="14" name="TextBox 13"/>
          <p:cNvSpPr txBox="1"/>
          <p:nvPr/>
        </p:nvSpPr>
        <p:spPr>
          <a:xfrm>
            <a:off x="2898648" y="2697480"/>
            <a:ext cx="2048256" cy="1325880"/>
          </a:xfrm>
          <a:prstGeom prst="rect">
            <a:avLst/>
          </a:prstGeom>
          <a:noFill/>
        </p:spPr>
        <p:txBody>
          <a:bodyPr wrap="square" lIns="36576" tIns="36576" rIns="36576" bIns="36576" anchor="t">
            <a:spAutoFit/>
          </a:bodyPr>
          <a:lstStyle/>
          <a:p>
            <a:pPr algn="ctr"/>
            <a:r>
              <a:rPr sz="1150" b="1">
                <a:solidFill>
                  <a:srgbClr val="1E2B40"/>
                </a:solidFill>
                <a:latin typeface="Consolas"/>
              </a:rPr>
              <a:t>get system interface physical</a:t>
            </a:r>
          </a:p>
        </p:txBody>
      </p:sp>
      <p:sp>
        <p:nvSpPr>
          <p:cNvPr id="15" name="Right Arrow 14"/>
          <p:cNvSpPr/>
          <p:nvPr/>
        </p:nvSpPr>
        <p:spPr>
          <a:xfrm>
            <a:off x="4983479" y="2267712"/>
            <a:ext cx="155448" cy="128016"/>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202936" y="1755648"/>
            <a:ext cx="320040" cy="228600"/>
          </a:xfrm>
          <a:prstGeom prst="rect">
            <a:avLst/>
          </a:prstGeom>
          <a:noFill/>
        </p:spPr>
        <p:txBody>
          <a:bodyPr wrap="square" lIns="36576" tIns="36576" rIns="36576" bIns="36576" anchor="t">
            <a:spAutoFit/>
          </a:bodyPr>
          <a:lstStyle/>
          <a:p>
            <a:pPr algn="l"/>
            <a:r>
              <a:rPr sz="1000" b="1">
                <a:solidFill>
                  <a:srgbClr val="E60012"/>
                </a:solidFill>
              </a:rPr>
              <a:t>03</a:t>
            </a:r>
          </a:p>
        </p:txBody>
      </p:sp>
      <p:sp>
        <p:nvSpPr>
          <p:cNvPr id="17" name="Rectangle 16"/>
          <p:cNvSpPr/>
          <p:nvPr/>
        </p:nvSpPr>
        <p:spPr>
          <a:xfrm>
            <a:off x="5202936" y="2057400"/>
            <a:ext cx="2048256" cy="457200"/>
          </a:xfrm>
          <a:prstGeom prst="rect">
            <a:avLst/>
          </a:prstGeom>
          <a:solidFill>
            <a:srgbClr val="1E2B40"/>
          </a:solidFill>
          <a:ln>
            <a:no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300" b="1">
                <a:solidFill>
                  <a:srgbClr val="FFFFFF"/>
                </a:solidFill>
              </a:rPr>
              <a:t>ROUTING / DNS</a:t>
            </a:r>
          </a:p>
        </p:txBody>
      </p:sp>
      <p:sp>
        <p:nvSpPr>
          <p:cNvPr id="18" name="TextBox 17"/>
          <p:cNvSpPr txBox="1"/>
          <p:nvPr/>
        </p:nvSpPr>
        <p:spPr>
          <a:xfrm>
            <a:off x="5202936" y="2697480"/>
            <a:ext cx="2048256" cy="1325880"/>
          </a:xfrm>
          <a:prstGeom prst="rect">
            <a:avLst/>
          </a:prstGeom>
          <a:noFill/>
        </p:spPr>
        <p:txBody>
          <a:bodyPr wrap="square" lIns="36576" tIns="36576" rIns="36576" bIns="36576" anchor="t">
            <a:spAutoFit/>
          </a:bodyPr>
          <a:lstStyle/>
          <a:p>
            <a:pPr algn="ctr"/>
            <a:r>
              <a:rPr sz="1150" b="1">
                <a:solidFill>
                  <a:srgbClr val="1E2B40"/>
                </a:solidFill>
                <a:latin typeface="Consolas"/>
              </a:rPr>
              <a:t>get router info routing-table all
get system dns</a:t>
            </a:r>
          </a:p>
        </p:txBody>
      </p:sp>
      <p:sp>
        <p:nvSpPr>
          <p:cNvPr id="19" name="Right Arrow 18"/>
          <p:cNvSpPr/>
          <p:nvPr/>
        </p:nvSpPr>
        <p:spPr>
          <a:xfrm>
            <a:off x="7287768" y="2267712"/>
            <a:ext cx="155448" cy="128016"/>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507224" y="1755648"/>
            <a:ext cx="320040" cy="228600"/>
          </a:xfrm>
          <a:prstGeom prst="rect">
            <a:avLst/>
          </a:prstGeom>
          <a:noFill/>
        </p:spPr>
        <p:txBody>
          <a:bodyPr wrap="square" lIns="36576" tIns="36576" rIns="36576" bIns="36576" anchor="t">
            <a:spAutoFit/>
          </a:bodyPr>
          <a:lstStyle/>
          <a:p>
            <a:pPr algn="l"/>
            <a:r>
              <a:rPr sz="1000" b="1">
                <a:solidFill>
                  <a:srgbClr val="E60012"/>
                </a:solidFill>
              </a:rPr>
              <a:t>04</a:t>
            </a:r>
          </a:p>
        </p:txBody>
      </p:sp>
      <p:sp>
        <p:nvSpPr>
          <p:cNvPr id="21" name="Rectangle 20"/>
          <p:cNvSpPr/>
          <p:nvPr/>
        </p:nvSpPr>
        <p:spPr>
          <a:xfrm>
            <a:off x="7507224" y="2057400"/>
            <a:ext cx="2048256" cy="457200"/>
          </a:xfrm>
          <a:prstGeom prst="rect">
            <a:avLst/>
          </a:prstGeom>
          <a:solidFill>
            <a:srgbClr val="1E2B40"/>
          </a:solidFill>
          <a:ln>
            <a:no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300" b="1">
                <a:solidFill>
                  <a:srgbClr val="FFFFFF"/>
                </a:solidFill>
              </a:rPr>
              <a:t>LOCAL TEST</a:t>
            </a:r>
          </a:p>
        </p:txBody>
      </p:sp>
      <p:sp>
        <p:nvSpPr>
          <p:cNvPr id="22" name="TextBox 21"/>
          <p:cNvSpPr txBox="1"/>
          <p:nvPr/>
        </p:nvSpPr>
        <p:spPr>
          <a:xfrm>
            <a:off x="7507224" y="2697480"/>
            <a:ext cx="2048256" cy="1325880"/>
          </a:xfrm>
          <a:prstGeom prst="rect">
            <a:avLst/>
          </a:prstGeom>
          <a:noFill/>
        </p:spPr>
        <p:txBody>
          <a:bodyPr wrap="square" lIns="36576" tIns="36576" rIns="36576" bIns="36576" anchor="t">
            <a:spAutoFit/>
          </a:bodyPr>
          <a:lstStyle/>
          <a:p>
            <a:pPr algn="ctr"/>
            <a:r>
              <a:rPr sz="1150" b="1">
                <a:solidFill>
                  <a:srgbClr val="1E2B40"/>
                </a:solidFill>
                <a:latin typeface="Consolas"/>
              </a:rPr>
              <a:t>execute ping 10.0.40.4</a:t>
            </a:r>
          </a:p>
        </p:txBody>
      </p:sp>
      <p:sp>
        <p:nvSpPr>
          <p:cNvPr id="23" name="Right Arrow 22"/>
          <p:cNvSpPr/>
          <p:nvPr/>
        </p:nvSpPr>
        <p:spPr>
          <a:xfrm>
            <a:off x="9592056" y="2267712"/>
            <a:ext cx="155448" cy="128016"/>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811512" y="1755648"/>
            <a:ext cx="320040" cy="228600"/>
          </a:xfrm>
          <a:prstGeom prst="rect">
            <a:avLst/>
          </a:prstGeom>
          <a:noFill/>
        </p:spPr>
        <p:txBody>
          <a:bodyPr wrap="square" lIns="36576" tIns="36576" rIns="36576" bIns="36576" anchor="t">
            <a:spAutoFit/>
          </a:bodyPr>
          <a:lstStyle/>
          <a:p>
            <a:pPr algn="l"/>
            <a:r>
              <a:rPr sz="1000" b="1">
                <a:solidFill>
                  <a:srgbClr val="E60012"/>
                </a:solidFill>
              </a:rPr>
              <a:t>05</a:t>
            </a:r>
          </a:p>
        </p:txBody>
      </p:sp>
      <p:sp>
        <p:nvSpPr>
          <p:cNvPr id="25" name="Rectangle 24"/>
          <p:cNvSpPr/>
          <p:nvPr/>
        </p:nvSpPr>
        <p:spPr>
          <a:xfrm>
            <a:off x="9811512" y="2057400"/>
            <a:ext cx="2048256" cy="457200"/>
          </a:xfrm>
          <a:prstGeom prst="rect">
            <a:avLst/>
          </a:prstGeom>
          <a:solidFill>
            <a:srgbClr val="1E2B40"/>
          </a:solidFill>
          <a:ln>
            <a:no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300" b="1">
                <a:solidFill>
                  <a:srgbClr val="FFFFFF"/>
                </a:solidFill>
              </a:rPr>
              <a:t>CLIENT TEST</a:t>
            </a:r>
          </a:p>
        </p:txBody>
      </p:sp>
      <p:sp>
        <p:nvSpPr>
          <p:cNvPr id="26" name="TextBox 25"/>
          <p:cNvSpPr txBox="1"/>
          <p:nvPr/>
        </p:nvSpPr>
        <p:spPr>
          <a:xfrm>
            <a:off x="9811512" y="2697480"/>
            <a:ext cx="2048256" cy="1325880"/>
          </a:xfrm>
          <a:prstGeom prst="rect">
            <a:avLst/>
          </a:prstGeom>
          <a:noFill/>
        </p:spPr>
        <p:txBody>
          <a:bodyPr wrap="square" lIns="36576" tIns="36576" rIns="36576" bIns="36576" anchor="t">
            <a:spAutoFit/>
          </a:bodyPr>
          <a:lstStyle/>
          <a:p>
            <a:pPr algn="ctr"/>
            <a:r>
              <a:rPr sz="1150" b="1">
                <a:solidFill>
                  <a:srgbClr val="1E2B40"/>
                </a:solidFill>
              </a:rPr>
              <a:t>from 10.N.10.10: ping / dig / curl / traceroute</a:t>
            </a:r>
          </a:p>
        </p:txBody>
      </p:sp>
      <p:sp>
        <p:nvSpPr>
          <p:cNvPr id="27" name="TextBox 26"/>
          <p:cNvSpPr txBox="1"/>
          <p:nvPr/>
        </p:nvSpPr>
        <p:spPr>
          <a:xfrm>
            <a:off x="658368" y="4617720"/>
            <a:ext cx="10607040" cy="457200"/>
          </a:xfrm>
          <a:prstGeom prst="rect">
            <a:avLst/>
          </a:prstGeom>
          <a:noFill/>
        </p:spPr>
        <p:txBody>
          <a:bodyPr wrap="square" lIns="36576" tIns="36576" rIns="36576" bIns="36576" anchor="t">
            <a:spAutoFit/>
          </a:bodyPr>
          <a:lstStyle/>
          <a:p>
            <a:pPr algn="ctr"/>
            <a:r>
              <a:rPr sz="1600" b="1">
                <a:solidFill>
                  <a:srgbClr val="1E2B40"/>
                </a:solidFill>
              </a:rPr>
              <a:t>Known Student01 path: 10.1.10.10 → 10.1.10.4 → 10.0.40.4 → 10.0.0.4 → Internet</a:t>
            </a:r>
          </a:p>
        </p:txBody>
      </p:sp>
      <p:sp>
        <p:nvSpPr>
          <p:cNvPr id="28" name="TextBox 27"/>
          <p:cNvSpPr txBox="1"/>
          <p:nvPr/>
        </p:nvSpPr>
        <p:spPr>
          <a:xfrm>
            <a:off x="658368" y="5413248"/>
            <a:ext cx="10561320" cy="411480"/>
          </a:xfrm>
          <a:prstGeom prst="rect">
            <a:avLst/>
          </a:prstGeom>
          <a:noFill/>
        </p:spPr>
        <p:txBody>
          <a:bodyPr wrap="square" lIns="36576" tIns="36576" rIns="36576" bIns="36576" anchor="t">
            <a:spAutoFit/>
          </a:bodyPr>
          <a:lstStyle/>
          <a:p>
            <a:pPr algn="l"/>
            <a:r>
              <a:rPr sz="1400" b="1">
                <a:solidFill>
                  <a:srgbClr val="E60012"/>
                </a:solidFill>
              </a:rPr>
              <a:t>Local FortiGate success does not prove that forwarded client traffic matches a policy.</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19456"/>
            <a:ext cx="3657600" cy="146304"/>
          </a:xfrm>
          <a:prstGeom prst="rect">
            <a:avLst/>
          </a:prstGeom>
          <a:noFill/>
        </p:spPr>
        <p:txBody>
          <a:bodyPr wrap="square" lIns="36576" tIns="36576" rIns="36576" bIns="36576" anchor="t">
            <a:spAutoFit/>
          </a:bodyPr>
          <a:lstStyle/>
          <a:p>
            <a:pPr algn="l"/>
            <a:r>
              <a:rPr sz="750" b="1">
                <a:solidFill>
                  <a:srgbClr val="687385"/>
                </a:solidFill>
              </a:rPr>
              <a:t>FORTIGATE ADMINISTRATOR COURSE</a:t>
            </a:r>
          </a:p>
        </p:txBody>
      </p:sp>
      <p:sp>
        <p:nvSpPr>
          <p:cNvPr id="4" name="TextBox 3"/>
          <p:cNvSpPr txBox="1"/>
          <p:nvPr/>
        </p:nvSpPr>
        <p:spPr>
          <a:xfrm>
            <a:off x="502920" y="420624"/>
            <a:ext cx="10744200" cy="128016"/>
          </a:xfrm>
          <a:prstGeom prst="rect">
            <a:avLst/>
          </a:prstGeom>
          <a:noFill/>
        </p:spPr>
        <p:txBody>
          <a:bodyPr wrap="square" lIns="36576" tIns="36576" rIns="36576" bIns="36576" anchor="t">
            <a:spAutoFit/>
          </a:bodyPr>
          <a:lstStyle/>
          <a:p>
            <a:pPr algn="l"/>
            <a:r>
              <a:rPr sz="850" b="1">
                <a:solidFill>
                  <a:srgbClr val="687385"/>
                </a:solidFill>
              </a:rPr>
              <a:t>027 • DAY 1 • BLOCK 02 • Introduction &amp; Initial Configuration</a:t>
            </a:r>
          </a:p>
        </p:txBody>
      </p:sp>
      <p:sp>
        <p:nvSpPr>
          <p:cNvPr id="5" name="TextBox 4"/>
          <p:cNvSpPr txBox="1"/>
          <p:nvPr/>
        </p:nvSpPr>
        <p:spPr>
          <a:xfrm>
            <a:off x="502920" y="621792"/>
            <a:ext cx="11109960" cy="530352"/>
          </a:xfrm>
          <a:prstGeom prst="rect">
            <a:avLst/>
          </a:prstGeom>
          <a:noFill/>
        </p:spPr>
        <p:txBody>
          <a:bodyPr wrap="square" lIns="36576" tIns="36576" rIns="36576" bIns="36576" anchor="t">
            <a:spAutoFit/>
          </a:bodyPr>
          <a:lstStyle/>
          <a:p>
            <a:pPr algn="l"/>
            <a:r>
              <a:rPr sz="2600" b="1">
                <a:solidFill>
                  <a:srgbClr val="1E2B40"/>
                </a:solidFill>
              </a:rPr>
              <a:t>Guided CLI exercise: inspect, create, back up and clean up</a:t>
            </a:r>
          </a:p>
        </p:txBody>
      </p:sp>
      <p:sp>
        <p:nvSpPr>
          <p:cNvPr id="6" name="Rectangle 5"/>
          <p:cNvSpPr/>
          <p:nvPr/>
        </p:nvSpPr>
        <p:spPr>
          <a:xfrm>
            <a:off x="502920" y="6473952"/>
            <a:ext cx="11183112" cy="9144"/>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109960" y="6528816"/>
            <a:ext cx="502920" cy="164592"/>
          </a:xfrm>
          <a:prstGeom prst="rect">
            <a:avLst/>
          </a:prstGeom>
          <a:noFill/>
        </p:spPr>
        <p:txBody>
          <a:bodyPr wrap="square" lIns="36576" tIns="36576" rIns="36576" bIns="36576" anchor="t">
            <a:spAutoFit/>
          </a:bodyPr>
          <a:lstStyle/>
          <a:p>
            <a:pPr algn="r"/>
            <a:r>
              <a:rPr sz="750" b="0">
                <a:solidFill>
                  <a:srgbClr val="687385"/>
                </a:solidFill>
              </a:rPr>
              <a:t>27</a:t>
            </a:r>
          </a:p>
        </p:txBody>
      </p:sp>
      <p:sp>
        <p:nvSpPr>
          <p:cNvPr id="8" name="TextBox 7"/>
          <p:cNvSpPr txBox="1"/>
          <p:nvPr/>
        </p:nvSpPr>
        <p:spPr>
          <a:xfrm>
            <a:off x="658368" y="1353312"/>
            <a:ext cx="3246120" cy="228600"/>
          </a:xfrm>
          <a:prstGeom prst="rect">
            <a:avLst/>
          </a:prstGeom>
          <a:noFill/>
        </p:spPr>
        <p:txBody>
          <a:bodyPr wrap="square" lIns="36576" tIns="36576" rIns="36576" bIns="36576" anchor="t">
            <a:spAutoFit/>
          </a:bodyPr>
          <a:lstStyle/>
          <a:p>
            <a:pPr algn="l"/>
            <a:r>
              <a:rPr sz="1000" b="1">
                <a:solidFill>
                  <a:srgbClr val="E60012"/>
                </a:solidFill>
              </a:rPr>
              <a:t>STARTING STATE</a:t>
            </a:r>
          </a:p>
        </p:txBody>
      </p:sp>
      <p:sp>
        <p:nvSpPr>
          <p:cNvPr id="9" name="TextBox 8"/>
          <p:cNvSpPr txBox="1"/>
          <p:nvPr/>
        </p:nvSpPr>
        <p:spPr>
          <a:xfrm>
            <a:off x="658368" y="1691640"/>
            <a:ext cx="3337560" cy="1965960"/>
          </a:xfrm>
          <a:prstGeom prst="rect">
            <a:avLst/>
          </a:prstGeom>
          <a:noFill/>
        </p:spPr>
        <p:txBody>
          <a:bodyPr wrap="square" lIns="36576" tIns="27432" rIns="36576" bIns="27432">
            <a:spAutoFit/>
          </a:bodyPr>
          <a:lstStyle/>
          <a:p>
            <a:pPr>
              <a:spcAft>
                <a:spcPts val="400"/>
              </a:spcAft>
            </a:pPr>
            <a:r>
              <a:rPr sz="1350">
                <a:solidFill>
                  <a:srgbClr val="1E2B40"/>
                </a:solidFill>
              </a:rPr>
              <a:t>• Assigned Student N FortiGate on 7.6.7</a:t>
            </a:r>
          </a:p>
          <a:p>
            <a:pPr>
              <a:spcAft>
                <a:spcPts val="400"/>
              </a:spcAft>
            </a:pPr>
            <a:r>
              <a:rPr sz="1350">
                <a:solidFill>
                  <a:srgbClr val="1E2B40"/>
                </a:solidFill>
              </a:rPr>
              <a:t>• Management access works; baseline routes/interfaces untouched</a:t>
            </a:r>
          </a:p>
          <a:p>
            <a:pPr>
              <a:spcAft>
                <a:spcPts val="400"/>
              </a:spcAft>
            </a:pPr>
            <a:r>
              <a:rPr sz="1350">
                <a:solidFill>
                  <a:srgbClr val="1E2B40"/>
                </a:solidFill>
              </a:rPr>
              <a:t>• GUI download location or tested SFTP destination available</a:t>
            </a:r>
          </a:p>
        </p:txBody>
      </p:sp>
      <p:sp>
        <p:nvSpPr>
          <p:cNvPr id="10" name="TextBox 9"/>
          <p:cNvSpPr txBox="1"/>
          <p:nvPr/>
        </p:nvSpPr>
        <p:spPr>
          <a:xfrm>
            <a:off x="4315968" y="1353312"/>
            <a:ext cx="3337560" cy="228600"/>
          </a:xfrm>
          <a:prstGeom prst="rect">
            <a:avLst/>
          </a:prstGeom>
          <a:noFill/>
        </p:spPr>
        <p:txBody>
          <a:bodyPr wrap="square" lIns="36576" tIns="36576" rIns="36576" bIns="36576" anchor="t">
            <a:spAutoFit/>
          </a:bodyPr>
          <a:lstStyle/>
          <a:p>
            <a:pPr algn="l"/>
            <a:r>
              <a:rPr sz="1000" b="1">
                <a:solidFill>
                  <a:srgbClr val="E60012"/>
                </a:solidFill>
              </a:rPr>
              <a:t>STUDENT TASK</a:t>
            </a:r>
          </a:p>
        </p:txBody>
      </p:sp>
      <p:sp>
        <p:nvSpPr>
          <p:cNvPr id="11" name="TextBox 10"/>
          <p:cNvSpPr txBox="1"/>
          <p:nvPr/>
        </p:nvSpPr>
        <p:spPr>
          <a:xfrm>
            <a:off x="4315968" y="1691640"/>
            <a:ext cx="3337560" cy="1965960"/>
          </a:xfrm>
          <a:prstGeom prst="rect">
            <a:avLst/>
          </a:prstGeom>
          <a:noFill/>
        </p:spPr>
        <p:txBody>
          <a:bodyPr wrap="square" lIns="36576" tIns="27432" rIns="36576" bIns="27432">
            <a:spAutoFit/>
          </a:bodyPr>
          <a:lstStyle/>
          <a:p>
            <a:pPr>
              <a:spcAft>
                <a:spcPts val="400"/>
              </a:spcAft>
            </a:pPr>
            <a:r>
              <a:rPr sz="1350">
                <a:solidFill>
                  <a:srgbClr val="1E2B40"/>
                </a:solidFill>
              </a:rPr>
              <a:t>• Run get system status and use ? in two contexts</a:t>
            </a:r>
          </a:p>
          <a:p>
            <a:pPr>
              <a:spcAft>
                <a:spcPts val="400"/>
              </a:spcAft>
            </a:pPr>
            <a:r>
              <a:rPr sz="1350">
                <a:solidFill>
                  <a:srgbClr val="1E2B40"/>
                </a:solidFill>
              </a:rPr>
              <a:t>• Create student0N-temp-cli for 10.N.10.10/32</a:t>
            </a:r>
          </a:p>
          <a:p>
            <a:pPr>
              <a:spcAft>
                <a:spcPts val="400"/>
              </a:spcAft>
            </a:pPr>
            <a:r>
              <a:rPr sz="1350">
                <a:solidFill>
                  <a:srgbClr val="1E2B40"/>
                </a:solidFill>
              </a:rPr>
              <a:t>• Inspect with show; export a dated backup</a:t>
            </a:r>
          </a:p>
          <a:p>
            <a:pPr>
              <a:spcAft>
                <a:spcPts val="400"/>
              </a:spcAft>
            </a:pPr>
            <a:r>
              <a:rPr sz="1350">
                <a:solidFill>
                  <a:srgbClr val="1E2B40"/>
                </a:solidFill>
              </a:rPr>
              <a:t>• Delete the temporary object</a:t>
            </a:r>
          </a:p>
        </p:txBody>
      </p:sp>
      <p:sp>
        <p:nvSpPr>
          <p:cNvPr id="12" name="TextBox 11"/>
          <p:cNvSpPr txBox="1"/>
          <p:nvPr/>
        </p:nvSpPr>
        <p:spPr>
          <a:xfrm>
            <a:off x="7973568" y="1353312"/>
            <a:ext cx="3383280" cy="228600"/>
          </a:xfrm>
          <a:prstGeom prst="rect">
            <a:avLst/>
          </a:prstGeom>
          <a:noFill/>
        </p:spPr>
        <p:txBody>
          <a:bodyPr wrap="square" lIns="36576" tIns="36576" rIns="36576" bIns="36576" anchor="t">
            <a:spAutoFit/>
          </a:bodyPr>
          <a:lstStyle/>
          <a:p>
            <a:pPr algn="l"/>
            <a:r>
              <a:rPr sz="1000" b="1">
                <a:solidFill>
                  <a:srgbClr val="E60012"/>
                </a:solidFill>
              </a:rPr>
              <a:t>EXPECTED RESULT + CLEANUP</a:t>
            </a:r>
          </a:p>
        </p:txBody>
      </p:sp>
      <p:sp>
        <p:nvSpPr>
          <p:cNvPr id="13" name="TextBox 12"/>
          <p:cNvSpPr txBox="1"/>
          <p:nvPr/>
        </p:nvSpPr>
        <p:spPr>
          <a:xfrm>
            <a:off x="7973568" y="1691640"/>
            <a:ext cx="3383280" cy="2148840"/>
          </a:xfrm>
          <a:prstGeom prst="rect">
            <a:avLst/>
          </a:prstGeom>
          <a:noFill/>
        </p:spPr>
        <p:txBody>
          <a:bodyPr wrap="square" lIns="36576" tIns="27432" rIns="36576" bIns="27432">
            <a:spAutoFit/>
          </a:bodyPr>
          <a:lstStyle/>
          <a:p>
            <a:pPr>
              <a:spcAft>
                <a:spcPts val="400"/>
              </a:spcAft>
            </a:pPr>
            <a:r>
              <a:rPr sz="1350">
                <a:solidFill>
                  <a:srgbClr val="1E2B40"/>
                </a:solidFill>
              </a:rPr>
              <a:t>• Object displays the correct /32 and comment</a:t>
            </a:r>
          </a:p>
          <a:p>
            <a:pPr>
              <a:spcAft>
                <a:spcPts val="400"/>
              </a:spcAft>
            </a:pPr>
            <a:r>
              <a:rPr sz="1350">
                <a:solidFill>
                  <a:srgbClr val="1E2B40"/>
                </a:solidFill>
              </a:rPr>
              <a:t>• Backup exists at the recorded destination</a:t>
            </a:r>
          </a:p>
          <a:p>
            <a:pPr>
              <a:spcAft>
                <a:spcPts val="400"/>
              </a:spcAft>
            </a:pPr>
            <a:r>
              <a:rPr sz="1350">
                <a:solidFill>
                  <a:srgbClr val="1E2B40"/>
                </a:solidFill>
              </a:rPr>
              <a:t>• Object is absent after delete</a:t>
            </a:r>
          </a:p>
          <a:p>
            <a:pPr>
              <a:spcAft>
                <a:spcPts val="400"/>
              </a:spcAft>
            </a:pPr>
            <a:r>
              <a:rPr sz="1350">
                <a:solidFill>
                  <a:srgbClr val="1E2B40"/>
                </a:solidFill>
              </a:rPr>
              <a:t>• Management, baseline routes and shared infrastructure are unchanged</a:t>
            </a:r>
          </a:p>
        </p:txBody>
      </p:sp>
      <p:sp>
        <p:nvSpPr>
          <p:cNvPr id="14" name="TextBox 13"/>
          <p:cNvSpPr txBox="1"/>
          <p:nvPr/>
        </p:nvSpPr>
        <p:spPr>
          <a:xfrm>
            <a:off x="658368" y="4160520"/>
            <a:ext cx="1828800" cy="228600"/>
          </a:xfrm>
          <a:prstGeom prst="rect">
            <a:avLst/>
          </a:prstGeom>
          <a:noFill/>
        </p:spPr>
        <p:txBody>
          <a:bodyPr wrap="square" lIns="36576" tIns="36576" rIns="36576" bIns="36576" anchor="t">
            <a:spAutoFit/>
          </a:bodyPr>
          <a:lstStyle/>
          <a:p>
            <a:pPr algn="l"/>
            <a:r>
              <a:rPr sz="1000" b="1">
                <a:solidFill>
                  <a:srgbClr val="E60012"/>
                </a:solidFill>
              </a:rPr>
              <a:t>COMMAND CHECKPOINT</a:t>
            </a:r>
          </a:p>
        </p:txBody>
      </p:sp>
      <p:sp>
        <p:nvSpPr>
          <p:cNvPr id="15" name="Rectangle 14"/>
          <p:cNvSpPr/>
          <p:nvPr/>
        </p:nvSpPr>
        <p:spPr>
          <a:xfrm>
            <a:off x="658368" y="4498848"/>
            <a:ext cx="10561320" cy="658368"/>
          </a:xfrm>
          <a:prstGeom prst="rect">
            <a:avLst/>
          </a:prstGeom>
          <a:solidFill>
            <a:srgbClr val="1E2B40"/>
          </a:solidFill>
          <a:ln>
            <a:no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t"/>
          <a:lstStyle/>
          <a:p>
            <a:pPr algn="l"/>
            <a:r>
              <a:rPr sz="1400" b="0">
                <a:solidFill>
                  <a:srgbClr val="E6ECF4"/>
                </a:solidFill>
                <a:latin typeface="Consolas"/>
              </a:rPr>
              <a:t>config firewall address  →  delete "student0N-temp-cli"  →  end  →  show firewall address "student0N-temp-cli"</a:t>
            </a:r>
          </a:p>
        </p:txBody>
      </p:sp>
      <p:sp>
        <p:nvSpPr>
          <p:cNvPr id="16" name="TextBox 15"/>
          <p:cNvSpPr txBox="1"/>
          <p:nvPr/>
        </p:nvSpPr>
        <p:spPr>
          <a:xfrm>
            <a:off x="658368" y="5440680"/>
            <a:ext cx="10561320" cy="457200"/>
          </a:xfrm>
          <a:prstGeom prst="rect">
            <a:avLst/>
          </a:prstGeom>
          <a:noFill/>
        </p:spPr>
        <p:txBody>
          <a:bodyPr wrap="square" lIns="36576" tIns="36576" rIns="36576" bIns="36576" anchor="t">
            <a:spAutoFit/>
          </a:bodyPr>
          <a:lstStyle/>
          <a:p>
            <a:pPr algn="l"/>
            <a:r>
              <a:rPr sz="1300" b="1">
                <a:solidFill>
                  <a:srgbClr val="E60012"/>
                </a:solidFill>
              </a:rPr>
              <a:t>[CHANGE] Dedicated address object only • [INSPECTION] help/show/status • [DISRUPTIVE] restore/firmware are not student tasks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01827"/>
        </a:solidFill>
        <a:effectLst/>
      </p:bgPr>
    </p:bg>
    <p:spTree>
      <p:nvGrpSpPr>
        <p:cNvPr id="1" name=""/>
        <p:cNvGrpSpPr/>
        <p:nvPr/>
      </p:nvGrpSpPr>
      <p:grpSpPr>
        <a:xfrm>
          <a:off x="0" y="0"/>
          <a:ext cx="1" cy="1"/>
          <a:chOff x="0" y="0"/>
          <a:chExt cx="1" cy="1"/>
        </a:xfrm>
      </p:grpSpPr>
      <p:sp>
        <p:nvSpPr>
          <p:cNvPr id="2" name="Rectangle 1"/>
          <p:cNvSpPr/>
          <p:nvPr/>
        </p:nvSpPr>
        <p:spPr>
          <a:xfrm>
            <a:off x="0" y="0"/>
            <a:ext cx="146304" cy="6858000"/>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a:spLocks/>
          </p:cNvSpPr>
          <p:nvPr/>
        </p:nvSpPr>
        <p:spPr>
          <a:xfrm>
            <a:off x="658368" y="566928"/>
            <a:ext cx="5212080" cy="256032"/>
          </a:xfrm>
          <a:prstGeom prst="rect">
            <a:avLst/>
          </a:prstGeom>
          <a:noFill/>
        </p:spPr>
        <p:txBody>
          <a:bodyPr wrap="square" lIns="27432" tIns="27432" rIns="27432" bIns="27432" anchor="t">
            <a:spAutoFit/>
          </a:bodyPr>
          <a:lstStyle/>
          <a:p>
            <a:pPr algn="l">
              <a:spcAft>
                <a:spcPts val="0"/>
              </a:spcAft>
            </a:pPr>
            <a:r>
              <a:rPr lang="en-GB" sz="1400" b="1">
                <a:solidFill>
                  <a:srgbClr val="E60012"/>
                </a:solidFill>
              </a:rPr>
              <a:t>DAY 1  •  13:00–14:30</a:t>
            </a:r>
          </a:p>
        </p:txBody>
      </p:sp>
      <p:sp>
        <p:nvSpPr>
          <p:cNvPr id="4" name="TextBox 3"/>
          <p:cNvSpPr txBox="1">
            <a:spLocks/>
          </p:cNvSpPr>
          <p:nvPr/>
        </p:nvSpPr>
        <p:spPr>
          <a:xfrm>
            <a:off x="658368" y="1097280"/>
            <a:ext cx="10515600" cy="914400"/>
          </a:xfrm>
          <a:prstGeom prst="rect">
            <a:avLst/>
          </a:prstGeom>
          <a:noFill/>
        </p:spPr>
        <p:txBody>
          <a:bodyPr wrap="square" lIns="27432" tIns="27432" rIns="27432" bIns="27432" anchor="t">
            <a:spAutoFit/>
          </a:bodyPr>
          <a:lstStyle/>
          <a:p>
            <a:pPr algn="l">
              <a:spcAft>
                <a:spcPts val="0"/>
              </a:spcAft>
            </a:pPr>
            <a:r>
              <a:rPr lang="en-GB" sz="3400" b="1">
                <a:solidFill>
                  <a:srgbClr val="FFFFFF"/>
                </a:solidFill>
              </a:rPr>
              <a:t>Segmentation, Zones &amp; Firewall Policy Design</a:t>
            </a:r>
          </a:p>
        </p:txBody>
      </p:sp>
      <p:sp>
        <p:nvSpPr>
          <p:cNvPr id="5" name="TextBox 4"/>
          <p:cNvSpPr txBox="1">
            <a:spLocks/>
          </p:cNvSpPr>
          <p:nvPr/>
        </p:nvSpPr>
        <p:spPr>
          <a:xfrm>
            <a:off x="676656" y="2084831"/>
            <a:ext cx="8686800" cy="320040"/>
          </a:xfrm>
          <a:prstGeom prst="rect">
            <a:avLst/>
          </a:prstGeom>
          <a:noFill/>
        </p:spPr>
        <p:txBody>
          <a:bodyPr wrap="square" lIns="27432" tIns="27432" rIns="27432" bIns="27432" anchor="t">
            <a:spAutoFit/>
          </a:bodyPr>
          <a:lstStyle/>
          <a:p>
            <a:pPr algn="l">
              <a:spcAft>
                <a:spcPts val="0"/>
              </a:spcAft>
            </a:pPr>
            <a:r>
              <a:rPr lang="en-GB" sz="1500" b="0">
                <a:solidFill>
                  <a:srgbClr val="C9D1DD"/>
                </a:solidFill>
              </a:rPr>
              <a:t>Foundations • Day 1 of 2</a:t>
            </a:r>
          </a:p>
        </p:txBody>
      </p:sp>
      <p:cxnSp>
        <p:nvCxnSpPr>
          <p:cNvPr id="6" name="Connector 5"/>
          <p:cNvCxnSpPr/>
          <p:nvPr/>
        </p:nvCxnSpPr>
        <p:spPr>
          <a:xfrm>
            <a:off x="676656" y="2578608"/>
            <a:ext cx="10616184" cy="0"/>
          </a:xfrm>
          <a:prstGeom prst="line">
            <a:avLst/>
          </a:prstGeom>
          <a:ln w="12700">
            <a:solidFill>
              <a:srgbClr val="40516A"/>
            </a:solidFill>
          </a:ln>
        </p:spPr>
        <p:style>
          <a:lnRef idx="2">
            <a:schemeClr val="accent1"/>
          </a:lnRef>
          <a:fillRef idx="0">
            <a:schemeClr val="accent1"/>
          </a:fillRef>
          <a:effectRef idx="1">
            <a:schemeClr val="accent1"/>
          </a:effectRef>
          <a:fontRef idx="minor">
            <a:schemeClr val="tx1"/>
          </a:fontRef>
        </p:style>
      </p:cxnSp>
      <p:sp>
        <p:nvSpPr>
          <p:cNvPr id="7" name="TextBox 6"/>
          <p:cNvSpPr txBox="1">
            <a:spLocks/>
          </p:cNvSpPr>
          <p:nvPr/>
        </p:nvSpPr>
        <p:spPr>
          <a:xfrm>
            <a:off x="685800" y="2889504"/>
            <a:ext cx="27432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LEARNING OBJECTIVES</a:t>
            </a:r>
          </a:p>
        </p:txBody>
      </p:sp>
      <p:sp>
        <p:nvSpPr>
          <p:cNvPr id="8" name="TextBox 7"/>
          <p:cNvSpPr txBox="1">
            <a:spLocks/>
          </p:cNvSpPr>
          <p:nvPr/>
        </p:nvSpPr>
        <p:spPr>
          <a:xfrm>
            <a:off x="685800" y="3218688"/>
            <a:ext cx="6035040" cy="2057400"/>
          </a:xfrm>
          <a:prstGeom prst="rect">
            <a:avLst/>
          </a:prstGeom>
          <a:noFill/>
        </p:spPr>
        <p:txBody>
          <a:bodyPr wrap="square" lIns="109728" tIns="73152" rIns="109728" bIns="73152" anchor="t">
            <a:spAutoFit/>
          </a:bodyPr>
          <a:lstStyle/>
          <a:p>
            <a:pPr algn="l">
              <a:lnSpc>
                <a:spcPct val="105000"/>
              </a:lnSpc>
              <a:spcAft>
                <a:spcPts val="700"/>
              </a:spcAft>
              <a:defRPr sz="1700">
                <a:solidFill>
                  <a:srgbClr val="FFFFFF"/>
                </a:solidFill>
              </a:defRPr>
            </a:pPr>
            <a:r>
              <a:rPr lang="en-GB"/>
              <a:t>• Choose LAN/WAN/DMZ boundaries using least privilege</a:t>
            </a:r>
          </a:p>
          <a:p>
            <a:pPr>
              <a:lnSpc>
                <a:spcPct val="105000"/>
              </a:lnSpc>
              <a:spcAft>
                <a:spcPts val="700"/>
              </a:spcAft>
              <a:defRPr sz="1700">
                <a:solidFill>
                  <a:srgbClr val="FFFFFF"/>
                </a:solidFill>
              </a:defRPr>
            </a:pPr>
            <a:r>
              <a:rPr lang="en-GB"/>
              <a:t>• Explain FortiSwitch/FortiLink roles without assuming lab availability</a:t>
            </a:r>
          </a:p>
          <a:p>
            <a:pPr>
              <a:lnSpc>
                <a:spcPct val="105000"/>
              </a:lnSpc>
              <a:spcAft>
                <a:spcPts val="700"/>
              </a:spcAft>
              <a:defRPr sz="1700">
                <a:solidFill>
                  <a:srgbClr val="FFFFFF"/>
                </a:solidFill>
              </a:defRPr>
            </a:pPr>
            <a:r>
              <a:rPr lang="en-GB"/>
              <a:t>• Build ordered policies from reusable objects and logging requirements</a:t>
            </a:r>
          </a:p>
        </p:txBody>
      </p:sp>
      <p:sp>
        <p:nvSpPr>
          <p:cNvPr id="9" name="TextBox 8"/>
          <p:cNvSpPr txBox="1">
            <a:spLocks/>
          </p:cNvSpPr>
          <p:nvPr/>
        </p:nvSpPr>
        <p:spPr>
          <a:xfrm>
            <a:off x="7315200" y="2889504"/>
            <a:ext cx="36576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PREREQUISITES + PRACTICE RESERVE</a:t>
            </a:r>
          </a:p>
        </p:txBody>
      </p:sp>
      <p:sp>
        <p:nvSpPr>
          <p:cNvPr id="10" name="TextBox 9"/>
          <p:cNvSpPr txBox="1">
            <a:spLocks/>
          </p:cNvSpPr>
          <p:nvPr/>
        </p:nvSpPr>
        <p:spPr>
          <a:xfrm>
            <a:off x="7315200" y="3218688"/>
            <a:ext cx="3886200" cy="1143000"/>
          </a:xfrm>
          <a:prstGeom prst="rect">
            <a:avLst/>
          </a:prstGeom>
          <a:noFill/>
        </p:spPr>
        <p:txBody>
          <a:bodyPr wrap="square" lIns="109728" tIns="73152" rIns="109728" bIns="73152" anchor="t">
            <a:spAutoFit/>
          </a:bodyPr>
          <a:lstStyle/>
          <a:p>
            <a:pPr algn="l">
              <a:lnSpc>
                <a:spcPct val="105000"/>
              </a:lnSpc>
              <a:spcAft>
                <a:spcPts val="600"/>
              </a:spcAft>
              <a:defRPr sz="1500">
                <a:solidFill>
                  <a:srgbClr val="FFFFFF"/>
                </a:solidFill>
              </a:defRPr>
            </a:pPr>
            <a:r>
              <a:rPr lang="en-GB"/>
              <a:t>• Block 1 routing/session concepts</a:t>
            </a:r>
          </a:p>
          <a:p>
            <a:pPr>
              <a:lnSpc>
                <a:spcPct val="105000"/>
              </a:lnSpc>
              <a:spcAft>
                <a:spcPts val="600"/>
              </a:spcAft>
              <a:defRPr sz="1500">
                <a:solidFill>
                  <a:srgbClr val="FFFFFF"/>
                </a:solidFill>
              </a:defRPr>
            </a:pPr>
            <a:r>
              <a:rPr lang="en-GB"/>
              <a:t>• Known trust zones and application flows</a:t>
            </a:r>
          </a:p>
          <a:p>
            <a:pPr>
              <a:lnSpc>
                <a:spcPct val="105000"/>
              </a:lnSpc>
              <a:spcAft>
                <a:spcPts val="600"/>
              </a:spcAft>
              <a:defRPr sz="1500">
                <a:solidFill>
                  <a:srgbClr val="FFFFFF"/>
                </a:solidFill>
              </a:defRPr>
            </a:pPr>
            <a:r>
              <a:rPr lang="en-GB"/>
              <a:t>• FortiSwitch hardware is instructor-demo only unless supplied</a:t>
            </a:r>
          </a:p>
        </p:txBody>
      </p:sp>
      <p:sp>
        <p:nvSpPr>
          <p:cNvPr id="11" name="TextBox 10"/>
          <p:cNvSpPr txBox="1">
            <a:spLocks/>
          </p:cNvSpPr>
          <p:nvPr/>
        </p:nvSpPr>
        <p:spPr>
          <a:xfrm>
            <a:off x="7315200" y="4709160"/>
            <a:ext cx="3931920" cy="685800"/>
          </a:xfrm>
          <a:prstGeom prst="rect">
            <a:avLst/>
          </a:prstGeom>
          <a:noFill/>
        </p:spPr>
        <p:txBody>
          <a:bodyPr wrap="square" lIns="27432" tIns="27432" rIns="27432" bIns="27432" anchor="t">
            <a:spAutoFit/>
          </a:bodyPr>
          <a:lstStyle/>
          <a:p>
            <a:pPr algn="l">
              <a:spcAft>
                <a:spcPts val="0"/>
              </a:spcAft>
            </a:pPr>
            <a:r>
              <a:rPr lang="en-GB" sz="1600" b="1">
                <a:solidFill>
                  <a:srgbClr val="D8E0EA"/>
                </a:solidFill>
              </a:rPr>
              <a:t>Teach ~54 min • reserve ~36 min for guided activity, discussion and debrief</a:t>
            </a:r>
          </a:p>
        </p:txBody>
      </p:sp>
      <p:sp>
        <p:nvSpPr>
          <p:cNvPr id="12" name="TextBox 11"/>
          <p:cNvSpPr txBox="1">
            <a:spLocks/>
          </p:cNvSpPr>
          <p:nvPr/>
        </p:nvSpPr>
        <p:spPr>
          <a:xfrm>
            <a:off x="10424160" y="5715000"/>
            <a:ext cx="731520" cy="363176"/>
          </a:xfrm>
          <a:prstGeom prst="rect">
            <a:avLst/>
          </a:prstGeom>
          <a:noFill/>
        </p:spPr>
        <p:txBody>
          <a:bodyPr wrap="square" lIns="27432" tIns="27432" rIns="27432" bIns="27432" anchor="t">
            <a:spAutoFit/>
          </a:bodyPr>
          <a:lstStyle/>
          <a:p>
            <a:pPr algn="r">
              <a:spcAft>
                <a:spcPts val="0"/>
              </a:spcAft>
            </a:pPr>
            <a:r>
              <a:rPr lang="en-HU" sz="2000" b="1">
                <a:solidFill>
                  <a:srgbClr val="E60012"/>
                </a:solidFill>
              </a:rPr>
              <a:t>028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p:nvPr/>
        </p:nvSpPr>
        <p:spPr>
          <a:xfrm>
            <a:off x="502920" y="411480"/>
            <a:ext cx="548640" cy="189283"/>
          </a:xfrm>
          <a:prstGeom prst="rect">
            <a:avLst/>
          </a:prstGeom>
          <a:noFill/>
        </p:spPr>
        <p:txBody>
          <a:bodyPr wrap="square" lIns="36576" tIns="36576" rIns="36576" bIns="36576" anchor="t">
            <a:spAutoFit/>
          </a:bodyPr>
          <a:lstStyle/>
          <a:p>
            <a:pPr algn="l">
              <a:spcAft>
                <a:spcPts val="0"/>
              </a:spcAft>
            </a:pPr>
            <a:r>
              <a:rPr lang="en-HU" sz="750" b="1">
                <a:solidFill>
                  <a:srgbClr val="687385"/>
                </a:solidFill>
              </a:rPr>
              <a:t>029</a:t>
            </a:r>
            <a:endParaRPr sz="750" b="1">
              <a:solidFill>
                <a:srgbClr val="687385"/>
              </a:solidFill>
            </a:endParaRPr>
          </a:p>
        </p:txBody>
      </p:sp>
      <p:sp>
        <p:nvSpPr>
          <p:cNvPr id="4" name="TextBox 3"/>
          <p:cNvSpPr txBox="1"/>
          <p:nvPr/>
        </p:nvSpPr>
        <p:spPr>
          <a:xfrm>
            <a:off x="502920" y="621792"/>
            <a:ext cx="11109960" cy="548640"/>
          </a:xfrm>
          <a:prstGeom prst="rect">
            <a:avLst/>
          </a:prstGeom>
          <a:noFill/>
        </p:spPr>
        <p:txBody>
          <a:bodyPr wrap="square" lIns="36576" tIns="36576" rIns="36576" bIns="36576" anchor="t">
            <a:spAutoFit/>
          </a:bodyPr>
          <a:lstStyle/>
          <a:p>
            <a:pPr algn="l">
              <a:spcAft>
                <a:spcPts val="0"/>
              </a:spcAft>
            </a:pPr>
            <a:r>
              <a:rPr sz="2600" b="1">
                <a:solidFill>
                  <a:srgbClr val="1E2B40"/>
                </a:solidFill>
              </a:rPr>
              <a:t>Segmentation permits named flows and denies everything else</a:t>
            </a:r>
          </a:p>
        </p:txBody>
      </p:sp>
      <p:sp>
        <p:nvSpPr>
          <p:cNvPr id="5" name="TextBox 4"/>
          <p:cNvSpPr txBox="1"/>
          <p:nvPr/>
        </p:nvSpPr>
        <p:spPr>
          <a:xfrm>
            <a:off x="521207" y="1143000"/>
            <a:ext cx="10789920" cy="274320"/>
          </a:xfrm>
          <a:prstGeom prst="rect">
            <a:avLst/>
          </a:prstGeom>
          <a:noFill/>
        </p:spPr>
        <p:txBody>
          <a:bodyPr wrap="square" lIns="36576" tIns="36576" rIns="36576" bIns="36576" anchor="t">
            <a:spAutoFit/>
          </a:bodyPr>
          <a:lstStyle/>
          <a:p>
            <a:pPr algn="l">
              <a:spcAft>
                <a:spcPts val="0"/>
              </a:spcAft>
            </a:pPr>
            <a:r>
              <a:rPr sz="1100" b="0">
                <a:solidFill>
                  <a:srgbClr val="687385"/>
                </a:solidFill>
              </a:rPr>
              <a:t>Zones simplify references; they do not create isolation by themselves</a:t>
            </a:r>
          </a:p>
        </p:txBody>
      </p:sp>
      <p:cxnSp>
        <p:nvCxnSpPr>
          <p:cNvPr id="6" name="Connector 5"/>
          <p:cNvCxnSpPr/>
          <p:nvPr/>
        </p:nvCxnSpPr>
        <p:spPr>
          <a:xfrm>
            <a:off x="502920" y="6473952"/>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7" name="TextBox 6"/>
          <p:cNvSpPr txBox="1">
            <a:spLocks/>
          </p:cNvSpPr>
          <p:nvPr/>
        </p:nvSpPr>
        <p:spPr>
          <a:xfrm>
            <a:off x="11109960" y="6537960"/>
            <a:ext cx="502920" cy="189283"/>
          </a:xfrm>
          <a:prstGeom prst="rect">
            <a:avLst/>
          </a:prstGeom>
          <a:noFill/>
        </p:spPr>
        <p:txBody>
          <a:bodyPr wrap="square" lIns="36576" tIns="36576" rIns="36576" bIns="36576" anchor="t">
            <a:spAutoFit/>
          </a:bodyPr>
          <a:lstStyle/>
          <a:p>
            <a:pPr algn="r">
              <a:spcAft>
                <a:spcPts val="0"/>
              </a:spcAft>
            </a:pPr>
            <a:r>
              <a:rPr lang="en-HU" sz="750" b="0">
                <a:solidFill>
                  <a:srgbClr val="687385"/>
                </a:solidFill>
              </a:rPr>
              <a:t>29</a:t>
            </a:r>
          </a:p>
        </p:txBody>
      </p:sp>
      <p:sp>
        <p:nvSpPr>
          <p:cNvPr id="8" name="Rectangle 7"/>
          <p:cNvSpPr>
            <a:spLocks/>
          </p:cNvSpPr>
          <p:nvPr/>
        </p:nvSpPr>
        <p:spPr>
          <a:xfrm>
            <a:off x="594360" y="1828800"/>
            <a:ext cx="1828800" cy="9144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9" name="TextBox 8"/>
          <p:cNvSpPr txBox="1">
            <a:spLocks/>
          </p:cNvSpPr>
          <p:nvPr/>
        </p:nvSpPr>
        <p:spPr>
          <a:xfrm>
            <a:off x="667512" y="1947672"/>
            <a:ext cx="1682496" cy="304699"/>
          </a:xfrm>
          <a:prstGeom prst="rect">
            <a:avLst/>
          </a:prstGeom>
          <a:noFill/>
        </p:spPr>
        <p:txBody>
          <a:bodyPr wrap="square" lIns="36576" tIns="36576" rIns="36576" bIns="36576" anchor="t">
            <a:spAutoFit/>
          </a:bodyPr>
          <a:lstStyle/>
          <a:p>
            <a:pPr algn="ctr">
              <a:spcAft>
                <a:spcPts val="0"/>
              </a:spcAft>
            </a:pPr>
            <a:r>
              <a:rPr lang="en-GB" sz="1500" b="1">
                <a:solidFill>
                  <a:srgbClr val="FFFFFF"/>
                </a:solidFill>
              </a:rPr>
              <a:t>LAN ZONE</a:t>
            </a:r>
          </a:p>
        </p:txBody>
      </p:sp>
      <p:sp>
        <p:nvSpPr>
          <p:cNvPr id="10" name="TextBox 9"/>
          <p:cNvSpPr txBox="1">
            <a:spLocks/>
          </p:cNvSpPr>
          <p:nvPr/>
        </p:nvSpPr>
        <p:spPr>
          <a:xfrm>
            <a:off x="667512" y="2304288"/>
            <a:ext cx="1682496" cy="227755"/>
          </a:xfrm>
          <a:prstGeom prst="rect">
            <a:avLst/>
          </a:prstGeom>
          <a:noFill/>
        </p:spPr>
        <p:txBody>
          <a:bodyPr wrap="square" lIns="36576" tIns="36576" rIns="36576" bIns="36576" anchor="t">
            <a:spAutoFit/>
          </a:bodyPr>
          <a:lstStyle/>
          <a:p>
            <a:pPr algn="ctr">
              <a:spcAft>
                <a:spcPts val="0"/>
              </a:spcAft>
            </a:pPr>
            <a:r>
              <a:rPr lang="en-HU" sz="1000" b="0">
                <a:solidFill>
                  <a:srgbClr val="D8E0EA"/>
                </a:solidFill>
              </a:rPr>
              <a:t>10.1.10.0/24</a:t>
            </a:r>
          </a:p>
        </p:txBody>
      </p:sp>
      <p:sp>
        <p:nvSpPr>
          <p:cNvPr id="11" name="Rectangle 10"/>
          <p:cNvSpPr>
            <a:spLocks/>
          </p:cNvSpPr>
          <p:nvPr/>
        </p:nvSpPr>
        <p:spPr>
          <a:xfrm>
            <a:off x="5166360" y="1828800"/>
            <a:ext cx="1828800" cy="9144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2" name="TextBox 11"/>
          <p:cNvSpPr txBox="1"/>
          <p:nvPr/>
        </p:nvSpPr>
        <p:spPr>
          <a:xfrm>
            <a:off x="5239512" y="1947672"/>
            <a:ext cx="1682496" cy="274320"/>
          </a:xfrm>
          <a:prstGeom prst="rect">
            <a:avLst/>
          </a:prstGeom>
          <a:noFill/>
        </p:spPr>
        <p:txBody>
          <a:bodyPr wrap="square" lIns="36576" tIns="36576" rIns="36576" bIns="36576" anchor="t">
            <a:spAutoFit/>
          </a:bodyPr>
          <a:lstStyle/>
          <a:p>
            <a:pPr algn="ctr">
              <a:spcAft>
                <a:spcPts val="0"/>
              </a:spcAft>
            </a:pPr>
            <a:r>
              <a:rPr sz="1500" b="1">
                <a:solidFill>
                  <a:srgbClr val="FFFFFF"/>
                </a:solidFill>
              </a:rPr>
              <a:t>DMZ ZONE</a:t>
            </a:r>
          </a:p>
        </p:txBody>
      </p:sp>
      <p:sp>
        <p:nvSpPr>
          <p:cNvPr id="13" name="TextBox 12"/>
          <p:cNvSpPr txBox="1">
            <a:spLocks/>
          </p:cNvSpPr>
          <p:nvPr/>
        </p:nvSpPr>
        <p:spPr>
          <a:xfrm>
            <a:off x="5239512" y="2304288"/>
            <a:ext cx="1682496" cy="227755"/>
          </a:xfrm>
          <a:prstGeom prst="rect">
            <a:avLst/>
          </a:prstGeom>
          <a:noFill/>
        </p:spPr>
        <p:txBody>
          <a:bodyPr wrap="square" lIns="36576" tIns="36576" rIns="36576" bIns="36576" anchor="t">
            <a:spAutoFit/>
          </a:bodyPr>
          <a:lstStyle/>
          <a:p>
            <a:pPr algn="ctr">
              <a:spcAft>
                <a:spcPts val="0"/>
              </a:spcAft>
            </a:pPr>
            <a:r>
              <a:rPr lang="en-HU" sz="1000" b="0">
                <a:solidFill>
                  <a:srgbClr val="D8E0EA"/>
                </a:solidFill>
              </a:rPr>
              <a:t>10.1.20.0/24</a:t>
            </a:r>
          </a:p>
        </p:txBody>
      </p:sp>
      <p:sp>
        <p:nvSpPr>
          <p:cNvPr id="14" name="Rectangle 13"/>
          <p:cNvSpPr>
            <a:spLocks/>
          </p:cNvSpPr>
          <p:nvPr/>
        </p:nvSpPr>
        <p:spPr>
          <a:xfrm>
            <a:off x="9738360" y="1828800"/>
            <a:ext cx="1828800" cy="9144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5" name="TextBox 14"/>
          <p:cNvSpPr txBox="1"/>
          <p:nvPr/>
        </p:nvSpPr>
        <p:spPr>
          <a:xfrm>
            <a:off x="9811512" y="1947672"/>
            <a:ext cx="1682496" cy="274320"/>
          </a:xfrm>
          <a:prstGeom prst="rect">
            <a:avLst/>
          </a:prstGeom>
          <a:noFill/>
        </p:spPr>
        <p:txBody>
          <a:bodyPr wrap="square" lIns="36576" tIns="36576" rIns="36576" bIns="36576" anchor="t">
            <a:spAutoFit/>
          </a:bodyPr>
          <a:lstStyle/>
          <a:p>
            <a:pPr algn="ctr">
              <a:spcAft>
                <a:spcPts val="0"/>
              </a:spcAft>
            </a:pPr>
            <a:r>
              <a:rPr sz="1500" b="1">
                <a:solidFill>
                  <a:srgbClr val="FFFFFF"/>
                </a:solidFill>
              </a:rPr>
              <a:t>WAN</a:t>
            </a:r>
          </a:p>
        </p:txBody>
      </p:sp>
      <p:sp>
        <p:nvSpPr>
          <p:cNvPr id="16" name="TextBox 15"/>
          <p:cNvSpPr txBox="1">
            <a:spLocks/>
          </p:cNvSpPr>
          <p:nvPr/>
        </p:nvSpPr>
        <p:spPr>
          <a:xfrm>
            <a:off x="9811512" y="2304288"/>
            <a:ext cx="1682496" cy="310896"/>
          </a:xfrm>
          <a:prstGeom prst="rect">
            <a:avLst/>
          </a:prstGeom>
          <a:noFill/>
        </p:spPr>
        <p:txBody>
          <a:bodyPr wrap="square" lIns="36576" tIns="36576" rIns="36576" bIns="36576" anchor="t">
            <a:spAutoFit/>
          </a:bodyPr>
          <a:lstStyle/>
          <a:p>
            <a:pPr algn="ctr">
              <a:spcAft>
                <a:spcPts val="0"/>
              </a:spcAft>
            </a:pPr>
            <a:r>
              <a:rPr lang="en-GB" sz="1000" b="0">
                <a:solidFill>
                  <a:srgbClr val="D8E0EA"/>
                </a:solidFill>
              </a:rPr>
              <a:t>untrusted</a:t>
            </a:r>
          </a:p>
        </p:txBody>
      </p:sp>
      <p:sp>
        <p:nvSpPr>
          <p:cNvPr id="17" name="Rectangle 16"/>
          <p:cNvSpPr>
            <a:spLocks/>
          </p:cNvSpPr>
          <p:nvPr/>
        </p:nvSpPr>
        <p:spPr>
          <a:xfrm>
            <a:off x="594360" y="3977639"/>
            <a:ext cx="1828800" cy="9144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8" name="TextBox 17"/>
          <p:cNvSpPr txBox="1"/>
          <p:nvPr/>
        </p:nvSpPr>
        <p:spPr>
          <a:xfrm>
            <a:off x="667512" y="4096511"/>
            <a:ext cx="1682496" cy="274320"/>
          </a:xfrm>
          <a:prstGeom prst="rect">
            <a:avLst/>
          </a:prstGeom>
          <a:noFill/>
        </p:spPr>
        <p:txBody>
          <a:bodyPr wrap="square" lIns="36576" tIns="36576" rIns="36576" bIns="36576" anchor="t">
            <a:spAutoFit/>
          </a:bodyPr>
          <a:lstStyle/>
          <a:p>
            <a:pPr algn="ctr">
              <a:spcAft>
                <a:spcPts val="0"/>
              </a:spcAft>
            </a:pPr>
            <a:r>
              <a:rPr sz="1500" b="1">
                <a:solidFill>
                  <a:srgbClr val="FFFFFF"/>
                </a:solidFill>
              </a:rPr>
              <a:t>GUEST ZONE</a:t>
            </a:r>
          </a:p>
        </p:txBody>
      </p:sp>
      <p:sp>
        <p:nvSpPr>
          <p:cNvPr id="19" name="TextBox 18"/>
          <p:cNvSpPr txBox="1">
            <a:spLocks/>
          </p:cNvSpPr>
          <p:nvPr/>
        </p:nvSpPr>
        <p:spPr>
          <a:xfrm>
            <a:off x="667512" y="4453127"/>
            <a:ext cx="1682496" cy="310896"/>
          </a:xfrm>
          <a:prstGeom prst="rect">
            <a:avLst/>
          </a:prstGeom>
          <a:noFill/>
        </p:spPr>
        <p:txBody>
          <a:bodyPr wrap="square" lIns="36576" tIns="36576" rIns="36576" bIns="36576" anchor="t">
            <a:spAutoFit/>
          </a:bodyPr>
          <a:lstStyle/>
          <a:p>
            <a:pPr algn="ctr">
              <a:spcAft>
                <a:spcPts val="0"/>
              </a:spcAft>
            </a:pPr>
            <a:r>
              <a:rPr lang="en-HU" sz="1000" b="0">
                <a:solidFill>
                  <a:srgbClr val="D8E0EA"/>
                </a:solidFill>
              </a:rPr>
              <a:t>10.10.30.0/24</a:t>
            </a:r>
          </a:p>
        </p:txBody>
      </p:sp>
      <p:sp>
        <p:nvSpPr>
          <p:cNvPr id="20" name="Right Arrow 19"/>
          <p:cNvSpPr>
            <a:spLocks/>
          </p:cNvSpPr>
          <p:nvPr/>
        </p:nvSpPr>
        <p:spPr>
          <a:xfrm>
            <a:off x="2514600" y="2176272"/>
            <a:ext cx="2423160" cy="201168"/>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21" name="TextBox 20"/>
          <p:cNvSpPr txBox="1"/>
          <p:nvPr/>
        </p:nvSpPr>
        <p:spPr>
          <a:xfrm>
            <a:off x="2514600" y="1920239"/>
            <a:ext cx="2423160" cy="212366"/>
          </a:xfrm>
          <a:prstGeom prst="rect">
            <a:avLst/>
          </a:prstGeom>
          <a:noFill/>
        </p:spPr>
        <p:txBody>
          <a:bodyPr wrap="square" lIns="36576" tIns="36576" rIns="36576" bIns="36576" anchor="t">
            <a:spAutoFit/>
          </a:bodyPr>
          <a:lstStyle/>
          <a:p>
            <a:pPr algn="ctr">
              <a:spcAft>
                <a:spcPts val="0"/>
              </a:spcAft>
            </a:pPr>
            <a:r>
              <a:rPr lang="en-GB" sz="900" b="1">
                <a:solidFill>
                  <a:srgbClr val="687385"/>
                </a:solidFill>
              </a:rPr>
              <a:t>HTTPS 443 allowed</a:t>
            </a:r>
          </a:p>
        </p:txBody>
      </p:sp>
      <p:sp>
        <p:nvSpPr>
          <p:cNvPr id="22" name="Right Arrow 21"/>
          <p:cNvSpPr>
            <a:spLocks/>
          </p:cNvSpPr>
          <p:nvPr/>
        </p:nvSpPr>
        <p:spPr>
          <a:xfrm>
            <a:off x="7086600" y="2176272"/>
            <a:ext cx="2423160" cy="201168"/>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23" name="TextBox 22"/>
          <p:cNvSpPr txBox="1"/>
          <p:nvPr/>
        </p:nvSpPr>
        <p:spPr>
          <a:xfrm>
            <a:off x="7086600" y="1920239"/>
            <a:ext cx="2423160" cy="212366"/>
          </a:xfrm>
          <a:prstGeom prst="rect">
            <a:avLst/>
          </a:prstGeom>
          <a:noFill/>
        </p:spPr>
        <p:txBody>
          <a:bodyPr wrap="square" lIns="36576" tIns="36576" rIns="36576" bIns="36576" anchor="t">
            <a:spAutoFit/>
          </a:bodyPr>
          <a:lstStyle/>
          <a:p>
            <a:pPr algn="ctr">
              <a:spcAft>
                <a:spcPts val="0"/>
              </a:spcAft>
            </a:pPr>
            <a:r>
              <a:rPr lang="en-GB" sz="900" b="1">
                <a:solidFill>
                  <a:srgbClr val="687385"/>
                </a:solidFill>
              </a:rPr>
              <a:t>published HTTPS</a:t>
            </a:r>
          </a:p>
        </p:txBody>
      </p:sp>
      <p:sp>
        <p:nvSpPr>
          <p:cNvPr id="24" name="Right Arrow 23"/>
          <p:cNvSpPr>
            <a:spLocks/>
          </p:cNvSpPr>
          <p:nvPr/>
        </p:nvSpPr>
        <p:spPr>
          <a:xfrm>
            <a:off x="2514600" y="4315968"/>
            <a:ext cx="2423160" cy="201168"/>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25" name="TextBox 24"/>
          <p:cNvSpPr txBox="1"/>
          <p:nvPr/>
        </p:nvSpPr>
        <p:spPr>
          <a:xfrm>
            <a:off x="2514600" y="4059935"/>
            <a:ext cx="2423160" cy="228600"/>
          </a:xfrm>
          <a:prstGeom prst="rect">
            <a:avLst/>
          </a:prstGeom>
          <a:noFill/>
        </p:spPr>
        <p:txBody>
          <a:bodyPr wrap="square" lIns="36576" tIns="36576" rIns="36576" bIns="36576" anchor="t">
            <a:spAutoFit/>
          </a:bodyPr>
          <a:lstStyle/>
          <a:p>
            <a:pPr algn="ctr">
              <a:spcAft>
                <a:spcPts val="0"/>
              </a:spcAft>
            </a:pPr>
            <a:r>
              <a:rPr sz="900" b="1">
                <a:solidFill>
                  <a:srgbClr val="687385"/>
                </a:solidFill>
              </a:rPr>
              <a:t>DNS only</a:t>
            </a:r>
          </a:p>
        </p:txBody>
      </p:sp>
      <p:sp>
        <p:nvSpPr>
          <p:cNvPr id="26" name="TextBox 25"/>
          <p:cNvSpPr txBox="1"/>
          <p:nvPr/>
        </p:nvSpPr>
        <p:spPr>
          <a:xfrm>
            <a:off x="5230368" y="4315968"/>
            <a:ext cx="1737360" cy="320040"/>
          </a:xfrm>
          <a:prstGeom prst="rect">
            <a:avLst/>
          </a:prstGeom>
          <a:noFill/>
        </p:spPr>
        <p:txBody>
          <a:bodyPr wrap="square" lIns="36576" tIns="36576" rIns="36576" bIns="36576" anchor="t">
            <a:spAutoFit/>
          </a:bodyPr>
          <a:lstStyle/>
          <a:p>
            <a:pPr algn="ctr">
              <a:spcAft>
                <a:spcPts val="0"/>
              </a:spcAft>
            </a:pPr>
            <a:r>
              <a:rPr sz="1600" b="1">
                <a:solidFill>
                  <a:srgbClr val="E60012"/>
                </a:solidFill>
              </a:rPr>
              <a:t>DENY</a:t>
            </a:r>
          </a:p>
        </p:txBody>
      </p:sp>
      <p:cxnSp>
        <p:nvCxnSpPr>
          <p:cNvPr id="27" name="Connector 26"/>
          <p:cNvCxnSpPr/>
          <p:nvPr/>
        </p:nvCxnSpPr>
        <p:spPr>
          <a:xfrm flipV="1">
            <a:off x="5257800" y="4114800"/>
            <a:ext cx="1645920" cy="566928"/>
          </a:xfrm>
          <a:prstGeom prst="line">
            <a:avLst/>
          </a:prstGeom>
          <a:ln w="38100">
            <a:solidFill>
              <a:srgbClr val="E60012"/>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257800" y="4114800"/>
            <a:ext cx="1645920" cy="566928"/>
          </a:xfrm>
          <a:prstGeom prst="line">
            <a:avLst/>
          </a:prstGeom>
          <a:ln w="38100">
            <a:solidFill>
              <a:srgbClr val="E60012"/>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7818120" y="3886200"/>
            <a:ext cx="1920240" cy="228600"/>
          </a:xfrm>
          <a:prstGeom prst="rect">
            <a:avLst/>
          </a:prstGeom>
          <a:noFill/>
        </p:spPr>
        <p:txBody>
          <a:bodyPr wrap="square" lIns="36576" tIns="36576" rIns="36576" bIns="36576" anchor="t">
            <a:spAutoFit/>
          </a:bodyPr>
          <a:lstStyle/>
          <a:p>
            <a:pPr algn="l">
              <a:spcAft>
                <a:spcPts val="0"/>
              </a:spcAft>
            </a:pPr>
            <a:r>
              <a:rPr sz="1100" b="1">
                <a:solidFill>
                  <a:srgbClr val="E60012"/>
                </a:solidFill>
              </a:rPr>
              <a:t>Policy intent</a:t>
            </a:r>
          </a:p>
        </p:txBody>
      </p:sp>
      <p:sp>
        <p:nvSpPr>
          <p:cNvPr id="30" name="TextBox 29"/>
          <p:cNvSpPr txBox="1"/>
          <p:nvPr/>
        </p:nvSpPr>
        <p:spPr>
          <a:xfrm>
            <a:off x="7818120" y="4224528"/>
            <a:ext cx="3337560" cy="1371600"/>
          </a:xfrm>
          <a:prstGeom prst="rect">
            <a:avLst/>
          </a:prstGeom>
          <a:noFill/>
        </p:spPr>
        <p:txBody>
          <a:bodyPr wrap="square" lIns="36576" tIns="36576" rIns="36576" bIns="36576" anchor="t">
            <a:spAutoFit/>
          </a:bodyPr>
          <a:lstStyle/>
          <a:p>
            <a:pPr algn="l">
              <a:spcAft>
                <a:spcPts val="400"/>
              </a:spcAft>
              <a:defRPr sz="1400">
                <a:solidFill>
                  <a:srgbClr val="1E2B40"/>
                </a:solidFill>
              </a:defRPr>
            </a:pPr>
            <a:r>
              <a:t>• LAN → DMZ: HTTPS only</a:t>
            </a:r>
          </a:p>
          <a:p>
            <a:pPr>
              <a:spcAft>
                <a:spcPts val="400"/>
              </a:spcAft>
              <a:defRPr sz="1400">
                <a:solidFill>
                  <a:srgbClr val="1E2B40"/>
                </a:solidFill>
              </a:defRPr>
            </a:pPr>
            <a:r>
              <a:t>• Guest → LAN/DMZ: denied</a:t>
            </a:r>
          </a:p>
          <a:p>
            <a:pPr>
              <a:spcAft>
                <a:spcPts val="400"/>
              </a:spcAft>
              <a:defRPr sz="1400">
                <a:solidFill>
                  <a:srgbClr val="1E2B40"/>
                </a:solidFill>
              </a:defRPr>
            </a:pPr>
            <a:r>
              <a:t>• WAN → DMZ: VIP + HTTPS</a:t>
            </a:r>
          </a:p>
          <a:p>
            <a:pPr>
              <a:spcAft>
                <a:spcPts val="400"/>
              </a:spcAft>
              <a:defRPr sz="1400">
                <a:solidFill>
                  <a:srgbClr val="1E2B40"/>
                </a:solidFill>
              </a:defRPr>
            </a:pPr>
            <a:r>
              <a:t>• Zone membership alone permits nothing</a:t>
            </a:r>
          </a:p>
        </p:txBody>
      </p:sp>
      <p:sp>
        <p:nvSpPr>
          <p:cNvPr id="31" name="TextBox 30"/>
          <p:cNvSpPr txBox="1"/>
          <p:nvPr/>
        </p:nvSpPr>
        <p:spPr>
          <a:xfrm>
            <a:off x="658368" y="5833872"/>
            <a:ext cx="731520" cy="182880"/>
          </a:xfrm>
          <a:prstGeom prst="rect">
            <a:avLst/>
          </a:prstGeom>
          <a:noFill/>
        </p:spPr>
        <p:txBody>
          <a:bodyPr wrap="square" lIns="36576" tIns="36576" rIns="36576" bIns="36576" anchor="t">
            <a:spAutoFit/>
          </a:bodyPr>
          <a:lstStyle/>
          <a:p>
            <a:pPr algn="l">
              <a:spcAft>
                <a:spcPts val="0"/>
              </a:spcAft>
            </a:pPr>
            <a:r>
              <a:rPr sz="1000" b="1">
                <a:solidFill>
                  <a:srgbClr val="E60012"/>
                </a:solidFill>
              </a:rPr>
              <a:t>LESSON</a:t>
            </a:r>
          </a:p>
        </p:txBody>
      </p:sp>
      <p:sp>
        <p:nvSpPr>
          <p:cNvPr id="32" name="TextBox 31"/>
          <p:cNvSpPr txBox="1"/>
          <p:nvPr/>
        </p:nvSpPr>
        <p:spPr>
          <a:xfrm>
            <a:off x="1417320" y="5769864"/>
            <a:ext cx="9875520" cy="384048"/>
          </a:xfrm>
          <a:prstGeom prst="rect">
            <a:avLst/>
          </a:prstGeom>
          <a:noFill/>
        </p:spPr>
        <p:txBody>
          <a:bodyPr wrap="square" lIns="36576" tIns="36576" rIns="36576" bIns="36576" anchor="t">
            <a:spAutoFit/>
          </a:bodyPr>
          <a:lstStyle/>
          <a:p>
            <a:pPr algn="l">
              <a:spcAft>
                <a:spcPts val="0"/>
              </a:spcAft>
            </a:pPr>
            <a:r>
              <a:rPr sz="1300" b="1">
                <a:solidFill>
                  <a:srgbClr val="233A59"/>
                </a:solidFill>
              </a:rPr>
              <a:t>Draw the permitted arrows first; each arrow becomes a narrowly scoped firewall policy and a positive/negative test.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30</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Zones simplify policy only when members share intent</a:t>
            </a:r>
          </a:p>
        </p:txBody>
      </p:sp>
      <p:sp>
        <p:nvSpPr>
          <p:cNvPr id="10" name="TextBox 9"/>
          <p:cNvSpPr txBox="1">
            <a:spLocks/>
          </p:cNvSpPr>
          <p:nvPr/>
        </p:nvSpPr>
        <p:spPr>
          <a:xfrm>
            <a:off x="658368" y="1554480"/>
            <a:ext cx="6583680" cy="4389120"/>
          </a:xfrm>
          <a:prstGeom prst="rect">
            <a:avLst/>
          </a:prstGeom>
          <a:noFill/>
        </p:spPr>
        <p:txBody>
          <a:bodyPr wrap="square" lIns="109728" tIns="73152" rIns="109728" bIns="73152" anchor="t">
            <a:spAutoFit/>
          </a:bodyPr>
          <a:lstStyle/>
          <a:p>
            <a:pPr algn="l">
              <a:lnSpc>
                <a:spcPct val="105000"/>
              </a:lnSpc>
              <a:spcAft>
                <a:spcPts val="800"/>
              </a:spcAft>
              <a:defRPr sz="1700">
                <a:solidFill>
                  <a:srgbClr val="1E2B40"/>
                </a:solidFill>
              </a:defRPr>
            </a:pPr>
            <a:r>
              <a:rPr lang="en-GB"/>
              <a:t>• A zone groups interfaces for policy references and consistent treatment</a:t>
            </a:r>
          </a:p>
          <a:p>
            <a:pPr>
              <a:lnSpc>
                <a:spcPct val="105000"/>
              </a:lnSpc>
              <a:spcAft>
                <a:spcPts val="800"/>
              </a:spcAft>
              <a:defRPr sz="1700">
                <a:solidFill>
                  <a:srgbClr val="1E2B40"/>
                </a:solidFill>
              </a:defRPr>
            </a:pPr>
            <a:r>
              <a:rPr lang="en-GB"/>
              <a:t>• Do not combine interfaces with different trust or logging requirements</a:t>
            </a:r>
          </a:p>
          <a:p>
            <a:pPr>
              <a:lnSpc>
                <a:spcPct val="105000"/>
              </a:lnSpc>
              <a:spcAft>
                <a:spcPts val="800"/>
              </a:spcAft>
              <a:defRPr sz="1700">
                <a:solidFill>
                  <a:srgbClr val="1E2B40"/>
                </a:solidFill>
              </a:defRPr>
            </a:pPr>
            <a:r>
              <a:rPr lang="en-GB"/>
              <a:t>• Intra-zone traffic behavior must be explicitly understood and tested</a:t>
            </a:r>
          </a:p>
          <a:p>
            <a:pPr>
              <a:lnSpc>
                <a:spcPct val="105000"/>
              </a:lnSpc>
              <a:spcAft>
                <a:spcPts val="800"/>
              </a:spcAft>
              <a:defRPr sz="1700">
                <a:solidFill>
                  <a:srgbClr val="1E2B40"/>
                </a:solidFill>
              </a:defRPr>
            </a:pPr>
            <a:r>
              <a:rPr lang="en-GB"/>
              <a:t>• Naming should reveal function, not physical port number</a:t>
            </a:r>
          </a:p>
        </p:txBody>
      </p:sp>
      <p:cxnSp>
        <p:nvCxnSpPr>
          <p:cNvPr id="11" name="Connector 10"/>
          <p:cNvCxnSpPr/>
          <p:nvPr/>
        </p:nvCxnSpPr>
        <p:spPr>
          <a:xfrm>
            <a:off x="7452360" y="1600200"/>
            <a:ext cx="0" cy="434340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7790688" y="1627632"/>
            <a:ext cx="342900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ILLUSTRATIVE SCENARIO</a:t>
            </a:r>
          </a:p>
        </p:txBody>
      </p:sp>
      <p:sp>
        <p:nvSpPr>
          <p:cNvPr id="13" name="TextBox 12"/>
          <p:cNvSpPr txBox="1">
            <a:spLocks/>
          </p:cNvSpPr>
          <p:nvPr/>
        </p:nvSpPr>
        <p:spPr>
          <a:xfrm>
            <a:off x="7790688" y="2057400"/>
            <a:ext cx="3337560" cy="1417320"/>
          </a:xfrm>
          <a:prstGeom prst="rect">
            <a:avLst/>
          </a:prstGeom>
          <a:noFill/>
        </p:spPr>
        <p:txBody>
          <a:bodyPr wrap="square" lIns="27432" tIns="27432" rIns="27432" bIns="27432" anchor="t">
            <a:spAutoFit/>
          </a:bodyPr>
          <a:lstStyle/>
          <a:p>
            <a:pPr algn="l">
              <a:spcAft>
                <a:spcPts val="0"/>
              </a:spcAft>
            </a:pPr>
            <a:r>
              <a:rPr lang="en-GB" sz="1700" b="1">
                <a:solidFill>
                  <a:srgbClr val="233A59"/>
                </a:solidFill>
              </a:rPr>
              <a:t>Zone BRANCH-LANS can be useful; zone TRUSTED-MIX is usually ambiguous</a:t>
            </a:r>
          </a:p>
        </p:txBody>
      </p:sp>
      <p:sp>
        <p:nvSpPr>
          <p:cNvPr id="14" name="TextBox 13"/>
          <p:cNvSpPr txBox="1">
            <a:spLocks/>
          </p:cNvSpPr>
          <p:nvPr/>
        </p:nvSpPr>
        <p:spPr>
          <a:xfrm>
            <a:off x="7790688" y="3822191"/>
            <a:ext cx="18288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EXPECTED RESULT</a:t>
            </a:r>
          </a:p>
        </p:txBody>
      </p:sp>
      <p:sp>
        <p:nvSpPr>
          <p:cNvPr id="15" name="TextBox 14"/>
          <p:cNvSpPr txBox="1">
            <a:spLocks/>
          </p:cNvSpPr>
          <p:nvPr/>
        </p:nvSpPr>
        <p:spPr>
          <a:xfrm>
            <a:off x="7790688" y="4187952"/>
            <a:ext cx="3337560" cy="1325880"/>
          </a:xfrm>
          <a:prstGeom prst="rect">
            <a:avLst/>
          </a:prstGeom>
          <a:noFill/>
        </p:spPr>
        <p:txBody>
          <a:bodyPr wrap="square" lIns="27432" tIns="27432" rIns="27432" bIns="27432" anchor="t">
            <a:spAutoFit/>
          </a:bodyPr>
          <a:lstStyle/>
          <a:p>
            <a:pPr algn="l">
              <a:spcAft>
                <a:spcPts val="0"/>
              </a:spcAft>
            </a:pPr>
            <a:r>
              <a:rPr lang="en-GB" sz="1500" b="0">
                <a:solidFill>
                  <a:srgbClr val="1E2B40"/>
                </a:solidFill>
              </a:rPr>
              <a:t>List each member and prove that one policy intent applies to all.</a:t>
            </a:r>
          </a:p>
        </p:txBody>
      </p:sp>
      <p:sp>
        <p:nvSpPr>
          <p:cNvPr id="16" name="TextBox 15"/>
          <p:cNvSpPr txBox="1">
            <a:spLocks/>
          </p:cNvSpPr>
          <p:nvPr/>
        </p:nvSpPr>
        <p:spPr>
          <a:xfrm>
            <a:off x="7790688" y="5596128"/>
            <a:ext cx="1920240" cy="201168"/>
          </a:xfrm>
          <a:prstGeom prst="rect">
            <a:avLst/>
          </a:prstGeom>
          <a:noFill/>
        </p:spPr>
        <p:txBody>
          <a:bodyPr wrap="square" lIns="27432" tIns="27432" rIns="27432" bIns="27432" anchor="t">
            <a:spAutoFit/>
          </a:bodyPr>
          <a:lstStyle/>
          <a:p>
            <a:pPr algn="l">
              <a:spcAft>
                <a:spcPts val="0"/>
              </a:spcAft>
            </a:pPr>
            <a:r>
              <a:rPr lang="en-GB" sz="1000" b="1">
                <a:solidFill>
                  <a:srgbClr val="687385"/>
                </a:solidFill>
              </a:rPr>
              <a:t>Expected observation</a:t>
            </a:r>
          </a:p>
        </p:txBody>
      </p:sp>
      <p:sp>
        <p:nvSpPr>
          <p:cNvPr id="17" name="TextBox 16"/>
          <p:cNvSpPr txBox="1">
            <a:spLocks/>
          </p:cNvSpPr>
          <p:nvPr/>
        </p:nvSpPr>
        <p:spPr>
          <a:xfrm>
            <a:off x="9509760" y="5577840"/>
            <a:ext cx="1691640" cy="670953"/>
          </a:xfrm>
          <a:prstGeom prst="rect">
            <a:avLst/>
          </a:prstGeom>
          <a:noFill/>
        </p:spPr>
        <p:txBody>
          <a:bodyPr wrap="square" lIns="27432" tIns="27432" rIns="27432" bIns="27432" anchor="t">
            <a:spAutoFit/>
          </a:bodyPr>
          <a:lstStyle/>
          <a:p>
            <a:pPr algn="r">
              <a:spcAft>
                <a:spcPts val="0"/>
              </a:spcAft>
            </a:pPr>
            <a:r>
              <a:rPr lang="en-GB" sz="1000" b="0">
                <a:solidFill>
                  <a:srgbClr val="687385"/>
                </a:solidFill>
              </a:rPr>
              <a:t>The test flow matches the intended policy; the denied flow is logged by the implicit or explicit deny.</a:t>
            </a:r>
          </a:p>
        </p:txBody>
      </p:sp>
      <p:sp>
        <p:nvSpPr>
          <p:cNvPr id="18" name="TextBox 17"/>
          <p:cNvSpPr txBox="1">
            <a:spLocks/>
          </p:cNvSpPr>
          <p:nvPr/>
        </p:nvSpPr>
        <p:spPr>
          <a:xfrm>
            <a:off x="502920" y="420624"/>
            <a:ext cx="10744200" cy="130805"/>
          </a:xfrm>
          <a:prstGeom prst="rect">
            <a:avLst/>
          </a:prstGeom>
          <a:noFill/>
        </p:spPr>
        <p:txBody>
          <a:bodyPr wrap="square" lIns="0" tIns="0" rIns="0" bIns="0">
            <a:spAutoFit/>
          </a:bodyPr>
          <a:lstStyle/>
          <a:p>
            <a:pPr algn="l"/>
            <a:r>
              <a:rPr lang="en-GB" sz="850" b="1">
                <a:solidFill>
                  <a:srgbClr val="687385"/>
                </a:solidFill>
              </a:rPr>
              <a:t>030 • DAY 1 • BLOCK 03 • Segmentation, Zones &amp; Policy</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31</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FortiLink joins FortiGate policy with managed switching</a:t>
            </a:r>
          </a:p>
        </p:txBody>
      </p:sp>
      <p:sp>
        <p:nvSpPr>
          <p:cNvPr id="10" name="Rectangle 9"/>
          <p:cNvSpPr/>
          <p:nvPr/>
        </p:nvSpPr>
        <p:spPr>
          <a:xfrm>
            <a:off x="960120" y="1965960"/>
            <a:ext cx="2217420" cy="105156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1" name="TextBox 10"/>
          <p:cNvSpPr txBox="1">
            <a:spLocks/>
          </p:cNvSpPr>
          <p:nvPr/>
        </p:nvSpPr>
        <p:spPr>
          <a:xfrm>
            <a:off x="1051560" y="2130552"/>
            <a:ext cx="2034539" cy="502920"/>
          </a:xfrm>
          <a:prstGeom prst="rect">
            <a:avLst/>
          </a:prstGeom>
          <a:noFill/>
        </p:spPr>
        <p:txBody>
          <a:bodyPr wrap="square" lIns="27432" tIns="27432" rIns="27432" bIns="27432" anchor="ctr">
            <a:spAutoFit/>
          </a:bodyPr>
          <a:lstStyle/>
          <a:p>
            <a:pPr algn="ctr">
              <a:spcAft>
                <a:spcPts val="0"/>
              </a:spcAft>
            </a:pPr>
            <a:r>
              <a:rPr lang="en-GB" sz="1600" b="1">
                <a:solidFill>
                  <a:srgbClr val="FFFFFF"/>
                </a:solidFill>
              </a:rPr>
              <a:t>FORTIGATE</a:t>
            </a:r>
          </a:p>
        </p:txBody>
      </p:sp>
      <p:cxnSp>
        <p:nvCxnSpPr>
          <p:cNvPr id="12" name="Connector 11"/>
          <p:cNvCxnSpPr/>
          <p:nvPr/>
        </p:nvCxnSpPr>
        <p:spPr>
          <a:xfrm>
            <a:off x="3177539" y="2496312"/>
            <a:ext cx="457200" cy="0"/>
          </a:xfrm>
          <a:prstGeom prst="line">
            <a:avLst/>
          </a:prstGeom>
          <a:ln w="31750">
            <a:solidFill>
              <a:srgbClr val="E60012"/>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3634739" y="1965960"/>
            <a:ext cx="2217420" cy="105156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4" name="TextBox 13"/>
          <p:cNvSpPr txBox="1">
            <a:spLocks/>
          </p:cNvSpPr>
          <p:nvPr/>
        </p:nvSpPr>
        <p:spPr>
          <a:xfrm>
            <a:off x="3726179" y="2130552"/>
            <a:ext cx="2034539" cy="502920"/>
          </a:xfrm>
          <a:prstGeom prst="rect">
            <a:avLst/>
          </a:prstGeom>
          <a:noFill/>
        </p:spPr>
        <p:txBody>
          <a:bodyPr wrap="square" lIns="27432" tIns="27432" rIns="27432" bIns="27432" anchor="ctr">
            <a:spAutoFit/>
          </a:bodyPr>
          <a:lstStyle/>
          <a:p>
            <a:pPr algn="ctr">
              <a:spcAft>
                <a:spcPts val="0"/>
              </a:spcAft>
            </a:pPr>
            <a:r>
              <a:rPr lang="en-GB" sz="1600" b="1">
                <a:solidFill>
                  <a:srgbClr val="FFFFFF"/>
                </a:solidFill>
              </a:rPr>
              <a:t>FORTILINK</a:t>
            </a:r>
          </a:p>
        </p:txBody>
      </p:sp>
      <p:cxnSp>
        <p:nvCxnSpPr>
          <p:cNvPr id="15" name="Connector 14"/>
          <p:cNvCxnSpPr/>
          <p:nvPr/>
        </p:nvCxnSpPr>
        <p:spPr>
          <a:xfrm>
            <a:off x="5852159" y="2496312"/>
            <a:ext cx="457200" cy="0"/>
          </a:xfrm>
          <a:prstGeom prst="line">
            <a:avLst/>
          </a:prstGeom>
          <a:ln w="31750">
            <a:solidFill>
              <a:srgbClr val="E60012"/>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6309359" y="1965960"/>
            <a:ext cx="2217420" cy="105156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7" name="TextBox 16"/>
          <p:cNvSpPr txBox="1">
            <a:spLocks/>
          </p:cNvSpPr>
          <p:nvPr/>
        </p:nvSpPr>
        <p:spPr>
          <a:xfrm>
            <a:off x="6400799" y="2130552"/>
            <a:ext cx="2034539" cy="502920"/>
          </a:xfrm>
          <a:prstGeom prst="rect">
            <a:avLst/>
          </a:prstGeom>
          <a:noFill/>
        </p:spPr>
        <p:txBody>
          <a:bodyPr wrap="square" lIns="27432" tIns="27432" rIns="27432" bIns="27432" anchor="ctr">
            <a:spAutoFit/>
          </a:bodyPr>
          <a:lstStyle/>
          <a:p>
            <a:pPr algn="ctr">
              <a:spcAft>
                <a:spcPts val="0"/>
              </a:spcAft>
            </a:pPr>
            <a:r>
              <a:rPr lang="en-GB" sz="1600" b="1">
                <a:solidFill>
                  <a:srgbClr val="FFFFFF"/>
                </a:solidFill>
              </a:rPr>
              <a:t>FORTISWITCH</a:t>
            </a:r>
          </a:p>
        </p:txBody>
      </p:sp>
      <p:cxnSp>
        <p:nvCxnSpPr>
          <p:cNvPr id="18" name="Connector 17"/>
          <p:cNvCxnSpPr/>
          <p:nvPr/>
        </p:nvCxnSpPr>
        <p:spPr>
          <a:xfrm>
            <a:off x="8526780" y="2496312"/>
            <a:ext cx="457200" cy="0"/>
          </a:xfrm>
          <a:prstGeom prst="line">
            <a:avLst/>
          </a:prstGeom>
          <a:ln w="31750">
            <a:solidFill>
              <a:srgbClr val="E60012"/>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8983980" y="1965960"/>
            <a:ext cx="2217420" cy="105156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20" name="TextBox 19"/>
          <p:cNvSpPr txBox="1">
            <a:spLocks/>
          </p:cNvSpPr>
          <p:nvPr/>
        </p:nvSpPr>
        <p:spPr>
          <a:xfrm>
            <a:off x="9075419" y="2130552"/>
            <a:ext cx="2034539" cy="502920"/>
          </a:xfrm>
          <a:prstGeom prst="rect">
            <a:avLst/>
          </a:prstGeom>
          <a:noFill/>
        </p:spPr>
        <p:txBody>
          <a:bodyPr wrap="square" lIns="27432" tIns="27432" rIns="27432" bIns="27432" anchor="ctr">
            <a:spAutoFit/>
          </a:bodyPr>
          <a:lstStyle/>
          <a:p>
            <a:pPr algn="ctr">
              <a:spcAft>
                <a:spcPts val="0"/>
              </a:spcAft>
            </a:pPr>
            <a:r>
              <a:rPr lang="en-GB" sz="1600" b="1">
                <a:solidFill>
                  <a:srgbClr val="FFFFFF"/>
                </a:solidFill>
              </a:rPr>
              <a:t>VLAN ENDPOINTS</a:t>
            </a:r>
          </a:p>
        </p:txBody>
      </p:sp>
      <p:sp>
        <p:nvSpPr>
          <p:cNvPr id="21" name="TextBox 20"/>
          <p:cNvSpPr txBox="1">
            <a:spLocks/>
          </p:cNvSpPr>
          <p:nvPr/>
        </p:nvSpPr>
        <p:spPr>
          <a:xfrm>
            <a:off x="822960" y="3383280"/>
            <a:ext cx="10515600" cy="411480"/>
          </a:xfrm>
          <a:prstGeom prst="rect">
            <a:avLst/>
          </a:prstGeom>
          <a:noFill/>
        </p:spPr>
        <p:txBody>
          <a:bodyPr wrap="square" lIns="27432" tIns="27432" rIns="27432" bIns="27432" anchor="t">
            <a:spAutoFit/>
          </a:bodyPr>
          <a:lstStyle/>
          <a:p>
            <a:pPr algn="ctr">
              <a:spcAft>
                <a:spcPts val="0"/>
              </a:spcAft>
            </a:pPr>
            <a:r>
              <a:rPr lang="en-GB" sz="1700" b="1">
                <a:solidFill>
                  <a:srgbClr val="233A59"/>
                </a:solidFill>
              </a:rPr>
              <a:t>Conceptual exercise: place users, voice, APs and servers into VLANs and policies</a:t>
            </a:r>
          </a:p>
        </p:txBody>
      </p:sp>
      <p:sp>
        <p:nvSpPr>
          <p:cNvPr id="22" name="TextBox 21"/>
          <p:cNvSpPr txBox="1">
            <a:spLocks/>
          </p:cNvSpPr>
          <p:nvPr/>
        </p:nvSpPr>
        <p:spPr>
          <a:xfrm>
            <a:off x="960120" y="4069080"/>
            <a:ext cx="10241280" cy="1417320"/>
          </a:xfrm>
          <a:prstGeom prst="rect">
            <a:avLst/>
          </a:prstGeom>
          <a:noFill/>
        </p:spPr>
        <p:txBody>
          <a:bodyPr wrap="square" lIns="109728" tIns="73152" rIns="109728" bIns="73152" anchor="t">
            <a:spAutoFit/>
          </a:bodyPr>
          <a:lstStyle/>
          <a:p>
            <a:pPr algn="l">
              <a:lnSpc>
                <a:spcPct val="105000"/>
              </a:lnSpc>
              <a:spcAft>
                <a:spcPts val="600"/>
              </a:spcAft>
              <a:defRPr sz="1500">
                <a:solidFill>
                  <a:srgbClr val="1E2B40"/>
                </a:solidFill>
              </a:defRPr>
            </a:pPr>
            <a:r>
              <a:rPr lang="en-GB"/>
              <a:t>• FortiLink is the management/control connection for supported FortiSwitch deployments</a:t>
            </a:r>
          </a:p>
          <a:p>
            <a:pPr>
              <a:lnSpc>
                <a:spcPct val="105000"/>
              </a:lnSpc>
              <a:spcAft>
                <a:spcPts val="600"/>
              </a:spcAft>
              <a:defRPr sz="1500">
                <a:solidFill>
                  <a:srgbClr val="1E2B40"/>
                </a:solidFill>
              </a:defRPr>
            </a:pPr>
            <a:r>
              <a:rPr lang="en-GB"/>
              <a:t>• FortiGate can manage switch ports, VLANs and topology from the Security Fabric/LAN edge workflow</a:t>
            </a:r>
          </a:p>
          <a:p>
            <a:pPr>
              <a:lnSpc>
                <a:spcPct val="105000"/>
              </a:lnSpc>
              <a:spcAft>
                <a:spcPts val="600"/>
              </a:spcAft>
              <a:defRPr sz="1500">
                <a:solidFill>
                  <a:srgbClr val="1E2B40"/>
                </a:solidFill>
              </a:defRPr>
            </a:pPr>
            <a:r>
              <a:rPr lang="en-GB"/>
              <a:t>• Access, trunk and native VLAN choices remain layer-2 design decisions</a:t>
            </a:r>
          </a:p>
          <a:p>
            <a:pPr>
              <a:lnSpc>
                <a:spcPct val="105000"/>
              </a:lnSpc>
              <a:spcAft>
                <a:spcPts val="600"/>
              </a:spcAft>
              <a:defRPr sz="1500">
                <a:solidFill>
                  <a:srgbClr val="1E2B40"/>
                </a:solidFill>
              </a:defRPr>
            </a:pPr>
            <a:r>
              <a:rPr lang="en-GB"/>
              <a:t>• Model, FortiOS/FortiSwitchOS and topology support must be confirmed</a:t>
            </a:r>
          </a:p>
        </p:txBody>
      </p:sp>
      <p:sp>
        <p:nvSpPr>
          <p:cNvPr id="23" name="TextBox 22"/>
          <p:cNvSpPr txBox="1"/>
          <p:nvPr/>
        </p:nvSpPr>
        <p:spPr>
          <a:xfrm>
            <a:off x="960120" y="5650992"/>
            <a:ext cx="10241280" cy="320040"/>
          </a:xfrm>
          <a:prstGeom prst="rect">
            <a:avLst/>
          </a:prstGeom>
          <a:noFill/>
        </p:spPr>
        <p:txBody>
          <a:bodyPr wrap="square" lIns="27432" tIns="27432" rIns="27432" bIns="27432" anchor="t">
            <a:spAutoFit/>
          </a:bodyPr>
          <a:lstStyle/>
          <a:p>
            <a:pPr algn="ctr">
              <a:spcAft>
                <a:spcPts val="0"/>
              </a:spcAft>
            </a:pPr>
            <a:r>
              <a:rPr sz="1300" b="1">
                <a:solidFill>
                  <a:srgbClr val="E60012"/>
                </a:solidFill>
              </a:rPr>
              <a:t>Instructor demo only unless a compatible FortiSwitch, links and supported versions exist.</a:t>
            </a:r>
          </a:p>
        </p:txBody>
      </p:sp>
      <p:sp>
        <p:nvSpPr>
          <p:cNvPr id="24" name="TextBox 23"/>
          <p:cNvSpPr txBox="1"/>
          <p:nvPr/>
        </p:nvSpPr>
        <p:spPr>
          <a:xfrm>
            <a:off x="502920" y="420624"/>
            <a:ext cx="10744200" cy="130805"/>
          </a:xfrm>
          <a:prstGeom prst="rect">
            <a:avLst/>
          </a:prstGeom>
          <a:noFill/>
        </p:spPr>
        <p:txBody>
          <a:bodyPr wrap="square" lIns="0" tIns="0" rIns="0" bIns="0">
            <a:spAutoFit/>
          </a:bodyPr>
          <a:lstStyle/>
          <a:p>
            <a:pPr algn="l"/>
            <a:r>
              <a:rPr lang="en-HU" sz="850" b="1">
                <a:solidFill>
                  <a:srgbClr val="687385"/>
                </a:solidFill>
              </a:rPr>
              <a:t>031</a:t>
            </a:r>
            <a:r>
              <a:rPr sz="850" b="1">
                <a:solidFill>
                  <a:srgbClr val="687385"/>
                </a:solidFill>
              </a:rPr>
              <a:t> • DAY 1 • BLOCK 03 • Segmentation, Zones &amp; Policy</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32</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First match wins: specificity and order are design tools</a:t>
            </a:r>
          </a:p>
        </p:txBody>
      </p:sp>
      <p:sp>
        <p:nvSpPr>
          <p:cNvPr id="10" name="Rectangle 9"/>
          <p:cNvSpPr/>
          <p:nvPr/>
        </p:nvSpPr>
        <p:spPr>
          <a:xfrm>
            <a:off x="658368"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1" name="TextBox 10"/>
          <p:cNvSpPr txBox="1">
            <a:spLocks/>
          </p:cNvSpPr>
          <p:nvPr/>
        </p:nvSpPr>
        <p:spPr>
          <a:xfrm>
            <a:off x="768096" y="2020824"/>
            <a:ext cx="411480" cy="219456"/>
          </a:xfrm>
          <a:prstGeom prst="rect">
            <a:avLst/>
          </a:prstGeom>
          <a:noFill/>
        </p:spPr>
        <p:txBody>
          <a:bodyPr wrap="square" lIns="27432" tIns="27432" rIns="27432" bIns="27432" anchor="t">
            <a:spAutoFit/>
          </a:bodyPr>
          <a:lstStyle/>
          <a:p>
            <a:pPr algn="l">
              <a:spcAft>
                <a:spcPts val="0"/>
              </a:spcAft>
            </a:pPr>
            <a:r>
              <a:rPr lang="en-HU" sz="1100" b="1">
                <a:solidFill>
                  <a:srgbClr val="E60012"/>
                </a:solidFill>
              </a:rPr>
              <a:t>01</a:t>
            </a:r>
          </a:p>
        </p:txBody>
      </p:sp>
      <p:sp>
        <p:nvSpPr>
          <p:cNvPr id="12" name="TextBox 11"/>
          <p:cNvSpPr txBox="1">
            <a:spLocks/>
          </p:cNvSpPr>
          <p:nvPr/>
        </p:nvSpPr>
        <p:spPr>
          <a:xfrm>
            <a:off x="768096" y="2340864"/>
            <a:ext cx="1830628" cy="603504"/>
          </a:xfrm>
          <a:prstGeom prst="rect">
            <a:avLst/>
          </a:prstGeom>
          <a:noFill/>
        </p:spPr>
        <p:txBody>
          <a:bodyPr wrap="square" lIns="27432" tIns="27432" rIns="27432" bIns="27432" anchor="ctr">
            <a:spAutoFit/>
          </a:bodyPr>
          <a:lstStyle/>
          <a:p>
            <a:pPr algn="ctr">
              <a:spcAft>
                <a:spcPts val="0"/>
              </a:spcAft>
            </a:pPr>
            <a:r>
              <a:rPr lang="en-GB" sz="1400" b="1">
                <a:solidFill>
                  <a:srgbClr val="1E2B40"/>
                </a:solidFill>
              </a:rPr>
              <a:t>Ingress pair</a:t>
            </a:r>
          </a:p>
        </p:txBody>
      </p:sp>
      <p:cxnSp>
        <p:nvCxnSpPr>
          <p:cNvPr id="13" name="Connector 12"/>
          <p:cNvCxnSpPr/>
          <p:nvPr/>
        </p:nvCxnSpPr>
        <p:spPr>
          <a:xfrm>
            <a:off x="2708452"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2854756"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5" name="TextBox 14"/>
          <p:cNvSpPr txBox="1">
            <a:spLocks/>
          </p:cNvSpPr>
          <p:nvPr/>
        </p:nvSpPr>
        <p:spPr>
          <a:xfrm>
            <a:off x="2964484" y="2020824"/>
            <a:ext cx="411480" cy="219456"/>
          </a:xfrm>
          <a:prstGeom prst="rect">
            <a:avLst/>
          </a:prstGeom>
          <a:noFill/>
        </p:spPr>
        <p:txBody>
          <a:bodyPr wrap="square" lIns="27432" tIns="27432" rIns="27432" bIns="27432" anchor="t">
            <a:spAutoFit/>
          </a:bodyPr>
          <a:lstStyle/>
          <a:p>
            <a:pPr algn="l">
              <a:spcAft>
                <a:spcPts val="0"/>
              </a:spcAft>
            </a:pPr>
            <a:r>
              <a:rPr lang="en-HU" sz="1100" b="1">
                <a:solidFill>
                  <a:srgbClr val="E60012"/>
                </a:solidFill>
              </a:rPr>
              <a:t>02</a:t>
            </a:r>
          </a:p>
        </p:txBody>
      </p:sp>
      <p:sp>
        <p:nvSpPr>
          <p:cNvPr id="16" name="TextBox 15"/>
          <p:cNvSpPr txBox="1">
            <a:spLocks/>
          </p:cNvSpPr>
          <p:nvPr/>
        </p:nvSpPr>
        <p:spPr>
          <a:xfrm>
            <a:off x="2964484" y="2340864"/>
            <a:ext cx="1830628" cy="603504"/>
          </a:xfrm>
          <a:prstGeom prst="rect">
            <a:avLst/>
          </a:prstGeom>
          <a:noFill/>
        </p:spPr>
        <p:txBody>
          <a:bodyPr wrap="square" lIns="27432" tIns="27432" rIns="27432" bIns="27432" anchor="ctr">
            <a:spAutoFit/>
          </a:bodyPr>
          <a:lstStyle/>
          <a:p>
            <a:pPr algn="ctr">
              <a:spcAft>
                <a:spcPts val="0"/>
              </a:spcAft>
            </a:pPr>
            <a:r>
              <a:rPr lang="en-GB" sz="1400" b="1">
                <a:solidFill>
                  <a:srgbClr val="1E2B40"/>
                </a:solidFill>
              </a:rPr>
              <a:t>Address match</a:t>
            </a:r>
          </a:p>
        </p:txBody>
      </p:sp>
      <p:cxnSp>
        <p:nvCxnSpPr>
          <p:cNvPr id="17" name="Connector 16"/>
          <p:cNvCxnSpPr/>
          <p:nvPr/>
        </p:nvCxnSpPr>
        <p:spPr>
          <a:xfrm>
            <a:off x="4904841"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5051145"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9" name="TextBox 18"/>
          <p:cNvSpPr txBox="1">
            <a:spLocks/>
          </p:cNvSpPr>
          <p:nvPr/>
        </p:nvSpPr>
        <p:spPr>
          <a:xfrm>
            <a:off x="5160873" y="2020824"/>
            <a:ext cx="411480" cy="219456"/>
          </a:xfrm>
          <a:prstGeom prst="rect">
            <a:avLst/>
          </a:prstGeom>
          <a:noFill/>
        </p:spPr>
        <p:txBody>
          <a:bodyPr wrap="square" lIns="27432" tIns="27432" rIns="27432" bIns="27432" anchor="t">
            <a:spAutoFit/>
          </a:bodyPr>
          <a:lstStyle/>
          <a:p>
            <a:pPr algn="l">
              <a:spcAft>
                <a:spcPts val="0"/>
              </a:spcAft>
            </a:pPr>
            <a:r>
              <a:rPr lang="en-HU" sz="1100" b="1">
                <a:solidFill>
                  <a:srgbClr val="E60012"/>
                </a:solidFill>
              </a:rPr>
              <a:t>03</a:t>
            </a:r>
          </a:p>
        </p:txBody>
      </p:sp>
      <p:sp>
        <p:nvSpPr>
          <p:cNvPr id="20" name="TextBox 19"/>
          <p:cNvSpPr txBox="1">
            <a:spLocks/>
          </p:cNvSpPr>
          <p:nvPr/>
        </p:nvSpPr>
        <p:spPr>
          <a:xfrm>
            <a:off x="5160873" y="2340864"/>
            <a:ext cx="1830628" cy="603504"/>
          </a:xfrm>
          <a:prstGeom prst="rect">
            <a:avLst/>
          </a:prstGeom>
          <a:noFill/>
        </p:spPr>
        <p:txBody>
          <a:bodyPr wrap="square" lIns="27432" tIns="27432" rIns="27432" bIns="27432" anchor="ctr">
            <a:spAutoFit/>
          </a:bodyPr>
          <a:lstStyle/>
          <a:p>
            <a:pPr algn="ctr">
              <a:spcAft>
                <a:spcPts val="0"/>
              </a:spcAft>
            </a:pPr>
            <a:r>
              <a:rPr lang="en-GB" sz="1400" b="1">
                <a:solidFill>
                  <a:srgbClr val="1E2B40"/>
                </a:solidFill>
              </a:rPr>
              <a:t>Service/schedule</a:t>
            </a:r>
          </a:p>
        </p:txBody>
      </p:sp>
      <p:cxnSp>
        <p:nvCxnSpPr>
          <p:cNvPr id="21" name="Connector 20"/>
          <p:cNvCxnSpPr/>
          <p:nvPr/>
        </p:nvCxnSpPr>
        <p:spPr>
          <a:xfrm>
            <a:off x="7101230"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7247534"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357262" y="2020824"/>
            <a:ext cx="411480" cy="219456"/>
          </a:xfrm>
          <a:prstGeom prst="rect">
            <a:avLst/>
          </a:prstGeom>
          <a:noFill/>
        </p:spPr>
        <p:txBody>
          <a:bodyPr wrap="square" lIns="27432" tIns="27432" rIns="27432" bIns="27432" anchor="t">
            <a:spAutoFit/>
          </a:bodyPr>
          <a:lstStyle/>
          <a:p>
            <a:pPr algn="l">
              <a:spcAft>
                <a:spcPts val="0"/>
              </a:spcAft>
            </a:pPr>
            <a:r>
              <a:rPr sz="1100" b="1">
                <a:solidFill>
                  <a:srgbClr val="E60012"/>
                </a:solidFill>
              </a:rPr>
              <a:t>04</a:t>
            </a:r>
          </a:p>
        </p:txBody>
      </p:sp>
      <p:sp>
        <p:nvSpPr>
          <p:cNvPr id="24" name="TextBox 23"/>
          <p:cNvSpPr txBox="1"/>
          <p:nvPr/>
        </p:nvSpPr>
        <p:spPr>
          <a:xfrm>
            <a:off x="7357262" y="2340864"/>
            <a:ext cx="1830628" cy="603504"/>
          </a:xfrm>
          <a:prstGeom prst="rect">
            <a:avLst/>
          </a:prstGeom>
          <a:noFill/>
        </p:spPr>
        <p:txBody>
          <a:bodyPr wrap="square" lIns="27432" tIns="27432" rIns="27432" bIns="27432" anchor="ctr">
            <a:spAutoFit/>
          </a:bodyPr>
          <a:lstStyle/>
          <a:p>
            <a:pPr algn="ctr">
              <a:spcAft>
                <a:spcPts val="0"/>
              </a:spcAft>
            </a:pPr>
            <a:r>
              <a:rPr sz="1400" b="1">
                <a:solidFill>
                  <a:srgbClr val="1E2B40"/>
                </a:solidFill>
              </a:rPr>
              <a:t>First match</a:t>
            </a:r>
          </a:p>
        </p:txBody>
      </p:sp>
      <p:cxnSp>
        <p:nvCxnSpPr>
          <p:cNvPr id="25" name="Connector 24"/>
          <p:cNvCxnSpPr/>
          <p:nvPr/>
        </p:nvCxnSpPr>
        <p:spPr>
          <a:xfrm>
            <a:off x="9297619"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9443923"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553651" y="2020824"/>
            <a:ext cx="411480" cy="219456"/>
          </a:xfrm>
          <a:prstGeom prst="rect">
            <a:avLst/>
          </a:prstGeom>
          <a:noFill/>
        </p:spPr>
        <p:txBody>
          <a:bodyPr wrap="square" lIns="27432" tIns="27432" rIns="27432" bIns="27432" anchor="t">
            <a:spAutoFit/>
          </a:bodyPr>
          <a:lstStyle/>
          <a:p>
            <a:pPr algn="l">
              <a:spcAft>
                <a:spcPts val="0"/>
              </a:spcAft>
            </a:pPr>
            <a:r>
              <a:rPr sz="1100" b="1">
                <a:solidFill>
                  <a:srgbClr val="E60012"/>
                </a:solidFill>
              </a:rPr>
              <a:t>05</a:t>
            </a:r>
          </a:p>
        </p:txBody>
      </p:sp>
      <p:sp>
        <p:nvSpPr>
          <p:cNvPr id="28" name="TextBox 27"/>
          <p:cNvSpPr txBox="1"/>
          <p:nvPr/>
        </p:nvSpPr>
        <p:spPr>
          <a:xfrm>
            <a:off x="9553651" y="2340864"/>
            <a:ext cx="1830628" cy="603504"/>
          </a:xfrm>
          <a:prstGeom prst="rect">
            <a:avLst/>
          </a:prstGeom>
          <a:noFill/>
        </p:spPr>
        <p:txBody>
          <a:bodyPr wrap="square" lIns="27432" tIns="27432" rIns="27432" bIns="27432" anchor="ctr">
            <a:spAutoFit/>
          </a:bodyPr>
          <a:lstStyle/>
          <a:p>
            <a:pPr algn="ctr">
              <a:spcAft>
                <a:spcPts val="0"/>
              </a:spcAft>
            </a:pPr>
            <a:r>
              <a:rPr sz="1400" b="1">
                <a:solidFill>
                  <a:srgbClr val="1E2B40"/>
                </a:solidFill>
              </a:rPr>
              <a:t>Action + profiles</a:t>
            </a:r>
          </a:p>
        </p:txBody>
      </p:sp>
      <p:sp>
        <p:nvSpPr>
          <p:cNvPr id="29" name="TextBox 28"/>
          <p:cNvSpPr txBox="1"/>
          <p:nvPr/>
        </p:nvSpPr>
        <p:spPr>
          <a:xfrm>
            <a:off x="658368" y="3703320"/>
            <a:ext cx="2011680" cy="256032"/>
          </a:xfrm>
          <a:prstGeom prst="rect">
            <a:avLst/>
          </a:prstGeom>
          <a:noFill/>
        </p:spPr>
        <p:txBody>
          <a:bodyPr wrap="square" lIns="27432" tIns="27432" rIns="27432" bIns="27432" anchor="t">
            <a:spAutoFit/>
          </a:bodyPr>
          <a:lstStyle/>
          <a:p>
            <a:pPr algn="l">
              <a:spcAft>
                <a:spcPts val="0"/>
              </a:spcAft>
            </a:pPr>
            <a:r>
              <a:rPr sz="1100" b="1">
                <a:solidFill>
                  <a:srgbClr val="E60012"/>
                </a:solidFill>
              </a:rPr>
              <a:t>What to observe</a:t>
            </a:r>
          </a:p>
        </p:txBody>
      </p:sp>
      <p:sp>
        <p:nvSpPr>
          <p:cNvPr id="30" name="TextBox 29"/>
          <p:cNvSpPr txBox="1"/>
          <p:nvPr/>
        </p:nvSpPr>
        <p:spPr>
          <a:xfrm>
            <a:off x="658368" y="4050791"/>
            <a:ext cx="6446520" cy="1508760"/>
          </a:xfrm>
          <a:prstGeom prst="rect">
            <a:avLst/>
          </a:prstGeom>
          <a:noFill/>
        </p:spPr>
        <p:txBody>
          <a:bodyPr wrap="square" lIns="109728" tIns="73152" rIns="109728" bIns="73152" anchor="t">
            <a:spAutoFit/>
          </a:bodyPr>
          <a:lstStyle/>
          <a:p>
            <a:pPr algn="l">
              <a:lnSpc>
                <a:spcPct val="105000"/>
              </a:lnSpc>
              <a:spcAft>
                <a:spcPts val="700"/>
              </a:spcAft>
              <a:defRPr sz="1600">
                <a:solidFill>
                  <a:srgbClr val="1E2B40"/>
                </a:solidFill>
              </a:defRPr>
            </a:pPr>
            <a:r>
              <a:t>• The first matching enabled policy supplies action, NAT, logging and profiles</a:t>
            </a:r>
          </a:p>
          <a:p>
            <a:pPr>
              <a:lnSpc>
                <a:spcPct val="105000"/>
              </a:lnSpc>
              <a:spcAft>
                <a:spcPts val="700"/>
              </a:spcAft>
              <a:defRPr sz="1600">
                <a:solidFill>
                  <a:srgbClr val="1E2B40"/>
                </a:solidFill>
              </a:defRPr>
            </a:pPr>
            <a:r>
              <a:t>• Broad rules above narrow rules can shadow intended controls</a:t>
            </a:r>
          </a:p>
          <a:p>
            <a:pPr>
              <a:lnSpc>
                <a:spcPct val="105000"/>
              </a:lnSpc>
              <a:spcAft>
                <a:spcPts val="700"/>
              </a:spcAft>
              <a:defRPr sz="1600">
                <a:solidFill>
                  <a:srgbClr val="1E2B40"/>
                </a:solidFill>
              </a:defRPr>
            </a:pPr>
            <a:r>
              <a:t>• Objects and groups reduce error when they have clear names and owners</a:t>
            </a:r>
          </a:p>
        </p:txBody>
      </p:sp>
      <p:cxnSp>
        <p:nvCxnSpPr>
          <p:cNvPr id="31" name="Connector 30"/>
          <p:cNvCxnSpPr/>
          <p:nvPr/>
        </p:nvCxnSpPr>
        <p:spPr>
          <a:xfrm>
            <a:off x="7452360" y="3703320"/>
            <a:ext cx="0" cy="2093976"/>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7772400" y="3703320"/>
            <a:ext cx="292608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INSTRUCTOR DEMONSTRATION</a:t>
            </a:r>
            <a:endParaRPr sz="1100" b="1">
              <a:solidFill>
                <a:srgbClr val="E60012"/>
              </a:solidFill>
            </a:endParaRPr>
          </a:p>
        </p:txBody>
      </p:sp>
      <p:sp>
        <p:nvSpPr>
          <p:cNvPr id="33" name="TextBox 32"/>
          <p:cNvSpPr txBox="1"/>
          <p:nvPr/>
        </p:nvSpPr>
        <p:spPr>
          <a:xfrm>
            <a:off x="7772400" y="4096512"/>
            <a:ext cx="3337560" cy="1234440"/>
          </a:xfrm>
          <a:prstGeom prst="rect">
            <a:avLst/>
          </a:prstGeom>
          <a:noFill/>
        </p:spPr>
        <p:txBody>
          <a:bodyPr wrap="square" lIns="27432" tIns="27432" rIns="27432" bIns="27432" anchor="t">
            <a:spAutoFit/>
          </a:bodyPr>
          <a:lstStyle/>
          <a:p>
            <a:pPr algn="l">
              <a:spcAft>
                <a:spcPts val="0"/>
              </a:spcAft>
            </a:pPr>
            <a:r>
              <a:rPr sz="1500" b="1">
                <a:solidFill>
                  <a:srgbClr val="233A59"/>
                </a:solidFill>
              </a:rPr>
              <a:t>Use policy lookup/hit counters and logs to prove the matched policy.</a:t>
            </a:r>
          </a:p>
        </p:txBody>
      </p:sp>
      <p:sp>
        <p:nvSpPr>
          <p:cNvPr id="34" name="TextBox 33"/>
          <p:cNvSpPr txBox="1"/>
          <p:nvPr/>
        </p:nvSpPr>
        <p:spPr>
          <a:xfrm>
            <a:off x="7772400" y="5440680"/>
            <a:ext cx="3337560" cy="363176"/>
          </a:xfrm>
          <a:prstGeom prst="rect">
            <a:avLst/>
          </a:prstGeom>
          <a:noFill/>
        </p:spPr>
        <p:txBody>
          <a:bodyPr wrap="square" lIns="27432" tIns="27432" rIns="27432" bIns="27432" anchor="t">
            <a:spAutoFit/>
          </a:bodyPr>
          <a:lstStyle/>
          <a:p>
            <a:pPr algn="l">
              <a:spcAft>
                <a:spcPts val="0"/>
              </a:spcAft>
            </a:pPr>
            <a:r>
              <a:rPr lang="en-GB" sz="1000" b="0">
                <a:solidFill>
                  <a:srgbClr val="687385"/>
                </a:solidFill>
              </a:rPr>
              <a:t>If debug is used, filter by the test tuple and disable</a:t>
            </a:r>
            <a:r>
              <a:rPr sz="1000" b="0">
                <a:solidFill>
                  <a:srgbClr val="687385"/>
                </a:solidFill>
              </a:rPr>
              <a:t>/reset </a:t>
            </a:r>
            <a:r>
              <a:rPr lang="en-GB" sz="1000" b="0">
                <a:solidFill>
                  <a:srgbClr val="687385"/>
                </a:solidFill>
              </a:rPr>
              <a:t>it immediately </a:t>
            </a:r>
            <a:r>
              <a:rPr sz="1000" b="0">
                <a:solidFill>
                  <a:srgbClr val="687385"/>
                </a:solidFill>
              </a:rPr>
              <a:t>after </a:t>
            </a:r>
            <a:r>
              <a:rPr lang="en-GB" sz="1000" b="0">
                <a:solidFill>
                  <a:srgbClr val="687385"/>
                </a:solidFill>
              </a:rPr>
              <a:t>capture</a:t>
            </a:r>
            <a:r>
              <a:rPr sz="1000" b="0">
                <a:solidFill>
                  <a:srgbClr val="687385"/>
                </a:solidFill>
              </a:rPr>
              <a:t>.</a:t>
            </a:r>
          </a:p>
        </p:txBody>
      </p:sp>
      <p:sp>
        <p:nvSpPr>
          <p:cNvPr id="35" name="TextBox 34"/>
          <p:cNvSpPr txBox="1"/>
          <p:nvPr/>
        </p:nvSpPr>
        <p:spPr>
          <a:xfrm>
            <a:off x="502920" y="420624"/>
            <a:ext cx="10744200" cy="130805"/>
          </a:xfrm>
          <a:prstGeom prst="rect">
            <a:avLst/>
          </a:prstGeom>
          <a:noFill/>
        </p:spPr>
        <p:txBody>
          <a:bodyPr wrap="square" lIns="0" tIns="0" rIns="0" bIns="0">
            <a:spAutoFit/>
          </a:bodyPr>
          <a:lstStyle/>
          <a:p>
            <a:pPr algn="l"/>
            <a:r>
              <a:rPr lang="en-HU" sz="850" b="1">
                <a:solidFill>
                  <a:srgbClr val="687385"/>
                </a:solidFill>
              </a:rPr>
              <a:t>032</a:t>
            </a:r>
            <a:r>
              <a:rPr sz="850" b="1">
                <a:solidFill>
                  <a:srgbClr val="687385"/>
                </a:solidFill>
              </a:rPr>
              <a:t> • DAY 1 • BLOCK 03 • Segmentation, Zones &amp; Policy</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p:nvPr/>
        </p:nvSpPr>
        <p:spPr>
          <a:xfrm>
            <a:off x="502920" y="411480"/>
            <a:ext cx="548640" cy="189283"/>
          </a:xfrm>
          <a:prstGeom prst="rect">
            <a:avLst/>
          </a:prstGeom>
          <a:noFill/>
        </p:spPr>
        <p:txBody>
          <a:bodyPr wrap="square" lIns="36576" tIns="36576" rIns="36576" bIns="36576" anchor="t">
            <a:spAutoFit/>
          </a:bodyPr>
          <a:lstStyle/>
          <a:p>
            <a:pPr algn="l">
              <a:spcAft>
                <a:spcPts val="0"/>
              </a:spcAft>
            </a:pPr>
            <a:r>
              <a:rPr lang="en-HU" sz="750" b="1">
                <a:solidFill>
                  <a:srgbClr val="687385"/>
                </a:solidFill>
              </a:rPr>
              <a:t>033</a:t>
            </a:r>
            <a:endParaRPr sz="750" b="1">
              <a:solidFill>
                <a:srgbClr val="687385"/>
              </a:solidFill>
            </a:endParaRPr>
          </a:p>
        </p:txBody>
      </p:sp>
      <p:sp>
        <p:nvSpPr>
          <p:cNvPr id="4" name="TextBox 3"/>
          <p:cNvSpPr txBox="1"/>
          <p:nvPr/>
        </p:nvSpPr>
        <p:spPr>
          <a:xfrm>
            <a:off x="502920" y="621792"/>
            <a:ext cx="11109960" cy="548640"/>
          </a:xfrm>
          <a:prstGeom prst="rect">
            <a:avLst/>
          </a:prstGeom>
          <a:noFill/>
        </p:spPr>
        <p:txBody>
          <a:bodyPr wrap="square" lIns="36576" tIns="36576" rIns="36576" bIns="36576" anchor="t">
            <a:spAutoFit/>
          </a:bodyPr>
          <a:lstStyle/>
          <a:p>
            <a:pPr algn="l">
              <a:spcAft>
                <a:spcPts val="0"/>
              </a:spcAft>
            </a:pPr>
            <a:r>
              <a:rPr sz="2600" b="1">
                <a:solidFill>
                  <a:srgbClr val="1E2B40"/>
                </a:solidFill>
              </a:rPr>
              <a:t>Policy from a flow matrix</a:t>
            </a:r>
          </a:p>
        </p:txBody>
      </p:sp>
      <p:cxnSp>
        <p:nvCxnSpPr>
          <p:cNvPr id="5" name="Connector 4"/>
          <p:cNvCxnSpPr/>
          <p:nvPr/>
        </p:nvCxnSpPr>
        <p:spPr>
          <a:xfrm>
            <a:off x="502920" y="6473952"/>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109960" y="6537960"/>
            <a:ext cx="502920" cy="189283"/>
          </a:xfrm>
          <a:prstGeom prst="rect">
            <a:avLst/>
          </a:prstGeom>
          <a:noFill/>
        </p:spPr>
        <p:txBody>
          <a:bodyPr wrap="square" lIns="36576" tIns="36576" rIns="36576" bIns="36576" anchor="t">
            <a:spAutoFit/>
          </a:bodyPr>
          <a:lstStyle/>
          <a:p>
            <a:pPr algn="r">
              <a:spcAft>
                <a:spcPts val="0"/>
              </a:spcAft>
            </a:pPr>
            <a:r>
              <a:rPr lang="en-HU" sz="750" b="0">
                <a:solidFill>
                  <a:srgbClr val="687385"/>
                </a:solidFill>
              </a:rPr>
              <a:t>33</a:t>
            </a:r>
            <a:endParaRPr sz="750" b="0">
              <a:solidFill>
                <a:srgbClr val="687385"/>
              </a:solidFill>
            </a:endParaRPr>
          </a:p>
        </p:txBody>
      </p:sp>
      <p:sp>
        <p:nvSpPr>
          <p:cNvPr id="7" name="Rectangle 6"/>
          <p:cNvSpPr>
            <a:spLocks/>
          </p:cNvSpPr>
          <p:nvPr/>
        </p:nvSpPr>
        <p:spPr>
          <a:xfrm>
            <a:off x="685800" y="1828800"/>
            <a:ext cx="2008022"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8" name="TextBox 7"/>
          <p:cNvSpPr txBox="1">
            <a:spLocks/>
          </p:cNvSpPr>
          <p:nvPr/>
        </p:nvSpPr>
        <p:spPr>
          <a:xfrm>
            <a:off x="777240" y="1938528"/>
            <a:ext cx="365760" cy="227755"/>
          </a:xfrm>
          <a:prstGeom prst="rect">
            <a:avLst/>
          </a:prstGeom>
          <a:noFill/>
        </p:spPr>
        <p:txBody>
          <a:bodyPr wrap="square" lIns="36576" tIns="36576" rIns="36576" bIns="36576" anchor="t">
            <a:spAutoFit/>
          </a:bodyPr>
          <a:lstStyle/>
          <a:p>
            <a:pPr algn="l">
              <a:spcAft>
                <a:spcPts val="0"/>
              </a:spcAft>
            </a:pPr>
            <a:r>
              <a:rPr lang="en-HU" sz="1000" b="1">
                <a:solidFill>
                  <a:srgbClr val="E60012"/>
                </a:solidFill>
              </a:rPr>
              <a:t>01</a:t>
            </a:r>
          </a:p>
        </p:txBody>
      </p:sp>
      <p:sp>
        <p:nvSpPr>
          <p:cNvPr id="9" name="TextBox 8"/>
          <p:cNvSpPr txBox="1">
            <a:spLocks/>
          </p:cNvSpPr>
          <p:nvPr/>
        </p:nvSpPr>
        <p:spPr>
          <a:xfrm>
            <a:off x="795528" y="2351657"/>
            <a:ext cx="1788566" cy="289310"/>
          </a:xfrm>
          <a:prstGeom prst="rect">
            <a:avLst/>
          </a:prstGeom>
          <a:noFill/>
        </p:spPr>
        <p:txBody>
          <a:bodyPr wrap="square" lIns="36576" tIns="36576" rIns="36576" bIns="36576" anchor="ctr">
            <a:spAutoFit/>
          </a:bodyPr>
          <a:lstStyle/>
          <a:p>
            <a:pPr algn="ctr">
              <a:spcAft>
                <a:spcPts val="0"/>
              </a:spcAft>
            </a:pPr>
            <a:r>
              <a:rPr lang="en-GB" sz="1400" b="1">
                <a:solidFill>
                  <a:srgbClr val="FFFFFF"/>
                </a:solidFill>
              </a:rPr>
              <a:t>Name business flow</a:t>
            </a:r>
          </a:p>
        </p:txBody>
      </p:sp>
      <p:sp>
        <p:nvSpPr>
          <p:cNvPr id="10" name="Right Arrow 9"/>
          <p:cNvSpPr/>
          <p:nvPr/>
        </p:nvSpPr>
        <p:spPr>
          <a:xfrm>
            <a:off x="2693822" y="2340864"/>
            <a:ext cx="164592" cy="146304"/>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1" name="Rectangle 10"/>
          <p:cNvSpPr>
            <a:spLocks/>
          </p:cNvSpPr>
          <p:nvPr/>
        </p:nvSpPr>
        <p:spPr>
          <a:xfrm>
            <a:off x="2858414" y="1828800"/>
            <a:ext cx="2008022"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2" name="TextBox 11"/>
          <p:cNvSpPr txBox="1"/>
          <p:nvPr/>
        </p:nvSpPr>
        <p:spPr>
          <a:xfrm>
            <a:off x="2949854" y="1938528"/>
            <a:ext cx="365760" cy="201168"/>
          </a:xfrm>
          <a:prstGeom prst="rect">
            <a:avLst/>
          </a:prstGeom>
          <a:noFill/>
        </p:spPr>
        <p:txBody>
          <a:bodyPr wrap="square" lIns="36576" tIns="36576" rIns="36576" bIns="36576" anchor="t">
            <a:spAutoFit/>
          </a:bodyPr>
          <a:lstStyle/>
          <a:p>
            <a:pPr algn="l">
              <a:spcAft>
                <a:spcPts val="0"/>
              </a:spcAft>
            </a:pPr>
            <a:r>
              <a:rPr sz="1000" b="1">
                <a:solidFill>
                  <a:srgbClr val="E60012"/>
                </a:solidFill>
              </a:rPr>
              <a:t>02</a:t>
            </a:r>
          </a:p>
        </p:txBody>
      </p:sp>
      <p:sp>
        <p:nvSpPr>
          <p:cNvPr id="13" name="TextBox 12"/>
          <p:cNvSpPr txBox="1">
            <a:spLocks/>
          </p:cNvSpPr>
          <p:nvPr/>
        </p:nvSpPr>
        <p:spPr>
          <a:xfrm>
            <a:off x="2968142" y="2267712"/>
            <a:ext cx="1788566" cy="457200"/>
          </a:xfrm>
          <a:prstGeom prst="rect">
            <a:avLst/>
          </a:prstGeom>
          <a:noFill/>
        </p:spPr>
        <p:txBody>
          <a:bodyPr wrap="square" lIns="36576" tIns="36576" rIns="36576" bIns="36576" anchor="ctr">
            <a:spAutoFit/>
          </a:bodyPr>
          <a:lstStyle/>
          <a:p>
            <a:pPr algn="ctr">
              <a:spcAft>
                <a:spcPts val="0"/>
              </a:spcAft>
            </a:pPr>
            <a:r>
              <a:rPr lang="en-GB" sz="1400" b="1">
                <a:solidFill>
                  <a:srgbClr val="FFFFFF"/>
                </a:solidFill>
              </a:rPr>
              <a:t>Create address/service objects</a:t>
            </a:r>
          </a:p>
        </p:txBody>
      </p:sp>
      <p:sp>
        <p:nvSpPr>
          <p:cNvPr id="14" name="Right Arrow 13"/>
          <p:cNvSpPr>
            <a:spLocks/>
          </p:cNvSpPr>
          <p:nvPr/>
        </p:nvSpPr>
        <p:spPr>
          <a:xfrm>
            <a:off x="4866436" y="2340864"/>
            <a:ext cx="164592" cy="146304"/>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5" name="Rectangle 14"/>
          <p:cNvSpPr/>
          <p:nvPr/>
        </p:nvSpPr>
        <p:spPr>
          <a:xfrm>
            <a:off x="5031028" y="1828800"/>
            <a:ext cx="2008022"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a:spLocks/>
          </p:cNvSpPr>
          <p:nvPr/>
        </p:nvSpPr>
        <p:spPr>
          <a:xfrm>
            <a:off x="5122468" y="1938528"/>
            <a:ext cx="365760" cy="201168"/>
          </a:xfrm>
          <a:prstGeom prst="rect">
            <a:avLst/>
          </a:prstGeom>
          <a:noFill/>
        </p:spPr>
        <p:txBody>
          <a:bodyPr wrap="square" lIns="36576" tIns="36576" rIns="36576" bIns="36576" anchor="t">
            <a:spAutoFit/>
          </a:bodyPr>
          <a:lstStyle/>
          <a:p>
            <a:pPr algn="l">
              <a:spcAft>
                <a:spcPts val="0"/>
              </a:spcAft>
            </a:pPr>
            <a:r>
              <a:rPr lang="en-HU" sz="1000" b="1">
                <a:solidFill>
                  <a:srgbClr val="E60012"/>
                </a:solidFill>
              </a:rPr>
              <a:t>03</a:t>
            </a:r>
          </a:p>
        </p:txBody>
      </p:sp>
      <p:sp>
        <p:nvSpPr>
          <p:cNvPr id="17" name="TextBox 16"/>
          <p:cNvSpPr txBox="1"/>
          <p:nvPr/>
        </p:nvSpPr>
        <p:spPr>
          <a:xfrm>
            <a:off x="5140756" y="2351657"/>
            <a:ext cx="1788566" cy="289310"/>
          </a:xfrm>
          <a:prstGeom prst="rect">
            <a:avLst/>
          </a:prstGeom>
          <a:noFill/>
        </p:spPr>
        <p:txBody>
          <a:bodyPr wrap="square" lIns="36576" tIns="36576" rIns="36576" bIns="36576" anchor="ctr">
            <a:spAutoFit/>
          </a:bodyPr>
          <a:lstStyle/>
          <a:p>
            <a:pPr algn="ctr">
              <a:spcAft>
                <a:spcPts val="0"/>
              </a:spcAft>
            </a:pPr>
            <a:r>
              <a:rPr lang="en-GB" sz="1400" b="1">
                <a:solidFill>
                  <a:srgbClr val="FFFFFF"/>
                </a:solidFill>
              </a:rPr>
              <a:t>Order specific rule</a:t>
            </a:r>
          </a:p>
        </p:txBody>
      </p:sp>
      <p:sp>
        <p:nvSpPr>
          <p:cNvPr id="18" name="Right Arrow 17"/>
          <p:cNvSpPr/>
          <p:nvPr/>
        </p:nvSpPr>
        <p:spPr>
          <a:xfrm>
            <a:off x="7039051" y="2340864"/>
            <a:ext cx="164592" cy="146304"/>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203643" y="1828800"/>
            <a:ext cx="2008022"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295083" y="1938528"/>
            <a:ext cx="365760" cy="227755"/>
          </a:xfrm>
          <a:prstGeom prst="rect">
            <a:avLst/>
          </a:prstGeom>
          <a:noFill/>
        </p:spPr>
        <p:txBody>
          <a:bodyPr wrap="square" lIns="36576" tIns="36576" rIns="36576" bIns="36576" anchor="t">
            <a:spAutoFit/>
          </a:bodyPr>
          <a:lstStyle/>
          <a:p>
            <a:pPr algn="l">
              <a:spcAft>
                <a:spcPts val="0"/>
              </a:spcAft>
            </a:pPr>
            <a:r>
              <a:rPr lang="en-HU" sz="1000" b="1">
                <a:solidFill>
                  <a:srgbClr val="E60012"/>
                </a:solidFill>
              </a:rPr>
              <a:t>04</a:t>
            </a:r>
          </a:p>
        </p:txBody>
      </p:sp>
      <p:sp>
        <p:nvSpPr>
          <p:cNvPr id="21" name="TextBox 20"/>
          <p:cNvSpPr txBox="1"/>
          <p:nvPr/>
        </p:nvSpPr>
        <p:spPr>
          <a:xfrm>
            <a:off x="7313371" y="2243935"/>
            <a:ext cx="1788566" cy="504754"/>
          </a:xfrm>
          <a:prstGeom prst="rect">
            <a:avLst/>
          </a:prstGeom>
          <a:noFill/>
        </p:spPr>
        <p:txBody>
          <a:bodyPr wrap="square" lIns="36576" tIns="36576" rIns="36576" bIns="36576" anchor="ctr">
            <a:spAutoFit/>
          </a:bodyPr>
          <a:lstStyle/>
          <a:p>
            <a:pPr algn="ctr">
              <a:spcAft>
                <a:spcPts val="0"/>
              </a:spcAft>
            </a:pPr>
            <a:r>
              <a:rPr lang="en-GB" sz="1400" b="1">
                <a:solidFill>
                  <a:srgbClr val="FFFFFF"/>
                </a:solidFill>
              </a:rPr>
              <a:t>Enable required logging</a:t>
            </a:r>
          </a:p>
        </p:txBody>
      </p:sp>
      <p:sp>
        <p:nvSpPr>
          <p:cNvPr id="22" name="Right Arrow 21"/>
          <p:cNvSpPr>
            <a:spLocks/>
          </p:cNvSpPr>
          <p:nvPr/>
        </p:nvSpPr>
        <p:spPr>
          <a:xfrm>
            <a:off x="9211665" y="2340864"/>
            <a:ext cx="164592" cy="146304"/>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23" name="Rectangle 22"/>
          <p:cNvSpPr>
            <a:spLocks/>
          </p:cNvSpPr>
          <p:nvPr/>
        </p:nvSpPr>
        <p:spPr>
          <a:xfrm>
            <a:off x="9376257" y="1828800"/>
            <a:ext cx="2008022"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24" name="TextBox 23"/>
          <p:cNvSpPr txBox="1"/>
          <p:nvPr/>
        </p:nvSpPr>
        <p:spPr>
          <a:xfrm>
            <a:off x="9467697" y="1938528"/>
            <a:ext cx="365760" cy="227755"/>
          </a:xfrm>
          <a:prstGeom prst="rect">
            <a:avLst/>
          </a:prstGeom>
          <a:noFill/>
        </p:spPr>
        <p:txBody>
          <a:bodyPr wrap="square" lIns="36576" tIns="36576" rIns="36576" bIns="36576" anchor="t">
            <a:spAutoFit/>
          </a:bodyPr>
          <a:lstStyle/>
          <a:p>
            <a:pPr algn="l">
              <a:spcAft>
                <a:spcPts val="0"/>
              </a:spcAft>
            </a:pPr>
            <a:r>
              <a:rPr lang="en-HU" sz="1000" b="1">
                <a:solidFill>
                  <a:srgbClr val="E60012"/>
                </a:solidFill>
              </a:rPr>
              <a:t>05</a:t>
            </a:r>
          </a:p>
        </p:txBody>
      </p:sp>
      <p:sp>
        <p:nvSpPr>
          <p:cNvPr id="25" name="TextBox 24"/>
          <p:cNvSpPr txBox="1"/>
          <p:nvPr/>
        </p:nvSpPr>
        <p:spPr>
          <a:xfrm>
            <a:off x="9485985" y="2267712"/>
            <a:ext cx="1788566" cy="457200"/>
          </a:xfrm>
          <a:prstGeom prst="rect">
            <a:avLst/>
          </a:prstGeom>
          <a:noFill/>
        </p:spPr>
        <p:txBody>
          <a:bodyPr wrap="square" lIns="36576" tIns="36576" rIns="36576" bIns="36576" anchor="ctr">
            <a:spAutoFit/>
          </a:bodyPr>
          <a:lstStyle/>
          <a:p>
            <a:pPr algn="ctr">
              <a:spcAft>
                <a:spcPts val="0"/>
              </a:spcAft>
            </a:pPr>
            <a:r>
              <a:rPr sz="1400" b="1">
                <a:solidFill>
                  <a:srgbClr val="FFFFFF"/>
                </a:solidFill>
              </a:rPr>
              <a:t>Test allow and deny</a:t>
            </a:r>
          </a:p>
        </p:txBody>
      </p:sp>
      <p:sp>
        <p:nvSpPr>
          <p:cNvPr id="26" name="TextBox 25"/>
          <p:cNvSpPr txBox="1"/>
          <p:nvPr/>
        </p:nvSpPr>
        <p:spPr>
          <a:xfrm>
            <a:off x="731520" y="3703320"/>
            <a:ext cx="1554480" cy="210312"/>
          </a:xfrm>
          <a:prstGeom prst="rect">
            <a:avLst/>
          </a:prstGeom>
          <a:noFill/>
        </p:spPr>
        <p:txBody>
          <a:bodyPr wrap="square" lIns="36576" tIns="36576" rIns="36576" bIns="36576" anchor="t">
            <a:spAutoFit/>
          </a:bodyPr>
          <a:lstStyle/>
          <a:p>
            <a:pPr algn="l">
              <a:spcAft>
                <a:spcPts val="0"/>
              </a:spcAft>
            </a:pPr>
            <a:r>
              <a:rPr sz="1000" b="1">
                <a:solidFill>
                  <a:srgbClr val="E60012"/>
                </a:solidFill>
              </a:rPr>
              <a:t>EXPECTED RESULT</a:t>
            </a:r>
          </a:p>
        </p:txBody>
      </p:sp>
      <p:sp>
        <p:nvSpPr>
          <p:cNvPr id="27" name="TextBox 26"/>
          <p:cNvSpPr txBox="1"/>
          <p:nvPr/>
        </p:nvSpPr>
        <p:spPr>
          <a:xfrm>
            <a:off x="731520" y="4041648"/>
            <a:ext cx="10424160" cy="594360"/>
          </a:xfrm>
          <a:prstGeom prst="rect">
            <a:avLst/>
          </a:prstGeom>
          <a:noFill/>
        </p:spPr>
        <p:txBody>
          <a:bodyPr wrap="square" lIns="36576" tIns="36576" rIns="36576" bIns="36576" anchor="t">
            <a:spAutoFit/>
          </a:bodyPr>
          <a:lstStyle/>
          <a:p>
            <a:pPr algn="ctr">
              <a:spcAft>
                <a:spcPts val="0"/>
              </a:spcAft>
            </a:pPr>
            <a:r>
              <a:rPr sz="1700" b="1">
                <a:solidFill>
                  <a:srgbClr val="233A59"/>
                </a:solidFill>
              </a:rPr>
              <a:t>The test flow matches the intended policy; the denied flow is logged by the implicit or explicit deny.</a:t>
            </a:r>
          </a:p>
        </p:txBody>
      </p:sp>
      <p:sp>
        <p:nvSpPr>
          <p:cNvPr id="28" name="TextBox 27"/>
          <p:cNvSpPr txBox="1"/>
          <p:nvPr/>
        </p:nvSpPr>
        <p:spPr>
          <a:xfrm>
            <a:off x="658368" y="5833872"/>
            <a:ext cx="731520" cy="182880"/>
          </a:xfrm>
          <a:prstGeom prst="rect">
            <a:avLst/>
          </a:prstGeom>
          <a:noFill/>
        </p:spPr>
        <p:txBody>
          <a:bodyPr wrap="square" lIns="36576" tIns="36576" rIns="36576" bIns="36576" anchor="t">
            <a:spAutoFit/>
          </a:bodyPr>
          <a:lstStyle/>
          <a:p>
            <a:pPr algn="l">
              <a:spcAft>
                <a:spcPts val="0"/>
              </a:spcAft>
            </a:pPr>
            <a:r>
              <a:rPr sz="1000" b="1">
                <a:solidFill>
                  <a:srgbClr val="E60012"/>
                </a:solidFill>
              </a:rPr>
              <a:t>LESSON</a:t>
            </a:r>
          </a:p>
        </p:txBody>
      </p:sp>
      <p:sp>
        <p:nvSpPr>
          <p:cNvPr id="29" name="TextBox 28"/>
          <p:cNvSpPr txBox="1"/>
          <p:nvPr/>
        </p:nvSpPr>
        <p:spPr>
          <a:xfrm>
            <a:off x="1417320" y="5769864"/>
            <a:ext cx="9875520" cy="384048"/>
          </a:xfrm>
          <a:prstGeom prst="rect">
            <a:avLst/>
          </a:prstGeom>
          <a:noFill/>
        </p:spPr>
        <p:txBody>
          <a:bodyPr wrap="square" lIns="36576" tIns="36576" rIns="36576" bIns="36576" anchor="t">
            <a:spAutoFit/>
          </a:bodyPr>
          <a:lstStyle/>
          <a:p>
            <a:pPr algn="l">
              <a:spcAft>
                <a:spcPts val="0"/>
              </a:spcAft>
            </a:pPr>
            <a:r>
              <a:rPr sz="1300" b="1">
                <a:solidFill>
                  <a:srgbClr val="233A59"/>
                </a:solidFill>
              </a:rPr>
              <a:t>Each step names a FortiGate state or packet change that can be checked directly; stop when the failed step is identified.</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p:nvPr/>
        </p:nvSpPr>
        <p:spPr>
          <a:xfrm>
            <a:off x="502920" y="411480"/>
            <a:ext cx="548640" cy="189283"/>
          </a:xfrm>
          <a:prstGeom prst="rect">
            <a:avLst/>
          </a:prstGeom>
          <a:noFill/>
        </p:spPr>
        <p:txBody>
          <a:bodyPr wrap="square" lIns="36576" tIns="36576" rIns="36576" bIns="36576" anchor="t">
            <a:spAutoFit/>
          </a:bodyPr>
          <a:lstStyle/>
          <a:p>
            <a:pPr algn="l">
              <a:spcAft>
                <a:spcPts val="0"/>
              </a:spcAft>
            </a:pPr>
            <a:r>
              <a:rPr lang="en-HU" sz="750" b="1">
                <a:solidFill>
                  <a:srgbClr val="687385"/>
                </a:solidFill>
              </a:rPr>
              <a:t>034</a:t>
            </a:r>
            <a:endParaRPr sz="750" b="1">
              <a:solidFill>
                <a:srgbClr val="687385"/>
              </a:solidFill>
            </a:endParaRPr>
          </a:p>
        </p:txBody>
      </p:sp>
      <p:sp>
        <p:nvSpPr>
          <p:cNvPr id="4" name="TextBox 3"/>
          <p:cNvSpPr txBox="1"/>
          <p:nvPr/>
        </p:nvSpPr>
        <p:spPr>
          <a:xfrm>
            <a:off x="502920" y="621792"/>
            <a:ext cx="11109960" cy="548640"/>
          </a:xfrm>
          <a:prstGeom prst="rect">
            <a:avLst/>
          </a:prstGeom>
          <a:noFill/>
        </p:spPr>
        <p:txBody>
          <a:bodyPr wrap="square" lIns="36576" tIns="36576" rIns="36576" bIns="36576" anchor="t">
            <a:spAutoFit/>
          </a:bodyPr>
          <a:lstStyle/>
          <a:p>
            <a:pPr algn="l">
              <a:spcAft>
                <a:spcPts val="0"/>
              </a:spcAft>
            </a:pPr>
            <a:r>
              <a:rPr sz="2600" b="1">
                <a:solidFill>
                  <a:srgbClr val="1E2B40"/>
                </a:solidFill>
              </a:rPr>
              <a:t>Common mistakes—and how to correct them</a:t>
            </a:r>
          </a:p>
        </p:txBody>
      </p:sp>
      <p:cxnSp>
        <p:nvCxnSpPr>
          <p:cNvPr id="5" name="Connector 4"/>
          <p:cNvCxnSpPr/>
          <p:nvPr/>
        </p:nvCxnSpPr>
        <p:spPr>
          <a:xfrm>
            <a:off x="502920" y="6473952"/>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109960" y="6537960"/>
            <a:ext cx="502920" cy="189283"/>
          </a:xfrm>
          <a:prstGeom prst="rect">
            <a:avLst/>
          </a:prstGeom>
          <a:noFill/>
        </p:spPr>
        <p:txBody>
          <a:bodyPr wrap="square" lIns="36576" tIns="36576" rIns="36576" bIns="36576" anchor="t">
            <a:spAutoFit/>
          </a:bodyPr>
          <a:lstStyle/>
          <a:p>
            <a:pPr algn="r">
              <a:spcAft>
                <a:spcPts val="0"/>
              </a:spcAft>
            </a:pPr>
            <a:r>
              <a:rPr lang="en-HU" sz="750" b="0">
                <a:solidFill>
                  <a:srgbClr val="687385"/>
                </a:solidFill>
              </a:rPr>
              <a:t>34</a:t>
            </a:r>
            <a:endParaRPr sz="750" b="0">
              <a:solidFill>
                <a:srgbClr val="687385"/>
              </a:solidFill>
            </a:endParaRPr>
          </a:p>
        </p:txBody>
      </p:sp>
      <p:sp>
        <p:nvSpPr>
          <p:cNvPr id="7" name="TextBox 6"/>
          <p:cNvSpPr txBox="1">
            <a:spLocks/>
          </p:cNvSpPr>
          <p:nvPr/>
        </p:nvSpPr>
        <p:spPr>
          <a:xfrm>
            <a:off x="685800" y="1417320"/>
            <a:ext cx="3291840" cy="243143"/>
          </a:xfrm>
          <a:prstGeom prst="rect">
            <a:avLst/>
          </a:prstGeom>
          <a:noFill/>
        </p:spPr>
        <p:txBody>
          <a:bodyPr wrap="square" lIns="36576" tIns="36576" rIns="36576" bIns="36576" anchor="t">
            <a:spAutoFit/>
          </a:bodyPr>
          <a:lstStyle/>
          <a:p>
            <a:pPr algn="l">
              <a:spcAft>
                <a:spcPts val="0"/>
              </a:spcAft>
            </a:pPr>
            <a:r>
              <a:rPr lang="en-GB" sz="1100" b="1">
                <a:solidFill>
                  <a:srgbClr val="E60012"/>
                </a:solidFill>
              </a:rPr>
              <a:t>MISTAKE</a:t>
            </a:r>
          </a:p>
        </p:txBody>
      </p:sp>
      <p:sp>
        <p:nvSpPr>
          <p:cNvPr id="8" name="TextBox 7"/>
          <p:cNvSpPr txBox="1">
            <a:spLocks/>
          </p:cNvSpPr>
          <p:nvPr/>
        </p:nvSpPr>
        <p:spPr>
          <a:xfrm>
            <a:off x="4160520" y="1417320"/>
            <a:ext cx="7040880" cy="243143"/>
          </a:xfrm>
          <a:prstGeom prst="rect">
            <a:avLst/>
          </a:prstGeom>
          <a:noFill/>
        </p:spPr>
        <p:txBody>
          <a:bodyPr wrap="square" lIns="36576" tIns="36576" rIns="36576" bIns="36576" anchor="t">
            <a:spAutoFit/>
          </a:bodyPr>
          <a:lstStyle/>
          <a:p>
            <a:pPr algn="l">
              <a:spcAft>
                <a:spcPts val="0"/>
              </a:spcAft>
            </a:pPr>
            <a:r>
              <a:rPr lang="en-GB" sz="1100" b="1">
                <a:solidFill>
                  <a:srgbClr val="E60012"/>
                </a:solidFill>
              </a:rPr>
              <a:t>CORRECTION — AND WHY IT HELPS</a:t>
            </a:r>
          </a:p>
        </p:txBody>
      </p:sp>
      <p:sp>
        <p:nvSpPr>
          <p:cNvPr id="9" name="TextBox 8"/>
          <p:cNvSpPr txBox="1">
            <a:spLocks/>
          </p:cNvSpPr>
          <p:nvPr/>
        </p:nvSpPr>
        <p:spPr>
          <a:xfrm>
            <a:off x="685800" y="1783080"/>
            <a:ext cx="3108960" cy="320088"/>
          </a:xfrm>
          <a:prstGeom prst="rect">
            <a:avLst/>
          </a:prstGeom>
          <a:noFill/>
        </p:spPr>
        <p:txBody>
          <a:bodyPr wrap="square" lIns="36576" tIns="36576" rIns="36576" bIns="36576" anchor="t">
            <a:spAutoFit/>
          </a:bodyPr>
          <a:lstStyle/>
          <a:p>
            <a:pPr algn="l">
              <a:spcAft>
                <a:spcPts val="0"/>
              </a:spcAft>
            </a:pPr>
            <a:r>
              <a:rPr lang="en-GB" sz="1600" b="1">
                <a:solidFill>
                  <a:srgbClr val="1E2B40"/>
                </a:solidFill>
              </a:rPr>
              <a:t>Use all objects to save time</a:t>
            </a:r>
          </a:p>
        </p:txBody>
      </p:sp>
      <p:cxnSp>
        <p:nvCxnSpPr>
          <p:cNvPr id="10" name="Connector 9"/>
          <p:cNvCxnSpPr/>
          <p:nvPr/>
        </p:nvCxnSpPr>
        <p:spPr>
          <a:xfrm>
            <a:off x="3931920" y="1737360"/>
            <a:ext cx="0" cy="96012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251960" y="1783080"/>
            <a:ext cx="6903720" cy="822960"/>
          </a:xfrm>
          <a:prstGeom prst="rect">
            <a:avLst/>
          </a:prstGeom>
          <a:noFill/>
        </p:spPr>
        <p:txBody>
          <a:bodyPr wrap="square" lIns="36576" tIns="36576" rIns="36576" bIns="36576" anchor="t">
            <a:spAutoFit/>
          </a:bodyPr>
          <a:lstStyle/>
          <a:p>
            <a:pPr algn="l">
              <a:spcAft>
                <a:spcPts val="0"/>
              </a:spcAft>
            </a:pPr>
            <a:r>
              <a:rPr sz="1600" b="0">
                <a:solidFill>
                  <a:srgbClr val="233A59"/>
                </a:solidFill>
              </a:rPr>
              <a:t>Create named source, destination and service objects; scope becomes reviewable and reusable.</a:t>
            </a:r>
          </a:p>
        </p:txBody>
      </p:sp>
      <p:cxnSp>
        <p:nvCxnSpPr>
          <p:cNvPr id="12" name="Connector 11"/>
          <p:cNvCxnSpPr/>
          <p:nvPr/>
        </p:nvCxnSpPr>
        <p:spPr>
          <a:xfrm>
            <a:off x="685800" y="2834639"/>
            <a:ext cx="10469880"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13" name="TextBox 12"/>
          <p:cNvSpPr txBox="1">
            <a:spLocks/>
          </p:cNvSpPr>
          <p:nvPr/>
        </p:nvSpPr>
        <p:spPr>
          <a:xfrm>
            <a:off x="685800" y="3081528"/>
            <a:ext cx="3108960" cy="320088"/>
          </a:xfrm>
          <a:prstGeom prst="rect">
            <a:avLst/>
          </a:prstGeom>
          <a:noFill/>
        </p:spPr>
        <p:txBody>
          <a:bodyPr wrap="square" lIns="36576" tIns="36576" rIns="36576" bIns="36576" anchor="t">
            <a:spAutoFit/>
          </a:bodyPr>
          <a:lstStyle/>
          <a:p>
            <a:pPr algn="l">
              <a:spcAft>
                <a:spcPts val="0"/>
              </a:spcAft>
            </a:pPr>
            <a:r>
              <a:rPr lang="en-GB" sz="1600" b="1">
                <a:solidFill>
                  <a:srgbClr val="1E2B40"/>
                </a:solidFill>
              </a:rPr>
              <a:t>Put unlike interfaces in one zone</a:t>
            </a:r>
          </a:p>
        </p:txBody>
      </p:sp>
      <p:cxnSp>
        <p:nvCxnSpPr>
          <p:cNvPr id="14" name="Connector 13"/>
          <p:cNvCxnSpPr/>
          <p:nvPr/>
        </p:nvCxnSpPr>
        <p:spPr>
          <a:xfrm>
            <a:off x="3931920" y="3035808"/>
            <a:ext cx="0" cy="96012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5" name="TextBox 14"/>
          <p:cNvSpPr txBox="1">
            <a:spLocks/>
          </p:cNvSpPr>
          <p:nvPr/>
        </p:nvSpPr>
        <p:spPr>
          <a:xfrm>
            <a:off x="4251960" y="3081528"/>
            <a:ext cx="6903720" cy="566309"/>
          </a:xfrm>
          <a:prstGeom prst="rect">
            <a:avLst/>
          </a:prstGeom>
          <a:noFill/>
        </p:spPr>
        <p:txBody>
          <a:bodyPr wrap="square" lIns="36576" tIns="36576" rIns="36576" bIns="36576" anchor="t">
            <a:spAutoFit/>
          </a:bodyPr>
          <a:lstStyle/>
          <a:p>
            <a:pPr algn="l">
              <a:spcAft>
                <a:spcPts val="0"/>
              </a:spcAft>
            </a:pPr>
            <a:r>
              <a:rPr lang="en-GB" sz="1600" b="0">
                <a:solidFill>
                  <a:srgbClr val="233A59"/>
                </a:solidFill>
              </a:rPr>
              <a:t>Group only interfaces with the same policy intent; zones do not create isolation.</a:t>
            </a:r>
          </a:p>
        </p:txBody>
      </p:sp>
      <p:cxnSp>
        <p:nvCxnSpPr>
          <p:cNvPr id="16" name="Connector 15"/>
          <p:cNvCxnSpPr/>
          <p:nvPr/>
        </p:nvCxnSpPr>
        <p:spPr>
          <a:xfrm>
            <a:off x="685800" y="4133087"/>
            <a:ext cx="10469880"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17" name="TextBox 16"/>
          <p:cNvSpPr txBox="1">
            <a:spLocks/>
          </p:cNvSpPr>
          <p:nvPr/>
        </p:nvSpPr>
        <p:spPr>
          <a:xfrm>
            <a:off x="685800" y="4379976"/>
            <a:ext cx="3108960" cy="566309"/>
          </a:xfrm>
          <a:prstGeom prst="rect">
            <a:avLst/>
          </a:prstGeom>
          <a:noFill/>
        </p:spPr>
        <p:txBody>
          <a:bodyPr wrap="square" lIns="36576" tIns="36576" rIns="36576" bIns="36576" anchor="t">
            <a:spAutoFit/>
          </a:bodyPr>
          <a:lstStyle/>
          <a:p>
            <a:pPr algn="l">
              <a:spcAft>
                <a:spcPts val="0"/>
              </a:spcAft>
            </a:pPr>
            <a:r>
              <a:rPr lang="en-GB" sz="1600" b="1">
                <a:solidFill>
                  <a:srgbClr val="1E2B40"/>
                </a:solidFill>
              </a:rPr>
              <a:t>Put broad allow above exceptions</a:t>
            </a:r>
          </a:p>
        </p:txBody>
      </p:sp>
      <p:cxnSp>
        <p:nvCxnSpPr>
          <p:cNvPr id="18" name="Connector 17"/>
          <p:cNvCxnSpPr/>
          <p:nvPr/>
        </p:nvCxnSpPr>
        <p:spPr>
          <a:xfrm>
            <a:off x="3931920" y="4334256"/>
            <a:ext cx="0" cy="96012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251960" y="4379976"/>
            <a:ext cx="6903720" cy="822960"/>
          </a:xfrm>
          <a:prstGeom prst="rect">
            <a:avLst/>
          </a:prstGeom>
          <a:noFill/>
        </p:spPr>
        <p:txBody>
          <a:bodyPr wrap="square" lIns="36576" tIns="36576" rIns="36576" bIns="36576" anchor="t">
            <a:spAutoFit/>
          </a:bodyPr>
          <a:lstStyle/>
          <a:p>
            <a:pPr algn="l">
              <a:spcAft>
                <a:spcPts val="0"/>
              </a:spcAft>
            </a:pPr>
            <a:r>
              <a:rPr sz="1600" b="0">
                <a:solidFill>
                  <a:srgbClr val="233A59"/>
                </a:solidFill>
              </a:rPr>
              <a:t>Place specific rules first and use policy lookup; first match otherwise shadows them.</a:t>
            </a:r>
          </a:p>
        </p:txBody>
      </p:sp>
      <p:cxnSp>
        <p:nvCxnSpPr>
          <p:cNvPr id="20" name="Connector 19"/>
          <p:cNvCxnSpPr/>
          <p:nvPr/>
        </p:nvCxnSpPr>
        <p:spPr>
          <a:xfrm>
            <a:off x="685800" y="5431536"/>
            <a:ext cx="10469880"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58368" y="5833872"/>
            <a:ext cx="731520" cy="182880"/>
          </a:xfrm>
          <a:prstGeom prst="rect">
            <a:avLst/>
          </a:prstGeom>
          <a:noFill/>
        </p:spPr>
        <p:txBody>
          <a:bodyPr wrap="square" lIns="36576" tIns="36576" rIns="36576" bIns="36576" anchor="t">
            <a:spAutoFit/>
          </a:bodyPr>
          <a:lstStyle/>
          <a:p>
            <a:pPr algn="l">
              <a:spcAft>
                <a:spcPts val="0"/>
              </a:spcAft>
            </a:pPr>
            <a:r>
              <a:rPr sz="1000" b="1">
                <a:solidFill>
                  <a:srgbClr val="E60012"/>
                </a:solidFill>
              </a:rPr>
              <a:t>LESSON</a:t>
            </a:r>
          </a:p>
        </p:txBody>
      </p:sp>
      <p:sp>
        <p:nvSpPr>
          <p:cNvPr id="22" name="TextBox 21"/>
          <p:cNvSpPr txBox="1"/>
          <p:nvPr/>
        </p:nvSpPr>
        <p:spPr>
          <a:xfrm>
            <a:off x="1417320" y="5769864"/>
            <a:ext cx="9875520" cy="384048"/>
          </a:xfrm>
          <a:prstGeom prst="rect">
            <a:avLst/>
          </a:prstGeom>
          <a:noFill/>
        </p:spPr>
        <p:txBody>
          <a:bodyPr wrap="square" lIns="36576" tIns="36576" rIns="36576" bIns="36576" anchor="t">
            <a:spAutoFit/>
          </a:bodyPr>
          <a:lstStyle/>
          <a:p>
            <a:pPr algn="l">
              <a:spcAft>
                <a:spcPts val="0"/>
              </a:spcAft>
            </a:pPr>
            <a:r>
              <a:rPr sz="1300" b="1">
                <a:solidFill>
                  <a:srgbClr val="233A59"/>
                </a:solidFill>
              </a:rPr>
              <a:t>A correction changes a concrete configuration, test or interpretation—not merely the wording used to describe it.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35</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Troubleshooting workflow: narrow the failed decision</a:t>
            </a:r>
          </a:p>
        </p:txBody>
      </p:sp>
      <p:sp>
        <p:nvSpPr>
          <p:cNvPr id="10" name="Rectangle 9"/>
          <p:cNvSpPr/>
          <p:nvPr/>
        </p:nvSpPr>
        <p:spPr>
          <a:xfrm>
            <a:off x="658368"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1" name="TextBox 10"/>
          <p:cNvSpPr txBox="1">
            <a:spLocks/>
          </p:cNvSpPr>
          <p:nvPr/>
        </p:nvSpPr>
        <p:spPr>
          <a:xfrm>
            <a:off x="768096" y="2020824"/>
            <a:ext cx="411480" cy="219456"/>
          </a:xfrm>
          <a:prstGeom prst="rect">
            <a:avLst/>
          </a:prstGeom>
          <a:noFill/>
        </p:spPr>
        <p:txBody>
          <a:bodyPr wrap="square" lIns="27432" tIns="27432" rIns="27432" bIns="27432" anchor="t">
            <a:spAutoFit/>
          </a:bodyPr>
          <a:lstStyle/>
          <a:p>
            <a:pPr algn="l">
              <a:spcAft>
                <a:spcPts val="0"/>
              </a:spcAft>
            </a:pPr>
            <a:r>
              <a:rPr lang="en-HU" sz="1100" b="1">
                <a:solidFill>
                  <a:srgbClr val="E60012"/>
                </a:solidFill>
              </a:rPr>
              <a:t>01</a:t>
            </a:r>
          </a:p>
        </p:txBody>
      </p:sp>
      <p:sp>
        <p:nvSpPr>
          <p:cNvPr id="12" name="TextBox 11"/>
          <p:cNvSpPr txBox="1">
            <a:spLocks/>
          </p:cNvSpPr>
          <p:nvPr/>
        </p:nvSpPr>
        <p:spPr>
          <a:xfrm>
            <a:off x="768096" y="2340864"/>
            <a:ext cx="1830628" cy="603504"/>
          </a:xfrm>
          <a:prstGeom prst="rect">
            <a:avLst/>
          </a:prstGeom>
          <a:noFill/>
        </p:spPr>
        <p:txBody>
          <a:bodyPr wrap="square" lIns="27432" tIns="27432" rIns="27432" bIns="27432" anchor="ctr">
            <a:spAutoFit/>
          </a:bodyPr>
          <a:lstStyle/>
          <a:p>
            <a:pPr algn="ctr">
              <a:spcAft>
                <a:spcPts val="0"/>
              </a:spcAft>
            </a:pPr>
            <a:r>
              <a:rPr lang="en-GB" sz="1400" b="1">
                <a:solidFill>
                  <a:srgbClr val="1E2B40"/>
                </a:solidFill>
              </a:rPr>
              <a:t>Confirm ingress and expected egress interfaces</a:t>
            </a:r>
          </a:p>
        </p:txBody>
      </p:sp>
      <p:cxnSp>
        <p:nvCxnSpPr>
          <p:cNvPr id="13" name="Connector 12"/>
          <p:cNvCxnSpPr/>
          <p:nvPr/>
        </p:nvCxnSpPr>
        <p:spPr>
          <a:xfrm>
            <a:off x="2708452"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2854756"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5" name="TextBox 14"/>
          <p:cNvSpPr txBox="1">
            <a:spLocks/>
          </p:cNvSpPr>
          <p:nvPr/>
        </p:nvSpPr>
        <p:spPr>
          <a:xfrm>
            <a:off x="2964484" y="2020824"/>
            <a:ext cx="411480" cy="219456"/>
          </a:xfrm>
          <a:prstGeom prst="rect">
            <a:avLst/>
          </a:prstGeom>
          <a:noFill/>
        </p:spPr>
        <p:txBody>
          <a:bodyPr wrap="square" lIns="27432" tIns="27432" rIns="27432" bIns="27432" anchor="t">
            <a:spAutoFit/>
          </a:bodyPr>
          <a:lstStyle/>
          <a:p>
            <a:pPr algn="l">
              <a:spcAft>
                <a:spcPts val="0"/>
              </a:spcAft>
            </a:pPr>
            <a:r>
              <a:rPr lang="en-HU" sz="1100" b="1">
                <a:solidFill>
                  <a:srgbClr val="E60012"/>
                </a:solidFill>
              </a:rPr>
              <a:t>02</a:t>
            </a:r>
          </a:p>
        </p:txBody>
      </p:sp>
      <p:sp>
        <p:nvSpPr>
          <p:cNvPr id="16" name="TextBox 15"/>
          <p:cNvSpPr txBox="1">
            <a:spLocks/>
          </p:cNvSpPr>
          <p:nvPr/>
        </p:nvSpPr>
        <p:spPr>
          <a:xfrm>
            <a:off x="2964484" y="2340864"/>
            <a:ext cx="1830628" cy="603504"/>
          </a:xfrm>
          <a:prstGeom prst="rect">
            <a:avLst/>
          </a:prstGeom>
          <a:noFill/>
        </p:spPr>
        <p:txBody>
          <a:bodyPr wrap="square" lIns="27432" tIns="27432" rIns="27432" bIns="27432" anchor="ctr">
            <a:spAutoFit/>
          </a:bodyPr>
          <a:lstStyle/>
          <a:p>
            <a:pPr algn="ctr">
              <a:spcAft>
                <a:spcPts val="0"/>
              </a:spcAft>
            </a:pPr>
            <a:r>
              <a:rPr lang="en-GB" sz="1400" b="1">
                <a:solidFill>
                  <a:srgbClr val="1E2B40"/>
                </a:solidFill>
              </a:rPr>
              <a:t>Resolve object membership to concrete IP/port values</a:t>
            </a:r>
          </a:p>
        </p:txBody>
      </p:sp>
      <p:cxnSp>
        <p:nvCxnSpPr>
          <p:cNvPr id="17" name="Connector 16"/>
          <p:cNvCxnSpPr/>
          <p:nvPr/>
        </p:nvCxnSpPr>
        <p:spPr>
          <a:xfrm>
            <a:off x="4904841"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5051145"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9" name="TextBox 18"/>
          <p:cNvSpPr txBox="1">
            <a:spLocks/>
          </p:cNvSpPr>
          <p:nvPr/>
        </p:nvSpPr>
        <p:spPr>
          <a:xfrm>
            <a:off x="5160873" y="2020824"/>
            <a:ext cx="411480" cy="219456"/>
          </a:xfrm>
          <a:prstGeom prst="rect">
            <a:avLst/>
          </a:prstGeom>
          <a:noFill/>
        </p:spPr>
        <p:txBody>
          <a:bodyPr wrap="square" lIns="27432" tIns="27432" rIns="27432" bIns="27432" anchor="t">
            <a:spAutoFit/>
          </a:bodyPr>
          <a:lstStyle/>
          <a:p>
            <a:pPr algn="l">
              <a:spcAft>
                <a:spcPts val="0"/>
              </a:spcAft>
            </a:pPr>
            <a:r>
              <a:rPr lang="en-HU" sz="1100" b="1">
                <a:solidFill>
                  <a:srgbClr val="E60012"/>
                </a:solidFill>
              </a:rPr>
              <a:t>03</a:t>
            </a:r>
          </a:p>
        </p:txBody>
      </p:sp>
      <p:sp>
        <p:nvSpPr>
          <p:cNvPr id="20" name="TextBox 19"/>
          <p:cNvSpPr txBox="1">
            <a:spLocks/>
          </p:cNvSpPr>
          <p:nvPr/>
        </p:nvSpPr>
        <p:spPr>
          <a:xfrm>
            <a:off x="5160873" y="2340864"/>
            <a:ext cx="1830628" cy="603504"/>
          </a:xfrm>
          <a:prstGeom prst="rect">
            <a:avLst/>
          </a:prstGeom>
          <a:noFill/>
        </p:spPr>
        <p:txBody>
          <a:bodyPr wrap="square" lIns="27432" tIns="27432" rIns="27432" bIns="27432" anchor="ctr">
            <a:spAutoFit/>
          </a:bodyPr>
          <a:lstStyle/>
          <a:p>
            <a:pPr algn="ctr">
              <a:spcAft>
                <a:spcPts val="0"/>
              </a:spcAft>
            </a:pPr>
            <a:r>
              <a:rPr lang="en-GB" sz="1400" b="1">
                <a:solidFill>
                  <a:srgbClr val="1E2B40"/>
                </a:solidFill>
              </a:rPr>
              <a:t>Check policy order and shadowing</a:t>
            </a:r>
          </a:p>
        </p:txBody>
      </p:sp>
      <p:cxnSp>
        <p:nvCxnSpPr>
          <p:cNvPr id="21" name="Connector 20"/>
          <p:cNvCxnSpPr/>
          <p:nvPr/>
        </p:nvCxnSpPr>
        <p:spPr>
          <a:xfrm>
            <a:off x="7101230"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7247534"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23" name="TextBox 22"/>
          <p:cNvSpPr txBox="1"/>
          <p:nvPr/>
        </p:nvSpPr>
        <p:spPr>
          <a:xfrm>
            <a:off x="7357262" y="2020824"/>
            <a:ext cx="411480" cy="219456"/>
          </a:xfrm>
          <a:prstGeom prst="rect">
            <a:avLst/>
          </a:prstGeom>
          <a:noFill/>
        </p:spPr>
        <p:txBody>
          <a:bodyPr wrap="square" lIns="27432" tIns="27432" rIns="27432" bIns="27432" anchor="t">
            <a:spAutoFit/>
          </a:bodyPr>
          <a:lstStyle/>
          <a:p>
            <a:pPr algn="l">
              <a:spcAft>
                <a:spcPts val="0"/>
              </a:spcAft>
            </a:pPr>
            <a:r>
              <a:rPr sz="1100" b="1">
                <a:solidFill>
                  <a:srgbClr val="E60012"/>
                </a:solidFill>
              </a:rPr>
              <a:t>04</a:t>
            </a:r>
          </a:p>
        </p:txBody>
      </p:sp>
      <p:sp>
        <p:nvSpPr>
          <p:cNvPr id="24" name="TextBox 23"/>
          <p:cNvSpPr txBox="1"/>
          <p:nvPr/>
        </p:nvSpPr>
        <p:spPr>
          <a:xfrm>
            <a:off x="7357262" y="2340864"/>
            <a:ext cx="1830628" cy="603504"/>
          </a:xfrm>
          <a:prstGeom prst="rect">
            <a:avLst/>
          </a:prstGeom>
          <a:noFill/>
        </p:spPr>
        <p:txBody>
          <a:bodyPr wrap="square" lIns="27432" tIns="27432" rIns="27432" bIns="27432" anchor="ctr">
            <a:spAutoFit/>
          </a:bodyPr>
          <a:lstStyle/>
          <a:p>
            <a:pPr algn="ctr">
              <a:spcAft>
                <a:spcPts val="0"/>
              </a:spcAft>
            </a:pPr>
            <a:r>
              <a:rPr sz="1400" b="1">
                <a:solidFill>
                  <a:srgbClr val="1E2B40"/>
                </a:solidFill>
              </a:rPr>
              <a:t>Inspect hit count and traffic log</a:t>
            </a:r>
          </a:p>
        </p:txBody>
      </p:sp>
      <p:cxnSp>
        <p:nvCxnSpPr>
          <p:cNvPr id="25" name="Connector 24"/>
          <p:cNvCxnSpPr/>
          <p:nvPr/>
        </p:nvCxnSpPr>
        <p:spPr>
          <a:xfrm>
            <a:off x="9297619"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9443923"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553651" y="2020824"/>
            <a:ext cx="411480" cy="219456"/>
          </a:xfrm>
          <a:prstGeom prst="rect">
            <a:avLst/>
          </a:prstGeom>
          <a:noFill/>
        </p:spPr>
        <p:txBody>
          <a:bodyPr wrap="square" lIns="27432" tIns="27432" rIns="27432" bIns="27432" anchor="t">
            <a:spAutoFit/>
          </a:bodyPr>
          <a:lstStyle/>
          <a:p>
            <a:pPr algn="l">
              <a:spcAft>
                <a:spcPts val="0"/>
              </a:spcAft>
            </a:pPr>
            <a:r>
              <a:rPr sz="1100" b="1">
                <a:solidFill>
                  <a:srgbClr val="E60012"/>
                </a:solidFill>
              </a:rPr>
              <a:t>05</a:t>
            </a:r>
          </a:p>
        </p:txBody>
      </p:sp>
      <p:sp>
        <p:nvSpPr>
          <p:cNvPr id="28" name="TextBox 27"/>
          <p:cNvSpPr txBox="1"/>
          <p:nvPr/>
        </p:nvSpPr>
        <p:spPr>
          <a:xfrm>
            <a:off x="9553651" y="2340864"/>
            <a:ext cx="1830628" cy="603504"/>
          </a:xfrm>
          <a:prstGeom prst="rect">
            <a:avLst/>
          </a:prstGeom>
          <a:noFill/>
        </p:spPr>
        <p:txBody>
          <a:bodyPr wrap="square" lIns="27432" tIns="27432" rIns="27432" bIns="27432" anchor="ctr">
            <a:spAutoFit/>
          </a:bodyPr>
          <a:lstStyle/>
          <a:p>
            <a:pPr algn="ctr">
              <a:spcAft>
                <a:spcPts val="0"/>
              </a:spcAft>
            </a:pPr>
            <a:r>
              <a:rPr sz="1400" b="1">
                <a:solidFill>
                  <a:srgbClr val="1E2B40"/>
                </a:solidFill>
              </a:rPr>
              <a:t>Test an explicit negative case</a:t>
            </a:r>
          </a:p>
        </p:txBody>
      </p:sp>
      <p:sp>
        <p:nvSpPr>
          <p:cNvPr id="29" name="TextBox 28"/>
          <p:cNvSpPr txBox="1"/>
          <p:nvPr/>
        </p:nvSpPr>
        <p:spPr>
          <a:xfrm>
            <a:off x="658368" y="3703320"/>
            <a:ext cx="2011680" cy="256032"/>
          </a:xfrm>
          <a:prstGeom prst="rect">
            <a:avLst/>
          </a:prstGeom>
          <a:noFill/>
        </p:spPr>
        <p:txBody>
          <a:bodyPr wrap="square" lIns="27432" tIns="27432" rIns="27432" bIns="27432" anchor="t">
            <a:spAutoFit/>
          </a:bodyPr>
          <a:lstStyle/>
          <a:p>
            <a:pPr algn="l">
              <a:spcAft>
                <a:spcPts val="0"/>
              </a:spcAft>
            </a:pPr>
            <a:r>
              <a:rPr sz="1100" b="1">
                <a:solidFill>
                  <a:srgbClr val="E60012"/>
                </a:solidFill>
              </a:rPr>
              <a:t>What to observe</a:t>
            </a:r>
          </a:p>
        </p:txBody>
      </p:sp>
      <p:sp>
        <p:nvSpPr>
          <p:cNvPr id="30" name="TextBox 29"/>
          <p:cNvSpPr txBox="1"/>
          <p:nvPr/>
        </p:nvSpPr>
        <p:spPr>
          <a:xfrm>
            <a:off x="658368" y="4050791"/>
            <a:ext cx="6446520" cy="1508760"/>
          </a:xfrm>
          <a:prstGeom prst="rect">
            <a:avLst/>
          </a:prstGeom>
          <a:noFill/>
        </p:spPr>
        <p:txBody>
          <a:bodyPr wrap="square" lIns="109728" tIns="73152" rIns="109728" bIns="73152" anchor="t">
            <a:spAutoFit/>
          </a:bodyPr>
          <a:lstStyle/>
          <a:p>
            <a:pPr algn="l">
              <a:lnSpc>
                <a:spcPct val="105000"/>
              </a:lnSpc>
              <a:spcAft>
                <a:spcPts val="700"/>
              </a:spcAft>
              <a:defRPr sz="1600">
                <a:solidFill>
                  <a:srgbClr val="1E2B40"/>
                </a:solidFill>
              </a:defRPr>
            </a:pPr>
            <a:r>
              <a:t>• Check policy order and shadowing</a:t>
            </a:r>
          </a:p>
          <a:p>
            <a:pPr>
              <a:lnSpc>
                <a:spcPct val="105000"/>
              </a:lnSpc>
              <a:spcAft>
                <a:spcPts val="700"/>
              </a:spcAft>
              <a:defRPr sz="1600">
                <a:solidFill>
                  <a:srgbClr val="1E2B40"/>
                </a:solidFill>
              </a:defRPr>
            </a:pPr>
            <a:r>
              <a:t>• Inspect hit count and traffic log</a:t>
            </a:r>
          </a:p>
          <a:p>
            <a:pPr>
              <a:lnSpc>
                <a:spcPct val="105000"/>
              </a:lnSpc>
              <a:spcAft>
                <a:spcPts val="700"/>
              </a:spcAft>
              <a:defRPr sz="1600">
                <a:solidFill>
                  <a:srgbClr val="1E2B40"/>
                </a:solidFill>
              </a:defRPr>
            </a:pPr>
            <a:r>
              <a:t>• Test an explicit negative case</a:t>
            </a:r>
          </a:p>
        </p:txBody>
      </p:sp>
      <p:cxnSp>
        <p:nvCxnSpPr>
          <p:cNvPr id="31" name="Connector 30"/>
          <p:cNvCxnSpPr/>
          <p:nvPr/>
        </p:nvCxnSpPr>
        <p:spPr>
          <a:xfrm>
            <a:off x="7452360" y="3703320"/>
            <a:ext cx="0" cy="2093976"/>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7772400" y="3703320"/>
            <a:ext cx="292608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INSTRUCTOR DEMONSTRATION</a:t>
            </a:r>
            <a:endParaRPr sz="1100" b="1">
              <a:solidFill>
                <a:srgbClr val="E60012"/>
              </a:solidFill>
            </a:endParaRPr>
          </a:p>
        </p:txBody>
      </p:sp>
      <p:sp>
        <p:nvSpPr>
          <p:cNvPr id="33" name="TextBox 32"/>
          <p:cNvSpPr txBox="1"/>
          <p:nvPr/>
        </p:nvSpPr>
        <p:spPr>
          <a:xfrm>
            <a:off x="7772400" y="4096512"/>
            <a:ext cx="3337560" cy="1234440"/>
          </a:xfrm>
          <a:prstGeom prst="rect">
            <a:avLst/>
          </a:prstGeom>
          <a:noFill/>
        </p:spPr>
        <p:txBody>
          <a:bodyPr wrap="square" lIns="27432" tIns="27432" rIns="27432" bIns="27432" anchor="t">
            <a:spAutoFit/>
          </a:bodyPr>
          <a:lstStyle/>
          <a:p>
            <a:pPr algn="l">
              <a:spcAft>
                <a:spcPts val="0"/>
              </a:spcAft>
            </a:pPr>
            <a:r>
              <a:rPr sz="1500" b="1">
                <a:solidFill>
                  <a:srgbClr val="233A59"/>
                </a:solidFill>
              </a:rPr>
              <a:t>Preserve timestamps and before/after state; stop/reset debug operations.</a:t>
            </a:r>
          </a:p>
        </p:txBody>
      </p:sp>
      <p:sp>
        <p:nvSpPr>
          <p:cNvPr id="34" name="TextBox 33"/>
          <p:cNvSpPr txBox="1"/>
          <p:nvPr/>
        </p:nvSpPr>
        <p:spPr>
          <a:xfrm>
            <a:off x="7772400" y="5440680"/>
            <a:ext cx="3337560" cy="363176"/>
          </a:xfrm>
          <a:prstGeom prst="rect">
            <a:avLst/>
          </a:prstGeom>
          <a:noFill/>
        </p:spPr>
        <p:txBody>
          <a:bodyPr wrap="square" lIns="27432" tIns="27432" rIns="27432" bIns="27432" anchor="t">
            <a:spAutoFit/>
          </a:bodyPr>
          <a:lstStyle/>
          <a:p>
            <a:pPr algn="l">
              <a:spcAft>
                <a:spcPts val="0"/>
              </a:spcAft>
            </a:pPr>
            <a:r>
              <a:rPr lang="en-GB" sz="1000" b="0">
                <a:solidFill>
                  <a:srgbClr val="687385"/>
                </a:solidFill>
              </a:rPr>
              <a:t>If debug is used, filter by the test tuple and disable</a:t>
            </a:r>
            <a:r>
              <a:rPr sz="1000" b="0">
                <a:solidFill>
                  <a:srgbClr val="687385"/>
                </a:solidFill>
              </a:rPr>
              <a:t>/reset </a:t>
            </a:r>
            <a:r>
              <a:rPr lang="en-GB" sz="1000" b="0">
                <a:solidFill>
                  <a:srgbClr val="687385"/>
                </a:solidFill>
              </a:rPr>
              <a:t>it immediately </a:t>
            </a:r>
            <a:r>
              <a:rPr sz="1000" b="0">
                <a:solidFill>
                  <a:srgbClr val="687385"/>
                </a:solidFill>
              </a:rPr>
              <a:t>after </a:t>
            </a:r>
            <a:r>
              <a:rPr lang="en-GB" sz="1000" b="0">
                <a:solidFill>
                  <a:srgbClr val="687385"/>
                </a:solidFill>
              </a:rPr>
              <a:t>capture</a:t>
            </a:r>
            <a:r>
              <a:rPr sz="1000" b="0">
                <a:solidFill>
                  <a:srgbClr val="687385"/>
                </a:solidFill>
              </a:rPr>
              <a:t>.</a:t>
            </a:r>
          </a:p>
        </p:txBody>
      </p:sp>
      <p:sp>
        <p:nvSpPr>
          <p:cNvPr id="35" name="TextBox 34"/>
          <p:cNvSpPr txBox="1"/>
          <p:nvPr/>
        </p:nvSpPr>
        <p:spPr>
          <a:xfrm>
            <a:off x="502920" y="420624"/>
            <a:ext cx="10744200" cy="130805"/>
          </a:xfrm>
          <a:prstGeom prst="rect">
            <a:avLst/>
          </a:prstGeom>
          <a:noFill/>
        </p:spPr>
        <p:txBody>
          <a:bodyPr wrap="square" lIns="0" tIns="0" rIns="0" bIns="0">
            <a:spAutoFit/>
          </a:bodyPr>
          <a:lstStyle/>
          <a:p>
            <a:pPr algn="l"/>
            <a:r>
              <a:rPr lang="en-HU" sz="850" b="1">
                <a:solidFill>
                  <a:srgbClr val="687385"/>
                </a:solidFill>
              </a:rPr>
              <a:t>035</a:t>
            </a:r>
            <a:r>
              <a:rPr sz="850" b="1">
                <a:solidFill>
                  <a:srgbClr val="687385"/>
                </a:solidFill>
              </a:rPr>
              <a:t> • DAY 1 • BLOCK 03 • Segmentation, Zones &amp; Policy</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36</a:t>
            </a:r>
          </a:p>
        </p:txBody>
      </p:sp>
      <p:sp>
        <p:nvSpPr>
          <p:cNvPr id="9" name="TextBox 8"/>
          <p:cNvSpPr txBox="1">
            <a:spLocks/>
          </p:cNvSpPr>
          <p:nvPr/>
        </p:nvSpPr>
        <p:spPr>
          <a:xfrm>
            <a:off x="502920" y="621792"/>
            <a:ext cx="11109960" cy="455509"/>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Practical handoff: Build LAN-to-DMZ Segmentation</a:t>
            </a:r>
          </a:p>
        </p:txBody>
      </p:sp>
      <p:sp>
        <p:nvSpPr>
          <p:cNvPr id="10" name="TextBox 9"/>
          <p:cNvSpPr txBox="1">
            <a:spLocks/>
          </p:cNvSpPr>
          <p:nvPr/>
        </p:nvSpPr>
        <p:spPr>
          <a:xfrm>
            <a:off x="658368" y="1554480"/>
            <a:ext cx="6583680" cy="3296736"/>
          </a:xfrm>
          <a:prstGeom prst="rect">
            <a:avLst/>
          </a:prstGeom>
          <a:noFill/>
        </p:spPr>
        <p:txBody>
          <a:bodyPr wrap="square" lIns="109728" tIns="73152" rIns="109728" bIns="73152" anchor="t">
            <a:spAutoFit/>
          </a:bodyPr>
          <a:lstStyle/>
          <a:p>
            <a:pPr algn="l">
              <a:lnSpc>
                <a:spcPct val="105000"/>
              </a:lnSpc>
              <a:spcAft>
                <a:spcPts val="800"/>
              </a:spcAft>
              <a:defRPr sz="1700">
                <a:solidFill>
                  <a:srgbClr val="1E2B40"/>
                </a:solidFill>
              </a:defRPr>
            </a:pPr>
            <a:r>
              <a:rPr lang="en-GB"/>
              <a:t>• START / PREREQUISITES: Student N p2 LAN and p3 DMZ configured; validated Linux client/server available.</a:t>
            </a:r>
          </a:p>
          <a:p>
            <a:pPr>
              <a:lnSpc>
                <a:spcPct val="105000"/>
              </a:lnSpc>
              <a:spcAft>
                <a:spcPts val="800"/>
              </a:spcAft>
              <a:defRPr sz="1700">
                <a:solidFill>
                  <a:srgbClr val="1E2B40"/>
                </a:solidFill>
              </a:defRPr>
            </a:pPr>
            <a:r>
              <a:rPr lang="en-GB"/>
              <a:t>• CHANGE / INVESTIGATE: Create LAN/DMZ objects and least-privilege policies; test one allowed service and one denied flow.</a:t>
            </a:r>
          </a:p>
          <a:p>
            <a:pPr>
              <a:lnSpc>
                <a:spcPct val="105000"/>
              </a:lnSpc>
              <a:spcAft>
                <a:spcPts val="800"/>
              </a:spcAft>
              <a:defRPr sz="1700">
                <a:solidFill>
                  <a:srgbClr val="1E2B40"/>
                </a:solidFill>
              </a:defRPr>
            </a:pPr>
            <a:r>
              <a:rPr lang="en-GB"/>
              <a:t>• EXPECTED RESULT: Allowed traffic matches the intended policy and logs; the denied flow is blocked and identifiable.</a:t>
            </a:r>
          </a:p>
          <a:p>
            <a:pPr>
              <a:lnSpc>
                <a:spcPct val="105000"/>
              </a:lnSpc>
              <a:spcAft>
                <a:spcPts val="800"/>
              </a:spcAft>
              <a:defRPr sz="1700">
                <a:solidFill>
                  <a:srgbClr val="1E2B40"/>
                </a:solidFill>
              </a:defRPr>
            </a:pPr>
            <a:r>
              <a:rPr lang="en-GB"/>
              <a:t>• CLEANUP / RESET: Remove temporary broad rules/test objects; retain the approved segmented baseline.</a:t>
            </a:r>
          </a:p>
          <a:p>
            <a:pPr>
              <a:lnSpc>
                <a:spcPct val="105000"/>
              </a:lnSpc>
              <a:spcAft>
                <a:spcPts val="800"/>
              </a:spcAft>
              <a:defRPr sz="1700">
                <a:solidFill>
                  <a:srgbClr val="1E2B40"/>
                </a:solidFill>
              </a:defRPr>
            </a:pPr>
            <a:r>
              <a:rPr lang="en-GB"/>
              <a:t>• DELIVERY: Hands-on on the assigned pod; policy-and-log walkthrough fallback.</a:t>
            </a:r>
          </a:p>
        </p:txBody>
      </p:sp>
      <p:cxnSp>
        <p:nvCxnSpPr>
          <p:cNvPr id="11" name="Connector 10"/>
          <p:cNvCxnSpPr/>
          <p:nvPr/>
        </p:nvCxnSpPr>
        <p:spPr>
          <a:xfrm>
            <a:off x="7452360" y="1600200"/>
            <a:ext cx="0" cy="434340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7790688" y="1627632"/>
            <a:ext cx="342900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PLANNED EXERCISE</a:t>
            </a:r>
          </a:p>
        </p:txBody>
      </p:sp>
      <p:sp>
        <p:nvSpPr>
          <p:cNvPr id="13" name="TextBox 12"/>
          <p:cNvSpPr txBox="1">
            <a:spLocks/>
          </p:cNvSpPr>
          <p:nvPr/>
        </p:nvSpPr>
        <p:spPr>
          <a:xfrm>
            <a:off x="7790688" y="2057400"/>
            <a:ext cx="3337560" cy="1101840"/>
          </a:xfrm>
          <a:prstGeom prst="rect">
            <a:avLst/>
          </a:prstGeom>
          <a:noFill/>
        </p:spPr>
        <p:txBody>
          <a:bodyPr wrap="square" lIns="27432" tIns="27432" rIns="27432" bIns="27432" anchor="t">
            <a:spAutoFit/>
          </a:bodyPr>
          <a:lstStyle/>
          <a:p>
            <a:pPr algn="l">
              <a:spcAft>
                <a:spcPts val="0"/>
              </a:spcAft>
            </a:pPr>
            <a:r>
              <a:rPr lang="en-GB" sz="1700" b="1">
                <a:solidFill>
                  <a:srgbClr val="233A59"/>
                </a:solidFill>
              </a:rPr>
              <a:t>Create LAN/DMZ objects and least-privilege policies; test one allowed service and one denied flow.</a:t>
            </a:r>
          </a:p>
        </p:txBody>
      </p:sp>
      <p:sp>
        <p:nvSpPr>
          <p:cNvPr id="14" name="TextBox 13"/>
          <p:cNvSpPr txBox="1">
            <a:spLocks/>
          </p:cNvSpPr>
          <p:nvPr/>
        </p:nvSpPr>
        <p:spPr>
          <a:xfrm>
            <a:off x="7790688" y="3822191"/>
            <a:ext cx="18288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EXPECTED RESULT</a:t>
            </a:r>
          </a:p>
        </p:txBody>
      </p:sp>
      <p:sp>
        <p:nvSpPr>
          <p:cNvPr id="15" name="TextBox 14"/>
          <p:cNvSpPr txBox="1">
            <a:spLocks/>
          </p:cNvSpPr>
          <p:nvPr/>
        </p:nvSpPr>
        <p:spPr>
          <a:xfrm>
            <a:off x="7790688" y="4187952"/>
            <a:ext cx="3337560" cy="747897"/>
          </a:xfrm>
          <a:prstGeom prst="rect">
            <a:avLst/>
          </a:prstGeom>
          <a:noFill/>
        </p:spPr>
        <p:txBody>
          <a:bodyPr wrap="square" lIns="27432" tIns="27432" rIns="27432" bIns="27432" anchor="t">
            <a:spAutoFit/>
          </a:bodyPr>
          <a:lstStyle/>
          <a:p>
            <a:pPr algn="l">
              <a:spcAft>
                <a:spcPts val="0"/>
              </a:spcAft>
            </a:pPr>
            <a:r>
              <a:rPr lang="en-GB" sz="1500" b="0">
                <a:solidFill>
                  <a:srgbClr val="1E2B40"/>
                </a:solidFill>
              </a:rPr>
              <a:t>Allowed traffic matches the intended policy and logs; the denied flow is blocked and identifiable.</a:t>
            </a:r>
          </a:p>
        </p:txBody>
      </p:sp>
      <p:sp>
        <p:nvSpPr>
          <p:cNvPr id="16" name="TextBox 15"/>
          <p:cNvSpPr txBox="1">
            <a:spLocks/>
          </p:cNvSpPr>
          <p:nvPr/>
        </p:nvSpPr>
        <p:spPr>
          <a:xfrm>
            <a:off x="7790688" y="5559552"/>
            <a:ext cx="1097280" cy="209288"/>
          </a:xfrm>
          <a:prstGeom prst="rect">
            <a:avLst/>
          </a:prstGeom>
          <a:noFill/>
        </p:spPr>
        <p:txBody>
          <a:bodyPr wrap="square" lIns="27432" tIns="27432" rIns="27432" bIns="27432" anchor="t">
            <a:spAutoFit/>
          </a:bodyPr>
          <a:lstStyle/>
          <a:p>
            <a:pPr algn="l">
              <a:spcAft>
                <a:spcPts val="0"/>
              </a:spcAft>
            </a:pPr>
            <a:r>
              <a:rPr lang="en-GB" sz="1000" b="1">
                <a:solidFill>
                  <a:srgbClr val="687385"/>
                </a:solidFill>
              </a:rPr>
              <a:t>DELIVERY MODE</a:t>
            </a:r>
          </a:p>
        </p:txBody>
      </p:sp>
      <p:sp>
        <p:nvSpPr>
          <p:cNvPr id="17" name="TextBox 16"/>
          <p:cNvSpPr txBox="1">
            <a:spLocks/>
          </p:cNvSpPr>
          <p:nvPr/>
        </p:nvSpPr>
        <p:spPr>
          <a:xfrm>
            <a:off x="8942832" y="5504688"/>
            <a:ext cx="2258568" cy="486287"/>
          </a:xfrm>
          <a:prstGeom prst="rect">
            <a:avLst/>
          </a:prstGeom>
          <a:noFill/>
        </p:spPr>
        <p:txBody>
          <a:bodyPr wrap="square" lIns="27432" tIns="27432" rIns="27432" bIns="27432" anchor="t">
            <a:spAutoFit/>
          </a:bodyPr>
          <a:lstStyle/>
          <a:p>
            <a:pPr algn="r">
              <a:spcAft>
                <a:spcPts val="0"/>
              </a:spcAft>
            </a:pPr>
            <a:r>
              <a:rPr lang="en-GB" sz="1400" b="0">
                <a:solidFill>
                  <a:srgbClr val="687385"/>
                </a:solidFill>
              </a:rPr>
              <a:t>Hands-on; walkthrough fallback</a:t>
            </a:r>
          </a:p>
        </p:txBody>
      </p:sp>
      <p:sp>
        <p:nvSpPr>
          <p:cNvPr id="18" name="TextBox 17"/>
          <p:cNvSpPr txBox="1">
            <a:spLocks/>
          </p:cNvSpPr>
          <p:nvPr/>
        </p:nvSpPr>
        <p:spPr>
          <a:xfrm>
            <a:off x="502920" y="420624"/>
            <a:ext cx="10744200" cy="130805"/>
          </a:xfrm>
          <a:prstGeom prst="rect">
            <a:avLst/>
          </a:prstGeom>
          <a:noFill/>
        </p:spPr>
        <p:txBody>
          <a:bodyPr wrap="square" lIns="0" tIns="0" rIns="0" bIns="0">
            <a:spAutoFit/>
          </a:bodyPr>
          <a:lstStyle/>
          <a:p>
            <a:pPr algn="l"/>
            <a:r>
              <a:rPr lang="en-GB" sz="850" b="1">
                <a:solidFill>
                  <a:srgbClr val="687385"/>
                </a:solidFill>
              </a:rPr>
              <a:t>036 • DAY 1 • BLOCK 03 • Segmentation, Zones &amp; Policy</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37</a:t>
            </a:r>
          </a:p>
        </p:txBody>
      </p:sp>
      <p:sp>
        <p:nvSpPr>
          <p:cNvPr id="9" name="TextBox 8"/>
          <p:cNvSpPr txBox="1">
            <a:spLocks/>
          </p:cNvSpPr>
          <p:nvPr/>
        </p:nvSpPr>
        <p:spPr>
          <a:xfrm>
            <a:off x="502920" y="621792"/>
            <a:ext cx="11109960" cy="455509"/>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Knowledge check — explain the result</a:t>
            </a:r>
          </a:p>
        </p:txBody>
      </p:sp>
      <p:sp>
        <p:nvSpPr>
          <p:cNvPr id="10" name="TextBox 9"/>
          <p:cNvSpPr txBox="1">
            <a:spLocks/>
          </p:cNvSpPr>
          <p:nvPr/>
        </p:nvSpPr>
        <p:spPr>
          <a:xfrm>
            <a:off x="658368" y="1600200"/>
            <a:ext cx="5312664" cy="292608"/>
          </a:xfrm>
          <a:prstGeom prst="rect">
            <a:avLst/>
          </a:prstGeom>
          <a:noFill/>
        </p:spPr>
        <p:txBody>
          <a:bodyPr wrap="square" lIns="27432" tIns="27432" rIns="27432" bIns="27432" anchor="t">
            <a:spAutoFit/>
          </a:bodyPr>
          <a:lstStyle/>
          <a:p>
            <a:pPr algn="l">
              <a:spcAft>
                <a:spcPts val="0"/>
              </a:spcAft>
            </a:pPr>
            <a:r>
              <a:rPr lang="en-GB" sz="1300" b="1">
                <a:solidFill>
                  <a:srgbClr val="E60012"/>
                </a:solidFill>
              </a:rPr>
              <a:t>QUESTION 1</a:t>
            </a:r>
          </a:p>
        </p:txBody>
      </p:sp>
      <p:cxnSp>
        <p:nvCxnSpPr>
          <p:cNvPr id="11" name="Connector 10"/>
          <p:cNvCxnSpPr/>
          <p:nvPr/>
        </p:nvCxnSpPr>
        <p:spPr>
          <a:xfrm>
            <a:off x="658368" y="1984248"/>
            <a:ext cx="5312664" cy="0"/>
          </a:xfrm>
          <a:prstGeom prst="line">
            <a:avLst/>
          </a:prstGeom>
          <a:ln w="22860">
            <a:solidFill>
              <a:srgbClr val="E60012"/>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658368" y="2176272"/>
            <a:ext cx="5312664" cy="3337560"/>
          </a:xfrm>
          <a:prstGeom prst="rect">
            <a:avLst/>
          </a:prstGeom>
          <a:noFill/>
        </p:spPr>
        <p:txBody>
          <a:bodyPr wrap="square" lIns="109728" tIns="73152" rIns="109728" bIns="73152" anchor="t">
            <a:spAutoFit/>
          </a:bodyPr>
          <a:lstStyle/>
          <a:p>
            <a:pPr algn="l">
              <a:lnSpc>
                <a:spcPct val="105000"/>
              </a:lnSpc>
              <a:spcAft>
                <a:spcPts val="800"/>
              </a:spcAft>
              <a:defRPr sz="1600">
                <a:solidFill>
                  <a:srgbClr val="1E2B40"/>
                </a:solidFill>
              </a:defRPr>
            </a:pPr>
            <a:r>
              <a:rPr lang="en-GB"/>
              <a:t>• What decides which of two matching policies is used?</a:t>
            </a:r>
          </a:p>
        </p:txBody>
      </p:sp>
      <p:sp>
        <p:nvSpPr>
          <p:cNvPr id="13" name="TextBox 12"/>
          <p:cNvSpPr txBox="1"/>
          <p:nvPr/>
        </p:nvSpPr>
        <p:spPr>
          <a:xfrm>
            <a:off x="6227064" y="1600200"/>
            <a:ext cx="5312664" cy="292608"/>
          </a:xfrm>
          <a:prstGeom prst="rect">
            <a:avLst/>
          </a:prstGeom>
          <a:noFill/>
        </p:spPr>
        <p:txBody>
          <a:bodyPr wrap="square" lIns="27432" tIns="27432" rIns="27432" bIns="27432" anchor="t">
            <a:spAutoFit/>
          </a:bodyPr>
          <a:lstStyle/>
          <a:p>
            <a:pPr algn="l">
              <a:spcAft>
                <a:spcPts val="0"/>
              </a:spcAft>
            </a:pPr>
            <a:r>
              <a:rPr sz="1300" b="1">
                <a:solidFill>
                  <a:srgbClr val="E60012"/>
                </a:solidFill>
              </a:rPr>
              <a:t>QUESTION 2</a:t>
            </a:r>
          </a:p>
        </p:txBody>
      </p:sp>
      <p:cxnSp>
        <p:nvCxnSpPr>
          <p:cNvPr id="14" name="Connector 13"/>
          <p:cNvCxnSpPr/>
          <p:nvPr/>
        </p:nvCxnSpPr>
        <p:spPr>
          <a:xfrm>
            <a:off x="6227064" y="1984248"/>
            <a:ext cx="5312664" cy="0"/>
          </a:xfrm>
          <a:prstGeom prst="line">
            <a:avLst/>
          </a:prstGeom>
          <a:ln w="22860">
            <a:solidFill>
              <a:srgbClr val="E60012"/>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227064" y="2176272"/>
            <a:ext cx="5312664" cy="3337560"/>
          </a:xfrm>
          <a:prstGeom prst="rect">
            <a:avLst/>
          </a:prstGeom>
          <a:noFill/>
        </p:spPr>
        <p:txBody>
          <a:bodyPr wrap="square" lIns="109728" tIns="73152" rIns="109728" bIns="73152" anchor="t">
            <a:spAutoFit/>
          </a:bodyPr>
          <a:lstStyle/>
          <a:p>
            <a:pPr algn="l">
              <a:lnSpc>
                <a:spcPct val="105000"/>
              </a:lnSpc>
              <a:spcAft>
                <a:spcPts val="800"/>
              </a:spcAft>
              <a:defRPr sz="1600">
                <a:solidFill>
                  <a:srgbClr val="1E2B40"/>
                </a:solidFill>
              </a:defRPr>
            </a:pPr>
            <a:r>
              <a:t>• When is a zone a poor abstraction?</a:t>
            </a:r>
          </a:p>
        </p:txBody>
      </p:sp>
      <p:sp>
        <p:nvSpPr>
          <p:cNvPr id="16" name="TextBox 15"/>
          <p:cNvSpPr txBox="1"/>
          <p:nvPr/>
        </p:nvSpPr>
        <p:spPr>
          <a:xfrm>
            <a:off x="658368" y="5724144"/>
            <a:ext cx="1234440" cy="224677"/>
          </a:xfrm>
          <a:prstGeom prst="rect">
            <a:avLst/>
          </a:prstGeom>
          <a:noFill/>
        </p:spPr>
        <p:txBody>
          <a:bodyPr wrap="square" lIns="27432" tIns="27432" rIns="27432" bIns="27432" anchor="t">
            <a:spAutoFit/>
          </a:bodyPr>
          <a:lstStyle/>
          <a:p>
            <a:pPr algn="l">
              <a:spcAft>
                <a:spcPts val="0"/>
              </a:spcAft>
            </a:pPr>
            <a:r>
              <a:rPr lang="en-GB" sz="1100" b="1">
                <a:solidFill>
                  <a:srgbClr val="233A59"/>
                </a:solidFill>
              </a:rPr>
              <a:t>KEY DISTINCTION</a:t>
            </a:r>
            <a:endParaRPr sz="1100" b="1">
              <a:solidFill>
                <a:srgbClr val="233A59"/>
              </a:solidFill>
            </a:endParaRPr>
          </a:p>
        </p:txBody>
      </p:sp>
      <p:sp>
        <p:nvSpPr>
          <p:cNvPr id="17" name="TextBox 16"/>
          <p:cNvSpPr txBox="1"/>
          <p:nvPr/>
        </p:nvSpPr>
        <p:spPr>
          <a:xfrm>
            <a:off x="1920240" y="5687568"/>
            <a:ext cx="9235440" cy="329184"/>
          </a:xfrm>
          <a:prstGeom prst="rect">
            <a:avLst/>
          </a:prstGeom>
          <a:noFill/>
        </p:spPr>
        <p:txBody>
          <a:bodyPr wrap="square" lIns="27432" tIns="27432" rIns="27432" bIns="27432" anchor="t">
            <a:spAutoFit/>
          </a:bodyPr>
          <a:lstStyle/>
          <a:p>
            <a:pPr algn="l">
              <a:spcAft>
                <a:spcPts val="0"/>
              </a:spcAft>
            </a:pPr>
            <a:r>
              <a:rPr sz="1400" b="1">
                <a:solidFill>
                  <a:srgbClr val="233A59"/>
                </a:solidFill>
              </a:rPr>
              <a:t>Answers and teaching rationale are in speaker notes.</a:t>
            </a:r>
          </a:p>
        </p:txBody>
      </p:sp>
      <p:sp>
        <p:nvSpPr>
          <p:cNvPr id="18" name="TextBox 17"/>
          <p:cNvSpPr txBox="1"/>
          <p:nvPr/>
        </p:nvSpPr>
        <p:spPr>
          <a:xfrm>
            <a:off x="502920" y="420624"/>
            <a:ext cx="10744200" cy="130805"/>
          </a:xfrm>
          <a:prstGeom prst="rect">
            <a:avLst/>
          </a:prstGeom>
          <a:noFill/>
        </p:spPr>
        <p:txBody>
          <a:bodyPr wrap="square" lIns="0" tIns="0" rIns="0" bIns="0">
            <a:spAutoFit/>
          </a:bodyPr>
          <a:lstStyle/>
          <a:p>
            <a:pPr algn="l"/>
            <a:r>
              <a:rPr lang="en-HU" sz="850" b="1">
                <a:solidFill>
                  <a:srgbClr val="687385"/>
                </a:solidFill>
              </a:rPr>
              <a:t>037</a:t>
            </a:r>
            <a:r>
              <a:rPr sz="850" b="1">
                <a:solidFill>
                  <a:srgbClr val="687385"/>
                </a:solidFill>
              </a:rPr>
              <a:t> • DAY 1 • BLOCK 03 • Segmentation, Zones &amp; Policy</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01827"/>
        </a:solidFill>
        <a:effectLst/>
      </p:bgPr>
    </p:bg>
    <p:spTree>
      <p:nvGrpSpPr>
        <p:cNvPr id="1" name=""/>
        <p:cNvGrpSpPr/>
        <p:nvPr/>
      </p:nvGrpSpPr>
      <p:grpSpPr>
        <a:xfrm>
          <a:off x="0" y="0"/>
          <a:ext cx="1" cy="1"/>
          <a:chOff x="0" y="0"/>
          <a:chExt cx="1" cy="1"/>
        </a:xfrm>
      </p:grpSpPr>
      <p:sp>
        <p:nvSpPr>
          <p:cNvPr id="2" name="Rectangle 1"/>
          <p:cNvSpPr/>
          <p:nvPr/>
        </p:nvSpPr>
        <p:spPr>
          <a:xfrm>
            <a:off x="0" y="0"/>
            <a:ext cx="146304" cy="6858000"/>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a:spLocks/>
          </p:cNvSpPr>
          <p:nvPr/>
        </p:nvSpPr>
        <p:spPr>
          <a:xfrm>
            <a:off x="658368" y="566928"/>
            <a:ext cx="5212080" cy="256032"/>
          </a:xfrm>
          <a:prstGeom prst="rect">
            <a:avLst/>
          </a:prstGeom>
          <a:noFill/>
        </p:spPr>
        <p:txBody>
          <a:bodyPr wrap="square" lIns="27432" tIns="27432" rIns="27432" bIns="27432" anchor="t">
            <a:spAutoFit/>
          </a:bodyPr>
          <a:lstStyle/>
          <a:p>
            <a:pPr algn="l">
              <a:spcAft>
                <a:spcPts val="0"/>
              </a:spcAft>
            </a:pPr>
            <a:r>
              <a:rPr lang="en-GB" sz="1400" b="1">
                <a:solidFill>
                  <a:srgbClr val="E60012"/>
                </a:solidFill>
              </a:rPr>
              <a:t>DAY 1  •  14:30–16:00</a:t>
            </a:r>
          </a:p>
        </p:txBody>
      </p:sp>
      <p:sp>
        <p:nvSpPr>
          <p:cNvPr id="4" name="TextBox 3"/>
          <p:cNvSpPr txBox="1">
            <a:spLocks/>
          </p:cNvSpPr>
          <p:nvPr/>
        </p:nvSpPr>
        <p:spPr>
          <a:xfrm>
            <a:off x="658368" y="1097280"/>
            <a:ext cx="10515600" cy="914400"/>
          </a:xfrm>
          <a:prstGeom prst="rect">
            <a:avLst/>
          </a:prstGeom>
          <a:noFill/>
        </p:spPr>
        <p:txBody>
          <a:bodyPr wrap="square" lIns="27432" tIns="27432" rIns="27432" bIns="27432" anchor="t">
            <a:spAutoFit/>
          </a:bodyPr>
          <a:lstStyle/>
          <a:p>
            <a:pPr algn="l">
              <a:spcAft>
                <a:spcPts val="0"/>
              </a:spcAft>
            </a:pPr>
            <a:r>
              <a:rPr lang="en-GB" sz="3400" b="1">
                <a:solidFill>
                  <a:srgbClr val="FFFFFF"/>
                </a:solidFill>
              </a:rPr>
              <a:t>NAT, Logging &amp; CLI Troubleshooting</a:t>
            </a:r>
          </a:p>
        </p:txBody>
      </p:sp>
      <p:sp>
        <p:nvSpPr>
          <p:cNvPr id="5" name="TextBox 4"/>
          <p:cNvSpPr txBox="1">
            <a:spLocks/>
          </p:cNvSpPr>
          <p:nvPr/>
        </p:nvSpPr>
        <p:spPr>
          <a:xfrm>
            <a:off x="676656" y="2084831"/>
            <a:ext cx="8686800" cy="320040"/>
          </a:xfrm>
          <a:prstGeom prst="rect">
            <a:avLst/>
          </a:prstGeom>
          <a:noFill/>
        </p:spPr>
        <p:txBody>
          <a:bodyPr wrap="square" lIns="27432" tIns="27432" rIns="27432" bIns="27432" anchor="t">
            <a:spAutoFit/>
          </a:bodyPr>
          <a:lstStyle/>
          <a:p>
            <a:pPr algn="l">
              <a:spcAft>
                <a:spcPts val="0"/>
              </a:spcAft>
            </a:pPr>
            <a:r>
              <a:rPr lang="en-GB" sz="1500" b="0">
                <a:solidFill>
                  <a:srgbClr val="C9D1DD"/>
                </a:solidFill>
              </a:rPr>
              <a:t>Foundations • Day 1 of 2</a:t>
            </a:r>
          </a:p>
        </p:txBody>
      </p:sp>
      <p:cxnSp>
        <p:nvCxnSpPr>
          <p:cNvPr id="6" name="Connector 5"/>
          <p:cNvCxnSpPr/>
          <p:nvPr/>
        </p:nvCxnSpPr>
        <p:spPr>
          <a:xfrm>
            <a:off x="676656" y="2578608"/>
            <a:ext cx="10616184" cy="0"/>
          </a:xfrm>
          <a:prstGeom prst="line">
            <a:avLst/>
          </a:prstGeom>
          <a:ln w="12700">
            <a:solidFill>
              <a:srgbClr val="40516A"/>
            </a:solidFill>
          </a:ln>
        </p:spPr>
        <p:style>
          <a:lnRef idx="2">
            <a:schemeClr val="accent1"/>
          </a:lnRef>
          <a:fillRef idx="0">
            <a:schemeClr val="accent1"/>
          </a:fillRef>
          <a:effectRef idx="1">
            <a:schemeClr val="accent1"/>
          </a:effectRef>
          <a:fontRef idx="minor">
            <a:schemeClr val="tx1"/>
          </a:fontRef>
        </p:style>
      </p:cxnSp>
      <p:sp>
        <p:nvSpPr>
          <p:cNvPr id="7" name="TextBox 6"/>
          <p:cNvSpPr txBox="1">
            <a:spLocks/>
          </p:cNvSpPr>
          <p:nvPr/>
        </p:nvSpPr>
        <p:spPr>
          <a:xfrm>
            <a:off x="685800" y="2889504"/>
            <a:ext cx="27432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LEARNING OBJECTIVES</a:t>
            </a:r>
          </a:p>
        </p:txBody>
      </p:sp>
      <p:sp>
        <p:nvSpPr>
          <p:cNvPr id="8" name="TextBox 7"/>
          <p:cNvSpPr txBox="1">
            <a:spLocks/>
          </p:cNvSpPr>
          <p:nvPr/>
        </p:nvSpPr>
        <p:spPr>
          <a:xfrm>
            <a:off x="685800" y="3218688"/>
            <a:ext cx="6035040" cy="2057400"/>
          </a:xfrm>
          <a:prstGeom prst="rect">
            <a:avLst/>
          </a:prstGeom>
          <a:noFill/>
        </p:spPr>
        <p:txBody>
          <a:bodyPr wrap="square" lIns="109728" tIns="73152" rIns="109728" bIns="73152" anchor="t">
            <a:spAutoFit/>
          </a:bodyPr>
          <a:lstStyle/>
          <a:p>
            <a:pPr algn="l">
              <a:lnSpc>
                <a:spcPct val="105000"/>
              </a:lnSpc>
              <a:spcAft>
                <a:spcPts val="700"/>
              </a:spcAft>
              <a:defRPr sz="1700">
                <a:solidFill>
                  <a:srgbClr val="FFFFFF"/>
                </a:solidFill>
              </a:defRPr>
            </a:pPr>
            <a:r>
              <a:rPr lang="en-GB"/>
              <a:t>• Trace SNAT/PAT, DNAT/VIP and hairpin flows in both directions</a:t>
            </a:r>
          </a:p>
          <a:p>
            <a:pPr>
              <a:lnSpc>
                <a:spcPct val="105000"/>
              </a:lnSpc>
              <a:spcAft>
                <a:spcPts val="700"/>
              </a:spcAft>
              <a:defRPr sz="1700">
                <a:solidFill>
                  <a:srgbClr val="FFFFFF"/>
                </a:solidFill>
              </a:defRPr>
            </a:pPr>
            <a:r>
              <a:rPr lang="en-GB"/>
              <a:t>• Select Traffic, Event and Security logs for the question asked</a:t>
            </a:r>
          </a:p>
          <a:p>
            <a:pPr>
              <a:lnSpc>
                <a:spcPct val="105000"/>
              </a:lnSpc>
              <a:spcAft>
                <a:spcPts val="700"/>
              </a:spcAft>
              <a:defRPr sz="1700">
                <a:solidFill>
                  <a:srgbClr val="FFFFFF"/>
                </a:solidFill>
              </a:defRPr>
            </a:pPr>
            <a:r>
              <a:rPr lang="en-GB"/>
              <a:t>• Use session, sniffer and debug-flow diagnostics safely</a:t>
            </a:r>
          </a:p>
        </p:txBody>
      </p:sp>
      <p:sp>
        <p:nvSpPr>
          <p:cNvPr id="9" name="TextBox 8"/>
          <p:cNvSpPr txBox="1">
            <a:spLocks/>
          </p:cNvSpPr>
          <p:nvPr/>
        </p:nvSpPr>
        <p:spPr>
          <a:xfrm>
            <a:off x="7315200" y="2889504"/>
            <a:ext cx="36576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PREREQUISITES + PRACTICE RESERVE</a:t>
            </a:r>
          </a:p>
        </p:txBody>
      </p:sp>
      <p:sp>
        <p:nvSpPr>
          <p:cNvPr id="10" name="TextBox 9"/>
          <p:cNvSpPr txBox="1">
            <a:spLocks/>
          </p:cNvSpPr>
          <p:nvPr/>
        </p:nvSpPr>
        <p:spPr>
          <a:xfrm>
            <a:off x="7315200" y="3218688"/>
            <a:ext cx="3886200" cy="1143000"/>
          </a:xfrm>
          <a:prstGeom prst="rect">
            <a:avLst/>
          </a:prstGeom>
          <a:noFill/>
        </p:spPr>
        <p:txBody>
          <a:bodyPr wrap="square" lIns="109728" tIns="73152" rIns="109728" bIns="73152" anchor="t">
            <a:spAutoFit/>
          </a:bodyPr>
          <a:lstStyle/>
          <a:p>
            <a:pPr algn="l">
              <a:lnSpc>
                <a:spcPct val="105000"/>
              </a:lnSpc>
              <a:spcAft>
                <a:spcPts val="600"/>
              </a:spcAft>
              <a:defRPr sz="1500">
                <a:solidFill>
                  <a:srgbClr val="FFFFFF"/>
                </a:solidFill>
              </a:defRPr>
            </a:pPr>
            <a:r>
              <a:rPr lang="en-GB"/>
              <a:t>• Routing and policy fundamentals</a:t>
            </a:r>
          </a:p>
          <a:p>
            <a:pPr>
              <a:lnSpc>
                <a:spcPct val="105000"/>
              </a:lnSpc>
              <a:spcAft>
                <a:spcPts val="600"/>
              </a:spcAft>
              <a:defRPr sz="1500">
                <a:solidFill>
                  <a:srgbClr val="FFFFFF"/>
                </a:solidFill>
              </a:defRPr>
            </a:pPr>
            <a:r>
              <a:rPr lang="en-GB"/>
              <a:t>• A test client and reachable service</a:t>
            </a:r>
          </a:p>
          <a:p>
            <a:pPr>
              <a:lnSpc>
                <a:spcPct val="105000"/>
              </a:lnSpc>
              <a:spcAft>
                <a:spcPts val="600"/>
              </a:spcAft>
              <a:defRPr sz="1500">
                <a:solidFill>
                  <a:srgbClr val="FFFFFF"/>
                </a:solidFill>
              </a:defRPr>
            </a:pPr>
            <a:r>
              <a:rPr lang="en-GB"/>
              <a:t>• Authorization to clear sessions or enable debug</a:t>
            </a:r>
          </a:p>
        </p:txBody>
      </p:sp>
      <p:sp>
        <p:nvSpPr>
          <p:cNvPr id="11" name="TextBox 10"/>
          <p:cNvSpPr txBox="1">
            <a:spLocks/>
          </p:cNvSpPr>
          <p:nvPr/>
        </p:nvSpPr>
        <p:spPr>
          <a:xfrm>
            <a:off x="7315200" y="4709160"/>
            <a:ext cx="3931920" cy="685800"/>
          </a:xfrm>
          <a:prstGeom prst="rect">
            <a:avLst/>
          </a:prstGeom>
          <a:noFill/>
        </p:spPr>
        <p:txBody>
          <a:bodyPr wrap="square" lIns="27432" tIns="27432" rIns="27432" bIns="27432" anchor="t">
            <a:spAutoFit/>
          </a:bodyPr>
          <a:lstStyle/>
          <a:p>
            <a:pPr algn="l">
              <a:spcAft>
                <a:spcPts val="0"/>
              </a:spcAft>
            </a:pPr>
            <a:r>
              <a:rPr lang="en-GB" sz="1600" b="1">
                <a:solidFill>
                  <a:srgbClr val="D8E0EA"/>
                </a:solidFill>
              </a:rPr>
              <a:t>Teach ~56 min • reserve ~34 min for guided activity, discussion and debrief</a:t>
            </a:r>
          </a:p>
        </p:txBody>
      </p:sp>
      <p:sp>
        <p:nvSpPr>
          <p:cNvPr id="12" name="TextBox 11"/>
          <p:cNvSpPr txBox="1">
            <a:spLocks/>
          </p:cNvSpPr>
          <p:nvPr/>
        </p:nvSpPr>
        <p:spPr>
          <a:xfrm>
            <a:off x="10424160" y="5715000"/>
            <a:ext cx="731520" cy="363176"/>
          </a:xfrm>
          <a:prstGeom prst="rect">
            <a:avLst/>
          </a:prstGeom>
          <a:noFill/>
        </p:spPr>
        <p:txBody>
          <a:bodyPr wrap="square" lIns="27432" tIns="27432" rIns="27432" bIns="27432" anchor="t">
            <a:spAutoFit/>
          </a:bodyPr>
          <a:lstStyle/>
          <a:p>
            <a:pPr algn="r">
              <a:spcAft>
                <a:spcPts val="0"/>
              </a:spcAft>
            </a:pPr>
            <a:r>
              <a:rPr lang="en-HU" sz="2000" b="1">
                <a:solidFill>
                  <a:srgbClr val="E60012"/>
                </a:solidFill>
              </a:rPr>
              <a:t>038</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p:nvPr/>
        </p:nvSpPr>
        <p:spPr>
          <a:xfrm>
            <a:off x="502920" y="411480"/>
            <a:ext cx="548640" cy="189283"/>
          </a:xfrm>
          <a:prstGeom prst="rect">
            <a:avLst/>
          </a:prstGeom>
          <a:noFill/>
        </p:spPr>
        <p:txBody>
          <a:bodyPr wrap="square" lIns="36576" tIns="36576" rIns="36576" bIns="36576" anchor="t">
            <a:spAutoFit/>
          </a:bodyPr>
          <a:lstStyle/>
          <a:p>
            <a:pPr algn="l">
              <a:spcAft>
                <a:spcPts val="0"/>
              </a:spcAft>
            </a:pPr>
            <a:r>
              <a:rPr lang="en-HU" sz="750" b="1">
                <a:solidFill>
                  <a:srgbClr val="687385"/>
                </a:solidFill>
              </a:rPr>
              <a:t>039</a:t>
            </a:r>
            <a:endParaRPr sz="750" b="1">
              <a:solidFill>
                <a:srgbClr val="687385"/>
              </a:solidFill>
            </a:endParaRPr>
          </a:p>
        </p:txBody>
      </p:sp>
      <p:sp>
        <p:nvSpPr>
          <p:cNvPr id="4" name="TextBox 3"/>
          <p:cNvSpPr txBox="1"/>
          <p:nvPr/>
        </p:nvSpPr>
        <p:spPr>
          <a:xfrm>
            <a:off x="502920" y="621792"/>
            <a:ext cx="11109960" cy="548640"/>
          </a:xfrm>
          <a:prstGeom prst="rect">
            <a:avLst/>
          </a:prstGeom>
          <a:noFill/>
        </p:spPr>
        <p:txBody>
          <a:bodyPr wrap="square" lIns="36576" tIns="36576" rIns="36576" bIns="36576" anchor="t">
            <a:spAutoFit/>
          </a:bodyPr>
          <a:lstStyle/>
          <a:p>
            <a:pPr algn="l">
              <a:spcAft>
                <a:spcPts val="0"/>
              </a:spcAft>
            </a:pPr>
            <a:r>
              <a:rPr sz="2600" b="1">
                <a:solidFill>
                  <a:srgbClr val="1E2B40"/>
                </a:solidFill>
              </a:rPr>
              <a:t>SNAT/PAT changes the source tuple—and reverses it for the reply</a:t>
            </a:r>
          </a:p>
        </p:txBody>
      </p:sp>
      <p:sp>
        <p:nvSpPr>
          <p:cNvPr id="5" name="TextBox 4"/>
          <p:cNvSpPr txBox="1"/>
          <p:nvPr/>
        </p:nvSpPr>
        <p:spPr>
          <a:xfrm>
            <a:off x="521207" y="1143000"/>
            <a:ext cx="10789920" cy="274320"/>
          </a:xfrm>
          <a:prstGeom prst="rect">
            <a:avLst/>
          </a:prstGeom>
          <a:noFill/>
        </p:spPr>
        <p:txBody>
          <a:bodyPr wrap="square" lIns="36576" tIns="36576" rIns="36576" bIns="36576" anchor="t">
            <a:spAutoFit/>
          </a:bodyPr>
          <a:lstStyle/>
          <a:p>
            <a:pPr algn="l">
              <a:spcAft>
                <a:spcPts val="0"/>
              </a:spcAft>
            </a:pPr>
            <a:r>
              <a:rPr sz="1100" b="0">
                <a:solidFill>
                  <a:srgbClr val="687385"/>
                </a:solidFill>
              </a:rPr>
              <a:t>Illustrative outbound HTTPS session</a:t>
            </a:r>
          </a:p>
        </p:txBody>
      </p:sp>
      <p:cxnSp>
        <p:nvCxnSpPr>
          <p:cNvPr id="6" name="Connector 5"/>
          <p:cNvCxnSpPr/>
          <p:nvPr/>
        </p:nvCxnSpPr>
        <p:spPr>
          <a:xfrm>
            <a:off x="502920" y="6473952"/>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7" name="TextBox 6"/>
          <p:cNvSpPr txBox="1">
            <a:spLocks/>
          </p:cNvSpPr>
          <p:nvPr/>
        </p:nvSpPr>
        <p:spPr>
          <a:xfrm>
            <a:off x="11109960" y="6537960"/>
            <a:ext cx="502920" cy="189283"/>
          </a:xfrm>
          <a:prstGeom prst="rect">
            <a:avLst/>
          </a:prstGeom>
          <a:noFill/>
        </p:spPr>
        <p:txBody>
          <a:bodyPr wrap="square" lIns="36576" tIns="36576" rIns="36576" bIns="36576" anchor="t">
            <a:spAutoFit/>
          </a:bodyPr>
          <a:lstStyle/>
          <a:p>
            <a:pPr algn="r">
              <a:spcAft>
                <a:spcPts val="0"/>
              </a:spcAft>
            </a:pPr>
            <a:r>
              <a:rPr lang="en-HU" sz="750" b="0">
                <a:solidFill>
                  <a:srgbClr val="687385"/>
                </a:solidFill>
              </a:rPr>
              <a:t>39</a:t>
            </a:r>
          </a:p>
        </p:txBody>
      </p:sp>
      <p:sp>
        <p:nvSpPr>
          <p:cNvPr id="8" name="Rectangle 7"/>
          <p:cNvSpPr>
            <a:spLocks/>
          </p:cNvSpPr>
          <p:nvPr/>
        </p:nvSpPr>
        <p:spPr>
          <a:xfrm>
            <a:off x="594360" y="1920240"/>
            <a:ext cx="2011680" cy="9144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9" name="TextBox 8"/>
          <p:cNvSpPr txBox="1">
            <a:spLocks/>
          </p:cNvSpPr>
          <p:nvPr/>
        </p:nvSpPr>
        <p:spPr>
          <a:xfrm>
            <a:off x="667512" y="2039112"/>
            <a:ext cx="1865376" cy="304699"/>
          </a:xfrm>
          <a:prstGeom prst="rect">
            <a:avLst/>
          </a:prstGeom>
          <a:noFill/>
        </p:spPr>
        <p:txBody>
          <a:bodyPr wrap="square" lIns="36576" tIns="36576" rIns="36576" bIns="36576" anchor="t">
            <a:spAutoFit/>
          </a:bodyPr>
          <a:lstStyle/>
          <a:p>
            <a:pPr algn="ctr">
              <a:spcAft>
                <a:spcPts val="0"/>
              </a:spcAft>
            </a:pPr>
            <a:r>
              <a:rPr lang="en-GB" sz="1500" b="1">
                <a:solidFill>
                  <a:srgbClr val="FFFFFF"/>
                </a:solidFill>
              </a:rPr>
              <a:t>CLIENT</a:t>
            </a:r>
          </a:p>
        </p:txBody>
      </p:sp>
      <p:sp>
        <p:nvSpPr>
          <p:cNvPr id="10" name="TextBox 9"/>
          <p:cNvSpPr txBox="1">
            <a:spLocks/>
          </p:cNvSpPr>
          <p:nvPr/>
        </p:nvSpPr>
        <p:spPr>
          <a:xfrm>
            <a:off x="667512" y="2395728"/>
            <a:ext cx="1865376" cy="227755"/>
          </a:xfrm>
          <a:prstGeom prst="rect">
            <a:avLst/>
          </a:prstGeom>
          <a:noFill/>
        </p:spPr>
        <p:txBody>
          <a:bodyPr wrap="square" lIns="36576" tIns="36576" rIns="36576" bIns="36576" anchor="t">
            <a:spAutoFit/>
          </a:bodyPr>
          <a:lstStyle/>
          <a:p>
            <a:pPr algn="ctr">
              <a:spcAft>
                <a:spcPts val="0"/>
              </a:spcAft>
            </a:pPr>
            <a:r>
              <a:rPr lang="en-HU" sz="1000" b="0">
                <a:solidFill>
                  <a:srgbClr val="D8E0EA"/>
                </a:solidFill>
              </a:rPr>
              <a:t>10.1.10.10:51514</a:t>
            </a:r>
          </a:p>
        </p:txBody>
      </p:sp>
      <p:sp>
        <p:nvSpPr>
          <p:cNvPr id="11" name="Right Arrow 10"/>
          <p:cNvSpPr>
            <a:spLocks/>
          </p:cNvSpPr>
          <p:nvPr/>
        </p:nvSpPr>
        <p:spPr>
          <a:xfrm>
            <a:off x="2651760" y="2267712"/>
            <a:ext cx="960120" cy="201168"/>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2" name="TextBox 11"/>
          <p:cNvSpPr txBox="1">
            <a:spLocks/>
          </p:cNvSpPr>
          <p:nvPr/>
        </p:nvSpPr>
        <p:spPr>
          <a:xfrm>
            <a:off x="2651760" y="2011680"/>
            <a:ext cx="960120" cy="212366"/>
          </a:xfrm>
          <a:prstGeom prst="rect">
            <a:avLst/>
          </a:prstGeom>
          <a:noFill/>
        </p:spPr>
        <p:txBody>
          <a:bodyPr wrap="square" lIns="36576" tIns="36576" rIns="36576" bIns="36576" anchor="t">
            <a:spAutoFit/>
          </a:bodyPr>
          <a:lstStyle/>
          <a:p>
            <a:pPr algn="ctr">
              <a:spcAft>
                <a:spcPts val="0"/>
              </a:spcAft>
            </a:pPr>
            <a:r>
              <a:rPr lang="en-GB" sz="900" b="1">
                <a:solidFill>
                  <a:srgbClr val="687385"/>
                </a:solidFill>
              </a:rPr>
              <a:t>original</a:t>
            </a:r>
          </a:p>
        </p:txBody>
      </p:sp>
      <p:sp>
        <p:nvSpPr>
          <p:cNvPr id="13" name="Rectangle 12"/>
          <p:cNvSpPr/>
          <p:nvPr/>
        </p:nvSpPr>
        <p:spPr>
          <a:xfrm>
            <a:off x="3657600" y="1783080"/>
            <a:ext cx="2057400" cy="118872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a:spLocks/>
          </p:cNvSpPr>
          <p:nvPr/>
        </p:nvSpPr>
        <p:spPr>
          <a:xfrm>
            <a:off x="3730752" y="1901952"/>
            <a:ext cx="1911095" cy="274320"/>
          </a:xfrm>
          <a:prstGeom prst="rect">
            <a:avLst/>
          </a:prstGeom>
          <a:noFill/>
        </p:spPr>
        <p:txBody>
          <a:bodyPr wrap="square" lIns="36576" tIns="36576" rIns="36576" bIns="36576" anchor="t">
            <a:spAutoFit/>
          </a:bodyPr>
          <a:lstStyle/>
          <a:p>
            <a:pPr algn="ctr">
              <a:spcAft>
                <a:spcPts val="0"/>
              </a:spcAft>
            </a:pPr>
            <a:r>
              <a:rPr lang="en-GB" sz="1500" b="1">
                <a:solidFill>
                  <a:srgbClr val="FFFFFF"/>
                </a:solidFill>
              </a:rPr>
              <a:t>FORTIGATE</a:t>
            </a:r>
          </a:p>
        </p:txBody>
      </p:sp>
      <p:sp>
        <p:nvSpPr>
          <p:cNvPr id="15" name="TextBox 14"/>
          <p:cNvSpPr txBox="1">
            <a:spLocks/>
          </p:cNvSpPr>
          <p:nvPr/>
        </p:nvSpPr>
        <p:spPr>
          <a:xfrm>
            <a:off x="3730752" y="2258568"/>
            <a:ext cx="1911095" cy="227755"/>
          </a:xfrm>
          <a:prstGeom prst="rect">
            <a:avLst/>
          </a:prstGeom>
          <a:noFill/>
        </p:spPr>
        <p:txBody>
          <a:bodyPr wrap="square" lIns="36576" tIns="36576" rIns="36576" bIns="36576" anchor="t">
            <a:spAutoFit/>
          </a:bodyPr>
          <a:lstStyle/>
          <a:p>
            <a:pPr algn="ctr">
              <a:spcAft>
                <a:spcPts val="0"/>
              </a:spcAft>
            </a:pPr>
            <a:r>
              <a:rPr lang="en-GB" sz="1000" b="0">
                <a:solidFill>
                  <a:srgbClr val="D8E0EA"/>
                </a:solidFill>
              </a:rPr>
              <a:t>SNAT/PAT session</a:t>
            </a:r>
          </a:p>
        </p:txBody>
      </p:sp>
      <p:sp>
        <p:nvSpPr>
          <p:cNvPr id="16" name="Right Arrow 15"/>
          <p:cNvSpPr>
            <a:spLocks/>
          </p:cNvSpPr>
          <p:nvPr/>
        </p:nvSpPr>
        <p:spPr>
          <a:xfrm>
            <a:off x="5760720" y="2267712"/>
            <a:ext cx="960120" cy="201168"/>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7" name="TextBox 16"/>
          <p:cNvSpPr txBox="1"/>
          <p:nvPr/>
        </p:nvSpPr>
        <p:spPr>
          <a:xfrm>
            <a:off x="5760720" y="2011680"/>
            <a:ext cx="960120" cy="228600"/>
          </a:xfrm>
          <a:prstGeom prst="rect">
            <a:avLst/>
          </a:prstGeom>
          <a:noFill/>
        </p:spPr>
        <p:txBody>
          <a:bodyPr wrap="square" lIns="36576" tIns="36576" rIns="36576" bIns="36576" anchor="t">
            <a:spAutoFit/>
          </a:bodyPr>
          <a:lstStyle/>
          <a:p>
            <a:pPr algn="ctr">
              <a:spcAft>
                <a:spcPts val="0"/>
              </a:spcAft>
            </a:pPr>
            <a:r>
              <a:rPr sz="900" b="1">
                <a:solidFill>
                  <a:srgbClr val="687385"/>
                </a:solidFill>
              </a:rPr>
              <a:t>translated</a:t>
            </a:r>
          </a:p>
        </p:txBody>
      </p:sp>
      <p:sp>
        <p:nvSpPr>
          <p:cNvPr id="18" name="Rectangle 17"/>
          <p:cNvSpPr/>
          <p:nvPr/>
        </p:nvSpPr>
        <p:spPr>
          <a:xfrm>
            <a:off x="6766560" y="1920240"/>
            <a:ext cx="2011680" cy="9144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9" name="TextBox 18"/>
          <p:cNvSpPr txBox="1">
            <a:spLocks/>
          </p:cNvSpPr>
          <p:nvPr/>
        </p:nvSpPr>
        <p:spPr>
          <a:xfrm>
            <a:off x="6839712" y="2039112"/>
            <a:ext cx="1865376" cy="304699"/>
          </a:xfrm>
          <a:prstGeom prst="rect">
            <a:avLst/>
          </a:prstGeom>
          <a:noFill/>
        </p:spPr>
        <p:txBody>
          <a:bodyPr wrap="square" lIns="36576" tIns="36576" rIns="36576" bIns="36576" anchor="t">
            <a:spAutoFit/>
          </a:bodyPr>
          <a:lstStyle/>
          <a:p>
            <a:pPr algn="ctr">
              <a:spcAft>
                <a:spcPts val="0"/>
              </a:spcAft>
            </a:pPr>
            <a:r>
              <a:rPr lang="en-GB" sz="1500" b="1">
                <a:solidFill>
                  <a:srgbClr val="FFFFFF"/>
                </a:solidFill>
              </a:rPr>
              <a:t>SERVER</a:t>
            </a:r>
          </a:p>
        </p:txBody>
      </p:sp>
      <p:sp>
        <p:nvSpPr>
          <p:cNvPr id="20" name="TextBox 19"/>
          <p:cNvSpPr txBox="1">
            <a:spLocks/>
          </p:cNvSpPr>
          <p:nvPr/>
        </p:nvSpPr>
        <p:spPr>
          <a:xfrm>
            <a:off x="6839712" y="2395728"/>
            <a:ext cx="1865376" cy="227755"/>
          </a:xfrm>
          <a:prstGeom prst="rect">
            <a:avLst/>
          </a:prstGeom>
          <a:noFill/>
        </p:spPr>
        <p:txBody>
          <a:bodyPr wrap="square" lIns="36576" tIns="36576" rIns="36576" bIns="36576" anchor="t">
            <a:spAutoFit/>
          </a:bodyPr>
          <a:lstStyle/>
          <a:p>
            <a:pPr algn="ctr">
              <a:spcAft>
                <a:spcPts val="0"/>
              </a:spcAft>
            </a:pPr>
            <a:r>
              <a:rPr lang="en-HU" sz="1000" b="0">
                <a:solidFill>
                  <a:srgbClr val="D8E0EA"/>
                </a:solidFill>
              </a:rPr>
              <a:t>203.0.113.80:443</a:t>
            </a:r>
          </a:p>
        </p:txBody>
      </p:sp>
      <p:sp>
        <p:nvSpPr>
          <p:cNvPr id="21" name="TextBox 20"/>
          <p:cNvSpPr txBox="1"/>
          <p:nvPr/>
        </p:nvSpPr>
        <p:spPr>
          <a:xfrm>
            <a:off x="9281160" y="1847088"/>
            <a:ext cx="1280160" cy="201168"/>
          </a:xfrm>
          <a:prstGeom prst="rect">
            <a:avLst/>
          </a:prstGeom>
          <a:noFill/>
        </p:spPr>
        <p:txBody>
          <a:bodyPr wrap="square" lIns="36576" tIns="36576" rIns="36576" bIns="36576" anchor="t">
            <a:spAutoFit/>
          </a:bodyPr>
          <a:lstStyle/>
          <a:p>
            <a:pPr algn="l">
              <a:spcAft>
                <a:spcPts val="0"/>
              </a:spcAft>
            </a:pPr>
            <a:r>
              <a:rPr sz="1000" b="1">
                <a:solidFill>
                  <a:srgbClr val="E60012"/>
                </a:solidFill>
              </a:rPr>
              <a:t>OUTBOUND</a:t>
            </a:r>
          </a:p>
        </p:txBody>
      </p:sp>
      <p:sp>
        <p:nvSpPr>
          <p:cNvPr id="22" name="TextBox 21"/>
          <p:cNvSpPr txBox="1">
            <a:spLocks/>
          </p:cNvSpPr>
          <p:nvPr/>
        </p:nvSpPr>
        <p:spPr>
          <a:xfrm>
            <a:off x="9052560" y="2103120"/>
            <a:ext cx="2286000" cy="504754"/>
          </a:xfrm>
          <a:prstGeom prst="rect">
            <a:avLst/>
          </a:prstGeom>
          <a:noFill/>
        </p:spPr>
        <p:txBody>
          <a:bodyPr wrap="square" lIns="36576" tIns="36576" rIns="36576" bIns="36576" anchor="t">
            <a:spAutoFit/>
          </a:bodyPr>
          <a:lstStyle/>
          <a:p>
            <a:pPr algn="l">
              <a:spcAft>
                <a:spcPts val="0"/>
              </a:spcAft>
            </a:pPr>
            <a:r>
              <a:rPr lang="en-HU" sz="1400" b="1">
                <a:solidFill>
                  <a:srgbClr val="233A59"/>
                </a:solidFill>
              </a:rPr>
              <a:t>10.1.10.10:51514
→ 203.0.113.80:443</a:t>
            </a:r>
          </a:p>
        </p:txBody>
      </p:sp>
      <p:sp>
        <p:nvSpPr>
          <p:cNvPr id="23" name="TextBox 22"/>
          <p:cNvSpPr txBox="1"/>
          <p:nvPr/>
        </p:nvSpPr>
        <p:spPr>
          <a:xfrm>
            <a:off x="9281160" y="3063240"/>
            <a:ext cx="1280160" cy="227755"/>
          </a:xfrm>
          <a:prstGeom prst="rect">
            <a:avLst/>
          </a:prstGeom>
          <a:noFill/>
        </p:spPr>
        <p:txBody>
          <a:bodyPr wrap="square" lIns="36576" tIns="36576" rIns="36576" bIns="36576" anchor="t">
            <a:spAutoFit/>
          </a:bodyPr>
          <a:lstStyle/>
          <a:p>
            <a:pPr algn="l">
              <a:spcAft>
                <a:spcPts val="0"/>
              </a:spcAft>
            </a:pPr>
            <a:r>
              <a:rPr lang="en-GB" sz="1000" b="1">
                <a:solidFill>
                  <a:srgbClr val="E60012"/>
                </a:solidFill>
              </a:rPr>
              <a:t>WIRE TUPLE</a:t>
            </a:r>
          </a:p>
        </p:txBody>
      </p:sp>
      <p:sp>
        <p:nvSpPr>
          <p:cNvPr id="24" name="TextBox 23"/>
          <p:cNvSpPr txBox="1"/>
          <p:nvPr/>
        </p:nvSpPr>
        <p:spPr>
          <a:xfrm>
            <a:off x="9052560" y="3319272"/>
            <a:ext cx="2286000" cy="504754"/>
          </a:xfrm>
          <a:prstGeom prst="rect">
            <a:avLst/>
          </a:prstGeom>
          <a:noFill/>
        </p:spPr>
        <p:txBody>
          <a:bodyPr wrap="square" lIns="36576" tIns="36576" rIns="36576" bIns="36576" anchor="t">
            <a:spAutoFit/>
          </a:bodyPr>
          <a:lstStyle/>
          <a:p>
            <a:pPr algn="l">
              <a:spcAft>
                <a:spcPts val="0"/>
              </a:spcAft>
            </a:pPr>
            <a:r>
              <a:rPr lang="en-HU" sz="1400" b="1">
                <a:solidFill>
                  <a:srgbClr val="233A59"/>
                </a:solidFill>
              </a:rPr>
              <a:t>198.51.100.2:62001
→ 203.0.113.80:443</a:t>
            </a:r>
          </a:p>
        </p:txBody>
      </p:sp>
      <p:sp>
        <p:nvSpPr>
          <p:cNvPr id="25" name="Left Arrow 24"/>
          <p:cNvSpPr/>
          <p:nvPr/>
        </p:nvSpPr>
        <p:spPr>
          <a:xfrm>
            <a:off x="6766560" y="4370832"/>
            <a:ext cx="5074920" cy="237744"/>
          </a:xfrm>
          <a:prstGeom prst="leftArrow">
            <a:avLst/>
          </a:prstGeom>
          <a:solidFill>
            <a:srgbClr val="1676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a:spLocks/>
          </p:cNvSpPr>
          <p:nvPr/>
        </p:nvSpPr>
        <p:spPr>
          <a:xfrm>
            <a:off x="1828800" y="4709160"/>
            <a:ext cx="8595360" cy="273921"/>
          </a:xfrm>
          <a:prstGeom prst="rect">
            <a:avLst/>
          </a:prstGeom>
          <a:noFill/>
        </p:spPr>
        <p:txBody>
          <a:bodyPr wrap="square" lIns="36576" tIns="36576" rIns="36576" bIns="36576" anchor="t">
            <a:spAutoFit/>
          </a:bodyPr>
          <a:lstStyle/>
          <a:p>
            <a:pPr algn="ctr">
              <a:spcAft>
                <a:spcPts val="0"/>
              </a:spcAft>
            </a:pPr>
            <a:r>
              <a:rPr lang="en-GB" sz="1300" b="1">
                <a:solidFill>
                  <a:srgbClr val="233A59"/>
                </a:solidFill>
              </a:rPr>
              <a:t>REPLY: 203.0.113.80:443 → 198.51.100.2:62001 • FortiGate reverses to 10.1.10.10:51514</a:t>
            </a:r>
          </a:p>
        </p:txBody>
      </p:sp>
      <p:sp>
        <p:nvSpPr>
          <p:cNvPr id="27" name="TextBox 26"/>
          <p:cNvSpPr txBox="1"/>
          <p:nvPr/>
        </p:nvSpPr>
        <p:spPr>
          <a:xfrm>
            <a:off x="658368" y="5833872"/>
            <a:ext cx="731520" cy="227755"/>
          </a:xfrm>
          <a:prstGeom prst="rect">
            <a:avLst/>
          </a:prstGeom>
          <a:noFill/>
        </p:spPr>
        <p:txBody>
          <a:bodyPr wrap="square" lIns="36576" tIns="36576" rIns="36576" bIns="36576" anchor="t">
            <a:spAutoFit/>
          </a:bodyPr>
          <a:lstStyle/>
          <a:p>
            <a:pPr algn="l">
              <a:spcAft>
                <a:spcPts val="0"/>
              </a:spcAft>
            </a:pPr>
            <a:r>
              <a:rPr lang="en-GB" sz="1000" b="1">
                <a:solidFill>
                  <a:srgbClr val="E60012"/>
                </a:solidFill>
              </a:rPr>
              <a:t>LESSON</a:t>
            </a:r>
          </a:p>
        </p:txBody>
      </p:sp>
      <p:sp>
        <p:nvSpPr>
          <p:cNvPr id="28" name="TextBox 27"/>
          <p:cNvSpPr txBox="1"/>
          <p:nvPr/>
        </p:nvSpPr>
        <p:spPr>
          <a:xfrm>
            <a:off x="1417320" y="5769864"/>
            <a:ext cx="9875520" cy="273921"/>
          </a:xfrm>
          <a:prstGeom prst="rect">
            <a:avLst/>
          </a:prstGeom>
          <a:noFill/>
        </p:spPr>
        <p:txBody>
          <a:bodyPr wrap="square" lIns="36576" tIns="36576" rIns="36576" bIns="36576" anchor="t">
            <a:spAutoFit/>
          </a:bodyPr>
          <a:lstStyle/>
          <a:p>
            <a:pPr algn="l">
              <a:spcAft>
                <a:spcPts val="0"/>
              </a:spcAft>
            </a:pPr>
            <a:r>
              <a:rPr lang="en-GB" sz="1300" b="1">
                <a:solidFill>
                  <a:srgbClr val="233A59"/>
                </a:solidFill>
              </a:rPr>
              <a:t>Record both directions: NAT succeeds only when the return packet matches the translated reply tuple.</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p:nvPr/>
        </p:nvSpPr>
        <p:spPr>
          <a:xfrm>
            <a:off x="502920" y="411480"/>
            <a:ext cx="548640" cy="189283"/>
          </a:xfrm>
          <a:prstGeom prst="rect">
            <a:avLst/>
          </a:prstGeom>
          <a:noFill/>
        </p:spPr>
        <p:txBody>
          <a:bodyPr wrap="square" lIns="36576" tIns="36576" rIns="36576" bIns="36576" anchor="t">
            <a:spAutoFit/>
          </a:bodyPr>
          <a:lstStyle/>
          <a:p>
            <a:pPr algn="l">
              <a:spcAft>
                <a:spcPts val="0"/>
              </a:spcAft>
            </a:pPr>
            <a:r>
              <a:rPr lang="en-HU" sz="750" b="1">
                <a:solidFill>
                  <a:srgbClr val="687385"/>
                </a:solidFill>
              </a:rPr>
              <a:t>040</a:t>
            </a:r>
            <a:endParaRPr sz="750" b="1">
              <a:solidFill>
                <a:srgbClr val="687385"/>
              </a:solidFill>
            </a:endParaRPr>
          </a:p>
        </p:txBody>
      </p:sp>
      <p:sp>
        <p:nvSpPr>
          <p:cNvPr id="4" name="TextBox 3"/>
          <p:cNvSpPr txBox="1"/>
          <p:nvPr/>
        </p:nvSpPr>
        <p:spPr>
          <a:xfrm>
            <a:off x="502920" y="621792"/>
            <a:ext cx="11109960" cy="548640"/>
          </a:xfrm>
          <a:prstGeom prst="rect">
            <a:avLst/>
          </a:prstGeom>
          <a:noFill/>
        </p:spPr>
        <p:txBody>
          <a:bodyPr wrap="square" lIns="36576" tIns="36576" rIns="36576" bIns="36576" anchor="t">
            <a:spAutoFit/>
          </a:bodyPr>
          <a:lstStyle/>
          <a:p>
            <a:pPr algn="l">
              <a:spcAft>
                <a:spcPts val="0"/>
              </a:spcAft>
            </a:pPr>
            <a:r>
              <a:rPr sz="2600" b="1">
                <a:solidFill>
                  <a:srgbClr val="1E2B40"/>
                </a:solidFill>
              </a:rPr>
              <a:t>A VIP translates the published destination before forwarding</a:t>
            </a:r>
          </a:p>
        </p:txBody>
      </p:sp>
      <p:sp>
        <p:nvSpPr>
          <p:cNvPr id="5" name="TextBox 4"/>
          <p:cNvSpPr txBox="1"/>
          <p:nvPr/>
        </p:nvSpPr>
        <p:spPr>
          <a:xfrm>
            <a:off x="521207" y="1143000"/>
            <a:ext cx="10789920" cy="243143"/>
          </a:xfrm>
          <a:prstGeom prst="rect">
            <a:avLst/>
          </a:prstGeom>
          <a:noFill/>
        </p:spPr>
        <p:txBody>
          <a:bodyPr wrap="square" lIns="36576" tIns="36576" rIns="36576" bIns="36576" anchor="t">
            <a:spAutoFit/>
          </a:bodyPr>
          <a:lstStyle/>
          <a:p>
            <a:pPr algn="l">
              <a:spcAft>
                <a:spcPts val="0"/>
              </a:spcAft>
            </a:pPr>
            <a:r>
              <a:rPr lang="en-GB" sz="1100" b="0">
                <a:solidFill>
                  <a:srgbClr val="687385"/>
                </a:solidFill>
              </a:rPr>
              <a:t>Conceptual example — publication flow; endpoint host addresses are placeholders</a:t>
            </a:r>
            <a:endParaRPr sz="1100" b="0">
              <a:solidFill>
                <a:srgbClr val="687385"/>
              </a:solidFill>
            </a:endParaRPr>
          </a:p>
        </p:txBody>
      </p:sp>
      <p:cxnSp>
        <p:nvCxnSpPr>
          <p:cNvPr id="6" name="Connector 5"/>
          <p:cNvCxnSpPr/>
          <p:nvPr/>
        </p:nvCxnSpPr>
        <p:spPr>
          <a:xfrm>
            <a:off x="502920" y="6473952"/>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7" name="TextBox 6"/>
          <p:cNvSpPr txBox="1">
            <a:spLocks/>
          </p:cNvSpPr>
          <p:nvPr/>
        </p:nvSpPr>
        <p:spPr>
          <a:xfrm>
            <a:off x="11109960" y="6537960"/>
            <a:ext cx="502920" cy="189283"/>
          </a:xfrm>
          <a:prstGeom prst="rect">
            <a:avLst/>
          </a:prstGeom>
          <a:noFill/>
        </p:spPr>
        <p:txBody>
          <a:bodyPr wrap="square" lIns="36576" tIns="36576" rIns="36576" bIns="36576" anchor="t">
            <a:spAutoFit/>
          </a:bodyPr>
          <a:lstStyle/>
          <a:p>
            <a:pPr algn="r">
              <a:spcAft>
                <a:spcPts val="0"/>
              </a:spcAft>
            </a:pPr>
            <a:r>
              <a:rPr lang="en-HU" sz="750" b="0">
                <a:solidFill>
                  <a:srgbClr val="687385"/>
                </a:solidFill>
              </a:rPr>
              <a:t>40</a:t>
            </a:r>
          </a:p>
        </p:txBody>
      </p:sp>
      <p:sp>
        <p:nvSpPr>
          <p:cNvPr id="8" name="Rectangle 7"/>
          <p:cNvSpPr>
            <a:spLocks/>
          </p:cNvSpPr>
          <p:nvPr/>
        </p:nvSpPr>
        <p:spPr>
          <a:xfrm>
            <a:off x="594360" y="1965960"/>
            <a:ext cx="2103120" cy="9144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9" name="TextBox 8"/>
          <p:cNvSpPr txBox="1">
            <a:spLocks/>
          </p:cNvSpPr>
          <p:nvPr/>
        </p:nvSpPr>
        <p:spPr>
          <a:xfrm>
            <a:off x="667512" y="2084831"/>
            <a:ext cx="1956815" cy="304699"/>
          </a:xfrm>
          <a:prstGeom prst="rect">
            <a:avLst/>
          </a:prstGeom>
          <a:noFill/>
        </p:spPr>
        <p:txBody>
          <a:bodyPr wrap="square" lIns="36576" tIns="36576" rIns="36576" bIns="36576" anchor="t">
            <a:spAutoFit/>
          </a:bodyPr>
          <a:lstStyle/>
          <a:p>
            <a:pPr algn="ctr">
              <a:spcAft>
                <a:spcPts val="0"/>
              </a:spcAft>
            </a:pPr>
            <a:r>
              <a:rPr lang="en-GB" sz="1500" b="1">
                <a:solidFill>
                  <a:srgbClr val="FFFFFF"/>
                </a:solidFill>
              </a:rPr>
              <a:t>EXTERNAL CLIENT</a:t>
            </a:r>
          </a:p>
        </p:txBody>
      </p:sp>
      <p:sp>
        <p:nvSpPr>
          <p:cNvPr id="10" name="TextBox 9"/>
          <p:cNvSpPr txBox="1">
            <a:spLocks/>
          </p:cNvSpPr>
          <p:nvPr/>
        </p:nvSpPr>
        <p:spPr>
          <a:xfrm>
            <a:off x="667512" y="2441448"/>
            <a:ext cx="1956815" cy="227755"/>
          </a:xfrm>
          <a:prstGeom prst="rect">
            <a:avLst/>
          </a:prstGeom>
          <a:noFill/>
        </p:spPr>
        <p:txBody>
          <a:bodyPr wrap="square" lIns="36576" tIns="36576" rIns="36576" bIns="36576" anchor="t">
            <a:spAutoFit/>
          </a:bodyPr>
          <a:lstStyle/>
          <a:p>
            <a:pPr algn="ctr">
              <a:spcAft>
                <a:spcPts val="0"/>
              </a:spcAft>
            </a:pPr>
            <a:r>
              <a:rPr lang="en-HU" sz="1000" b="0">
                <a:solidFill>
                  <a:srgbClr val="D8E0EA"/>
                </a:solidFill>
              </a:rPr>
              <a:t>&lt;external client IP&gt;:53000</a:t>
            </a:r>
          </a:p>
        </p:txBody>
      </p:sp>
      <p:sp>
        <p:nvSpPr>
          <p:cNvPr id="11" name="Right Arrow 10"/>
          <p:cNvSpPr>
            <a:spLocks/>
          </p:cNvSpPr>
          <p:nvPr/>
        </p:nvSpPr>
        <p:spPr>
          <a:xfrm>
            <a:off x="2743200" y="2313432"/>
            <a:ext cx="960120" cy="201168"/>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2" name="TextBox 11"/>
          <p:cNvSpPr txBox="1"/>
          <p:nvPr/>
        </p:nvSpPr>
        <p:spPr>
          <a:xfrm>
            <a:off x="2743200" y="2057400"/>
            <a:ext cx="960120" cy="228600"/>
          </a:xfrm>
          <a:prstGeom prst="rect">
            <a:avLst/>
          </a:prstGeom>
          <a:noFill/>
        </p:spPr>
        <p:txBody>
          <a:bodyPr wrap="square" lIns="36576" tIns="36576" rIns="36576" bIns="36576" anchor="t">
            <a:spAutoFit/>
          </a:bodyPr>
          <a:lstStyle/>
          <a:p>
            <a:pPr algn="ctr">
              <a:spcAft>
                <a:spcPts val="0"/>
              </a:spcAft>
            </a:pPr>
            <a:r>
              <a:rPr sz="900" b="1">
                <a:solidFill>
                  <a:srgbClr val="687385"/>
                </a:solidFill>
              </a:rPr>
              <a:t>public tuple</a:t>
            </a:r>
          </a:p>
        </p:txBody>
      </p:sp>
      <p:sp>
        <p:nvSpPr>
          <p:cNvPr id="13" name="Rectangle 12"/>
          <p:cNvSpPr/>
          <p:nvPr/>
        </p:nvSpPr>
        <p:spPr>
          <a:xfrm>
            <a:off x="3749039" y="1783080"/>
            <a:ext cx="2423160" cy="123444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4" name="TextBox 13"/>
          <p:cNvSpPr txBox="1">
            <a:spLocks/>
          </p:cNvSpPr>
          <p:nvPr/>
        </p:nvSpPr>
        <p:spPr>
          <a:xfrm>
            <a:off x="3822191" y="1901952"/>
            <a:ext cx="2276856" cy="304699"/>
          </a:xfrm>
          <a:prstGeom prst="rect">
            <a:avLst/>
          </a:prstGeom>
          <a:noFill/>
        </p:spPr>
        <p:txBody>
          <a:bodyPr wrap="square" lIns="36576" tIns="36576" rIns="36576" bIns="36576" anchor="t">
            <a:spAutoFit/>
          </a:bodyPr>
          <a:lstStyle/>
          <a:p>
            <a:pPr algn="ctr">
              <a:spcAft>
                <a:spcPts val="0"/>
              </a:spcAft>
            </a:pPr>
            <a:r>
              <a:rPr lang="en-GB" sz="1500" b="1">
                <a:solidFill>
                  <a:srgbClr val="FFFFFF"/>
                </a:solidFill>
              </a:rPr>
              <a:t>VIP ON FORTIGATE</a:t>
            </a:r>
          </a:p>
        </p:txBody>
      </p:sp>
      <p:sp>
        <p:nvSpPr>
          <p:cNvPr id="15" name="TextBox 14"/>
          <p:cNvSpPr txBox="1"/>
          <p:nvPr/>
        </p:nvSpPr>
        <p:spPr>
          <a:xfrm>
            <a:off x="3822191" y="2258568"/>
            <a:ext cx="2276856" cy="504754"/>
          </a:xfrm>
          <a:prstGeom prst="rect">
            <a:avLst/>
          </a:prstGeom>
          <a:noFill/>
        </p:spPr>
        <p:txBody>
          <a:bodyPr wrap="square" lIns="36576" tIns="36576" rIns="36576" bIns="36576" anchor="t">
            <a:spAutoFit/>
          </a:bodyPr>
          <a:lstStyle/>
          <a:p>
            <a:pPr algn="ctr">
              <a:spcAft>
                <a:spcPts val="0"/>
              </a:spcAft>
            </a:pPr>
            <a:r>
              <a:rPr lang="en-GB" sz="1000" b="0">
                <a:solidFill>
                  <a:srgbClr val="D8E0EA"/>
                </a:solidFill>
              </a:rPr>
              <a:t>&lt;published IP&gt;:443</a:t>
            </a:r>
          </a:p>
          <a:p>
            <a:r>
              <a:rPr lang="en-GB"/>
              <a:t>→ 10.1.20.10:8443</a:t>
            </a:r>
          </a:p>
        </p:txBody>
      </p:sp>
      <p:sp>
        <p:nvSpPr>
          <p:cNvPr id="16" name="Right Arrow 15"/>
          <p:cNvSpPr/>
          <p:nvPr/>
        </p:nvSpPr>
        <p:spPr>
          <a:xfrm>
            <a:off x="6217920" y="2313432"/>
            <a:ext cx="960120" cy="201168"/>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7" name="TextBox 16"/>
          <p:cNvSpPr txBox="1">
            <a:spLocks/>
          </p:cNvSpPr>
          <p:nvPr/>
        </p:nvSpPr>
        <p:spPr>
          <a:xfrm>
            <a:off x="6217920" y="2057400"/>
            <a:ext cx="960120" cy="212366"/>
          </a:xfrm>
          <a:prstGeom prst="rect">
            <a:avLst/>
          </a:prstGeom>
          <a:noFill/>
        </p:spPr>
        <p:txBody>
          <a:bodyPr wrap="square" lIns="36576" tIns="36576" rIns="36576" bIns="36576" anchor="t">
            <a:spAutoFit/>
          </a:bodyPr>
          <a:lstStyle/>
          <a:p>
            <a:pPr algn="ctr">
              <a:spcAft>
                <a:spcPts val="0"/>
              </a:spcAft>
            </a:pPr>
            <a:r>
              <a:rPr lang="en-GB" sz="900" b="1">
                <a:solidFill>
                  <a:srgbClr val="687385"/>
                </a:solidFill>
              </a:rPr>
              <a:t>mapped tuple</a:t>
            </a:r>
          </a:p>
        </p:txBody>
      </p:sp>
      <p:sp>
        <p:nvSpPr>
          <p:cNvPr id="18" name="Rectangle 17"/>
          <p:cNvSpPr>
            <a:spLocks/>
          </p:cNvSpPr>
          <p:nvPr/>
        </p:nvSpPr>
        <p:spPr>
          <a:xfrm>
            <a:off x="7223760" y="1965960"/>
            <a:ext cx="2103120" cy="9144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9" name="TextBox 18"/>
          <p:cNvSpPr txBox="1">
            <a:spLocks/>
          </p:cNvSpPr>
          <p:nvPr/>
        </p:nvSpPr>
        <p:spPr>
          <a:xfrm>
            <a:off x="7296912" y="2084831"/>
            <a:ext cx="1956815" cy="304699"/>
          </a:xfrm>
          <a:prstGeom prst="rect">
            <a:avLst/>
          </a:prstGeom>
          <a:noFill/>
        </p:spPr>
        <p:txBody>
          <a:bodyPr wrap="square" lIns="36576" tIns="36576" rIns="36576" bIns="36576" anchor="t">
            <a:spAutoFit/>
          </a:bodyPr>
          <a:lstStyle/>
          <a:p>
            <a:pPr algn="ctr">
              <a:spcAft>
                <a:spcPts val="0"/>
              </a:spcAft>
            </a:pPr>
            <a:r>
              <a:rPr lang="en-GB" sz="1500" b="1">
                <a:solidFill>
                  <a:srgbClr val="FFFFFF"/>
                </a:solidFill>
              </a:rPr>
              <a:t>10.1.20.10:8443</a:t>
            </a:r>
          </a:p>
        </p:txBody>
      </p:sp>
      <p:sp>
        <p:nvSpPr>
          <p:cNvPr id="20" name="TextBox 19"/>
          <p:cNvSpPr txBox="1">
            <a:spLocks/>
          </p:cNvSpPr>
          <p:nvPr/>
        </p:nvSpPr>
        <p:spPr>
          <a:xfrm>
            <a:off x="7296912" y="2441448"/>
            <a:ext cx="1956815" cy="227755"/>
          </a:xfrm>
          <a:prstGeom prst="rect">
            <a:avLst/>
          </a:prstGeom>
          <a:noFill/>
        </p:spPr>
        <p:txBody>
          <a:bodyPr wrap="square" lIns="36576" tIns="36576" rIns="36576" bIns="36576" anchor="t">
            <a:spAutoFit/>
          </a:bodyPr>
          <a:lstStyle/>
          <a:p>
            <a:pPr algn="ctr">
              <a:spcAft>
                <a:spcPts val="0"/>
              </a:spcAft>
            </a:pPr>
            <a:r>
              <a:rPr lang="en-HU" sz="1000" b="0">
                <a:solidFill>
                  <a:srgbClr val="D8E0EA"/>
                </a:solidFill>
              </a:rPr>
              <a:t>10.1.20.10:8443</a:t>
            </a:r>
          </a:p>
        </p:txBody>
      </p:sp>
      <p:sp>
        <p:nvSpPr>
          <p:cNvPr id="21" name="TextBox 20"/>
          <p:cNvSpPr txBox="1"/>
          <p:nvPr/>
        </p:nvSpPr>
        <p:spPr>
          <a:xfrm>
            <a:off x="9646920" y="1783080"/>
            <a:ext cx="1554480" cy="243143"/>
          </a:xfrm>
          <a:prstGeom prst="rect">
            <a:avLst/>
          </a:prstGeom>
          <a:noFill/>
        </p:spPr>
        <p:txBody>
          <a:bodyPr wrap="square" lIns="36576" tIns="36576" rIns="36576" bIns="36576" anchor="t">
            <a:spAutoFit/>
          </a:bodyPr>
          <a:lstStyle/>
          <a:p>
            <a:pPr algn="l">
              <a:spcAft>
                <a:spcPts val="0"/>
              </a:spcAft>
            </a:pPr>
            <a:r>
              <a:rPr lang="en-GB" sz="1100" b="1">
                <a:solidFill>
                  <a:srgbClr val="E60012"/>
                </a:solidFill>
              </a:rPr>
              <a:t>FIREWALL POLICY</a:t>
            </a:r>
          </a:p>
        </p:txBody>
      </p:sp>
      <p:sp>
        <p:nvSpPr>
          <p:cNvPr id="22" name="TextBox 21"/>
          <p:cNvSpPr txBox="1"/>
          <p:nvPr/>
        </p:nvSpPr>
        <p:spPr>
          <a:xfrm>
            <a:off x="9555480" y="2148840"/>
            <a:ext cx="2103120" cy="1417320"/>
          </a:xfrm>
          <a:prstGeom prst="rect">
            <a:avLst/>
          </a:prstGeom>
          <a:noFill/>
        </p:spPr>
        <p:txBody>
          <a:bodyPr wrap="square" lIns="36576" tIns="36576" rIns="36576" bIns="36576" anchor="t">
            <a:spAutoFit/>
          </a:bodyPr>
          <a:lstStyle/>
          <a:p>
            <a:pPr algn="l">
              <a:spcAft>
                <a:spcPts val="400"/>
              </a:spcAft>
              <a:defRPr sz="1300">
                <a:solidFill>
                  <a:srgbClr val="1E2B40"/>
                </a:solidFill>
              </a:defRPr>
            </a:pPr>
            <a:r>
              <a:t>• Ingress: WAN</a:t>
            </a:r>
          </a:p>
          <a:p>
            <a:pPr>
              <a:spcAft>
                <a:spcPts val="400"/>
              </a:spcAft>
              <a:defRPr sz="1300">
                <a:solidFill>
                  <a:srgbClr val="1E2B40"/>
                </a:solidFill>
              </a:defRPr>
            </a:pPr>
            <a:r>
              <a:t>• Destination: VIP object</a:t>
            </a:r>
          </a:p>
          <a:p>
            <a:pPr>
              <a:spcAft>
                <a:spcPts val="400"/>
              </a:spcAft>
              <a:defRPr sz="1300">
                <a:solidFill>
                  <a:srgbClr val="1E2B40"/>
                </a:solidFill>
              </a:defRPr>
            </a:pPr>
            <a:r>
              <a:t>• Service: HTTPS</a:t>
            </a:r>
          </a:p>
          <a:p>
            <a:pPr>
              <a:spcAft>
                <a:spcPts val="400"/>
              </a:spcAft>
              <a:defRPr sz="1300">
                <a:solidFill>
                  <a:srgbClr val="1E2B40"/>
                </a:solidFill>
              </a:defRPr>
            </a:pPr>
            <a:r>
              <a:t>• Egress route: DMZ</a:t>
            </a:r>
          </a:p>
        </p:txBody>
      </p:sp>
      <p:sp>
        <p:nvSpPr>
          <p:cNvPr id="23" name="TextBox 22"/>
          <p:cNvSpPr txBox="1"/>
          <p:nvPr/>
        </p:nvSpPr>
        <p:spPr>
          <a:xfrm>
            <a:off x="914400" y="4069080"/>
            <a:ext cx="1828800" cy="219456"/>
          </a:xfrm>
          <a:prstGeom prst="rect">
            <a:avLst/>
          </a:prstGeom>
          <a:noFill/>
        </p:spPr>
        <p:txBody>
          <a:bodyPr wrap="square" lIns="36576" tIns="36576" rIns="36576" bIns="36576" anchor="t">
            <a:spAutoFit/>
          </a:bodyPr>
          <a:lstStyle/>
          <a:p>
            <a:pPr algn="l">
              <a:spcAft>
                <a:spcPts val="0"/>
              </a:spcAft>
            </a:pPr>
            <a:r>
              <a:rPr sz="1100" b="1">
                <a:solidFill>
                  <a:srgbClr val="1676A3"/>
                </a:solidFill>
              </a:rPr>
              <a:t>Reply translation</a:t>
            </a:r>
          </a:p>
        </p:txBody>
      </p:sp>
      <p:sp>
        <p:nvSpPr>
          <p:cNvPr id="24" name="Left Arrow 23"/>
          <p:cNvSpPr/>
          <p:nvPr/>
        </p:nvSpPr>
        <p:spPr>
          <a:xfrm>
            <a:off x="2423160" y="4096512"/>
            <a:ext cx="5852160" cy="228600"/>
          </a:xfrm>
          <a:prstGeom prst="leftArrow">
            <a:avLst/>
          </a:prstGeom>
          <a:solidFill>
            <a:srgbClr val="1676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194560" y="4480560"/>
            <a:ext cx="6309360" cy="273921"/>
          </a:xfrm>
          <a:prstGeom prst="rect">
            <a:avLst/>
          </a:prstGeom>
          <a:noFill/>
        </p:spPr>
        <p:txBody>
          <a:bodyPr wrap="square" lIns="36576" tIns="36576" rIns="36576" bIns="36576" anchor="t">
            <a:spAutoFit/>
          </a:bodyPr>
          <a:lstStyle/>
          <a:p>
            <a:pPr algn="ctr">
              <a:spcAft>
                <a:spcPts val="0"/>
              </a:spcAft>
            </a:pPr>
            <a:r>
              <a:rPr lang="en-GB" sz="1300" b="1">
                <a:solidFill>
                  <a:srgbClr val="233A59"/>
                </a:solidFill>
              </a:rPr>
              <a:t>10.1.20.10:8443 </a:t>
            </a:r>
            <a:r>
              <a:rPr sz="1300" b="1">
                <a:solidFill>
                  <a:srgbClr val="233A59"/>
                </a:solidFill>
              </a:rPr>
              <a:t>→ client becomes </a:t>
            </a:r>
            <a:r>
              <a:rPr lang="en-GB" sz="1300" b="1">
                <a:solidFill>
                  <a:srgbClr val="233A59"/>
                </a:solidFill>
              </a:rPr>
              <a:t>&lt;published IP&gt;:443</a:t>
            </a:r>
            <a:r>
              <a:rPr sz="1300" b="1">
                <a:solidFill>
                  <a:srgbClr val="233A59"/>
                </a:solidFill>
              </a:rPr>
              <a:t> → client</a:t>
            </a:r>
          </a:p>
        </p:txBody>
      </p:sp>
      <p:sp>
        <p:nvSpPr>
          <p:cNvPr id="26" name="TextBox 25"/>
          <p:cNvSpPr txBox="1"/>
          <p:nvPr/>
        </p:nvSpPr>
        <p:spPr>
          <a:xfrm>
            <a:off x="658368" y="5833872"/>
            <a:ext cx="731520" cy="182880"/>
          </a:xfrm>
          <a:prstGeom prst="rect">
            <a:avLst/>
          </a:prstGeom>
          <a:noFill/>
        </p:spPr>
        <p:txBody>
          <a:bodyPr wrap="square" lIns="36576" tIns="36576" rIns="36576" bIns="36576" anchor="t">
            <a:spAutoFit/>
          </a:bodyPr>
          <a:lstStyle/>
          <a:p>
            <a:pPr algn="l">
              <a:spcAft>
                <a:spcPts val="0"/>
              </a:spcAft>
            </a:pPr>
            <a:r>
              <a:rPr sz="1000" b="1">
                <a:solidFill>
                  <a:srgbClr val="E60012"/>
                </a:solidFill>
              </a:rPr>
              <a:t>LESSON</a:t>
            </a:r>
          </a:p>
        </p:txBody>
      </p:sp>
      <p:sp>
        <p:nvSpPr>
          <p:cNvPr id="27" name="TextBox 26"/>
          <p:cNvSpPr txBox="1"/>
          <p:nvPr/>
        </p:nvSpPr>
        <p:spPr>
          <a:xfrm>
            <a:off x="1417320" y="5769864"/>
            <a:ext cx="9875520" cy="384048"/>
          </a:xfrm>
          <a:prstGeom prst="rect">
            <a:avLst/>
          </a:prstGeom>
          <a:noFill/>
        </p:spPr>
        <p:txBody>
          <a:bodyPr wrap="square" lIns="36576" tIns="36576" rIns="36576" bIns="36576" anchor="t">
            <a:spAutoFit/>
          </a:bodyPr>
          <a:lstStyle/>
          <a:p>
            <a:pPr algn="l">
              <a:spcAft>
                <a:spcPts val="0"/>
              </a:spcAft>
            </a:pPr>
            <a:r>
              <a:rPr sz="1300" b="1">
                <a:solidFill>
                  <a:srgbClr val="233A59"/>
                </a:solidFill>
              </a:rPr>
              <a:t>A VIP defines translation; the firewall policy, route and return path still decide whether the service works.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p:nvPr/>
        </p:nvSpPr>
        <p:spPr>
          <a:xfrm>
            <a:off x="502920" y="411480"/>
            <a:ext cx="548640" cy="189283"/>
          </a:xfrm>
          <a:prstGeom prst="rect">
            <a:avLst/>
          </a:prstGeom>
          <a:noFill/>
        </p:spPr>
        <p:txBody>
          <a:bodyPr wrap="square" lIns="36576" tIns="36576" rIns="36576" bIns="36576" anchor="t">
            <a:spAutoFit/>
          </a:bodyPr>
          <a:lstStyle/>
          <a:p>
            <a:pPr algn="l">
              <a:spcAft>
                <a:spcPts val="0"/>
              </a:spcAft>
            </a:pPr>
            <a:r>
              <a:rPr lang="en-HU" sz="750" b="1">
                <a:solidFill>
                  <a:srgbClr val="687385"/>
                </a:solidFill>
              </a:rPr>
              <a:t>041</a:t>
            </a:r>
            <a:endParaRPr sz="750" b="1">
              <a:solidFill>
                <a:srgbClr val="687385"/>
              </a:solidFill>
            </a:endParaRPr>
          </a:p>
        </p:txBody>
      </p:sp>
      <p:sp>
        <p:nvSpPr>
          <p:cNvPr id="4" name="TextBox 3"/>
          <p:cNvSpPr txBox="1"/>
          <p:nvPr/>
        </p:nvSpPr>
        <p:spPr>
          <a:xfrm>
            <a:off x="502920" y="621792"/>
            <a:ext cx="11109960" cy="548640"/>
          </a:xfrm>
          <a:prstGeom prst="rect">
            <a:avLst/>
          </a:prstGeom>
          <a:noFill/>
        </p:spPr>
        <p:txBody>
          <a:bodyPr wrap="square" lIns="36576" tIns="36576" rIns="36576" bIns="36576" anchor="t">
            <a:spAutoFit/>
          </a:bodyPr>
          <a:lstStyle/>
          <a:p>
            <a:pPr algn="l">
              <a:spcAft>
                <a:spcPts val="0"/>
              </a:spcAft>
            </a:pPr>
            <a:r>
              <a:rPr sz="2600" b="1">
                <a:solidFill>
                  <a:srgbClr val="1E2B40"/>
                </a:solidFill>
              </a:rPr>
              <a:t>Hairpin access uses the public VIP from an internal network</a:t>
            </a:r>
          </a:p>
        </p:txBody>
      </p:sp>
      <p:sp>
        <p:nvSpPr>
          <p:cNvPr id="5" name="TextBox 4"/>
          <p:cNvSpPr txBox="1"/>
          <p:nvPr/>
        </p:nvSpPr>
        <p:spPr>
          <a:xfrm>
            <a:off x="521207" y="1143000"/>
            <a:ext cx="10789920" cy="274320"/>
          </a:xfrm>
          <a:prstGeom prst="rect">
            <a:avLst/>
          </a:prstGeom>
          <a:noFill/>
        </p:spPr>
        <p:txBody>
          <a:bodyPr wrap="square" lIns="36576" tIns="36576" rIns="36576" bIns="36576" anchor="t">
            <a:spAutoFit/>
          </a:bodyPr>
          <a:lstStyle/>
          <a:p>
            <a:pPr algn="l">
              <a:spcAft>
                <a:spcPts val="0"/>
              </a:spcAft>
            </a:pPr>
            <a:r>
              <a:rPr sz="1100" b="0">
                <a:solidFill>
                  <a:srgbClr val="687385"/>
                </a:solidFill>
              </a:rPr>
              <a:t>Internal client and server remain in separate segments</a:t>
            </a:r>
          </a:p>
        </p:txBody>
      </p:sp>
      <p:cxnSp>
        <p:nvCxnSpPr>
          <p:cNvPr id="6" name="Connector 5"/>
          <p:cNvCxnSpPr/>
          <p:nvPr/>
        </p:nvCxnSpPr>
        <p:spPr>
          <a:xfrm>
            <a:off x="502920" y="6473952"/>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7" name="TextBox 6"/>
          <p:cNvSpPr txBox="1">
            <a:spLocks/>
          </p:cNvSpPr>
          <p:nvPr/>
        </p:nvSpPr>
        <p:spPr>
          <a:xfrm>
            <a:off x="11109960" y="6537960"/>
            <a:ext cx="502920" cy="189283"/>
          </a:xfrm>
          <a:prstGeom prst="rect">
            <a:avLst/>
          </a:prstGeom>
          <a:noFill/>
        </p:spPr>
        <p:txBody>
          <a:bodyPr wrap="square" lIns="36576" tIns="36576" rIns="36576" bIns="36576" anchor="t">
            <a:spAutoFit/>
          </a:bodyPr>
          <a:lstStyle/>
          <a:p>
            <a:pPr algn="r">
              <a:spcAft>
                <a:spcPts val="0"/>
              </a:spcAft>
            </a:pPr>
            <a:r>
              <a:rPr lang="en-HU" sz="750" b="0">
                <a:solidFill>
                  <a:srgbClr val="687385"/>
                </a:solidFill>
              </a:rPr>
              <a:t>41</a:t>
            </a:r>
          </a:p>
        </p:txBody>
      </p:sp>
      <p:sp>
        <p:nvSpPr>
          <p:cNvPr id="8" name="Rectangle 7"/>
          <p:cNvSpPr>
            <a:spLocks/>
          </p:cNvSpPr>
          <p:nvPr/>
        </p:nvSpPr>
        <p:spPr>
          <a:xfrm>
            <a:off x="594360" y="1965960"/>
            <a:ext cx="2103120" cy="9144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9" name="TextBox 8"/>
          <p:cNvSpPr txBox="1">
            <a:spLocks/>
          </p:cNvSpPr>
          <p:nvPr/>
        </p:nvSpPr>
        <p:spPr>
          <a:xfrm>
            <a:off x="667512" y="2084831"/>
            <a:ext cx="1956815" cy="304699"/>
          </a:xfrm>
          <a:prstGeom prst="rect">
            <a:avLst/>
          </a:prstGeom>
          <a:noFill/>
        </p:spPr>
        <p:txBody>
          <a:bodyPr wrap="square" lIns="36576" tIns="36576" rIns="36576" bIns="36576" anchor="t">
            <a:spAutoFit/>
          </a:bodyPr>
          <a:lstStyle/>
          <a:p>
            <a:pPr algn="ctr">
              <a:spcAft>
                <a:spcPts val="0"/>
              </a:spcAft>
            </a:pPr>
            <a:r>
              <a:rPr lang="en-GB" sz="1500" b="1">
                <a:solidFill>
                  <a:srgbClr val="FFFFFF"/>
                </a:solidFill>
              </a:rPr>
              <a:t>LAN CLIENT</a:t>
            </a:r>
          </a:p>
        </p:txBody>
      </p:sp>
      <p:sp>
        <p:nvSpPr>
          <p:cNvPr id="10" name="TextBox 9"/>
          <p:cNvSpPr txBox="1">
            <a:spLocks/>
          </p:cNvSpPr>
          <p:nvPr/>
        </p:nvSpPr>
        <p:spPr>
          <a:xfrm>
            <a:off x="667512" y="2441448"/>
            <a:ext cx="1956815" cy="227755"/>
          </a:xfrm>
          <a:prstGeom prst="rect">
            <a:avLst/>
          </a:prstGeom>
          <a:noFill/>
        </p:spPr>
        <p:txBody>
          <a:bodyPr wrap="square" lIns="36576" tIns="36576" rIns="36576" bIns="36576" anchor="t">
            <a:spAutoFit/>
          </a:bodyPr>
          <a:lstStyle/>
          <a:p>
            <a:pPr algn="ctr">
              <a:spcAft>
                <a:spcPts val="0"/>
              </a:spcAft>
            </a:pPr>
            <a:r>
              <a:rPr lang="en-HU" sz="1000" b="0">
                <a:solidFill>
                  <a:srgbClr val="D8E0EA"/>
                </a:solidFill>
              </a:rPr>
              <a:t>10.1.10.10:51514</a:t>
            </a:r>
          </a:p>
        </p:txBody>
      </p:sp>
      <p:sp>
        <p:nvSpPr>
          <p:cNvPr id="11" name="Right Arrow 10"/>
          <p:cNvSpPr/>
          <p:nvPr/>
        </p:nvSpPr>
        <p:spPr>
          <a:xfrm>
            <a:off x="2743200" y="2313432"/>
            <a:ext cx="914400" cy="201168"/>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a:spLocks/>
          </p:cNvSpPr>
          <p:nvPr/>
        </p:nvSpPr>
        <p:spPr>
          <a:xfrm>
            <a:off x="2743200" y="2057400"/>
            <a:ext cx="914400" cy="212366"/>
          </a:xfrm>
          <a:prstGeom prst="rect">
            <a:avLst/>
          </a:prstGeom>
          <a:noFill/>
        </p:spPr>
        <p:txBody>
          <a:bodyPr wrap="square" lIns="36576" tIns="36576" rIns="36576" bIns="36576" anchor="t">
            <a:spAutoFit/>
          </a:bodyPr>
          <a:lstStyle/>
          <a:p>
            <a:pPr algn="ctr">
              <a:spcAft>
                <a:spcPts val="0"/>
              </a:spcAft>
            </a:pPr>
            <a:r>
              <a:rPr lang="en-GB" sz="900" b="1">
                <a:solidFill>
                  <a:srgbClr val="687385"/>
                </a:solidFill>
              </a:rPr>
              <a:t>public address</a:t>
            </a:r>
          </a:p>
        </p:txBody>
      </p:sp>
      <p:sp>
        <p:nvSpPr>
          <p:cNvPr id="13" name="Rectangle 12"/>
          <p:cNvSpPr>
            <a:spLocks/>
          </p:cNvSpPr>
          <p:nvPr/>
        </p:nvSpPr>
        <p:spPr>
          <a:xfrm>
            <a:off x="3703320" y="1783080"/>
            <a:ext cx="2560320" cy="123444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4" name="TextBox 13"/>
          <p:cNvSpPr txBox="1"/>
          <p:nvPr/>
        </p:nvSpPr>
        <p:spPr>
          <a:xfrm>
            <a:off x="3776472" y="1901952"/>
            <a:ext cx="2414015" cy="304699"/>
          </a:xfrm>
          <a:prstGeom prst="rect">
            <a:avLst/>
          </a:prstGeom>
          <a:noFill/>
        </p:spPr>
        <p:txBody>
          <a:bodyPr wrap="square" lIns="36576" tIns="36576" rIns="36576" bIns="36576" anchor="t">
            <a:spAutoFit/>
          </a:bodyPr>
          <a:lstStyle/>
          <a:p>
            <a:pPr algn="ctr">
              <a:spcAft>
                <a:spcPts val="0"/>
              </a:spcAft>
            </a:pPr>
            <a:r>
              <a:rPr lang="en-GB" sz="1500" b="1">
                <a:solidFill>
                  <a:srgbClr val="FFFFFF"/>
                </a:solidFill>
              </a:rPr>
              <a:t>FORTIGATE VIP</a:t>
            </a:r>
          </a:p>
        </p:txBody>
      </p:sp>
      <p:sp>
        <p:nvSpPr>
          <p:cNvPr id="15" name="TextBox 14"/>
          <p:cNvSpPr txBox="1"/>
          <p:nvPr/>
        </p:nvSpPr>
        <p:spPr>
          <a:xfrm>
            <a:off x="3776472" y="2258568"/>
            <a:ext cx="2414015" cy="381643"/>
          </a:xfrm>
          <a:prstGeom prst="rect">
            <a:avLst/>
          </a:prstGeom>
          <a:noFill/>
        </p:spPr>
        <p:txBody>
          <a:bodyPr wrap="square" lIns="36576" tIns="36576" rIns="36576" bIns="36576" anchor="t">
            <a:spAutoFit/>
          </a:bodyPr>
          <a:lstStyle/>
          <a:p>
            <a:pPr algn="ctr">
              <a:spcAft>
                <a:spcPts val="0"/>
              </a:spcAft>
            </a:pPr>
            <a:r>
              <a:rPr lang="en-HU" sz="1000" b="0">
                <a:solidFill>
                  <a:srgbClr val="D8E0EA"/>
                </a:solidFill>
              </a:rPr>
              <a:t>198.51.100.10:443
→ 10.1.20.10:8443</a:t>
            </a:r>
          </a:p>
        </p:txBody>
      </p:sp>
      <p:sp>
        <p:nvSpPr>
          <p:cNvPr id="16" name="Right Arrow 15"/>
          <p:cNvSpPr>
            <a:spLocks/>
          </p:cNvSpPr>
          <p:nvPr/>
        </p:nvSpPr>
        <p:spPr>
          <a:xfrm>
            <a:off x="6309360" y="2313432"/>
            <a:ext cx="914400" cy="201168"/>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7" name="TextBox 16"/>
          <p:cNvSpPr txBox="1"/>
          <p:nvPr/>
        </p:nvSpPr>
        <p:spPr>
          <a:xfrm>
            <a:off x="6309360" y="2057400"/>
            <a:ext cx="914400" cy="212366"/>
          </a:xfrm>
          <a:prstGeom prst="rect">
            <a:avLst/>
          </a:prstGeom>
          <a:noFill/>
        </p:spPr>
        <p:txBody>
          <a:bodyPr wrap="square" lIns="36576" tIns="36576" rIns="36576" bIns="36576" anchor="t">
            <a:spAutoFit/>
          </a:bodyPr>
          <a:lstStyle/>
          <a:p>
            <a:pPr algn="ctr">
              <a:spcAft>
                <a:spcPts val="0"/>
              </a:spcAft>
            </a:pPr>
            <a:r>
              <a:rPr lang="en-GB" sz="900" b="1">
                <a:solidFill>
                  <a:srgbClr val="687385"/>
                </a:solidFill>
              </a:rPr>
              <a:t>DNAT + policy</a:t>
            </a:r>
          </a:p>
        </p:txBody>
      </p:sp>
      <p:sp>
        <p:nvSpPr>
          <p:cNvPr id="18" name="Rectangle 17"/>
          <p:cNvSpPr>
            <a:spLocks/>
          </p:cNvSpPr>
          <p:nvPr/>
        </p:nvSpPr>
        <p:spPr>
          <a:xfrm>
            <a:off x="7269480" y="1965960"/>
            <a:ext cx="2103120" cy="9144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9" name="TextBox 18"/>
          <p:cNvSpPr txBox="1"/>
          <p:nvPr/>
        </p:nvSpPr>
        <p:spPr>
          <a:xfrm>
            <a:off x="7342631" y="2084831"/>
            <a:ext cx="1956815" cy="274320"/>
          </a:xfrm>
          <a:prstGeom prst="rect">
            <a:avLst/>
          </a:prstGeom>
          <a:noFill/>
        </p:spPr>
        <p:txBody>
          <a:bodyPr wrap="square" lIns="36576" tIns="36576" rIns="36576" bIns="36576" anchor="t">
            <a:spAutoFit/>
          </a:bodyPr>
          <a:lstStyle/>
          <a:p>
            <a:pPr algn="ctr">
              <a:spcAft>
                <a:spcPts val="0"/>
              </a:spcAft>
            </a:pPr>
            <a:r>
              <a:rPr sz="1500" b="1">
                <a:solidFill>
                  <a:srgbClr val="FFFFFF"/>
                </a:solidFill>
              </a:rPr>
              <a:t>DMZ SERVER</a:t>
            </a:r>
          </a:p>
        </p:txBody>
      </p:sp>
      <p:sp>
        <p:nvSpPr>
          <p:cNvPr id="20" name="TextBox 19"/>
          <p:cNvSpPr txBox="1"/>
          <p:nvPr/>
        </p:nvSpPr>
        <p:spPr>
          <a:xfrm>
            <a:off x="7342631" y="2441448"/>
            <a:ext cx="1956815" cy="227755"/>
          </a:xfrm>
          <a:prstGeom prst="rect">
            <a:avLst/>
          </a:prstGeom>
          <a:noFill/>
        </p:spPr>
        <p:txBody>
          <a:bodyPr wrap="square" lIns="36576" tIns="36576" rIns="36576" bIns="36576" anchor="t">
            <a:spAutoFit/>
          </a:bodyPr>
          <a:lstStyle/>
          <a:p>
            <a:pPr algn="ctr">
              <a:spcAft>
                <a:spcPts val="0"/>
              </a:spcAft>
            </a:pPr>
            <a:r>
              <a:rPr lang="en-GB" sz="1000" b="0">
                <a:solidFill>
                  <a:srgbClr val="D8E0EA"/>
                </a:solidFill>
              </a:rPr>
              <a:t>10.1.20.10:8443</a:t>
            </a:r>
            <a:endParaRPr sz="1000" b="0">
              <a:solidFill>
                <a:srgbClr val="D8E0EA"/>
              </a:solidFill>
            </a:endParaRPr>
          </a:p>
        </p:txBody>
      </p:sp>
      <p:sp>
        <p:nvSpPr>
          <p:cNvPr id="21" name="TextBox 20"/>
          <p:cNvSpPr txBox="1"/>
          <p:nvPr/>
        </p:nvSpPr>
        <p:spPr>
          <a:xfrm>
            <a:off x="731520" y="3749039"/>
            <a:ext cx="2926080" cy="228600"/>
          </a:xfrm>
          <a:prstGeom prst="rect">
            <a:avLst/>
          </a:prstGeom>
          <a:noFill/>
        </p:spPr>
        <p:txBody>
          <a:bodyPr wrap="square" lIns="36576" tIns="36576" rIns="36576" bIns="36576" anchor="t">
            <a:spAutoFit/>
          </a:bodyPr>
          <a:lstStyle/>
          <a:p>
            <a:pPr algn="l">
              <a:spcAft>
                <a:spcPts val="0"/>
              </a:spcAft>
            </a:pPr>
            <a:r>
              <a:rPr sz="1100" b="1">
                <a:solidFill>
                  <a:srgbClr val="E60012"/>
                </a:solidFill>
              </a:rPr>
              <a:t>Why source NAT may be required</a:t>
            </a:r>
          </a:p>
        </p:txBody>
      </p:sp>
      <p:sp>
        <p:nvSpPr>
          <p:cNvPr id="22" name="TextBox 21"/>
          <p:cNvSpPr txBox="1"/>
          <p:nvPr/>
        </p:nvSpPr>
        <p:spPr>
          <a:xfrm>
            <a:off x="731520" y="4069080"/>
            <a:ext cx="5669280" cy="1371600"/>
          </a:xfrm>
          <a:prstGeom prst="rect">
            <a:avLst/>
          </a:prstGeom>
          <a:noFill/>
        </p:spPr>
        <p:txBody>
          <a:bodyPr wrap="square" lIns="36576" tIns="36576" rIns="36576" bIns="36576" anchor="t">
            <a:spAutoFit/>
          </a:bodyPr>
          <a:lstStyle/>
          <a:p>
            <a:pPr algn="l">
              <a:spcAft>
                <a:spcPts val="400"/>
              </a:spcAft>
              <a:defRPr sz="1400">
                <a:solidFill>
                  <a:srgbClr val="1E2B40"/>
                </a:solidFill>
              </a:defRPr>
            </a:pPr>
            <a:r>
              <a:t>• Without SNAT, the server may reply directly to the client</a:t>
            </a:r>
          </a:p>
          <a:p>
            <a:pPr>
              <a:spcAft>
                <a:spcPts val="400"/>
              </a:spcAft>
              <a:defRPr sz="1400">
                <a:solidFill>
                  <a:srgbClr val="1E2B40"/>
                </a:solidFill>
              </a:defRPr>
            </a:pPr>
            <a:r>
              <a:t>• Direct reply bypasses the FortiGate session and breaks symmetry</a:t>
            </a:r>
          </a:p>
          <a:p>
            <a:pPr>
              <a:spcAft>
                <a:spcPts val="400"/>
              </a:spcAft>
              <a:defRPr sz="1400">
                <a:solidFill>
                  <a:srgbClr val="1E2B40"/>
                </a:solidFill>
              </a:defRPr>
            </a:pPr>
            <a:r>
              <a:t>• SNAT forces the reply through FortiGate for reverse translation</a:t>
            </a:r>
          </a:p>
          <a:p>
            <a:pPr>
              <a:spcAft>
                <a:spcPts val="400"/>
              </a:spcAft>
              <a:defRPr sz="1400">
                <a:solidFill>
                  <a:srgbClr val="1E2B40"/>
                </a:solidFill>
              </a:defRPr>
            </a:pPr>
            <a:r>
              <a:t>• Split DNS can avoid hairpinning when appropriate</a:t>
            </a:r>
          </a:p>
        </p:txBody>
      </p:sp>
      <p:sp>
        <p:nvSpPr>
          <p:cNvPr id="23" name="TextBox 22"/>
          <p:cNvSpPr txBox="1"/>
          <p:nvPr/>
        </p:nvSpPr>
        <p:spPr>
          <a:xfrm>
            <a:off x="6903720" y="3749039"/>
            <a:ext cx="2194560" cy="228600"/>
          </a:xfrm>
          <a:prstGeom prst="rect">
            <a:avLst/>
          </a:prstGeom>
          <a:noFill/>
        </p:spPr>
        <p:txBody>
          <a:bodyPr wrap="square" lIns="36576" tIns="36576" rIns="36576" bIns="36576" anchor="t">
            <a:spAutoFit/>
          </a:bodyPr>
          <a:lstStyle/>
          <a:p>
            <a:pPr algn="l">
              <a:spcAft>
                <a:spcPts val="0"/>
              </a:spcAft>
            </a:pPr>
            <a:r>
              <a:rPr sz="1100" b="1">
                <a:solidFill>
                  <a:srgbClr val="E60012"/>
                </a:solidFill>
              </a:rPr>
              <a:t>Expected packet path</a:t>
            </a:r>
          </a:p>
        </p:txBody>
      </p:sp>
      <p:sp>
        <p:nvSpPr>
          <p:cNvPr id="24" name="TextBox 23"/>
          <p:cNvSpPr txBox="1"/>
          <p:nvPr/>
        </p:nvSpPr>
        <p:spPr>
          <a:xfrm>
            <a:off x="6903720" y="4114800"/>
            <a:ext cx="3657600" cy="685800"/>
          </a:xfrm>
          <a:prstGeom prst="rect">
            <a:avLst/>
          </a:prstGeom>
          <a:noFill/>
        </p:spPr>
        <p:txBody>
          <a:bodyPr wrap="square" lIns="36576" tIns="36576" rIns="36576" bIns="36576" anchor="t">
            <a:spAutoFit/>
          </a:bodyPr>
          <a:lstStyle/>
          <a:p>
            <a:pPr algn="ctr">
              <a:spcAft>
                <a:spcPts val="0"/>
              </a:spcAft>
            </a:pPr>
            <a:r>
              <a:rPr sz="1800" b="1">
                <a:solidFill>
                  <a:srgbClr val="233A59"/>
                </a:solidFill>
              </a:rPr>
              <a:t>LAN → FortiGate → DMZ
DMZ → FortiGate → LAN</a:t>
            </a:r>
          </a:p>
        </p:txBody>
      </p:sp>
      <p:sp>
        <p:nvSpPr>
          <p:cNvPr id="25" name="TextBox 24"/>
          <p:cNvSpPr txBox="1"/>
          <p:nvPr/>
        </p:nvSpPr>
        <p:spPr>
          <a:xfrm>
            <a:off x="658368" y="5833872"/>
            <a:ext cx="731520" cy="182880"/>
          </a:xfrm>
          <a:prstGeom prst="rect">
            <a:avLst/>
          </a:prstGeom>
          <a:noFill/>
        </p:spPr>
        <p:txBody>
          <a:bodyPr wrap="square" lIns="36576" tIns="36576" rIns="36576" bIns="36576" anchor="t">
            <a:spAutoFit/>
          </a:bodyPr>
          <a:lstStyle/>
          <a:p>
            <a:pPr algn="l">
              <a:spcAft>
                <a:spcPts val="0"/>
              </a:spcAft>
            </a:pPr>
            <a:r>
              <a:rPr sz="1000" b="1">
                <a:solidFill>
                  <a:srgbClr val="E60012"/>
                </a:solidFill>
              </a:rPr>
              <a:t>LESSON</a:t>
            </a:r>
          </a:p>
        </p:txBody>
      </p:sp>
      <p:sp>
        <p:nvSpPr>
          <p:cNvPr id="26" name="TextBox 25"/>
          <p:cNvSpPr txBox="1"/>
          <p:nvPr/>
        </p:nvSpPr>
        <p:spPr>
          <a:xfrm>
            <a:off x="1417320" y="5769864"/>
            <a:ext cx="9875520" cy="384048"/>
          </a:xfrm>
          <a:prstGeom prst="rect">
            <a:avLst/>
          </a:prstGeom>
          <a:noFill/>
        </p:spPr>
        <p:txBody>
          <a:bodyPr wrap="square" lIns="36576" tIns="36576" rIns="36576" bIns="36576" anchor="t">
            <a:spAutoFit/>
          </a:bodyPr>
          <a:lstStyle/>
          <a:p>
            <a:pPr algn="l">
              <a:spcAft>
                <a:spcPts val="0"/>
              </a:spcAft>
            </a:pPr>
            <a:r>
              <a:rPr sz="1300" b="1">
                <a:solidFill>
                  <a:srgbClr val="233A59"/>
                </a:solidFill>
              </a:rPr>
              <a:t>Hairpin troubleshooting must check DNAT, optional SNAT, policy and the server’s return route as one session.</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42</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Logs and CLI answer different layers of the incident</a:t>
            </a:r>
          </a:p>
        </p:txBody>
      </p:sp>
      <p:sp>
        <p:nvSpPr>
          <p:cNvPr id="10" name="Rectangle 9"/>
          <p:cNvSpPr/>
          <p:nvPr/>
        </p:nvSpPr>
        <p:spPr>
          <a:xfrm>
            <a:off x="658368" y="1572768"/>
            <a:ext cx="6583680" cy="425196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1" name="TextBox 10"/>
          <p:cNvSpPr txBox="1">
            <a:spLocks/>
          </p:cNvSpPr>
          <p:nvPr/>
        </p:nvSpPr>
        <p:spPr>
          <a:xfrm>
            <a:off x="877824" y="1783080"/>
            <a:ext cx="6126480" cy="209288"/>
          </a:xfrm>
          <a:prstGeom prst="rect">
            <a:avLst/>
          </a:prstGeom>
          <a:noFill/>
        </p:spPr>
        <p:txBody>
          <a:bodyPr wrap="square" lIns="27432" tIns="27432" rIns="27432" bIns="27432" anchor="t">
            <a:spAutoFit/>
          </a:bodyPr>
          <a:lstStyle/>
          <a:p>
            <a:pPr algn="l">
              <a:spcAft>
                <a:spcPts val="0"/>
              </a:spcAft>
            </a:pPr>
            <a:r>
              <a:rPr lang="en-GB" sz="1000" b="1">
                <a:solidFill>
                  <a:srgbClr val="E60012"/>
                </a:solidFill>
              </a:rPr>
              <a:t>ILLUSTRATIVE CLI — validate on FortiOS 7.6.7 / Azure FortiGate-VM</a:t>
            </a:r>
          </a:p>
        </p:txBody>
      </p:sp>
      <p:sp>
        <p:nvSpPr>
          <p:cNvPr id="12" name="TextBox 11"/>
          <p:cNvSpPr txBox="1">
            <a:spLocks/>
          </p:cNvSpPr>
          <p:nvPr/>
        </p:nvSpPr>
        <p:spPr>
          <a:xfrm>
            <a:off x="877824" y="2212848"/>
            <a:ext cx="6080760" cy="3154680"/>
          </a:xfrm>
          <a:prstGeom prst="rect">
            <a:avLst/>
          </a:prstGeom>
          <a:noFill/>
        </p:spPr>
        <p:txBody>
          <a:bodyPr wrap="square" lIns="27432" tIns="27432" rIns="27432" bIns="27432" anchor="t">
            <a:spAutoFit/>
          </a:bodyPr>
          <a:lstStyle/>
          <a:p>
            <a:pPr algn="l">
              <a:spcAft>
                <a:spcPts val="0"/>
              </a:spcAft>
            </a:pPr>
            <a:r>
              <a:rPr lang="en-GB" sz="1400" b="0">
                <a:solidFill>
                  <a:srgbClr val="E6ECF4"/>
                </a:solidFill>
                <a:latin typeface="Consolas"/>
              </a:rPr>
              <a:t>diagnose sys session filter clear
diagnose sys session filter src &lt;client-ip&gt;
diagnose sys session list
diagnose sniffer packet any "host &lt;ip&gt; and port &lt;port&gt;" 4 0 l
diagnose debug reset</a:t>
            </a:r>
          </a:p>
        </p:txBody>
      </p:sp>
      <p:sp>
        <p:nvSpPr>
          <p:cNvPr id="13" name="TextBox 12"/>
          <p:cNvSpPr txBox="1">
            <a:spLocks/>
          </p:cNvSpPr>
          <p:nvPr/>
        </p:nvSpPr>
        <p:spPr>
          <a:xfrm>
            <a:off x="7754112" y="1719072"/>
            <a:ext cx="3154680" cy="256032"/>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READ THE OUTPUT</a:t>
            </a:r>
          </a:p>
        </p:txBody>
      </p:sp>
      <p:sp>
        <p:nvSpPr>
          <p:cNvPr id="14" name="TextBox 13"/>
          <p:cNvSpPr txBox="1">
            <a:spLocks/>
          </p:cNvSpPr>
          <p:nvPr/>
        </p:nvSpPr>
        <p:spPr>
          <a:xfrm>
            <a:off x="7754112" y="2121408"/>
            <a:ext cx="3383280" cy="2148840"/>
          </a:xfrm>
          <a:prstGeom prst="rect">
            <a:avLst/>
          </a:prstGeom>
          <a:noFill/>
        </p:spPr>
        <p:txBody>
          <a:bodyPr wrap="square" lIns="109728" tIns="73152" rIns="109728" bIns="73152" anchor="t">
            <a:spAutoFit/>
          </a:bodyPr>
          <a:lstStyle/>
          <a:p>
            <a:pPr algn="l">
              <a:lnSpc>
                <a:spcPct val="105000"/>
              </a:lnSpc>
              <a:spcAft>
                <a:spcPts val="700"/>
              </a:spcAft>
              <a:defRPr sz="1500">
                <a:solidFill>
                  <a:srgbClr val="1E2B40"/>
                </a:solidFill>
              </a:defRPr>
            </a:pPr>
            <a:r>
              <a:rPr lang="en-GB"/>
              <a:t>• Traffic logs show policy, action, interfaces, addresses, ports and bytes</a:t>
            </a:r>
          </a:p>
          <a:p>
            <a:pPr>
              <a:lnSpc>
                <a:spcPct val="105000"/>
              </a:lnSpc>
              <a:spcAft>
                <a:spcPts val="700"/>
              </a:spcAft>
              <a:defRPr sz="1500">
                <a:solidFill>
                  <a:srgbClr val="1E2B40"/>
                </a:solidFill>
              </a:defRPr>
            </a:pPr>
            <a:r>
              <a:rPr lang="en-GB"/>
              <a:t>• Event logs show system/admin/HA/routing events</a:t>
            </a:r>
          </a:p>
          <a:p>
            <a:pPr>
              <a:lnSpc>
                <a:spcPct val="105000"/>
              </a:lnSpc>
              <a:spcAft>
                <a:spcPts val="700"/>
              </a:spcAft>
              <a:defRPr sz="1500">
                <a:solidFill>
                  <a:srgbClr val="1E2B40"/>
                </a:solidFill>
              </a:defRPr>
            </a:pPr>
            <a:r>
              <a:rPr lang="en-GB"/>
              <a:t>• Security logs show profile detections and actions</a:t>
            </a:r>
          </a:p>
          <a:p>
            <a:pPr>
              <a:lnSpc>
                <a:spcPct val="105000"/>
              </a:lnSpc>
              <a:spcAft>
                <a:spcPts val="700"/>
              </a:spcAft>
              <a:defRPr sz="1500">
                <a:solidFill>
                  <a:srgbClr val="1E2B40"/>
                </a:solidFill>
              </a:defRPr>
            </a:pPr>
            <a:r>
              <a:rPr lang="en-GB"/>
              <a:t>• Session table shows live state; sniffer shows packets; debug flow explains decisions</a:t>
            </a:r>
          </a:p>
        </p:txBody>
      </p:sp>
      <p:sp>
        <p:nvSpPr>
          <p:cNvPr id="15" name="TextBox 14"/>
          <p:cNvSpPr txBox="1">
            <a:spLocks/>
          </p:cNvSpPr>
          <p:nvPr/>
        </p:nvSpPr>
        <p:spPr>
          <a:xfrm>
            <a:off x="7754112" y="4553712"/>
            <a:ext cx="201168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Safe operation</a:t>
            </a:r>
          </a:p>
        </p:txBody>
      </p:sp>
      <p:sp>
        <p:nvSpPr>
          <p:cNvPr id="16" name="TextBox 15"/>
          <p:cNvSpPr txBox="1">
            <a:spLocks/>
          </p:cNvSpPr>
          <p:nvPr/>
        </p:nvSpPr>
        <p:spPr>
          <a:xfrm>
            <a:off x="7754112" y="4882896"/>
            <a:ext cx="3401568" cy="822960"/>
          </a:xfrm>
          <a:prstGeom prst="rect">
            <a:avLst/>
          </a:prstGeom>
          <a:noFill/>
        </p:spPr>
        <p:txBody>
          <a:bodyPr wrap="square" lIns="27432" tIns="27432" rIns="27432" bIns="27432" anchor="t">
            <a:spAutoFit/>
          </a:bodyPr>
          <a:lstStyle/>
          <a:p>
            <a:pPr algn="l">
              <a:spcAft>
                <a:spcPts val="0"/>
              </a:spcAft>
            </a:pPr>
            <a:r>
              <a:rPr lang="en-GB" sz="1400" b="1">
                <a:solidFill>
                  <a:srgbClr val="233A59"/>
                </a:solidFill>
              </a:rPr>
              <a:t>A deny without a session points to policy/route processing; a session without replies points downstream/return path</a:t>
            </a:r>
          </a:p>
        </p:txBody>
      </p:sp>
      <p:sp>
        <p:nvSpPr>
          <p:cNvPr id="17" name="TextBox 16"/>
          <p:cNvSpPr txBox="1">
            <a:spLocks/>
          </p:cNvSpPr>
          <p:nvPr/>
        </p:nvSpPr>
        <p:spPr>
          <a:xfrm>
            <a:off x="502920" y="420624"/>
            <a:ext cx="10744200" cy="130805"/>
          </a:xfrm>
          <a:prstGeom prst="rect">
            <a:avLst/>
          </a:prstGeom>
          <a:noFill/>
        </p:spPr>
        <p:txBody>
          <a:bodyPr wrap="square" lIns="0" tIns="0" rIns="0" bIns="0">
            <a:spAutoFit/>
          </a:bodyPr>
          <a:lstStyle/>
          <a:p>
            <a:pPr algn="l"/>
            <a:r>
              <a:rPr lang="en-GB" sz="850" b="1">
                <a:solidFill>
                  <a:srgbClr val="687385"/>
                </a:solidFill>
              </a:rPr>
              <a:t>042 • DAY 1 • BLOCK 04 • NAT, Logging &amp; CLI Troubleshooting</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p:nvPr/>
        </p:nvSpPr>
        <p:spPr>
          <a:xfrm>
            <a:off x="502920" y="411480"/>
            <a:ext cx="548640" cy="189283"/>
          </a:xfrm>
          <a:prstGeom prst="rect">
            <a:avLst/>
          </a:prstGeom>
          <a:noFill/>
        </p:spPr>
        <p:txBody>
          <a:bodyPr wrap="square" lIns="36576" tIns="36576" rIns="36576" bIns="36576" anchor="t">
            <a:spAutoFit/>
          </a:bodyPr>
          <a:lstStyle/>
          <a:p>
            <a:pPr algn="l">
              <a:spcAft>
                <a:spcPts val="0"/>
              </a:spcAft>
            </a:pPr>
            <a:r>
              <a:rPr lang="en-HU" sz="750" b="1">
                <a:solidFill>
                  <a:srgbClr val="687385"/>
                </a:solidFill>
              </a:rPr>
              <a:t>043</a:t>
            </a:r>
            <a:endParaRPr sz="750" b="1">
              <a:solidFill>
                <a:srgbClr val="687385"/>
              </a:solidFill>
            </a:endParaRPr>
          </a:p>
        </p:txBody>
      </p:sp>
      <p:sp>
        <p:nvSpPr>
          <p:cNvPr id="4" name="TextBox 3"/>
          <p:cNvSpPr txBox="1"/>
          <p:nvPr/>
        </p:nvSpPr>
        <p:spPr>
          <a:xfrm>
            <a:off x="502920" y="621792"/>
            <a:ext cx="11109960" cy="548640"/>
          </a:xfrm>
          <a:prstGeom prst="rect">
            <a:avLst/>
          </a:prstGeom>
          <a:noFill/>
        </p:spPr>
        <p:txBody>
          <a:bodyPr wrap="square" lIns="36576" tIns="36576" rIns="36576" bIns="36576" anchor="t">
            <a:spAutoFit/>
          </a:bodyPr>
          <a:lstStyle/>
          <a:p>
            <a:pPr algn="l">
              <a:spcAft>
                <a:spcPts val="0"/>
              </a:spcAft>
            </a:pPr>
            <a:r>
              <a:rPr sz="2600" b="1">
                <a:solidFill>
                  <a:srgbClr val="1E2B40"/>
                </a:solidFill>
              </a:rPr>
              <a:t>NAT in both directions</a:t>
            </a:r>
          </a:p>
        </p:txBody>
      </p:sp>
      <p:cxnSp>
        <p:nvCxnSpPr>
          <p:cNvPr id="5" name="Connector 4"/>
          <p:cNvCxnSpPr/>
          <p:nvPr/>
        </p:nvCxnSpPr>
        <p:spPr>
          <a:xfrm>
            <a:off x="502920" y="6473952"/>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109960" y="6537960"/>
            <a:ext cx="502920" cy="189283"/>
          </a:xfrm>
          <a:prstGeom prst="rect">
            <a:avLst/>
          </a:prstGeom>
          <a:noFill/>
        </p:spPr>
        <p:txBody>
          <a:bodyPr wrap="square" lIns="36576" tIns="36576" rIns="36576" bIns="36576" anchor="t">
            <a:spAutoFit/>
          </a:bodyPr>
          <a:lstStyle/>
          <a:p>
            <a:pPr algn="r">
              <a:spcAft>
                <a:spcPts val="0"/>
              </a:spcAft>
            </a:pPr>
            <a:r>
              <a:rPr lang="en-HU" sz="750" b="0">
                <a:solidFill>
                  <a:srgbClr val="687385"/>
                </a:solidFill>
              </a:rPr>
              <a:t>43</a:t>
            </a:r>
            <a:endParaRPr sz="750" b="0">
              <a:solidFill>
                <a:srgbClr val="687385"/>
              </a:solidFill>
            </a:endParaRPr>
          </a:p>
        </p:txBody>
      </p:sp>
      <p:sp>
        <p:nvSpPr>
          <p:cNvPr id="7" name="Rectangle 6"/>
          <p:cNvSpPr>
            <a:spLocks/>
          </p:cNvSpPr>
          <p:nvPr/>
        </p:nvSpPr>
        <p:spPr>
          <a:xfrm>
            <a:off x="685800" y="1828800"/>
            <a:ext cx="2008022"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8" name="TextBox 7"/>
          <p:cNvSpPr txBox="1">
            <a:spLocks/>
          </p:cNvSpPr>
          <p:nvPr/>
        </p:nvSpPr>
        <p:spPr>
          <a:xfrm>
            <a:off x="777240" y="1938528"/>
            <a:ext cx="365760" cy="227755"/>
          </a:xfrm>
          <a:prstGeom prst="rect">
            <a:avLst/>
          </a:prstGeom>
          <a:noFill/>
        </p:spPr>
        <p:txBody>
          <a:bodyPr wrap="square" lIns="36576" tIns="36576" rIns="36576" bIns="36576" anchor="t">
            <a:spAutoFit/>
          </a:bodyPr>
          <a:lstStyle/>
          <a:p>
            <a:pPr algn="l">
              <a:spcAft>
                <a:spcPts val="0"/>
              </a:spcAft>
            </a:pPr>
            <a:r>
              <a:rPr lang="en-HU" sz="1000" b="1">
                <a:solidFill>
                  <a:srgbClr val="E60012"/>
                </a:solidFill>
              </a:rPr>
              <a:t>01</a:t>
            </a:r>
          </a:p>
        </p:txBody>
      </p:sp>
      <p:sp>
        <p:nvSpPr>
          <p:cNvPr id="9" name="TextBox 8"/>
          <p:cNvSpPr txBox="1">
            <a:spLocks/>
          </p:cNvSpPr>
          <p:nvPr/>
        </p:nvSpPr>
        <p:spPr>
          <a:xfrm>
            <a:off x="795528" y="2351657"/>
            <a:ext cx="1788566" cy="289310"/>
          </a:xfrm>
          <a:prstGeom prst="rect">
            <a:avLst/>
          </a:prstGeom>
          <a:noFill/>
        </p:spPr>
        <p:txBody>
          <a:bodyPr wrap="square" lIns="36576" tIns="36576" rIns="36576" bIns="36576" anchor="ctr">
            <a:spAutoFit/>
          </a:bodyPr>
          <a:lstStyle/>
          <a:p>
            <a:pPr algn="ctr">
              <a:spcAft>
                <a:spcPts val="0"/>
              </a:spcAft>
            </a:pPr>
            <a:r>
              <a:rPr lang="en-GB" sz="1400" b="1">
                <a:solidFill>
                  <a:srgbClr val="FFFFFF"/>
                </a:solidFill>
              </a:rPr>
              <a:t>Record original tuple</a:t>
            </a:r>
          </a:p>
        </p:txBody>
      </p:sp>
      <p:sp>
        <p:nvSpPr>
          <p:cNvPr id="10" name="Right Arrow 9"/>
          <p:cNvSpPr/>
          <p:nvPr/>
        </p:nvSpPr>
        <p:spPr>
          <a:xfrm>
            <a:off x="2693822" y="2340864"/>
            <a:ext cx="164592" cy="146304"/>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1" name="Rectangle 10"/>
          <p:cNvSpPr>
            <a:spLocks/>
          </p:cNvSpPr>
          <p:nvPr/>
        </p:nvSpPr>
        <p:spPr>
          <a:xfrm>
            <a:off x="2858414" y="1828800"/>
            <a:ext cx="2008022"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2" name="TextBox 11"/>
          <p:cNvSpPr txBox="1"/>
          <p:nvPr/>
        </p:nvSpPr>
        <p:spPr>
          <a:xfrm>
            <a:off x="2949854" y="1938528"/>
            <a:ext cx="365760" cy="201168"/>
          </a:xfrm>
          <a:prstGeom prst="rect">
            <a:avLst/>
          </a:prstGeom>
          <a:noFill/>
        </p:spPr>
        <p:txBody>
          <a:bodyPr wrap="square" lIns="36576" tIns="36576" rIns="36576" bIns="36576" anchor="t">
            <a:spAutoFit/>
          </a:bodyPr>
          <a:lstStyle/>
          <a:p>
            <a:pPr algn="l">
              <a:spcAft>
                <a:spcPts val="0"/>
              </a:spcAft>
            </a:pPr>
            <a:r>
              <a:rPr sz="1000" b="1">
                <a:solidFill>
                  <a:srgbClr val="E60012"/>
                </a:solidFill>
              </a:rPr>
              <a:t>02</a:t>
            </a:r>
          </a:p>
        </p:txBody>
      </p:sp>
      <p:sp>
        <p:nvSpPr>
          <p:cNvPr id="13" name="TextBox 12"/>
          <p:cNvSpPr txBox="1">
            <a:spLocks/>
          </p:cNvSpPr>
          <p:nvPr/>
        </p:nvSpPr>
        <p:spPr>
          <a:xfrm>
            <a:off x="2968142" y="2267712"/>
            <a:ext cx="1788566" cy="457200"/>
          </a:xfrm>
          <a:prstGeom prst="rect">
            <a:avLst/>
          </a:prstGeom>
          <a:noFill/>
        </p:spPr>
        <p:txBody>
          <a:bodyPr wrap="square" lIns="36576" tIns="36576" rIns="36576" bIns="36576" anchor="ctr">
            <a:spAutoFit/>
          </a:bodyPr>
          <a:lstStyle/>
          <a:p>
            <a:pPr algn="ctr">
              <a:spcAft>
                <a:spcPts val="0"/>
              </a:spcAft>
            </a:pPr>
            <a:r>
              <a:rPr lang="en-GB" sz="1400" b="1">
                <a:solidFill>
                  <a:srgbClr val="FFFFFF"/>
                </a:solidFill>
              </a:rPr>
              <a:t>Read translated session tuple</a:t>
            </a:r>
          </a:p>
        </p:txBody>
      </p:sp>
      <p:sp>
        <p:nvSpPr>
          <p:cNvPr id="14" name="Right Arrow 13"/>
          <p:cNvSpPr>
            <a:spLocks/>
          </p:cNvSpPr>
          <p:nvPr/>
        </p:nvSpPr>
        <p:spPr>
          <a:xfrm>
            <a:off x="4866436" y="2340864"/>
            <a:ext cx="164592" cy="146304"/>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5" name="Rectangle 14"/>
          <p:cNvSpPr/>
          <p:nvPr/>
        </p:nvSpPr>
        <p:spPr>
          <a:xfrm>
            <a:off x="5031028" y="1828800"/>
            <a:ext cx="2008022"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a:spLocks/>
          </p:cNvSpPr>
          <p:nvPr/>
        </p:nvSpPr>
        <p:spPr>
          <a:xfrm>
            <a:off x="5122468" y="1938528"/>
            <a:ext cx="365760" cy="201168"/>
          </a:xfrm>
          <a:prstGeom prst="rect">
            <a:avLst/>
          </a:prstGeom>
          <a:noFill/>
        </p:spPr>
        <p:txBody>
          <a:bodyPr wrap="square" lIns="36576" tIns="36576" rIns="36576" bIns="36576" anchor="t">
            <a:spAutoFit/>
          </a:bodyPr>
          <a:lstStyle/>
          <a:p>
            <a:pPr algn="l">
              <a:spcAft>
                <a:spcPts val="0"/>
              </a:spcAft>
            </a:pPr>
            <a:r>
              <a:rPr lang="en-HU" sz="1000" b="1">
                <a:solidFill>
                  <a:srgbClr val="E60012"/>
                </a:solidFill>
              </a:rPr>
              <a:t>03</a:t>
            </a:r>
          </a:p>
        </p:txBody>
      </p:sp>
      <p:sp>
        <p:nvSpPr>
          <p:cNvPr id="17" name="TextBox 16"/>
          <p:cNvSpPr txBox="1">
            <a:spLocks/>
          </p:cNvSpPr>
          <p:nvPr/>
        </p:nvSpPr>
        <p:spPr>
          <a:xfrm>
            <a:off x="5140756" y="2351657"/>
            <a:ext cx="1788566" cy="289310"/>
          </a:xfrm>
          <a:prstGeom prst="rect">
            <a:avLst/>
          </a:prstGeom>
          <a:noFill/>
        </p:spPr>
        <p:txBody>
          <a:bodyPr wrap="square" lIns="36576" tIns="36576" rIns="36576" bIns="36576" anchor="ctr">
            <a:spAutoFit/>
          </a:bodyPr>
          <a:lstStyle/>
          <a:p>
            <a:pPr algn="ctr">
              <a:spcAft>
                <a:spcPts val="0"/>
              </a:spcAft>
            </a:pPr>
            <a:r>
              <a:rPr lang="en-GB" sz="1400" b="1">
                <a:solidFill>
                  <a:srgbClr val="FFFFFF"/>
                </a:solidFill>
              </a:rPr>
              <a:t>Capture LAN side</a:t>
            </a:r>
          </a:p>
        </p:txBody>
      </p:sp>
      <p:sp>
        <p:nvSpPr>
          <p:cNvPr id="18" name="Right Arrow 17"/>
          <p:cNvSpPr/>
          <p:nvPr/>
        </p:nvSpPr>
        <p:spPr>
          <a:xfrm>
            <a:off x="7039051" y="2340864"/>
            <a:ext cx="164592" cy="146304"/>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203643" y="1828800"/>
            <a:ext cx="2008022"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20" name="TextBox 19"/>
          <p:cNvSpPr txBox="1">
            <a:spLocks/>
          </p:cNvSpPr>
          <p:nvPr/>
        </p:nvSpPr>
        <p:spPr>
          <a:xfrm>
            <a:off x="7295083" y="1938528"/>
            <a:ext cx="365760" cy="227755"/>
          </a:xfrm>
          <a:prstGeom prst="rect">
            <a:avLst/>
          </a:prstGeom>
          <a:noFill/>
        </p:spPr>
        <p:txBody>
          <a:bodyPr wrap="square" lIns="36576" tIns="36576" rIns="36576" bIns="36576" anchor="t">
            <a:spAutoFit/>
          </a:bodyPr>
          <a:lstStyle/>
          <a:p>
            <a:pPr algn="l">
              <a:spcAft>
                <a:spcPts val="0"/>
              </a:spcAft>
            </a:pPr>
            <a:r>
              <a:rPr lang="en-HU" sz="1000" b="1">
                <a:solidFill>
                  <a:srgbClr val="E60012"/>
                </a:solidFill>
              </a:rPr>
              <a:t>04</a:t>
            </a:r>
          </a:p>
        </p:txBody>
      </p:sp>
      <p:sp>
        <p:nvSpPr>
          <p:cNvPr id="21" name="TextBox 20"/>
          <p:cNvSpPr txBox="1">
            <a:spLocks/>
          </p:cNvSpPr>
          <p:nvPr/>
        </p:nvSpPr>
        <p:spPr>
          <a:xfrm>
            <a:off x="7313371" y="2243935"/>
            <a:ext cx="1788566" cy="504754"/>
          </a:xfrm>
          <a:prstGeom prst="rect">
            <a:avLst/>
          </a:prstGeom>
          <a:noFill/>
        </p:spPr>
        <p:txBody>
          <a:bodyPr wrap="square" lIns="36576" tIns="36576" rIns="36576" bIns="36576" anchor="ctr">
            <a:spAutoFit/>
          </a:bodyPr>
          <a:lstStyle/>
          <a:p>
            <a:pPr algn="ctr">
              <a:spcAft>
                <a:spcPts val="0"/>
              </a:spcAft>
            </a:pPr>
            <a:r>
              <a:rPr lang="en-GB" sz="1400" b="1">
                <a:solidFill>
                  <a:srgbClr val="FFFFFF"/>
                </a:solidFill>
              </a:rPr>
              <a:t>Capture WAN/server side</a:t>
            </a:r>
          </a:p>
        </p:txBody>
      </p:sp>
      <p:sp>
        <p:nvSpPr>
          <p:cNvPr id="22" name="Right Arrow 21"/>
          <p:cNvSpPr>
            <a:spLocks/>
          </p:cNvSpPr>
          <p:nvPr/>
        </p:nvSpPr>
        <p:spPr>
          <a:xfrm>
            <a:off x="9211665" y="2340864"/>
            <a:ext cx="164592" cy="146304"/>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23" name="Rectangle 22"/>
          <p:cNvSpPr>
            <a:spLocks/>
          </p:cNvSpPr>
          <p:nvPr/>
        </p:nvSpPr>
        <p:spPr>
          <a:xfrm>
            <a:off x="9376257" y="1828800"/>
            <a:ext cx="2008022"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24" name="TextBox 23"/>
          <p:cNvSpPr txBox="1"/>
          <p:nvPr/>
        </p:nvSpPr>
        <p:spPr>
          <a:xfrm>
            <a:off x="9467697" y="1938528"/>
            <a:ext cx="365760" cy="227755"/>
          </a:xfrm>
          <a:prstGeom prst="rect">
            <a:avLst/>
          </a:prstGeom>
          <a:noFill/>
        </p:spPr>
        <p:txBody>
          <a:bodyPr wrap="square" lIns="36576" tIns="36576" rIns="36576" bIns="36576" anchor="t">
            <a:spAutoFit/>
          </a:bodyPr>
          <a:lstStyle/>
          <a:p>
            <a:pPr algn="l">
              <a:spcAft>
                <a:spcPts val="0"/>
              </a:spcAft>
            </a:pPr>
            <a:r>
              <a:rPr lang="en-HU" sz="1000" b="1">
                <a:solidFill>
                  <a:srgbClr val="E60012"/>
                </a:solidFill>
              </a:rPr>
              <a:t>05</a:t>
            </a:r>
          </a:p>
        </p:txBody>
      </p:sp>
      <p:sp>
        <p:nvSpPr>
          <p:cNvPr id="25" name="TextBox 24"/>
          <p:cNvSpPr txBox="1"/>
          <p:nvPr/>
        </p:nvSpPr>
        <p:spPr>
          <a:xfrm>
            <a:off x="9485985" y="2267712"/>
            <a:ext cx="1788566" cy="457200"/>
          </a:xfrm>
          <a:prstGeom prst="rect">
            <a:avLst/>
          </a:prstGeom>
          <a:noFill/>
        </p:spPr>
        <p:txBody>
          <a:bodyPr wrap="square" lIns="36576" tIns="36576" rIns="36576" bIns="36576" anchor="ctr">
            <a:spAutoFit/>
          </a:bodyPr>
          <a:lstStyle/>
          <a:p>
            <a:pPr algn="ctr">
              <a:spcAft>
                <a:spcPts val="0"/>
              </a:spcAft>
            </a:pPr>
            <a:r>
              <a:rPr sz="1400" b="1">
                <a:solidFill>
                  <a:srgbClr val="FFFFFF"/>
                </a:solidFill>
              </a:rPr>
              <a:t>Match reply translation</a:t>
            </a:r>
          </a:p>
        </p:txBody>
      </p:sp>
      <p:sp>
        <p:nvSpPr>
          <p:cNvPr id="26" name="TextBox 25"/>
          <p:cNvSpPr txBox="1"/>
          <p:nvPr/>
        </p:nvSpPr>
        <p:spPr>
          <a:xfrm>
            <a:off x="731520" y="3703320"/>
            <a:ext cx="1554480" cy="210312"/>
          </a:xfrm>
          <a:prstGeom prst="rect">
            <a:avLst/>
          </a:prstGeom>
          <a:noFill/>
        </p:spPr>
        <p:txBody>
          <a:bodyPr wrap="square" lIns="36576" tIns="36576" rIns="36576" bIns="36576" anchor="t">
            <a:spAutoFit/>
          </a:bodyPr>
          <a:lstStyle/>
          <a:p>
            <a:pPr algn="l">
              <a:spcAft>
                <a:spcPts val="0"/>
              </a:spcAft>
            </a:pPr>
            <a:r>
              <a:rPr sz="1000" b="1">
                <a:solidFill>
                  <a:srgbClr val="E60012"/>
                </a:solidFill>
              </a:rPr>
              <a:t>EXPECTED RESULT</a:t>
            </a:r>
          </a:p>
        </p:txBody>
      </p:sp>
      <p:sp>
        <p:nvSpPr>
          <p:cNvPr id="27" name="TextBox 26"/>
          <p:cNvSpPr txBox="1"/>
          <p:nvPr/>
        </p:nvSpPr>
        <p:spPr>
          <a:xfrm>
            <a:off x="731520" y="4041648"/>
            <a:ext cx="10424160" cy="594360"/>
          </a:xfrm>
          <a:prstGeom prst="rect">
            <a:avLst/>
          </a:prstGeom>
          <a:noFill/>
        </p:spPr>
        <p:txBody>
          <a:bodyPr wrap="square" lIns="36576" tIns="36576" rIns="36576" bIns="36576" anchor="t">
            <a:spAutoFit/>
          </a:bodyPr>
          <a:lstStyle/>
          <a:p>
            <a:pPr algn="ctr">
              <a:spcAft>
                <a:spcPts val="0"/>
              </a:spcAft>
            </a:pPr>
            <a:r>
              <a:rPr sz="1700" b="1">
                <a:solidFill>
                  <a:srgbClr val="233A59"/>
                </a:solidFill>
              </a:rPr>
              <a:t>The session shows original and translated tuples, and packet captures show the reverse translation on the reply.</a:t>
            </a:r>
          </a:p>
        </p:txBody>
      </p:sp>
      <p:sp>
        <p:nvSpPr>
          <p:cNvPr id="28" name="TextBox 27"/>
          <p:cNvSpPr txBox="1"/>
          <p:nvPr/>
        </p:nvSpPr>
        <p:spPr>
          <a:xfrm>
            <a:off x="658368" y="5833872"/>
            <a:ext cx="731520" cy="182880"/>
          </a:xfrm>
          <a:prstGeom prst="rect">
            <a:avLst/>
          </a:prstGeom>
          <a:noFill/>
        </p:spPr>
        <p:txBody>
          <a:bodyPr wrap="square" lIns="36576" tIns="36576" rIns="36576" bIns="36576" anchor="t">
            <a:spAutoFit/>
          </a:bodyPr>
          <a:lstStyle/>
          <a:p>
            <a:pPr algn="l">
              <a:spcAft>
                <a:spcPts val="0"/>
              </a:spcAft>
            </a:pPr>
            <a:r>
              <a:rPr sz="1000" b="1">
                <a:solidFill>
                  <a:srgbClr val="E60012"/>
                </a:solidFill>
              </a:rPr>
              <a:t>LESSON</a:t>
            </a:r>
          </a:p>
        </p:txBody>
      </p:sp>
      <p:sp>
        <p:nvSpPr>
          <p:cNvPr id="29" name="TextBox 28"/>
          <p:cNvSpPr txBox="1"/>
          <p:nvPr/>
        </p:nvSpPr>
        <p:spPr>
          <a:xfrm>
            <a:off x="1417320" y="5769864"/>
            <a:ext cx="9875520" cy="384048"/>
          </a:xfrm>
          <a:prstGeom prst="rect">
            <a:avLst/>
          </a:prstGeom>
          <a:noFill/>
        </p:spPr>
        <p:txBody>
          <a:bodyPr wrap="square" lIns="36576" tIns="36576" rIns="36576" bIns="36576" anchor="t">
            <a:spAutoFit/>
          </a:bodyPr>
          <a:lstStyle/>
          <a:p>
            <a:pPr algn="l">
              <a:spcAft>
                <a:spcPts val="0"/>
              </a:spcAft>
            </a:pPr>
            <a:r>
              <a:rPr sz="1300" b="1">
                <a:solidFill>
                  <a:srgbClr val="233A59"/>
                </a:solidFill>
              </a:rPr>
              <a:t>Each step names a FortiGate state or packet change that can be checked directly; stop when the failed step is identified.</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p:nvPr/>
        </p:nvSpPr>
        <p:spPr>
          <a:xfrm>
            <a:off x="502920" y="411480"/>
            <a:ext cx="548640" cy="189283"/>
          </a:xfrm>
          <a:prstGeom prst="rect">
            <a:avLst/>
          </a:prstGeom>
          <a:noFill/>
        </p:spPr>
        <p:txBody>
          <a:bodyPr wrap="square" lIns="36576" tIns="36576" rIns="36576" bIns="36576" anchor="t">
            <a:spAutoFit/>
          </a:bodyPr>
          <a:lstStyle/>
          <a:p>
            <a:pPr algn="l">
              <a:spcAft>
                <a:spcPts val="0"/>
              </a:spcAft>
            </a:pPr>
            <a:r>
              <a:rPr lang="en-HU" sz="750" b="1">
                <a:solidFill>
                  <a:srgbClr val="687385"/>
                </a:solidFill>
              </a:rPr>
              <a:t>044</a:t>
            </a:r>
            <a:endParaRPr sz="750" b="1">
              <a:solidFill>
                <a:srgbClr val="687385"/>
              </a:solidFill>
            </a:endParaRPr>
          </a:p>
        </p:txBody>
      </p:sp>
      <p:sp>
        <p:nvSpPr>
          <p:cNvPr id="4" name="TextBox 3"/>
          <p:cNvSpPr txBox="1"/>
          <p:nvPr/>
        </p:nvSpPr>
        <p:spPr>
          <a:xfrm>
            <a:off x="502920" y="621792"/>
            <a:ext cx="11109960" cy="548640"/>
          </a:xfrm>
          <a:prstGeom prst="rect">
            <a:avLst/>
          </a:prstGeom>
          <a:noFill/>
        </p:spPr>
        <p:txBody>
          <a:bodyPr wrap="square" lIns="36576" tIns="36576" rIns="36576" bIns="36576" anchor="t">
            <a:spAutoFit/>
          </a:bodyPr>
          <a:lstStyle/>
          <a:p>
            <a:pPr algn="l">
              <a:spcAft>
                <a:spcPts val="0"/>
              </a:spcAft>
            </a:pPr>
            <a:r>
              <a:rPr sz="2600" b="1">
                <a:solidFill>
                  <a:srgbClr val="1E2B40"/>
                </a:solidFill>
              </a:rPr>
              <a:t>Common mistakes—and how to correct them</a:t>
            </a:r>
          </a:p>
        </p:txBody>
      </p:sp>
      <p:cxnSp>
        <p:nvCxnSpPr>
          <p:cNvPr id="5" name="Connector 4"/>
          <p:cNvCxnSpPr/>
          <p:nvPr/>
        </p:nvCxnSpPr>
        <p:spPr>
          <a:xfrm>
            <a:off x="502920" y="6473952"/>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109960" y="6537960"/>
            <a:ext cx="502920" cy="189283"/>
          </a:xfrm>
          <a:prstGeom prst="rect">
            <a:avLst/>
          </a:prstGeom>
          <a:noFill/>
        </p:spPr>
        <p:txBody>
          <a:bodyPr wrap="square" lIns="36576" tIns="36576" rIns="36576" bIns="36576" anchor="t">
            <a:spAutoFit/>
          </a:bodyPr>
          <a:lstStyle/>
          <a:p>
            <a:pPr algn="r">
              <a:spcAft>
                <a:spcPts val="0"/>
              </a:spcAft>
            </a:pPr>
            <a:r>
              <a:rPr lang="en-HU" sz="750" b="0">
                <a:solidFill>
                  <a:srgbClr val="687385"/>
                </a:solidFill>
              </a:rPr>
              <a:t>44</a:t>
            </a:r>
            <a:endParaRPr sz="750" b="0">
              <a:solidFill>
                <a:srgbClr val="687385"/>
              </a:solidFill>
            </a:endParaRPr>
          </a:p>
        </p:txBody>
      </p:sp>
      <p:sp>
        <p:nvSpPr>
          <p:cNvPr id="7" name="TextBox 6"/>
          <p:cNvSpPr txBox="1">
            <a:spLocks/>
          </p:cNvSpPr>
          <p:nvPr/>
        </p:nvSpPr>
        <p:spPr>
          <a:xfrm>
            <a:off x="685800" y="1417320"/>
            <a:ext cx="3291840" cy="243143"/>
          </a:xfrm>
          <a:prstGeom prst="rect">
            <a:avLst/>
          </a:prstGeom>
          <a:noFill/>
        </p:spPr>
        <p:txBody>
          <a:bodyPr wrap="square" lIns="36576" tIns="36576" rIns="36576" bIns="36576" anchor="t">
            <a:spAutoFit/>
          </a:bodyPr>
          <a:lstStyle/>
          <a:p>
            <a:pPr algn="l">
              <a:spcAft>
                <a:spcPts val="0"/>
              </a:spcAft>
            </a:pPr>
            <a:r>
              <a:rPr lang="en-GB" sz="1100" b="1">
                <a:solidFill>
                  <a:srgbClr val="E60012"/>
                </a:solidFill>
              </a:rPr>
              <a:t>MISTAKE</a:t>
            </a:r>
          </a:p>
        </p:txBody>
      </p:sp>
      <p:sp>
        <p:nvSpPr>
          <p:cNvPr id="8" name="TextBox 7"/>
          <p:cNvSpPr txBox="1">
            <a:spLocks/>
          </p:cNvSpPr>
          <p:nvPr/>
        </p:nvSpPr>
        <p:spPr>
          <a:xfrm>
            <a:off x="4160520" y="1417320"/>
            <a:ext cx="7040880" cy="243143"/>
          </a:xfrm>
          <a:prstGeom prst="rect">
            <a:avLst/>
          </a:prstGeom>
          <a:noFill/>
        </p:spPr>
        <p:txBody>
          <a:bodyPr wrap="square" lIns="36576" tIns="36576" rIns="36576" bIns="36576" anchor="t">
            <a:spAutoFit/>
          </a:bodyPr>
          <a:lstStyle/>
          <a:p>
            <a:pPr algn="l">
              <a:spcAft>
                <a:spcPts val="0"/>
              </a:spcAft>
            </a:pPr>
            <a:r>
              <a:rPr lang="en-GB" sz="1100" b="1">
                <a:solidFill>
                  <a:srgbClr val="E60012"/>
                </a:solidFill>
              </a:rPr>
              <a:t>CORRECTION — AND WHY IT HELPS</a:t>
            </a:r>
          </a:p>
        </p:txBody>
      </p:sp>
      <p:sp>
        <p:nvSpPr>
          <p:cNvPr id="9" name="TextBox 8"/>
          <p:cNvSpPr txBox="1">
            <a:spLocks/>
          </p:cNvSpPr>
          <p:nvPr/>
        </p:nvSpPr>
        <p:spPr>
          <a:xfrm>
            <a:off x="685800" y="1783080"/>
            <a:ext cx="3108960" cy="566309"/>
          </a:xfrm>
          <a:prstGeom prst="rect">
            <a:avLst/>
          </a:prstGeom>
          <a:noFill/>
        </p:spPr>
        <p:txBody>
          <a:bodyPr wrap="square" lIns="36576" tIns="36576" rIns="36576" bIns="36576" anchor="t">
            <a:spAutoFit/>
          </a:bodyPr>
          <a:lstStyle/>
          <a:p>
            <a:pPr algn="l">
              <a:spcAft>
                <a:spcPts val="0"/>
              </a:spcAft>
            </a:pPr>
            <a:r>
              <a:rPr lang="en-GB" sz="1600" b="1">
                <a:solidFill>
                  <a:srgbClr val="1E2B40"/>
                </a:solidFill>
              </a:rPr>
              <a:t>Check only the public side of DNAT</a:t>
            </a:r>
          </a:p>
        </p:txBody>
      </p:sp>
      <p:cxnSp>
        <p:nvCxnSpPr>
          <p:cNvPr id="10" name="Connector 9"/>
          <p:cNvCxnSpPr/>
          <p:nvPr/>
        </p:nvCxnSpPr>
        <p:spPr>
          <a:xfrm>
            <a:off x="3931920" y="1737360"/>
            <a:ext cx="0" cy="96012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251960" y="1783080"/>
            <a:ext cx="6903720" cy="822960"/>
          </a:xfrm>
          <a:prstGeom prst="rect">
            <a:avLst/>
          </a:prstGeom>
          <a:noFill/>
        </p:spPr>
        <p:txBody>
          <a:bodyPr wrap="square" lIns="36576" tIns="36576" rIns="36576" bIns="36576" anchor="t">
            <a:spAutoFit/>
          </a:bodyPr>
          <a:lstStyle/>
          <a:p>
            <a:pPr algn="l">
              <a:spcAft>
                <a:spcPts val="0"/>
              </a:spcAft>
            </a:pPr>
            <a:r>
              <a:rPr sz="1600" b="0">
                <a:solidFill>
                  <a:srgbClr val="233A59"/>
                </a:solidFill>
              </a:rPr>
              <a:t>Capture WAN and DMZ sides; comparing tuples shows whether the VIP translated and forwarded.</a:t>
            </a:r>
          </a:p>
        </p:txBody>
      </p:sp>
      <p:cxnSp>
        <p:nvCxnSpPr>
          <p:cNvPr id="12" name="Connector 11"/>
          <p:cNvCxnSpPr/>
          <p:nvPr/>
        </p:nvCxnSpPr>
        <p:spPr>
          <a:xfrm>
            <a:off x="685800" y="2834639"/>
            <a:ext cx="10469880"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13" name="TextBox 12"/>
          <p:cNvSpPr txBox="1">
            <a:spLocks/>
          </p:cNvSpPr>
          <p:nvPr/>
        </p:nvSpPr>
        <p:spPr>
          <a:xfrm>
            <a:off x="685800" y="3081528"/>
            <a:ext cx="3108960" cy="320088"/>
          </a:xfrm>
          <a:prstGeom prst="rect">
            <a:avLst/>
          </a:prstGeom>
          <a:noFill/>
        </p:spPr>
        <p:txBody>
          <a:bodyPr wrap="square" lIns="36576" tIns="36576" rIns="36576" bIns="36576" anchor="t">
            <a:spAutoFit/>
          </a:bodyPr>
          <a:lstStyle/>
          <a:p>
            <a:pPr algn="l">
              <a:spcAft>
                <a:spcPts val="0"/>
              </a:spcAft>
            </a:pPr>
            <a:r>
              <a:rPr lang="en-GB" sz="1600" b="1">
                <a:solidFill>
                  <a:srgbClr val="1E2B40"/>
                </a:solidFill>
              </a:rPr>
              <a:t>Run unfiltered debug flow</a:t>
            </a:r>
          </a:p>
        </p:txBody>
      </p:sp>
      <p:cxnSp>
        <p:nvCxnSpPr>
          <p:cNvPr id="14" name="Connector 13"/>
          <p:cNvCxnSpPr/>
          <p:nvPr/>
        </p:nvCxnSpPr>
        <p:spPr>
          <a:xfrm>
            <a:off x="3931920" y="3035808"/>
            <a:ext cx="0" cy="96012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5" name="TextBox 14"/>
          <p:cNvSpPr txBox="1">
            <a:spLocks/>
          </p:cNvSpPr>
          <p:nvPr/>
        </p:nvSpPr>
        <p:spPr>
          <a:xfrm>
            <a:off x="4251960" y="3081528"/>
            <a:ext cx="6903720" cy="566309"/>
          </a:xfrm>
          <a:prstGeom prst="rect">
            <a:avLst/>
          </a:prstGeom>
          <a:noFill/>
        </p:spPr>
        <p:txBody>
          <a:bodyPr wrap="square" lIns="36576" tIns="36576" rIns="36576" bIns="36576" anchor="t">
            <a:spAutoFit/>
          </a:bodyPr>
          <a:lstStyle/>
          <a:p>
            <a:pPr algn="l">
              <a:spcAft>
                <a:spcPts val="0"/>
              </a:spcAft>
            </a:pPr>
            <a:r>
              <a:rPr lang="en-GB" sz="1600" b="0">
                <a:solidFill>
                  <a:srgbClr val="233A59"/>
                </a:solidFill>
              </a:rPr>
              <a:t>Filter by address/port and bound the capture; this prevents noise and operational impact.</a:t>
            </a:r>
          </a:p>
        </p:txBody>
      </p:sp>
      <p:cxnSp>
        <p:nvCxnSpPr>
          <p:cNvPr id="16" name="Connector 15"/>
          <p:cNvCxnSpPr/>
          <p:nvPr/>
        </p:nvCxnSpPr>
        <p:spPr>
          <a:xfrm>
            <a:off x="685800" y="4133087"/>
            <a:ext cx="10469880"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17" name="TextBox 16"/>
          <p:cNvSpPr txBox="1">
            <a:spLocks/>
          </p:cNvSpPr>
          <p:nvPr/>
        </p:nvSpPr>
        <p:spPr>
          <a:xfrm>
            <a:off x="685800" y="4379976"/>
            <a:ext cx="3108960" cy="320088"/>
          </a:xfrm>
          <a:prstGeom prst="rect">
            <a:avLst/>
          </a:prstGeom>
          <a:noFill/>
        </p:spPr>
        <p:txBody>
          <a:bodyPr wrap="square" lIns="36576" tIns="36576" rIns="36576" bIns="36576" anchor="t">
            <a:spAutoFit/>
          </a:bodyPr>
          <a:lstStyle/>
          <a:p>
            <a:pPr algn="l">
              <a:spcAft>
                <a:spcPts val="0"/>
              </a:spcAft>
            </a:pPr>
            <a:r>
              <a:rPr lang="en-GB" sz="1600" b="1">
                <a:solidFill>
                  <a:srgbClr val="1E2B40"/>
                </a:solidFill>
              </a:rPr>
              <a:t>Clear all sessions after a change</a:t>
            </a:r>
          </a:p>
        </p:txBody>
      </p:sp>
      <p:cxnSp>
        <p:nvCxnSpPr>
          <p:cNvPr id="18" name="Connector 17"/>
          <p:cNvCxnSpPr/>
          <p:nvPr/>
        </p:nvCxnSpPr>
        <p:spPr>
          <a:xfrm>
            <a:off x="3931920" y="4334256"/>
            <a:ext cx="0" cy="96012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251960" y="4379976"/>
            <a:ext cx="6903720" cy="822960"/>
          </a:xfrm>
          <a:prstGeom prst="rect">
            <a:avLst/>
          </a:prstGeom>
          <a:noFill/>
        </p:spPr>
        <p:txBody>
          <a:bodyPr wrap="square" lIns="36576" tIns="36576" rIns="36576" bIns="36576" anchor="t">
            <a:spAutoFit/>
          </a:bodyPr>
          <a:lstStyle/>
          <a:p>
            <a:pPr algn="l">
              <a:spcAft>
                <a:spcPts val="0"/>
              </a:spcAft>
            </a:pPr>
            <a:r>
              <a:rPr sz="1600" b="0">
                <a:solidFill>
                  <a:srgbClr val="233A59"/>
                </a:solidFill>
              </a:rPr>
              <a:t>Use a new five-tuple or narrow session filter; broad clearing disrupts unrelated users.</a:t>
            </a:r>
          </a:p>
        </p:txBody>
      </p:sp>
      <p:cxnSp>
        <p:nvCxnSpPr>
          <p:cNvPr id="20" name="Connector 19"/>
          <p:cNvCxnSpPr/>
          <p:nvPr/>
        </p:nvCxnSpPr>
        <p:spPr>
          <a:xfrm>
            <a:off x="685800" y="5431536"/>
            <a:ext cx="10469880"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58368" y="5833872"/>
            <a:ext cx="731520" cy="182880"/>
          </a:xfrm>
          <a:prstGeom prst="rect">
            <a:avLst/>
          </a:prstGeom>
          <a:noFill/>
        </p:spPr>
        <p:txBody>
          <a:bodyPr wrap="square" lIns="36576" tIns="36576" rIns="36576" bIns="36576" anchor="t">
            <a:spAutoFit/>
          </a:bodyPr>
          <a:lstStyle/>
          <a:p>
            <a:pPr algn="l">
              <a:spcAft>
                <a:spcPts val="0"/>
              </a:spcAft>
            </a:pPr>
            <a:r>
              <a:rPr sz="1000" b="1">
                <a:solidFill>
                  <a:srgbClr val="E60012"/>
                </a:solidFill>
              </a:rPr>
              <a:t>LESSON</a:t>
            </a:r>
          </a:p>
        </p:txBody>
      </p:sp>
      <p:sp>
        <p:nvSpPr>
          <p:cNvPr id="22" name="TextBox 21"/>
          <p:cNvSpPr txBox="1"/>
          <p:nvPr/>
        </p:nvSpPr>
        <p:spPr>
          <a:xfrm>
            <a:off x="1417320" y="5769864"/>
            <a:ext cx="9875520" cy="384048"/>
          </a:xfrm>
          <a:prstGeom prst="rect">
            <a:avLst/>
          </a:prstGeom>
          <a:noFill/>
        </p:spPr>
        <p:txBody>
          <a:bodyPr wrap="square" lIns="36576" tIns="36576" rIns="36576" bIns="36576" anchor="t">
            <a:spAutoFit/>
          </a:bodyPr>
          <a:lstStyle/>
          <a:p>
            <a:pPr algn="l">
              <a:spcAft>
                <a:spcPts val="0"/>
              </a:spcAft>
            </a:pPr>
            <a:r>
              <a:rPr sz="1300" b="1">
                <a:solidFill>
                  <a:srgbClr val="233A59"/>
                </a:solidFill>
              </a:rPr>
              <a:t>A correction changes a concrete configuration, test or interpretation—not merely the wording used to describe it.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45</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Troubleshooting workflow: narrow the failed decision</a:t>
            </a:r>
          </a:p>
        </p:txBody>
      </p:sp>
      <p:sp>
        <p:nvSpPr>
          <p:cNvPr id="10" name="Rectangle 9"/>
          <p:cNvSpPr/>
          <p:nvPr/>
        </p:nvSpPr>
        <p:spPr>
          <a:xfrm>
            <a:off x="658368"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1" name="TextBox 10"/>
          <p:cNvSpPr txBox="1">
            <a:spLocks/>
          </p:cNvSpPr>
          <p:nvPr/>
        </p:nvSpPr>
        <p:spPr>
          <a:xfrm>
            <a:off x="768096" y="2020824"/>
            <a:ext cx="411480" cy="219456"/>
          </a:xfrm>
          <a:prstGeom prst="rect">
            <a:avLst/>
          </a:prstGeom>
          <a:noFill/>
        </p:spPr>
        <p:txBody>
          <a:bodyPr wrap="square" lIns="27432" tIns="27432" rIns="27432" bIns="27432" anchor="t">
            <a:spAutoFit/>
          </a:bodyPr>
          <a:lstStyle/>
          <a:p>
            <a:pPr algn="l">
              <a:spcAft>
                <a:spcPts val="0"/>
              </a:spcAft>
            </a:pPr>
            <a:r>
              <a:rPr lang="en-HU" sz="1100" b="1">
                <a:solidFill>
                  <a:srgbClr val="E60012"/>
                </a:solidFill>
              </a:rPr>
              <a:t>01</a:t>
            </a:r>
          </a:p>
        </p:txBody>
      </p:sp>
      <p:sp>
        <p:nvSpPr>
          <p:cNvPr id="12" name="TextBox 11"/>
          <p:cNvSpPr txBox="1">
            <a:spLocks/>
          </p:cNvSpPr>
          <p:nvPr/>
        </p:nvSpPr>
        <p:spPr>
          <a:xfrm>
            <a:off x="768096" y="2340864"/>
            <a:ext cx="1830628" cy="603504"/>
          </a:xfrm>
          <a:prstGeom prst="rect">
            <a:avLst/>
          </a:prstGeom>
          <a:noFill/>
        </p:spPr>
        <p:txBody>
          <a:bodyPr wrap="square" lIns="27432" tIns="27432" rIns="27432" bIns="27432" anchor="ctr">
            <a:spAutoFit/>
          </a:bodyPr>
          <a:lstStyle/>
          <a:p>
            <a:pPr algn="ctr">
              <a:spcAft>
                <a:spcPts val="0"/>
              </a:spcAft>
            </a:pPr>
            <a:r>
              <a:rPr lang="en-GB" sz="1400" b="1">
                <a:solidFill>
                  <a:srgbClr val="1E2B40"/>
                </a:solidFill>
              </a:rPr>
              <a:t>Define the expected original and translated tuples</a:t>
            </a:r>
          </a:p>
        </p:txBody>
      </p:sp>
      <p:cxnSp>
        <p:nvCxnSpPr>
          <p:cNvPr id="13" name="Connector 12"/>
          <p:cNvCxnSpPr/>
          <p:nvPr/>
        </p:nvCxnSpPr>
        <p:spPr>
          <a:xfrm>
            <a:off x="2708452"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2854756"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964484" y="2020824"/>
            <a:ext cx="411480" cy="219456"/>
          </a:xfrm>
          <a:prstGeom prst="rect">
            <a:avLst/>
          </a:prstGeom>
          <a:noFill/>
        </p:spPr>
        <p:txBody>
          <a:bodyPr wrap="square" lIns="27432" tIns="27432" rIns="27432" bIns="27432" anchor="t">
            <a:spAutoFit/>
          </a:bodyPr>
          <a:lstStyle/>
          <a:p>
            <a:pPr algn="l">
              <a:spcAft>
                <a:spcPts val="0"/>
              </a:spcAft>
            </a:pPr>
            <a:r>
              <a:rPr sz="1100" b="1">
                <a:solidFill>
                  <a:srgbClr val="E60012"/>
                </a:solidFill>
              </a:rPr>
              <a:t>02</a:t>
            </a:r>
          </a:p>
        </p:txBody>
      </p:sp>
      <p:sp>
        <p:nvSpPr>
          <p:cNvPr id="16" name="TextBox 15"/>
          <p:cNvSpPr txBox="1"/>
          <p:nvPr/>
        </p:nvSpPr>
        <p:spPr>
          <a:xfrm>
            <a:off x="2964484" y="2340864"/>
            <a:ext cx="1830628" cy="603504"/>
          </a:xfrm>
          <a:prstGeom prst="rect">
            <a:avLst/>
          </a:prstGeom>
          <a:noFill/>
        </p:spPr>
        <p:txBody>
          <a:bodyPr wrap="square" lIns="27432" tIns="27432" rIns="27432" bIns="27432" anchor="ctr">
            <a:spAutoFit/>
          </a:bodyPr>
          <a:lstStyle/>
          <a:p>
            <a:pPr algn="ctr">
              <a:spcAft>
                <a:spcPts val="0"/>
              </a:spcAft>
            </a:pPr>
            <a:r>
              <a:rPr sz="1400" b="1">
                <a:solidFill>
                  <a:srgbClr val="1E2B40"/>
                </a:solidFill>
              </a:rPr>
              <a:t>Check route and matching policy/VIP</a:t>
            </a:r>
          </a:p>
        </p:txBody>
      </p:sp>
      <p:cxnSp>
        <p:nvCxnSpPr>
          <p:cNvPr id="17" name="Connector 16"/>
          <p:cNvCxnSpPr/>
          <p:nvPr/>
        </p:nvCxnSpPr>
        <p:spPr>
          <a:xfrm>
            <a:off x="4904841"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5051145"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60873" y="2020824"/>
            <a:ext cx="411480" cy="219456"/>
          </a:xfrm>
          <a:prstGeom prst="rect">
            <a:avLst/>
          </a:prstGeom>
          <a:noFill/>
        </p:spPr>
        <p:txBody>
          <a:bodyPr wrap="square" lIns="27432" tIns="27432" rIns="27432" bIns="27432" anchor="t">
            <a:spAutoFit/>
          </a:bodyPr>
          <a:lstStyle/>
          <a:p>
            <a:pPr algn="l">
              <a:spcAft>
                <a:spcPts val="0"/>
              </a:spcAft>
            </a:pPr>
            <a:r>
              <a:rPr sz="1100" b="1">
                <a:solidFill>
                  <a:srgbClr val="E60012"/>
                </a:solidFill>
              </a:rPr>
              <a:t>03</a:t>
            </a:r>
          </a:p>
        </p:txBody>
      </p:sp>
      <p:sp>
        <p:nvSpPr>
          <p:cNvPr id="20" name="TextBox 19"/>
          <p:cNvSpPr txBox="1"/>
          <p:nvPr/>
        </p:nvSpPr>
        <p:spPr>
          <a:xfrm>
            <a:off x="5160873" y="2340864"/>
            <a:ext cx="1830628" cy="603504"/>
          </a:xfrm>
          <a:prstGeom prst="rect">
            <a:avLst/>
          </a:prstGeom>
          <a:noFill/>
        </p:spPr>
        <p:txBody>
          <a:bodyPr wrap="square" lIns="27432" tIns="27432" rIns="27432" bIns="27432" anchor="ctr">
            <a:spAutoFit/>
          </a:bodyPr>
          <a:lstStyle/>
          <a:p>
            <a:pPr algn="ctr">
              <a:spcAft>
                <a:spcPts val="0"/>
              </a:spcAft>
            </a:pPr>
            <a:r>
              <a:rPr sz="1400" b="1">
                <a:solidFill>
                  <a:srgbClr val="1E2B40"/>
                </a:solidFill>
              </a:rPr>
              <a:t>Inspect live session state</a:t>
            </a:r>
          </a:p>
        </p:txBody>
      </p:sp>
      <p:cxnSp>
        <p:nvCxnSpPr>
          <p:cNvPr id="21" name="Connector 20"/>
          <p:cNvCxnSpPr/>
          <p:nvPr/>
        </p:nvCxnSpPr>
        <p:spPr>
          <a:xfrm>
            <a:off x="7101230"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7247534"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357262" y="2020824"/>
            <a:ext cx="411480" cy="219456"/>
          </a:xfrm>
          <a:prstGeom prst="rect">
            <a:avLst/>
          </a:prstGeom>
          <a:noFill/>
        </p:spPr>
        <p:txBody>
          <a:bodyPr wrap="square" lIns="27432" tIns="27432" rIns="27432" bIns="27432" anchor="t">
            <a:spAutoFit/>
          </a:bodyPr>
          <a:lstStyle/>
          <a:p>
            <a:pPr algn="l">
              <a:spcAft>
                <a:spcPts val="0"/>
              </a:spcAft>
            </a:pPr>
            <a:r>
              <a:rPr sz="1100" b="1">
                <a:solidFill>
                  <a:srgbClr val="E60012"/>
                </a:solidFill>
              </a:rPr>
              <a:t>04</a:t>
            </a:r>
          </a:p>
        </p:txBody>
      </p:sp>
      <p:sp>
        <p:nvSpPr>
          <p:cNvPr id="24" name="TextBox 23"/>
          <p:cNvSpPr txBox="1"/>
          <p:nvPr/>
        </p:nvSpPr>
        <p:spPr>
          <a:xfrm>
            <a:off x="7357262" y="2340864"/>
            <a:ext cx="1830628" cy="603504"/>
          </a:xfrm>
          <a:prstGeom prst="rect">
            <a:avLst/>
          </a:prstGeom>
          <a:noFill/>
        </p:spPr>
        <p:txBody>
          <a:bodyPr wrap="square" lIns="27432" tIns="27432" rIns="27432" bIns="27432" anchor="ctr">
            <a:spAutoFit/>
          </a:bodyPr>
          <a:lstStyle/>
          <a:p>
            <a:pPr algn="ctr">
              <a:spcAft>
                <a:spcPts val="0"/>
              </a:spcAft>
            </a:pPr>
            <a:r>
              <a:rPr sz="1400" b="1">
                <a:solidFill>
                  <a:srgbClr val="1E2B40"/>
                </a:solidFill>
              </a:rPr>
              <a:t>Capture at two interfaces to localize loss</a:t>
            </a:r>
          </a:p>
        </p:txBody>
      </p:sp>
      <p:cxnSp>
        <p:nvCxnSpPr>
          <p:cNvPr id="25" name="Connector 24"/>
          <p:cNvCxnSpPr/>
          <p:nvPr/>
        </p:nvCxnSpPr>
        <p:spPr>
          <a:xfrm>
            <a:off x="9297619"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9443923"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553651" y="2020824"/>
            <a:ext cx="411480" cy="219456"/>
          </a:xfrm>
          <a:prstGeom prst="rect">
            <a:avLst/>
          </a:prstGeom>
          <a:noFill/>
        </p:spPr>
        <p:txBody>
          <a:bodyPr wrap="square" lIns="27432" tIns="27432" rIns="27432" bIns="27432" anchor="t">
            <a:spAutoFit/>
          </a:bodyPr>
          <a:lstStyle/>
          <a:p>
            <a:pPr algn="l">
              <a:spcAft>
                <a:spcPts val="0"/>
              </a:spcAft>
            </a:pPr>
            <a:r>
              <a:rPr sz="1100" b="1">
                <a:solidFill>
                  <a:srgbClr val="E60012"/>
                </a:solidFill>
              </a:rPr>
              <a:t>05</a:t>
            </a:r>
          </a:p>
        </p:txBody>
      </p:sp>
      <p:sp>
        <p:nvSpPr>
          <p:cNvPr id="28" name="TextBox 27"/>
          <p:cNvSpPr txBox="1"/>
          <p:nvPr/>
        </p:nvSpPr>
        <p:spPr>
          <a:xfrm>
            <a:off x="9553651" y="2340864"/>
            <a:ext cx="1830628" cy="603504"/>
          </a:xfrm>
          <a:prstGeom prst="rect">
            <a:avLst/>
          </a:prstGeom>
          <a:noFill/>
        </p:spPr>
        <p:txBody>
          <a:bodyPr wrap="square" lIns="27432" tIns="27432" rIns="27432" bIns="27432" anchor="ctr">
            <a:spAutoFit/>
          </a:bodyPr>
          <a:lstStyle/>
          <a:p>
            <a:pPr algn="ctr">
              <a:spcAft>
                <a:spcPts val="0"/>
              </a:spcAft>
            </a:pPr>
            <a:r>
              <a:rPr sz="1400" b="1">
                <a:solidFill>
                  <a:srgbClr val="1E2B40"/>
                </a:solidFill>
              </a:rPr>
              <a:t>Run filtered debug flow; disable/reset immediately</a:t>
            </a:r>
          </a:p>
        </p:txBody>
      </p:sp>
      <p:sp>
        <p:nvSpPr>
          <p:cNvPr id="29" name="TextBox 28"/>
          <p:cNvSpPr txBox="1"/>
          <p:nvPr/>
        </p:nvSpPr>
        <p:spPr>
          <a:xfrm>
            <a:off x="658368" y="3703320"/>
            <a:ext cx="2011680" cy="256032"/>
          </a:xfrm>
          <a:prstGeom prst="rect">
            <a:avLst/>
          </a:prstGeom>
          <a:noFill/>
        </p:spPr>
        <p:txBody>
          <a:bodyPr wrap="square" lIns="27432" tIns="27432" rIns="27432" bIns="27432" anchor="t">
            <a:spAutoFit/>
          </a:bodyPr>
          <a:lstStyle/>
          <a:p>
            <a:pPr algn="l">
              <a:spcAft>
                <a:spcPts val="0"/>
              </a:spcAft>
            </a:pPr>
            <a:r>
              <a:rPr sz="1100" b="1">
                <a:solidFill>
                  <a:srgbClr val="E60012"/>
                </a:solidFill>
              </a:rPr>
              <a:t>What to observe</a:t>
            </a:r>
          </a:p>
        </p:txBody>
      </p:sp>
      <p:sp>
        <p:nvSpPr>
          <p:cNvPr id="30" name="TextBox 29"/>
          <p:cNvSpPr txBox="1"/>
          <p:nvPr/>
        </p:nvSpPr>
        <p:spPr>
          <a:xfrm>
            <a:off x="658368" y="4050791"/>
            <a:ext cx="6446520" cy="1508760"/>
          </a:xfrm>
          <a:prstGeom prst="rect">
            <a:avLst/>
          </a:prstGeom>
          <a:noFill/>
        </p:spPr>
        <p:txBody>
          <a:bodyPr wrap="square" lIns="109728" tIns="73152" rIns="109728" bIns="73152" anchor="t">
            <a:spAutoFit/>
          </a:bodyPr>
          <a:lstStyle/>
          <a:p>
            <a:pPr algn="l">
              <a:lnSpc>
                <a:spcPct val="105000"/>
              </a:lnSpc>
              <a:spcAft>
                <a:spcPts val="700"/>
              </a:spcAft>
              <a:defRPr sz="1600">
                <a:solidFill>
                  <a:srgbClr val="1E2B40"/>
                </a:solidFill>
              </a:defRPr>
            </a:pPr>
            <a:r>
              <a:t>• Inspect live session state</a:t>
            </a:r>
          </a:p>
          <a:p>
            <a:pPr>
              <a:lnSpc>
                <a:spcPct val="105000"/>
              </a:lnSpc>
              <a:spcAft>
                <a:spcPts val="700"/>
              </a:spcAft>
              <a:defRPr sz="1600">
                <a:solidFill>
                  <a:srgbClr val="1E2B40"/>
                </a:solidFill>
              </a:defRPr>
            </a:pPr>
            <a:r>
              <a:t>• Capture at two interfaces to localize loss</a:t>
            </a:r>
          </a:p>
          <a:p>
            <a:pPr>
              <a:lnSpc>
                <a:spcPct val="105000"/>
              </a:lnSpc>
              <a:spcAft>
                <a:spcPts val="700"/>
              </a:spcAft>
              <a:defRPr sz="1600">
                <a:solidFill>
                  <a:srgbClr val="1E2B40"/>
                </a:solidFill>
              </a:defRPr>
            </a:pPr>
            <a:r>
              <a:t>• Run filtered debug flow; disable/reset immediately</a:t>
            </a:r>
          </a:p>
        </p:txBody>
      </p:sp>
      <p:cxnSp>
        <p:nvCxnSpPr>
          <p:cNvPr id="31" name="Connector 30"/>
          <p:cNvCxnSpPr/>
          <p:nvPr/>
        </p:nvCxnSpPr>
        <p:spPr>
          <a:xfrm>
            <a:off x="7452360" y="3703320"/>
            <a:ext cx="0" cy="2093976"/>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7772400" y="3703320"/>
            <a:ext cx="292608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INSTRUCTOR DEMONSTRATION</a:t>
            </a:r>
            <a:endParaRPr sz="1100" b="1">
              <a:solidFill>
                <a:srgbClr val="E60012"/>
              </a:solidFill>
            </a:endParaRPr>
          </a:p>
        </p:txBody>
      </p:sp>
      <p:sp>
        <p:nvSpPr>
          <p:cNvPr id="33" name="TextBox 32"/>
          <p:cNvSpPr txBox="1"/>
          <p:nvPr/>
        </p:nvSpPr>
        <p:spPr>
          <a:xfrm>
            <a:off x="7772400" y="4096512"/>
            <a:ext cx="3337560" cy="1234440"/>
          </a:xfrm>
          <a:prstGeom prst="rect">
            <a:avLst/>
          </a:prstGeom>
          <a:noFill/>
        </p:spPr>
        <p:txBody>
          <a:bodyPr wrap="square" lIns="27432" tIns="27432" rIns="27432" bIns="27432" anchor="t">
            <a:spAutoFit/>
          </a:bodyPr>
          <a:lstStyle/>
          <a:p>
            <a:pPr algn="l">
              <a:spcAft>
                <a:spcPts val="0"/>
              </a:spcAft>
            </a:pPr>
            <a:r>
              <a:rPr sz="1500" b="1">
                <a:solidFill>
                  <a:srgbClr val="233A59"/>
                </a:solidFill>
              </a:rPr>
              <a:t>Preserve timestamps and before/after state; stop/reset debug operations.</a:t>
            </a:r>
          </a:p>
        </p:txBody>
      </p:sp>
      <p:sp>
        <p:nvSpPr>
          <p:cNvPr id="34" name="TextBox 33"/>
          <p:cNvSpPr txBox="1"/>
          <p:nvPr/>
        </p:nvSpPr>
        <p:spPr>
          <a:xfrm>
            <a:off x="7772400" y="5440680"/>
            <a:ext cx="3337560" cy="363176"/>
          </a:xfrm>
          <a:prstGeom prst="rect">
            <a:avLst/>
          </a:prstGeom>
          <a:noFill/>
        </p:spPr>
        <p:txBody>
          <a:bodyPr wrap="square" lIns="27432" tIns="27432" rIns="27432" bIns="27432" anchor="t">
            <a:spAutoFit/>
          </a:bodyPr>
          <a:lstStyle/>
          <a:p>
            <a:pPr algn="l">
              <a:spcAft>
                <a:spcPts val="0"/>
              </a:spcAft>
            </a:pPr>
            <a:r>
              <a:rPr lang="en-GB" sz="1000" b="0">
                <a:solidFill>
                  <a:srgbClr val="687385"/>
                </a:solidFill>
              </a:rPr>
              <a:t>If debug is used, filter by the test tuple and disable</a:t>
            </a:r>
            <a:r>
              <a:rPr sz="1000" b="0">
                <a:solidFill>
                  <a:srgbClr val="687385"/>
                </a:solidFill>
              </a:rPr>
              <a:t>/reset </a:t>
            </a:r>
            <a:r>
              <a:rPr lang="en-GB" sz="1000" b="0">
                <a:solidFill>
                  <a:srgbClr val="687385"/>
                </a:solidFill>
              </a:rPr>
              <a:t>it immediately </a:t>
            </a:r>
            <a:r>
              <a:rPr sz="1000" b="0">
                <a:solidFill>
                  <a:srgbClr val="687385"/>
                </a:solidFill>
              </a:rPr>
              <a:t>after </a:t>
            </a:r>
            <a:r>
              <a:rPr lang="en-GB" sz="1000" b="0">
                <a:solidFill>
                  <a:srgbClr val="687385"/>
                </a:solidFill>
              </a:rPr>
              <a:t>capture</a:t>
            </a:r>
            <a:r>
              <a:rPr sz="1000" b="0">
                <a:solidFill>
                  <a:srgbClr val="687385"/>
                </a:solidFill>
              </a:rPr>
              <a:t>.</a:t>
            </a:r>
          </a:p>
        </p:txBody>
      </p:sp>
      <p:sp>
        <p:nvSpPr>
          <p:cNvPr id="35" name="TextBox 34"/>
          <p:cNvSpPr txBox="1"/>
          <p:nvPr/>
        </p:nvSpPr>
        <p:spPr>
          <a:xfrm>
            <a:off x="502920" y="420624"/>
            <a:ext cx="10744200" cy="130805"/>
          </a:xfrm>
          <a:prstGeom prst="rect">
            <a:avLst/>
          </a:prstGeom>
          <a:noFill/>
        </p:spPr>
        <p:txBody>
          <a:bodyPr wrap="square" lIns="0" tIns="0" rIns="0" bIns="0">
            <a:spAutoFit/>
          </a:bodyPr>
          <a:lstStyle/>
          <a:p>
            <a:pPr algn="l"/>
            <a:r>
              <a:rPr lang="en-HU" sz="850" b="1">
                <a:solidFill>
                  <a:srgbClr val="687385"/>
                </a:solidFill>
              </a:rPr>
              <a:t>045</a:t>
            </a:r>
            <a:r>
              <a:rPr sz="850" b="1">
                <a:solidFill>
                  <a:srgbClr val="687385"/>
                </a:solidFill>
              </a:rPr>
              <a:t> • DAY 1 • BLOCK 04 • NAT, Logging &amp; CLI Troubleshooting</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46</a:t>
            </a:r>
          </a:p>
        </p:txBody>
      </p:sp>
      <p:sp>
        <p:nvSpPr>
          <p:cNvPr id="9" name="TextBox 8"/>
          <p:cNvSpPr txBox="1">
            <a:spLocks/>
          </p:cNvSpPr>
          <p:nvPr/>
        </p:nvSpPr>
        <p:spPr>
          <a:xfrm>
            <a:off x="502920" y="621792"/>
            <a:ext cx="11109960" cy="455509"/>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Practical handoff: Publish, NAT and Troubleshoot a DMZ Service</a:t>
            </a:r>
          </a:p>
        </p:txBody>
      </p:sp>
      <p:sp>
        <p:nvSpPr>
          <p:cNvPr id="10" name="TextBox 9"/>
          <p:cNvSpPr txBox="1">
            <a:spLocks/>
          </p:cNvSpPr>
          <p:nvPr/>
        </p:nvSpPr>
        <p:spPr>
          <a:xfrm>
            <a:off x="658368" y="1554480"/>
            <a:ext cx="6583680" cy="3571427"/>
          </a:xfrm>
          <a:prstGeom prst="rect">
            <a:avLst/>
          </a:prstGeom>
          <a:noFill/>
        </p:spPr>
        <p:txBody>
          <a:bodyPr wrap="square" lIns="109728" tIns="73152" rIns="109728" bIns="73152" anchor="t">
            <a:spAutoFit/>
          </a:bodyPr>
          <a:lstStyle/>
          <a:p>
            <a:pPr algn="l">
              <a:lnSpc>
                <a:spcPct val="105000"/>
              </a:lnSpc>
              <a:spcAft>
                <a:spcPts val="800"/>
              </a:spcAft>
              <a:defRPr sz="1700">
                <a:solidFill>
                  <a:srgbClr val="1E2B40"/>
                </a:solidFill>
              </a:defRPr>
            </a:pPr>
            <a:r>
              <a:rPr lang="en-GB"/>
              <a:t>• START / PREREQUISITES: Student N DMZ service host placeholder assigned by instructor; inbound test source and logging prepared.</a:t>
            </a:r>
          </a:p>
          <a:p>
            <a:pPr>
              <a:lnSpc>
                <a:spcPct val="105000"/>
              </a:lnSpc>
              <a:spcAft>
                <a:spcPts val="800"/>
              </a:spcAft>
              <a:defRPr sz="1700">
                <a:solidFill>
                  <a:srgbClr val="1E2B40"/>
                </a:solidFill>
              </a:defRPr>
            </a:pPr>
            <a:r>
              <a:rPr lang="en-GB"/>
              <a:t>• CHANGE / INVESTIGATE: Create a VIP and policy, test publication, then diagnose one safe NAT/policy/return-path fault.</a:t>
            </a:r>
          </a:p>
          <a:p>
            <a:pPr>
              <a:lnSpc>
                <a:spcPct val="105000"/>
              </a:lnSpc>
              <a:spcAft>
                <a:spcPts val="800"/>
              </a:spcAft>
              <a:defRPr sz="1700">
                <a:solidFill>
                  <a:srgbClr val="1E2B40"/>
                </a:solidFill>
              </a:defRPr>
            </a:pPr>
            <a:r>
              <a:rPr lang="en-GB"/>
              <a:t>• EXPECTED RESULT: The external tuple translates to the assigned DMZ server placeholder; logs/captures show the correct policy and return traffic.</a:t>
            </a:r>
          </a:p>
          <a:p>
            <a:pPr>
              <a:lnSpc>
                <a:spcPct val="105000"/>
              </a:lnSpc>
              <a:spcAft>
                <a:spcPts val="800"/>
              </a:spcAft>
              <a:defRPr sz="1700">
                <a:solidFill>
                  <a:srgbClr val="1E2B40"/>
                </a:solidFill>
              </a:defRPr>
            </a:pPr>
            <a:r>
              <a:rPr lang="en-GB"/>
              <a:t>• CLEANUP / RESET: Remove the test VIP/fault or restore the saved baseline; stop captures and session filters.</a:t>
            </a:r>
          </a:p>
          <a:p>
            <a:pPr>
              <a:lnSpc>
                <a:spcPct val="105000"/>
              </a:lnSpc>
              <a:spcAft>
                <a:spcPts val="800"/>
              </a:spcAft>
              <a:defRPr sz="1700">
                <a:solidFill>
                  <a:srgbClr val="1E2B40"/>
                </a:solidFill>
              </a:defRPr>
            </a:pPr>
            <a:r>
              <a:rPr lang="en-GB"/>
              <a:t>• DELIVERY: Hands-on only with the planned DMZ server; instructor packet-trace fallback.</a:t>
            </a:r>
          </a:p>
        </p:txBody>
      </p:sp>
      <p:cxnSp>
        <p:nvCxnSpPr>
          <p:cNvPr id="11" name="Connector 10"/>
          <p:cNvCxnSpPr/>
          <p:nvPr/>
        </p:nvCxnSpPr>
        <p:spPr>
          <a:xfrm>
            <a:off x="7452360" y="1600200"/>
            <a:ext cx="0" cy="434340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7790688" y="1627632"/>
            <a:ext cx="342900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PLANNED EXERCISE</a:t>
            </a:r>
          </a:p>
        </p:txBody>
      </p:sp>
      <p:sp>
        <p:nvSpPr>
          <p:cNvPr id="13" name="TextBox 12"/>
          <p:cNvSpPr txBox="1">
            <a:spLocks/>
          </p:cNvSpPr>
          <p:nvPr/>
        </p:nvSpPr>
        <p:spPr>
          <a:xfrm>
            <a:off x="7790688" y="2057400"/>
            <a:ext cx="3337560" cy="1101840"/>
          </a:xfrm>
          <a:prstGeom prst="rect">
            <a:avLst/>
          </a:prstGeom>
          <a:noFill/>
        </p:spPr>
        <p:txBody>
          <a:bodyPr wrap="square" lIns="27432" tIns="27432" rIns="27432" bIns="27432" anchor="t">
            <a:spAutoFit/>
          </a:bodyPr>
          <a:lstStyle/>
          <a:p>
            <a:pPr algn="l">
              <a:spcAft>
                <a:spcPts val="0"/>
              </a:spcAft>
            </a:pPr>
            <a:r>
              <a:rPr lang="en-GB" sz="1700" b="1">
                <a:solidFill>
                  <a:srgbClr val="233A59"/>
                </a:solidFill>
              </a:rPr>
              <a:t>Create a VIP and policy, test publication, then diagnose one safe NAT/policy/return-path fault.</a:t>
            </a:r>
          </a:p>
        </p:txBody>
      </p:sp>
      <p:sp>
        <p:nvSpPr>
          <p:cNvPr id="14" name="TextBox 13"/>
          <p:cNvSpPr txBox="1">
            <a:spLocks/>
          </p:cNvSpPr>
          <p:nvPr/>
        </p:nvSpPr>
        <p:spPr>
          <a:xfrm>
            <a:off x="7790688" y="3822191"/>
            <a:ext cx="18288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EXPECTED RESULT</a:t>
            </a:r>
          </a:p>
        </p:txBody>
      </p:sp>
      <p:sp>
        <p:nvSpPr>
          <p:cNvPr id="15" name="TextBox 14"/>
          <p:cNvSpPr txBox="1">
            <a:spLocks/>
          </p:cNvSpPr>
          <p:nvPr/>
        </p:nvSpPr>
        <p:spPr>
          <a:xfrm>
            <a:off x="7790688" y="4187952"/>
            <a:ext cx="3337560" cy="978729"/>
          </a:xfrm>
          <a:prstGeom prst="rect">
            <a:avLst/>
          </a:prstGeom>
          <a:noFill/>
        </p:spPr>
        <p:txBody>
          <a:bodyPr wrap="square" lIns="27432" tIns="27432" rIns="27432" bIns="27432" anchor="t">
            <a:spAutoFit/>
          </a:bodyPr>
          <a:lstStyle/>
          <a:p>
            <a:pPr algn="l">
              <a:spcAft>
                <a:spcPts val="0"/>
              </a:spcAft>
            </a:pPr>
            <a:r>
              <a:rPr lang="en-GB" sz="1500" b="0">
                <a:solidFill>
                  <a:srgbClr val="1E2B40"/>
                </a:solidFill>
              </a:rPr>
              <a:t>The external tuple translates to the assigned DMZ server placeholder; logs/captures show the correct policy and return traffic.</a:t>
            </a:r>
          </a:p>
        </p:txBody>
      </p:sp>
      <p:sp>
        <p:nvSpPr>
          <p:cNvPr id="16" name="TextBox 15"/>
          <p:cNvSpPr txBox="1">
            <a:spLocks/>
          </p:cNvSpPr>
          <p:nvPr/>
        </p:nvSpPr>
        <p:spPr>
          <a:xfrm>
            <a:off x="7790688" y="5559552"/>
            <a:ext cx="1097280" cy="209288"/>
          </a:xfrm>
          <a:prstGeom prst="rect">
            <a:avLst/>
          </a:prstGeom>
          <a:noFill/>
        </p:spPr>
        <p:txBody>
          <a:bodyPr wrap="square" lIns="27432" tIns="27432" rIns="27432" bIns="27432" anchor="t">
            <a:spAutoFit/>
          </a:bodyPr>
          <a:lstStyle/>
          <a:p>
            <a:pPr algn="l">
              <a:spcAft>
                <a:spcPts val="0"/>
              </a:spcAft>
            </a:pPr>
            <a:r>
              <a:rPr lang="en-GB" sz="1000" b="1">
                <a:solidFill>
                  <a:srgbClr val="687385"/>
                </a:solidFill>
              </a:rPr>
              <a:t>DELIVERY MODE</a:t>
            </a:r>
          </a:p>
        </p:txBody>
      </p:sp>
      <p:sp>
        <p:nvSpPr>
          <p:cNvPr id="17" name="TextBox 16"/>
          <p:cNvSpPr txBox="1">
            <a:spLocks/>
          </p:cNvSpPr>
          <p:nvPr/>
        </p:nvSpPr>
        <p:spPr>
          <a:xfrm>
            <a:off x="8942832" y="5504688"/>
            <a:ext cx="2258568" cy="486287"/>
          </a:xfrm>
          <a:prstGeom prst="rect">
            <a:avLst/>
          </a:prstGeom>
          <a:noFill/>
        </p:spPr>
        <p:txBody>
          <a:bodyPr wrap="square" lIns="27432" tIns="27432" rIns="27432" bIns="27432" anchor="t">
            <a:spAutoFit/>
          </a:bodyPr>
          <a:lstStyle/>
          <a:p>
            <a:pPr algn="r">
              <a:spcAft>
                <a:spcPts val="0"/>
              </a:spcAft>
            </a:pPr>
            <a:r>
              <a:rPr lang="en-GB" sz="1400" b="0">
                <a:solidFill>
                  <a:srgbClr val="687385"/>
                </a:solidFill>
              </a:rPr>
              <a:t>Hands-on when DMZ server exists</a:t>
            </a:r>
          </a:p>
        </p:txBody>
      </p:sp>
      <p:sp>
        <p:nvSpPr>
          <p:cNvPr id="18" name="TextBox 17"/>
          <p:cNvSpPr txBox="1">
            <a:spLocks/>
          </p:cNvSpPr>
          <p:nvPr/>
        </p:nvSpPr>
        <p:spPr>
          <a:xfrm>
            <a:off x="502920" y="420624"/>
            <a:ext cx="10744200" cy="130805"/>
          </a:xfrm>
          <a:prstGeom prst="rect">
            <a:avLst/>
          </a:prstGeom>
          <a:noFill/>
        </p:spPr>
        <p:txBody>
          <a:bodyPr wrap="square" lIns="0" tIns="0" rIns="0" bIns="0">
            <a:spAutoFit/>
          </a:bodyPr>
          <a:lstStyle/>
          <a:p>
            <a:pPr algn="l"/>
            <a:r>
              <a:rPr lang="en-GB" sz="850" b="1">
                <a:solidFill>
                  <a:srgbClr val="687385"/>
                </a:solidFill>
              </a:rPr>
              <a:t>046 • DAY 1 • BLOCK 04 • NAT, Logging &amp; CLI Troubleshooting</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47</a:t>
            </a:r>
          </a:p>
        </p:txBody>
      </p:sp>
      <p:sp>
        <p:nvSpPr>
          <p:cNvPr id="9" name="TextBox 8"/>
          <p:cNvSpPr txBox="1">
            <a:spLocks/>
          </p:cNvSpPr>
          <p:nvPr/>
        </p:nvSpPr>
        <p:spPr>
          <a:xfrm>
            <a:off x="502920" y="621792"/>
            <a:ext cx="11109960" cy="455509"/>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Knowledge check — explain the result</a:t>
            </a:r>
          </a:p>
        </p:txBody>
      </p:sp>
      <p:sp>
        <p:nvSpPr>
          <p:cNvPr id="10" name="TextBox 9"/>
          <p:cNvSpPr txBox="1">
            <a:spLocks/>
          </p:cNvSpPr>
          <p:nvPr/>
        </p:nvSpPr>
        <p:spPr>
          <a:xfrm>
            <a:off x="658368" y="1600200"/>
            <a:ext cx="5312664" cy="292608"/>
          </a:xfrm>
          <a:prstGeom prst="rect">
            <a:avLst/>
          </a:prstGeom>
          <a:noFill/>
        </p:spPr>
        <p:txBody>
          <a:bodyPr wrap="square" lIns="27432" tIns="27432" rIns="27432" bIns="27432" anchor="t">
            <a:spAutoFit/>
          </a:bodyPr>
          <a:lstStyle/>
          <a:p>
            <a:pPr algn="l">
              <a:spcAft>
                <a:spcPts val="0"/>
              </a:spcAft>
            </a:pPr>
            <a:r>
              <a:rPr lang="en-GB" sz="1300" b="1">
                <a:solidFill>
                  <a:srgbClr val="E60012"/>
                </a:solidFill>
              </a:rPr>
              <a:t>QUESTION 1</a:t>
            </a:r>
          </a:p>
        </p:txBody>
      </p:sp>
      <p:cxnSp>
        <p:nvCxnSpPr>
          <p:cNvPr id="11" name="Connector 10"/>
          <p:cNvCxnSpPr/>
          <p:nvPr/>
        </p:nvCxnSpPr>
        <p:spPr>
          <a:xfrm>
            <a:off x="658368" y="1984248"/>
            <a:ext cx="5312664" cy="0"/>
          </a:xfrm>
          <a:prstGeom prst="line">
            <a:avLst/>
          </a:prstGeom>
          <a:ln w="22860">
            <a:solidFill>
              <a:srgbClr val="E60012"/>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658368" y="2176272"/>
            <a:ext cx="5312664" cy="3337560"/>
          </a:xfrm>
          <a:prstGeom prst="rect">
            <a:avLst/>
          </a:prstGeom>
          <a:noFill/>
        </p:spPr>
        <p:txBody>
          <a:bodyPr wrap="square" lIns="109728" tIns="73152" rIns="109728" bIns="73152" anchor="t">
            <a:spAutoFit/>
          </a:bodyPr>
          <a:lstStyle/>
          <a:p>
            <a:pPr algn="l">
              <a:lnSpc>
                <a:spcPct val="105000"/>
              </a:lnSpc>
              <a:spcAft>
                <a:spcPts val="800"/>
              </a:spcAft>
              <a:defRPr sz="1600">
                <a:solidFill>
                  <a:srgbClr val="1E2B40"/>
                </a:solidFill>
              </a:defRPr>
            </a:pPr>
            <a:r>
              <a:rPr lang="en-GB"/>
              <a:t>• Which log best proves the firewall policy and NAT result for a connection?</a:t>
            </a:r>
          </a:p>
        </p:txBody>
      </p:sp>
      <p:sp>
        <p:nvSpPr>
          <p:cNvPr id="13" name="TextBox 12"/>
          <p:cNvSpPr txBox="1">
            <a:spLocks/>
          </p:cNvSpPr>
          <p:nvPr/>
        </p:nvSpPr>
        <p:spPr>
          <a:xfrm>
            <a:off x="6227064" y="1600200"/>
            <a:ext cx="5312664" cy="292608"/>
          </a:xfrm>
          <a:prstGeom prst="rect">
            <a:avLst/>
          </a:prstGeom>
          <a:noFill/>
        </p:spPr>
        <p:txBody>
          <a:bodyPr wrap="square" lIns="27432" tIns="27432" rIns="27432" bIns="27432" anchor="t">
            <a:spAutoFit/>
          </a:bodyPr>
          <a:lstStyle/>
          <a:p>
            <a:pPr algn="l">
              <a:spcAft>
                <a:spcPts val="0"/>
              </a:spcAft>
            </a:pPr>
            <a:r>
              <a:rPr lang="en-GB" sz="1300" b="1">
                <a:solidFill>
                  <a:srgbClr val="E60012"/>
                </a:solidFill>
              </a:rPr>
              <a:t>QUESTION 2</a:t>
            </a:r>
          </a:p>
        </p:txBody>
      </p:sp>
      <p:cxnSp>
        <p:nvCxnSpPr>
          <p:cNvPr id="14" name="Connector 13"/>
          <p:cNvCxnSpPr/>
          <p:nvPr/>
        </p:nvCxnSpPr>
        <p:spPr>
          <a:xfrm>
            <a:off x="6227064" y="1984248"/>
            <a:ext cx="5312664" cy="0"/>
          </a:xfrm>
          <a:prstGeom prst="line">
            <a:avLst/>
          </a:prstGeom>
          <a:ln w="22860">
            <a:solidFill>
              <a:srgbClr val="E60012"/>
            </a:solidFill>
          </a:ln>
        </p:spPr>
        <p:style>
          <a:lnRef idx="2">
            <a:schemeClr val="accent1"/>
          </a:lnRef>
          <a:fillRef idx="0">
            <a:schemeClr val="accent1"/>
          </a:fillRef>
          <a:effectRef idx="1">
            <a:schemeClr val="accent1"/>
          </a:effectRef>
          <a:fontRef idx="minor">
            <a:schemeClr val="tx1"/>
          </a:fontRef>
        </p:style>
      </p:cxnSp>
      <p:sp>
        <p:nvSpPr>
          <p:cNvPr id="15" name="TextBox 14"/>
          <p:cNvSpPr txBox="1">
            <a:spLocks/>
          </p:cNvSpPr>
          <p:nvPr/>
        </p:nvSpPr>
        <p:spPr>
          <a:xfrm>
            <a:off x="6227064" y="2176272"/>
            <a:ext cx="5312664" cy="3337560"/>
          </a:xfrm>
          <a:prstGeom prst="rect">
            <a:avLst/>
          </a:prstGeom>
          <a:noFill/>
        </p:spPr>
        <p:txBody>
          <a:bodyPr wrap="square" lIns="109728" tIns="73152" rIns="109728" bIns="73152" anchor="t">
            <a:spAutoFit/>
          </a:bodyPr>
          <a:lstStyle/>
          <a:p>
            <a:pPr algn="l">
              <a:lnSpc>
                <a:spcPct val="105000"/>
              </a:lnSpc>
              <a:spcAft>
                <a:spcPts val="800"/>
              </a:spcAft>
              <a:defRPr sz="1600">
                <a:solidFill>
                  <a:srgbClr val="1E2B40"/>
                </a:solidFill>
              </a:defRPr>
            </a:pPr>
            <a:r>
              <a:rPr lang="en-GB"/>
              <a:t>• What must be done after a debug-flow demonstration?</a:t>
            </a:r>
          </a:p>
        </p:txBody>
      </p:sp>
      <p:sp>
        <p:nvSpPr>
          <p:cNvPr id="16" name="TextBox 15"/>
          <p:cNvSpPr txBox="1">
            <a:spLocks/>
          </p:cNvSpPr>
          <p:nvPr/>
        </p:nvSpPr>
        <p:spPr>
          <a:xfrm>
            <a:off x="658368" y="5724144"/>
            <a:ext cx="1234440" cy="224677"/>
          </a:xfrm>
          <a:prstGeom prst="rect">
            <a:avLst/>
          </a:prstGeom>
          <a:noFill/>
        </p:spPr>
        <p:txBody>
          <a:bodyPr wrap="square" lIns="27432" tIns="27432" rIns="27432" bIns="27432" anchor="t">
            <a:spAutoFit/>
          </a:bodyPr>
          <a:lstStyle/>
          <a:p>
            <a:pPr algn="l">
              <a:spcAft>
                <a:spcPts val="0"/>
              </a:spcAft>
            </a:pPr>
            <a:r>
              <a:rPr lang="en-GB" sz="1100" b="1">
                <a:solidFill>
                  <a:srgbClr val="233A59"/>
                </a:solidFill>
              </a:rPr>
              <a:t>KEY DISTINCTION</a:t>
            </a:r>
          </a:p>
        </p:txBody>
      </p:sp>
      <p:sp>
        <p:nvSpPr>
          <p:cNvPr id="17" name="TextBox 16"/>
          <p:cNvSpPr txBox="1">
            <a:spLocks/>
          </p:cNvSpPr>
          <p:nvPr/>
        </p:nvSpPr>
        <p:spPr>
          <a:xfrm>
            <a:off x="1920240" y="5687568"/>
            <a:ext cx="9235440" cy="329184"/>
          </a:xfrm>
          <a:prstGeom prst="rect">
            <a:avLst/>
          </a:prstGeom>
          <a:noFill/>
        </p:spPr>
        <p:txBody>
          <a:bodyPr wrap="square" lIns="27432" tIns="27432" rIns="27432" bIns="27432" anchor="t">
            <a:spAutoFit/>
          </a:bodyPr>
          <a:lstStyle/>
          <a:p>
            <a:pPr algn="l">
              <a:spcAft>
                <a:spcPts val="0"/>
              </a:spcAft>
            </a:pPr>
            <a:r>
              <a:rPr lang="en-GB" sz="1400" b="1">
                <a:solidFill>
                  <a:srgbClr val="233A59"/>
                </a:solidFill>
              </a:rPr>
              <a:t>Answers and teaching rationale are in speaker notes.</a:t>
            </a:r>
          </a:p>
        </p:txBody>
      </p:sp>
      <p:sp>
        <p:nvSpPr>
          <p:cNvPr id="18" name="TextBox 17"/>
          <p:cNvSpPr txBox="1">
            <a:spLocks/>
          </p:cNvSpPr>
          <p:nvPr/>
        </p:nvSpPr>
        <p:spPr>
          <a:xfrm>
            <a:off x="502920" y="420624"/>
            <a:ext cx="10744200" cy="130805"/>
          </a:xfrm>
          <a:prstGeom prst="rect">
            <a:avLst/>
          </a:prstGeom>
          <a:noFill/>
        </p:spPr>
        <p:txBody>
          <a:bodyPr wrap="square" lIns="0" tIns="0" rIns="0" bIns="0">
            <a:spAutoFit/>
          </a:bodyPr>
          <a:lstStyle/>
          <a:p>
            <a:pPr algn="l"/>
            <a:r>
              <a:rPr lang="en-GB" sz="850" b="1">
                <a:solidFill>
                  <a:srgbClr val="687385"/>
                </a:solidFill>
              </a:rPr>
              <a:t>047 • DAY 1 • BLOCK 04 • NAT, Logging &amp; CLI Troubleshooting</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01827"/>
        </a:solidFill>
        <a:effectLst/>
      </p:bgPr>
    </p:bg>
    <p:spTree>
      <p:nvGrpSpPr>
        <p:cNvPr id="1" name=""/>
        <p:cNvGrpSpPr/>
        <p:nvPr/>
      </p:nvGrpSpPr>
      <p:grpSpPr>
        <a:xfrm>
          <a:off x="0" y="0"/>
          <a:ext cx="1" cy="1"/>
          <a:chOff x="0" y="0"/>
          <a:chExt cx="1" cy="1"/>
        </a:xfrm>
      </p:grpSpPr>
      <p:sp>
        <p:nvSpPr>
          <p:cNvPr id="2" name="Rectangle 1"/>
          <p:cNvSpPr/>
          <p:nvPr/>
        </p:nvSpPr>
        <p:spPr>
          <a:xfrm>
            <a:off x="0" y="0"/>
            <a:ext cx="146304" cy="6858000"/>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a:spLocks/>
          </p:cNvSpPr>
          <p:nvPr/>
        </p:nvSpPr>
        <p:spPr>
          <a:xfrm>
            <a:off x="658368" y="566928"/>
            <a:ext cx="5212080" cy="256032"/>
          </a:xfrm>
          <a:prstGeom prst="rect">
            <a:avLst/>
          </a:prstGeom>
          <a:noFill/>
        </p:spPr>
        <p:txBody>
          <a:bodyPr wrap="square" lIns="27432" tIns="27432" rIns="27432" bIns="27432" anchor="t">
            <a:spAutoFit/>
          </a:bodyPr>
          <a:lstStyle/>
          <a:p>
            <a:pPr algn="l">
              <a:spcAft>
                <a:spcPts val="0"/>
              </a:spcAft>
            </a:pPr>
            <a:r>
              <a:rPr lang="en-GB" sz="1400" b="1">
                <a:solidFill>
                  <a:srgbClr val="E60012"/>
                </a:solidFill>
              </a:rPr>
              <a:t>DAY 2  •  09:00–10:30</a:t>
            </a:r>
          </a:p>
        </p:txBody>
      </p:sp>
      <p:sp>
        <p:nvSpPr>
          <p:cNvPr id="4" name="TextBox 3"/>
          <p:cNvSpPr txBox="1">
            <a:spLocks/>
          </p:cNvSpPr>
          <p:nvPr/>
        </p:nvSpPr>
        <p:spPr>
          <a:xfrm>
            <a:off x="658368" y="1097280"/>
            <a:ext cx="10515600" cy="914400"/>
          </a:xfrm>
          <a:prstGeom prst="rect">
            <a:avLst/>
          </a:prstGeom>
          <a:noFill/>
        </p:spPr>
        <p:txBody>
          <a:bodyPr wrap="square" lIns="27432" tIns="27432" rIns="27432" bIns="27432" anchor="t">
            <a:spAutoFit/>
          </a:bodyPr>
          <a:lstStyle/>
          <a:p>
            <a:pPr algn="l">
              <a:spcAft>
                <a:spcPts val="0"/>
              </a:spcAft>
            </a:pPr>
            <a:r>
              <a:rPr lang="en-GB" sz="3400" b="1">
                <a:solidFill>
                  <a:srgbClr val="FFFFFF"/>
                </a:solidFill>
              </a:rPr>
              <a:t>Routing Fundamentals &amp; Route Selection</a:t>
            </a:r>
          </a:p>
        </p:txBody>
      </p:sp>
      <p:sp>
        <p:nvSpPr>
          <p:cNvPr id="5" name="TextBox 4"/>
          <p:cNvSpPr txBox="1">
            <a:spLocks/>
          </p:cNvSpPr>
          <p:nvPr/>
        </p:nvSpPr>
        <p:spPr>
          <a:xfrm>
            <a:off x="676656" y="2084831"/>
            <a:ext cx="8686800" cy="320040"/>
          </a:xfrm>
          <a:prstGeom prst="rect">
            <a:avLst/>
          </a:prstGeom>
          <a:noFill/>
        </p:spPr>
        <p:txBody>
          <a:bodyPr wrap="square" lIns="27432" tIns="27432" rIns="27432" bIns="27432" anchor="t">
            <a:spAutoFit/>
          </a:bodyPr>
          <a:lstStyle/>
          <a:p>
            <a:pPr algn="l">
              <a:spcAft>
                <a:spcPts val="0"/>
              </a:spcAft>
            </a:pPr>
            <a:r>
              <a:rPr lang="en-GB" sz="1500" b="0">
                <a:solidFill>
                  <a:srgbClr val="C9D1DD"/>
                </a:solidFill>
              </a:rPr>
              <a:t>Foundations • Day 2 of 2</a:t>
            </a:r>
          </a:p>
        </p:txBody>
      </p:sp>
      <p:cxnSp>
        <p:nvCxnSpPr>
          <p:cNvPr id="6" name="Connector 5"/>
          <p:cNvCxnSpPr/>
          <p:nvPr/>
        </p:nvCxnSpPr>
        <p:spPr>
          <a:xfrm>
            <a:off x="676656" y="2578608"/>
            <a:ext cx="10616184" cy="0"/>
          </a:xfrm>
          <a:prstGeom prst="line">
            <a:avLst/>
          </a:prstGeom>
          <a:ln w="12700">
            <a:solidFill>
              <a:srgbClr val="40516A"/>
            </a:solidFill>
          </a:ln>
        </p:spPr>
        <p:style>
          <a:lnRef idx="2">
            <a:schemeClr val="accent1"/>
          </a:lnRef>
          <a:fillRef idx="0">
            <a:schemeClr val="accent1"/>
          </a:fillRef>
          <a:effectRef idx="1">
            <a:schemeClr val="accent1"/>
          </a:effectRef>
          <a:fontRef idx="minor">
            <a:schemeClr val="tx1"/>
          </a:fontRef>
        </p:style>
      </p:cxnSp>
      <p:sp>
        <p:nvSpPr>
          <p:cNvPr id="7" name="TextBox 6"/>
          <p:cNvSpPr txBox="1">
            <a:spLocks/>
          </p:cNvSpPr>
          <p:nvPr/>
        </p:nvSpPr>
        <p:spPr>
          <a:xfrm>
            <a:off x="685800" y="2889504"/>
            <a:ext cx="27432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LEARNING OBJECTIVES</a:t>
            </a:r>
          </a:p>
        </p:txBody>
      </p:sp>
      <p:sp>
        <p:nvSpPr>
          <p:cNvPr id="8" name="TextBox 7"/>
          <p:cNvSpPr txBox="1">
            <a:spLocks/>
          </p:cNvSpPr>
          <p:nvPr/>
        </p:nvSpPr>
        <p:spPr>
          <a:xfrm>
            <a:off x="685800" y="3218688"/>
            <a:ext cx="6035040" cy="2057400"/>
          </a:xfrm>
          <a:prstGeom prst="rect">
            <a:avLst/>
          </a:prstGeom>
          <a:noFill/>
        </p:spPr>
        <p:txBody>
          <a:bodyPr wrap="square" lIns="109728" tIns="73152" rIns="109728" bIns="73152" anchor="t">
            <a:spAutoFit/>
          </a:bodyPr>
          <a:lstStyle/>
          <a:p>
            <a:pPr algn="l">
              <a:lnSpc>
                <a:spcPct val="105000"/>
              </a:lnSpc>
              <a:spcAft>
                <a:spcPts val="700"/>
              </a:spcAft>
              <a:defRPr sz="1700">
                <a:solidFill>
                  <a:srgbClr val="FFFFFF"/>
                </a:solidFill>
              </a:defRPr>
            </a:pPr>
            <a:r>
              <a:rPr lang="en-GB"/>
              <a:t>• Interpret static and default routes in the routing table</a:t>
            </a:r>
          </a:p>
          <a:p>
            <a:pPr>
              <a:lnSpc>
                <a:spcPct val="105000"/>
              </a:lnSpc>
              <a:spcAft>
                <a:spcPts val="700"/>
              </a:spcAft>
              <a:defRPr sz="1700">
                <a:solidFill>
                  <a:srgbClr val="FFFFFF"/>
                </a:solidFill>
              </a:defRPr>
            </a:pPr>
            <a:r>
              <a:rPr lang="en-GB"/>
              <a:t>• Explain longest prefix, administrative distance, priority and ECMP</a:t>
            </a:r>
          </a:p>
          <a:p>
            <a:pPr>
              <a:lnSpc>
                <a:spcPct val="105000"/>
              </a:lnSpc>
              <a:spcAft>
                <a:spcPts val="700"/>
              </a:spcAft>
              <a:defRPr sz="1700">
                <a:solidFill>
                  <a:srgbClr val="FFFFFF"/>
                </a:solidFill>
              </a:defRPr>
            </a:pPr>
            <a:r>
              <a:rPr lang="en-GB"/>
              <a:t>• Validate next-hop and return-path behavior</a:t>
            </a:r>
          </a:p>
        </p:txBody>
      </p:sp>
      <p:sp>
        <p:nvSpPr>
          <p:cNvPr id="9" name="TextBox 8"/>
          <p:cNvSpPr txBox="1">
            <a:spLocks/>
          </p:cNvSpPr>
          <p:nvPr/>
        </p:nvSpPr>
        <p:spPr>
          <a:xfrm>
            <a:off x="7315200" y="2889504"/>
            <a:ext cx="36576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PREREQUISITES + PRACTICE RESERVE</a:t>
            </a:r>
          </a:p>
        </p:txBody>
      </p:sp>
      <p:sp>
        <p:nvSpPr>
          <p:cNvPr id="10" name="TextBox 9"/>
          <p:cNvSpPr txBox="1">
            <a:spLocks/>
          </p:cNvSpPr>
          <p:nvPr/>
        </p:nvSpPr>
        <p:spPr>
          <a:xfrm>
            <a:off x="7315200" y="3218688"/>
            <a:ext cx="3886200" cy="1143000"/>
          </a:xfrm>
          <a:prstGeom prst="rect">
            <a:avLst/>
          </a:prstGeom>
          <a:noFill/>
        </p:spPr>
        <p:txBody>
          <a:bodyPr wrap="square" lIns="109728" tIns="73152" rIns="109728" bIns="73152" anchor="t">
            <a:spAutoFit/>
          </a:bodyPr>
          <a:lstStyle/>
          <a:p>
            <a:pPr algn="l">
              <a:lnSpc>
                <a:spcPct val="105000"/>
              </a:lnSpc>
              <a:spcAft>
                <a:spcPts val="600"/>
              </a:spcAft>
              <a:defRPr sz="1500">
                <a:solidFill>
                  <a:srgbClr val="FFFFFF"/>
                </a:solidFill>
              </a:defRPr>
            </a:pPr>
            <a:r>
              <a:rPr lang="en-GB"/>
              <a:t>• Day 1 five-tuple and interface concepts</a:t>
            </a:r>
          </a:p>
          <a:p>
            <a:pPr>
              <a:lnSpc>
                <a:spcPct val="105000"/>
              </a:lnSpc>
              <a:spcAft>
                <a:spcPts val="600"/>
              </a:spcAft>
              <a:defRPr sz="1500">
                <a:solidFill>
                  <a:srgbClr val="FFFFFF"/>
                </a:solidFill>
              </a:defRPr>
            </a:pPr>
            <a:r>
              <a:rPr lang="en-GB"/>
              <a:t>• Illustrative addresses from slide 3</a:t>
            </a:r>
          </a:p>
          <a:p>
            <a:pPr>
              <a:lnSpc>
                <a:spcPct val="105000"/>
              </a:lnSpc>
              <a:spcAft>
                <a:spcPts val="600"/>
              </a:spcAft>
              <a:defRPr sz="1500">
                <a:solidFill>
                  <a:srgbClr val="FFFFFF"/>
                </a:solidFill>
              </a:defRPr>
            </a:pPr>
            <a:r>
              <a:rPr lang="en-GB"/>
              <a:t>• Two next hops for ECMP demonstration if available</a:t>
            </a:r>
          </a:p>
        </p:txBody>
      </p:sp>
      <p:sp>
        <p:nvSpPr>
          <p:cNvPr id="11" name="TextBox 10"/>
          <p:cNvSpPr txBox="1">
            <a:spLocks/>
          </p:cNvSpPr>
          <p:nvPr/>
        </p:nvSpPr>
        <p:spPr>
          <a:xfrm>
            <a:off x="7315200" y="4709160"/>
            <a:ext cx="3931920" cy="685800"/>
          </a:xfrm>
          <a:prstGeom prst="rect">
            <a:avLst/>
          </a:prstGeom>
          <a:noFill/>
        </p:spPr>
        <p:txBody>
          <a:bodyPr wrap="square" lIns="27432" tIns="27432" rIns="27432" bIns="27432" anchor="t">
            <a:spAutoFit/>
          </a:bodyPr>
          <a:lstStyle/>
          <a:p>
            <a:pPr algn="l">
              <a:spcAft>
                <a:spcPts val="0"/>
              </a:spcAft>
            </a:pPr>
            <a:r>
              <a:rPr lang="en-GB" sz="1600" b="1">
                <a:solidFill>
                  <a:srgbClr val="D8E0EA"/>
                </a:solidFill>
              </a:rPr>
              <a:t>Teach ~52 min • reserve ~38 min for guided activity, discussion and debrief</a:t>
            </a:r>
          </a:p>
        </p:txBody>
      </p:sp>
      <p:sp>
        <p:nvSpPr>
          <p:cNvPr id="12" name="TextBox 11"/>
          <p:cNvSpPr txBox="1">
            <a:spLocks/>
          </p:cNvSpPr>
          <p:nvPr/>
        </p:nvSpPr>
        <p:spPr>
          <a:xfrm>
            <a:off x="10424160" y="5715000"/>
            <a:ext cx="731520" cy="363176"/>
          </a:xfrm>
          <a:prstGeom prst="rect">
            <a:avLst/>
          </a:prstGeom>
          <a:noFill/>
        </p:spPr>
        <p:txBody>
          <a:bodyPr wrap="square" lIns="27432" tIns="27432" rIns="27432" bIns="27432" anchor="t">
            <a:spAutoFit/>
          </a:bodyPr>
          <a:lstStyle/>
          <a:p>
            <a:pPr algn="r">
              <a:spcAft>
                <a:spcPts val="0"/>
              </a:spcAft>
            </a:pPr>
            <a:r>
              <a:rPr lang="en-HU" sz="2000" b="1">
                <a:solidFill>
                  <a:srgbClr val="E60012"/>
                </a:solidFill>
              </a:rPr>
              <a:t>048</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49</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Route selection starts with the most specific prefix</a:t>
            </a:r>
          </a:p>
        </p:txBody>
      </p:sp>
      <p:sp>
        <p:nvSpPr>
          <p:cNvPr id="10" name="TextBox 9"/>
          <p:cNvSpPr txBox="1">
            <a:spLocks/>
          </p:cNvSpPr>
          <p:nvPr/>
        </p:nvSpPr>
        <p:spPr>
          <a:xfrm>
            <a:off x="658368" y="1600200"/>
            <a:ext cx="5312664" cy="292608"/>
          </a:xfrm>
          <a:prstGeom prst="rect">
            <a:avLst/>
          </a:prstGeom>
          <a:noFill/>
        </p:spPr>
        <p:txBody>
          <a:bodyPr wrap="square" lIns="27432" tIns="27432" rIns="27432" bIns="27432" anchor="t">
            <a:spAutoFit/>
          </a:bodyPr>
          <a:lstStyle/>
          <a:p>
            <a:pPr algn="l">
              <a:spcAft>
                <a:spcPts val="0"/>
              </a:spcAft>
            </a:pPr>
            <a:r>
              <a:rPr lang="en-GB" sz="1300" b="1">
                <a:solidFill>
                  <a:srgbClr val="E60012"/>
                </a:solidFill>
              </a:rPr>
              <a:t>CANDIDATES</a:t>
            </a:r>
          </a:p>
        </p:txBody>
      </p:sp>
      <p:cxnSp>
        <p:nvCxnSpPr>
          <p:cNvPr id="11" name="Connector 10"/>
          <p:cNvCxnSpPr/>
          <p:nvPr/>
        </p:nvCxnSpPr>
        <p:spPr>
          <a:xfrm>
            <a:off x="658368" y="1984248"/>
            <a:ext cx="5312664" cy="0"/>
          </a:xfrm>
          <a:prstGeom prst="line">
            <a:avLst/>
          </a:prstGeom>
          <a:ln w="22860">
            <a:solidFill>
              <a:srgbClr val="E60012"/>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658368" y="2176272"/>
            <a:ext cx="5312664" cy="1120756"/>
          </a:xfrm>
          <a:prstGeom prst="rect">
            <a:avLst/>
          </a:prstGeom>
          <a:noFill/>
        </p:spPr>
        <p:txBody>
          <a:bodyPr wrap="square" lIns="109728" tIns="73152" rIns="109728" bIns="73152" anchor="t">
            <a:spAutoFit/>
          </a:bodyPr>
          <a:lstStyle/>
          <a:p>
            <a:pPr algn="l">
              <a:lnSpc>
                <a:spcPct val="105000"/>
              </a:lnSpc>
              <a:spcAft>
                <a:spcPts val="800"/>
              </a:spcAft>
              <a:defRPr sz="1600">
                <a:solidFill>
                  <a:srgbClr val="1E2B40"/>
                </a:solidFill>
              </a:defRPr>
            </a:pPr>
            <a:r>
              <a:rPr lang="en-GB"/>
              <a:t>• 10.2.10.0/24 via VPN, distance 10</a:t>
            </a:r>
          </a:p>
          <a:p>
            <a:pPr>
              <a:lnSpc>
                <a:spcPct val="105000"/>
              </a:lnSpc>
              <a:spcAft>
                <a:spcPts val="800"/>
              </a:spcAft>
              <a:defRPr sz="1600">
                <a:solidFill>
                  <a:srgbClr val="1E2B40"/>
                </a:solidFill>
              </a:defRPr>
            </a:pPr>
            <a:r>
              <a:rPr lang="en-GB"/>
              <a:t>• 10.20.0.0/16 via WAN2, distance 5</a:t>
            </a:r>
          </a:p>
          <a:p>
            <a:pPr>
              <a:lnSpc>
                <a:spcPct val="105000"/>
              </a:lnSpc>
              <a:spcAft>
                <a:spcPts val="800"/>
              </a:spcAft>
              <a:defRPr sz="1600">
                <a:solidFill>
                  <a:srgbClr val="1E2B40"/>
                </a:solidFill>
              </a:defRPr>
            </a:pPr>
            <a:r>
              <a:rPr lang="en-GB"/>
              <a:t>• 0.0.0.0/0 via WAN1, distance 10</a:t>
            </a:r>
          </a:p>
        </p:txBody>
      </p:sp>
      <p:sp>
        <p:nvSpPr>
          <p:cNvPr id="13" name="TextBox 12"/>
          <p:cNvSpPr txBox="1"/>
          <p:nvPr/>
        </p:nvSpPr>
        <p:spPr>
          <a:xfrm>
            <a:off x="6227064" y="1600200"/>
            <a:ext cx="5312664" cy="292608"/>
          </a:xfrm>
          <a:prstGeom prst="rect">
            <a:avLst/>
          </a:prstGeom>
          <a:noFill/>
        </p:spPr>
        <p:txBody>
          <a:bodyPr wrap="square" lIns="27432" tIns="27432" rIns="27432" bIns="27432" anchor="t">
            <a:spAutoFit/>
          </a:bodyPr>
          <a:lstStyle/>
          <a:p>
            <a:pPr algn="l">
              <a:spcAft>
                <a:spcPts val="0"/>
              </a:spcAft>
            </a:pPr>
            <a:r>
              <a:rPr sz="1300" b="1">
                <a:solidFill>
                  <a:srgbClr val="E60012"/>
                </a:solidFill>
              </a:rPr>
              <a:t>WINNER</a:t>
            </a:r>
          </a:p>
        </p:txBody>
      </p:sp>
      <p:cxnSp>
        <p:nvCxnSpPr>
          <p:cNvPr id="14" name="Connector 13"/>
          <p:cNvCxnSpPr/>
          <p:nvPr/>
        </p:nvCxnSpPr>
        <p:spPr>
          <a:xfrm>
            <a:off x="6227064" y="1984248"/>
            <a:ext cx="5312664" cy="0"/>
          </a:xfrm>
          <a:prstGeom prst="line">
            <a:avLst/>
          </a:prstGeom>
          <a:ln w="22860">
            <a:solidFill>
              <a:srgbClr val="E60012"/>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227064" y="2176272"/>
            <a:ext cx="5312664" cy="3337560"/>
          </a:xfrm>
          <a:prstGeom prst="rect">
            <a:avLst/>
          </a:prstGeom>
          <a:noFill/>
        </p:spPr>
        <p:txBody>
          <a:bodyPr wrap="square" lIns="109728" tIns="73152" rIns="109728" bIns="73152" anchor="t">
            <a:spAutoFit/>
          </a:bodyPr>
          <a:lstStyle/>
          <a:p>
            <a:pPr algn="l">
              <a:lnSpc>
                <a:spcPct val="105000"/>
              </a:lnSpc>
              <a:spcAft>
                <a:spcPts val="800"/>
              </a:spcAft>
              <a:defRPr sz="1600">
                <a:solidFill>
                  <a:srgbClr val="1E2B40"/>
                </a:solidFill>
              </a:defRPr>
            </a:pPr>
            <a:r>
              <a:t>• The /24 wins by longest prefix</a:t>
            </a:r>
          </a:p>
          <a:p>
            <a:pPr>
              <a:lnSpc>
                <a:spcPct val="105000"/>
              </a:lnSpc>
              <a:spcAft>
                <a:spcPts val="800"/>
              </a:spcAft>
              <a:defRPr sz="1600">
                <a:solidFill>
                  <a:srgbClr val="1E2B40"/>
                </a:solidFill>
              </a:defRPr>
            </a:pPr>
            <a:r>
              <a:t>• Distance is compared only among equal prefixes</a:t>
            </a:r>
          </a:p>
          <a:p>
            <a:pPr>
              <a:lnSpc>
                <a:spcPct val="105000"/>
              </a:lnSpc>
              <a:spcAft>
                <a:spcPts val="800"/>
              </a:spcAft>
              <a:defRPr sz="1600">
                <a:solidFill>
                  <a:srgbClr val="1E2B40"/>
                </a:solidFill>
              </a:defRPr>
            </a:pPr>
            <a:r>
              <a:t>• Return path requires an independent lookup</a:t>
            </a:r>
          </a:p>
        </p:txBody>
      </p:sp>
      <p:sp>
        <p:nvSpPr>
          <p:cNvPr id="16" name="TextBox 15"/>
          <p:cNvSpPr txBox="1"/>
          <p:nvPr/>
        </p:nvSpPr>
        <p:spPr>
          <a:xfrm>
            <a:off x="658368" y="5724144"/>
            <a:ext cx="1234440" cy="224677"/>
          </a:xfrm>
          <a:prstGeom prst="rect">
            <a:avLst/>
          </a:prstGeom>
          <a:noFill/>
        </p:spPr>
        <p:txBody>
          <a:bodyPr wrap="square" lIns="27432" tIns="27432" rIns="27432" bIns="27432" anchor="t">
            <a:spAutoFit/>
          </a:bodyPr>
          <a:lstStyle/>
          <a:p>
            <a:pPr algn="l">
              <a:spcAft>
                <a:spcPts val="0"/>
              </a:spcAft>
            </a:pPr>
            <a:r>
              <a:rPr lang="en-GB" sz="1100" b="1">
                <a:solidFill>
                  <a:srgbClr val="233A59"/>
                </a:solidFill>
              </a:rPr>
              <a:t>KEY DISTINCTION</a:t>
            </a:r>
            <a:endParaRPr sz="1100" b="1">
              <a:solidFill>
                <a:srgbClr val="233A59"/>
              </a:solidFill>
            </a:endParaRPr>
          </a:p>
        </p:txBody>
      </p:sp>
      <p:sp>
        <p:nvSpPr>
          <p:cNvPr id="17" name="TextBox 16"/>
          <p:cNvSpPr txBox="1"/>
          <p:nvPr/>
        </p:nvSpPr>
        <p:spPr>
          <a:xfrm>
            <a:off x="1920240" y="5687568"/>
            <a:ext cx="9235440" cy="329184"/>
          </a:xfrm>
          <a:prstGeom prst="rect">
            <a:avLst/>
          </a:prstGeom>
          <a:noFill/>
        </p:spPr>
        <p:txBody>
          <a:bodyPr wrap="square" lIns="27432" tIns="27432" rIns="27432" bIns="27432" anchor="t">
            <a:spAutoFit/>
          </a:bodyPr>
          <a:lstStyle/>
          <a:p>
            <a:pPr algn="l">
              <a:spcAft>
                <a:spcPts val="0"/>
              </a:spcAft>
            </a:pPr>
            <a:r>
              <a:rPr sz="1400" b="1">
                <a:solidFill>
                  <a:srgbClr val="233A59"/>
                </a:solidFill>
              </a:rPr>
              <a:t>10.20.10.25 matches /24 over /16 over /0</a:t>
            </a:r>
          </a:p>
        </p:txBody>
      </p:sp>
      <p:sp>
        <p:nvSpPr>
          <p:cNvPr id="18" name="TextBox 17"/>
          <p:cNvSpPr txBox="1"/>
          <p:nvPr/>
        </p:nvSpPr>
        <p:spPr>
          <a:xfrm>
            <a:off x="502920" y="420624"/>
            <a:ext cx="10744200" cy="130805"/>
          </a:xfrm>
          <a:prstGeom prst="rect">
            <a:avLst/>
          </a:prstGeom>
          <a:noFill/>
        </p:spPr>
        <p:txBody>
          <a:bodyPr wrap="square" lIns="0" tIns="0" rIns="0" bIns="0">
            <a:spAutoFit/>
          </a:bodyPr>
          <a:lstStyle/>
          <a:p>
            <a:pPr algn="l"/>
            <a:r>
              <a:rPr lang="en-HU" sz="850" b="1">
                <a:solidFill>
                  <a:srgbClr val="687385"/>
                </a:solidFill>
              </a:rPr>
              <a:t>049</a:t>
            </a:r>
            <a:r>
              <a:rPr sz="850" b="1">
                <a:solidFill>
                  <a:srgbClr val="687385"/>
                </a:solidFill>
              </a:rPr>
              <a:t> • DAY 2 • BLOCK 05 • Routing Fundamentals</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50</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A default route is a last-resort candidate</a:t>
            </a:r>
          </a:p>
        </p:txBody>
      </p:sp>
      <p:sp>
        <p:nvSpPr>
          <p:cNvPr id="10" name="TextBox 9"/>
          <p:cNvSpPr txBox="1">
            <a:spLocks/>
          </p:cNvSpPr>
          <p:nvPr/>
        </p:nvSpPr>
        <p:spPr>
          <a:xfrm>
            <a:off x="658368" y="1554480"/>
            <a:ext cx="6583680" cy="4389120"/>
          </a:xfrm>
          <a:prstGeom prst="rect">
            <a:avLst/>
          </a:prstGeom>
          <a:noFill/>
        </p:spPr>
        <p:txBody>
          <a:bodyPr wrap="square" lIns="109728" tIns="73152" rIns="109728" bIns="73152" anchor="t">
            <a:spAutoFit/>
          </a:bodyPr>
          <a:lstStyle/>
          <a:p>
            <a:pPr algn="l">
              <a:lnSpc>
                <a:spcPct val="105000"/>
              </a:lnSpc>
              <a:spcAft>
                <a:spcPts val="800"/>
              </a:spcAft>
              <a:defRPr sz="1700">
                <a:solidFill>
                  <a:srgbClr val="1E2B40"/>
                </a:solidFill>
              </a:defRPr>
            </a:pPr>
            <a:r>
              <a:rPr lang="en-GB"/>
              <a:t>• 0.0.0.0/0 matches any IPv4 destination but loses to every more-specific route</a:t>
            </a:r>
          </a:p>
          <a:p>
            <a:pPr>
              <a:lnSpc>
                <a:spcPct val="105000"/>
              </a:lnSpc>
              <a:spcAft>
                <a:spcPts val="800"/>
              </a:spcAft>
              <a:defRPr sz="1700">
                <a:solidFill>
                  <a:srgbClr val="1E2B40"/>
                </a:solidFill>
              </a:defRPr>
            </a:pPr>
            <a:r>
              <a:rPr lang="en-GB"/>
              <a:t>• The next hop must be reachable on the configured interface</a:t>
            </a:r>
          </a:p>
          <a:p>
            <a:pPr>
              <a:lnSpc>
                <a:spcPct val="105000"/>
              </a:lnSpc>
              <a:spcAft>
                <a:spcPts val="800"/>
              </a:spcAft>
              <a:defRPr sz="1700">
                <a:solidFill>
                  <a:srgbClr val="1E2B40"/>
                </a:solidFill>
              </a:defRPr>
            </a:pPr>
            <a:r>
              <a:rPr lang="en-GB"/>
              <a:t>• Multiple defaults can provide preference or ECMP depending on distance/priority and state</a:t>
            </a:r>
          </a:p>
          <a:p>
            <a:pPr>
              <a:lnSpc>
                <a:spcPct val="105000"/>
              </a:lnSpc>
              <a:spcAft>
                <a:spcPts val="800"/>
              </a:spcAft>
              <a:defRPr sz="1700">
                <a:solidFill>
                  <a:srgbClr val="1E2B40"/>
                </a:solidFill>
              </a:defRPr>
            </a:pPr>
            <a:r>
              <a:rPr lang="en-GB"/>
              <a:t>• Default gateway on a host points to FortiGate; default route on FortiGate points upstream</a:t>
            </a:r>
          </a:p>
        </p:txBody>
      </p:sp>
      <p:cxnSp>
        <p:nvCxnSpPr>
          <p:cNvPr id="11" name="Connector 10"/>
          <p:cNvCxnSpPr/>
          <p:nvPr/>
        </p:nvCxnSpPr>
        <p:spPr>
          <a:xfrm>
            <a:off x="7452360" y="1600200"/>
            <a:ext cx="0" cy="434340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7790688" y="1627632"/>
            <a:ext cx="342900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ILLUSTRATIVE SCENARIO</a:t>
            </a:r>
          </a:p>
        </p:txBody>
      </p:sp>
      <p:sp>
        <p:nvSpPr>
          <p:cNvPr id="13" name="TextBox 12"/>
          <p:cNvSpPr txBox="1">
            <a:spLocks/>
          </p:cNvSpPr>
          <p:nvPr/>
        </p:nvSpPr>
        <p:spPr>
          <a:xfrm>
            <a:off x="7790688" y="2057400"/>
            <a:ext cx="3337560" cy="1101840"/>
          </a:xfrm>
          <a:prstGeom prst="rect">
            <a:avLst/>
          </a:prstGeom>
          <a:noFill/>
        </p:spPr>
        <p:txBody>
          <a:bodyPr wrap="square" lIns="27432" tIns="27432" rIns="27432" bIns="27432" anchor="t">
            <a:spAutoFit/>
          </a:bodyPr>
          <a:lstStyle/>
          <a:p>
            <a:pPr algn="l">
              <a:spcAft>
                <a:spcPts val="0"/>
              </a:spcAft>
            </a:pPr>
            <a:r>
              <a:rPr lang="en-GB" sz="1700" b="1">
                <a:solidFill>
                  <a:srgbClr val="233A59"/>
                </a:solidFill>
              </a:rPr>
              <a:t>Student01 default gateway 10.1.10.4; shared Internet breakout is provided by the instructor FortiGate</a:t>
            </a:r>
          </a:p>
        </p:txBody>
      </p:sp>
      <p:sp>
        <p:nvSpPr>
          <p:cNvPr id="14" name="TextBox 13"/>
          <p:cNvSpPr txBox="1">
            <a:spLocks/>
          </p:cNvSpPr>
          <p:nvPr/>
        </p:nvSpPr>
        <p:spPr>
          <a:xfrm>
            <a:off x="7790688" y="3822191"/>
            <a:ext cx="18288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EXPECTED RESULT</a:t>
            </a:r>
          </a:p>
        </p:txBody>
      </p:sp>
      <p:sp>
        <p:nvSpPr>
          <p:cNvPr id="15" name="TextBox 14"/>
          <p:cNvSpPr txBox="1">
            <a:spLocks/>
          </p:cNvSpPr>
          <p:nvPr/>
        </p:nvSpPr>
        <p:spPr>
          <a:xfrm>
            <a:off x="7790688" y="4187952"/>
            <a:ext cx="3337560" cy="1325880"/>
          </a:xfrm>
          <a:prstGeom prst="rect">
            <a:avLst/>
          </a:prstGeom>
          <a:noFill/>
        </p:spPr>
        <p:txBody>
          <a:bodyPr wrap="square" lIns="27432" tIns="27432" rIns="27432" bIns="27432" anchor="t">
            <a:spAutoFit/>
          </a:bodyPr>
          <a:lstStyle/>
          <a:p>
            <a:pPr algn="l">
              <a:spcAft>
                <a:spcPts val="0"/>
              </a:spcAft>
            </a:pPr>
            <a:r>
              <a:rPr lang="en-GB" sz="1500" b="0">
                <a:solidFill>
                  <a:srgbClr val="1E2B40"/>
                </a:solidFill>
              </a:rPr>
              <a:t>Test gateway reachability with source interface/address specified.</a:t>
            </a:r>
          </a:p>
        </p:txBody>
      </p:sp>
      <p:sp>
        <p:nvSpPr>
          <p:cNvPr id="16" name="TextBox 15"/>
          <p:cNvSpPr txBox="1">
            <a:spLocks/>
          </p:cNvSpPr>
          <p:nvPr/>
        </p:nvSpPr>
        <p:spPr>
          <a:xfrm>
            <a:off x="7790688" y="5596128"/>
            <a:ext cx="1920240" cy="201168"/>
          </a:xfrm>
          <a:prstGeom prst="rect">
            <a:avLst/>
          </a:prstGeom>
          <a:noFill/>
        </p:spPr>
        <p:txBody>
          <a:bodyPr wrap="square" lIns="27432" tIns="27432" rIns="27432" bIns="27432" anchor="t">
            <a:spAutoFit/>
          </a:bodyPr>
          <a:lstStyle/>
          <a:p>
            <a:pPr algn="l">
              <a:spcAft>
                <a:spcPts val="0"/>
              </a:spcAft>
            </a:pPr>
            <a:r>
              <a:rPr lang="en-GB" sz="1000" b="1">
                <a:solidFill>
                  <a:srgbClr val="687385"/>
                </a:solidFill>
              </a:rPr>
              <a:t>Expected observation</a:t>
            </a:r>
          </a:p>
        </p:txBody>
      </p:sp>
      <p:sp>
        <p:nvSpPr>
          <p:cNvPr id="17" name="TextBox 16"/>
          <p:cNvSpPr txBox="1">
            <a:spLocks/>
          </p:cNvSpPr>
          <p:nvPr/>
        </p:nvSpPr>
        <p:spPr>
          <a:xfrm>
            <a:off x="9509760" y="5577840"/>
            <a:ext cx="1691640" cy="517065"/>
          </a:xfrm>
          <a:prstGeom prst="rect">
            <a:avLst/>
          </a:prstGeom>
          <a:noFill/>
        </p:spPr>
        <p:txBody>
          <a:bodyPr wrap="square" lIns="27432" tIns="27432" rIns="27432" bIns="27432" anchor="t">
            <a:spAutoFit/>
          </a:bodyPr>
          <a:lstStyle/>
          <a:p>
            <a:pPr algn="r">
              <a:spcAft>
                <a:spcPts val="0"/>
              </a:spcAft>
            </a:pPr>
            <a:r>
              <a:rPr lang="en-GB" sz="1000" b="0">
                <a:solidFill>
                  <a:srgbClr val="687385"/>
                </a:solidFill>
              </a:rPr>
              <a:t>The routing table installs the most-specific eligible route with the expected next hop.</a:t>
            </a:r>
          </a:p>
        </p:txBody>
      </p:sp>
      <p:sp>
        <p:nvSpPr>
          <p:cNvPr id="18" name="TextBox 17"/>
          <p:cNvSpPr txBox="1">
            <a:spLocks/>
          </p:cNvSpPr>
          <p:nvPr/>
        </p:nvSpPr>
        <p:spPr>
          <a:xfrm>
            <a:off x="502920" y="420624"/>
            <a:ext cx="10744200" cy="130805"/>
          </a:xfrm>
          <a:prstGeom prst="rect">
            <a:avLst/>
          </a:prstGeom>
          <a:noFill/>
        </p:spPr>
        <p:txBody>
          <a:bodyPr wrap="square" lIns="0" tIns="0" rIns="0" bIns="0">
            <a:spAutoFit/>
          </a:bodyPr>
          <a:lstStyle/>
          <a:p>
            <a:pPr algn="l"/>
            <a:r>
              <a:rPr lang="en-GB" sz="850" b="1">
                <a:solidFill>
                  <a:srgbClr val="687385"/>
                </a:solidFill>
              </a:rPr>
              <a:t>050 • DAY 2 • BLOCK 05 • Routing Fundamentals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51</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Administrative distance expresses source trust, not path quality</a:t>
            </a:r>
          </a:p>
        </p:txBody>
      </p:sp>
      <p:sp>
        <p:nvSpPr>
          <p:cNvPr id="10" name="TextBox 9"/>
          <p:cNvSpPr txBox="1">
            <a:spLocks/>
          </p:cNvSpPr>
          <p:nvPr/>
        </p:nvSpPr>
        <p:spPr>
          <a:xfrm>
            <a:off x="658368" y="1554480"/>
            <a:ext cx="6583680" cy="4389120"/>
          </a:xfrm>
          <a:prstGeom prst="rect">
            <a:avLst/>
          </a:prstGeom>
          <a:noFill/>
        </p:spPr>
        <p:txBody>
          <a:bodyPr wrap="square" lIns="109728" tIns="73152" rIns="109728" bIns="73152" anchor="t">
            <a:spAutoFit/>
          </a:bodyPr>
          <a:lstStyle/>
          <a:p>
            <a:pPr algn="l">
              <a:lnSpc>
                <a:spcPct val="105000"/>
              </a:lnSpc>
              <a:spcAft>
                <a:spcPts val="800"/>
              </a:spcAft>
              <a:defRPr sz="1700">
                <a:solidFill>
                  <a:srgbClr val="1E2B40"/>
                </a:solidFill>
              </a:defRPr>
            </a:pPr>
            <a:r>
              <a:rPr lang="en-GB"/>
              <a:t>• Lower distance is preferred for equal prefixes</a:t>
            </a:r>
          </a:p>
          <a:p>
            <a:pPr>
              <a:lnSpc>
                <a:spcPct val="105000"/>
              </a:lnSpc>
              <a:spcAft>
                <a:spcPts val="800"/>
              </a:spcAft>
              <a:defRPr sz="1700">
                <a:solidFill>
                  <a:srgbClr val="1E2B40"/>
                </a:solidFill>
              </a:defRPr>
            </a:pPr>
            <a:r>
              <a:rPr lang="en-GB"/>
              <a:t>• Different protocols have defaults; explicit changes should be documented</a:t>
            </a:r>
          </a:p>
          <a:p>
            <a:pPr>
              <a:lnSpc>
                <a:spcPct val="105000"/>
              </a:lnSpc>
              <a:spcAft>
                <a:spcPts val="800"/>
              </a:spcAft>
              <a:defRPr sz="1700">
                <a:solidFill>
                  <a:srgbClr val="1E2B40"/>
                </a:solidFill>
              </a:defRPr>
            </a:pPr>
            <a:r>
              <a:rPr lang="en-GB"/>
              <a:t>• A lower distance does not fix an unreachable next hop</a:t>
            </a:r>
          </a:p>
          <a:p>
            <a:pPr>
              <a:lnSpc>
                <a:spcPct val="105000"/>
              </a:lnSpc>
              <a:spcAft>
                <a:spcPts val="800"/>
              </a:spcAft>
              <a:defRPr sz="1700">
                <a:solidFill>
                  <a:srgbClr val="1E2B40"/>
                </a:solidFill>
              </a:defRPr>
            </a:pPr>
            <a:r>
              <a:rPr lang="en-GB"/>
              <a:t>• Use SD-WAN/health logic for measured service quality rather than abusing distance</a:t>
            </a:r>
          </a:p>
        </p:txBody>
      </p:sp>
      <p:cxnSp>
        <p:nvCxnSpPr>
          <p:cNvPr id="11" name="Connector 10"/>
          <p:cNvCxnSpPr/>
          <p:nvPr/>
        </p:nvCxnSpPr>
        <p:spPr>
          <a:xfrm>
            <a:off x="7452360" y="1600200"/>
            <a:ext cx="0" cy="434340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7790688" y="1627632"/>
            <a:ext cx="342900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ILLUSTRATIVE SCENARIO</a:t>
            </a:r>
          </a:p>
        </p:txBody>
      </p:sp>
      <p:sp>
        <p:nvSpPr>
          <p:cNvPr id="13" name="TextBox 12"/>
          <p:cNvSpPr txBox="1">
            <a:spLocks/>
          </p:cNvSpPr>
          <p:nvPr/>
        </p:nvSpPr>
        <p:spPr>
          <a:xfrm>
            <a:off x="7790688" y="2057400"/>
            <a:ext cx="3337560" cy="840230"/>
          </a:xfrm>
          <a:prstGeom prst="rect">
            <a:avLst/>
          </a:prstGeom>
          <a:noFill/>
        </p:spPr>
        <p:txBody>
          <a:bodyPr wrap="square" lIns="27432" tIns="27432" rIns="27432" bIns="27432" anchor="t">
            <a:spAutoFit/>
          </a:bodyPr>
          <a:lstStyle/>
          <a:p>
            <a:pPr algn="l">
              <a:spcAft>
                <a:spcPts val="0"/>
              </a:spcAft>
            </a:pPr>
            <a:r>
              <a:rPr lang="en-GB" sz="1700" b="1">
                <a:solidFill>
                  <a:srgbClr val="233A59"/>
                </a:solidFill>
              </a:rPr>
              <a:t>Conceptual route-choice example; a second WAN path is not deployed in the base lab</a:t>
            </a:r>
          </a:p>
        </p:txBody>
      </p:sp>
      <p:sp>
        <p:nvSpPr>
          <p:cNvPr id="14" name="TextBox 13"/>
          <p:cNvSpPr txBox="1">
            <a:spLocks/>
          </p:cNvSpPr>
          <p:nvPr/>
        </p:nvSpPr>
        <p:spPr>
          <a:xfrm>
            <a:off x="7790688" y="3822191"/>
            <a:ext cx="18288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EXPECTED RESULT</a:t>
            </a:r>
          </a:p>
        </p:txBody>
      </p:sp>
      <p:sp>
        <p:nvSpPr>
          <p:cNvPr id="15" name="TextBox 14"/>
          <p:cNvSpPr txBox="1">
            <a:spLocks/>
          </p:cNvSpPr>
          <p:nvPr/>
        </p:nvSpPr>
        <p:spPr>
          <a:xfrm>
            <a:off x="7790688" y="4187952"/>
            <a:ext cx="3337560" cy="1325880"/>
          </a:xfrm>
          <a:prstGeom prst="rect">
            <a:avLst/>
          </a:prstGeom>
          <a:noFill/>
        </p:spPr>
        <p:txBody>
          <a:bodyPr wrap="square" lIns="27432" tIns="27432" rIns="27432" bIns="27432" anchor="t">
            <a:spAutoFit/>
          </a:bodyPr>
          <a:lstStyle/>
          <a:p>
            <a:pPr algn="l">
              <a:spcAft>
                <a:spcPts val="0"/>
              </a:spcAft>
            </a:pPr>
            <a:r>
              <a:rPr lang="en-GB" sz="1500" b="0">
                <a:solidFill>
                  <a:srgbClr val="1E2B40"/>
                </a:solidFill>
              </a:rPr>
              <a:t>Inspect both protocol database and active routing table.</a:t>
            </a:r>
          </a:p>
        </p:txBody>
      </p:sp>
      <p:sp>
        <p:nvSpPr>
          <p:cNvPr id="16" name="TextBox 15"/>
          <p:cNvSpPr txBox="1">
            <a:spLocks/>
          </p:cNvSpPr>
          <p:nvPr/>
        </p:nvSpPr>
        <p:spPr>
          <a:xfrm>
            <a:off x="7790688" y="5596128"/>
            <a:ext cx="1920240" cy="201168"/>
          </a:xfrm>
          <a:prstGeom prst="rect">
            <a:avLst/>
          </a:prstGeom>
          <a:noFill/>
        </p:spPr>
        <p:txBody>
          <a:bodyPr wrap="square" lIns="27432" tIns="27432" rIns="27432" bIns="27432" anchor="t">
            <a:spAutoFit/>
          </a:bodyPr>
          <a:lstStyle/>
          <a:p>
            <a:pPr algn="l">
              <a:spcAft>
                <a:spcPts val="0"/>
              </a:spcAft>
            </a:pPr>
            <a:r>
              <a:rPr lang="en-GB" sz="1000" b="1">
                <a:solidFill>
                  <a:srgbClr val="687385"/>
                </a:solidFill>
              </a:rPr>
              <a:t>Expected observation</a:t>
            </a:r>
          </a:p>
        </p:txBody>
      </p:sp>
      <p:sp>
        <p:nvSpPr>
          <p:cNvPr id="17" name="TextBox 16"/>
          <p:cNvSpPr txBox="1">
            <a:spLocks/>
          </p:cNvSpPr>
          <p:nvPr/>
        </p:nvSpPr>
        <p:spPr>
          <a:xfrm>
            <a:off x="9509760" y="5577840"/>
            <a:ext cx="1691640" cy="517065"/>
          </a:xfrm>
          <a:prstGeom prst="rect">
            <a:avLst/>
          </a:prstGeom>
          <a:noFill/>
        </p:spPr>
        <p:txBody>
          <a:bodyPr wrap="square" lIns="27432" tIns="27432" rIns="27432" bIns="27432" anchor="t">
            <a:spAutoFit/>
          </a:bodyPr>
          <a:lstStyle/>
          <a:p>
            <a:pPr algn="r">
              <a:spcAft>
                <a:spcPts val="0"/>
              </a:spcAft>
            </a:pPr>
            <a:r>
              <a:rPr lang="en-GB" sz="1000" b="0">
                <a:solidFill>
                  <a:srgbClr val="687385"/>
                </a:solidFill>
              </a:rPr>
              <a:t>The routing table installs the most-specific eligible route with the expected next hop.</a:t>
            </a:r>
          </a:p>
        </p:txBody>
      </p:sp>
      <p:sp>
        <p:nvSpPr>
          <p:cNvPr id="18" name="TextBox 17"/>
          <p:cNvSpPr txBox="1">
            <a:spLocks/>
          </p:cNvSpPr>
          <p:nvPr/>
        </p:nvSpPr>
        <p:spPr>
          <a:xfrm>
            <a:off x="502920" y="420624"/>
            <a:ext cx="10744200" cy="130805"/>
          </a:xfrm>
          <a:prstGeom prst="rect">
            <a:avLst/>
          </a:prstGeom>
          <a:noFill/>
        </p:spPr>
        <p:txBody>
          <a:bodyPr wrap="square" lIns="0" tIns="0" rIns="0" bIns="0">
            <a:spAutoFit/>
          </a:bodyPr>
          <a:lstStyle/>
          <a:p>
            <a:pPr algn="l"/>
            <a:r>
              <a:rPr lang="en-GB" sz="850" b="1">
                <a:solidFill>
                  <a:srgbClr val="687385"/>
                </a:solidFill>
              </a:rPr>
              <a:t>051 • DAY 2 • BLOCK 05 • Routing Fundamentals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52</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ECMP installs equal-cost next hops; sessions choose a path</a:t>
            </a:r>
          </a:p>
        </p:txBody>
      </p:sp>
      <p:sp>
        <p:nvSpPr>
          <p:cNvPr id="10" name="Rectangle 9"/>
          <p:cNvSpPr/>
          <p:nvPr/>
        </p:nvSpPr>
        <p:spPr>
          <a:xfrm>
            <a:off x="960120" y="1965960"/>
            <a:ext cx="3108960" cy="105156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1" name="TextBox 10"/>
          <p:cNvSpPr txBox="1">
            <a:spLocks/>
          </p:cNvSpPr>
          <p:nvPr/>
        </p:nvSpPr>
        <p:spPr>
          <a:xfrm>
            <a:off x="1051560" y="2130552"/>
            <a:ext cx="2926079" cy="502920"/>
          </a:xfrm>
          <a:prstGeom prst="rect">
            <a:avLst/>
          </a:prstGeom>
          <a:noFill/>
        </p:spPr>
        <p:txBody>
          <a:bodyPr wrap="square" lIns="27432" tIns="27432" rIns="27432" bIns="27432" anchor="ctr">
            <a:spAutoFit/>
          </a:bodyPr>
          <a:lstStyle/>
          <a:p>
            <a:pPr algn="ctr">
              <a:spcAft>
                <a:spcPts val="0"/>
              </a:spcAft>
            </a:pPr>
            <a:r>
              <a:rPr lang="en-GB" sz="1600" b="1">
                <a:solidFill>
                  <a:srgbClr val="FFFFFF"/>
                </a:solidFill>
              </a:rPr>
              <a:t>CLIENT FLOWS</a:t>
            </a:r>
          </a:p>
        </p:txBody>
      </p:sp>
      <p:cxnSp>
        <p:nvCxnSpPr>
          <p:cNvPr id="12" name="Connector 11"/>
          <p:cNvCxnSpPr/>
          <p:nvPr/>
        </p:nvCxnSpPr>
        <p:spPr>
          <a:xfrm>
            <a:off x="4069080" y="2496312"/>
            <a:ext cx="457200" cy="0"/>
          </a:xfrm>
          <a:prstGeom prst="line">
            <a:avLst/>
          </a:prstGeom>
          <a:ln w="31750">
            <a:solidFill>
              <a:srgbClr val="E60012"/>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4526280" y="1965960"/>
            <a:ext cx="3108960" cy="105156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4" name="TextBox 13"/>
          <p:cNvSpPr txBox="1">
            <a:spLocks/>
          </p:cNvSpPr>
          <p:nvPr/>
        </p:nvSpPr>
        <p:spPr>
          <a:xfrm>
            <a:off x="4617720" y="2130552"/>
            <a:ext cx="2926079" cy="502920"/>
          </a:xfrm>
          <a:prstGeom prst="rect">
            <a:avLst/>
          </a:prstGeom>
          <a:noFill/>
        </p:spPr>
        <p:txBody>
          <a:bodyPr wrap="square" lIns="27432" tIns="27432" rIns="27432" bIns="27432" anchor="ctr">
            <a:spAutoFit/>
          </a:bodyPr>
          <a:lstStyle/>
          <a:p>
            <a:pPr algn="ctr">
              <a:spcAft>
                <a:spcPts val="0"/>
              </a:spcAft>
            </a:pPr>
            <a:r>
              <a:rPr lang="en-GB" sz="1600" b="1">
                <a:solidFill>
                  <a:srgbClr val="FFFFFF"/>
                </a:solidFill>
              </a:rPr>
              <a:t>FORTIGATE
ECMP HASH</a:t>
            </a:r>
          </a:p>
        </p:txBody>
      </p:sp>
      <p:cxnSp>
        <p:nvCxnSpPr>
          <p:cNvPr id="15" name="Connector 14"/>
          <p:cNvCxnSpPr/>
          <p:nvPr/>
        </p:nvCxnSpPr>
        <p:spPr>
          <a:xfrm>
            <a:off x="7635240" y="2496312"/>
            <a:ext cx="457200" cy="0"/>
          </a:xfrm>
          <a:prstGeom prst="line">
            <a:avLst/>
          </a:prstGeom>
          <a:ln w="31750">
            <a:solidFill>
              <a:srgbClr val="E60012"/>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8092440" y="1965960"/>
            <a:ext cx="3108960" cy="105156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7" name="TextBox 16"/>
          <p:cNvSpPr txBox="1">
            <a:spLocks/>
          </p:cNvSpPr>
          <p:nvPr/>
        </p:nvSpPr>
        <p:spPr>
          <a:xfrm>
            <a:off x="8183879" y="2231201"/>
            <a:ext cx="2926079" cy="301621"/>
          </a:xfrm>
          <a:prstGeom prst="rect">
            <a:avLst/>
          </a:prstGeom>
          <a:noFill/>
        </p:spPr>
        <p:txBody>
          <a:bodyPr wrap="square" lIns="27432" tIns="27432" rIns="27432" bIns="27432" anchor="ctr">
            <a:spAutoFit/>
          </a:bodyPr>
          <a:lstStyle/>
          <a:p>
            <a:pPr algn="ctr">
              <a:spcAft>
                <a:spcPts val="0"/>
              </a:spcAft>
            </a:pPr>
            <a:r>
              <a:rPr lang="en-GB" sz="1600" b="1">
                <a:solidFill>
                  <a:srgbClr val="FFFFFF"/>
                </a:solidFill>
              </a:rPr>
              <a:t>CONCEPTUAL PATH A / PATH B</a:t>
            </a:r>
          </a:p>
        </p:txBody>
      </p:sp>
      <p:sp>
        <p:nvSpPr>
          <p:cNvPr id="18" name="TextBox 17"/>
          <p:cNvSpPr txBox="1">
            <a:spLocks/>
          </p:cNvSpPr>
          <p:nvPr/>
        </p:nvSpPr>
        <p:spPr>
          <a:xfrm>
            <a:off x="822960" y="3383280"/>
            <a:ext cx="10515600" cy="578620"/>
          </a:xfrm>
          <a:prstGeom prst="rect">
            <a:avLst/>
          </a:prstGeom>
          <a:noFill/>
        </p:spPr>
        <p:txBody>
          <a:bodyPr wrap="square" lIns="27432" tIns="27432" rIns="27432" bIns="27432" anchor="t">
            <a:spAutoFit/>
          </a:bodyPr>
          <a:lstStyle/>
          <a:p>
            <a:pPr algn="ctr">
              <a:spcAft>
                <a:spcPts val="0"/>
              </a:spcAft>
            </a:pPr>
            <a:r>
              <a:rPr lang="en-GB" sz="1700" b="1">
                <a:solidFill>
                  <a:srgbClr val="233A59"/>
                </a:solidFill>
              </a:rPr>
              <a:t>Optional second path: two equal defaults distribute new sessions; one session does not split packet by packet</a:t>
            </a:r>
          </a:p>
        </p:txBody>
      </p:sp>
      <p:sp>
        <p:nvSpPr>
          <p:cNvPr id="19" name="TextBox 18"/>
          <p:cNvSpPr txBox="1">
            <a:spLocks/>
          </p:cNvSpPr>
          <p:nvPr/>
        </p:nvSpPr>
        <p:spPr>
          <a:xfrm>
            <a:off x="960120" y="4069080"/>
            <a:ext cx="10241280" cy="1417320"/>
          </a:xfrm>
          <a:prstGeom prst="rect">
            <a:avLst/>
          </a:prstGeom>
          <a:noFill/>
        </p:spPr>
        <p:txBody>
          <a:bodyPr wrap="square" lIns="109728" tIns="73152" rIns="109728" bIns="73152" anchor="t">
            <a:spAutoFit/>
          </a:bodyPr>
          <a:lstStyle/>
          <a:p>
            <a:pPr algn="l">
              <a:lnSpc>
                <a:spcPct val="105000"/>
              </a:lnSpc>
              <a:spcAft>
                <a:spcPts val="600"/>
              </a:spcAft>
              <a:defRPr sz="1500">
                <a:solidFill>
                  <a:srgbClr val="1E2B40"/>
                </a:solidFill>
              </a:defRPr>
            </a:pPr>
            <a:r>
              <a:rPr lang="en-GB"/>
              <a:t>• Routes must be equal under relevant selection criteria</a:t>
            </a:r>
          </a:p>
          <a:p>
            <a:pPr>
              <a:lnSpc>
                <a:spcPct val="105000"/>
              </a:lnSpc>
              <a:spcAft>
                <a:spcPts val="600"/>
              </a:spcAft>
              <a:defRPr sz="1500">
                <a:solidFill>
                  <a:srgbClr val="1E2B40"/>
                </a:solidFill>
              </a:defRPr>
            </a:pPr>
            <a:r>
              <a:rPr lang="en-GB"/>
              <a:t>• A session is normally pinned to one selected next hop</a:t>
            </a:r>
          </a:p>
          <a:p>
            <a:pPr>
              <a:lnSpc>
                <a:spcPct val="105000"/>
              </a:lnSpc>
              <a:spcAft>
                <a:spcPts val="600"/>
              </a:spcAft>
              <a:defRPr sz="1500">
                <a:solidFill>
                  <a:srgbClr val="1E2B40"/>
                </a:solidFill>
              </a:defRPr>
            </a:pPr>
            <a:r>
              <a:rPr lang="en-GB"/>
              <a:t>• Per-packet assumptions are unsafe; hashing and platform behavior require confirmation</a:t>
            </a:r>
          </a:p>
          <a:p>
            <a:pPr>
              <a:lnSpc>
                <a:spcPct val="105000"/>
              </a:lnSpc>
              <a:spcAft>
                <a:spcPts val="600"/>
              </a:spcAft>
              <a:defRPr sz="1500">
                <a:solidFill>
                  <a:srgbClr val="1E2B40"/>
                </a:solidFill>
              </a:defRPr>
            </a:pPr>
            <a:r>
              <a:rPr lang="en-GB"/>
              <a:t>• Symmetry, NAT and upstream state affect failover outcomes</a:t>
            </a:r>
          </a:p>
        </p:txBody>
      </p:sp>
      <p:sp>
        <p:nvSpPr>
          <p:cNvPr id="20" name="TextBox 19"/>
          <p:cNvSpPr txBox="1">
            <a:spLocks/>
          </p:cNvSpPr>
          <p:nvPr/>
        </p:nvSpPr>
        <p:spPr>
          <a:xfrm>
            <a:off x="960120" y="5650992"/>
            <a:ext cx="10241280" cy="255455"/>
          </a:xfrm>
          <a:prstGeom prst="rect">
            <a:avLst/>
          </a:prstGeom>
          <a:noFill/>
        </p:spPr>
        <p:txBody>
          <a:bodyPr wrap="square" lIns="27432" tIns="27432" rIns="27432" bIns="27432" anchor="t">
            <a:spAutoFit/>
          </a:bodyPr>
          <a:lstStyle/>
          <a:p>
            <a:pPr algn="ctr">
              <a:spcAft>
                <a:spcPts val="0"/>
              </a:spcAft>
            </a:pPr>
            <a:r>
              <a:rPr lang="en-GB" sz="1300" b="1">
                <a:solidFill>
                  <a:srgbClr val="E60012"/>
                </a:solidFill>
              </a:rPr>
              <a:t>Generate multiple five-tuples and compare the egress interface recorded in each session.</a:t>
            </a:r>
          </a:p>
        </p:txBody>
      </p:sp>
      <p:sp>
        <p:nvSpPr>
          <p:cNvPr id="21" name="TextBox 20"/>
          <p:cNvSpPr txBox="1"/>
          <p:nvPr/>
        </p:nvSpPr>
        <p:spPr>
          <a:xfrm>
            <a:off x="502920" y="420624"/>
            <a:ext cx="10744200" cy="130805"/>
          </a:xfrm>
          <a:prstGeom prst="rect">
            <a:avLst/>
          </a:prstGeom>
          <a:noFill/>
        </p:spPr>
        <p:txBody>
          <a:bodyPr wrap="square" lIns="0" tIns="0" rIns="0" bIns="0">
            <a:spAutoFit/>
          </a:bodyPr>
          <a:lstStyle/>
          <a:p>
            <a:pPr algn="l"/>
            <a:r>
              <a:rPr lang="en-HU" sz="850" b="1">
                <a:solidFill>
                  <a:srgbClr val="687385"/>
                </a:solidFill>
              </a:rPr>
              <a:t>052</a:t>
            </a:r>
            <a:r>
              <a:rPr sz="850" b="1">
                <a:solidFill>
                  <a:srgbClr val="687385"/>
                </a:solidFill>
              </a:rPr>
              <a:t> • DAY 2 • BLOCK 05 • Routing Fundamentals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p:nvPr/>
        </p:nvSpPr>
        <p:spPr>
          <a:xfrm>
            <a:off x="502920" y="411480"/>
            <a:ext cx="548640" cy="189283"/>
          </a:xfrm>
          <a:prstGeom prst="rect">
            <a:avLst/>
          </a:prstGeom>
          <a:noFill/>
        </p:spPr>
        <p:txBody>
          <a:bodyPr wrap="square" lIns="36576" tIns="36576" rIns="36576" bIns="36576" anchor="t">
            <a:spAutoFit/>
          </a:bodyPr>
          <a:lstStyle/>
          <a:p>
            <a:pPr algn="l">
              <a:spcAft>
                <a:spcPts val="0"/>
              </a:spcAft>
            </a:pPr>
            <a:r>
              <a:rPr lang="en-HU" sz="750" b="1">
                <a:solidFill>
                  <a:srgbClr val="687385"/>
                </a:solidFill>
              </a:rPr>
              <a:t>053</a:t>
            </a:r>
            <a:endParaRPr sz="750" b="1">
              <a:solidFill>
                <a:srgbClr val="687385"/>
              </a:solidFill>
            </a:endParaRPr>
          </a:p>
        </p:txBody>
      </p:sp>
      <p:sp>
        <p:nvSpPr>
          <p:cNvPr id="4" name="TextBox 3"/>
          <p:cNvSpPr txBox="1"/>
          <p:nvPr/>
        </p:nvSpPr>
        <p:spPr>
          <a:xfrm>
            <a:off x="502920" y="621792"/>
            <a:ext cx="11109960" cy="548640"/>
          </a:xfrm>
          <a:prstGeom prst="rect">
            <a:avLst/>
          </a:prstGeom>
          <a:noFill/>
        </p:spPr>
        <p:txBody>
          <a:bodyPr wrap="square" lIns="36576" tIns="36576" rIns="36576" bIns="36576" anchor="t">
            <a:spAutoFit/>
          </a:bodyPr>
          <a:lstStyle/>
          <a:p>
            <a:pPr algn="l">
              <a:spcAft>
                <a:spcPts val="0"/>
              </a:spcAft>
            </a:pPr>
            <a:r>
              <a:rPr sz="2600" b="1">
                <a:solidFill>
                  <a:srgbClr val="1E2B40"/>
                </a:solidFill>
              </a:rPr>
              <a:t>Candidate route selection</a:t>
            </a:r>
          </a:p>
        </p:txBody>
      </p:sp>
      <p:cxnSp>
        <p:nvCxnSpPr>
          <p:cNvPr id="5" name="Connector 4"/>
          <p:cNvCxnSpPr/>
          <p:nvPr/>
        </p:nvCxnSpPr>
        <p:spPr>
          <a:xfrm>
            <a:off x="502920" y="6473952"/>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109960" y="6537960"/>
            <a:ext cx="502920" cy="189283"/>
          </a:xfrm>
          <a:prstGeom prst="rect">
            <a:avLst/>
          </a:prstGeom>
          <a:noFill/>
        </p:spPr>
        <p:txBody>
          <a:bodyPr wrap="square" lIns="36576" tIns="36576" rIns="36576" bIns="36576" anchor="t">
            <a:spAutoFit/>
          </a:bodyPr>
          <a:lstStyle/>
          <a:p>
            <a:pPr algn="r">
              <a:spcAft>
                <a:spcPts val="0"/>
              </a:spcAft>
            </a:pPr>
            <a:r>
              <a:rPr lang="en-HU" sz="750" b="0">
                <a:solidFill>
                  <a:srgbClr val="687385"/>
                </a:solidFill>
              </a:rPr>
              <a:t>53</a:t>
            </a:r>
            <a:endParaRPr sz="750" b="0">
              <a:solidFill>
                <a:srgbClr val="687385"/>
              </a:solidFill>
            </a:endParaRPr>
          </a:p>
        </p:txBody>
      </p:sp>
      <p:sp>
        <p:nvSpPr>
          <p:cNvPr id="7" name="Rectangle 6"/>
          <p:cNvSpPr>
            <a:spLocks/>
          </p:cNvSpPr>
          <p:nvPr/>
        </p:nvSpPr>
        <p:spPr>
          <a:xfrm>
            <a:off x="685800" y="1828800"/>
            <a:ext cx="2008022"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8" name="TextBox 7"/>
          <p:cNvSpPr txBox="1">
            <a:spLocks/>
          </p:cNvSpPr>
          <p:nvPr/>
        </p:nvSpPr>
        <p:spPr>
          <a:xfrm>
            <a:off x="777240" y="1938528"/>
            <a:ext cx="365760" cy="227755"/>
          </a:xfrm>
          <a:prstGeom prst="rect">
            <a:avLst/>
          </a:prstGeom>
          <a:noFill/>
        </p:spPr>
        <p:txBody>
          <a:bodyPr wrap="square" lIns="36576" tIns="36576" rIns="36576" bIns="36576" anchor="t">
            <a:spAutoFit/>
          </a:bodyPr>
          <a:lstStyle/>
          <a:p>
            <a:pPr algn="l">
              <a:spcAft>
                <a:spcPts val="0"/>
              </a:spcAft>
            </a:pPr>
            <a:r>
              <a:rPr lang="en-HU" sz="1000" b="1">
                <a:solidFill>
                  <a:srgbClr val="E60012"/>
                </a:solidFill>
              </a:rPr>
              <a:t>01</a:t>
            </a:r>
          </a:p>
        </p:txBody>
      </p:sp>
      <p:sp>
        <p:nvSpPr>
          <p:cNvPr id="9" name="TextBox 8"/>
          <p:cNvSpPr txBox="1">
            <a:spLocks/>
          </p:cNvSpPr>
          <p:nvPr/>
        </p:nvSpPr>
        <p:spPr>
          <a:xfrm>
            <a:off x="795528" y="2243935"/>
            <a:ext cx="1788566" cy="504754"/>
          </a:xfrm>
          <a:prstGeom prst="rect">
            <a:avLst/>
          </a:prstGeom>
          <a:noFill/>
        </p:spPr>
        <p:txBody>
          <a:bodyPr wrap="square" lIns="36576" tIns="36576" rIns="36576" bIns="36576" anchor="ctr">
            <a:spAutoFit/>
          </a:bodyPr>
          <a:lstStyle/>
          <a:p>
            <a:pPr algn="ctr">
              <a:spcAft>
                <a:spcPts val="0"/>
              </a:spcAft>
            </a:pPr>
            <a:r>
              <a:rPr lang="en-GB" sz="1400" b="1">
                <a:solidFill>
                  <a:srgbClr val="FFFFFF"/>
                </a:solidFill>
              </a:rPr>
              <a:t>List matching prefixes</a:t>
            </a:r>
          </a:p>
        </p:txBody>
      </p:sp>
      <p:sp>
        <p:nvSpPr>
          <p:cNvPr id="10" name="Right Arrow 9"/>
          <p:cNvSpPr/>
          <p:nvPr/>
        </p:nvSpPr>
        <p:spPr>
          <a:xfrm>
            <a:off x="2693822" y="2340864"/>
            <a:ext cx="164592" cy="146304"/>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1" name="Rectangle 10"/>
          <p:cNvSpPr>
            <a:spLocks/>
          </p:cNvSpPr>
          <p:nvPr/>
        </p:nvSpPr>
        <p:spPr>
          <a:xfrm>
            <a:off x="2858414" y="1828800"/>
            <a:ext cx="2008022"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2" name="TextBox 11"/>
          <p:cNvSpPr txBox="1"/>
          <p:nvPr/>
        </p:nvSpPr>
        <p:spPr>
          <a:xfrm>
            <a:off x="2949854" y="1938528"/>
            <a:ext cx="365760" cy="201168"/>
          </a:xfrm>
          <a:prstGeom prst="rect">
            <a:avLst/>
          </a:prstGeom>
          <a:noFill/>
        </p:spPr>
        <p:txBody>
          <a:bodyPr wrap="square" lIns="36576" tIns="36576" rIns="36576" bIns="36576" anchor="t">
            <a:spAutoFit/>
          </a:bodyPr>
          <a:lstStyle/>
          <a:p>
            <a:pPr algn="l">
              <a:spcAft>
                <a:spcPts val="0"/>
              </a:spcAft>
            </a:pPr>
            <a:r>
              <a:rPr sz="1000" b="1">
                <a:solidFill>
                  <a:srgbClr val="E60012"/>
                </a:solidFill>
              </a:rPr>
              <a:t>02</a:t>
            </a:r>
          </a:p>
        </p:txBody>
      </p:sp>
      <p:sp>
        <p:nvSpPr>
          <p:cNvPr id="13" name="TextBox 12"/>
          <p:cNvSpPr txBox="1">
            <a:spLocks/>
          </p:cNvSpPr>
          <p:nvPr/>
        </p:nvSpPr>
        <p:spPr>
          <a:xfrm>
            <a:off x="2968142" y="2267712"/>
            <a:ext cx="1788566" cy="457200"/>
          </a:xfrm>
          <a:prstGeom prst="rect">
            <a:avLst/>
          </a:prstGeom>
          <a:noFill/>
        </p:spPr>
        <p:txBody>
          <a:bodyPr wrap="square" lIns="36576" tIns="36576" rIns="36576" bIns="36576" anchor="ctr">
            <a:spAutoFit/>
          </a:bodyPr>
          <a:lstStyle/>
          <a:p>
            <a:pPr algn="ctr">
              <a:spcAft>
                <a:spcPts val="0"/>
              </a:spcAft>
            </a:pPr>
            <a:r>
              <a:rPr lang="en-GB" sz="1400" b="1">
                <a:solidFill>
                  <a:srgbClr val="FFFFFF"/>
                </a:solidFill>
              </a:rPr>
              <a:t>Choose longest prefix</a:t>
            </a:r>
          </a:p>
        </p:txBody>
      </p:sp>
      <p:sp>
        <p:nvSpPr>
          <p:cNvPr id="14" name="Right Arrow 13"/>
          <p:cNvSpPr>
            <a:spLocks/>
          </p:cNvSpPr>
          <p:nvPr/>
        </p:nvSpPr>
        <p:spPr>
          <a:xfrm>
            <a:off x="4866436" y="2340864"/>
            <a:ext cx="164592" cy="146304"/>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5" name="Rectangle 14"/>
          <p:cNvSpPr/>
          <p:nvPr/>
        </p:nvSpPr>
        <p:spPr>
          <a:xfrm>
            <a:off x="5031028" y="1828800"/>
            <a:ext cx="2008022"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a:spLocks/>
          </p:cNvSpPr>
          <p:nvPr/>
        </p:nvSpPr>
        <p:spPr>
          <a:xfrm>
            <a:off x="5122468" y="1938528"/>
            <a:ext cx="365760" cy="201168"/>
          </a:xfrm>
          <a:prstGeom prst="rect">
            <a:avLst/>
          </a:prstGeom>
          <a:noFill/>
        </p:spPr>
        <p:txBody>
          <a:bodyPr wrap="square" lIns="36576" tIns="36576" rIns="36576" bIns="36576" anchor="t">
            <a:spAutoFit/>
          </a:bodyPr>
          <a:lstStyle/>
          <a:p>
            <a:pPr algn="l">
              <a:spcAft>
                <a:spcPts val="0"/>
              </a:spcAft>
            </a:pPr>
            <a:r>
              <a:rPr lang="en-HU" sz="1000" b="1">
                <a:solidFill>
                  <a:srgbClr val="E60012"/>
                </a:solidFill>
              </a:rPr>
              <a:t>03</a:t>
            </a:r>
          </a:p>
        </p:txBody>
      </p:sp>
      <p:sp>
        <p:nvSpPr>
          <p:cNvPr id="17" name="TextBox 16"/>
          <p:cNvSpPr txBox="1"/>
          <p:nvPr/>
        </p:nvSpPr>
        <p:spPr>
          <a:xfrm>
            <a:off x="5140756" y="2243935"/>
            <a:ext cx="1788566" cy="504754"/>
          </a:xfrm>
          <a:prstGeom prst="rect">
            <a:avLst/>
          </a:prstGeom>
          <a:noFill/>
        </p:spPr>
        <p:txBody>
          <a:bodyPr wrap="square" lIns="36576" tIns="36576" rIns="36576" bIns="36576" anchor="ctr">
            <a:spAutoFit/>
          </a:bodyPr>
          <a:lstStyle/>
          <a:p>
            <a:pPr algn="ctr">
              <a:spcAft>
                <a:spcPts val="0"/>
              </a:spcAft>
            </a:pPr>
            <a:r>
              <a:rPr lang="en-GB" sz="1400" b="1">
                <a:solidFill>
                  <a:srgbClr val="FFFFFF"/>
                </a:solidFill>
              </a:rPr>
              <a:t>Compare distance for ties</a:t>
            </a:r>
          </a:p>
        </p:txBody>
      </p:sp>
      <p:sp>
        <p:nvSpPr>
          <p:cNvPr id="18" name="Right Arrow 17"/>
          <p:cNvSpPr/>
          <p:nvPr/>
        </p:nvSpPr>
        <p:spPr>
          <a:xfrm>
            <a:off x="7039051" y="2340864"/>
            <a:ext cx="164592" cy="146304"/>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203643" y="1828800"/>
            <a:ext cx="2008022"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295083" y="1938528"/>
            <a:ext cx="365760" cy="227755"/>
          </a:xfrm>
          <a:prstGeom prst="rect">
            <a:avLst/>
          </a:prstGeom>
          <a:noFill/>
        </p:spPr>
        <p:txBody>
          <a:bodyPr wrap="square" lIns="36576" tIns="36576" rIns="36576" bIns="36576" anchor="t">
            <a:spAutoFit/>
          </a:bodyPr>
          <a:lstStyle/>
          <a:p>
            <a:pPr algn="l">
              <a:spcAft>
                <a:spcPts val="0"/>
              </a:spcAft>
            </a:pPr>
            <a:r>
              <a:rPr lang="en-HU" sz="1000" b="1">
                <a:solidFill>
                  <a:srgbClr val="E60012"/>
                </a:solidFill>
              </a:rPr>
              <a:t>04</a:t>
            </a:r>
          </a:p>
        </p:txBody>
      </p:sp>
      <p:sp>
        <p:nvSpPr>
          <p:cNvPr id="21" name="TextBox 20"/>
          <p:cNvSpPr txBox="1"/>
          <p:nvPr/>
        </p:nvSpPr>
        <p:spPr>
          <a:xfrm>
            <a:off x="7313371" y="2351657"/>
            <a:ext cx="1788566" cy="289310"/>
          </a:xfrm>
          <a:prstGeom prst="rect">
            <a:avLst/>
          </a:prstGeom>
          <a:noFill/>
        </p:spPr>
        <p:txBody>
          <a:bodyPr wrap="square" lIns="36576" tIns="36576" rIns="36576" bIns="36576" anchor="ctr">
            <a:spAutoFit/>
          </a:bodyPr>
          <a:lstStyle/>
          <a:p>
            <a:pPr algn="ctr">
              <a:spcAft>
                <a:spcPts val="0"/>
              </a:spcAft>
            </a:pPr>
            <a:r>
              <a:rPr lang="en-GB" sz="1400" b="1">
                <a:solidFill>
                  <a:srgbClr val="FFFFFF"/>
                </a:solidFill>
              </a:rPr>
              <a:t>Resolve next hop</a:t>
            </a:r>
          </a:p>
        </p:txBody>
      </p:sp>
      <p:sp>
        <p:nvSpPr>
          <p:cNvPr id="22" name="Right Arrow 21"/>
          <p:cNvSpPr>
            <a:spLocks/>
          </p:cNvSpPr>
          <p:nvPr/>
        </p:nvSpPr>
        <p:spPr>
          <a:xfrm>
            <a:off x="9211665" y="2340864"/>
            <a:ext cx="164592" cy="146304"/>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23" name="Rectangle 22"/>
          <p:cNvSpPr>
            <a:spLocks/>
          </p:cNvSpPr>
          <p:nvPr/>
        </p:nvSpPr>
        <p:spPr>
          <a:xfrm>
            <a:off x="9376257" y="1828800"/>
            <a:ext cx="2008022"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24" name="TextBox 23"/>
          <p:cNvSpPr txBox="1"/>
          <p:nvPr/>
        </p:nvSpPr>
        <p:spPr>
          <a:xfrm>
            <a:off x="9467697" y="1938528"/>
            <a:ext cx="365760" cy="227755"/>
          </a:xfrm>
          <a:prstGeom prst="rect">
            <a:avLst/>
          </a:prstGeom>
          <a:noFill/>
        </p:spPr>
        <p:txBody>
          <a:bodyPr wrap="square" lIns="36576" tIns="36576" rIns="36576" bIns="36576" anchor="t">
            <a:spAutoFit/>
          </a:bodyPr>
          <a:lstStyle/>
          <a:p>
            <a:pPr algn="l">
              <a:spcAft>
                <a:spcPts val="0"/>
              </a:spcAft>
            </a:pPr>
            <a:r>
              <a:rPr lang="en-HU" sz="1000" b="1">
                <a:solidFill>
                  <a:srgbClr val="E60012"/>
                </a:solidFill>
              </a:rPr>
              <a:t>05</a:t>
            </a:r>
          </a:p>
        </p:txBody>
      </p:sp>
      <p:sp>
        <p:nvSpPr>
          <p:cNvPr id="25" name="TextBox 24"/>
          <p:cNvSpPr txBox="1"/>
          <p:nvPr/>
        </p:nvSpPr>
        <p:spPr>
          <a:xfrm>
            <a:off x="9485985" y="2267712"/>
            <a:ext cx="1788566" cy="457200"/>
          </a:xfrm>
          <a:prstGeom prst="rect">
            <a:avLst/>
          </a:prstGeom>
          <a:noFill/>
        </p:spPr>
        <p:txBody>
          <a:bodyPr wrap="square" lIns="36576" tIns="36576" rIns="36576" bIns="36576" anchor="ctr">
            <a:spAutoFit/>
          </a:bodyPr>
          <a:lstStyle/>
          <a:p>
            <a:pPr algn="ctr">
              <a:spcAft>
                <a:spcPts val="0"/>
              </a:spcAft>
            </a:pPr>
            <a:r>
              <a:rPr sz="1400" b="1">
                <a:solidFill>
                  <a:srgbClr val="FFFFFF"/>
                </a:solidFill>
              </a:rPr>
              <a:t>Check return route</a:t>
            </a:r>
          </a:p>
        </p:txBody>
      </p:sp>
      <p:sp>
        <p:nvSpPr>
          <p:cNvPr id="26" name="TextBox 25"/>
          <p:cNvSpPr txBox="1"/>
          <p:nvPr/>
        </p:nvSpPr>
        <p:spPr>
          <a:xfrm>
            <a:off x="731520" y="3703320"/>
            <a:ext cx="1554480" cy="210312"/>
          </a:xfrm>
          <a:prstGeom prst="rect">
            <a:avLst/>
          </a:prstGeom>
          <a:noFill/>
        </p:spPr>
        <p:txBody>
          <a:bodyPr wrap="square" lIns="36576" tIns="36576" rIns="36576" bIns="36576" anchor="t">
            <a:spAutoFit/>
          </a:bodyPr>
          <a:lstStyle/>
          <a:p>
            <a:pPr algn="l">
              <a:spcAft>
                <a:spcPts val="0"/>
              </a:spcAft>
            </a:pPr>
            <a:r>
              <a:rPr sz="1000" b="1">
                <a:solidFill>
                  <a:srgbClr val="E60012"/>
                </a:solidFill>
              </a:rPr>
              <a:t>EXPECTED RESULT</a:t>
            </a:r>
          </a:p>
        </p:txBody>
      </p:sp>
      <p:sp>
        <p:nvSpPr>
          <p:cNvPr id="27" name="TextBox 26"/>
          <p:cNvSpPr txBox="1"/>
          <p:nvPr/>
        </p:nvSpPr>
        <p:spPr>
          <a:xfrm>
            <a:off x="731520" y="4041648"/>
            <a:ext cx="10424160" cy="594360"/>
          </a:xfrm>
          <a:prstGeom prst="rect">
            <a:avLst/>
          </a:prstGeom>
          <a:noFill/>
        </p:spPr>
        <p:txBody>
          <a:bodyPr wrap="square" lIns="36576" tIns="36576" rIns="36576" bIns="36576" anchor="t">
            <a:spAutoFit/>
          </a:bodyPr>
          <a:lstStyle/>
          <a:p>
            <a:pPr algn="ctr">
              <a:spcAft>
                <a:spcPts val="0"/>
              </a:spcAft>
            </a:pPr>
            <a:r>
              <a:rPr sz="1700" b="1">
                <a:solidFill>
                  <a:srgbClr val="233A59"/>
                </a:solidFill>
              </a:rPr>
              <a:t>The routing table installs the most-specific eligible route with the expected next hop.</a:t>
            </a:r>
          </a:p>
        </p:txBody>
      </p:sp>
      <p:sp>
        <p:nvSpPr>
          <p:cNvPr id="28" name="TextBox 27"/>
          <p:cNvSpPr txBox="1"/>
          <p:nvPr/>
        </p:nvSpPr>
        <p:spPr>
          <a:xfrm>
            <a:off x="658368" y="5833872"/>
            <a:ext cx="731520" cy="182880"/>
          </a:xfrm>
          <a:prstGeom prst="rect">
            <a:avLst/>
          </a:prstGeom>
          <a:noFill/>
        </p:spPr>
        <p:txBody>
          <a:bodyPr wrap="square" lIns="36576" tIns="36576" rIns="36576" bIns="36576" anchor="t">
            <a:spAutoFit/>
          </a:bodyPr>
          <a:lstStyle/>
          <a:p>
            <a:pPr algn="l">
              <a:spcAft>
                <a:spcPts val="0"/>
              </a:spcAft>
            </a:pPr>
            <a:r>
              <a:rPr sz="1000" b="1">
                <a:solidFill>
                  <a:srgbClr val="E60012"/>
                </a:solidFill>
              </a:rPr>
              <a:t>LESSON</a:t>
            </a:r>
          </a:p>
        </p:txBody>
      </p:sp>
      <p:sp>
        <p:nvSpPr>
          <p:cNvPr id="29" name="TextBox 28"/>
          <p:cNvSpPr txBox="1"/>
          <p:nvPr/>
        </p:nvSpPr>
        <p:spPr>
          <a:xfrm>
            <a:off x="1417320" y="5769864"/>
            <a:ext cx="9875520" cy="384048"/>
          </a:xfrm>
          <a:prstGeom prst="rect">
            <a:avLst/>
          </a:prstGeom>
          <a:noFill/>
        </p:spPr>
        <p:txBody>
          <a:bodyPr wrap="square" lIns="36576" tIns="36576" rIns="36576" bIns="36576" anchor="t">
            <a:spAutoFit/>
          </a:bodyPr>
          <a:lstStyle/>
          <a:p>
            <a:pPr algn="l">
              <a:spcAft>
                <a:spcPts val="0"/>
              </a:spcAft>
            </a:pPr>
            <a:r>
              <a:rPr sz="1300" b="1">
                <a:solidFill>
                  <a:srgbClr val="233A59"/>
                </a:solidFill>
              </a:rPr>
              <a:t>Each step names a FortiGate state or packet change that can be checked directly; stop when the failed step is identified.</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p:nvPr/>
        </p:nvSpPr>
        <p:spPr>
          <a:xfrm>
            <a:off x="502920" y="411480"/>
            <a:ext cx="548640" cy="189283"/>
          </a:xfrm>
          <a:prstGeom prst="rect">
            <a:avLst/>
          </a:prstGeom>
          <a:noFill/>
        </p:spPr>
        <p:txBody>
          <a:bodyPr wrap="square" lIns="36576" tIns="36576" rIns="36576" bIns="36576" anchor="t">
            <a:spAutoFit/>
          </a:bodyPr>
          <a:lstStyle/>
          <a:p>
            <a:pPr algn="l">
              <a:spcAft>
                <a:spcPts val="0"/>
              </a:spcAft>
            </a:pPr>
            <a:r>
              <a:rPr lang="en-HU" sz="750" b="1">
                <a:solidFill>
                  <a:srgbClr val="687385"/>
                </a:solidFill>
              </a:rPr>
              <a:t>054</a:t>
            </a:r>
            <a:endParaRPr sz="750" b="1">
              <a:solidFill>
                <a:srgbClr val="687385"/>
              </a:solidFill>
            </a:endParaRPr>
          </a:p>
        </p:txBody>
      </p:sp>
      <p:sp>
        <p:nvSpPr>
          <p:cNvPr id="4" name="TextBox 3"/>
          <p:cNvSpPr txBox="1"/>
          <p:nvPr/>
        </p:nvSpPr>
        <p:spPr>
          <a:xfrm>
            <a:off x="502920" y="621792"/>
            <a:ext cx="11109960" cy="548640"/>
          </a:xfrm>
          <a:prstGeom prst="rect">
            <a:avLst/>
          </a:prstGeom>
          <a:noFill/>
        </p:spPr>
        <p:txBody>
          <a:bodyPr wrap="square" lIns="36576" tIns="36576" rIns="36576" bIns="36576" anchor="t">
            <a:spAutoFit/>
          </a:bodyPr>
          <a:lstStyle/>
          <a:p>
            <a:pPr algn="l">
              <a:spcAft>
                <a:spcPts val="0"/>
              </a:spcAft>
            </a:pPr>
            <a:r>
              <a:rPr sz="2600" b="1">
                <a:solidFill>
                  <a:srgbClr val="1E2B40"/>
                </a:solidFill>
              </a:rPr>
              <a:t>Common mistakes—and how to correct them</a:t>
            </a:r>
          </a:p>
        </p:txBody>
      </p:sp>
      <p:cxnSp>
        <p:nvCxnSpPr>
          <p:cNvPr id="5" name="Connector 4"/>
          <p:cNvCxnSpPr/>
          <p:nvPr/>
        </p:nvCxnSpPr>
        <p:spPr>
          <a:xfrm>
            <a:off x="502920" y="6473952"/>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109960" y="6537960"/>
            <a:ext cx="502920" cy="189283"/>
          </a:xfrm>
          <a:prstGeom prst="rect">
            <a:avLst/>
          </a:prstGeom>
          <a:noFill/>
        </p:spPr>
        <p:txBody>
          <a:bodyPr wrap="square" lIns="36576" tIns="36576" rIns="36576" bIns="36576" anchor="t">
            <a:spAutoFit/>
          </a:bodyPr>
          <a:lstStyle/>
          <a:p>
            <a:pPr algn="r">
              <a:spcAft>
                <a:spcPts val="0"/>
              </a:spcAft>
            </a:pPr>
            <a:r>
              <a:rPr lang="en-HU" sz="750" b="0">
                <a:solidFill>
                  <a:srgbClr val="687385"/>
                </a:solidFill>
              </a:rPr>
              <a:t>54</a:t>
            </a:r>
            <a:endParaRPr sz="750" b="0">
              <a:solidFill>
                <a:srgbClr val="687385"/>
              </a:solidFill>
            </a:endParaRPr>
          </a:p>
        </p:txBody>
      </p:sp>
      <p:sp>
        <p:nvSpPr>
          <p:cNvPr id="7" name="TextBox 6"/>
          <p:cNvSpPr txBox="1">
            <a:spLocks/>
          </p:cNvSpPr>
          <p:nvPr/>
        </p:nvSpPr>
        <p:spPr>
          <a:xfrm>
            <a:off x="685800" y="1417320"/>
            <a:ext cx="3291840" cy="243143"/>
          </a:xfrm>
          <a:prstGeom prst="rect">
            <a:avLst/>
          </a:prstGeom>
          <a:noFill/>
        </p:spPr>
        <p:txBody>
          <a:bodyPr wrap="square" lIns="36576" tIns="36576" rIns="36576" bIns="36576" anchor="t">
            <a:spAutoFit/>
          </a:bodyPr>
          <a:lstStyle/>
          <a:p>
            <a:pPr algn="l">
              <a:spcAft>
                <a:spcPts val="0"/>
              </a:spcAft>
            </a:pPr>
            <a:r>
              <a:rPr lang="en-GB" sz="1100" b="1">
                <a:solidFill>
                  <a:srgbClr val="E60012"/>
                </a:solidFill>
              </a:rPr>
              <a:t>MISTAKE</a:t>
            </a:r>
          </a:p>
        </p:txBody>
      </p:sp>
      <p:sp>
        <p:nvSpPr>
          <p:cNvPr id="8" name="TextBox 7"/>
          <p:cNvSpPr txBox="1">
            <a:spLocks/>
          </p:cNvSpPr>
          <p:nvPr/>
        </p:nvSpPr>
        <p:spPr>
          <a:xfrm>
            <a:off x="4160520" y="1417320"/>
            <a:ext cx="7040880" cy="243143"/>
          </a:xfrm>
          <a:prstGeom prst="rect">
            <a:avLst/>
          </a:prstGeom>
          <a:noFill/>
        </p:spPr>
        <p:txBody>
          <a:bodyPr wrap="square" lIns="36576" tIns="36576" rIns="36576" bIns="36576" anchor="t">
            <a:spAutoFit/>
          </a:bodyPr>
          <a:lstStyle/>
          <a:p>
            <a:pPr algn="l">
              <a:spcAft>
                <a:spcPts val="0"/>
              </a:spcAft>
            </a:pPr>
            <a:r>
              <a:rPr lang="en-GB" sz="1100" b="1">
                <a:solidFill>
                  <a:srgbClr val="E60012"/>
                </a:solidFill>
              </a:rPr>
              <a:t>CORRECTION — AND WHY IT HELPS</a:t>
            </a:r>
          </a:p>
        </p:txBody>
      </p:sp>
      <p:sp>
        <p:nvSpPr>
          <p:cNvPr id="9" name="TextBox 8"/>
          <p:cNvSpPr txBox="1">
            <a:spLocks/>
          </p:cNvSpPr>
          <p:nvPr/>
        </p:nvSpPr>
        <p:spPr>
          <a:xfrm>
            <a:off x="685800" y="1783080"/>
            <a:ext cx="3108960" cy="566309"/>
          </a:xfrm>
          <a:prstGeom prst="rect">
            <a:avLst/>
          </a:prstGeom>
          <a:noFill/>
        </p:spPr>
        <p:txBody>
          <a:bodyPr wrap="square" lIns="36576" tIns="36576" rIns="36576" bIns="36576" anchor="t">
            <a:spAutoFit/>
          </a:bodyPr>
          <a:lstStyle/>
          <a:p>
            <a:pPr algn="l">
              <a:spcAft>
                <a:spcPts val="0"/>
              </a:spcAft>
            </a:pPr>
            <a:r>
              <a:rPr lang="en-GB" sz="1600" b="1">
                <a:solidFill>
                  <a:srgbClr val="1E2B40"/>
                </a:solidFill>
              </a:rPr>
              <a:t>Compare distance across different prefixes</a:t>
            </a:r>
          </a:p>
        </p:txBody>
      </p:sp>
      <p:cxnSp>
        <p:nvCxnSpPr>
          <p:cNvPr id="10" name="Connector 9"/>
          <p:cNvCxnSpPr/>
          <p:nvPr/>
        </p:nvCxnSpPr>
        <p:spPr>
          <a:xfrm>
            <a:off x="3931920" y="1737360"/>
            <a:ext cx="0" cy="96012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251960" y="1783080"/>
            <a:ext cx="6903720" cy="822960"/>
          </a:xfrm>
          <a:prstGeom prst="rect">
            <a:avLst/>
          </a:prstGeom>
          <a:noFill/>
        </p:spPr>
        <p:txBody>
          <a:bodyPr wrap="square" lIns="36576" tIns="36576" rIns="36576" bIns="36576" anchor="t">
            <a:spAutoFit/>
          </a:bodyPr>
          <a:lstStyle/>
          <a:p>
            <a:pPr algn="l">
              <a:spcAft>
                <a:spcPts val="0"/>
              </a:spcAft>
            </a:pPr>
            <a:r>
              <a:rPr sz="1600" b="0">
                <a:solidFill>
                  <a:srgbClr val="233A59"/>
                </a:solidFill>
              </a:rPr>
              <a:t>Choose longest prefix first; distance is compared among equal prefixes.</a:t>
            </a:r>
          </a:p>
        </p:txBody>
      </p:sp>
      <p:cxnSp>
        <p:nvCxnSpPr>
          <p:cNvPr id="12" name="Connector 11"/>
          <p:cNvCxnSpPr/>
          <p:nvPr/>
        </p:nvCxnSpPr>
        <p:spPr>
          <a:xfrm>
            <a:off x="685800" y="2834639"/>
            <a:ext cx="10469880"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13" name="TextBox 12"/>
          <p:cNvSpPr txBox="1">
            <a:spLocks/>
          </p:cNvSpPr>
          <p:nvPr/>
        </p:nvSpPr>
        <p:spPr>
          <a:xfrm>
            <a:off x="685800" y="3081528"/>
            <a:ext cx="3108960" cy="566309"/>
          </a:xfrm>
          <a:prstGeom prst="rect">
            <a:avLst/>
          </a:prstGeom>
          <a:noFill/>
        </p:spPr>
        <p:txBody>
          <a:bodyPr wrap="square" lIns="36576" tIns="36576" rIns="36576" bIns="36576" anchor="t">
            <a:spAutoFit/>
          </a:bodyPr>
          <a:lstStyle/>
          <a:p>
            <a:pPr algn="l">
              <a:spcAft>
                <a:spcPts val="0"/>
              </a:spcAft>
            </a:pPr>
            <a:r>
              <a:rPr lang="en-GB" sz="1600" b="1">
                <a:solidFill>
                  <a:srgbClr val="1E2B40"/>
                </a:solidFill>
              </a:rPr>
              <a:t>Assume ECMP splits each packet</a:t>
            </a:r>
          </a:p>
        </p:txBody>
      </p:sp>
      <p:cxnSp>
        <p:nvCxnSpPr>
          <p:cNvPr id="14" name="Connector 13"/>
          <p:cNvCxnSpPr/>
          <p:nvPr/>
        </p:nvCxnSpPr>
        <p:spPr>
          <a:xfrm>
            <a:off x="3931920" y="3035808"/>
            <a:ext cx="0" cy="96012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5" name="TextBox 14"/>
          <p:cNvSpPr txBox="1">
            <a:spLocks/>
          </p:cNvSpPr>
          <p:nvPr/>
        </p:nvSpPr>
        <p:spPr>
          <a:xfrm>
            <a:off x="4251960" y="3081528"/>
            <a:ext cx="6903720" cy="320088"/>
          </a:xfrm>
          <a:prstGeom prst="rect">
            <a:avLst/>
          </a:prstGeom>
          <a:noFill/>
        </p:spPr>
        <p:txBody>
          <a:bodyPr wrap="square" lIns="36576" tIns="36576" rIns="36576" bIns="36576" anchor="t">
            <a:spAutoFit/>
          </a:bodyPr>
          <a:lstStyle/>
          <a:p>
            <a:pPr algn="l">
              <a:spcAft>
                <a:spcPts val="0"/>
              </a:spcAft>
            </a:pPr>
            <a:r>
              <a:rPr lang="en-GB" sz="1600" b="0">
                <a:solidFill>
                  <a:srgbClr val="233A59"/>
                </a:solidFill>
              </a:rPr>
              <a:t>Generate multiple sessions; ECMP generally selects per flow/session.</a:t>
            </a:r>
          </a:p>
        </p:txBody>
      </p:sp>
      <p:cxnSp>
        <p:nvCxnSpPr>
          <p:cNvPr id="16" name="Connector 15"/>
          <p:cNvCxnSpPr/>
          <p:nvPr/>
        </p:nvCxnSpPr>
        <p:spPr>
          <a:xfrm>
            <a:off x="685800" y="4133087"/>
            <a:ext cx="10469880"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17" name="TextBox 16"/>
          <p:cNvSpPr txBox="1">
            <a:spLocks/>
          </p:cNvSpPr>
          <p:nvPr/>
        </p:nvSpPr>
        <p:spPr>
          <a:xfrm>
            <a:off x="685800" y="4379976"/>
            <a:ext cx="3108960" cy="320088"/>
          </a:xfrm>
          <a:prstGeom prst="rect">
            <a:avLst/>
          </a:prstGeom>
          <a:noFill/>
        </p:spPr>
        <p:txBody>
          <a:bodyPr wrap="square" lIns="36576" tIns="36576" rIns="36576" bIns="36576" anchor="t">
            <a:spAutoFit/>
          </a:bodyPr>
          <a:lstStyle/>
          <a:p>
            <a:pPr algn="l">
              <a:spcAft>
                <a:spcPts val="0"/>
              </a:spcAft>
            </a:pPr>
            <a:r>
              <a:rPr lang="en-GB" sz="1600" b="1">
                <a:solidFill>
                  <a:srgbClr val="1E2B40"/>
                </a:solidFill>
              </a:rPr>
              <a:t>Ignore the reverse route</a:t>
            </a:r>
          </a:p>
        </p:txBody>
      </p:sp>
      <p:cxnSp>
        <p:nvCxnSpPr>
          <p:cNvPr id="18" name="Connector 17"/>
          <p:cNvCxnSpPr/>
          <p:nvPr/>
        </p:nvCxnSpPr>
        <p:spPr>
          <a:xfrm>
            <a:off x="3931920" y="4334256"/>
            <a:ext cx="0" cy="96012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251960" y="4379976"/>
            <a:ext cx="6903720" cy="822960"/>
          </a:xfrm>
          <a:prstGeom prst="rect">
            <a:avLst/>
          </a:prstGeom>
          <a:noFill/>
        </p:spPr>
        <p:txBody>
          <a:bodyPr wrap="square" lIns="36576" tIns="36576" rIns="36576" bIns="36576" anchor="t">
            <a:spAutoFit/>
          </a:bodyPr>
          <a:lstStyle/>
          <a:p>
            <a:pPr algn="l">
              <a:spcAft>
                <a:spcPts val="0"/>
              </a:spcAft>
            </a:pPr>
            <a:r>
              <a:rPr sz="1600" b="0">
                <a:solidFill>
                  <a:srgbClr val="233A59"/>
                </a:solidFill>
              </a:rPr>
              <a:t>Run a lookup for the client prefix; the reply uses an independent decision.</a:t>
            </a:r>
          </a:p>
        </p:txBody>
      </p:sp>
      <p:cxnSp>
        <p:nvCxnSpPr>
          <p:cNvPr id="20" name="Connector 19"/>
          <p:cNvCxnSpPr/>
          <p:nvPr/>
        </p:nvCxnSpPr>
        <p:spPr>
          <a:xfrm>
            <a:off x="685800" y="5431536"/>
            <a:ext cx="10469880"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58368" y="5833872"/>
            <a:ext cx="731520" cy="182880"/>
          </a:xfrm>
          <a:prstGeom prst="rect">
            <a:avLst/>
          </a:prstGeom>
          <a:noFill/>
        </p:spPr>
        <p:txBody>
          <a:bodyPr wrap="square" lIns="36576" tIns="36576" rIns="36576" bIns="36576" anchor="t">
            <a:spAutoFit/>
          </a:bodyPr>
          <a:lstStyle/>
          <a:p>
            <a:pPr algn="l">
              <a:spcAft>
                <a:spcPts val="0"/>
              </a:spcAft>
            </a:pPr>
            <a:r>
              <a:rPr sz="1000" b="1">
                <a:solidFill>
                  <a:srgbClr val="E60012"/>
                </a:solidFill>
              </a:rPr>
              <a:t>LESSON</a:t>
            </a:r>
          </a:p>
        </p:txBody>
      </p:sp>
      <p:sp>
        <p:nvSpPr>
          <p:cNvPr id="22" name="TextBox 21"/>
          <p:cNvSpPr txBox="1"/>
          <p:nvPr/>
        </p:nvSpPr>
        <p:spPr>
          <a:xfrm>
            <a:off x="1417320" y="5769864"/>
            <a:ext cx="9875520" cy="384048"/>
          </a:xfrm>
          <a:prstGeom prst="rect">
            <a:avLst/>
          </a:prstGeom>
          <a:noFill/>
        </p:spPr>
        <p:txBody>
          <a:bodyPr wrap="square" lIns="36576" tIns="36576" rIns="36576" bIns="36576" anchor="t">
            <a:spAutoFit/>
          </a:bodyPr>
          <a:lstStyle/>
          <a:p>
            <a:pPr algn="l">
              <a:spcAft>
                <a:spcPts val="0"/>
              </a:spcAft>
            </a:pPr>
            <a:r>
              <a:rPr sz="1300" b="1">
                <a:solidFill>
                  <a:srgbClr val="233A59"/>
                </a:solidFill>
              </a:rPr>
              <a:t>A correction changes a concrete configuration, test or interpretation—not merely the wording used to describe it.</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55</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Troubleshooting workflow: narrow the failed decision</a:t>
            </a:r>
          </a:p>
        </p:txBody>
      </p:sp>
      <p:sp>
        <p:nvSpPr>
          <p:cNvPr id="10" name="Rectangle 9"/>
          <p:cNvSpPr/>
          <p:nvPr/>
        </p:nvSpPr>
        <p:spPr>
          <a:xfrm>
            <a:off x="658368"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1" name="TextBox 10"/>
          <p:cNvSpPr txBox="1">
            <a:spLocks/>
          </p:cNvSpPr>
          <p:nvPr/>
        </p:nvSpPr>
        <p:spPr>
          <a:xfrm>
            <a:off x="768096" y="2020824"/>
            <a:ext cx="411480" cy="219456"/>
          </a:xfrm>
          <a:prstGeom prst="rect">
            <a:avLst/>
          </a:prstGeom>
          <a:noFill/>
        </p:spPr>
        <p:txBody>
          <a:bodyPr wrap="square" lIns="27432" tIns="27432" rIns="27432" bIns="27432" anchor="t">
            <a:spAutoFit/>
          </a:bodyPr>
          <a:lstStyle/>
          <a:p>
            <a:pPr algn="l">
              <a:spcAft>
                <a:spcPts val="0"/>
              </a:spcAft>
            </a:pPr>
            <a:r>
              <a:rPr lang="en-HU" sz="1100" b="1">
                <a:solidFill>
                  <a:srgbClr val="E60012"/>
                </a:solidFill>
              </a:rPr>
              <a:t>01</a:t>
            </a:r>
          </a:p>
        </p:txBody>
      </p:sp>
      <p:sp>
        <p:nvSpPr>
          <p:cNvPr id="12" name="TextBox 11"/>
          <p:cNvSpPr txBox="1">
            <a:spLocks/>
          </p:cNvSpPr>
          <p:nvPr/>
        </p:nvSpPr>
        <p:spPr>
          <a:xfrm>
            <a:off x="768096" y="2340864"/>
            <a:ext cx="1830628" cy="603504"/>
          </a:xfrm>
          <a:prstGeom prst="rect">
            <a:avLst/>
          </a:prstGeom>
          <a:noFill/>
        </p:spPr>
        <p:txBody>
          <a:bodyPr wrap="square" lIns="27432" tIns="27432" rIns="27432" bIns="27432" anchor="ctr">
            <a:spAutoFit/>
          </a:bodyPr>
          <a:lstStyle/>
          <a:p>
            <a:pPr algn="ctr">
              <a:spcAft>
                <a:spcPts val="0"/>
              </a:spcAft>
            </a:pPr>
            <a:r>
              <a:rPr lang="en-GB" sz="1400" b="1">
                <a:solidFill>
                  <a:srgbClr val="1E2B40"/>
                </a:solidFill>
              </a:rPr>
              <a:t>Look up the exact destination</a:t>
            </a:r>
          </a:p>
        </p:txBody>
      </p:sp>
      <p:cxnSp>
        <p:nvCxnSpPr>
          <p:cNvPr id="13" name="Connector 12"/>
          <p:cNvCxnSpPr/>
          <p:nvPr/>
        </p:nvCxnSpPr>
        <p:spPr>
          <a:xfrm>
            <a:off x="2708452"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2854756"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5" name="TextBox 14"/>
          <p:cNvSpPr txBox="1">
            <a:spLocks/>
          </p:cNvSpPr>
          <p:nvPr/>
        </p:nvSpPr>
        <p:spPr>
          <a:xfrm>
            <a:off x="2964484" y="2020824"/>
            <a:ext cx="411480" cy="219456"/>
          </a:xfrm>
          <a:prstGeom prst="rect">
            <a:avLst/>
          </a:prstGeom>
          <a:noFill/>
        </p:spPr>
        <p:txBody>
          <a:bodyPr wrap="square" lIns="27432" tIns="27432" rIns="27432" bIns="27432" anchor="t">
            <a:spAutoFit/>
          </a:bodyPr>
          <a:lstStyle/>
          <a:p>
            <a:pPr algn="l">
              <a:spcAft>
                <a:spcPts val="0"/>
              </a:spcAft>
            </a:pPr>
            <a:r>
              <a:rPr lang="en-HU" sz="1100" b="1">
                <a:solidFill>
                  <a:srgbClr val="E60012"/>
                </a:solidFill>
              </a:rPr>
              <a:t>02</a:t>
            </a:r>
          </a:p>
        </p:txBody>
      </p:sp>
      <p:sp>
        <p:nvSpPr>
          <p:cNvPr id="16" name="TextBox 15"/>
          <p:cNvSpPr txBox="1">
            <a:spLocks/>
          </p:cNvSpPr>
          <p:nvPr/>
        </p:nvSpPr>
        <p:spPr>
          <a:xfrm>
            <a:off x="2964484" y="2340864"/>
            <a:ext cx="1830628" cy="603504"/>
          </a:xfrm>
          <a:prstGeom prst="rect">
            <a:avLst/>
          </a:prstGeom>
          <a:noFill/>
        </p:spPr>
        <p:txBody>
          <a:bodyPr wrap="square" lIns="27432" tIns="27432" rIns="27432" bIns="27432" anchor="ctr">
            <a:spAutoFit/>
          </a:bodyPr>
          <a:lstStyle/>
          <a:p>
            <a:pPr algn="ctr">
              <a:spcAft>
                <a:spcPts val="0"/>
              </a:spcAft>
            </a:pPr>
            <a:r>
              <a:rPr lang="en-GB" sz="1400" b="1">
                <a:solidFill>
                  <a:srgbClr val="1E2B40"/>
                </a:solidFill>
              </a:rPr>
              <a:t>Verify the selected prefix and next hop</a:t>
            </a:r>
          </a:p>
        </p:txBody>
      </p:sp>
      <p:cxnSp>
        <p:nvCxnSpPr>
          <p:cNvPr id="17" name="Connector 16"/>
          <p:cNvCxnSpPr/>
          <p:nvPr/>
        </p:nvCxnSpPr>
        <p:spPr>
          <a:xfrm>
            <a:off x="4904841"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5051145"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9" name="TextBox 18"/>
          <p:cNvSpPr txBox="1">
            <a:spLocks/>
          </p:cNvSpPr>
          <p:nvPr/>
        </p:nvSpPr>
        <p:spPr>
          <a:xfrm>
            <a:off x="5160873" y="2020824"/>
            <a:ext cx="411480" cy="219456"/>
          </a:xfrm>
          <a:prstGeom prst="rect">
            <a:avLst/>
          </a:prstGeom>
          <a:noFill/>
        </p:spPr>
        <p:txBody>
          <a:bodyPr wrap="square" lIns="27432" tIns="27432" rIns="27432" bIns="27432" anchor="t">
            <a:spAutoFit/>
          </a:bodyPr>
          <a:lstStyle/>
          <a:p>
            <a:pPr algn="l">
              <a:spcAft>
                <a:spcPts val="0"/>
              </a:spcAft>
            </a:pPr>
            <a:r>
              <a:rPr lang="en-HU" sz="1100" b="1">
                <a:solidFill>
                  <a:srgbClr val="E60012"/>
                </a:solidFill>
              </a:rPr>
              <a:t>03</a:t>
            </a:r>
          </a:p>
        </p:txBody>
      </p:sp>
      <p:sp>
        <p:nvSpPr>
          <p:cNvPr id="20" name="TextBox 19"/>
          <p:cNvSpPr txBox="1">
            <a:spLocks/>
          </p:cNvSpPr>
          <p:nvPr/>
        </p:nvSpPr>
        <p:spPr>
          <a:xfrm>
            <a:off x="5160873" y="2340864"/>
            <a:ext cx="1830628" cy="603504"/>
          </a:xfrm>
          <a:prstGeom prst="rect">
            <a:avLst/>
          </a:prstGeom>
          <a:noFill/>
        </p:spPr>
        <p:txBody>
          <a:bodyPr wrap="square" lIns="27432" tIns="27432" rIns="27432" bIns="27432" anchor="ctr">
            <a:spAutoFit/>
          </a:bodyPr>
          <a:lstStyle/>
          <a:p>
            <a:pPr algn="ctr">
              <a:spcAft>
                <a:spcPts val="0"/>
              </a:spcAft>
            </a:pPr>
            <a:r>
              <a:rPr lang="en-GB" sz="1400" b="1">
                <a:solidFill>
                  <a:srgbClr val="1E2B40"/>
                </a:solidFill>
              </a:rPr>
              <a:t>Test next-hop reachability from the expected source</a:t>
            </a:r>
          </a:p>
        </p:txBody>
      </p:sp>
      <p:cxnSp>
        <p:nvCxnSpPr>
          <p:cNvPr id="21" name="Connector 20"/>
          <p:cNvCxnSpPr/>
          <p:nvPr/>
        </p:nvCxnSpPr>
        <p:spPr>
          <a:xfrm>
            <a:off x="7101230"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7247534"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23" name="TextBox 22"/>
          <p:cNvSpPr txBox="1"/>
          <p:nvPr/>
        </p:nvSpPr>
        <p:spPr>
          <a:xfrm>
            <a:off x="7357262" y="2020824"/>
            <a:ext cx="411480" cy="219456"/>
          </a:xfrm>
          <a:prstGeom prst="rect">
            <a:avLst/>
          </a:prstGeom>
          <a:noFill/>
        </p:spPr>
        <p:txBody>
          <a:bodyPr wrap="square" lIns="27432" tIns="27432" rIns="27432" bIns="27432" anchor="t">
            <a:spAutoFit/>
          </a:bodyPr>
          <a:lstStyle/>
          <a:p>
            <a:pPr algn="l">
              <a:spcAft>
                <a:spcPts val="0"/>
              </a:spcAft>
            </a:pPr>
            <a:r>
              <a:rPr sz="1100" b="1">
                <a:solidFill>
                  <a:srgbClr val="E60012"/>
                </a:solidFill>
              </a:rPr>
              <a:t>04</a:t>
            </a:r>
          </a:p>
        </p:txBody>
      </p:sp>
      <p:sp>
        <p:nvSpPr>
          <p:cNvPr id="24" name="TextBox 23"/>
          <p:cNvSpPr txBox="1"/>
          <p:nvPr/>
        </p:nvSpPr>
        <p:spPr>
          <a:xfrm>
            <a:off x="7357262" y="2340864"/>
            <a:ext cx="1830628" cy="603504"/>
          </a:xfrm>
          <a:prstGeom prst="rect">
            <a:avLst/>
          </a:prstGeom>
          <a:noFill/>
        </p:spPr>
        <p:txBody>
          <a:bodyPr wrap="square" lIns="27432" tIns="27432" rIns="27432" bIns="27432" anchor="ctr">
            <a:spAutoFit/>
          </a:bodyPr>
          <a:lstStyle/>
          <a:p>
            <a:pPr algn="ctr">
              <a:spcAft>
                <a:spcPts val="0"/>
              </a:spcAft>
            </a:pPr>
            <a:r>
              <a:rPr sz="1400" b="1">
                <a:solidFill>
                  <a:srgbClr val="1E2B40"/>
                </a:solidFill>
              </a:rPr>
              <a:t>Check policy/session egress</a:t>
            </a:r>
          </a:p>
        </p:txBody>
      </p:sp>
      <p:cxnSp>
        <p:nvCxnSpPr>
          <p:cNvPr id="25" name="Connector 24"/>
          <p:cNvCxnSpPr/>
          <p:nvPr/>
        </p:nvCxnSpPr>
        <p:spPr>
          <a:xfrm>
            <a:off x="9297619"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9443923"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553651" y="2020824"/>
            <a:ext cx="411480" cy="219456"/>
          </a:xfrm>
          <a:prstGeom prst="rect">
            <a:avLst/>
          </a:prstGeom>
          <a:noFill/>
        </p:spPr>
        <p:txBody>
          <a:bodyPr wrap="square" lIns="27432" tIns="27432" rIns="27432" bIns="27432" anchor="t">
            <a:spAutoFit/>
          </a:bodyPr>
          <a:lstStyle/>
          <a:p>
            <a:pPr algn="l">
              <a:spcAft>
                <a:spcPts val="0"/>
              </a:spcAft>
            </a:pPr>
            <a:r>
              <a:rPr sz="1100" b="1">
                <a:solidFill>
                  <a:srgbClr val="E60012"/>
                </a:solidFill>
              </a:rPr>
              <a:t>05</a:t>
            </a:r>
          </a:p>
        </p:txBody>
      </p:sp>
      <p:sp>
        <p:nvSpPr>
          <p:cNvPr id="28" name="TextBox 27"/>
          <p:cNvSpPr txBox="1"/>
          <p:nvPr/>
        </p:nvSpPr>
        <p:spPr>
          <a:xfrm>
            <a:off x="9553651" y="2340864"/>
            <a:ext cx="1830628" cy="603504"/>
          </a:xfrm>
          <a:prstGeom prst="rect">
            <a:avLst/>
          </a:prstGeom>
          <a:noFill/>
        </p:spPr>
        <p:txBody>
          <a:bodyPr wrap="square" lIns="27432" tIns="27432" rIns="27432" bIns="27432" anchor="ctr">
            <a:spAutoFit/>
          </a:bodyPr>
          <a:lstStyle/>
          <a:p>
            <a:pPr algn="ctr">
              <a:spcAft>
                <a:spcPts val="0"/>
              </a:spcAft>
            </a:pPr>
            <a:r>
              <a:rPr sz="1400" b="1">
                <a:solidFill>
                  <a:srgbClr val="1E2B40"/>
                </a:solidFill>
              </a:rPr>
              <a:t>Repeat lookup for return destination</a:t>
            </a:r>
          </a:p>
        </p:txBody>
      </p:sp>
      <p:sp>
        <p:nvSpPr>
          <p:cNvPr id="29" name="TextBox 28"/>
          <p:cNvSpPr txBox="1"/>
          <p:nvPr/>
        </p:nvSpPr>
        <p:spPr>
          <a:xfrm>
            <a:off x="658368" y="3703320"/>
            <a:ext cx="2011680" cy="256032"/>
          </a:xfrm>
          <a:prstGeom prst="rect">
            <a:avLst/>
          </a:prstGeom>
          <a:noFill/>
        </p:spPr>
        <p:txBody>
          <a:bodyPr wrap="square" lIns="27432" tIns="27432" rIns="27432" bIns="27432" anchor="t">
            <a:spAutoFit/>
          </a:bodyPr>
          <a:lstStyle/>
          <a:p>
            <a:pPr algn="l">
              <a:spcAft>
                <a:spcPts val="0"/>
              </a:spcAft>
            </a:pPr>
            <a:r>
              <a:rPr sz="1100" b="1">
                <a:solidFill>
                  <a:srgbClr val="E60012"/>
                </a:solidFill>
              </a:rPr>
              <a:t>What to observe</a:t>
            </a:r>
          </a:p>
        </p:txBody>
      </p:sp>
      <p:sp>
        <p:nvSpPr>
          <p:cNvPr id="30" name="TextBox 29"/>
          <p:cNvSpPr txBox="1"/>
          <p:nvPr/>
        </p:nvSpPr>
        <p:spPr>
          <a:xfrm>
            <a:off x="658368" y="4050791"/>
            <a:ext cx="6446520" cy="1508760"/>
          </a:xfrm>
          <a:prstGeom prst="rect">
            <a:avLst/>
          </a:prstGeom>
          <a:noFill/>
        </p:spPr>
        <p:txBody>
          <a:bodyPr wrap="square" lIns="109728" tIns="73152" rIns="109728" bIns="73152" anchor="t">
            <a:spAutoFit/>
          </a:bodyPr>
          <a:lstStyle/>
          <a:p>
            <a:pPr algn="l">
              <a:lnSpc>
                <a:spcPct val="105000"/>
              </a:lnSpc>
              <a:spcAft>
                <a:spcPts val="700"/>
              </a:spcAft>
              <a:defRPr sz="1600">
                <a:solidFill>
                  <a:srgbClr val="1E2B40"/>
                </a:solidFill>
              </a:defRPr>
            </a:pPr>
            <a:r>
              <a:t>• Test next-hop reachability from the expected source</a:t>
            </a:r>
          </a:p>
          <a:p>
            <a:pPr>
              <a:lnSpc>
                <a:spcPct val="105000"/>
              </a:lnSpc>
              <a:spcAft>
                <a:spcPts val="700"/>
              </a:spcAft>
              <a:defRPr sz="1600">
                <a:solidFill>
                  <a:srgbClr val="1E2B40"/>
                </a:solidFill>
              </a:defRPr>
            </a:pPr>
            <a:r>
              <a:t>• Check policy/session egress</a:t>
            </a:r>
          </a:p>
          <a:p>
            <a:pPr>
              <a:lnSpc>
                <a:spcPct val="105000"/>
              </a:lnSpc>
              <a:spcAft>
                <a:spcPts val="700"/>
              </a:spcAft>
              <a:defRPr sz="1600">
                <a:solidFill>
                  <a:srgbClr val="1E2B40"/>
                </a:solidFill>
              </a:defRPr>
            </a:pPr>
            <a:r>
              <a:t>• Repeat lookup for return destination</a:t>
            </a:r>
          </a:p>
        </p:txBody>
      </p:sp>
      <p:cxnSp>
        <p:nvCxnSpPr>
          <p:cNvPr id="31" name="Connector 30"/>
          <p:cNvCxnSpPr/>
          <p:nvPr/>
        </p:nvCxnSpPr>
        <p:spPr>
          <a:xfrm>
            <a:off x="7452360" y="3703320"/>
            <a:ext cx="0" cy="2093976"/>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7772400" y="3703320"/>
            <a:ext cx="292608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INSTRUCTOR DEMONSTRATION</a:t>
            </a:r>
            <a:endParaRPr sz="1100" b="1">
              <a:solidFill>
                <a:srgbClr val="E60012"/>
              </a:solidFill>
            </a:endParaRPr>
          </a:p>
        </p:txBody>
      </p:sp>
      <p:sp>
        <p:nvSpPr>
          <p:cNvPr id="33" name="TextBox 32"/>
          <p:cNvSpPr txBox="1"/>
          <p:nvPr/>
        </p:nvSpPr>
        <p:spPr>
          <a:xfrm>
            <a:off x="7772400" y="4096512"/>
            <a:ext cx="3337560" cy="1234440"/>
          </a:xfrm>
          <a:prstGeom prst="rect">
            <a:avLst/>
          </a:prstGeom>
          <a:noFill/>
        </p:spPr>
        <p:txBody>
          <a:bodyPr wrap="square" lIns="27432" tIns="27432" rIns="27432" bIns="27432" anchor="t">
            <a:spAutoFit/>
          </a:bodyPr>
          <a:lstStyle/>
          <a:p>
            <a:pPr algn="l">
              <a:spcAft>
                <a:spcPts val="0"/>
              </a:spcAft>
            </a:pPr>
            <a:r>
              <a:rPr sz="1500" b="1">
                <a:solidFill>
                  <a:srgbClr val="233A59"/>
                </a:solidFill>
              </a:rPr>
              <a:t>Preserve timestamps and before/after state; stop/reset debug operations.</a:t>
            </a:r>
          </a:p>
        </p:txBody>
      </p:sp>
      <p:sp>
        <p:nvSpPr>
          <p:cNvPr id="34" name="TextBox 33"/>
          <p:cNvSpPr txBox="1"/>
          <p:nvPr/>
        </p:nvSpPr>
        <p:spPr>
          <a:xfrm>
            <a:off x="7772400" y="5440680"/>
            <a:ext cx="3337560" cy="363176"/>
          </a:xfrm>
          <a:prstGeom prst="rect">
            <a:avLst/>
          </a:prstGeom>
          <a:noFill/>
        </p:spPr>
        <p:txBody>
          <a:bodyPr wrap="square" lIns="27432" tIns="27432" rIns="27432" bIns="27432" anchor="t">
            <a:spAutoFit/>
          </a:bodyPr>
          <a:lstStyle/>
          <a:p>
            <a:pPr algn="l">
              <a:spcAft>
                <a:spcPts val="0"/>
              </a:spcAft>
            </a:pPr>
            <a:r>
              <a:rPr lang="en-GB" sz="1000" b="0">
                <a:solidFill>
                  <a:srgbClr val="687385"/>
                </a:solidFill>
              </a:rPr>
              <a:t>If debug is used, filter by the test tuple and disable</a:t>
            </a:r>
            <a:r>
              <a:rPr sz="1000" b="0">
                <a:solidFill>
                  <a:srgbClr val="687385"/>
                </a:solidFill>
              </a:rPr>
              <a:t>/reset </a:t>
            </a:r>
            <a:r>
              <a:rPr lang="en-GB" sz="1000" b="0">
                <a:solidFill>
                  <a:srgbClr val="687385"/>
                </a:solidFill>
              </a:rPr>
              <a:t>it immediately </a:t>
            </a:r>
            <a:r>
              <a:rPr sz="1000" b="0">
                <a:solidFill>
                  <a:srgbClr val="687385"/>
                </a:solidFill>
              </a:rPr>
              <a:t>after </a:t>
            </a:r>
            <a:r>
              <a:rPr lang="en-GB" sz="1000" b="0">
                <a:solidFill>
                  <a:srgbClr val="687385"/>
                </a:solidFill>
              </a:rPr>
              <a:t>capture</a:t>
            </a:r>
            <a:r>
              <a:rPr sz="1000" b="0">
                <a:solidFill>
                  <a:srgbClr val="687385"/>
                </a:solidFill>
              </a:rPr>
              <a:t>.</a:t>
            </a:r>
          </a:p>
        </p:txBody>
      </p:sp>
      <p:sp>
        <p:nvSpPr>
          <p:cNvPr id="35" name="TextBox 34"/>
          <p:cNvSpPr txBox="1"/>
          <p:nvPr/>
        </p:nvSpPr>
        <p:spPr>
          <a:xfrm>
            <a:off x="502920" y="420624"/>
            <a:ext cx="10744200" cy="130805"/>
          </a:xfrm>
          <a:prstGeom prst="rect">
            <a:avLst/>
          </a:prstGeom>
          <a:noFill/>
        </p:spPr>
        <p:txBody>
          <a:bodyPr wrap="square" lIns="0" tIns="0" rIns="0" bIns="0">
            <a:spAutoFit/>
          </a:bodyPr>
          <a:lstStyle/>
          <a:p>
            <a:pPr algn="l"/>
            <a:r>
              <a:rPr lang="en-HU" sz="850" b="1">
                <a:solidFill>
                  <a:srgbClr val="687385"/>
                </a:solidFill>
              </a:rPr>
              <a:t>055</a:t>
            </a:r>
            <a:r>
              <a:rPr sz="850" b="1">
                <a:solidFill>
                  <a:srgbClr val="687385"/>
                </a:solidFill>
              </a:rPr>
              <a:t> • DAY 2 • BLOCK 05 • Routing Fundamentals</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56</a:t>
            </a:r>
          </a:p>
        </p:txBody>
      </p:sp>
      <p:sp>
        <p:nvSpPr>
          <p:cNvPr id="9" name="TextBox 8"/>
          <p:cNvSpPr txBox="1">
            <a:spLocks/>
          </p:cNvSpPr>
          <p:nvPr/>
        </p:nvSpPr>
        <p:spPr>
          <a:xfrm>
            <a:off x="502920" y="621792"/>
            <a:ext cx="11109960" cy="455509"/>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Practical handoff: Route Selection and Failure Analysis</a:t>
            </a:r>
          </a:p>
        </p:txBody>
      </p:sp>
      <p:sp>
        <p:nvSpPr>
          <p:cNvPr id="10" name="TextBox 9"/>
          <p:cNvSpPr txBox="1">
            <a:spLocks/>
          </p:cNvSpPr>
          <p:nvPr/>
        </p:nvSpPr>
        <p:spPr>
          <a:xfrm>
            <a:off x="658368" y="1554480"/>
            <a:ext cx="6583680" cy="3846117"/>
          </a:xfrm>
          <a:prstGeom prst="rect">
            <a:avLst/>
          </a:prstGeom>
          <a:noFill/>
        </p:spPr>
        <p:txBody>
          <a:bodyPr wrap="square" lIns="109728" tIns="73152" rIns="109728" bIns="73152" anchor="t">
            <a:spAutoFit/>
          </a:bodyPr>
          <a:lstStyle/>
          <a:p>
            <a:pPr algn="l">
              <a:lnSpc>
                <a:spcPct val="105000"/>
              </a:lnSpc>
              <a:spcAft>
                <a:spcPts val="800"/>
              </a:spcAft>
              <a:defRPr sz="1700">
                <a:solidFill>
                  <a:srgbClr val="1E2B40"/>
                </a:solidFill>
              </a:defRPr>
            </a:pPr>
            <a:r>
              <a:rPr lang="en-GB"/>
              <a:t>• START / PREREQUISITES: Student N connected routes plus instructor-provided candidate routes; protected tunnel route may be simulated.</a:t>
            </a:r>
          </a:p>
          <a:p>
            <a:pPr>
              <a:lnSpc>
                <a:spcPct val="105000"/>
              </a:lnSpc>
              <a:spcAft>
                <a:spcPts val="800"/>
              </a:spcAft>
              <a:defRPr sz="1700">
                <a:solidFill>
                  <a:srgbClr val="1E2B40"/>
                </a:solidFill>
              </a:defRPr>
            </a:pPr>
            <a:r>
              <a:rPr lang="en-GB"/>
              <a:t>• CHANGE / INVESTIGATE: Predict longest-prefix/distance choice, inspect the active route, then diagnose one withdrawn or less-preferred route.</a:t>
            </a:r>
          </a:p>
          <a:p>
            <a:pPr>
              <a:lnSpc>
                <a:spcPct val="105000"/>
              </a:lnSpc>
              <a:spcAft>
                <a:spcPts val="800"/>
              </a:spcAft>
              <a:defRPr sz="1700">
                <a:solidFill>
                  <a:srgbClr val="1E2B40"/>
                </a:solidFill>
              </a:defRPr>
            </a:pPr>
            <a:r>
              <a:rPr lang="en-GB"/>
              <a:t>• EXPECTED RESULT: Learners identify the winning route and explain the forwarding change after the controlled failure.</a:t>
            </a:r>
          </a:p>
          <a:p>
            <a:pPr>
              <a:lnSpc>
                <a:spcPct val="105000"/>
              </a:lnSpc>
              <a:spcAft>
                <a:spcPts val="800"/>
              </a:spcAft>
              <a:defRPr sz="1700">
                <a:solidFill>
                  <a:srgbClr val="1E2B40"/>
                </a:solidFill>
              </a:defRPr>
            </a:pPr>
            <a:r>
              <a:rPr lang="en-GB"/>
              <a:t>• CLEANUP / RESET: Restore the original route set and confirm management and default Internet breakout still work.</a:t>
            </a:r>
          </a:p>
          <a:p>
            <a:pPr>
              <a:lnSpc>
                <a:spcPct val="105000"/>
              </a:lnSpc>
              <a:spcAft>
                <a:spcPts val="800"/>
              </a:spcAft>
              <a:defRPr sz="1700">
                <a:solidFill>
                  <a:srgbClr val="1E2B40"/>
                </a:solidFill>
              </a:defRPr>
            </a:pPr>
            <a:r>
              <a:rPr lang="en-GB"/>
              <a:t>• DELIVERY: Hands-on with isolated routes; worked route-table scenario fallback.</a:t>
            </a:r>
          </a:p>
        </p:txBody>
      </p:sp>
      <p:cxnSp>
        <p:nvCxnSpPr>
          <p:cNvPr id="11" name="Connector 10"/>
          <p:cNvCxnSpPr/>
          <p:nvPr/>
        </p:nvCxnSpPr>
        <p:spPr>
          <a:xfrm>
            <a:off x="7452360" y="1600200"/>
            <a:ext cx="0" cy="434340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7790688" y="1627632"/>
            <a:ext cx="342900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PLANNED EXERCISE</a:t>
            </a:r>
          </a:p>
        </p:txBody>
      </p:sp>
      <p:sp>
        <p:nvSpPr>
          <p:cNvPr id="13" name="TextBox 12"/>
          <p:cNvSpPr txBox="1">
            <a:spLocks/>
          </p:cNvSpPr>
          <p:nvPr/>
        </p:nvSpPr>
        <p:spPr>
          <a:xfrm>
            <a:off x="7790688" y="2057400"/>
            <a:ext cx="3337560" cy="1101840"/>
          </a:xfrm>
          <a:prstGeom prst="rect">
            <a:avLst/>
          </a:prstGeom>
          <a:noFill/>
        </p:spPr>
        <p:txBody>
          <a:bodyPr wrap="square" lIns="27432" tIns="27432" rIns="27432" bIns="27432" anchor="t">
            <a:spAutoFit/>
          </a:bodyPr>
          <a:lstStyle/>
          <a:p>
            <a:pPr algn="l">
              <a:spcAft>
                <a:spcPts val="0"/>
              </a:spcAft>
            </a:pPr>
            <a:r>
              <a:rPr lang="en-GB" sz="1700" b="1">
                <a:solidFill>
                  <a:srgbClr val="233A59"/>
                </a:solidFill>
              </a:rPr>
              <a:t>Predict longest-prefix/distance choice, inspect the active route, then diagnose one withdrawn or less-preferred route.</a:t>
            </a:r>
          </a:p>
        </p:txBody>
      </p:sp>
      <p:sp>
        <p:nvSpPr>
          <p:cNvPr id="14" name="TextBox 13"/>
          <p:cNvSpPr txBox="1">
            <a:spLocks/>
          </p:cNvSpPr>
          <p:nvPr/>
        </p:nvSpPr>
        <p:spPr>
          <a:xfrm>
            <a:off x="7790688" y="3822191"/>
            <a:ext cx="18288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EXPECTED RESULT</a:t>
            </a:r>
          </a:p>
        </p:txBody>
      </p:sp>
      <p:sp>
        <p:nvSpPr>
          <p:cNvPr id="15" name="TextBox 14"/>
          <p:cNvSpPr txBox="1">
            <a:spLocks/>
          </p:cNvSpPr>
          <p:nvPr/>
        </p:nvSpPr>
        <p:spPr>
          <a:xfrm>
            <a:off x="7790688" y="4187952"/>
            <a:ext cx="3337560" cy="747897"/>
          </a:xfrm>
          <a:prstGeom prst="rect">
            <a:avLst/>
          </a:prstGeom>
          <a:noFill/>
        </p:spPr>
        <p:txBody>
          <a:bodyPr wrap="square" lIns="27432" tIns="27432" rIns="27432" bIns="27432" anchor="t">
            <a:spAutoFit/>
          </a:bodyPr>
          <a:lstStyle/>
          <a:p>
            <a:pPr algn="l">
              <a:spcAft>
                <a:spcPts val="0"/>
              </a:spcAft>
            </a:pPr>
            <a:r>
              <a:rPr lang="en-GB" sz="1500" b="0">
                <a:solidFill>
                  <a:srgbClr val="1E2B40"/>
                </a:solidFill>
              </a:rPr>
              <a:t>Learners identify the winning route and explain the forwarding change after the controlled failure.</a:t>
            </a:r>
          </a:p>
        </p:txBody>
      </p:sp>
      <p:sp>
        <p:nvSpPr>
          <p:cNvPr id="16" name="TextBox 15"/>
          <p:cNvSpPr txBox="1">
            <a:spLocks/>
          </p:cNvSpPr>
          <p:nvPr/>
        </p:nvSpPr>
        <p:spPr>
          <a:xfrm>
            <a:off x="7790688" y="5559552"/>
            <a:ext cx="1097280" cy="209288"/>
          </a:xfrm>
          <a:prstGeom prst="rect">
            <a:avLst/>
          </a:prstGeom>
          <a:noFill/>
        </p:spPr>
        <p:txBody>
          <a:bodyPr wrap="square" lIns="27432" tIns="27432" rIns="27432" bIns="27432" anchor="t">
            <a:spAutoFit/>
          </a:bodyPr>
          <a:lstStyle/>
          <a:p>
            <a:pPr algn="l">
              <a:spcAft>
                <a:spcPts val="0"/>
              </a:spcAft>
            </a:pPr>
            <a:r>
              <a:rPr lang="en-GB" sz="1000" b="1">
                <a:solidFill>
                  <a:srgbClr val="687385"/>
                </a:solidFill>
              </a:rPr>
              <a:t>DELIVERY MODE</a:t>
            </a:r>
          </a:p>
        </p:txBody>
      </p:sp>
      <p:sp>
        <p:nvSpPr>
          <p:cNvPr id="17" name="TextBox 16"/>
          <p:cNvSpPr txBox="1">
            <a:spLocks/>
          </p:cNvSpPr>
          <p:nvPr/>
        </p:nvSpPr>
        <p:spPr>
          <a:xfrm>
            <a:off x="8942832" y="5504688"/>
            <a:ext cx="2258568" cy="486287"/>
          </a:xfrm>
          <a:prstGeom prst="rect">
            <a:avLst/>
          </a:prstGeom>
          <a:noFill/>
        </p:spPr>
        <p:txBody>
          <a:bodyPr wrap="square" lIns="27432" tIns="27432" rIns="27432" bIns="27432" anchor="t">
            <a:spAutoFit/>
          </a:bodyPr>
          <a:lstStyle/>
          <a:p>
            <a:pPr algn="r">
              <a:spcAft>
                <a:spcPts val="0"/>
              </a:spcAft>
            </a:pPr>
            <a:r>
              <a:rPr lang="en-GB" sz="1400" b="0">
                <a:solidFill>
                  <a:srgbClr val="687385"/>
                </a:solidFill>
              </a:rPr>
              <a:t>Hands-on or route-table scenario</a:t>
            </a:r>
          </a:p>
        </p:txBody>
      </p:sp>
      <p:sp>
        <p:nvSpPr>
          <p:cNvPr id="18" name="TextBox 17"/>
          <p:cNvSpPr txBox="1">
            <a:spLocks/>
          </p:cNvSpPr>
          <p:nvPr/>
        </p:nvSpPr>
        <p:spPr>
          <a:xfrm>
            <a:off x="502920" y="420624"/>
            <a:ext cx="10744200" cy="130805"/>
          </a:xfrm>
          <a:prstGeom prst="rect">
            <a:avLst/>
          </a:prstGeom>
          <a:noFill/>
        </p:spPr>
        <p:txBody>
          <a:bodyPr wrap="square" lIns="0" tIns="0" rIns="0" bIns="0">
            <a:spAutoFit/>
          </a:bodyPr>
          <a:lstStyle/>
          <a:p>
            <a:pPr algn="l"/>
            <a:r>
              <a:rPr lang="en-GB" sz="850" b="1">
                <a:solidFill>
                  <a:srgbClr val="687385"/>
                </a:solidFill>
              </a:rPr>
              <a:t>056 • DAY 2 • BLOCK 05 • Routing Fundamentals</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57</a:t>
            </a:r>
          </a:p>
        </p:txBody>
      </p:sp>
      <p:sp>
        <p:nvSpPr>
          <p:cNvPr id="9" name="TextBox 8"/>
          <p:cNvSpPr txBox="1">
            <a:spLocks/>
          </p:cNvSpPr>
          <p:nvPr/>
        </p:nvSpPr>
        <p:spPr>
          <a:xfrm>
            <a:off x="502920" y="621792"/>
            <a:ext cx="11109960" cy="455509"/>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Knowledge check — explain the result</a:t>
            </a:r>
          </a:p>
        </p:txBody>
      </p:sp>
      <p:sp>
        <p:nvSpPr>
          <p:cNvPr id="10" name="TextBox 9"/>
          <p:cNvSpPr txBox="1">
            <a:spLocks/>
          </p:cNvSpPr>
          <p:nvPr/>
        </p:nvSpPr>
        <p:spPr>
          <a:xfrm>
            <a:off x="658368" y="1600200"/>
            <a:ext cx="5312664" cy="292608"/>
          </a:xfrm>
          <a:prstGeom prst="rect">
            <a:avLst/>
          </a:prstGeom>
          <a:noFill/>
        </p:spPr>
        <p:txBody>
          <a:bodyPr wrap="square" lIns="27432" tIns="27432" rIns="27432" bIns="27432" anchor="t">
            <a:spAutoFit/>
          </a:bodyPr>
          <a:lstStyle/>
          <a:p>
            <a:pPr algn="l">
              <a:spcAft>
                <a:spcPts val="0"/>
              </a:spcAft>
            </a:pPr>
            <a:r>
              <a:rPr lang="en-GB" sz="1300" b="1">
                <a:solidFill>
                  <a:srgbClr val="E60012"/>
                </a:solidFill>
              </a:rPr>
              <a:t>QUESTION 1</a:t>
            </a:r>
          </a:p>
        </p:txBody>
      </p:sp>
      <p:cxnSp>
        <p:nvCxnSpPr>
          <p:cNvPr id="11" name="Connector 10"/>
          <p:cNvCxnSpPr/>
          <p:nvPr/>
        </p:nvCxnSpPr>
        <p:spPr>
          <a:xfrm>
            <a:off x="658368" y="1984248"/>
            <a:ext cx="5312664" cy="0"/>
          </a:xfrm>
          <a:prstGeom prst="line">
            <a:avLst/>
          </a:prstGeom>
          <a:ln w="22860">
            <a:solidFill>
              <a:srgbClr val="E60012"/>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658368" y="2176272"/>
            <a:ext cx="5312664" cy="3337560"/>
          </a:xfrm>
          <a:prstGeom prst="rect">
            <a:avLst/>
          </a:prstGeom>
          <a:noFill/>
        </p:spPr>
        <p:txBody>
          <a:bodyPr wrap="square" lIns="109728" tIns="73152" rIns="109728" bIns="73152" anchor="t">
            <a:spAutoFit/>
          </a:bodyPr>
          <a:lstStyle/>
          <a:p>
            <a:pPr algn="l">
              <a:lnSpc>
                <a:spcPct val="105000"/>
              </a:lnSpc>
              <a:spcAft>
                <a:spcPts val="800"/>
              </a:spcAft>
              <a:defRPr sz="1600">
                <a:solidFill>
                  <a:srgbClr val="1E2B40"/>
                </a:solidFill>
              </a:defRPr>
            </a:pPr>
            <a:r>
              <a:rPr lang="en-GB"/>
              <a:t>• Which criterion is evaluated before administrative distance?</a:t>
            </a:r>
          </a:p>
        </p:txBody>
      </p:sp>
      <p:sp>
        <p:nvSpPr>
          <p:cNvPr id="13" name="TextBox 12"/>
          <p:cNvSpPr txBox="1"/>
          <p:nvPr/>
        </p:nvSpPr>
        <p:spPr>
          <a:xfrm>
            <a:off x="6227064" y="1600200"/>
            <a:ext cx="5312664" cy="292608"/>
          </a:xfrm>
          <a:prstGeom prst="rect">
            <a:avLst/>
          </a:prstGeom>
          <a:noFill/>
        </p:spPr>
        <p:txBody>
          <a:bodyPr wrap="square" lIns="27432" tIns="27432" rIns="27432" bIns="27432" anchor="t">
            <a:spAutoFit/>
          </a:bodyPr>
          <a:lstStyle/>
          <a:p>
            <a:pPr algn="l">
              <a:spcAft>
                <a:spcPts val="0"/>
              </a:spcAft>
            </a:pPr>
            <a:r>
              <a:rPr sz="1300" b="1">
                <a:solidFill>
                  <a:srgbClr val="E60012"/>
                </a:solidFill>
              </a:rPr>
              <a:t>QUESTION 2</a:t>
            </a:r>
          </a:p>
        </p:txBody>
      </p:sp>
      <p:cxnSp>
        <p:nvCxnSpPr>
          <p:cNvPr id="14" name="Connector 13"/>
          <p:cNvCxnSpPr/>
          <p:nvPr/>
        </p:nvCxnSpPr>
        <p:spPr>
          <a:xfrm>
            <a:off x="6227064" y="1984248"/>
            <a:ext cx="5312664" cy="0"/>
          </a:xfrm>
          <a:prstGeom prst="line">
            <a:avLst/>
          </a:prstGeom>
          <a:ln w="22860">
            <a:solidFill>
              <a:srgbClr val="E60012"/>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227064" y="2176272"/>
            <a:ext cx="5312664" cy="3337560"/>
          </a:xfrm>
          <a:prstGeom prst="rect">
            <a:avLst/>
          </a:prstGeom>
          <a:noFill/>
        </p:spPr>
        <p:txBody>
          <a:bodyPr wrap="square" lIns="109728" tIns="73152" rIns="109728" bIns="73152" anchor="t">
            <a:spAutoFit/>
          </a:bodyPr>
          <a:lstStyle/>
          <a:p>
            <a:pPr algn="l">
              <a:lnSpc>
                <a:spcPct val="105000"/>
              </a:lnSpc>
              <a:spcAft>
                <a:spcPts val="800"/>
              </a:spcAft>
              <a:defRPr sz="1600">
                <a:solidFill>
                  <a:srgbClr val="1E2B40"/>
                </a:solidFill>
              </a:defRPr>
            </a:pPr>
            <a:r>
              <a:t>• Why might equal routes not visibly split one connection?</a:t>
            </a:r>
          </a:p>
        </p:txBody>
      </p:sp>
      <p:sp>
        <p:nvSpPr>
          <p:cNvPr id="16" name="TextBox 15"/>
          <p:cNvSpPr txBox="1"/>
          <p:nvPr/>
        </p:nvSpPr>
        <p:spPr>
          <a:xfrm>
            <a:off x="658368" y="5724144"/>
            <a:ext cx="1234440" cy="224677"/>
          </a:xfrm>
          <a:prstGeom prst="rect">
            <a:avLst/>
          </a:prstGeom>
          <a:noFill/>
        </p:spPr>
        <p:txBody>
          <a:bodyPr wrap="square" lIns="27432" tIns="27432" rIns="27432" bIns="27432" anchor="t">
            <a:spAutoFit/>
          </a:bodyPr>
          <a:lstStyle/>
          <a:p>
            <a:pPr algn="l">
              <a:spcAft>
                <a:spcPts val="0"/>
              </a:spcAft>
            </a:pPr>
            <a:r>
              <a:rPr lang="en-GB" sz="1100" b="1">
                <a:solidFill>
                  <a:srgbClr val="233A59"/>
                </a:solidFill>
              </a:rPr>
              <a:t>KEY DISTINCTION</a:t>
            </a:r>
            <a:endParaRPr sz="1100" b="1">
              <a:solidFill>
                <a:srgbClr val="233A59"/>
              </a:solidFill>
            </a:endParaRPr>
          </a:p>
        </p:txBody>
      </p:sp>
      <p:sp>
        <p:nvSpPr>
          <p:cNvPr id="17" name="TextBox 16"/>
          <p:cNvSpPr txBox="1"/>
          <p:nvPr/>
        </p:nvSpPr>
        <p:spPr>
          <a:xfrm>
            <a:off x="1920240" y="5687568"/>
            <a:ext cx="9235440" cy="329184"/>
          </a:xfrm>
          <a:prstGeom prst="rect">
            <a:avLst/>
          </a:prstGeom>
          <a:noFill/>
        </p:spPr>
        <p:txBody>
          <a:bodyPr wrap="square" lIns="27432" tIns="27432" rIns="27432" bIns="27432" anchor="t">
            <a:spAutoFit/>
          </a:bodyPr>
          <a:lstStyle/>
          <a:p>
            <a:pPr algn="l">
              <a:spcAft>
                <a:spcPts val="0"/>
              </a:spcAft>
            </a:pPr>
            <a:r>
              <a:rPr sz="1400" b="1">
                <a:solidFill>
                  <a:srgbClr val="233A59"/>
                </a:solidFill>
              </a:rPr>
              <a:t>Answers and teaching rationale are in speaker notes.</a:t>
            </a:r>
          </a:p>
        </p:txBody>
      </p:sp>
      <p:sp>
        <p:nvSpPr>
          <p:cNvPr id="18" name="TextBox 17"/>
          <p:cNvSpPr txBox="1"/>
          <p:nvPr/>
        </p:nvSpPr>
        <p:spPr>
          <a:xfrm>
            <a:off x="502920" y="420624"/>
            <a:ext cx="10744200" cy="130805"/>
          </a:xfrm>
          <a:prstGeom prst="rect">
            <a:avLst/>
          </a:prstGeom>
          <a:noFill/>
        </p:spPr>
        <p:txBody>
          <a:bodyPr wrap="square" lIns="0" tIns="0" rIns="0" bIns="0">
            <a:spAutoFit/>
          </a:bodyPr>
          <a:lstStyle/>
          <a:p>
            <a:pPr algn="l"/>
            <a:r>
              <a:rPr lang="en-HU" sz="850" b="1">
                <a:solidFill>
                  <a:srgbClr val="687385"/>
                </a:solidFill>
              </a:rPr>
              <a:t>057</a:t>
            </a:r>
            <a:r>
              <a:rPr sz="850" b="1">
                <a:solidFill>
                  <a:srgbClr val="687385"/>
                </a:solidFill>
              </a:rPr>
              <a:t> • DAY 2 • BLOCK 05 • Routing Fundamentals</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101827"/>
        </a:solidFill>
        <a:effectLst/>
      </p:bgPr>
    </p:bg>
    <p:spTree>
      <p:nvGrpSpPr>
        <p:cNvPr id="1" name=""/>
        <p:cNvGrpSpPr/>
        <p:nvPr/>
      </p:nvGrpSpPr>
      <p:grpSpPr>
        <a:xfrm>
          <a:off x="0" y="0"/>
          <a:ext cx="1" cy="1"/>
          <a:chOff x="0" y="0"/>
          <a:chExt cx="1" cy="1"/>
        </a:xfrm>
      </p:grpSpPr>
      <p:sp>
        <p:nvSpPr>
          <p:cNvPr id="2" name="Rectangle 1"/>
          <p:cNvSpPr/>
          <p:nvPr/>
        </p:nvSpPr>
        <p:spPr>
          <a:xfrm>
            <a:off x="0" y="0"/>
            <a:ext cx="146304" cy="6858000"/>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a:spLocks/>
          </p:cNvSpPr>
          <p:nvPr/>
        </p:nvSpPr>
        <p:spPr>
          <a:xfrm>
            <a:off x="658368" y="566928"/>
            <a:ext cx="5212080" cy="256032"/>
          </a:xfrm>
          <a:prstGeom prst="rect">
            <a:avLst/>
          </a:prstGeom>
          <a:noFill/>
        </p:spPr>
        <p:txBody>
          <a:bodyPr wrap="square" lIns="27432" tIns="27432" rIns="27432" bIns="27432" anchor="t">
            <a:spAutoFit/>
          </a:bodyPr>
          <a:lstStyle/>
          <a:p>
            <a:pPr algn="l">
              <a:spcAft>
                <a:spcPts val="0"/>
              </a:spcAft>
            </a:pPr>
            <a:r>
              <a:rPr lang="en-GB" sz="1400" b="1">
                <a:solidFill>
                  <a:srgbClr val="E60012"/>
                </a:solidFill>
              </a:rPr>
              <a:t>DAY 2  •  10:30–12:00</a:t>
            </a:r>
          </a:p>
        </p:txBody>
      </p:sp>
      <p:sp>
        <p:nvSpPr>
          <p:cNvPr id="4" name="TextBox 3"/>
          <p:cNvSpPr txBox="1">
            <a:spLocks/>
          </p:cNvSpPr>
          <p:nvPr/>
        </p:nvSpPr>
        <p:spPr>
          <a:xfrm>
            <a:off x="658368" y="1097280"/>
            <a:ext cx="10515600" cy="914400"/>
          </a:xfrm>
          <a:prstGeom prst="rect">
            <a:avLst/>
          </a:prstGeom>
          <a:noFill/>
        </p:spPr>
        <p:txBody>
          <a:bodyPr wrap="square" lIns="27432" tIns="27432" rIns="27432" bIns="27432" anchor="t">
            <a:spAutoFit/>
          </a:bodyPr>
          <a:lstStyle/>
          <a:p>
            <a:pPr algn="l">
              <a:spcAft>
                <a:spcPts val="0"/>
              </a:spcAft>
            </a:pPr>
            <a:r>
              <a:rPr lang="en-GB" sz="3400" b="1">
                <a:solidFill>
                  <a:srgbClr val="FFFFFF"/>
                </a:solidFill>
              </a:rPr>
              <a:t>Object Management &amp; Policy Design Best Practices</a:t>
            </a:r>
          </a:p>
        </p:txBody>
      </p:sp>
      <p:sp>
        <p:nvSpPr>
          <p:cNvPr id="5" name="TextBox 4"/>
          <p:cNvSpPr txBox="1">
            <a:spLocks/>
          </p:cNvSpPr>
          <p:nvPr/>
        </p:nvSpPr>
        <p:spPr>
          <a:xfrm>
            <a:off x="676656" y="2084831"/>
            <a:ext cx="8686800" cy="320040"/>
          </a:xfrm>
          <a:prstGeom prst="rect">
            <a:avLst/>
          </a:prstGeom>
          <a:noFill/>
        </p:spPr>
        <p:txBody>
          <a:bodyPr wrap="square" lIns="27432" tIns="27432" rIns="27432" bIns="27432" anchor="t">
            <a:spAutoFit/>
          </a:bodyPr>
          <a:lstStyle/>
          <a:p>
            <a:pPr algn="l">
              <a:spcAft>
                <a:spcPts val="0"/>
              </a:spcAft>
            </a:pPr>
            <a:r>
              <a:rPr lang="en-GB" sz="1500" b="0">
                <a:solidFill>
                  <a:srgbClr val="C9D1DD"/>
                </a:solidFill>
              </a:rPr>
              <a:t>Foundations • Day 2 of 2</a:t>
            </a:r>
          </a:p>
        </p:txBody>
      </p:sp>
      <p:cxnSp>
        <p:nvCxnSpPr>
          <p:cNvPr id="6" name="Connector 5"/>
          <p:cNvCxnSpPr/>
          <p:nvPr/>
        </p:nvCxnSpPr>
        <p:spPr>
          <a:xfrm>
            <a:off x="676656" y="2578608"/>
            <a:ext cx="10616184" cy="0"/>
          </a:xfrm>
          <a:prstGeom prst="line">
            <a:avLst/>
          </a:prstGeom>
          <a:ln w="12700">
            <a:solidFill>
              <a:srgbClr val="40516A"/>
            </a:solidFill>
          </a:ln>
        </p:spPr>
        <p:style>
          <a:lnRef idx="2">
            <a:schemeClr val="accent1"/>
          </a:lnRef>
          <a:fillRef idx="0">
            <a:schemeClr val="accent1"/>
          </a:fillRef>
          <a:effectRef idx="1">
            <a:schemeClr val="accent1"/>
          </a:effectRef>
          <a:fontRef idx="minor">
            <a:schemeClr val="tx1"/>
          </a:fontRef>
        </p:style>
      </p:cxnSp>
      <p:sp>
        <p:nvSpPr>
          <p:cNvPr id="7" name="TextBox 6"/>
          <p:cNvSpPr txBox="1">
            <a:spLocks/>
          </p:cNvSpPr>
          <p:nvPr/>
        </p:nvSpPr>
        <p:spPr>
          <a:xfrm>
            <a:off x="685800" y="2889504"/>
            <a:ext cx="27432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LEARNING OBJECTIVES</a:t>
            </a:r>
          </a:p>
        </p:txBody>
      </p:sp>
      <p:sp>
        <p:nvSpPr>
          <p:cNvPr id="8" name="TextBox 7"/>
          <p:cNvSpPr txBox="1">
            <a:spLocks/>
          </p:cNvSpPr>
          <p:nvPr/>
        </p:nvSpPr>
        <p:spPr>
          <a:xfrm>
            <a:off x="685800" y="3218688"/>
            <a:ext cx="6035040" cy="2057400"/>
          </a:xfrm>
          <a:prstGeom prst="rect">
            <a:avLst/>
          </a:prstGeom>
          <a:noFill/>
        </p:spPr>
        <p:txBody>
          <a:bodyPr wrap="square" lIns="109728" tIns="73152" rIns="109728" bIns="73152" anchor="t">
            <a:spAutoFit/>
          </a:bodyPr>
          <a:lstStyle/>
          <a:p>
            <a:pPr algn="l">
              <a:lnSpc>
                <a:spcPct val="105000"/>
              </a:lnSpc>
              <a:spcAft>
                <a:spcPts val="700"/>
              </a:spcAft>
              <a:defRPr sz="1700">
                <a:solidFill>
                  <a:srgbClr val="FFFFFF"/>
                </a:solidFill>
              </a:defRPr>
            </a:pPr>
            <a:r>
              <a:rPr lang="en-GB"/>
              <a:t>• Create clear address, service and group objects</a:t>
            </a:r>
          </a:p>
          <a:p>
            <a:pPr>
              <a:lnSpc>
                <a:spcPct val="105000"/>
              </a:lnSpc>
              <a:spcAft>
                <a:spcPts val="700"/>
              </a:spcAft>
              <a:defRPr sz="1700">
                <a:solidFill>
                  <a:srgbClr val="FFFFFF"/>
                </a:solidFill>
              </a:defRPr>
            </a:pPr>
            <a:r>
              <a:rPr lang="en-GB"/>
              <a:t>• Apply naming, reuse and ownership conventions</a:t>
            </a:r>
          </a:p>
          <a:p>
            <a:pPr>
              <a:lnSpc>
                <a:spcPct val="105000"/>
              </a:lnSpc>
              <a:spcAft>
                <a:spcPts val="700"/>
              </a:spcAft>
              <a:defRPr sz="1700">
                <a:solidFill>
                  <a:srgbClr val="FFFFFF"/>
                </a:solidFill>
              </a:defRPr>
            </a:pPr>
            <a:r>
              <a:rPr lang="en-GB"/>
              <a:t>• Review policies for maintainability and operational clarity</a:t>
            </a:r>
          </a:p>
        </p:txBody>
      </p:sp>
      <p:sp>
        <p:nvSpPr>
          <p:cNvPr id="9" name="TextBox 8"/>
          <p:cNvSpPr txBox="1">
            <a:spLocks/>
          </p:cNvSpPr>
          <p:nvPr/>
        </p:nvSpPr>
        <p:spPr>
          <a:xfrm>
            <a:off x="7315200" y="2889504"/>
            <a:ext cx="36576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PREREQUISITES + PRACTICE RESERVE</a:t>
            </a:r>
          </a:p>
        </p:txBody>
      </p:sp>
      <p:sp>
        <p:nvSpPr>
          <p:cNvPr id="10" name="TextBox 9"/>
          <p:cNvSpPr txBox="1">
            <a:spLocks/>
          </p:cNvSpPr>
          <p:nvPr/>
        </p:nvSpPr>
        <p:spPr>
          <a:xfrm>
            <a:off x="7315200" y="3218688"/>
            <a:ext cx="3886200" cy="1143000"/>
          </a:xfrm>
          <a:prstGeom prst="rect">
            <a:avLst/>
          </a:prstGeom>
          <a:noFill/>
        </p:spPr>
        <p:txBody>
          <a:bodyPr wrap="square" lIns="109728" tIns="73152" rIns="109728" bIns="73152" anchor="t">
            <a:spAutoFit/>
          </a:bodyPr>
          <a:lstStyle/>
          <a:p>
            <a:pPr algn="l">
              <a:lnSpc>
                <a:spcPct val="105000"/>
              </a:lnSpc>
              <a:spcAft>
                <a:spcPts val="600"/>
              </a:spcAft>
              <a:defRPr sz="1500">
                <a:solidFill>
                  <a:srgbClr val="FFFFFF"/>
                </a:solidFill>
              </a:defRPr>
            </a:pPr>
            <a:r>
              <a:rPr lang="en-GB"/>
              <a:t>• Day 1 policy evaluation</a:t>
            </a:r>
          </a:p>
          <a:p>
            <a:pPr>
              <a:lnSpc>
                <a:spcPct val="105000"/>
              </a:lnSpc>
              <a:spcAft>
                <a:spcPts val="600"/>
              </a:spcAft>
              <a:defRPr sz="1500">
                <a:solidFill>
                  <a:srgbClr val="FFFFFF"/>
                </a:solidFill>
              </a:defRPr>
            </a:pPr>
            <a:r>
              <a:rPr lang="en-GB"/>
              <a:t>• Agreed naming standard or instructor example</a:t>
            </a:r>
          </a:p>
          <a:p>
            <a:pPr>
              <a:lnSpc>
                <a:spcPct val="105000"/>
              </a:lnSpc>
              <a:spcAft>
                <a:spcPts val="600"/>
              </a:spcAft>
              <a:defRPr sz="1500">
                <a:solidFill>
                  <a:srgbClr val="FFFFFF"/>
                </a:solidFill>
              </a:defRPr>
            </a:pPr>
            <a:r>
              <a:rPr lang="en-GB"/>
              <a:t>• Read-only review is sufficient for shared labs</a:t>
            </a:r>
          </a:p>
        </p:txBody>
      </p:sp>
      <p:sp>
        <p:nvSpPr>
          <p:cNvPr id="11" name="TextBox 10"/>
          <p:cNvSpPr txBox="1">
            <a:spLocks/>
          </p:cNvSpPr>
          <p:nvPr/>
        </p:nvSpPr>
        <p:spPr>
          <a:xfrm>
            <a:off x="7315200" y="4709160"/>
            <a:ext cx="3931920" cy="685800"/>
          </a:xfrm>
          <a:prstGeom prst="rect">
            <a:avLst/>
          </a:prstGeom>
          <a:noFill/>
        </p:spPr>
        <p:txBody>
          <a:bodyPr wrap="square" lIns="27432" tIns="27432" rIns="27432" bIns="27432" anchor="t">
            <a:spAutoFit/>
          </a:bodyPr>
          <a:lstStyle/>
          <a:p>
            <a:pPr algn="l">
              <a:spcAft>
                <a:spcPts val="0"/>
              </a:spcAft>
            </a:pPr>
            <a:r>
              <a:rPr lang="en-GB" sz="1600" b="1">
                <a:solidFill>
                  <a:srgbClr val="D8E0EA"/>
                </a:solidFill>
              </a:rPr>
              <a:t>Teach ~50 min • reserve ~40 min for guided activity, discussion and debrief</a:t>
            </a:r>
          </a:p>
        </p:txBody>
      </p:sp>
      <p:sp>
        <p:nvSpPr>
          <p:cNvPr id="12" name="TextBox 11"/>
          <p:cNvSpPr txBox="1">
            <a:spLocks/>
          </p:cNvSpPr>
          <p:nvPr/>
        </p:nvSpPr>
        <p:spPr>
          <a:xfrm>
            <a:off x="10424160" y="5715000"/>
            <a:ext cx="731520" cy="363176"/>
          </a:xfrm>
          <a:prstGeom prst="rect">
            <a:avLst/>
          </a:prstGeom>
          <a:noFill/>
        </p:spPr>
        <p:txBody>
          <a:bodyPr wrap="square" lIns="27432" tIns="27432" rIns="27432" bIns="27432" anchor="t">
            <a:spAutoFit/>
          </a:bodyPr>
          <a:lstStyle/>
          <a:p>
            <a:pPr algn="r">
              <a:spcAft>
                <a:spcPts val="0"/>
              </a:spcAft>
            </a:pPr>
            <a:r>
              <a:rPr lang="en-HU" sz="2000" b="1">
                <a:solidFill>
                  <a:srgbClr val="E60012"/>
                </a:solidFill>
              </a:rPr>
              <a:t>058</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59</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Objects turn intent into reusable selectors</a:t>
            </a:r>
          </a:p>
        </p:txBody>
      </p:sp>
      <p:sp>
        <p:nvSpPr>
          <p:cNvPr id="10" name="TextBox 9"/>
          <p:cNvSpPr txBox="1">
            <a:spLocks/>
          </p:cNvSpPr>
          <p:nvPr/>
        </p:nvSpPr>
        <p:spPr>
          <a:xfrm>
            <a:off x="658368" y="1554480"/>
            <a:ext cx="6583680" cy="4389120"/>
          </a:xfrm>
          <a:prstGeom prst="rect">
            <a:avLst/>
          </a:prstGeom>
          <a:noFill/>
        </p:spPr>
        <p:txBody>
          <a:bodyPr wrap="square" lIns="109728" tIns="73152" rIns="109728" bIns="73152" anchor="t">
            <a:spAutoFit/>
          </a:bodyPr>
          <a:lstStyle/>
          <a:p>
            <a:pPr algn="l">
              <a:lnSpc>
                <a:spcPct val="105000"/>
              </a:lnSpc>
              <a:spcAft>
                <a:spcPts val="800"/>
              </a:spcAft>
              <a:defRPr sz="1700">
                <a:solidFill>
                  <a:srgbClr val="1E2B40"/>
                </a:solidFill>
              </a:defRPr>
            </a:pPr>
            <a:r>
              <a:rPr lang="en-GB"/>
              <a:t>• Address objects represent hosts, subnets, ranges, FQDNs or interfaces as supported</a:t>
            </a:r>
          </a:p>
          <a:p>
            <a:pPr>
              <a:lnSpc>
                <a:spcPct val="105000"/>
              </a:lnSpc>
              <a:spcAft>
                <a:spcPts val="800"/>
              </a:spcAft>
              <a:defRPr sz="1700">
                <a:solidFill>
                  <a:srgbClr val="1E2B40"/>
                </a:solidFill>
              </a:defRPr>
            </a:pPr>
            <a:r>
              <a:rPr lang="en-GB"/>
              <a:t>• Service objects represent protocol and port ranges</a:t>
            </a:r>
          </a:p>
          <a:p>
            <a:pPr>
              <a:lnSpc>
                <a:spcPct val="105000"/>
              </a:lnSpc>
              <a:spcAft>
                <a:spcPts val="800"/>
              </a:spcAft>
              <a:defRPr sz="1700">
                <a:solidFill>
                  <a:srgbClr val="1E2B40"/>
                </a:solidFill>
              </a:defRPr>
            </a:pPr>
            <a:r>
              <a:rPr lang="en-GB"/>
              <a:t>• Groups reduce repetition but can hide overly broad membership</a:t>
            </a:r>
          </a:p>
          <a:p>
            <a:pPr>
              <a:lnSpc>
                <a:spcPct val="105000"/>
              </a:lnSpc>
              <a:spcAft>
                <a:spcPts val="800"/>
              </a:spcAft>
              <a:defRPr sz="1700">
                <a:solidFill>
                  <a:srgbClr val="1E2B40"/>
                </a:solidFill>
              </a:defRPr>
            </a:pPr>
            <a:r>
              <a:rPr lang="en-GB"/>
              <a:t>• Comments, owners and lifecycle information improve change safety</a:t>
            </a:r>
          </a:p>
        </p:txBody>
      </p:sp>
      <p:cxnSp>
        <p:nvCxnSpPr>
          <p:cNvPr id="11" name="Connector 10"/>
          <p:cNvCxnSpPr/>
          <p:nvPr/>
        </p:nvCxnSpPr>
        <p:spPr>
          <a:xfrm>
            <a:off x="7452360" y="1600200"/>
            <a:ext cx="0" cy="434340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7790688" y="1627632"/>
            <a:ext cx="342900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ILLUSTRATIVE SCENARIO</a:t>
            </a:r>
          </a:p>
        </p:txBody>
      </p:sp>
      <p:sp>
        <p:nvSpPr>
          <p:cNvPr id="13" name="TextBox 12"/>
          <p:cNvSpPr txBox="1">
            <a:spLocks/>
          </p:cNvSpPr>
          <p:nvPr/>
        </p:nvSpPr>
        <p:spPr>
          <a:xfrm>
            <a:off x="7790688" y="2057400"/>
            <a:ext cx="3337560" cy="840230"/>
          </a:xfrm>
          <a:prstGeom prst="rect">
            <a:avLst/>
          </a:prstGeom>
          <a:noFill/>
        </p:spPr>
        <p:txBody>
          <a:bodyPr wrap="square" lIns="27432" tIns="27432" rIns="27432" bIns="27432" anchor="t">
            <a:spAutoFit/>
          </a:bodyPr>
          <a:lstStyle/>
          <a:p>
            <a:pPr algn="l">
              <a:spcAft>
                <a:spcPts val="0"/>
              </a:spcAft>
            </a:pPr>
            <a:r>
              <a:rPr lang="en-GB" sz="1700" b="1">
                <a:solidFill>
                  <a:srgbClr val="233A59"/>
                </a:solidFill>
              </a:rPr>
              <a:t>APP-PROD-10.1.20.10 and SVC-HTTPS-8443 are clearer than “server1” and “custom1”</a:t>
            </a:r>
          </a:p>
        </p:txBody>
      </p:sp>
      <p:sp>
        <p:nvSpPr>
          <p:cNvPr id="14" name="TextBox 13"/>
          <p:cNvSpPr txBox="1">
            <a:spLocks/>
          </p:cNvSpPr>
          <p:nvPr/>
        </p:nvSpPr>
        <p:spPr>
          <a:xfrm>
            <a:off x="7790688" y="3822191"/>
            <a:ext cx="18288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EXPECTED RESULT</a:t>
            </a:r>
          </a:p>
        </p:txBody>
      </p:sp>
      <p:sp>
        <p:nvSpPr>
          <p:cNvPr id="15" name="TextBox 14"/>
          <p:cNvSpPr txBox="1">
            <a:spLocks/>
          </p:cNvSpPr>
          <p:nvPr/>
        </p:nvSpPr>
        <p:spPr>
          <a:xfrm>
            <a:off x="7790688" y="4187952"/>
            <a:ext cx="3337560" cy="1325880"/>
          </a:xfrm>
          <a:prstGeom prst="rect">
            <a:avLst/>
          </a:prstGeom>
          <a:noFill/>
        </p:spPr>
        <p:txBody>
          <a:bodyPr wrap="square" lIns="27432" tIns="27432" rIns="27432" bIns="27432" anchor="t">
            <a:spAutoFit/>
          </a:bodyPr>
          <a:lstStyle/>
          <a:p>
            <a:pPr algn="l">
              <a:spcAft>
                <a:spcPts val="0"/>
              </a:spcAft>
            </a:pPr>
            <a:r>
              <a:rPr lang="en-GB" sz="1500" b="0">
                <a:solidFill>
                  <a:srgbClr val="1E2B40"/>
                </a:solidFill>
              </a:rPr>
              <a:t>Expand group membership and confirm the concrete match values.</a:t>
            </a:r>
          </a:p>
        </p:txBody>
      </p:sp>
      <p:sp>
        <p:nvSpPr>
          <p:cNvPr id="16" name="TextBox 15"/>
          <p:cNvSpPr txBox="1">
            <a:spLocks/>
          </p:cNvSpPr>
          <p:nvPr/>
        </p:nvSpPr>
        <p:spPr>
          <a:xfrm>
            <a:off x="7790688" y="5596128"/>
            <a:ext cx="1920240" cy="201168"/>
          </a:xfrm>
          <a:prstGeom prst="rect">
            <a:avLst/>
          </a:prstGeom>
          <a:noFill/>
        </p:spPr>
        <p:txBody>
          <a:bodyPr wrap="square" lIns="27432" tIns="27432" rIns="27432" bIns="27432" anchor="t">
            <a:spAutoFit/>
          </a:bodyPr>
          <a:lstStyle/>
          <a:p>
            <a:pPr algn="l">
              <a:spcAft>
                <a:spcPts val="0"/>
              </a:spcAft>
            </a:pPr>
            <a:r>
              <a:rPr lang="en-GB" sz="1000" b="1">
                <a:solidFill>
                  <a:srgbClr val="687385"/>
                </a:solidFill>
              </a:rPr>
              <a:t>Expected observation</a:t>
            </a:r>
          </a:p>
        </p:txBody>
      </p:sp>
      <p:sp>
        <p:nvSpPr>
          <p:cNvPr id="17" name="TextBox 16"/>
          <p:cNvSpPr txBox="1">
            <a:spLocks/>
          </p:cNvSpPr>
          <p:nvPr/>
        </p:nvSpPr>
        <p:spPr>
          <a:xfrm>
            <a:off x="9509760" y="5577840"/>
            <a:ext cx="1691640" cy="670953"/>
          </a:xfrm>
          <a:prstGeom prst="rect">
            <a:avLst/>
          </a:prstGeom>
          <a:noFill/>
        </p:spPr>
        <p:txBody>
          <a:bodyPr wrap="square" lIns="27432" tIns="27432" rIns="27432" bIns="27432" anchor="t">
            <a:spAutoFit/>
          </a:bodyPr>
          <a:lstStyle/>
          <a:p>
            <a:pPr algn="r">
              <a:spcAft>
                <a:spcPts val="0"/>
              </a:spcAft>
            </a:pPr>
            <a:r>
              <a:rPr lang="en-GB" sz="1000" b="0">
                <a:solidFill>
                  <a:srgbClr val="687385"/>
                </a:solidFill>
              </a:rPr>
              <a:t>The policy references the intended reusable objects and the test traffic matches that policy ID.</a:t>
            </a:r>
          </a:p>
        </p:txBody>
      </p:sp>
      <p:sp>
        <p:nvSpPr>
          <p:cNvPr id="18" name="TextBox 17"/>
          <p:cNvSpPr txBox="1">
            <a:spLocks/>
          </p:cNvSpPr>
          <p:nvPr/>
        </p:nvSpPr>
        <p:spPr>
          <a:xfrm>
            <a:off x="502920" y="420624"/>
            <a:ext cx="10744200" cy="130805"/>
          </a:xfrm>
          <a:prstGeom prst="rect">
            <a:avLst/>
          </a:prstGeom>
          <a:noFill/>
        </p:spPr>
        <p:txBody>
          <a:bodyPr wrap="square" lIns="0" tIns="0" rIns="0" bIns="0">
            <a:spAutoFit/>
          </a:bodyPr>
          <a:lstStyle/>
          <a:p>
            <a:pPr algn="l"/>
            <a:r>
              <a:rPr lang="en-GB" sz="850" b="1">
                <a:solidFill>
                  <a:srgbClr val="687385"/>
                </a:solidFill>
              </a:rPr>
              <a:t>059 • DAY 2 • BLOCK 06 • Objects &amp; Policy Design</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60</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Naming should survive interface and personnel changes</a:t>
            </a:r>
          </a:p>
        </p:txBody>
      </p:sp>
      <p:sp>
        <p:nvSpPr>
          <p:cNvPr id="10" name="TextBox 9"/>
          <p:cNvSpPr txBox="1">
            <a:spLocks/>
          </p:cNvSpPr>
          <p:nvPr/>
        </p:nvSpPr>
        <p:spPr>
          <a:xfrm>
            <a:off x="658368" y="1554480"/>
            <a:ext cx="6583680" cy="4389120"/>
          </a:xfrm>
          <a:prstGeom prst="rect">
            <a:avLst/>
          </a:prstGeom>
          <a:noFill/>
        </p:spPr>
        <p:txBody>
          <a:bodyPr wrap="square" lIns="109728" tIns="73152" rIns="109728" bIns="73152" anchor="t">
            <a:spAutoFit/>
          </a:bodyPr>
          <a:lstStyle/>
          <a:p>
            <a:pPr algn="l">
              <a:lnSpc>
                <a:spcPct val="105000"/>
              </a:lnSpc>
              <a:spcAft>
                <a:spcPts val="800"/>
              </a:spcAft>
              <a:defRPr sz="1700">
                <a:solidFill>
                  <a:srgbClr val="1E2B40"/>
                </a:solidFill>
              </a:defRPr>
            </a:pPr>
            <a:r>
              <a:rPr lang="en-GB"/>
              <a:t>• Name by function, environment and scope rather than transient ticket numbers</a:t>
            </a:r>
          </a:p>
          <a:p>
            <a:pPr>
              <a:lnSpc>
                <a:spcPct val="105000"/>
              </a:lnSpc>
              <a:spcAft>
                <a:spcPts val="800"/>
              </a:spcAft>
              <a:defRPr sz="1700">
                <a:solidFill>
                  <a:srgbClr val="1E2B40"/>
                </a:solidFill>
              </a:defRPr>
            </a:pPr>
            <a:r>
              <a:rPr lang="en-GB"/>
              <a:t>• Avoid embedding unverified geography or ownership</a:t>
            </a:r>
          </a:p>
          <a:p>
            <a:pPr>
              <a:lnSpc>
                <a:spcPct val="105000"/>
              </a:lnSpc>
              <a:spcAft>
                <a:spcPts val="800"/>
              </a:spcAft>
              <a:defRPr sz="1700">
                <a:solidFill>
                  <a:srgbClr val="1E2B40"/>
                </a:solidFill>
              </a:defRPr>
            </a:pPr>
            <a:r>
              <a:rPr lang="en-GB"/>
              <a:t>• Use consistent prefixes only when they add search value</a:t>
            </a:r>
          </a:p>
          <a:p>
            <a:pPr>
              <a:lnSpc>
                <a:spcPct val="105000"/>
              </a:lnSpc>
              <a:spcAft>
                <a:spcPts val="800"/>
              </a:spcAft>
              <a:defRPr sz="1700">
                <a:solidFill>
                  <a:srgbClr val="1E2B40"/>
                </a:solidFill>
              </a:defRPr>
            </a:pPr>
            <a:r>
              <a:rPr lang="en-GB"/>
              <a:t>• Document exceptions and expiration dates for temporary objects</a:t>
            </a:r>
          </a:p>
        </p:txBody>
      </p:sp>
      <p:cxnSp>
        <p:nvCxnSpPr>
          <p:cNvPr id="11" name="Connector 10"/>
          <p:cNvCxnSpPr/>
          <p:nvPr/>
        </p:nvCxnSpPr>
        <p:spPr>
          <a:xfrm>
            <a:off x="7452360" y="1600200"/>
            <a:ext cx="0" cy="434340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7790688" y="1627632"/>
            <a:ext cx="342900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ILLUSTRATIVE SCENARIO</a:t>
            </a:r>
          </a:p>
        </p:txBody>
      </p:sp>
      <p:sp>
        <p:nvSpPr>
          <p:cNvPr id="13" name="TextBox 12"/>
          <p:cNvSpPr txBox="1">
            <a:spLocks/>
          </p:cNvSpPr>
          <p:nvPr/>
        </p:nvSpPr>
        <p:spPr>
          <a:xfrm>
            <a:off x="7790688" y="2057400"/>
            <a:ext cx="3337560" cy="1417320"/>
          </a:xfrm>
          <a:prstGeom prst="rect">
            <a:avLst/>
          </a:prstGeom>
          <a:noFill/>
        </p:spPr>
        <p:txBody>
          <a:bodyPr wrap="square" lIns="27432" tIns="27432" rIns="27432" bIns="27432" anchor="t">
            <a:spAutoFit/>
          </a:bodyPr>
          <a:lstStyle/>
          <a:p>
            <a:pPr algn="l">
              <a:spcAft>
                <a:spcPts val="0"/>
              </a:spcAft>
            </a:pPr>
            <a:r>
              <a:rPr lang="en-GB" sz="1700" b="1">
                <a:solidFill>
                  <a:srgbClr val="233A59"/>
                </a:solidFill>
              </a:rPr>
              <a:t>TEMP-VENDOR-HTTPS-EXP-2026-10-31 is auditable if lifecycle is enforced</a:t>
            </a:r>
          </a:p>
        </p:txBody>
      </p:sp>
      <p:sp>
        <p:nvSpPr>
          <p:cNvPr id="14" name="TextBox 13"/>
          <p:cNvSpPr txBox="1">
            <a:spLocks/>
          </p:cNvSpPr>
          <p:nvPr/>
        </p:nvSpPr>
        <p:spPr>
          <a:xfrm>
            <a:off x="7790688" y="3822191"/>
            <a:ext cx="18288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EXPECTED RESULT</a:t>
            </a:r>
          </a:p>
        </p:txBody>
      </p:sp>
      <p:sp>
        <p:nvSpPr>
          <p:cNvPr id="15" name="TextBox 14"/>
          <p:cNvSpPr txBox="1">
            <a:spLocks/>
          </p:cNvSpPr>
          <p:nvPr/>
        </p:nvSpPr>
        <p:spPr>
          <a:xfrm>
            <a:off x="7790688" y="4187952"/>
            <a:ext cx="3337560" cy="1325880"/>
          </a:xfrm>
          <a:prstGeom prst="rect">
            <a:avLst/>
          </a:prstGeom>
          <a:noFill/>
        </p:spPr>
        <p:txBody>
          <a:bodyPr wrap="square" lIns="27432" tIns="27432" rIns="27432" bIns="27432" anchor="t">
            <a:spAutoFit/>
          </a:bodyPr>
          <a:lstStyle/>
          <a:p>
            <a:pPr algn="l">
              <a:spcAft>
                <a:spcPts val="0"/>
              </a:spcAft>
            </a:pPr>
            <a:r>
              <a:rPr lang="en-GB" sz="1500" b="0">
                <a:solidFill>
                  <a:srgbClr val="1E2B40"/>
                </a:solidFill>
              </a:rPr>
              <a:t>Search for duplicates, unused objects and ambiguous names before adding new ones.</a:t>
            </a:r>
          </a:p>
        </p:txBody>
      </p:sp>
      <p:sp>
        <p:nvSpPr>
          <p:cNvPr id="16" name="TextBox 15"/>
          <p:cNvSpPr txBox="1">
            <a:spLocks/>
          </p:cNvSpPr>
          <p:nvPr/>
        </p:nvSpPr>
        <p:spPr>
          <a:xfrm>
            <a:off x="7790688" y="5596128"/>
            <a:ext cx="1920240" cy="201168"/>
          </a:xfrm>
          <a:prstGeom prst="rect">
            <a:avLst/>
          </a:prstGeom>
          <a:noFill/>
        </p:spPr>
        <p:txBody>
          <a:bodyPr wrap="square" lIns="27432" tIns="27432" rIns="27432" bIns="27432" anchor="t">
            <a:spAutoFit/>
          </a:bodyPr>
          <a:lstStyle/>
          <a:p>
            <a:pPr algn="l">
              <a:spcAft>
                <a:spcPts val="0"/>
              </a:spcAft>
            </a:pPr>
            <a:r>
              <a:rPr lang="en-GB" sz="1000" b="1">
                <a:solidFill>
                  <a:srgbClr val="687385"/>
                </a:solidFill>
              </a:rPr>
              <a:t>Expected observation</a:t>
            </a:r>
          </a:p>
        </p:txBody>
      </p:sp>
      <p:sp>
        <p:nvSpPr>
          <p:cNvPr id="17" name="TextBox 16"/>
          <p:cNvSpPr txBox="1">
            <a:spLocks/>
          </p:cNvSpPr>
          <p:nvPr/>
        </p:nvSpPr>
        <p:spPr>
          <a:xfrm>
            <a:off x="9509760" y="5577840"/>
            <a:ext cx="1691640" cy="670953"/>
          </a:xfrm>
          <a:prstGeom prst="rect">
            <a:avLst/>
          </a:prstGeom>
          <a:noFill/>
        </p:spPr>
        <p:txBody>
          <a:bodyPr wrap="square" lIns="27432" tIns="27432" rIns="27432" bIns="27432" anchor="t">
            <a:spAutoFit/>
          </a:bodyPr>
          <a:lstStyle/>
          <a:p>
            <a:pPr algn="r">
              <a:spcAft>
                <a:spcPts val="0"/>
              </a:spcAft>
            </a:pPr>
            <a:r>
              <a:rPr lang="en-GB" sz="1000" b="0">
                <a:solidFill>
                  <a:srgbClr val="687385"/>
                </a:solidFill>
              </a:rPr>
              <a:t>The policy references the intended reusable objects and the test traffic matches that policy ID.</a:t>
            </a:r>
          </a:p>
        </p:txBody>
      </p:sp>
      <p:sp>
        <p:nvSpPr>
          <p:cNvPr id="18" name="TextBox 17"/>
          <p:cNvSpPr txBox="1">
            <a:spLocks/>
          </p:cNvSpPr>
          <p:nvPr/>
        </p:nvSpPr>
        <p:spPr>
          <a:xfrm>
            <a:off x="502920" y="420624"/>
            <a:ext cx="10744200" cy="130805"/>
          </a:xfrm>
          <a:prstGeom prst="rect">
            <a:avLst/>
          </a:prstGeom>
          <a:noFill/>
        </p:spPr>
        <p:txBody>
          <a:bodyPr wrap="square" lIns="0" tIns="0" rIns="0" bIns="0">
            <a:spAutoFit/>
          </a:bodyPr>
          <a:lstStyle/>
          <a:p>
            <a:pPr algn="l"/>
            <a:r>
              <a:rPr lang="en-GB" sz="850" b="1">
                <a:solidFill>
                  <a:srgbClr val="687385"/>
                </a:solidFill>
              </a:rPr>
              <a:t>060 • DAY 2 • BLOCK 06 • Objects &amp; Policy Design</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61</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Reusability must not erase policy intent</a:t>
            </a:r>
          </a:p>
        </p:txBody>
      </p:sp>
      <p:sp>
        <p:nvSpPr>
          <p:cNvPr id="10" name="TextBox 9"/>
          <p:cNvSpPr txBox="1">
            <a:spLocks/>
          </p:cNvSpPr>
          <p:nvPr/>
        </p:nvSpPr>
        <p:spPr>
          <a:xfrm>
            <a:off x="658368" y="1554480"/>
            <a:ext cx="6583680" cy="4389120"/>
          </a:xfrm>
          <a:prstGeom prst="rect">
            <a:avLst/>
          </a:prstGeom>
          <a:noFill/>
        </p:spPr>
        <p:txBody>
          <a:bodyPr wrap="square" lIns="109728" tIns="73152" rIns="109728" bIns="73152" anchor="t">
            <a:spAutoFit/>
          </a:bodyPr>
          <a:lstStyle/>
          <a:p>
            <a:pPr algn="l">
              <a:lnSpc>
                <a:spcPct val="105000"/>
              </a:lnSpc>
              <a:spcAft>
                <a:spcPts val="800"/>
              </a:spcAft>
              <a:defRPr sz="1700">
                <a:solidFill>
                  <a:srgbClr val="1E2B40"/>
                </a:solidFill>
              </a:defRPr>
            </a:pPr>
            <a:r>
              <a:rPr lang="en-GB"/>
              <a:t>• Reuse canonical network/service objects</a:t>
            </a:r>
          </a:p>
          <a:p>
            <a:pPr>
              <a:lnSpc>
                <a:spcPct val="105000"/>
              </a:lnSpc>
              <a:spcAft>
                <a:spcPts val="800"/>
              </a:spcAft>
              <a:defRPr sz="1700">
                <a:solidFill>
                  <a:srgbClr val="1E2B40"/>
                </a:solidFill>
              </a:defRPr>
            </a:pPr>
            <a:r>
              <a:rPr lang="en-GB"/>
              <a:t>• Create a group when members genuinely share policy treatment</a:t>
            </a:r>
          </a:p>
          <a:p>
            <a:pPr>
              <a:lnSpc>
                <a:spcPct val="105000"/>
              </a:lnSpc>
              <a:spcAft>
                <a:spcPts val="800"/>
              </a:spcAft>
              <a:defRPr sz="1700">
                <a:solidFill>
                  <a:srgbClr val="1E2B40"/>
                </a:solidFill>
              </a:defRPr>
            </a:pPr>
            <a:r>
              <a:rPr lang="en-GB"/>
              <a:t>• Do not create mega-groups that make logging and review opaque</a:t>
            </a:r>
          </a:p>
          <a:p>
            <a:pPr>
              <a:lnSpc>
                <a:spcPct val="105000"/>
              </a:lnSpc>
              <a:spcAft>
                <a:spcPts val="800"/>
              </a:spcAft>
              <a:defRPr sz="1700">
                <a:solidFill>
                  <a:srgbClr val="1E2B40"/>
                </a:solidFill>
              </a:defRPr>
            </a:pPr>
            <a:r>
              <a:rPr lang="en-GB"/>
              <a:t>• FQDN/dynamic objects add resolution dependencies that must be monitored</a:t>
            </a:r>
          </a:p>
        </p:txBody>
      </p:sp>
      <p:cxnSp>
        <p:nvCxnSpPr>
          <p:cNvPr id="11" name="Connector 10"/>
          <p:cNvCxnSpPr/>
          <p:nvPr/>
        </p:nvCxnSpPr>
        <p:spPr>
          <a:xfrm>
            <a:off x="7452360" y="1600200"/>
            <a:ext cx="0" cy="434340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7790688" y="1627632"/>
            <a:ext cx="342900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ILLUSTRATIVE SCENARIO</a:t>
            </a:r>
          </a:p>
        </p:txBody>
      </p:sp>
      <p:sp>
        <p:nvSpPr>
          <p:cNvPr id="13" name="TextBox 12"/>
          <p:cNvSpPr txBox="1"/>
          <p:nvPr/>
        </p:nvSpPr>
        <p:spPr>
          <a:xfrm>
            <a:off x="7790688" y="2057400"/>
            <a:ext cx="3337560" cy="1417320"/>
          </a:xfrm>
          <a:prstGeom prst="rect">
            <a:avLst/>
          </a:prstGeom>
          <a:noFill/>
        </p:spPr>
        <p:txBody>
          <a:bodyPr wrap="square" lIns="27432" tIns="27432" rIns="27432" bIns="27432" anchor="t">
            <a:spAutoFit/>
          </a:bodyPr>
          <a:lstStyle/>
          <a:p>
            <a:pPr algn="l">
              <a:spcAft>
                <a:spcPts val="0"/>
              </a:spcAft>
            </a:pPr>
            <a:r>
              <a:rPr sz="1700" b="1">
                <a:solidFill>
                  <a:srgbClr val="233A59"/>
                </a:solidFill>
              </a:rPr>
              <a:t>A web-services group may be valid; “ALL-SERVERS” usually needs review</a:t>
            </a:r>
          </a:p>
        </p:txBody>
      </p:sp>
      <p:sp>
        <p:nvSpPr>
          <p:cNvPr id="14" name="TextBox 13"/>
          <p:cNvSpPr txBox="1"/>
          <p:nvPr/>
        </p:nvSpPr>
        <p:spPr>
          <a:xfrm>
            <a:off x="7790688" y="3822191"/>
            <a:ext cx="18288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EXPECTED RESULT</a:t>
            </a:r>
            <a:endParaRPr sz="1100" b="1">
              <a:solidFill>
                <a:srgbClr val="E60012"/>
              </a:solidFill>
            </a:endParaRPr>
          </a:p>
        </p:txBody>
      </p:sp>
      <p:sp>
        <p:nvSpPr>
          <p:cNvPr id="15" name="TextBox 14"/>
          <p:cNvSpPr txBox="1"/>
          <p:nvPr/>
        </p:nvSpPr>
        <p:spPr>
          <a:xfrm>
            <a:off x="7790688" y="4187952"/>
            <a:ext cx="3337560" cy="1325880"/>
          </a:xfrm>
          <a:prstGeom prst="rect">
            <a:avLst/>
          </a:prstGeom>
          <a:noFill/>
        </p:spPr>
        <p:txBody>
          <a:bodyPr wrap="square" lIns="27432" tIns="27432" rIns="27432" bIns="27432" anchor="t">
            <a:spAutoFit/>
          </a:bodyPr>
          <a:lstStyle/>
          <a:p>
            <a:pPr algn="l">
              <a:spcAft>
                <a:spcPts val="0"/>
              </a:spcAft>
            </a:pPr>
            <a:r>
              <a:rPr sz="1500" b="0">
                <a:solidFill>
                  <a:srgbClr val="1E2B40"/>
                </a:solidFill>
              </a:rPr>
              <a:t>Trace one object from definition to policy and traffic log.</a:t>
            </a:r>
          </a:p>
        </p:txBody>
      </p:sp>
      <p:sp>
        <p:nvSpPr>
          <p:cNvPr id="16" name="TextBox 15"/>
          <p:cNvSpPr txBox="1"/>
          <p:nvPr/>
        </p:nvSpPr>
        <p:spPr>
          <a:xfrm>
            <a:off x="7790688" y="5596128"/>
            <a:ext cx="1920240" cy="201168"/>
          </a:xfrm>
          <a:prstGeom prst="rect">
            <a:avLst/>
          </a:prstGeom>
          <a:noFill/>
        </p:spPr>
        <p:txBody>
          <a:bodyPr wrap="square" lIns="27432" tIns="27432" rIns="27432" bIns="27432" anchor="t">
            <a:spAutoFit/>
          </a:bodyPr>
          <a:lstStyle/>
          <a:p>
            <a:pPr algn="l">
              <a:spcAft>
                <a:spcPts val="0"/>
              </a:spcAft>
            </a:pPr>
            <a:r>
              <a:rPr sz="1000" b="1">
                <a:solidFill>
                  <a:srgbClr val="687385"/>
                </a:solidFill>
              </a:rPr>
              <a:t>Expected observation</a:t>
            </a:r>
          </a:p>
        </p:txBody>
      </p:sp>
      <p:sp>
        <p:nvSpPr>
          <p:cNvPr id="17" name="TextBox 16"/>
          <p:cNvSpPr txBox="1"/>
          <p:nvPr/>
        </p:nvSpPr>
        <p:spPr>
          <a:xfrm>
            <a:off x="9509760" y="5577840"/>
            <a:ext cx="1691640" cy="670953"/>
          </a:xfrm>
          <a:prstGeom prst="rect">
            <a:avLst/>
          </a:prstGeom>
          <a:noFill/>
        </p:spPr>
        <p:txBody>
          <a:bodyPr wrap="square" lIns="27432" tIns="27432" rIns="27432" bIns="27432" anchor="t">
            <a:spAutoFit/>
          </a:bodyPr>
          <a:lstStyle/>
          <a:p>
            <a:pPr algn="r">
              <a:spcAft>
                <a:spcPts val="0"/>
              </a:spcAft>
            </a:pPr>
            <a:r>
              <a:rPr lang="en-GB" sz="1000" b="0">
                <a:solidFill>
                  <a:srgbClr val="687385"/>
                </a:solidFill>
              </a:rPr>
              <a:t>The policy references </a:t>
            </a:r>
            <a:r>
              <a:rPr sz="1000" b="0">
                <a:solidFill>
                  <a:srgbClr val="687385"/>
                </a:solidFill>
              </a:rPr>
              <a:t>the </a:t>
            </a:r>
            <a:r>
              <a:rPr lang="en-GB" sz="1000" b="0">
                <a:solidFill>
                  <a:srgbClr val="687385"/>
                </a:solidFill>
              </a:rPr>
              <a:t>intended reusable objects </a:t>
            </a:r>
            <a:r>
              <a:rPr sz="1000" b="0">
                <a:solidFill>
                  <a:srgbClr val="687385"/>
                </a:solidFill>
              </a:rPr>
              <a:t>and </a:t>
            </a:r>
            <a:r>
              <a:rPr lang="en-GB" sz="1000" b="0">
                <a:solidFill>
                  <a:srgbClr val="687385"/>
                </a:solidFill>
              </a:rPr>
              <a:t>the test </a:t>
            </a:r>
            <a:r>
              <a:rPr sz="1000" b="0">
                <a:solidFill>
                  <a:srgbClr val="687385"/>
                </a:solidFill>
              </a:rPr>
              <a:t>traffic</a:t>
            </a:r>
            <a:r>
              <a:rPr lang="en-GB" sz="1000" b="0">
                <a:solidFill>
                  <a:srgbClr val="687385"/>
                </a:solidFill>
              </a:rPr>
              <a:t> matches that policy ID</a:t>
            </a:r>
            <a:r>
              <a:rPr sz="1000" b="0">
                <a:solidFill>
                  <a:srgbClr val="687385"/>
                </a:solidFill>
              </a:rPr>
              <a:t>.</a:t>
            </a:r>
          </a:p>
        </p:txBody>
      </p:sp>
      <p:sp>
        <p:nvSpPr>
          <p:cNvPr id="18" name="TextBox 17"/>
          <p:cNvSpPr txBox="1"/>
          <p:nvPr/>
        </p:nvSpPr>
        <p:spPr>
          <a:xfrm>
            <a:off x="502920" y="420624"/>
            <a:ext cx="10744200" cy="130805"/>
          </a:xfrm>
          <a:prstGeom prst="rect">
            <a:avLst/>
          </a:prstGeom>
          <a:noFill/>
        </p:spPr>
        <p:txBody>
          <a:bodyPr wrap="square" lIns="0" tIns="0" rIns="0" bIns="0">
            <a:spAutoFit/>
          </a:bodyPr>
          <a:lstStyle/>
          <a:p>
            <a:pPr algn="l"/>
            <a:r>
              <a:rPr lang="en-HU" sz="850" b="1">
                <a:solidFill>
                  <a:srgbClr val="687385"/>
                </a:solidFill>
              </a:rPr>
              <a:t>061</a:t>
            </a:r>
            <a:r>
              <a:rPr sz="850" b="1">
                <a:solidFill>
                  <a:srgbClr val="687385"/>
                </a:solidFill>
              </a:rPr>
              <a:t> • DAY 2 • BLOCK 06 • Objects &amp; Policy Design</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62</a:t>
            </a:r>
          </a:p>
        </p:txBody>
      </p:sp>
      <p:sp>
        <p:nvSpPr>
          <p:cNvPr id="9" name="TextBox 8"/>
          <p:cNvSpPr txBox="1">
            <a:spLocks/>
          </p:cNvSpPr>
          <p:nvPr/>
        </p:nvSpPr>
        <p:spPr>
          <a:xfrm>
            <a:off x="502920" y="621792"/>
            <a:ext cx="11109960" cy="455509"/>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Maintainable policy has a clear purpose and owner</a:t>
            </a:r>
          </a:p>
        </p:txBody>
      </p:sp>
      <p:sp>
        <p:nvSpPr>
          <p:cNvPr id="10" name="TextBox 9"/>
          <p:cNvSpPr txBox="1">
            <a:spLocks/>
          </p:cNvSpPr>
          <p:nvPr/>
        </p:nvSpPr>
        <p:spPr>
          <a:xfrm>
            <a:off x="658368" y="1600200"/>
            <a:ext cx="5312664" cy="292608"/>
          </a:xfrm>
          <a:prstGeom prst="rect">
            <a:avLst/>
          </a:prstGeom>
          <a:noFill/>
        </p:spPr>
        <p:txBody>
          <a:bodyPr wrap="square" lIns="27432" tIns="27432" rIns="27432" bIns="27432" anchor="t">
            <a:spAutoFit/>
          </a:bodyPr>
          <a:lstStyle/>
          <a:p>
            <a:pPr algn="l">
              <a:spcAft>
                <a:spcPts val="0"/>
              </a:spcAft>
            </a:pPr>
            <a:r>
              <a:rPr lang="en-GB" sz="1300" b="1">
                <a:solidFill>
                  <a:srgbClr val="E60012"/>
                </a:solidFill>
              </a:rPr>
              <a:t>CLEAR</a:t>
            </a:r>
          </a:p>
        </p:txBody>
      </p:sp>
      <p:cxnSp>
        <p:nvCxnSpPr>
          <p:cNvPr id="11" name="Connector 10"/>
          <p:cNvCxnSpPr/>
          <p:nvPr/>
        </p:nvCxnSpPr>
        <p:spPr>
          <a:xfrm>
            <a:off x="658368" y="1984248"/>
            <a:ext cx="5312664" cy="0"/>
          </a:xfrm>
          <a:prstGeom prst="line">
            <a:avLst/>
          </a:prstGeom>
          <a:ln w="22860">
            <a:solidFill>
              <a:srgbClr val="E60012"/>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658368" y="2176272"/>
            <a:ext cx="5312664" cy="3337560"/>
          </a:xfrm>
          <a:prstGeom prst="rect">
            <a:avLst/>
          </a:prstGeom>
          <a:noFill/>
        </p:spPr>
        <p:txBody>
          <a:bodyPr wrap="square" lIns="109728" tIns="73152" rIns="109728" bIns="73152" anchor="t">
            <a:spAutoFit/>
          </a:bodyPr>
          <a:lstStyle/>
          <a:p>
            <a:pPr algn="l">
              <a:lnSpc>
                <a:spcPct val="105000"/>
              </a:lnSpc>
              <a:spcAft>
                <a:spcPts val="800"/>
              </a:spcAft>
              <a:defRPr sz="1600">
                <a:solidFill>
                  <a:srgbClr val="1E2B40"/>
                </a:solidFill>
              </a:defRPr>
            </a:pPr>
            <a:r>
              <a:rPr lang="en-GB"/>
              <a:t>• Specific objects</a:t>
            </a:r>
          </a:p>
          <a:p>
            <a:pPr>
              <a:lnSpc>
                <a:spcPct val="105000"/>
              </a:lnSpc>
              <a:spcAft>
                <a:spcPts val="800"/>
              </a:spcAft>
              <a:defRPr sz="1600">
                <a:solidFill>
                  <a:srgbClr val="1E2B40"/>
                </a:solidFill>
              </a:defRPr>
            </a:pPr>
            <a:r>
              <a:rPr lang="en-GB"/>
              <a:t>• Single business purpose</a:t>
            </a:r>
          </a:p>
          <a:p>
            <a:pPr>
              <a:lnSpc>
                <a:spcPct val="105000"/>
              </a:lnSpc>
              <a:spcAft>
                <a:spcPts val="800"/>
              </a:spcAft>
              <a:defRPr sz="1600">
                <a:solidFill>
                  <a:srgbClr val="1E2B40"/>
                </a:solidFill>
              </a:defRPr>
            </a:pPr>
            <a:r>
              <a:rPr lang="en-GB"/>
              <a:t>• Expected logging/profile</a:t>
            </a:r>
          </a:p>
          <a:p>
            <a:pPr>
              <a:lnSpc>
                <a:spcPct val="105000"/>
              </a:lnSpc>
              <a:spcAft>
                <a:spcPts val="800"/>
              </a:spcAft>
              <a:defRPr sz="1600">
                <a:solidFill>
                  <a:srgbClr val="1E2B40"/>
                </a:solidFill>
              </a:defRPr>
            </a:pPr>
            <a:r>
              <a:rPr lang="en-GB"/>
              <a:t>• Named owner/lifecycle</a:t>
            </a:r>
          </a:p>
        </p:txBody>
      </p:sp>
      <p:sp>
        <p:nvSpPr>
          <p:cNvPr id="13" name="TextBox 12"/>
          <p:cNvSpPr txBox="1">
            <a:spLocks/>
          </p:cNvSpPr>
          <p:nvPr/>
        </p:nvSpPr>
        <p:spPr>
          <a:xfrm>
            <a:off x="6227064" y="1600200"/>
            <a:ext cx="5312664" cy="292608"/>
          </a:xfrm>
          <a:prstGeom prst="rect">
            <a:avLst/>
          </a:prstGeom>
          <a:noFill/>
        </p:spPr>
        <p:txBody>
          <a:bodyPr wrap="square" lIns="27432" tIns="27432" rIns="27432" bIns="27432" anchor="t">
            <a:spAutoFit/>
          </a:bodyPr>
          <a:lstStyle/>
          <a:p>
            <a:pPr algn="l">
              <a:spcAft>
                <a:spcPts val="0"/>
              </a:spcAft>
            </a:pPr>
            <a:r>
              <a:rPr lang="en-GB" sz="1300" b="1">
                <a:solidFill>
                  <a:srgbClr val="E60012"/>
                </a:solidFill>
              </a:rPr>
              <a:t>FRAGILE</a:t>
            </a:r>
          </a:p>
        </p:txBody>
      </p:sp>
      <p:cxnSp>
        <p:nvCxnSpPr>
          <p:cNvPr id="14" name="Connector 13"/>
          <p:cNvCxnSpPr/>
          <p:nvPr/>
        </p:nvCxnSpPr>
        <p:spPr>
          <a:xfrm>
            <a:off x="6227064" y="1984248"/>
            <a:ext cx="5312664" cy="0"/>
          </a:xfrm>
          <a:prstGeom prst="line">
            <a:avLst/>
          </a:prstGeom>
          <a:ln w="22860">
            <a:solidFill>
              <a:srgbClr val="E60012"/>
            </a:solidFill>
          </a:ln>
        </p:spPr>
        <p:style>
          <a:lnRef idx="2">
            <a:schemeClr val="accent1"/>
          </a:lnRef>
          <a:fillRef idx="0">
            <a:schemeClr val="accent1"/>
          </a:fillRef>
          <a:effectRef idx="1">
            <a:schemeClr val="accent1"/>
          </a:effectRef>
          <a:fontRef idx="minor">
            <a:schemeClr val="tx1"/>
          </a:fontRef>
        </p:style>
      </p:cxnSp>
      <p:sp>
        <p:nvSpPr>
          <p:cNvPr id="15" name="TextBox 14"/>
          <p:cNvSpPr txBox="1">
            <a:spLocks/>
          </p:cNvSpPr>
          <p:nvPr/>
        </p:nvSpPr>
        <p:spPr>
          <a:xfrm>
            <a:off x="6227064" y="2176272"/>
            <a:ext cx="5312664" cy="3337560"/>
          </a:xfrm>
          <a:prstGeom prst="rect">
            <a:avLst/>
          </a:prstGeom>
          <a:noFill/>
        </p:spPr>
        <p:txBody>
          <a:bodyPr wrap="square" lIns="109728" tIns="73152" rIns="109728" bIns="73152" anchor="t">
            <a:spAutoFit/>
          </a:bodyPr>
          <a:lstStyle/>
          <a:p>
            <a:pPr algn="l">
              <a:lnSpc>
                <a:spcPct val="105000"/>
              </a:lnSpc>
              <a:spcAft>
                <a:spcPts val="800"/>
              </a:spcAft>
              <a:defRPr sz="1600">
                <a:solidFill>
                  <a:srgbClr val="1E2B40"/>
                </a:solidFill>
              </a:defRPr>
            </a:pPr>
            <a:r>
              <a:rPr lang="en-GB"/>
              <a:t>• all/all services</a:t>
            </a:r>
          </a:p>
          <a:p>
            <a:pPr>
              <a:lnSpc>
                <a:spcPct val="105000"/>
              </a:lnSpc>
              <a:spcAft>
                <a:spcPts val="800"/>
              </a:spcAft>
              <a:defRPr sz="1600">
                <a:solidFill>
                  <a:srgbClr val="1E2B40"/>
                </a:solidFill>
              </a:defRPr>
            </a:pPr>
            <a:r>
              <a:rPr lang="en-GB"/>
              <a:t>• Mixed purposes</a:t>
            </a:r>
          </a:p>
          <a:p>
            <a:pPr>
              <a:lnSpc>
                <a:spcPct val="105000"/>
              </a:lnSpc>
              <a:spcAft>
                <a:spcPts val="800"/>
              </a:spcAft>
              <a:defRPr sz="1600">
                <a:solidFill>
                  <a:srgbClr val="1E2B40"/>
                </a:solidFill>
              </a:defRPr>
            </a:pPr>
            <a:r>
              <a:rPr lang="en-GB"/>
              <a:t>• No comment or owner</a:t>
            </a:r>
          </a:p>
          <a:p>
            <a:pPr>
              <a:lnSpc>
                <a:spcPct val="105000"/>
              </a:lnSpc>
              <a:spcAft>
                <a:spcPts val="800"/>
              </a:spcAft>
              <a:defRPr sz="1600">
                <a:solidFill>
                  <a:srgbClr val="1E2B40"/>
                </a:solidFill>
              </a:defRPr>
            </a:pPr>
            <a:r>
              <a:rPr lang="en-GB"/>
              <a:t>• Permanent temporary access</a:t>
            </a:r>
          </a:p>
        </p:txBody>
      </p:sp>
      <p:sp>
        <p:nvSpPr>
          <p:cNvPr id="16" name="TextBox 15"/>
          <p:cNvSpPr txBox="1">
            <a:spLocks/>
          </p:cNvSpPr>
          <p:nvPr/>
        </p:nvSpPr>
        <p:spPr>
          <a:xfrm>
            <a:off x="658368" y="5724144"/>
            <a:ext cx="1234440" cy="224677"/>
          </a:xfrm>
          <a:prstGeom prst="rect">
            <a:avLst/>
          </a:prstGeom>
          <a:noFill/>
        </p:spPr>
        <p:txBody>
          <a:bodyPr wrap="square" lIns="27432" tIns="27432" rIns="27432" bIns="27432" anchor="t">
            <a:spAutoFit/>
          </a:bodyPr>
          <a:lstStyle/>
          <a:p>
            <a:pPr algn="l">
              <a:spcAft>
                <a:spcPts val="0"/>
              </a:spcAft>
            </a:pPr>
            <a:r>
              <a:rPr lang="en-GB" sz="1100" b="1">
                <a:solidFill>
                  <a:srgbClr val="233A59"/>
                </a:solidFill>
              </a:rPr>
              <a:t>KEY DISTINCTION</a:t>
            </a:r>
          </a:p>
        </p:txBody>
      </p:sp>
      <p:sp>
        <p:nvSpPr>
          <p:cNvPr id="17" name="TextBox 16"/>
          <p:cNvSpPr txBox="1">
            <a:spLocks/>
          </p:cNvSpPr>
          <p:nvPr/>
        </p:nvSpPr>
        <p:spPr>
          <a:xfrm>
            <a:off x="1920240" y="5687568"/>
            <a:ext cx="9235440" cy="329184"/>
          </a:xfrm>
          <a:prstGeom prst="rect">
            <a:avLst/>
          </a:prstGeom>
          <a:noFill/>
        </p:spPr>
        <p:txBody>
          <a:bodyPr wrap="square" lIns="27432" tIns="27432" rIns="27432" bIns="27432" anchor="t">
            <a:spAutoFit/>
          </a:bodyPr>
          <a:lstStyle/>
          <a:p>
            <a:pPr algn="l">
              <a:spcAft>
                <a:spcPts val="0"/>
              </a:spcAft>
            </a:pPr>
            <a:r>
              <a:rPr lang="en-GB" sz="1400" b="1">
                <a:solidFill>
                  <a:srgbClr val="233A59"/>
                </a:solidFill>
              </a:rPr>
              <a:t>A policy name should let an operator predict source, destination and service</a:t>
            </a:r>
          </a:p>
        </p:txBody>
      </p:sp>
      <p:sp>
        <p:nvSpPr>
          <p:cNvPr id="18" name="TextBox 17"/>
          <p:cNvSpPr txBox="1">
            <a:spLocks/>
          </p:cNvSpPr>
          <p:nvPr/>
        </p:nvSpPr>
        <p:spPr>
          <a:xfrm>
            <a:off x="502920" y="420624"/>
            <a:ext cx="10744200" cy="130805"/>
          </a:xfrm>
          <a:prstGeom prst="rect">
            <a:avLst/>
          </a:prstGeom>
          <a:noFill/>
        </p:spPr>
        <p:txBody>
          <a:bodyPr wrap="square" lIns="0" tIns="0" rIns="0" bIns="0">
            <a:spAutoFit/>
          </a:bodyPr>
          <a:lstStyle/>
          <a:p>
            <a:pPr algn="l"/>
            <a:r>
              <a:rPr lang="en-GB" sz="850" b="1">
                <a:solidFill>
                  <a:srgbClr val="687385"/>
                </a:solidFill>
              </a:rPr>
              <a:t>062 • DAY 2 • BLOCK 06 • Objects &amp; Policy Design</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p:nvPr/>
        </p:nvSpPr>
        <p:spPr>
          <a:xfrm>
            <a:off x="502920" y="411480"/>
            <a:ext cx="548640" cy="189283"/>
          </a:xfrm>
          <a:prstGeom prst="rect">
            <a:avLst/>
          </a:prstGeom>
          <a:noFill/>
        </p:spPr>
        <p:txBody>
          <a:bodyPr wrap="square" lIns="36576" tIns="36576" rIns="36576" bIns="36576" anchor="t">
            <a:spAutoFit/>
          </a:bodyPr>
          <a:lstStyle/>
          <a:p>
            <a:pPr algn="l">
              <a:spcAft>
                <a:spcPts val="0"/>
              </a:spcAft>
            </a:pPr>
            <a:r>
              <a:rPr lang="en-HU" sz="750" b="1">
                <a:solidFill>
                  <a:srgbClr val="687385"/>
                </a:solidFill>
              </a:rPr>
              <a:t>063</a:t>
            </a:r>
            <a:endParaRPr sz="750" b="1">
              <a:solidFill>
                <a:srgbClr val="687385"/>
              </a:solidFill>
            </a:endParaRPr>
          </a:p>
        </p:txBody>
      </p:sp>
      <p:sp>
        <p:nvSpPr>
          <p:cNvPr id="4" name="TextBox 3"/>
          <p:cNvSpPr txBox="1"/>
          <p:nvPr/>
        </p:nvSpPr>
        <p:spPr>
          <a:xfrm>
            <a:off x="502920" y="621792"/>
            <a:ext cx="11109960" cy="548640"/>
          </a:xfrm>
          <a:prstGeom prst="rect">
            <a:avLst/>
          </a:prstGeom>
          <a:noFill/>
        </p:spPr>
        <p:txBody>
          <a:bodyPr wrap="square" lIns="36576" tIns="36576" rIns="36576" bIns="36576" anchor="t">
            <a:spAutoFit/>
          </a:bodyPr>
          <a:lstStyle/>
          <a:p>
            <a:pPr algn="l">
              <a:spcAft>
                <a:spcPts val="0"/>
              </a:spcAft>
            </a:pPr>
            <a:r>
              <a:rPr sz="2600" b="1">
                <a:solidFill>
                  <a:srgbClr val="1E2B40"/>
                </a:solidFill>
              </a:rPr>
              <a:t>Policy review</a:t>
            </a:r>
          </a:p>
        </p:txBody>
      </p:sp>
      <p:cxnSp>
        <p:nvCxnSpPr>
          <p:cNvPr id="5" name="Connector 4"/>
          <p:cNvCxnSpPr/>
          <p:nvPr/>
        </p:nvCxnSpPr>
        <p:spPr>
          <a:xfrm>
            <a:off x="502920" y="6473952"/>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109960" y="6537960"/>
            <a:ext cx="502920" cy="189283"/>
          </a:xfrm>
          <a:prstGeom prst="rect">
            <a:avLst/>
          </a:prstGeom>
          <a:noFill/>
        </p:spPr>
        <p:txBody>
          <a:bodyPr wrap="square" lIns="36576" tIns="36576" rIns="36576" bIns="36576" anchor="t">
            <a:spAutoFit/>
          </a:bodyPr>
          <a:lstStyle/>
          <a:p>
            <a:pPr algn="r">
              <a:spcAft>
                <a:spcPts val="0"/>
              </a:spcAft>
            </a:pPr>
            <a:r>
              <a:rPr lang="en-HU" sz="750" b="0">
                <a:solidFill>
                  <a:srgbClr val="687385"/>
                </a:solidFill>
              </a:rPr>
              <a:t>63</a:t>
            </a:r>
            <a:endParaRPr sz="750" b="0">
              <a:solidFill>
                <a:srgbClr val="687385"/>
              </a:solidFill>
            </a:endParaRPr>
          </a:p>
        </p:txBody>
      </p:sp>
      <p:sp>
        <p:nvSpPr>
          <p:cNvPr id="7" name="Rectangle 6"/>
          <p:cNvSpPr>
            <a:spLocks/>
          </p:cNvSpPr>
          <p:nvPr/>
        </p:nvSpPr>
        <p:spPr>
          <a:xfrm>
            <a:off x="685800" y="1828800"/>
            <a:ext cx="2008022"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8" name="TextBox 7"/>
          <p:cNvSpPr txBox="1">
            <a:spLocks/>
          </p:cNvSpPr>
          <p:nvPr/>
        </p:nvSpPr>
        <p:spPr>
          <a:xfrm>
            <a:off x="777240" y="1938528"/>
            <a:ext cx="365760" cy="227755"/>
          </a:xfrm>
          <a:prstGeom prst="rect">
            <a:avLst/>
          </a:prstGeom>
          <a:noFill/>
        </p:spPr>
        <p:txBody>
          <a:bodyPr wrap="square" lIns="36576" tIns="36576" rIns="36576" bIns="36576" anchor="t">
            <a:spAutoFit/>
          </a:bodyPr>
          <a:lstStyle/>
          <a:p>
            <a:pPr algn="l">
              <a:spcAft>
                <a:spcPts val="0"/>
              </a:spcAft>
            </a:pPr>
            <a:r>
              <a:rPr lang="en-HU" sz="1000" b="1">
                <a:solidFill>
                  <a:srgbClr val="E60012"/>
                </a:solidFill>
              </a:rPr>
              <a:t>01</a:t>
            </a:r>
          </a:p>
        </p:txBody>
      </p:sp>
      <p:sp>
        <p:nvSpPr>
          <p:cNvPr id="9" name="TextBox 8"/>
          <p:cNvSpPr txBox="1">
            <a:spLocks/>
          </p:cNvSpPr>
          <p:nvPr/>
        </p:nvSpPr>
        <p:spPr>
          <a:xfrm>
            <a:off x="795528" y="2243935"/>
            <a:ext cx="1788566" cy="504754"/>
          </a:xfrm>
          <a:prstGeom prst="rect">
            <a:avLst/>
          </a:prstGeom>
          <a:noFill/>
        </p:spPr>
        <p:txBody>
          <a:bodyPr wrap="square" lIns="36576" tIns="36576" rIns="36576" bIns="36576" anchor="ctr">
            <a:spAutoFit/>
          </a:bodyPr>
          <a:lstStyle/>
          <a:p>
            <a:pPr algn="ctr">
              <a:spcAft>
                <a:spcPts val="0"/>
              </a:spcAft>
            </a:pPr>
            <a:r>
              <a:rPr lang="en-GB" sz="1400" b="1">
                <a:solidFill>
                  <a:srgbClr val="FFFFFF"/>
                </a:solidFill>
              </a:rPr>
              <a:t>Expand object groups</a:t>
            </a:r>
          </a:p>
        </p:txBody>
      </p:sp>
      <p:sp>
        <p:nvSpPr>
          <p:cNvPr id="10" name="Right Arrow 9"/>
          <p:cNvSpPr/>
          <p:nvPr/>
        </p:nvSpPr>
        <p:spPr>
          <a:xfrm>
            <a:off x="2693822" y="2340864"/>
            <a:ext cx="164592" cy="146304"/>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1" name="Rectangle 10"/>
          <p:cNvSpPr>
            <a:spLocks/>
          </p:cNvSpPr>
          <p:nvPr/>
        </p:nvSpPr>
        <p:spPr>
          <a:xfrm>
            <a:off x="2858414" y="1828800"/>
            <a:ext cx="2008022"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2" name="TextBox 11"/>
          <p:cNvSpPr txBox="1"/>
          <p:nvPr/>
        </p:nvSpPr>
        <p:spPr>
          <a:xfrm>
            <a:off x="2949854" y="1938528"/>
            <a:ext cx="365760" cy="201168"/>
          </a:xfrm>
          <a:prstGeom prst="rect">
            <a:avLst/>
          </a:prstGeom>
          <a:noFill/>
        </p:spPr>
        <p:txBody>
          <a:bodyPr wrap="square" lIns="36576" tIns="36576" rIns="36576" bIns="36576" anchor="t">
            <a:spAutoFit/>
          </a:bodyPr>
          <a:lstStyle/>
          <a:p>
            <a:pPr algn="l">
              <a:spcAft>
                <a:spcPts val="0"/>
              </a:spcAft>
            </a:pPr>
            <a:r>
              <a:rPr sz="1000" b="1">
                <a:solidFill>
                  <a:srgbClr val="E60012"/>
                </a:solidFill>
              </a:rPr>
              <a:t>02</a:t>
            </a:r>
          </a:p>
        </p:txBody>
      </p:sp>
      <p:sp>
        <p:nvSpPr>
          <p:cNvPr id="13" name="TextBox 12"/>
          <p:cNvSpPr txBox="1">
            <a:spLocks/>
          </p:cNvSpPr>
          <p:nvPr/>
        </p:nvSpPr>
        <p:spPr>
          <a:xfrm>
            <a:off x="2968142" y="2267712"/>
            <a:ext cx="1788566" cy="457200"/>
          </a:xfrm>
          <a:prstGeom prst="rect">
            <a:avLst/>
          </a:prstGeom>
          <a:noFill/>
        </p:spPr>
        <p:txBody>
          <a:bodyPr wrap="square" lIns="36576" tIns="36576" rIns="36576" bIns="36576" anchor="ctr">
            <a:spAutoFit/>
          </a:bodyPr>
          <a:lstStyle/>
          <a:p>
            <a:pPr algn="ctr">
              <a:spcAft>
                <a:spcPts val="0"/>
              </a:spcAft>
            </a:pPr>
            <a:r>
              <a:rPr lang="en-GB" sz="1400" b="1">
                <a:solidFill>
                  <a:srgbClr val="FFFFFF"/>
                </a:solidFill>
              </a:rPr>
              <a:t>Compare scope to intent</a:t>
            </a:r>
          </a:p>
        </p:txBody>
      </p:sp>
      <p:sp>
        <p:nvSpPr>
          <p:cNvPr id="14" name="Right Arrow 13"/>
          <p:cNvSpPr>
            <a:spLocks/>
          </p:cNvSpPr>
          <p:nvPr/>
        </p:nvSpPr>
        <p:spPr>
          <a:xfrm>
            <a:off x="4866436" y="2340864"/>
            <a:ext cx="164592" cy="146304"/>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5" name="Rectangle 14"/>
          <p:cNvSpPr/>
          <p:nvPr/>
        </p:nvSpPr>
        <p:spPr>
          <a:xfrm>
            <a:off x="5031028" y="1828800"/>
            <a:ext cx="2008022"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a:spLocks/>
          </p:cNvSpPr>
          <p:nvPr/>
        </p:nvSpPr>
        <p:spPr>
          <a:xfrm>
            <a:off x="5122468" y="1938528"/>
            <a:ext cx="365760" cy="201168"/>
          </a:xfrm>
          <a:prstGeom prst="rect">
            <a:avLst/>
          </a:prstGeom>
          <a:noFill/>
        </p:spPr>
        <p:txBody>
          <a:bodyPr wrap="square" lIns="36576" tIns="36576" rIns="36576" bIns="36576" anchor="t">
            <a:spAutoFit/>
          </a:bodyPr>
          <a:lstStyle/>
          <a:p>
            <a:pPr algn="l">
              <a:spcAft>
                <a:spcPts val="0"/>
              </a:spcAft>
            </a:pPr>
            <a:r>
              <a:rPr lang="en-HU" sz="1000" b="1">
                <a:solidFill>
                  <a:srgbClr val="E60012"/>
                </a:solidFill>
              </a:rPr>
              <a:t>03</a:t>
            </a:r>
          </a:p>
        </p:txBody>
      </p:sp>
      <p:sp>
        <p:nvSpPr>
          <p:cNvPr id="17" name="TextBox 16"/>
          <p:cNvSpPr txBox="1">
            <a:spLocks/>
          </p:cNvSpPr>
          <p:nvPr/>
        </p:nvSpPr>
        <p:spPr>
          <a:xfrm>
            <a:off x="5140756" y="2351657"/>
            <a:ext cx="1788566" cy="289310"/>
          </a:xfrm>
          <a:prstGeom prst="rect">
            <a:avLst/>
          </a:prstGeom>
          <a:noFill/>
        </p:spPr>
        <p:txBody>
          <a:bodyPr wrap="square" lIns="36576" tIns="36576" rIns="36576" bIns="36576" anchor="ctr">
            <a:spAutoFit/>
          </a:bodyPr>
          <a:lstStyle/>
          <a:p>
            <a:pPr algn="ctr">
              <a:spcAft>
                <a:spcPts val="0"/>
              </a:spcAft>
            </a:pPr>
            <a:r>
              <a:rPr lang="en-GB" sz="1400" b="1">
                <a:solidFill>
                  <a:srgbClr val="FFFFFF"/>
                </a:solidFill>
              </a:rPr>
              <a:t>Check rule order</a:t>
            </a:r>
          </a:p>
        </p:txBody>
      </p:sp>
      <p:sp>
        <p:nvSpPr>
          <p:cNvPr id="18" name="Right Arrow 17"/>
          <p:cNvSpPr/>
          <p:nvPr/>
        </p:nvSpPr>
        <p:spPr>
          <a:xfrm>
            <a:off x="7039051" y="2340864"/>
            <a:ext cx="164592" cy="146304"/>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203643" y="1828800"/>
            <a:ext cx="2008022"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20" name="TextBox 19"/>
          <p:cNvSpPr txBox="1">
            <a:spLocks/>
          </p:cNvSpPr>
          <p:nvPr/>
        </p:nvSpPr>
        <p:spPr>
          <a:xfrm>
            <a:off x="7295083" y="1938528"/>
            <a:ext cx="365760" cy="227755"/>
          </a:xfrm>
          <a:prstGeom prst="rect">
            <a:avLst/>
          </a:prstGeom>
          <a:noFill/>
        </p:spPr>
        <p:txBody>
          <a:bodyPr wrap="square" lIns="36576" tIns="36576" rIns="36576" bIns="36576" anchor="t">
            <a:spAutoFit/>
          </a:bodyPr>
          <a:lstStyle/>
          <a:p>
            <a:pPr algn="l">
              <a:spcAft>
                <a:spcPts val="0"/>
              </a:spcAft>
            </a:pPr>
            <a:r>
              <a:rPr lang="en-HU" sz="1000" b="1">
                <a:solidFill>
                  <a:srgbClr val="E60012"/>
                </a:solidFill>
              </a:rPr>
              <a:t>04</a:t>
            </a:r>
          </a:p>
        </p:txBody>
      </p:sp>
      <p:sp>
        <p:nvSpPr>
          <p:cNvPr id="21" name="TextBox 20"/>
          <p:cNvSpPr txBox="1">
            <a:spLocks/>
          </p:cNvSpPr>
          <p:nvPr/>
        </p:nvSpPr>
        <p:spPr>
          <a:xfrm>
            <a:off x="7313371" y="2351657"/>
            <a:ext cx="1788566" cy="289310"/>
          </a:xfrm>
          <a:prstGeom prst="rect">
            <a:avLst/>
          </a:prstGeom>
          <a:noFill/>
        </p:spPr>
        <p:txBody>
          <a:bodyPr wrap="square" lIns="36576" tIns="36576" rIns="36576" bIns="36576" anchor="ctr">
            <a:spAutoFit/>
          </a:bodyPr>
          <a:lstStyle/>
          <a:p>
            <a:pPr algn="ctr">
              <a:spcAft>
                <a:spcPts val="0"/>
              </a:spcAft>
            </a:pPr>
            <a:r>
              <a:rPr lang="en-GB" sz="1400" b="1">
                <a:solidFill>
                  <a:srgbClr val="FFFFFF"/>
                </a:solidFill>
              </a:rPr>
              <a:t>Review logs/hits</a:t>
            </a:r>
          </a:p>
        </p:txBody>
      </p:sp>
      <p:sp>
        <p:nvSpPr>
          <p:cNvPr id="22" name="Right Arrow 21"/>
          <p:cNvSpPr>
            <a:spLocks/>
          </p:cNvSpPr>
          <p:nvPr/>
        </p:nvSpPr>
        <p:spPr>
          <a:xfrm>
            <a:off x="9211665" y="2340864"/>
            <a:ext cx="164592" cy="146304"/>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23" name="Rectangle 22"/>
          <p:cNvSpPr>
            <a:spLocks/>
          </p:cNvSpPr>
          <p:nvPr/>
        </p:nvSpPr>
        <p:spPr>
          <a:xfrm>
            <a:off x="9376257" y="1828800"/>
            <a:ext cx="2008022"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24" name="TextBox 23"/>
          <p:cNvSpPr txBox="1"/>
          <p:nvPr/>
        </p:nvSpPr>
        <p:spPr>
          <a:xfrm>
            <a:off x="9467697" y="1938528"/>
            <a:ext cx="365760" cy="227755"/>
          </a:xfrm>
          <a:prstGeom prst="rect">
            <a:avLst/>
          </a:prstGeom>
          <a:noFill/>
        </p:spPr>
        <p:txBody>
          <a:bodyPr wrap="square" lIns="36576" tIns="36576" rIns="36576" bIns="36576" anchor="t">
            <a:spAutoFit/>
          </a:bodyPr>
          <a:lstStyle/>
          <a:p>
            <a:pPr algn="l">
              <a:spcAft>
                <a:spcPts val="0"/>
              </a:spcAft>
            </a:pPr>
            <a:r>
              <a:rPr lang="en-HU" sz="1000" b="1">
                <a:solidFill>
                  <a:srgbClr val="E60012"/>
                </a:solidFill>
              </a:rPr>
              <a:t>05</a:t>
            </a:r>
          </a:p>
        </p:txBody>
      </p:sp>
      <p:sp>
        <p:nvSpPr>
          <p:cNvPr id="25" name="TextBox 24"/>
          <p:cNvSpPr txBox="1"/>
          <p:nvPr/>
        </p:nvSpPr>
        <p:spPr>
          <a:xfrm>
            <a:off x="9485985" y="2267712"/>
            <a:ext cx="1788566" cy="457200"/>
          </a:xfrm>
          <a:prstGeom prst="rect">
            <a:avLst/>
          </a:prstGeom>
          <a:noFill/>
        </p:spPr>
        <p:txBody>
          <a:bodyPr wrap="square" lIns="36576" tIns="36576" rIns="36576" bIns="36576" anchor="ctr">
            <a:spAutoFit/>
          </a:bodyPr>
          <a:lstStyle/>
          <a:p>
            <a:pPr algn="ctr">
              <a:spcAft>
                <a:spcPts val="0"/>
              </a:spcAft>
            </a:pPr>
            <a:r>
              <a:rPr sz="1400" b="1">
                <a:solidFill>
                  <a:srgbClr val="FFFFFF"/>
                </a:solidFill>
              </a:rPr>
              <a:t>Retain rollback</a:t>
            </a:r>
          </a:p>
        </p:txBody>
      </p:sp>
      <p:sp>
        <p:nvSpPr>
          <p:cNvPr id="26" name="TextBox 25"/>
          <p:cNvSpPr txBox="1"/>
          <p:nvPr/>
        </p:nvSpPr>
        <p:spPr>
          <a:xfrm>
            <a:off x="731520" y="3703320"/>
            <a:ext cx="1554480" cy="210312"/>
          </a:xfrm>
          <a:prstGeom prst="rect">
            <a:avLst/>
          </a:prstGeom>
          <a:noFill/>
        </p:spPr>
        <p:txBody>
          <a:bodyPr wrap="square" lIns="36576" tIns="36576" rIns="36576" bIns="36576" anchor="t">
            <a:spAutoFit/>
          </a:bodyPr>
          <a:lstStyle/>
          <a:p>
            <a:pPr algn="l">
              <a:spcAft>
                <a:spcPts val="0"/>
              </a:spcAft>
            </a:pPr>
            <a:r>
              <a:rPr sz="1000" b="1">
                <a:solidFill>
                  <a:srgbClr val="E60012"/>
                </a:solidFill>
              </a:rPr>
              <a:t>EXPECTED RESULT</a:t>
            </a:r>
          </a:p>
        </p:txBody>
      </p:sp>
      <p:sp>
        <p:nvSpPr>
          <p:cNvPr id="27" name="TextBox 26"/>
          <p:cNvSpPr txBox="1"/>
          <p:nvPr/>
        </p:nvSpPr>
        <p:spPr>
          <a:xfrm>
            <a:off x="731520" y="4041648"/>
            <a:ext cx="10424160" cy="594360"/>
          </a:xfrm>
          <a:prstGeom prst="rect">
            <a:avLst/>
          </a:prstGeom>
          <a:noFill/>
        </p:spPr>
        <p:txBody>
          <a:bodyPr wrap="square" lIns="36576" tIns="36576" rIns="36576" bIns="36576" anchor="t">
            <a:spAutoFit/>
          </a:bodyPr>
          <a:lstStyle/>
          <a:p>
            <a:pPr algn="ctr">
              <a:spcAft>
                <a:spcPts val="0"/>
              </a:spcAft>
            </a:pPr>
            <a:r>
              <a:rPr sz="1700" b="1">
                <a:solidFill>
                  <a:srgbClr val="233A59"/>
                </a:solidFill>
              </a:rPr>
              <a:t>The policy references the intended reusable objects and the test traffic matches that policy ID.</a:t>
            </a:r>
          </a:p>
        </p:txBody>
      </p:sp>
      <p:sp>
        <p:nvSpPr>
          <p:cNvPr id="28" name="TextBox 27"/>
          <p:cNvSpPr txBox="1"/>
          <p:nvPr/>
        </p:nvSpPr>
        <p:spPr>
          <a:xfrm>
            <a:off x="658368" y="5833872"/>
            <a:ext cx="731520" cy="182880"/>
          </a:xfrm>
          <a:prstGeom prst="rect">
            <a:avLst/>
          </a:prstGeom>
          <a:noFill/>
        </p:spPr>
        <p:txBody>
          <a:bodyPr wrap="square" lIns="36576" tIns="36576" rIns="36576" bIns="36576" anchor="t">
            <a:spAutoFit/>
          </a:bodyPr>
          <a:lstStyle/>
          <a:p>
            <a:pPr algn="l">
              <a:spcAft>
                <a:spcPts val="0"/>
              </a:spcAft>
            </a:pPr>
            <a:r>
              <a:rPr sz="1000" b="1">
                <a:solidFill>
                  <a:srgbClr val="E60012"/>
                </a:solidFill>
              </a:rPr>
              <a:t>LESSON</a:t>
            </a:r>
          </a:p>
        </p:txBody>
      </p:sp>
      <p:sp>
        <p:nvSpPr>
          <p:cNvPr id="29" name="TextBox 28"/>
          <p:cNvSpPr txBox="1"/>
          <p:nvPr/>
        </p:nvSpPr>
        <p:spPr>
          <a:xfrm>
            <a:off x="1417320" y="5769864"/>
            <a:ext cx="9875520" cy="384048"/>
          </a:xfrm>
          <a:prstGeom prst="rect">
            <a:avLst/>
          </a:prstGeom>
          <a:noFill/>
        </p:spPr>
        <p:txBody>
          <a:bodyPr wrap="square" lIns="36576" tIns="36576" rIns="36576" bIns="36576" anchor="t">
            <a:spAutoFit/>
          </a:bodyPr>
          <a:lstStyle/>
          <a:p>
            <a:pPr algn="l">
              <a:spcAft>
                <a:spcPts val="0"/>
              </a:spcAft>
            </a:pPr>
            <a:r>
              <a:rPr sz="1300" b="1">
                <a:solidFill>
                  <a:srgbClr val="233A59"/>
                </a:solidFill>
              </a:rPr>
              <a:t>Each step names a FortiGate state or packet change that can be checked directly; stop when the failed step is identified.</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p:nvPr/>
        </p:nvSpPr>
        <p:spPr>
          <a:xfrm>
            <a:off x="502920" y="411480"/>
            <a:ext cx="548640" cy="189283"/>
          </a:xfrm>
          <a:prstGeom prst="rect">
            <a:avLst/>
          </a:prstGeom>
          <a:noFill/>
        </p:spPr>
        <p:txBody>
          <a:bodyPr wrap="square" lIns="36576" tIns="36576" rIns="36576" bIns="36576" anchor="t">
            <a:spAutoFit/>
          </a:bodyPr>
          <a:lstStyle/>
          <a:p>
            <a:pPr algn="l">
              <a:spcAft>
                <a:spcPts val="0"/>
              </a:spcAft>
            </a:pPr>
            <a:r>
              <a:rPr lang="en-HU" sz="750" b="1">
                <a:solidFill>
                  <a:srgbClr val="687385"/>
                </a:solidFill>
              </a:rPr>
              <a:t>064</a:t>
            </a:r>
            <a:endParaRPr sz="750" b="1">
              <a:solidFill>
                <a:srgbClr val="687385"/>
              </a:solidFill>
            </a:endParaRPr>
          </a:p>
        </p:txBody>
      </p:sp>
      <p:sp>
        <p:nvSpPr>
          <p:cNvPr id="4" name="TextBox 3"/>
          <p:cNvSpPr txBox="1"/>
          <p:nvPr/>
        </p:nvSpPr>
        <p:spPr>
          <a:xfrm>
            <a:off x="502920" y="621792"/>
            <a:ext cx="11109960" cy="548640"/>
          </a:xfrm>
          <a:prstGeom prst="rect">
            <a:avLst/>
          </a:prstGeom>
          <a:noFill/>
        </p:spPr>
        <p:txBody>
          <a:bodyPr wrap="square" lIns="36576" tIns="36576" rIns="36576" bIns="36576" anchor="t">
            <a:spAutoFit/>
          </a:bodyPr>
          <a:lstStyle/>
          <a:p>
            <a:pPr algn="l">
              <a:spcAft>
                <a:spcPts val="0"/>
              </a:spcAft>
            </a:pPr>
            <a:r>
              <a:rPr sz="2600" b="1">
                <a:solidFill>
                  <a:srgbClr val="1E2B40"/>
                </a:solidFill>
              </a:rPr>
              <a:t>Common mistakes—and how to correct them</a:t>
            </a:r>
          </a:p>
        </p:txBody>
      </p:sp>
      <p:cxnSp>
        <p:nvCxnSpPr>
          <p:cNvPr id="5" name="Connector 4"/>
          <p:cNvCxnSpPr/>
          <p:nvPr/>
        </p:nvCxnSpPr>
        <p:spPr>
          <a:xfrm>
            <a:off x="502920" y="6473952"/>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109960" y="6537960"/>
            <a:ext cx="502920" cy="189283"/>
          </a:xfrm>
          <a:prstGeom prst="rect">
            <a:avLst/>
          </a:prstGeom>
          <a:noFill/>
        </p:spPr>
        <p:txBody>
          <a:bodyPr wrap="square" lIns="36576" tIns="36576" rIns="36576" bIns="36576" anchor="t">
            <a:spAutoFit/>
          </a:bodyPr>
          <a:lstStyle/>
          <a:p>
            <a:pPr algn="r">
              <a:spcAft>
                <a:spcPts val="0"/>
              </a:spcAft>
            </a:pPr>
            <a:r>
              <a:rPr lang="en-HU" sz="750" b="0">
                <a:solidFill>
                  <a:srgbClr val="687385"/>
                </a:solidFill>
              </a:rPr>
              <a:t>64</a:t>
            </a:r>
            <a:endParaRPr sz="750" b="0">
              <a:solidFill>
                <a:srgbClr val="687385"/>
              </a:solidFill>
            </a:endParaRPr>
          </a:p>
        </p:txBody>
      </p:sp>
      <p:sp>
        <p:nvSpPr>
          <p:cNvPr id="7" name="TextBox 6"/>
          <p:cNvSpPr txBox="1">
            <a:spLocks/>
          </p:cNvSpPr>
          <p:nvPr/>
        </p:nvSpPr>
        <p:spPr>
          <a:xfrm>
            <a:off x="685800" y="1417320"/>
            <a:ext cx="3291840" cy="243143"/>
          </a:xfrm>
          <a:prstGeom prst="rect">
            <a:avLst/>
          </a:prstGeom>
          <a:noFill/>
        </p:spPr>
        <p:txBody>
          <a:bodyPr wrap="square" lIns="36576" tIns="36576" rIns="36576" bIns="36576" anchor="t">
            <a:spAutoFit/>
          </a:bodyPr>
          <a:lstStyle/>
          <a:p>
            <a:pPr algn="l">
              <a:spcAft>
                <a:spcPts val="0"/>
              </a:spcAft>
            </a:pPr>
            <a:r>
              <a:rPr lang="en-GB" sz="1100" b="1">
                <a:solidFill>
                  <a:srgbClr val="E60012"/>
                </a:solidFill>
              </a:rPr>
              <a:t>MISTAKE</a:t>
            </a:r>
          </a:p>
        </p:txBody>
      </p:sp>
      <p:sp>
        <p:nvSpPr>
          <p:cNvPr id="8" name="TextBox 7"/>
          <p:cNvSpPr txBox="1">
            <a:spLocks/>
          </p:cNvSpPr>
          <p:nvPr/>
        </p:nvSpPr>
        <p:spPr>
          <a:xfrm>
            <a:off x="4160520" y="1417320"/>
            <a:ext cx="7040880" cy="243143"/>
          </a:xfrm>
          <a:prstGeom prst="rect">
            <a:avLst/>
          </a:prstGeom>
          <a:noFill/>
        </p:spPr>
        <p:txBody>
          <a:bodyPr wrap="square" lIns="36576" tIns="36576" rIns="36576" bIns="36576" anchor="t">
            <a:spAutoFit/>
          </a:bodyPr>
          <a:lstStyle/>
          <a:p>
            <a:pPr algn="l">
              <a:spcAft>
                <a:spcPts val="0"/>
              </a:spcAft>
            </a:pPr>
            <a:r>
              <a:rPr lang="en-GB" sz="1100" b="1">
                <a:solidFill>
                  <a:srgbClr val="E60012"/>
                </a:solidFill>
              </a:rPr>
              <a:t>CORRECTION — AND WHY IT HELPS</a:t>
            </a:r>
          </a:p>
        </p:txBody>
      </p:sp>
      <p:sp>
        <p:nvSpPr>
          <p:cNvPr id="9" name="TextBox 8"/>
          <p:cNvSpPr txBox="1">
            <a:spLocks/>
          </p:cNvSpPr>
          <p:nvPr/>
        </p:nvSpPr>
        <p:spPr>
          <a:xfrm>
            <a:off x="685800" y="1783080"/>
            <a:ext cx="3108960" cy="320088"/>
          </a:xfrm>
          <a:prstGeom prst="rect">
            <a:avLst/>
          </a:prstGeom>
          <a:noFill/>
        </p:spPr>
        <p:txBody>
          <a:bodyPr wrap="square" lIns="36576" tIns="36576" rIns="36576" bIns="36576" anchor="t">
            <a:spAutoFit/>
          </a:bodyPr>
          <a:lstStyle/>
          <a:p>
            <a:pPr algn="l">
              <a:spcAft>
                <a:spcPts val="0"/>
              </a:spcAft>
            </a:pPr>
            <a:r>
              <a:rPr lang="en-GB" sz="1600" b="1">
                <a:solidFill>
                  <a:srgbClr val="1E2B40"/>
                </a:solidFill>
              </a:rPr>
              <a:t>Create duplicate objects</a:t>
            </a:r>
          </a:p>
        </p:txBody>
      </p:sp>
      <p:cxnSp>
        <p:nvCxnSpPr>
          <p:cNvPr id="10" name="Connector 9"/>
          <p:cNvCxnSpPr/>
          <p:nvPr/>
        </p:nvCxnSpPr>
        <p:spPr>
          <a:xfrm>
            <a:off x="3931920" y="1737360"/>
            <a:ext cx="0" cy="96012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251960" y="1783080"/>
            <a:ext cx="6903720" cy="822960"/>
          </a:xfrm>
          <a:prstGeom prst="rect">
            <a:avLst/>
          </a:prstGeom>
          <a:noFill/>
        </p:spPr>
        <p:txBody>
          <a:bodyPr wrap="square" lIns="36576" tIns="36576" rIns="36576" bIns="36576" anchor="t">
            <a:spAutoFit/>
          </a:bodyPr>
          <a:lstStyle/>
          <a:p>
            <a:pPr algn="l">
              <a:spcAft>
                <a:spcPts val="0"/>
              </a:spcAft>
            </a:pPr>
            <a:r>
              <a:rPr sz="1600" b="0">
                <a:solidFill>
                  <a:srgbClr val="233A59"/>
                </a:solidFill>
              </a:rPr>
              <a:t>Search existing objects first; canonical objects reduce inconsistent policy scope.</a:t>
            </a:r>
          </a:p>
        </p:txBody>
      </p:sp>
      <p:cxnSp>
        <p:nvCxnSpPr>
          <p:cNvPr id="12" name="Connector 11"/>
          <p:cNvCxnSpPr/>
          <p:nvPr/>
        </p:nvCxnSpPr>
        <p:spPr>
          <a:xfrm>
            <a:off x="685800" y="2834639"/>
            <a:ext cx="10469880"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13" name="TextBox 12"/>
          <p:cNvSpPr txBox="1">
            <a:spLocks/>
          </p:cNvSpPr>
          <p:nvPr/>
        </p:nvSpPr>
        <p:spPr>
          <a:xfrm>
            <a:off x="685800" y="3081528"/>
            <a:ext cx="3108960" cy="566309"/>
          </a:xfrm>
          <a:prstGeom prst="rect">
            <a:avLst/>
          </a:prstGeom>
          <a:noFill/>
        </p:spPr>
        <p:txBody>
          <a:bodyPr wrap="square" lIns="36576" tIns="36576" rIns="36576" bIns="36576" anchor="t">
            <a:spAutoFit/>
          </a:bodyPr>
          <a:lstStyle/>
          <a:p>
            <a:pPr algn="l">
              <a:spcAft>
                <a:spcPts val="0"/>
              </a:spcAft>
            </a:pPr>
            <a:r>
              <a:rPr lang="en-GB" sz="1600" b="1">
                <a:solidFill>
                  <a:srgbClr val="1E2B40"/>
                </a:solidFill>
              </a:rPr>
              <a:t>Use mega-groups for convenience</a:t>
            </a:r>
          </a:p>
        </p:txBody>
      </p:sp>
      <p:cxnSp>
        <p:nvCxnSpPr>
          <p:cNvPr id="14" name="Connector 13"/>
          <p:cNvCxnSpPr/>
          <p:nvPr/>
        </p:nvCxnSpPr>
        <p:spPr>
          <a:xfrm>
            <a:off x="3931920" y="3035808"/>
            <a:ext cx="0" cy="96012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5" name="TextBox 14"/>
          <p:cNvSpPr txBox="1">
            <a:spLocks/>
          </p:cNvSpPr>
          <p:nvPr/>
        </p:nvSpPr>
        <p:spPr>
          <a:xfrm>
            <a:off x="4251960" y="3081528"/>
            <a:ext cx="6903720" cy="566309"/>
          </a:xfrm>
          <a:prstGeom prst="rect">
            <a:avLst/>
          </a:prstGeom>
          <a:noFill/>
        </p:spPr>
        <p:txBody>
          <a:bodyPr wrap="square" lIns="36576" tIns="36576" rIns="36576" bIns="36576" anchor="t">
            <a:spAutoFit/>
          </a:bodyPr>
          <a:lstStyle/>
          <a:p>
            <a:pPr algn="l">
              <a:spcAft>
                <a:spcPts val="0"/>
              </a:spcAft>
            </a:pPr>
            <a:r>
              <a:rPr lang="en-GB" sz="1600" b="0">
                <a:solidFill>
                  <a:srgbClr val="233A59"/>
                </a:solidFill>
              </a:rPr>
              <a:t>Group only members with the same owner and treatment; large mixed groups hide access.</a:t>
            </a:r>
          </a:p>
        </p:txBody>
      </p:sp>
      <p:cxnSp>
        <p:nvCxnSpPr>
          <p:cNvPr id="16" name="Connector 15"/>
          <p:cNvCxnSpPr/>
          <p:nvPr/>
        </p:nvCxnSpPr>
        <p:spPr>
          <a:xfrm>
            <a:off x="685800" y="4133087"/>
            <a:ext cx="10469880"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17" name="TextBox 16"/>
          <p:cNvSpPr txBox="1">
            <a:spLocks/>
          </p:cNvSpPr>
          <p:nvPr/>
        </p:nvSpPr>
        <p:spPr>
          <a:xfrm>
            <a:off x="685800" y="4379976"/>
            <a:ext cx="3108960" cy="566309"/>
          </a:xfrm>
          <a:prstGeom prst="rect">
            <a:avLst/>
          </a:prstGeom>
          <a:noFill/>
        </p:spPr>
        <p:txBody>
          <a:bodyPr wrap="square" lIns="36576" tIns="36576" rIns="36576" bIns="36576" anchor="t">
            <a:spAutoFit/>
          </a:bodyPr>
          <a:lstStyle/>
          <a:p>
            <a:pPr algn="l">
              <a:spcAft>
                <a:spcPts val="0"/>
              </a:spcAft>
            </a:pPr>
            <a:r>
              <a:rPr lang="en-GB" sz="1600" b="1">
                <a:solidFill>
                  <a:srgbClr val="1E2B40"/>
                </a:solidFill>
              </a:rPr>
              <a:t>Delete a zero-hit rule immediately</a:t>
            </a:r>
          </a:p>
        </p:txBody>
      </p:sp>
      <p:cxnSp>
        <p:nvCxnSpPr>
          <p:cNvPr id="18" name="Connector 17"/>
          <p:cNvCxnSpPr/>
          <p:nvPr/>
        </p:nvCxnSpPr>
        <p:spPr>
          <a:xfrm>
            <a:off x="3931920" y="4334256"/>
            <a:ext cx="0" cy="96012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251960" y="4379976"/>
            <a:ext cx="6903720" cy="822960"/>
          </a:xfrm>
          <a:prstGeom prst="rect">
            <a:avLst/>
          </a:prstGeom>
          <a:noFill/>
        </p:spPr>
        <p:txBody>
          <a:bodyPr wrap="square" lIns="36576" tIns="36576" rIns="36576" bIns="36576" anchor="t">
            <a:spAutoFit/>
          </a:bodyPr>
          <a:lstStyle/>
          <a:p>
            <a:pPr algn="l">
              <a:spcAft>
                <a:spcPts val="0"/>
              </a:spcAft>
            </a:pPr>
            <a:r>
              <a:rPr sz="1600" b="0">
                <a:solidFill>
                  <a:srgbClr val="233A59"/>
                </a:solidFill>
              </a:rPr>
              <a:t>Confirm logging window, seasonality and owner; zero hits alone does not prove obsolescence.</a:t>
            </a:r>
          </a:p>
        </p:txBody>
      </p:sp>
      <p:cxnSp>
        <p:nvCxnSpPr>
          <p:cNvPr id="20" name="Connector 19"/>
          <p:cNvCxnSpPr/>
          <p:nvPr/>
        </p:nvCxnSpPr>
        <p:spPr>
          <a:xfrm>
            <a:off x="685800" y="5431536"/>
            <a:ext cx="10469880"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58368" y="5833872"/>
            <a:ext cx="731520" cy="182880"/>
          </a:xfrm>
          <a:prstGeom prst="rect">
            <a:avLst/>
          </a:prstGeom>
          <a:noFill/>
        </p:spPr>
        <p:txBody>
          <a:bodyPr wrap="square" lIns="36576" tIns="36576" rIns="36576" bIns="36576" anchor="t">
            <a:spAutoFit/>
          </a:bodyPr>
          <a:lstStyle/>
          <a:p>
            <a:pPr algn="l">
              <a:spcAft>
                <a:spcPts val="0"/>
              </a:spcAft>
            </a:pPr>
            <a:r>
              <a:rPr sz="1000" b="1">
                <a:solidFill>
                  <a:srgbClr val="E60012"/>
                </a:solidFill>
              </a:rPr>
              <a:t>LESSON</a:t>
            </a:r>
          </a:p>
        </p:txBody>
      </p:sp>
      <p:sp>
        <p:nvSpPr>
          <p:cNvPr id="22" name="TextBox 21"/>
          <p:cNvSpPr txBox="1"/>
          <p:nvPr/>
        </p:nvSpPr>
        <p:spPr>
          <a:xfrm>
            <a:off x="1417320" y="5769864"/>
            <a:ext cx="9875520" cy="384048"/>
          </a:xfrm>
          <a:prstGeom prst="rect">
            <a:avLst/>
          </a:prstGeom>
          <a:noFill/>
        </p:spPr>
        <p:txBody>
          <a:bodyPr wrap="square" lIns="36576" tIns="36576" rIns="36576" bIns="36576" anchor="t">
            <a:spAutoFit/>
          </a:bodyPr>
          <a:lstStyle/>
          <a:p>
            <a:pPr algn="l">
              <a:spcAft>
                <a:spcPts val="0"/>
              </a:spcAft>
            </a:pPr>
            <a:r>
              <a:rPr sz="1300" b="1">
                <a:solidFill>
                  <a:srgbClr val="233A59"/>
                </a:solidFill>
              </a:rPr>
              <a:t>A correction changes a concrete configuration, test or interpretation—not merely the wording used to describe it.</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65</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Troubleshooting workflow: narrow the failed decision</a:t>
            </a:r>
          </a:p>
        </p:txBody>
      </p:sp>
      <p:sp>
        <p:nvSpPr>
          <p:cNvPr id="10" name="Rectangle 9"/>
          <p:cNvSpPr/>
          <p:nvPr/>
        </p:nvSpPr>
        <p:spPr>
          <a:xfrm>
            <a:off x="658368"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1" name="TextBox 10"/>
          <p:cNvSpPr txBox="1">
            <a:spLocks/>
          </p:cNvSpPr>
          <p:nvPr/>
        </p:nvSpPr>
        <p:spPr>
          <a:xfrm>
            <a:off x="768096" y="2020824"/>
            <a:ext cx="411480" cy="219456"/>
          </a:xfrm>
          <a:prstGeom prst="rect">
            <a:avLst/>
          </a:prstGeom>
          <a:noFill/>
        </p:spPr>
        <p:txBody>
          <a:bodyPr wrap="square" lIns="27432" tIns="27432" rIns="27432" bIns="27432" anchor="t">
            <a:spAutoFit/>
          </a:bodyPr>
          <a:lstStyle/>
          <a:p>
            <a:pPr algn="l">
              <a:spcAft>
                <a:spcPts val="0"/>
              </a:spcAft>
            </a:pPr>
            <a:r>
              <a:rPr lang="en-HU" sz="1100" b="1">
                <a:solidFill>
                  <a:srgbClr val="E60012"/>
                </a:solidFill>
              </a:rPr>
              <a:t>01</a:t>
            </a:r>
          </a:p>
        </p:txBody>
      </p:sp>
      <p:sp>
        <p:nvSpPr>
          <p:cNvPr id="12" name="TextBox 11"/>
          <p:cNvSpPr txBox="1">
            <a:spLocks/>
          </p:cNvSpPr>
          <p:nvPr/>
        </p:nvSpPr>
        <p:spPr>
          <a:xfrm>
            <a:off x="768096" y="2340864"/>
            <a:ext cx="1830628" cy="603504"/>
          </a:xfrm>
          <a:prstGeom prst="rect">
            <a:avLst/>
          </a:prstGeom>
          <a:noFill/>
        </p:spPr>
        <p:txBody>
          <a:bodyPr wrap="square" lIns="27432" tIns="27432" rIns="27432" bIns="27432" anchor="ctr">
            <a:spAutoFit/>
          </a:bodyPr>
          <a:lstStyle/>
          <a:p>
            <a:pPr algn="ctr">
              <a:spcAft>
                <a:spcPts val="0"/>
              </a:spcAft>
            </a:pPr>
            <a:r>
              <a:rPr lang="en-GB" sz="1400" b="1">
                <a:solidFill>
                  <a:srgbClr val="1E2B40"/>
                </a:solidFill>
              </a:rPr>
              <a:t>Start from a failing/desired five-tuple</a:t>
            </a:r>
          </a:p>
        </p:txBody>
      </p:sp>
      <p:cxnSp>
        <p:nvCxnSpPr>
          <p:cNvPr id="13" name="Connector 12"/>
          <p:cNvCxnSpPr/>
          <p:nvPr/>
        </p:nvCxnSpPr>
        <p:spPr>
          <a:xfrm>
            <a:off x="2708452"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2854756"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964484" y="2020824"/>
            <a:ext cx="411480" cy="219456"/>
          </a:xfrm>
          <a:prstGeom prst="rect">
            <a:avLst/>
          </a:prstGeom>
          <a:noFill/>
        </p:spPr>
        <p:txBody>
          <a:bodyPr wrap="square" lIns="27432" tIns="27432" rIns="27432" bIns="27432" anchor="t">
            <a:spAutoFit/>
          </a:bodyPr>
          <a:lstStyle/>
          <a:p>
            <a:pPr algn="l">
              <a:spcAft>
                <a:spcPts val="0"/>
              </a:spcAft>
            </a:pPr>
            <a:r>
              <a:rPr sz="1100" b="1">
                <a:solidFill>
                  <a:srgbClr val="E60012"/>
                </a:solidFill>
              </a:rPr>
              <a:t>02</a:t>
            </a:r>
          </a:p>
        </p:txBody>
      </p:sp>
      <p:sp>
        <p:nvSpPr>
          <p:cNvPr id="16" name="TextBox 15"/>
          <p:cNvSpPr txBox="1"/>
          <p:nvPr/>
        </p:nvSpPr>
        <p:spPr>
          <a:xfrm>
            <a:off x="2964484" y="2340864"/>
            <a:ext cx="1830628" cy="603504"/>
          </a:xfrm>
          <a:prstGeom prst="rect">
            <a:avLst/>
          </a:prstGeom>
          <a:noFill/>
        </p:spPr>
        <p:txBody>
          <a:bodyPr wrap="square" lIns="27432" tIns="27432" rIns="27432" bIns="27432" anchor="ctr">
            <a:spAutoFit/>
          </a:bodyPr>
          <a:lstStyle/>
          <a:p>
            <a:pPr algn="ctr">
              <a:spcAft>
                <a:spcPts val="0"/>
              </a:spcAft>
            </a:pPr>
            <a:r>
              <a:rPr sz="1400" b="1">
                <a:solidFill>
                  <a:srgbClr val="1E2B40"/>
                </a:solidFill>
              </a:rPr>
              <a:t>Resolve object membership</a:t>
            </a:r>
          </a:p>
        </p:txBody>
      </p:sp>
      <p:cxnSp>
        <p:nvCxnSpPr>
          <p:cNvPr id="17" name="Connector 16"/>
          <p:cNvCxnSpPr/>
          <p:nvPr/>
        </p:nvCxnSpPr>
        <p:spPr>
          <a:xfrm>
            <a:off x="4904841"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5051145"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60873" y="2020824"/>
            <a:ext cx="411480" cy="219456"/>
          </a:xfrm>
          <a:prstGeom prst="rect">
            <a:avLst/>
          </a:prstGeom>
          <a:noFill/>
        </p:spPr>
        <p:txBody>
          <a:bodyPr wrap="square" lIns="27432" tIns="27432" rIns="27432" bIns="27432" anchor="t">
            <a:spAutoFit/>
          </a:bodyPr>
          <a:lstStyle/>
          <a:p>
            <a:pPr algn="l">
              <a:spcAft>
                <a:spcPts val="0"/>
              </a:spcAft>
            </a:pPr>
            <a:r>
              <a:rPr sz="1100" b="1">
                <a:solidFill>
                  <a:srgbClr val="E60012"/>
                </a:solidFill>
              </a:rPr>
              <a:t>03</a:t>
            </a:r>
          </a:p>
        </p:txBody>
      </p:sp>
      <p:sp>
        <p:nvSpPr>
          <p:cNvPr id="20" name="TextBox 19"/>
          <p:cNvSpPr txBox="1"/>
          <p:nvPr/>
        </p:nvSpPr>
        <p:spPr>
          <a:xfrm>
            <a:off x="5160873" y="2340864"/>
            <a:ext cx="1830628" cy="603504"/>
          </a:xfrm>
          <a:prstGeom prst="rect">
            <a:avLst/>
          </a:prstGeom>
          <a:noFill/>
        </p:spPr>
        <p:txBody>
          <a:bodyPr wrap="square" lIns="27432" tIns="27432" rIns="27432" bIns="27432" anchor="ctr">
            <a:spAutoFit/>
          </a:bodyPr>
          <a:lstStyle/>
          <a:p>
            <a:pPr algn="ctr">
              <a:spcAft>
                <a:spcPts val="0"/>
              </a:spcAft>
            </a:pPr>
            <a:r>
              <a:rPr sz="1400" b="1">
                <a:solidFill>
                  <a:srgbClr val="1E2B40"/>
                </a:solidFill>
              </a:rPr>
              <a:t>Check service protocol and port ranges</a:t>
            </a:r>
          </a:p>
        </p:txBody>
      </p:sp>
      <p:cxnSp>
        <p:nvCxnSpPr>
          <p:cNvPr id="21" name="Connector 20"/>
          <p:cNvCxnSpPr/>
          <p:nvPr/>
        </p:nvCxnSpPr>
        <p:spPr>
          <a:xfrm>
            <a:off x="7101230"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7247534"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357262" y="2020824"/>
            <a:ext cx="411480" cy="219456"/>
          </a:xfrm>
          <a:prstGeom prst="rect">
            <a:avLst/>
          </a:prstGeom>
          <a:noFill/>
        </p:spPr>
        <p:txBody>
          <a:bodyPr wrap="square" lIns="27432" tIns="27432" rIns="27432" bIns="27432" anchor="t">
            <a:spAutoFit/>
          </a:bodyPr>
          <a:lstStyle/>
          <a:p>
            <a:pPr algn="l">
              <a:spcAft>
                <a:spcPts val="0"/>
              </a:spcAft>
            </a:pPr>
            <a:r>
              <a:rPr sz="1100" b="1">
                <a:solidFill>
                  <a:srgbClr val="E60012"/>
                </a:solidFill>
              </a:rPr>
              <a:t>04</a:t>
            </a:r>
          </a:p>
        </p:txBody>
      </p:sp>
      <p:sp>
        <p:nvSpPr>
          <p:cNvPr id="24" name="TextBox 23"/>
          <p:cNvSpPr txBox="1"/>
          <p:nvPr/>
        </p:nvSpPr>
        <p:spPr>
          <a:xfrm>
            <a:off x="7357262" y="2340864"/>
            <a:ext cx="1830628" cy="603504"/>
          </a:xfrm>
          <a:prstGeom prst="rect">
            <a:avLst/>
          </a:prstGeom>
          <a:noFill/>
        </p:spPr>
        <p:txBody>
          <a:bodyPr wrap="square" lIns="27432" tIns="27432" rIns="27432" bIns="27432" anchor="ctr">
            <a:spAutoFit/>
          </a:bodyPr>
          <a:lstStyle/>
          <a:p>
            <a:pPr algn="ctr">
              <a:spcAft>
                <a:spcPts val="0"/>
              </a:spcAft>
            </a:pPr>
            <a:r>
              <a:rPr sz="1400" b="1">
                <a:solidFill>
                  <a:srgbClr val="1E2B40"/>
                </a:solidFill>
              </a:rPr>
              <a:t>Inspect order, action, NAT and profiles</a:t>
            </a:r>
          </a:p>
        </p:txBody>
      </p:sp>
      <p:cxnSp>
        <p:nvCxnSpPr>
          <p:cNvPr id="25" name="Connector 24"/>
          <p:cNvCxnSpPr/>
          <p:nvPr/>
        </p:nvCxnSpPr>
        <p:spPr>
          <a:xfrm>
            <a:off x="9297619"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9443923"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553651" y="2020824"/>
            <a:ext cx="411480" cy="219456"/>
          </a:xfrm>
          <a:prstGeom prst="rect">
            <a:avLst/>
          </a:prstGeom>
          <a:noFill/>
        </p:spPr>
        <p:txBody>
          <a:bodyPr wrap="square" lIns="27432" tIns="27432" rIns="27432" bIns="27432" anchor="t">
            <a:spAutoFit/>
          </a:bodyPr>
          <a:lstStyle/>
          <a:p>
            <a:pPr algn="l">
              <a:spcAft>
                <a:spcPts val="0"/>
              </a:spcAft>
            </a:pPr>
            <a:r>
              <a:rPr sz="1100" b="1">
                <a:solidFill>
                  <a:srgbClr val="E60012"/>
                </a:solidFill>
              </a:rPr>
              <a:t>05</a:t>
            </a:r>
          </a:p>
        </p:txBody>
      </p:sp>
      <p:sp>
        <p:nvSpPr>
          <p:cNvPr id="28" name="TextBox 27"/>
          <p:cNvSpPr txBox="1"/>
          <p:nvPr/>
        </p:nvSpPr>
        <p:spPr>
          <a:xfrm>
            <a:off x="9553651" y="2291751"/>
            <a:ext cx="1830628" cy="701731"/>
          </a:xfrm>
          <a:prstGeom prst="rect">
            <a:avLst/>
          </a:prstGeom>
          <a:noFill/>
        </p:spPr>
        <p:txBody>
          <a:bodyPr wrap="square" lIns="27432" tIns="27432" rIns="27432" bIns="27432" anchor="ctr">
            <a:spAutoFit/>
          </a:bodyPr>
          <a:lstStyle/>
          <a:p>
            <a:pPr algn="ctr">
              <a:spcAft>
                <a:spcPts val="0"/>
              </a:spcAft>
            </a:pPr>
            <a:r>
              <a:rPr sz="1400" b="1">
                <a:solidFill>
                  <a:srgbClr val="1E2B40"/>
                </a:solidFill>
              </a:rPr>
              <a:t>Use </a:t>
            </a:r>
            <a:r>
              <a:rPr lang="en-GB" sz="1400" b="1">
                <a:solidFill>
                  <a:srgbClr val="1E2B40"/>
                </a:solidFill>
              </a:rPr>
              <a:t>traffic logs, </a:t>
            </a:r>
            <a:r>
              <a:rPr sz="1400" b="1">
                <a:solidFill>
                  <a:srgbClr val="1E2B40"/>
                </a:solidFill>
              </a:rPr>
              <a:t>hit </a:t>
            </a:r>
            <a:r>
              <a:rPr lang="en-GB" sz="1400" b="1">
                <a:solidFill>
                  <a:srgbClr val="1E2B40"/>
                </a:solidFill>
              </a:rPr>
              <a:t>counters</a:t>
            </a:r>
            <a:r>
              <a:rPr sz="1400" b="1">
                <a:solidFill>
                  <a:srgbClr val="1E2B40"/>
                </a:solidFill>
              </a:rPr>
              <a:t> and change history</a:t>
            </a:r>
          </a:p>
        </p:txBody>
      </p:sp>
      <p:sp>
        <p:nvSpPr>
          <p:cNvPr id="29" name="TextBox 28"/>
          <p:cNvSpPr txBox="1"/>
          <p:nvPr/>
        </p:nvSpPr>
        <p:spPr>
          <a:xfrm>
            <a:off x="658368" y="3703320"/>
            <a:ext cx="2011680" cy="256032"/>
          </a:xfrm>
          <a:prstGeom prst="rect">
            <a:avLst/>
          </a:prstGeom>
          <a:noFill/>
        </p:spPr>
        <p:txBody>
          <a:bodyPr wrap="square" lIns="27432" tIns="27432" rIns="27432" bIns="27432" anchor="t">
            <a:spAutoFit/>
          </a:bodyPr>
          <a:lstStyle/>
          <a:p>
            <a:pPr algn="l">
              <a:spcAft>
                <a:spcPts val="0"/>
              </a:spcAft>
            </a:pPr>
            <a:r>
              <a:rPr sz="1100" b="1">
                <a:solidFill>
                  <a:srgbClr val="E60012"/>
                </a:solidFill>
              </a:rPr>
              <a:t>What to observe</a:t>
            </a:r>
          </a:p>
        </p:txBody>
      </p:sp>
      <p:sp>
        <p:nvSpPr>
          <p:cNvPr id="30" name="TextBox 29"/>
          <p:cNvSpPr txBox="1"/>
          <p:nvPr/>
        </p:nvSpPr>
        <p:spPr>
          <a:xfrm>
            <a:off x="658368" y="4050791"/>
            <a:ext cx="6446520" cy="1095108"/>
          </a:xfrm>
          <a:prstGeom prst="rect">
            <a:avLst/>
          </a:prstGeom>
          <a:noFill/>
        </p:spPr>
        <p:txBody>
          <a:bodyPr wrap="square" lIns="109728" tIns="73152" rIns="109728" bIns="73152" anchor="t">
            <a:spAutoFit/>
          </a:bodyPr>
          <a:lstStyle/>
          <a:p>
            <a:pPr algn="l">
              <a:lnSpc>
                <a:spcPct val="105000"/>
              </a:lnSpc>
              <a:spcAft>
                <a:spcPts val="700"/>
              </a:spcAft>
              <a:defRPr sz="1600">
                <a:solidFill>
                  <a:srgbClr val="1E2B40"/>
                </a:solidFill>
              </a:defRPr>
            </a:pPr>
            <a:r>
              <a:t>• Check service protocol and port ranges</a:t>
            </a:r>
          </a:p>
          <a:p>
            <a:pPr>
              <a:lnSpc>
                <a:spcPct val="105000"/>
              </a:lnSpc>
              <a:spcAft>
                <a:spcPts val="700"/>
              </a:spcAft>
              <a:defRPr sz="1600">
                <a:solidFill>
                  <a:srgbClr val="1E2B40"/>
                </a:solidFill>
              </a:defRPr>
            </a:pPr>
            <a:r>
              <a:t>• Inspect order, action, NAT and profiles</a:t>
            </a:r>
          </a:p>
          <a:p>
            <a:pPr>
              <a:lnSpc>
                <a:spcPct val="105000"/>
              </a:lnSpc>
              <a:spcAft>
                <a:spcPts val="700"/>
              </a:spcAft>
              <a:defRPr sz="1600">
                <a:solidFill>
                  <a:srgbClr val="1E2B40"/>
                </a:solidFill>
              </a:defRPr>
            </a:pPr>
            <a:r>
              <a:t>• Use </a:t>
            </a:r>
            <a:r>
              <a:rPr lang="en-GB"/>
              <a:t>traffic logs, </a:t>
            </a:r>
            <a:r>
              <a:t>hit </a:t>
            </a:r>
            <a:r>
              <a:rPr lang="en-GB"/>
              <a:t>counters</a:t>
            </a:r>
            <a:r>
              <a:t> and change history</a:t>
            </a:r>
          </a:p>
        </p:txBody>
      </p:sp>
      <p:cxnSp>
        <p:nvCxnSpPr>
          <p:cNvPr id="31" name="Connector 30"/>
          <p:cNvCxnSpPr/>
          <p:nvPr/>
        </p:nvCxnSpPr>
        <p:spPr>
          <a:xfrm>
            <a:off x="7452360" y="3703320"/>
            <a:ext cx="0" cy="2093976"/>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7772400" y="3703320"/>
            <a:ext cx="292608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INSTRUCTOR DEMONSTRATION</a:t>
            </a:r>
            <a:endParaRPr sz="1100" b="1">
              <a:solidFill>
                <a:srgbClr val="E60012"/>
              </a:solidFill>
            </a:endParaRPr>
          </a:p>
        </p:txBody>
      </p:sp>
      <p:sp>
        <p:nvSpPr>
          <p:cNvPr id="33" name="TextBox 32"/>
          <p:cNvSpPr txBox="1"/>
          <p:nvPr/>
        </p:nvSpPr>
        <p:spPr>
          <a:xfrm>
            <a:off x="7772400" y="4096512"/>
            <a:ext cx="3337560" cy="1234440"/>
          </a:xfrm>
          <a:prstGeom prst="rect">
            <a:avLst/>
          </a:prstGeom>
          <a:noFill/>
        </p:spPr>
        <p:txBody>
          <a:bodyPr wrap="square" lIns="27432" tIns="27432" rIns="27432" bIns="27432" anchor="t">
            <a:spAutoFit/>
          </a:bodyPr>
          <a:lstStyle/>
          <a:p>
            <a:pPr algn="l">
              <a:spcAft>
                <a:spcPts val="0"/>
              </a:spcAft>
            </a:pPr>
            <a:r>
              <a:rPr sz="1500" b="1">
                <a:solidFill>
                  <a:srgbClr val="233A59"/>
                </a:solidFill>
              </a:rPr>
              <a:t>Preserve timestamps and before/after state; stop/reset debug operations.</a:t>
            </a:r>
          </a:p>
        </p:txBody>
      </p:sp>
      <p:sp>
        <p:nvSpPr>
          <p:cNvPr id="34" name="TextBox 33"/>
          <p:cNvSpPr txBox="1"/>
          <p:nvPr/>
        </p:nvSpPr>
        <p:spPr>
          <a:xfrm>
            <a:off x="7772400" y="5440680"/>
            <a:ext cx="3337560" cy="363176"/>
          </a:xfrm>
          <a:prstGeom prst="rect">
            <a:avLst/>
          </a:prstGeom>
          <a:noFill/>
        </p:spPr>
        <p:txBody>
          <a:bodyPr wrap="square" lIns="27432" tIns="27432" rIns="27432" bIns="27432" anchor="t">
            <a:spAutoFit/>
          </a:bodyPr>
          <a:lstStyle/>
          <a:p>
            <a:pPr algn="l">
              <a:spcAft>
                <a:spcPts val="0"/>
              </a:spcAft>
            </a:pPr>
            <a:r>
              <a:rPr lang="en-GB" sz="1000" b="0">
                <a:solidFill>
                  <a:srgbClr val="687385"/>
                </a:solidFill>
              </a:rPr>
              <a:t>If debug is used, filter by the test tuple and disable</a:t>
            </a:r>
            <a:r>
              <a:rPr sz="1000" b="0">
                <a:solidFill>
                  <a:srgbClr val="687385"/>
                </a:solidFill>
              </a:rPr>
              <a:t>/reset </a:t>
            </a:r>
            <a:r>
              <a:rPr lang="en-GB" sz="1000" b="0">
                <a:solidFill>
                  <a:srgbClr val="687385"/>
                </a:solidFill>
              </a:rPr>
              <a:t>it immediately </a:t>
            </a:r>
            <a:r>
              <a:rPr sz="1000" b="0">
                <a:solidFill>
                  <a:srgbClr val="687385"/>
                </a:solidFill>
              </a:rPr>
              <a:t>after </a:t>
            </a:r>
            <a:r>
              <a:rPr lang="en-GB" sz="1000" b="0">
                <a:solidFill>
                  <a:srgbClr val="687385"/>
                </a:solidFill>
              </a:rPr>
              <a:t>capture</a:t>
            </a:r>
            <a:r>
              <a:rPr sz="1000" b="0">
                <a:solidFill>
                  <a:srgbClr val="687385"/>
                </a:solidFill>
              </a:rPr>
              <a:t>.</a:t>
            </a:r>
          </a:p>
        </p:txBody>
      </p:sp>
      <p:sp>
        <p:nvSpPr>
          <p:cNvPr id="35" name="TextBox 34"/>
          <p:cNvSpPr txBox="1"/>
          <p:nvPr/>
        </p:nvSpPr>
        <p:spPr>
          <a:xfrm>
            <a:off x="502920" y="420624"/>
            <a:ext cx="10744200" cy="130805"/>
          </a:xfrm>
          <a:prstGeom prst="rect">
            <a:avLst/>
          </a:prstGeom>
          <a:noFill/>
        </p:spPr>
        <p:txBody>
          <a:bodyPr wrap="square" lIns="0" tIns="0" rIns="0" bIns="0">
            <a:spAutoFit/>
          </a:bodyPr>
          <a:lstStyle/>
          <a:p>
            <a:pPr algn="l"/>
            <a:r>
              <a:rPr lang="en-HU" sz="850" b="1">
                <a:solidFill>
                  <a:srgbClr val="687385"/>
                </a:solidFill>
              </a:rPr>
              <a:t>065</a:t>
            </a:r>
            <a:r>
              <a:rPr sz="850" b="1">
                <a:solidFill>
                  <a:srgbClr val="687385"/>
                </a:solidFill>
              </a:rPr>
              <a:t> • DAY 2 • BLOCK 06 • Objects &amp; Policy Design</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66</a:t>
            </a:r>
          </a:p>
        </p:txBody>
      </p:sp>
      <p:sp>
        <p:nvSpPr>
          <p:cNvPr id="9" name="TextBox 8"/>
          <p:cNvSpPr txBox="1">
            <a:spLocks/>
          </p:cNvSpPr>
          <p:nvPr/>
        </p:nvSpPr>
        <p:spPr>
          <a:xfrm>
            <a:off x="502920" y="621792"/>
            <a:ext cx="11109960" cy="455509"/>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Practical handoff: Refactor a Bad Firewall Rulebase</a:t>
            </a:r>
          </a:p>
        </p:txBody>
      </p:sp>
      <p:sp>
        <p:nvSpPr>
          <p:cNvPr id="10" name="TextBox 9"/>
          <p:cNvSpPr txBox="1">
            <a:spLocks/>
          </p:cNvSpPr>
          <p:nvPr/>
        </p:nvSpPr>
        <p:spPr>
          <a:xfrm>
            <a:off x="658368" y="1554480"/>
            <a:ext cx="6583680" cy="3571427"/>
          </a:xfrm>
          <a:prstGeom prst="rect">
            <a:avLst/>
          </a:prstGeom>
          <a:noFill/>
        </p:spPr>
        <p:txBody>
          <a:bodyPr wrap="square" lIns="109728" tIns="73152" rIns="109728" bIns="73152" anchor="t">
            <a:spAutoFit/>
          </a:bodyPr>
          <a:lstStyle/>
          <a:p>
            <a:pPr algn="l">
              <a:lnSpc>
                <a:spcPct val="105000"/>
              </a:lnSpc>
              <a:spcAft>
                <a:spcPts val="800"/>
              </a:spcAft>
              <a:defRPr sz="1700">
                <a:solidFill>
                  <a:srgbClr val="1E2B40"/>
                </a:solidFill>
              </a:defRPr>
            </a:pPr>
            <a:r>
              <a:rPr lang="en-GB"/>
              <a:t>• START / PREREQUISITES: Instructor-supplied flawed rulebase copy; current Student N baseline backed up.</a:t>
            </a:r>
          </a:p>
          <a:p>
            <a:pPr>
              <a:lnSpc>
                <a:spcPct val="105000"/>
              </a:lnSpc>
              <a:spcAft>
                <a:spcPts val="800"/>
              </a:spcAft>
              <a:defRPr sz="1700">
                <a:solidFill>
                  <a:srgbClr val="1E2B40"/>
                </a:solidFill>
              </a:defRPr>
            </a:pPr>
            <a:r>
              <a:rPr lang="en-GB"/>
              <a:t>• CHANGE / INVESTIGATE: Find shadowing, broad selectors, duplicate objects and missing logging; refactor without changing intended access.</a:t>
            </a:r>
          </a:p>
          <a:p>
            <a:pPr>
              <a:lnSpc>
                <a:spcPct val="105000"/>
              </a:lnSpc>
              <a:spcAft>
                <a:spcPts val="800"/>
              </a:spcAft>
              <a:defRPr sz="1700">
                <a:solidFill>
                  <a:srgbClr val="1E2B40"/>
                </a:solidFill>
              </a:defRPr>
            </a:pPr>
            <a:r>
              <a:rPr lang="en-GB"/>
              <a:t>• EXPECTED RESULT: Required flows still pass, forbidden flows stay blocked, and policy hits/logs map to a simpler ordered rulebase.</a:t>
            </a:r>
          </a:p>
          <a:p>
            <a:pPr>
              <a:lnSpc>
                <a:spcPct val="105000"/>
              </a:lnSpc>
              <a:spcAft>
                <a:spcPts val="800"/>
              </a:spcAft>
              <a:defRPr sz="1700">
                <a:solidFill>
                  <a:srgbClr val="1E2B40"/>
                </a:solidFill>
              </a:defRPr>
            </a:pPr>
            <a:r>
              <a:rPr lang="en-GB"/>
              <a:t>• CLEANUP / RESET: Export the revised policy set, then restore the approved course baseline.</a:t>
            </a:r>
          </a:p>
          <a:p>
            <a:pPr>
              <a:lnSpc>
                <a:spcPct val="105000"/>
              </a:lnSpc>
              <a:spcAft>
                <a:spcPts val="800"/>
              </a:spcAft>
              <a:defRPr sz="1700">
                <a:solidFill>
                  <a:srgbClr val="1E2B40"/>
                </a:solidFill>
              </a:defRPr>
            </a:pPr>
            <a:r>
              <a:rPr lang="en-GB"/>
              <a:t>• DELIVERY: Hands-on in the student VDOM/unit; offline configuration review fallback.</a:t>
            </a:r>
          </a:p>
        </p:txBody>
      </p:sp>
      <p:cxnSp>
        <p:nvCxnSpPr>
          <p:cNvPr id="11" name="Connector 10"/>
          <p:cNvCxnSpPr/>
          <p:nvPr/>
        </p:nvCxnSpPr>
        <p:spPr>
          <a:xfrm>
            <a:off x="7452360" y="1600200"/>
            <a:ext cx="0" cy="434340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7790688" y="1627632"/>
            <a:ext cx="342900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PLANNED EXERCISE</a:t>
            </a:r>
          </a:p>
        </p:txBody>
      </p:sp>
      <p:sp>
        <p:nvSpPr>
          <p:cNvPr id="13" name="TextBox 12"/>
          <p:cNvSpPr txBox="1">
            <a:spLocks/>
          </p:cNvSpPr>
          <p:nvPr/>
        </p:nvSpPr>
        <p:spPr>
          <a:xfrm>
            <a:off x="7790688" y="2057400"/>
            <a:ext cx="3337560" cy="1101840"/>
          </a:xfrm>
          <a:prstGeom prst="rect">
            <a:avLst/>
          </a:prstGeom>
          <a:noFill/>
        </p:spPr>
        <p:txBody>
          <a:bodyPr wrap="square" lIns="27432" tIns="27432" rIns="27432" bIns="27432" anchor="t">
            <a:spAutoFit/>
          </a:bodyPr>
          <a:lstStyle/>
          <a:p>
            <a:pPr algn="l">
              <a:spcAft>
                <a:spcPts val="0"/>
              </a:spcAft>
            </a:pPr>
            <a:r>
              <a:rPr lang="en-GB" sz="1700" b="1">
                <a:solidFill>
                  <a:srgbClr val="233A59"/>
                </a:solidFill>
              </a:rPr>
              <a:t>Find shadowing, broad selectors, duplicate objects and missing logging; refactor without changing intended access.</a:t>
            </a:r>
          </a:p>
        </p:txBody>
      </p:sp>
      <p:sp>
        <p:nvSpPr>
          <p:cNvPr id="14" name="TextBox 13"/>
          <p:cNvSpPr txBox="1">
            <a:spLocks/>
          </p:cNvSpPr>
          <p:nvPr/>
        </p:nvSpPr>
        <p:spPr>
          <a:xfrm>
            <a:off x="7790688" y="3822191"/>
            <a:ext cx="18288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EXPECTED RESULT</a:t>
            </a:r>
          </a:p>
        </p:txBody>
      </p:sp>
      <p:sp>
        <p:nvSpPr>
          <p:cNvPr id="15" name="TextBox 14"/>
          <p:cNvSpPr txBox="1">
            <a:spLocks/>
          </p:cNvSpPr>
          <p:nvPr/>
        </p:nvSpPr>
        <p:spPr>
          <a:xfrm>
            <a:off x="7790688" y="4187952"/>
            <a:ext cx="3337560" cy="747897"/>
          </a:xfrm>
          <a:prstGeom prst="rect">
            <a:avLst/>
          </a:prstGeom>
          <a:noFill/>
        </p:spPr>
        <p:txBody>
          <a:bodyPr wrap="square" lIns="27432" tIns="27432" rIns="27432" bIns="27432" anchor="t">
            <a:spAutoFit/>
          </a:bodyPr>
          <a:lstStyle/>
          <a:p>
            <a:pPr algn="l">
              <a:spcAft>
                <a:spcPts val="0"/>
              </a:spcAft>
            </a:pPr>
            <a:r>
              <a:rPr lang="en-GB" sz="1500" b="0">
                <a:solidFill>
                  <a:srgbClr val="1E2B40"/>
                </a:solidFill>
              </a:rPr>
              <a:t>Required flows still pass, forbidden flows stay blocked, and policy hits/logs map to a simpler ordered rulebase.</a:t>
            </a:r>
          </a:p>
        </p:txBody>
      </p:sp>
      <p:sp>
        <p:nvSpPr>
          <p:cNvPr id="16" name="TextBox 15"/>
          <p:cNvSpPr txBox="1">
            <a:spLocks/>
          </p:cNvSpPr>
          <p:nvPr/>
        </p:nvSpPr>
        <p:spPr>
          <a:xfrm>
            <a:off x="7790688" y="5559552"/>
            <a:ext cx="1097280" cy="209288"/>
          </a:xfrm>
          <a:prstGeom prst="rect">
            <a:avLst/>
          </a:prstGeom>
          <a:noFill/>
        </p:spPr>
        <p:txBody>
          <a:bodyPr wrap="square" lIns="27432" tIns="27432" rIns="27432" bIns="27432" anchor="t">
            <a:spAutoFit/>
          </a:bodyPr>
          <a:lstStyle/>
          <a:p>
            <a:pPr algn="l">
              <a:spcAft>
                <a:spcPts val="0"/>
              </a:spcAft>
            </a:pPr>
            <a:r>
              <a:rPr lang="en-GB" sz="1000" b="1">
                <a:solidFill>
                  <a:srgbClr val="687385"/>
                </a:solidFill>
              </a:rPr>
              <a:t>DELIVERY MODE</a:t>
            </a:r>
          </a:p>
        </p:txBody>
      </p:sp>
      <p:sp>
        <p:nvSpPr>
          <p:cNvPr id="17" name="TextBox 16"/>
          <p:cNvSpPr txBox="1">
            <a:spLocks/>
          </p:cNvSpPr>
          <p:nvPr/>
        </p:nvSpPr>
        <p:spPr>
          <a:xfrm>
            <a:off x="8942832" y="5504688"/>
            <a:ext cx="2258568" cy="486287"/>
          </a:xfrm>
          <a:prstGeom prst="rect">
            <a:avLst/>
          </a:prstGeom>
          <a:noFill/>
        </p:spPr>
        <p:txBody>
          <a:bodyPr wrap="square" lIns="27432" tIns="27432" rIns="27432" bIns="27432" anchor="t">
            <a:spAutoFit/>
          </a:bodyPr>
          <a:lstStyle/>
          <a:p>
            <a:pPr algn="r">
              <a:spcAft>
                <a:spcPts val="0"/>
              </a:spcAft>
            </a:pPr>
            <a:r>
              <a:rPr lang="en-GB" sz="1400" b="0">
                <a:solidFill>
                  <a:srgbClr val="687385"/>
                </a:solidFill>
              </a:rPr>
              <a:t>Hands-on; offline review fallback</a:t>
            </a:r>
          </a:p>
        </p:txBody>
      </p:sp>
      <p:sp>
        <p:nvSpPr>
          <p:cNvPr id="18" name="TextBox 17"/>
          <p:cNvSpPr txBox="1">
            <a:spLocks/>
          </p:cNvSpPr>
          <p:nvPr/>
        </p:nvSpPr>
        <p:spPr>
          <a:xfrm>
            <a:off x="502920" y="420624"/>
            <a:ext cx="10744200" cy="130805"/>
          </a:xfrm>
          <a:prstGeom prst="rect">
            <a:avLst/>
          </a:prstGeom>
          <a:noFill/>
        </p:spPr>
        <p:txBody>
          <a:bodyPr wrap="square" lIns="0" tIns="0" rIns="0" bIns="0">
            <a:spAutoFit/>
          </a:bodyPr>
          <a:lstStyle/>
          <a:p>
            <a:pPr algn="l"/>
            <a:r>
              <a:rPr lang="en-GB" sz="850" b="1">
                <a:solidFill>
                  <a:srgbClr val="687385"/>
                </a:solidFill>
              </a:rPr>
              <a:t>066 • DAY 2 • BLOCK 06 • Objects &amp; Policy Design</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67</a:t>
            </a:r>
          </a:p>
        </p:txBody>
      </p:sp>
      <p:sp>
        <p:nvSpPr>
          <p:cNvPr id="9" name="TextBox 8"/>
          <p:cNvSpPr txBox="1">
            <a:spLocks/>
          </p:cNvSpPr>
          <p:nvPr/>
        </p:nvSpPr>
        <p:spPr>
          <a:xfrm>
            <a:off x="502920" y="621792"/>
            <a:ext cx="11109960" cy="455509"/>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Knowledge check — explain the result</a:t>
            </a:r>
          </a:p>
        </p:txBody>
      </p:sp>
      <p:sp>
        <p:nvSpPr>
          <p:cNvPr id="10" name="TextBox 9"/>
          <p:cNvSpPr txBox="1">
            <a:spLocks/>
          </p:cNvSpPr>
          <p:nvPr/>
        </p:nvSpPr>
        <p:spPr>
          <a:xfrm>
            <a:off x="658368" y="1600200"/>
            <a:ext cx="5312664" cy="292608"/>
          </a:xfrm>
          <a:prstGeom prst="rect">
            <a:avLst/>
          </a:prstGeom>
          <a:noFill/>
        </p:spPr>
        <p:txBody>
          <a:bodyPr wrap="square" lIns="27432" tIns="27432" rIns="27432" bIns="27432" anchor="t">
            <a:spAutoFit/>
          </a:bodyPr>
          <a:lstStyle/>
          <a:p>
            <a:pPr algn="l">
              <a:spcAft>
                <a:spcPts val="0"/>
              </a:spcAft>
            </a:pPr>
            <a:r>
              <a:rPr lang="en-GB" sz="1300" b="1">
                <a:solidFill>
                  <a:srgbClr val="E60012"/>
                </a:solidFill>
              </a:rPr>
              <a:t>QUESTION 1</a:t>
            </a:r>
          </a:p>
        </p:txBody>
      </p:sp>
      <p:cxnSp>
        <p:nvCxnSpPr>
          <p:cNvPr id="11" name="Connector 10"/>
          <p:cNvCxnSpPr/>
          <p:nvPr/>
        </p:nvCxnSpPr>
        <p:spPr>
          <a:xfrm>
            <a:off x="658368" y="1984248"/>
            <a:ext cx="5312664" cy="0"/>
          </a:xfrm>
          <a:prstGeom prst="line">
            <a:avLst/>
          </a:prstGeom>
          <a:ln w="22860">
            <a:solidFill>
              <a:srgbClr val="E60012"/>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658368" y="2176272"/>
            <a:ext cx="5312664" cy="3337560"/>
          </a:xfrm>
          <a:prstGeom prst="rect">
            <a:avLst/>
          </a:prstGeom>
          <a:noFill/>
        </p:spPr>
        <p:txBody>
          <a:bodyPr wrap="square" lIns="109728" tIns="73152" rIns="109728" bIns="73152" anchor="t">
            <a:spAutoFit/>
          </a:bodyPr>
          <a:lstStyle/>
          <a:p>
            <a:pPr algn="l">
              <a:lnSpc>
                <a:spcPct val="105000"/>
              </a:lnSpc>
              <a:spcAft>
                <a:spcPts val="800"/>
              </a:spcAft>
              <a:defRPr sz="1600">
                <a:solidFill>
                  <a:srgbClr val="1E2B40"/>
                </a:solidFill>
              </a:defRPr>
            </a:pPr>
            <a:r>
              <a:rPr lang="en-GB"/>
              <a:t>• When should objects be grouped?</a:t>
            </a:r>
          </a:p>
        </p:txBody>
      </p:sp>
      <p:sp>
        <p:nvSpPr>
          <p:cNvPr id="13" name="TextBox 12"/>
          <p:cNvSpPr txBox="1">
            <a:spLocks/>
          </p:cNvSpPr>
          <p:nvPr/>
        </p:nvSpPr>
        <p:spPr>
          <a:xfrm>
            <a:off x="6227064" y="1600200"/>
            <a:ext cx="5312664" cy="292608"/>
          </a:xfrm>
          <a:prstGeom prst="rect">
            <a:avLst/>
          </a:prstGeom>
          <a:noFill/>
        </p:spPr>
        <p:txBody>
          <a:bodyPr wrap="square" lIns="27432" tIns="27432" rIns="27432" bIns="27432" anchor="t">
            <a:spAutoFit/>
          </a:bodyPr>
          <a:lstStyle/>
          <a:p>
            <a:pPr algn="l">
              <a:spcAft>
                <a:spcPts val="0"/>
              </a:spcAft>
            </a:pPr>
            <a:r>
              <a:rPr lang="en-GB" sz="1300" b="1">
                <a:solidFill>
                  <a:srgbClr val="E60012"/>
                </a:solidFill>
              </a:rPr>
              <a:t>QUESTION 2</a:t>
            </a:r>
          </a:p>
        </p:txBody>
      </p:sp>
      <p:cxnSp>
        <p:nvCxnSpPr>
          <p:cNvPr id="14" name="Connector 13"/>
          <p:cNvCxnSpPr/>
          <p:nvPr/>
        </p:nvCxnSpPr>
        <p:spPr>
          <a:xfrm>
            <a:off x="6227064" y="1984248"/>
            <a:ext cx="5312664" cy="0"/>
          </a:xfrm>
          <a:prstGeom prst="line">
            <a:avLst/>
          </a:prstGeom>
          <a:ln w="22860">
            <a:solidFill>
              <a:srgbClr val="E60012"/>
            </a:solidFill>
          </a:ln>
        </p:spPr>
        <p:style>
          <a:lnRef idx="2">
            <a:schemeClr val="accent1"/>
          </a:lnRef>
          <a:fillRef idx="0">
            <a:schemeClr val="accent1"/>
          </a:fillRef>
          <a:effectRef idx="1">
            <a:schemeClr val="accent1"/>
          </a:effectRef>
          <a:fontRef idx="minor">
            <a:schemeClr val="tx1"/>
          </a:fontRef>
        </p:style>
      </p:cxnSp>
      <p:sp>
        <p:nvSpPr>
          <p:cNvPr id="15" name="TextBox 14"/>
          <p:cNvSpPr txBox="1">
            <a:spLocks/>
          </p:cNvSpPr>
          <p:nvPr/>
        </p:nvSpPr>
        <p:spPr>
          <a:xfrm>
            <a:off x="6227064" y="2176272"/>
            <a:ext cx="5312664" cy="3337560"/>
          </a:xfrm>
          <a:prstGeom prst="rect">
            <a:avLst/>
          </a:prstGeom>
          <a:noFill/>
        </p:spPr>
        <p:txBody>
          <a:bodyPr wrap="square" lIns="109728" tIns="73152" rIns="109728" bIns="73152" anchor="t">
            <a:spAutoFit/>
          </a:bodyPr>
          <a:lstStyle/>
          <a:p>
            <a:pPr algn="l">
              <a:lnSpc>
                <a:spcPct val="105000"/>
              </a:lnSpc>
              <a:spcAft>
                <a:spcPts val="800"/>
              </a:spcAft>
              <a:defRPr sz="1600">
                <a:solidFill>
                  <a:srgbClr val="1E2B40"/>
                </a:solidFill>
              </a:defRPr>
            </a:pPr>
            <a:r>
              <a:rPr lang="en-GB"/>
              <a:t>• Why is a zero hit count insufficient to delete a rule?</a:t>
            </a:r>
          </a:p>
        </p:txBody>
      </p:sp>
      <p:sp>
        <p:nvSpPr>
          <p:cNvPr id="16" name="TextBox 15"/>
          <p:cNvSpPr txBox="1">
            <a:spLocks/>
          </p:cNvSpPr>
          <p:nvPr/>
        </p:nvSpPr>
        <p:spPr>
          <a:xfrm>
            <a:off x="658368" y="5724144"/>
            <a:ext cx="1234440" cy="224677"/>
          </a:xfrm>
          <a:prstGeom prst="rect">
            <a:avLst/>
          </a:prstGeom>
          <a:noFill/>
        </p:spPr>
        <p:txBody>
          <a:bodyPr wrap="square" lIns="27432" tIns="27432" rIns="27432" bIns="27432" anchor="t">
            <a:spAutoFit/>
          </a:bodyPr>
          <a:lstStyle/>
          <a:p>
            <a:pPr algn="l">
              <a:spcAft>
                <a:spcPts val="0"/>
              </a:spcAft>
            </a:pPr>
            <a:r>
              <a:rPr lang="en-GB" sz="1100" b="1">
                <a:solidFill>
                  <a:srgbClr val="233A59"/>
                </a:solidFill>
              </a:rPr>
              <a:t>KEY DISTINCTION</a:t>
            </a:r>
          </a:p>
        </p:txBody>
      </p:sp>
      <p:sp>
        <p:nvSpPr>
          <p:cNvPr id="17" name="TextBox 16"/>
          <p:cNvSpPr txBox="1">
            <a:spLocks/>
          </p:cNvSpPr>
          <p:nvPr/>
        </p:nvSpPr>
        <p:spPr>
          <a:xfrm>
            <a:off x="1920240" y="5687568"/>
            <a:ext cx="9235440" cy="329184"/>
          </a:xfrm>
          <a:prstGeom prst="rect">
            <a:avLst/>
          </a:prstGeom>
          <a:noFill/>
        </p:spPr>
        <p:txBody>
          <a:bodyPr wrap="square" lIns="27432" tIns="27432" rIns="27432" bIns="27432" anchor="t">
            <a:spAutoFit/>
          </a:bodyPr>
          <a:lstStyle/>
          <a:p>
            <a:pPr algn="l">
              <a:spcAft>
                <a:spcPts val="0"/>
              </a:spcAft>
            </a:pPr>
            <a:r>
              <a:rPr lang="en-GB" sz="1400" b="1">
                <a:solidFill>
                  <a:srgbClr val="233A59"/>
                </a:solidFill>
              </a:rPr>
              <a:t>Answers and teaching rationale are in speaker notes.</a:t>
            </a:r>
          </a:p>
        </p:txBody>
      </p:sp>
      <p:sp>
        <p:nvSpPr>
          <p:cNvPr id="18" name="TextBox 17"/>
          <p:cNvSpPr txBox="1">
            <a:spLocks/>
          </p:cNvSpPr>
          <p:nvPr/>
        </p:nvSpPr>
        <p:spPr>
          <a:xfrm>
            <a:off x="502920" y="420624"/>
            <a:ext cx="10744200" cy="130805"/>
          </a:xfrm>
          <a:prstGeom prst="rect">
            <a:avLst/>
          </a:prstGeom>
          <a:noFill/>
        </p:spPr>
        <p:txBody>
          <a:bodyPr wrap="square" lIns="0" tIns="0" rIns="0" bIns="0">
            <a:spAutoFit/>
          </a:bodyPr>
          <a:lstStyle/>
          <a:p>
            <a:pPr algn="l"/>
            <a:r>
              <a:rPr lang="en-GB" sz="850" b="1">
                <a:solidFill>
                  <a:srgbClr val="687385"/>
                </a:solidFill>
              </a:rPr>
              <a:t>067 • DAY 2 • BLOCK 06 • Objects &amp; Policy Design</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101827"/>
        </a:solidFill>
        <a:effectLst/>
      </p:bgPr>
    </p:bg>
    <p:spTree>
      <p:nvGrpSpPr>
        <p:cNvPr id="1" name=""/>
        <p:cNvGrpSpPr/>
        <p:nvPr/>
      </p:nvGrpSpPr>
      <p:grpSpPr>
        <a:xfrm>
          <a:off x="0" y="0"/>
          <a:ext cx="1" cy="1"/>
          <a:chOff x="0" y="0"/>
          <a:chExt cx="1" cy="1"/>
        </a:xfrm>
      </p:grpSpPr>
      <p:sp>
        <p:nvSpPr>
          <p:cNvPr id="2" name="Rectangle 1"/>
          <p:cNvSpPr/>
          <p:nvPr/>
        </p:nvSpPr>
        <p:spPr>
          <a:xfrm>
            <a:off x="0" y="0"/>
            <a:ext cx="146304" cy="6858000"/>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a:spLocks/>
          </p:cNvSpPr>
          <p:nvPr/>
        </p:nvSpPr>
        <p:spPr>
          <a:xfrm>
            <a:off x="658368" y="566928"/>
            <a:ext cx="5212080" cy="256032"/>
          </a:xfrm>
          <a:prstGeom prst="rect">
            <a:avLst/>
          </a:prstGeom>
          <a:noFill/>
        </p:spPr>
        <p:txBody>
          <a:bodyPr wrap="square" lIns="27432" tIns="27432" rIns="27432" bIns="27432" anchor="t">
            <a:spAutoFit/>
          </a:bodyPr>
          <a:lstStyle/>
          <a:p>
            <a:pPr algn="l">
              <a:spcAft>
                <a:spcPts val="0"/>
              </a:spcAft>
            </a:pPr>
            <a:r>
              <a:rPr lang="en-GB" sz="1400" b="1">
                <a:solidFill>
                  <a:srgbClr val="E60012"/>
                </a:solidFill>
              </a:rPr>
              <a:t>DAY 2  •  13:00–14:30</a:t>
            </a:r>
          </a:p>
        </p:txBody>
      </p:sp>
      <p:sp>
        <p:nvSpPr>
          <p:cNvPr id="4" name="TextBox 3"/>
          <p:cNvSpPr txBox="1">
            <a:spLocks/>
          </p:cNvSpPr>
          <p:nvPr/>
        </p:nvSpPr>
        <p:spPr>
          <a:xfrm>
            <a:off x="658368" y="1097280"/>
            <a:ext cx="10515600" cy="914400"/>
          </a:xfrm>
          <a:prstGeom prst="rect">
            <a:avLst/>
          </a:prstGeom>
          <a:noFill/>
        </p:spPr>
        <p:txBody>
          <a:bodyPr wrap="square" lIns="27432" tIns="27432" rIns="27432" bIns="27432" anchor="t">
            <a:spAutoFit/>
          </a:bodyPr>
          <a:lstStyle/>
          <a:p>
            <a:pPr algn="l">
              <a:spcAft>
                <a:spcPts val="0"/>
              </a:spcAft>
            </a:pPr>
            <a:r>
              <a:rPr lang="en-GB" sz="3400" b="1">
                <a:solidFill>
                  <a:srgbClr val="FFFFFF"/>
                </a:solidFill>
              </a:rPr>
              <a:t>Security Services &amp; SSL Inspection</a:t>
            </a:r>
          </a:p>
        </p:txBody>
      </p:sp>
      <p:sp>
        <p:nvSpPr>
          <p:cNvPr id="5" name="TextBox 4"/>
          <p:cNvSpPr txBox="1">
            <a:spLocks/>
          </p:cNvSpPr>
          <p:nvPr/>
        </p:nvSpPr>
        <p:spPr>
          <a:xfrm>
            <a:off x="676656" y="2084831"/>
            <a:ext cx="8686800" cy="517065"/>
          </a:xfrm>
          <a:prstGeom prst="rect">
            <a:avLst/>
          </a:prstGeom>
          <a:noFill/>
        </p:spPr>
        <p:txBody>
          <a:bodyPr wrap="square" lIns="27432" tIns="27432" rIns="27432" bIns="27432" anchor="t">
            <a:spAutoFit/>
          </a:bodyPr>
          <a:lstStyle/>
          <a:p>
            <a:pPr algn="l">
              <a:spcAft>
                <a:spcPts val="0"/>
              </a:spcAft>
            </a:pPr>
            <a:r>
              <a:rPr lang="en-GB" sz="1500" b="0">
                <a:solidFill>
                  <a:srgbClr val="C9D1DD"/>
                </a:solidFill>
              </a:rPr>
              <a:t>Day 2 core uses planned local Linux client/server traffic; Internet/FortiGuard-dependent extensions are optional</a:t>
            </a:r>
          </a:p>
        </p:txBody>
      </p:sp>
      <p:cxnSp>
        <p:nvCxnSpPr>
          <p:cNvPr id="6" name="Connector 5"/>
          <p:cNvCxnSpPr/>
          <p:nvPr/>
        </p:nvCxnSpPr>
        <p:spPr>
          <a:xfrm>
            <a:off x="676656" y="2578608"/>
            <a:ext cx="10616184" cy="0"/>
          </a:xfrm>
          <a:prstGeom prst="line">
            <a:avLst/>
          </a:prstGeom>
          <a:ln w="12700">
            <a:solidFill>
              <a:srgbClr val="40516A"/>
            </a:solidFill>
          </a:ln>
        </p:spPr>
        <p:style>
          <a:lnRef idx="2">
            <a:schemeClr val="accent1"/>
          </a:lnRef>
          <a:fillRef idx="0">
            <a:schemeClr val="accent1"/>
          </a:fillRef>
          <a:effectRef idx="1">
            <a:schemeClr val="accent1"/>
          </a:effectRef>
          <a:fontRef idx="minor">
            <a:schemeClr val="tx1"/>
          </a:fontRef>
        </p:style>
      </p:cxnSp>
      <p:sp>
        <p:nvSpPr>
          <p:cNvPr id="7" name="TextBox 6"/>
          <p:cNvSpPr txBox="1">
            <a:spLocks/>
          </p:cNvSpPr>
          <p:nvPr/>
        </p:nvSpPr>
        <p:spPr>
          <a:xfrm>
            <a:off x="685800" y="2889504"/>
            <a:ext cx="27432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LEARNING OBJECTIVES</a:t>
            </a:r>
          </a:p>
        </p:txBody>
      </p:sp>
      <p:sp>
        <p:nvSpPr>
          <p:cNvPr id="8" name="TextBox 7"/>
          <p:cNvSpPr txBox="1">
            <a:spLocks/>
          </p:cNvSpPr>
          <p:nvPr/>
        </p:nvSpPr>
        <p:spPr>
          <a:xfrm>
            <a:off x="685800" y="3218688"/>
            <a:ext cx="6035040" cy="2057400"/>
          </a:xfrm>
          <a:prstGeom prst="rect">
            <a:avLst/>
          </a:prstGeom>
          <a:noFill/>
        </p:spPr>
        <p:txBody>
          <a:bodyPr wrap="square" lIns="109728" tIns="73152" rIns="109728" bIns="73152" anchor="t">
            <a:spAutoFit/>
          </a:bodyPr>
          <a:lstStyle/>
          <a:p>
            <a:pPr algn="l">
              <a:lnSpc>
                <a:spcPct val="105000"/>
              </a:lnSpc>
              <a:spcAft>
                <a:spcPts val="700"/>
              </a:spcAft>
              <a:defRPr sz="1700">
                <a:solidFill>
                  <a:srgbClr val="FFFFFF"/>
                </a:solidFill>
              </a:defRPr>
            </a:pPr>
            <a:r>
              <a:rPr lang="en-GB"/>
              <a:t>• Explain AV, IPS, Web Filter and Application Control roles</a:t>
            </a:r>
          </a:p>
          <a:p>
            <a:pPr>
              <a:lnSpc>
                <a:spcPct val="105000"/>
              </a:lnSpc>
              <a:spcAft>
                <a:spcPts val="700"/>
              </a:spcAft>
              <a:defRPr sz="1700">
                <a:solidFill>
                  <a:srgbClr val="FFFFFF"/>
                </a:solidFill>
              </a:defRPr>
            </a:pPr>
            <a:r>
              <a:rPr lang="en-GB"/>
              <a:t>• Sequence security profiles with inspection prerequisites</a:t>
            </a:r>
          </a:p>
          <a:p>
            <a:pPr>
              <a:lnSpc>
                <a:spcPct val="105000"/>
              </a:lnSpc>
              <a:spcAft>
                <a:spcPts val="700"/>
              </a:spcAft>
              <a:defRPr sz="1700">
                <a:solidFill>
                  <a:srgbClr val="FFFFFF"/>
                </a:solidFill>
              </a:defRPr>
            </a:pPr>
            <a:r>
              <a:rPr lang="en-GB"/>
              <a:t>• Compare certificate and deep inspection with PKI and operational impacts</a:t>
            </a:r>
          </a:p>
        </p:txBody>
      </p:sp>
      <p:sp>
        <p:nvSpPr>
          <p:cNvPr id="9" name="TextBox 8"/>
          <p:cNvSpPr txBox="1">
            <a:spLocks/>
          </p:cNvSpPr>
          <p:nvPr/>
        </p:nvSpPr>
        <p:spPr>
          <a:xfrm>
            <a:off x="7315200" y="2889504"/>
            <a:ext cx="36576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PREREQUISITES + PRACTICE RESERVE</a:t>
            </a:r>
          </a:p>
        </p:txBody>
      </p:sp>
      <p:sp>
        <p:nvSpPr>
          <p:cNvPr id="10" name="TextBox 9"/>
          <p:cNvSpPr txBox="1">
            <a:spLocks/>
          </p:cNvSpPr>
          <p:nvPr/>
        </p:nvSpPr>
        <p:spPr>
          <a:xfrm>
            <a:off x="7315200" y="3218688"/>
            <a:ext cx="3886200" cy="1143000"/>
          </a:xfrm>
          <a:prstGeom prst="rect">
            <a:avLst/>
          </a:prstGeom>
          <a:noFill/>
        </p:spPr>
        <p:txBody>
          <a:bodyPr wrap="square" lIns="109728" tIns="73152" rIns="109728" bIns="73152" anchor="t">
            <a:spAutoFit/>
          </a:bodyPr>
          <a:lstStyle/>
          <a:p>
            <a:pPr algn="l">
              <a:lnSpc>
                <a:spcPct val="105000"/>
              </a:lnSpc>
              <a:spcAft>
                <a:spcPts val="600"/>
              </a:spcAft>
              <a:defRPr sz="1500">
                <a:solidFill>
                  <a:srgbClr val="FFFFFF"/>
                </a:solidFill>
              </a:defRPr>
            </a:pPr>
            <a:r>
              <a:rPr lang="en-GB"/>
              <a:t>• Working outbound policy and logging</a:t>
            </a:r>
          </a:p>
          <a:p>
            <a:pPr>
              <a:lnSpc>
                <a:spcPct val="105000"/>
              </a:lnSpc>
              <a:spcAft>
                <a:spcPts val="600"/>
              </a:spcAft>
              <a:defRPr sz="1500">
                <a:solidFill>
                  <a:srgbClr val="FFFFFF"/>
                </a:solidFill>
              </a:defRPr>
            </a:pPr>
            <a:r>
              <a:rPr lang="en-GB"/>
              <a:t>• Instructor-managed test content only</a:t>
            </a:r>
          </a:p>
          <a:p>
            <a:pPr>
              <a:lnSpc>
                <a:spcPct val="105000"/>
              </a:lnSpc>
              <a:spcAft>
                <a:spcPts val="600"/>
              </a:spcAft>
              <a:defRPr sz="1500">
                <a:solidFill>
                  <a:srgbClr val="FFFFFF"/>
                </a:solidFill>
              </a:defRPr>
            </a:pPr>
            <a:r>
              <a:rPr lang="en-GB"/>
              <a:t>• Trusted inspection CA distribution for deep-inspection lab</a:t>
            </a:r>
          </a:p>
        </p:txBody>
      </p:sp>
      <p:sp>
        <p:nvSpPr>
          <p:cNvPr id="11" name="TextBox 10"/>
          <p:cNvSpPr txBox="1">
            <a:spLocks/>
          </p:cNvSpPr>
          <p:nvPr/>
        </p:nvSpPr>
        <p:spPr>
          <a:xfrm>
            <a:off x="7315200" y="4709160"/>
            <a:ext cx="3931920" cy="685800"/>
          </a:xfrm>
          <a:prstGeom prst="rect">
            <a:avLst/>
          </a:prstGeom>
          <a:noFill/>
        </p:spPr>
        <p:txBody>
          <a:bodyPr wrap="square" lIns="27432" tIns="27432" rIns="27432" bIns="27432" anchor="t">
            <a:spAutoFit/>
          </a:bodyPr>
          <a:lstStyle/>
          <a:p>
            <a:pPr algn="l">
              <a:spcAft>
                <a:spcPts val="0"/>
              </a:spcAft>
            </a:pPr>
            <a:r>
              <a:rPr lang="en-GB" sz="1600" b="1">
                <a:solidFill>
                  <a:srgbClr val="D8E0EA"/>
                </a:solidFill>
              </a:rPr>
              <a:t>Teach ~58 min • reserve ~32 min for guided activity, discussion and debrief</a:t>
            </a:r>
          </a:p>
        </p:txBody>
      </p:sp>
      <p:sp>
        <p:nvSpPr>
          <p:cNvPr id="12" name="TextBox 11"/>
          <p:cNvSpPr txBox="1">
            <a:spLocks/>
          </p:cNvSpPr>
          <p:nvPr/>
        </p:nvSpPr>
        <p:spPr>
          <a:xfrm>
            <a:off x="10424160" y="5715000"/>
            <a:ext cx="731520" cy="363176"/>
          </a:xfrm>
          <a:prstGeom prst="rect">
            <a:avLst/>
          </a:prstGeom>
          <a:noFill/>
        </p:spPr>
        <p:txBody>
          <a:bodyPr wrap="square" lIns="27432" tIns="27432" rIns="27432" bIns="27432" anchor="t">
            <a:spAutoFit/>
          </a:bodyPr>
          <a:lstStyle/>
          <a:p>
            <a:pPr algn="r">
              <a:spcAft>
                <a:spcPts val="0"/>
              </a:spcAft>
            </a:pPr>
            <a:r>
              <a:rPr lang="en-HU" sz="2000" b="1">
                <a:solidFill>
                  <a:srgbClr val="E60012"/>
                </a:solidFill>
              </a:rPr>
              <a:t>068</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69</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Security profiles answer different detection questions</a:t>
            </a:r>
          </a:p>
        </p:txBody>
      </p:sp>
      <p:sp>
        <p:nvSpPr>
          <p:cNvPr id="10" name="TextBox 9"/>
          <p:cNvSpPr txBox="1">
            <a:spLocks/>
          </p:cNvSpPr>
          <p:nvPr/>
        </p:nvSpPr>
        <p:spPr>
          <a:xfrm>
            <a:off x="658368" y="1600200"/>
            <a:ext cx="5312664" cy="292608"/>
          </a:xfrm>
          <a:prstGeom prst="rect">
            <a:avLst/>
          </a:prstGeom>
          <a:noFill/>
        </p:spPr>
        <p:txBody>
          <a:bodyPr wrap="square" lIns="27432" tIns="27432" rIns="27432" bIns="27432" anchor="t">
            <a:spAutoFit/>
          </a:bodyPr>
          <a:lstStyle/>
          <a:p>
            <a:pPr algn="l">
              <a:spcAft>
                <a:spcPts val="0"/>
              </a:spcAft>
            </a:pPr>
            <a:r>
              <a:rPr lang="en-GB" sz="1300" b="1">
                <a:solidFill>
                  <a:srgbClr val="E60012"/>
                </a:solidFill>
              </a:rPr>
              <a:t>CONTENT</a:t>
            </a:r>
          </a:p>
        </p:txBody>
      </p:sp>
      <p:cxnSp>
        <p:nvCxnSpPr>
          <p:cNvPr id="11" name="Connector 10"/>
          <p:cNvCxnSpPr/>
          <p:nvPr/>
        </p:nvCxnSpPr>
        <p:spPr>
          <a:xfrm>
            <a:off x="658368" y="1984248"/>
            <a:ext cx="5312664" cy="0"/>
          </a:xfrm>
          <a:prstGeom prst="line">
            <a:avLst/>
          </a:prstGeom>
          <a:ln w="22860">
            <a:solidFill>
              <a:srgbClr val="E60012"/>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658368" y="2176272"/>
            <a:ext cx="5312664" cy="3337560"/>
          </a:xfrm>
          <a:prstGeom prst="rect">
            <a:avLst/>
          </a:prstGeom>
          <a:noFill/>
        </p:spPr>
        <p:txBody>
          <a:bodyPr wrap="square" lIns="109728" tIns="73152" rIns="109728" bIns="73152" anchor="t">
            <a:spAutoFit/>
          </a:bodyPr>
          <a:lstStyle/>
          <a:p>
            <a:pPr algn="l">
              <a:lnSpc>
                <a:spcPct val="105000"/>
              </a:lnSpc>
              <a:spcAft>
                <a:spcPts val="800"/>
              </a:spcAft>
              <a:defRPr sz="1600">
                <a:solidFill>
                  <a:srgbClr val="1E2B40"/>
                </a:solidFill>
              </a:defRPr>
            </a:pPr>
            <a:r>
              <a:rPr lang="en-GB"/>
              <a:t>• Antivirus</a:t>
            </a:r>
          </a:p>
          <a:p>
            <a:pPr>
              <a:lnSpc>
                <a:spcPct val="105000"/>
              </a:lnSpc>
              <a:spcAft>
                <a:spcPts val="800"/>
              </a:spcAft>
              <a:defRPr sz="1600">
                <a:solidFill>
                  <a:srgbClr val="1E2B40"/>
                </a:solidFill>
              </a:defRPr>
            </a:pPr>
            <a:r>
              <a:rPr lang="en-GB"/>
              <a:t>• Web content/category</a:t>
            </a:r>
          </a:p>
        </p:txBody>
      </p:sp>
      <p:sp>
        <p:nvSpPr>
          <p:cNvPr id="13" name="TextBox 12"/>
          <p:cNvSpPr txBox="1"/>
          <p:nvPr/>
        </p:nvSpPr>
        <p:spPr>
          <a:xfrm>
            <a:off x="6227064" y="1600200"/>
            <a:ext cx="5312664" cy="292608"/>
          </a:xfrm>
          <a:prstGeom prst="rect">
            <a:avLst/>
          </a:prstGeom>
          <a:noFill/>
        </p:spPr>
        <p:txBody>
          <a:bodyPr wrap="square" lIns="27432" tIns="27432" rIns="27432" bIns="27432" anchor="t">
            <a:spAutoFit/>
          </a:bodyPr>
          <a:lstStyle/>
          <a:p>
            <a:pPr algn="l">
              <a:spcAft>
                <a:spcPts val="0"/>
              </a:spcAft>
            </a:pPr>
            <a:r>
              <a:rPr sz="1300" b="1">
                <a:solidFill>
                  <a:srgbClr val="E60012"/>
                </a:solidFill>
              </a:rPr>
              <a:t>BEHAVIOR</a:t>
            </a:r>
          </a:p>
        </p:txBody>
      </p:sp>
      <p:cxnSp>
        <p:nvCxnSpPr>
          <p:cNvPr id="14" name="Connector 13"/>
          <p:cNvCxnSpPr/>
          <p:nvPr/>
        </p:nvCxnSpPr>
        <p:spPr>
          <a:xfrm>
            <a:off x="6227064" y="1984248"/>
            <a:ext cx="5312664" cy="0"/>
          </a:xfrm>
          <a:prstGeom prst="line">
            <a:avLst/>
          </a:prstGeom>
          <a:ln w="22860">
            <a:solidFill>
              <a:srgbClr val="E60012"/>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227064" y="2176272"/>
            <a:ext cx="5312664" cy="3337560"/>
          </a:xfrm>
          <a:prstGeom prst="rect">
            <a:avLst/>
          </a:prstGeom>
          <a:noFill/>
        </p:spPr>
        <p:txBody>
          <a:bodyPr wrap="square" lIns="109728" tIns="73152" rIns="109728" bIns="73152" anchor="t">
            <a:spAutoFit/>
          </a:bodyPr>
          <a:lstStyle/>
          <a:p>
            <a:pPr algn="l">
              <a:lnSpc>
                <a:spcPct val="105000"/>
              </a:lnSpc>
              <a:spcAft>
                <a:spcPts val="800"/>
              </a:spcAft>
              <a:defRPr sz="1600">
                <a:solidFill>
                  <a:srgbClr val="1E2B40"/>
                </a:solidFill>
              </a:defRPr>
            </a:pPr>
            <a:r>
              <a:t>• IPS exploits/protocols</a:t>
            </a:r>
          </a:p>
          <a:p>
            <a:pPr>
              <a:lnSpc>
                <a:spcPct val="105000"/>
              </a:lnSpc>
              <a:spcAft>
                <a:spcPts val="800"/>
              </a:spcAft>
              <a:defRPr sz="1600">
                <a:solidFill>
                  <a:srgbClr val="1E2B40"/>
                </a:solidFill>
              </a:defRPr>
            </a:pPr>
            <a:r>
              <a:t>• Application signatures</a:t>
            </a:r>
          </a:p>
        </p:txBody>
      </p:sp>
      <p:sp>
        <p:nvSpPr>
          <p:cNvPr id="16" name="TextBox 15"/>
          <p:cNvSpPr txBox="1"/>
          <p:nvPr/>
        </p:nvSpPr>
        <p:spPr>
          <a:xfrm>
            <a:off x="658368" y="5724144"/>
            <a:ext cx="1234440" cy="224677"/>
          </a:xfrm>
          <a:prstGeom prst="rect">
            <a:avLst/>
          </a:prstGeom>
          <a:noFill/>
        </p:spPr>
        <p:txBody>
          <a:bodyPr wrap="square" lIns="27432" tIns="27432" rIns="27432" bIns="27432" anchor="t">
            <a:spAutoFit/>
          </a:bodyPr>
          <a:lstStyle/>
          <a:p>
            <a:pPr algn="l">
              <a:spcAft>
                <a:spcPts val="0"/>
              </a:spcAft>
            </a:pPr>
            <a:r>
              <a:rPr lang="en-GB" sz="1100" b="1">
                <a:solidFill>
                  <a:srgbClr val="233A59"/>
                </a:solidFill>
              </a:rPr>
              <a:t>KEY DISTINCTION</a:t>
            </a:r>
            <a:endParaRPr sz="1100" b="1">
              <a:solidFill>
                <a:srgbClr val="233A59"/>
              </a:solidFill>
            </a:endParaRPr>
          </a:p>
        </p:txBody>
      </p:sp>
      <p:sp>
        <p:nvSpPr>
          <p:cNvPr id="17" name="TextBox 16"/>
          <p:cNvSpPr txBox="1"/>
          <p:nvPr/>
        </p:nvSpPr>
        <p:spPr>
          <a:xfrm>
            <a:off x="1920240" y="5687568"/>
            <a:ext cx="9235440" cy="329184"/>
          </a:xfrm>
          <a:prstGeom prst="rect">
            <a:avLst/>
          </a:prstGeom>
          <a:noFill/>
        </p:spPr>
        <p:txBody>
          <a:bodyPr wrap="square" lIns="27432" tIns="27432" rIns="27432" bIns="27432" anchor="t">
            <a:spAutoFit/>
          </a:bodyPr>
          <a:lstStyle/>
          <a:p>
            <a:pPr algn="l">
              <a:spcAft>
                <a:spcPts val="0"/>
              </a:spcAft>
            </a:pPr>
            <a:r>
              <a:rPr sz="1400" b="1">
                <a:solidFill>
                  <a:srgbClr val="233A59"/>
                </a:solidFill>
              </a:rPr>
              <a:t>One session may trigger multiple profile decisions; logs must be correlated by time/session</a:t>
            </a:r>
          </a:p>
        </p:txBody>
      </p:sp>
      <p:sp>
        <p:nvSpPr>
          <p:cNvPr id="18" name="TextBox 17"/>
          <p:cNvSpPr txBox="1"/>
          <p:nvPr/>
        </p:nvSpPr>
        <p:spPr>
          <a:xfrm>
            <a:off x="502920" y="420624"/>
            <a:ext cx="10744200" cy="130805"/>
          </a:xfrm>
          <a:prstGeom prst="rect">
            <a:avLst/>
          </a:prstGeom>
          <a:noFill/>
        </p:spPr>
        <p:txBody>
          <a:bodyPr wrap="square" lIns="0" tIns="0" rIns="0" bIns="0">
            <a:spAutoFit/>
          </a:bodyPr>
          <a:lstStyle/>
          <a:p>
            <a:pPr algn="l"/>
            <a:r>
              <a:rPr lang="en-HU" sz="850" b="1">
                <a:solidFill>
                  <a:srgbClr val="687385"/>
                </a:solidFill>
              </a:rPr>
              <a:t>069</a:t>
            </a:r>
            <a:r>
              <a:rPr sz="850" b="1">
                <a:solidFill>
                  <a:srgbClr val="687385"/>
                </a:solidFill>
              </a:rPr>
              <a:t> • DAY 2 • BLOCK 07 • Security Services &amp; SSL Inspection</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70</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Inspection mode determines what profiles can see</a:t>
            </a:r>
          </a:p>
        </p:txBody>
      </p:sp>
      <p:sp>
        <p:nvSpPr>
          <p:cNvPr id="10" name="TextBox 9"/>
          <p:cNvSpPr txBox="1">
            <a:spLocks/>
          </p:cNvSpPr>
          <p:nvPr/>
        </p:nvSpPr>
        <p:spPr>
          <a:xfrm>
            <a:off x="658368" y="1554480"/>
            <a:ext cx="6583680" cy="4389120"/>
          </a:xfrm>
          <a:prstGeom prst="rect">
            <a:avLst/>
          </a:prstGeom>
          <a:noFill/>
        </p:spPr>
        <p:txBody>
          <a:bodyPr wrap="square" lIns="109728" tIns="73152" rIns="109728" bIns="73152" anchor="t">
            <a:spAutoFit/>
          </a:bodyPr>
          <a:lstStyle/>
          <a:p>
            <a:pPr algn="l">
              <a:lnSpc>
                <a:spcPct val="105000"/>
              </a:lnSpc>
              <a:spcAft>
                <a:spcPts val="800"/>
              </a:spcAft>
              <a:defRPr sz="1700">
                <a:solidFill>
                  <a:srgbClr val="1E2B40"/>
                </a:solidFill>
              </a:defRPr>
            </a:pPr>
            <a:r>
              <a:rPr lang="en-GB"/>
              <a:t>• Flow mode streams traffic through engines with lower buffering</a:t>
            </a:r>
          </a:p>
          <a:p>
            <a:pPr>
              <a:lnSpc>
                <a:spcPct val="105000"/>
              </a:lnSpc>
              <a:spcAft>
                <a:spcPts val="800"/>
              </a:spcAft>
              <a:defRPr sz="1700">
                <a:solidFill>
                  <a:srgbClr val="1E2B40"/>
                </a:solidFill>
              </a:defRPr>
            </a:pPr>
            <a:r>
              <a:rPr lang="en-GB"/>
              <a:t>• Proxy mode terminates/proxies supported protocols for deeper protocol handling</a:t>
            </a:r>
          </a:p>
          <a:p>
            <a:pPr>
              <a:lnSpc>
                <a:spcPct val="105000"/>
              </a:lnSpc>
              <a:spcAft>
                <a:spcPts val="800"/>
              </a:spcAft>
              <a:defRPr sz="1700">
                <a:solidFill>
                  <a:srgbClr val="1E2B40"/>
                </a:solidFill>
              </a:defRPr>
            </a:pPr>
            <a:r>
              <a:rPr lang="en-GB"/>
              <a:t>• Feature behavior and availability vary by profile/protocol/release</a:t>
            </a:r>
          </a:p>
          <a:p>
            <a:pPr>
              <a:lnSpc>
                <a:spcPct val="105000"/>
              </a:lnSpc>
              <a:spcAft>
                <a:spcPts val="800"/>
              </a:spcAft>
              <a:defRPr sz="1700">
                <a:solidFill>
                  <a:srgbClr val="1E2B40"/>
                </a:solidFill>
              </a:defRPr>
            </a:pPr>
            <a:r>
              <a:rPr lang="en-GB"/>
              <a:t>• Choose mode by required controls and tested compatibility, not habit</a:t>
            </a:r>
          </a:p>
        </p:txBody>
      </p:sp>
      <p:cxnSp>
        <p:nvCxnSpPr>
          <p:cNvPr id="11" name="Connector 10"/>
          <p:cNvCxnSpPr/>
          <p:nvPr/>
        </p:nvCxnSpPr>
        <p:spPr>
          <a:xfrm>
            <a:off x="7452360" y="1600200"/>
            <a:ext cx="0" cy="434340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7790688" y="1627632"/>
            <a:ext cx="342900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ILLUSTRATIVE SCENARIO</a:t>
            </a:r>
          </a:p>
        </p:txBody>
      </p:sp>
      <p:sp>
        <p:nvSpPr>
          <p:cNvPr id="13" name="TextBox 12"/>
          <p:cNvSpPr txBox="1">
            <a:spLocks/>
          </p:cNvSpPr>
          <p:nvPr/>
        </p:nvSpPr>
        <p:spPr>
          <a:xfrm>
            <a:off x="7790688" y="2057400"/>
            <a:ext cx="3337560" cy="1417320"/>
          </a:xfrm>
          <a:prstGeom prst="rect">
            <a:avLst/>
          </a:prstGeom>
          <a:noFill/>
        </p:spPr>
        <p:txBody>
          <a:bodyPr wrap="square" lIns="27432" tIns="27432" rIns="27432" bIns="27432" anchor="t">
            <a:spAutoFit/>
          </a:bodyPr>
          <a:lstStyle/>
          <a:p>
            <a:pPr algn="l">
              <a:spcAft>
                <a:spcPts val="0"/>
              </a:spcAft>
            </a:pPr>
            <a:r>
              <a:rPr lang="en-GB" sz="1700" b="1">
                <a:solidFill>
                  <a:srgbClr val="233A59"/>
                </a:solidFill>
              </a:rPr>
              <a:t>Document the required visibility first; then choose inspection/profile combination</a:t>
            </a:r>
          </a:p>
        </p:txBody>
      </p:sp>
      <p:sp>
        <p:nvSpPr>
          <p:cNvPr id="14" name="TextBox 13"/>
          <p:cNvSpPr txBox="1">
            <a:spLocks/>
          </p:cNvSpPr>
          <p:nvPr/>
        </p:nvSpPr>
        <p:spPr>
          <a:xfrm>
            <a:off x="7790688" y="3822191"/>
            <a:ext cx="18288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EXPECTED RESULT</a:t>
            </a:r>
          </a:p>
        </p:txBody>
      </p:sp>
      <p:sp>
        <p:nvSpPr>
          <p:cNvPr id="15" name="TextBox 14"/>
          <p:cNvSpPr txBox="1">
            <a:spLocks/>
          </p:cNvSpPr>
          <p:nvPr/>
        </p:nvSpPr>
        <p:spPr>
          <a:xfrm>
            <a:off x="7790688" y="4187952"/>
            <a:ext cx="3337560" cy="747897"/>
          </a:xfrm>
          <a:prstGeom prst="rect">
            <a:avLst/>
          </a:prstGeom>
          <a:noFill/>
        </p:spPr>
        <p:txBody>
          <a:bodyPr wrap="square" lIns="27432" tIns="27432" rIns="27432" bIns="27432" anchor="t">
            <a:spAutoFit/>
          </a:bodyPr>
          <a:lstStyle/>
          <a:p>
            <a:pPr algn="l">
              <a:spcAft>
                <a:spcPts val="0"/>
              </a:spcAft>
            </a:pPr>
            <a:r>
              <a:rPr lang="en-GB" sz="1500" b="0">
                <a:solidFill>
                  <a:srgbClr val="1E2B40"/>
                </a:solidFill>
              </a:rPr>
              <a:t>Check policy inspection mode and profile attachment in the FortiOS 7.6.7 build.</a:t>
            </a:r>
          </a:p>
        </p:txBody>
      </p:sp>
      <p:sp>
        <p:nvSpPr>
          <p:cNvPr id="16" name="TextBox 15"/>
          <p:cNvSpPr txBox="1">
            <a:spLocks/>
          </p:cNvSpPr>
          <p:nvPr/>
        </p:nvSpPr>
        <p:spPr>
          <a:xfrm>
            <a:off x="7790688" y="5596128"/>
            <a:ext cx="1920240" cy="201168"/>
          </a:xfrm>
          <a:prstGeom prst="rect">
            <a:avLst/>
          </a:prstGeom>
          <a:noFill/>
        </p:spPr>
        <p:txBody>
          <a:bodyPr wrap="square" lIns="27432" tIns="27432" rIns="27432" bIns="27432" anchor="t">
            <a:spAutoFit/>
          </a:bodyPr>
          <a:lstStyle/>
          <a:p>
            <a:pPr algn="l">
              <a:spcAft>
                <a:spcPts val="0"/>
              </a:spcAft>
            </a:pPr>
            <a:r>
              <a:rPr lang="en-GB" sz="1000" b="1">
                <a:solidFill>
                  <a:srgbClr val="687385"/>
                </a:solidFill>
              </a:rPr>
              <a:t>Expected observation</a:t>
            </a:r>
          </a:p>
        </p:txBody>
      </p:sp>
      <p:sp>
        <p:nvSpPr>
          <p:cNvPr id="17" name="TextBox 16"/>
          <p:cNvSpPr txBox="1">
            <a:spLocks/>
          </p:cNvSpPr>
          <p:nvPr/>
        </p:nvSpPr>
        <p:spPr>
          <a:xfrm>
            <a:off x="9509760" y="5577840"/>
            <a:ext cx="1691640" cy="670953"/>
          </a:xfrm>
          <a:prstGeom prst="rect">
            <a:avLst/>
          </a:prstGeom>
          <a:noFill/>
        </p:spPr>
        <p:txBody>
          <a:bodyPr wrap="square" lIns="27432" tIns="27432" rIns="27432" bIns="27432" anchor="t">
            <a:spAutoFit/>
          </a:bodyPr>
          <a:lstStyle/>
          <a:p>
            <a:pPr algn="r">
              <a:spcAft>
                <a:spcPts val="0"/>
              </a:spcAft>
            </a:pPr>
            <a:r>
              <a:rPr lang="en-GB" sz="1000" b="0">
                <a:solidFill>
                  <a:srgbClr val="687385"/>
                </a:solidFill>
              </a:rPr>
              <a:t>The client trusts the inspection certificate and the relevant security profile records the intended action.</a:t>
            </a:r>
          </a:p>
        </p:txBody>
      </p:sp>
      <p:sp>
        <p:nvSpPr>
          <p:cNvPr id="18" name="TextBox 17"/>
          <p:cNvSpPr txBox="1">
            <a:spLocks/>
          </p:cNvSpPr>
          <p:nvPr/>
        </p:nvSpPr>
        <p:spPr>
          <a:xfrm>
            <a:off x="502920" y="420624"/>
            <a:ext cx="10744200" cy="130805"/>
          </a:xfrm>
          <a:prstGeom prst="rect">
            <a:avLst/>
          </a:prstGeom>
          <a:noFill/>
        </p:spPr>
        <p:txBody>
          <a:bodyPr wrap="square" lIns="0" tIns="0" rIns="0" bIns="0">
            <a:spAutoFit/>
          </a:bodyPr>
          <a:lstStyle/>
          <a:p>
            <a:pPr algn="l"/>
            <a:r>
              <a:rPr lang="en-GB" sz="850" b="1">
                <a:solidFill>
                  <a:srgbClr val="687385"/>
                </a:solidFill>
              </a:rPr>
              <a:t>070 • DAY 2 • BLOCK 07 • Security Services &amp; SSL Inspection</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71</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Certificate inspection and deep inspection solve different problems</a:t>
            </a:r>
          </a:p>
        </p:txBody>
      </p:sp>
      <p:sp>
        <p:nvSpPr>
          <p:cNvPr id="10" name="TextBox 9"/>
          <p:cNvSpPr txBox="1">
            <a:spLocks/>
          </p:cNvSpPr>
          <p:nvPr/>
        </p:nvSpPr>
        <p:spPr>
          <a:xfrm>
            <a:off x="658368" y="1600200"/>
            <a:ext cx="5312664" cy="292608"/>
          </a:xfrm>
          <a:prstGeom prst="rect">
            <a:avLst/>
          </a:prstGeom>
          <a:noFill/>
        </p:spPr>
        <p:txBody>
          <a:bodyPr wrap="square" lIns="27432" tIns="27432" rIns="27432" bIns="27432" anchor="t">
            <a:spAutoFit/>
          </a:bodyPr>
          <a:lstStyle/>
          <a:p>
            <a:pPr algn="l">
              <a:spcAft>
                <a:spcPts val="0"/>
              </a:spcAft>
            </a:pPr>
            <a:r>
              <a:rPr lang="en-GB" sz="1300" b="1">
                <a:solidFill>
                  <a:srgbClr val="E60012"/>
                </a:solidFill>
              </a:rPr>
              <a:t>CERTIFICATE</a:t>
            </a:r>
          </a:p>
        </p:txBody>
      </p:sp>
      <p:cxnSp>
        <p:nvCxnSpPr>
          <p:cNvPr id="11" name="Connector 10"/>
          <p:cNvCxnSpPr/>
          <p:nvPr/>
        </p:nvCxnSpPr>
        <p:spPr>
          <a:xfrm>
            <a:off x="658368" y="1984248"/>
            <a:ext cx="5312664" cy="0"/>
          </a:xfrm>
          <a:prstGeom prst="line">
            <a:avLst/>
          </a:prstGeom>
          <a:ln w="22860">
            <a:solidFill>
              <a:srgbClr val="E60012"/>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658368" y="2176272"/>
            <a:ext cx="5312664" cy="3337560"/>
          </a:xfrm>
          <a:prstGeom prst="rect">
            <a:avLst/>
          </a:prstGeom>
          <a:noFill/>
        </p:spPr>
        <p:txBody>
          <a:bodyPr wrap="square" lIns="109728" tIns="73152" rIns="109728" bIns="73152" anchor="t">
            <a:spAutoFit/>
          </a:bodyPr>
          <a:lstStyle/>
          <a:p>
            <a:pPr algn="l">
              <a:lnSpc>
                <a:spcPct val="105000"/>
              </a:lnSpc>
              <a:spcAft>
                <a:spcPts val="800"/>
              </a:spcAft>
              <a:defRPr sz="1600">
                <a:solidFill>
                  <a:srgbClr val="1E2B40"/>
                </a:solidFill>
              </a:defRPr>
            </a:pPr>
            <a:r>
              <a:rPr lang="en-GB"/>
              <a:t>• Handshake metadata</a:t>
            </a:r>
          </a:p>
          <a:p>
            <a:pPr>
              <a:lnSpc>
                <a:spcPct val="105000"/>
              </a:lnSpc>
              <a:spcAft>
                <a:spcPts val="800"/>
              </a:spcAft>
              <a:defRPr sz="1600">
                <a:solidFill>
                  <a:srgbClr val="1E2B40"/>
                </a:solidFill>
              </a:defRPr>
            </a:pPr>
            <a:r>
              <a:rPr lang="en-GB"/>
              <a:t>• No payload decryption</a:t>
            </a:r>
          </a:p>
          <a:p>
            <a:pPr>
              <a:lnSpc>
                <a:spcPct val="105000"/>
              </a:lnSpc>
              <a:spcAft>
                <a:spcPts val="800"/>
              </a:spcAft>
              <a:defRPr sz="1600">
                <a:solidFill>
                  <a:srgbClr val="1E2B40"/>
                </a:solidFill>
              </a:defRPr>
            </a:pPr>
            <a:r>
              <a:rPr lang="en-GB"/>
              <a:t>• Lower endpoint impact</a:t>
            </a:r>
          </a:p>
        </p:txBody>
      </p:sp>
      <p:sp>
        <p:nvSpPr>
          <p:cNvPr id="13" name="TextBox 12"/>
          <p:cNvSpPr txBox="1">
            <a:spLocks/>
          </p:cNvSpPr>
          <p:nvPr/>
        </p:nvSpPr>
        <p:spPr>
          <a:xfrm>
            <a:off x="6227064" y="1600200"/>
            <a:ext cx="5312664" cy="292608"/>
          </a:xfrm>
          <a:prstGeom prst="rect">
            <a:avLst/>
          </a:prstGeom>
          <a:noFill/>
        </p:spPr>
        <p:txBody>
          <a:bodyPr wrap="square" lIns="27432" tIns="27432" rIns="27432" bIns="27432" anchor="t">
            <a:spAutoFit/>
          </a:bodyPr>
          <a:lstStyle/>
          <a:p>
            <a:pPr algn="l">
              <a:spcAft>
                <a:spcPts val="0"/>
              </a:spcAft>
            </a:pPr>
            <a:r>
              <a:rPr lang="en-GB" sz="1300" b="1">
                <a:solidFill>
                  <a:srgbClr val="E60012"/>
                </a:solidFill>
              </a:rPr>
              <a:t>DEEP</a:t>
            </a:r>
          </a:p>
        </p:txBody>
      </p:sp>
      <p:cxnSp>
        <p:nvCxnSpPr>
          <p:cNvPr id="14" name="Connector 13"/>
          <p:cNvCxnSpPr/>
          <p:nvPr/>
        </p:nvCxnSpPr>
        <p:spPr>
          <a:xfrm>
            <a:off x="6227064" y="1984248"/>
            <a:ext cx="5312664" cy="0"/>
          </a:xfrm>
          <a:prstGeom prst="line">
            <a:avLst/>
          </a:prstGeom>
          <a:ln w="22860">
            <a:solidFill>
              <a:srgbClr val="E60012"/>
            </a:solidFill>
          </a:ln>
        </p:spPr>
        <p:style>
          <a:lnRef idx="2">
            <a:schemeClr val="accent1"/>
          </a:lnRef>
          <a:fillRef idx="0">
            <a:schemeClr val="accent1"/>
          </a:fillRef>
          <a:effectRef idx="1">
            <a:schemeClr val="accent1"/>
          </a:effectRef>
          <a:fontRef idx="minor">
            <a:schemeClr val="tx1"/>
          </a:fontRef>
        </p:style>
      </p:cxnSp>
      <p:sp>
        <p:nvSpPr>
          <p:cNvPr id="15" name="TextBox 14"/>
          <p:cNvSpPr txBox="1">
            <a:spLocks/>
          </p:cNvSpPr>
          <p:nvPr/>
        </p:nvSpPr>
        <p:spPr>
          <a:xfrm>
            <a:off x="6227064" y="2176272"/>
            <a:ext cx="5312664" cy="3337560"/>
          </a:xfrm>
          <a:prstGeom prst="rect">
            <a:avLst/>
          </a:prstGeom>
          <a:noFill/>
        </p:spPr>
        <p:txBody>
          <a:bodyPr wrap="square" lIns="109728" tIns="73152" rIns="109728" bIns="73152" anchor="t">
            <a:spAutoFit/>
          </a:bodyPr>
          <a:lstStyle/>
          <a:p>
            <a:pPr algn="l">
              <a:lnSpc>
                <a:spcPct val="105000"/>
              </a:lnSpc>
              <a:spcAft>
                <a:spcPts val="800"/>
              </a:spcAft>
              <a:defRPr sz="1600">
                <a:solidFill>
                  <a:srgbClr val="1E2B40"/>
                </a:solidFill>
              </a:defRPr>
            </a:pPr>
            <a:r>
              <a:rPr lang="en-GB"/>
              <a:t>• Payload visible to profiles</a:t>
            </a:r>
          </a:p>
          <a:p>
            <a:pPr>
              <a:lnSpc>
                <a:spcPct val="105000"/>
              </a:lnSpc>
              <a:spcAft>
                <a:spcPts val="800"/>
              </a:spcAft>
              <a:defRPr sz="1600">
                <a:solidFill>
                  <a:srgbClr val="1E2B40"/>
                </a:solidFill>
              </a:defRPr>
            </a:pPr>
            <a:r>
              <a:rPr lang="en-GB"/>
              <a:t>• Inspection CA required</a:t>
            </a:r>
          </a:p>
          <a:p>
            <a:pPr>
              <a:lnSpc>
                <a:spcPct val="105000"/>
              </a:lnSpc>
              <a:spcAft>
                <a:spcPts val="800"/>
              </a:spcAft>
              <a:defRPr sz="1600">
                <a:solidFill>
                  <a:srgbClr val="1E2B40"/>
                </a:solidFill>
              </a:defRPr>
            </a:pPr>
            <a:r>
              <a:rPr lang="en-GB"/>
              <a:t>• Compatibility/performance impact</a:t>
            </a:r>
          </a:p>
        </p:txBody>
      </p:sp>
      <p:sp>
        <p:nvSpPr>
          <p:cNvPr id="16" name="TextBox 15"/>
          <p:cNvSpPr txBox="1">
            <a:spLocks/>
          </p:cNvSpPr>
          <p:nvPr/>
        </p:nvSpPr>
        <p:spPr>
          <a:xfrm>
            <a:off x="658368" y="5724144"/>
            <a:ext cx="1234440" cy="224677"/>
          </a:xfrm>
          <a:prstGeom prst="rect">
            <a:avLst/>
          </a:prstGeom>
          <a:noFill/>
        </p:spPr>
        <p:txBody>
          <a:bodyPr wrap="square" lIns="27432" tIns="27432" rIns="27432" bIns="27432" anchor="t">
            <a:spAutoFit/>
          </a:bodyPr>
          <a:lstStyle/>
          <a:p>
            <a:pPr algn="l">
              <a:spcAft>
                <a:spcPts val="0"/>
              </a:spcAft>
            </a:pPr>
            <a:r>
              <a:rPr lang="en-GB" sz="1100" b="1">
                <a:solidFill>
                  <a:srgbClr val="233A59"/>
                </a:solidFill>
              </a:rPr>
              <a:t>KEY DISTINCTION</a:t>
            </a:r>
          </a:p>
        </p:txBody>
      </p:sp>
      <p:sp>
        <p:nvSpPr>
          <p:cNvPr id="17" name="TextBox 16"/>
          <p:cNvSpPr txBox="1">
            <a:spLocks/>
          </p:cNvSpPr>
          <p:nvPr/>
        </p:nvSpPr>
        <p:spPr>
          <a:xfrm>
            <a:off x="1920240" y="5687568"/>
            <a:ext cx="9235440" cy="329184"/>
          </a:xfrm>
          <a:prstGeom prst="rect">
            <a:avLst/>
          </a:prstGeom>
          <a:noFill/>
        </p:spPr>
        <p:txBody>
          <a:bodyPr wrap="square" lIns="27432" tIns="27432" rIns="27432" bIns="27432" anchor="t">
            <a:spAutoFit/>
          </a:bodyPr>
          <a:lstStyle/>
          <a:p>
            <a:pPr algn="l">
              <a:spcAft>
                <a:spcPts val="0"/>
              </a:spcAft>
            </a:pPr>
            <a:r>
              <a:rPr lang="en-GB" sz="1400" b="1">
                <a:solidFill>
                  <a:srgbClr val="233A59"/>
                </a:solidFill>
              </a:rPr>
              <a:t>Certificate inspection can categorize based on visible data; deep inspection enables content scanning</a:t>
            </a:r>
          </a:p>
        </p:txBody>
      </p:sp>
      <p:sp>
        <p:nvSpPr>
          <p:cNvPr id="18" name="TextBox 17"/>
          <p:cNvSpPr txBox="1">
            <a:spLocks/>
          </p:cNvSpPr>
          <p:nvPr/>
        </p:nvSpPr>
        <p:spPr>
          <a:xfrm>
            <a:off x="502920" y="420624"/>
            <a:ext cx="10744200" cy="130805"/>
          </a:xfrm>
          <a:prstGeom prst="rect">
            <a:avLst/>
          </a:prstGeom>
          <a:noFill/>
        </p:spPr>
        <p:txBody>
          <a:bodyPr wrap="square" lIns="0" tIns="0" rIns="0" bIns="0">
            <a:spAutoFit/>
          </a:bodyPr>
          <a:lstStyle/>
          <a:p>
            <a:pPr algn="l"/>
            <a:r>
              <a:rPr lang="en-GB" sz="850" b="1">
                <a:solidFill>
                  <a:srgbClr val="687385"/>
                </a:solidFill>
              </a:rPr>
              <a:t>071 • DAY 2 • BLOCK 07 • Security Services &amp; SSL Inspection</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p:nvPr/>
        </p:nvSpPr>
        <p:spPr>
          <a:xfrm>
            <a:off x="502920" y="411480"/>
            <a:ext cx="548640" cy="189283"/>
          </a:xfrm>
          <a:prstGeom prst="rect">
            <a:avLst/>
          </a:prstGeom>
          <a:noFill/>
        </p:spPr>
        <p:txBody>
          <a:bodyPr wrap="square" lIns="36576" tIns="36576" rIns="36576" bIns="36576" anchor="t">
            <a:spAutoFit/>
          </a:bodyPr>
          <a:lstStyle/>
          <a:p>
            <a:pPr algn="l">
              <a:spcAft>
                <a:spcPts val="0"/>
              </a:spcAft>
            </a:pPr>
            <a:r>
              <a:rPr lang="en-HU" sz="750" b="1">
                <a:solidFill>
                  <a:srgbClr val="687385"/>
                </a:solidFill>
              </a:rPr>
              <a:t>072</a:t>
            </a:r>
            <a:endParaRPr sz="750" b="1">
              <a:solidFill>
                <a:srgbClr val="687385"/>
              </a:solidFill>
            </a:endParaRPr>
          </a:p>
        </p:txBody>
      </p:sp>
      <p:sp>
        <p:nvSpPr>
          <p:cNvPr id="4" name="TextBox 3"/>
          <p:cNvSpPr txBox="1"/>
          <p:nvPr/>
        </p:nvSpPr>
        <p:spPr>
          <a:xfrm>
            <a:off x="502920" y="621792"/>
            <a:ext cx="11109960" cy="548640"/>
          </a:xfrm>
          <a:prstGeom prst="rect">
            <a:avLst/>
          </a:prstGeom>
          <a:noFill/>
        </p:spPr>
        <p:txBody>
          <a:bodyPr wrap="square" lIns="36576" tIns="36576" rIns="36576" bIns="36576" anchor="t">
            <a:spAutoFit/>
          </a:bodyPr>
          <a:lstStyle/>
          <a:p>
            <a:pPr algn="l">
              <a:spcAft>
                <a:spcPts val="0"/>
              </a:spcAft>
            </a:pPr>
            <a:r>
              <a:rPr sz="2600" b="1">
                <a:solidFill>
                  <a:srgbClr val="1E2B40"/>
                </a:solidFill>
              </a:rPr>
              <a:t>Deep inspection creates two TLS connections</a:t>
            </a:r>
          </a:p>
        </p:txBody>
      </p:sp>
      <p:sp>
        <p:nvSpPr>
          <p:cNvPr id="5" name="TextBox 4"/>
          <p:cNvSpPr txBox="1"/>
          <p:nvPr/>
        </p:nvSpPr>
        <p:spPr>
          <a:xfrm>
            <a:off x="521207" y="1143000"/>
            <a:ext cx="10789920" cy="274320"/>
          </a:xfrm>
          <a:prstGeom prst="rect">
            <a:avLst/>
          </a:prstGeom>
          <a:noFill/>
        </p:spPr>
        <p:txBody>
          <a:bodyPr wrap="square" lIns="36576" tIns="36576" rIns="36576" bIns="36576" anchor="t">
            <a:spAutoFit/>
          </a:bodyPr>
          <a:lstStyle/>
          <a:p>
            <a:pPr algn="l">
              <a:spcAft>
                <a:spcPts val="0"/>
              </a:spcAft>
            </a:pPr>
            <a:r>
              <a:rPr sz="1100" b="0">
                <a:solidFill>
                  <a:srgbClr val="687385"/>
                </a:solidFill>
              </a:rPr>
              <a:t>Certificate inspection reads handshake metadata but does not decrypt the application payload</a:t>
            </a:r>
          </a:p>
        </p:txBody>
      </p:sp>
      <p:cxnSp>
        <p:nvCxnSpPr>
          <p:cNvPr id="6" name="Connector 5"/>
          <p:cNvCxnSpPr/>
          <p:nvPr/>
        </p:nvCxnSpPr>
        <p:spPr>
          <a:xfrm>
            <a:off x="502920" y="6473952"/>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7" name="TextBox 6"/>
          <p:cNvSpPr txBox="1">
            <a:spLocks/>
          </p:cNvSpPr>
          <p:nvPr/>
        </p:nvSpPr>
        <p:spPr>
          <a:xfrm>
            <a:off x="11109960" y="6537960"/>
            <a:ext cx="502920" cy="189283"/>
          </a:xfrm>
          <a:prstGeom prst="rect">
            <a:avLst/>
          </a:prstGeom>
          <a:noFill/>
        </p:spPr>
        <p:txBody>
          <a:bodyPr wrap="square" lIns="36576" tIns="36576" rIns="36576" bIns="36576" anchor="t">
            <a:spAutoFit/>
          </a:bodyPr>
          <a:lstStyle/>
          <a:p>
            <a:pPr algn="r">
              <a:spcAft>
                <a:spcPts val="0"/>
              </a:spcAft>
            </a:pPr>
            <a:r>
              <a:rPr lang="en-HU" sz="750" b="0">
                <a:solidFill>
                  <a:srgbClr val="687385"/>
                </a:solidFill>
              </a:rPr>
              <a:t>72</a:t>
            </a:r>
          </a:p>
        </p:txBody>
      </p:sp>
      <p:sp>
        <p:nvSpPr>
          <p:cNvPr id="8" name="Rectangle 7"/>
          <p:cNvSpPr>
            <a:spLocks/>
          </p:cNvSpPr>
          <p:nvPr/>
        </p:nvSpPr>
        <p:spPr>
          <a:xfrm>
            <a:off x="548640" y="1874519"/>
            <a:ext cx="2011680" cy="9144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9" name="TextBox 8"/>
          <p:cNvSpPr txBox="1">
            <a:spLocks/>
          </p:cNvSpPr>
          <p:nvPr/>
        </p:nvSpPr>
        <p:spPr>
          <a:xfrm>
            <a:off x="621792" y="1993391"/>
            <a:ext cx="1865376" cy="304699"/>
          </a:xfrm>
          <a:prstGeom prst="rect">
            <a:avLst/>
          </a:prstGeom>
          <a:noFill/>
        </p:spPr>
        <p:txBody>
          <a:bodyPr wrap="square" lIns="36576" tIns="36576" rIns="36576" bIns="36576" anchor="t">
            <a:spAutoFit/>
          </a:bodyPr>
          <a:lstStyle/>
          <a:p>
            <a:pPr algn="ctr">
              <a:spcAft>
                <a:spcPts val="0"/>
              </a:spcAft>
            </a:pPr>
            <a:r>
              <a:rPr lang="en-GB" sz="1500" b="1">
                <a:solidFill>
                  <a:srgbClr val="FFFFFF"/>
                </a:solidFill>
              </a:rPr>
              <a:t>CLIENT</a:t>
            </a:r>
          </a:p>
        </p:txBody>
      </p:sp>
      <p:sp>
        <p:nvSpPr>
          <p:cNvPr id="10" name="TextBox 9"/>
          <p:cNvSpPr txBox="1">
            <a:spLocks/>
          </p:cNvSpPr>
          <p:nvPr/>
        </p:nvSpPr>
        <p:spPr>
          <a:xfrm>
            <a:off x="621792" y="2350008"/>
            <a:ext cx="1865376" cy="310896"/>
          </a:xfrm>
          <a:prstGeom prst="rect">
            <a:avLst/>
          </a:prstGeom>
          <a:noFill/>
        </p:spPr>
        <p:txBody>
          <a:bodyPr wrap="square" lIns="36576" tIns="36576" rIns="36576" bIns="36576" anchor="t">
            <a:spAutoFit/>
          </a:bodyPr>
          <a:lstStyle/>
          <a:p>
            <a:pPr algn="ctr">
              <a:spcAft>
                <a:spcPts val="0"/>
              </a:spcAft>
            </a:pPr>
            <a:r>
              <a:rPr lang="en-GB" sz="1000" b="0">
                <a:solidFill>
                  <a:srgbClr val="D8E0EA"/>
                </a:solidFill>
              </a:rPr>
              <a:t>trusts Inspection CA</a:t>
            </a:r>
          </a:p>
        </p:txBody>
      </p:sp>
      <p:sp>
        <p:nvSpPr>
          <p:cNvPr id="11" name="Right Arrow 10"/>
          <p:cNvSpPr>
            <a:spLocks/>
          </p:cNvSpPr>
          <p:nvPr/>
        </p:nvSpPr>
        <p:spPr>
          <a:xfrm>
            <a:off x="2606040" y="2221992"/>
            <a:ext cx="1097280" cy="201168"/>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2" name="TextBox 11"/>
          <p:cNvSpPr txBox="1">
            <a:spLocks/>
          </p:cNvSpPr>
          <p:nvPr/>
        </p:nvSpPr>
        <p:spPr>
          <a:xfrm>
            <a:off x="2606040" y="1965960"/>
            <a:ext cx="1097280" cy="212366"/>
          </a:xfrm>
          <a:prstGeom prst="rect">
            <a:avLst/>
          </a:prstGeom>
          <a:noFill/>
        </p:spPr>
        <p:txBody>
          <a:bodyPr wrap="square" lIns="36576" tIns="36576" rIns="36576" bIns="36576" anchor="t">
            <a:spAutoFit/>
          </a:bodyPr>
          <a:lstStyle/>
          <a:p>
            <a:pPr algn="ctr">
              <a:spcAft>
                <a:spcPts val="0"/>
              </a:spcAft>
            </a:pPr>
            <a:r>
              <a:rPr lang="en-GB" sz="900" b="1">
                <a:solidFill>
                  <a:srgbClr val="687385"/>
                </a:solidFill>
              </a:rPr>
              <a:t>TLS #1</a:t>
            </a:r>
          </a:p>
        </p:txBody>
      </p:sp>
      <p:sp>
        <p:nvSpPr>
          <p:cNvPr id="13" name="Rectangle 12"/>
          <p:cNvSpPr/>
          <p:nvPr/>
        </p:nvSpPr>
        <p:spPr>
          <a:xfrm>
            <a:off x="3749039" y="1691640"/>
            <a:ext cx="2423160" cy="128016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a:spLocks/>
          </p:cNvSpPr>
          <p:nvPr/>
        </p:nvSpPr>
        <p:spPr>
          <a:xfrm>
            <a:off x="3822191" y="1810512"/>
            <a:ext cx="2276856" cy="274320"/>
          </a:xfrm>
          <a:prstGeom prst="rect">
            <a:avLst/>
          </a:prstGeom>
          <a:noFill/>
        </p:spPr>
        <p:txBody>
          <a:bodyPr wrap="square" lIns="36576" tIns="36576" rIns="36576" bIns="36576" anchor="t">
            <a:spAutoFit/>
          </a:bodyPr>
          <a:lstStyle/>
          <a:p>
            <a:pPr algn="ctr">
              <a:spcAft>
                <a:spcPts val="0"/>
              </a:spcAft>
            </a:pPr>
            <a:r>
              <a:rPr lang="en-GB" sz="1500" b="1">
                <a:solidFill>
                  <a:srgbClr val="FFFFFF"/>
                </a:solidFill>
              </a:rPr>
              <a:t>FORTIGATE</a:t>
            </a:r>
          </a:p>
        </p:txBody>
      </p:sp>
      <p:sp>
        <p:nvSpPr>
          <p:cNvPr id="15" name="TextBox 14"/>
          <p:cNvSpPr txBox="1">
            <a:spLocks/>
          </p:cNvSpPr>
          <p:nvPr/>
        </p:nvSpPr>
        <p:spPr>
          <a:xfrm>
            <a:off x="3822191" y="2167128"/>
            <a:ext cx="2276856" cy="227755"/>
          </a:xfrm>
          <a:prstGeom prst="rect">
            <a:avLst/>
          </a:prstGeom>
          <a:noFill/>
        </p:spPr>
        <p:txBody>
          <a:bodyPr wrap="square" lIns="36576" tIns="36576" rIns="36576" bIns="36576" anchor="t">
            <a:spAutoFit/>
          </a:bodyPr>
          <a:lstStyle/>
          <a:p>
            <a:pPr algn="ctr">
              <a:spcAft>
                <a:spcPts val="0"/>
              </a:spcAft>
            </a:pPr>
            <a:r>
              <a:rPr lang="en-GB" sz="1000" b="0">
                <a:solidFill>
                  <a:srgbClr val="D8E0EA"/>
                </a:solidFill>
              </a:rPr>
              <a:t>decrypt • inspect • re-encrypt</a:t>
            </a:r>
          </a:p>
        </p:txBody>
      </p:sp>
      <p:sp>
        <p:nvSpPr>
          <p:cNvPr id="16" name="Right Arrow 15"/>
          <p:cNvSpPr>
            <a:spLocks/>
          </p:cNvSpPr>
          <p:nvPr/>
        </p:nvSpPr>
        <p:spPr>
          <a:xfrm>
            <a:off x="6217920" y="2221992"/>
            <a:ext cx="1097280" cy="201168"/>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7" name="TextBox 16"/>
          <p:cNvSpPr txBox="1"/>
          <p:nvPr/>
        </p:nvSpPr>
        <p:spPr>
          <a:xfrm>
            <a:off x="6217920" y="1965960"/>
            <a:ext cx="1097280" cy="228600"/>
          </a:xfrm>
          <a:prstGeom prst="rect">
            <a:avLst/>
          </a:prstGeom>
          <a:noFill/>
        </p:spPr>
        <p:txBody>
          <a:bodyPr wrap="square" lIns="36576" tIns="36576" rIns="36576" bIns="36576" anchor="t">
            <a:spAutoFit/>
          </a:bodyPr>
          <a:lstStyle/>
          <a:p>
            <a:pPr algn="ctr">
              <a:spcAft>
                <a:spcPts val="0"/>
              </a:spcAft>
            </a:pPr>
            <a:r>
              <a:rPr sz="900" b="1">
                <a:solidFill>
                  <a:srgbClr val="687385"/>
                </a:solidFill>
              </a:rPr>
              <a:t>TLS #2</a:t>
            </a:r>
          </a:p>
        </p:txBody>
      </p:sp>
      <p:sp>
        <p:nvSpPr>
          <p:cNvPr id="18" name="Rectangle 17"/>
          <p:cNvSpPr/>
          <p:nvPr/>
        </p:nvSpPr>
        <p:spPr>
          <a:xfrm>
            <a:off x="7360920" y="1874519"/>
            <a:ext cx="2011680" cy="9144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9" name="TextBox 18"/>
          <p:cNvSpPr txBox="1">
            <a:spLocks/>
          </p:cNvSpPr>
          <p:nvPr/>
        </p:nvSpPr>
        <p:spPr>
          <a:xfrm>
            <a:off x="7434072" y="1993391"/>
            <a:ext cx="1865376" cy="304699"/>
          </a:xfrm>
          <a:prstGeom prst="rect">
            <a:avLst/>
          </a:prstGeom>
          <a:noFill/>
        </p:spPr>
        <p:txBody>
          <a:bodyPr wrap="square" lIns="36576" tIns="36576" rIns="36576" bIns="36576" anchor="t">
            <a:spAutoFit/>
          </a:bodyPr>
          <a:lstStyle/>
          <a:p>
            <a:pPr algn="ctr">
              <a:spcAft>
                <a:spcPts val="0"/>
              </a:spcAft>
            </a:pPr>
            <a:r>
              <a:rPr lang="en-GB" sz="1500" b="1">
                <a:solidFill>
                  <a:srgbClr val="FFFFFF"/>
                </a:solidFill>
              </a:rPr>
              <a:t>SERVER</a:t>
            </a:r>
          </a:p>
        </p:txBody>
      </p:sp>
      <p:sp>
        <p:nvSpPr>
          <p:cNvPr id="20" name="TextBox 19"/>
          <p:cNvSpPr txBox="1">
            <a:spLocks/>
          </p:cNvSpPr>
          <p:nvPr/>
        </p:nvSpPr>
        <p:spPr>
          <a:xfrm>
            <a:off x="7434072" y="2350008"/>
            <a:ext cx="1865376" cy="227755"/>
          </a:xfrm>
          <a:prstGeom prst="rect">
            <a:avLst/>
          </a:prstGeom>
          <a:noFill/>
        </p:spPr>
        <p:txBody>
          <a:bodyPr wrap="square" lIns="36576" tIns="36576" rIns="36576" bIns="36576" anchor="t">
            <a:spAutoFit/>
          </a:bodyPr>
          <a:lstStyle/>
          <a:p>
            <a:pPr algn="ctr">
              <a:spcAft>
                <a:spcPts val="0"/>
              </a:spcAft>
            </a:pPr>
            <a:r>
              <a:rPr lang="en-GB" sz="1000" b="0">
                <a:solidFill>
                  <a:srgbClr val="D8E0EA"/>
                </a:solidFill>
              </a:rPr>
              <a:t>original certificate</a:t>
            </a:r>
          </a:p>
        </p:txBody>
      </p:sp>
      <p:sp>
        <p:nvSpPr>
          <p:cNvPr id="21" name="TextBox 20"/>
          <p:cNvSpPr txBox="1"/>
          <p:nvPr/>
        </p:nvSpPr>
        <p:spPr>
          <a:xfrm>
            <a:off x="685800" y="3429000"/>
            <a:ext cx="2743200" cy="228600"/>
          </a:xfrm>
          <a:prstGeom prst="rect">
            <a:avLst/>
          </a:prstGeom>
          <a:noFill/>
        </p:spPr>
        <p:txBody>
          <a:bodyPr wrap="square" lIns="36576" tIns="36576" rIns="36576" bIns="36576" anchor="t">
            <a:spAutoFit/>
          </a:bodyPr>
          <a:lstStyle/>
          <a:p>
            <a:pPr algn="l">
              <a:spcAft>
                <a:spcPts val="0"/>
              </a:spcAft>
            </a:pPr>
            <a:r>
              <a:rPr sz="1100" b="1">
                <a:solidFill>
                  <a:srgbClr val="E60012"/>
                </a:solidFill>
              </a:rPr>
              <a:t>Certificate presented to client</a:t>
            </a:r>
          </a:p>
        </p:txBody>
      </p:sp>
      <p:sp>
        <p:nvSpPr>
          <p:cNvPr id="22" name="TextBox 21"/>
          <p:cNvSpPr txBox="1">
            <a:spLocks/>
          </p:cNvSpPr>
          <p:nvPr/>
        </p:nvSpPr>
        <p:spPr>
          <a:xfrm>
            <a:off x="685800" y="3730752"/>
            <a:ext cx="3886200" cy="713232"/>
          </a:xfrm>
          <a:prstGeom prst="rect">
            <a:avLst/>
          </a:prstGeom>
          <a:noFill/>
        </p:spPr>
        <p:txBody>
          <a:bodyPr wrap="square" lIns="36576" tIns="36576" rIns="36576" bIns="36576" anchor="t">
            <a:spAutoFit/>
          </a:bodyPr>
          <a:lstStyle/>
          <a:p>
            <a:pPr algn="l">
              <a:spcAft>
                <a:spcPts val="0"/>
              </a:spcAft>
            </a:pPr>
            <a:r>
              <a:rPr lang="en-GB" sz="1500" b="1">
                <a:solidFill>
                  <a:srgbClr val="233A59"/>
                </a:solidFill>
              </a:rPr>
              <a:t>Replacement certificate for server name
signed by the FortiGate Inspection CA</a:t>
            </a:r>
          </a:p>
        </p:txBody>
      </p:sp>
      <p:sp>
        <p:nvSpPr>
          <p:cNvPr id="23" name="TextBox 22"/>
          <p:cNvSpPr txBox="1"/>
          <p:nvPr/>
        </p:nvSpPr>
        <p:spPr>
          <a:xfrm>
            <a:off x="6629400" y="3429000"/>
            <a:ext cx="2926080" cy="243143"/>
          </a:xfrm>
          <a:prstGeom prst="rect">
            <a:avLst/>
          </a:prstGeom>
          <a:noFill/>
        </p:spPr>
        <p:txBody>
          <a:bodyPr wrap="square" lIns="36576" tIns="36576" rIns="36576" bIns="36576" anchor="t">
            <a:spAutoFit/>
          </a:bodyPr>
          <a:lstStyle/>
          <a:p>
            <a:pPr algn="l">
              <a:spcAft>
                <a:spcPts val="0"/>
              </a:spcAft>
            </a:pPr>
            <a:r>
              <a:rPr lang="en-GB" sz="1100" b="1">
                <a:solidFill>
                  <a:srgbClr val="E60012"/>
                </a:solidFill>
              </a:rPr>
              <a:t>Certificate received from server</a:t>
            </a:r>
            <a:endParaRPr sz="1100" b="1">
              <a:solidFill>
                <a:srgbClr val="E60012"/>
              </a:solidFill>
            </a:endParaRPr>
          </a:p>
        </p:txBody>
      </p:sp>
      <p:sp>
        <p:nvSpPr>
          <p:cNvPr id="24" name="TextBox 23"/>
          <p:cNvSpPr txBox="1"/>
          <p:nvPr/>
        </p:nvSpPr>
        <p:spPr>
          <a:xfrm>
            <a:off x="6629400" y="3730752"/>
            <a:ext cx="3246120" cy="535531"/>
          </a:xfrm>
          <a:prstGeom prst="rect">
            <a:avLst/>
          </a:prstGeom>
          <a:noFill/>
        </p:spPr>
        <p:txBody>
          <a:bodyPr wrap="square" lIns="36576" tIns="36576" rIns="36576" bIns="36576" anchor="t">
            <a:spAutoFit/>
          </a:bodyPr>
          <a:lstStyle/>
          <a:p>
            <a:pPr algn="l">
              <a:spcAft>
                <a:spcPts val="0"/>
              </a:spcAft>
            </a:pPr>
            <a:r>
              <a:rPr lang="en-GB" sz="1500" b="1">
                <a:solidFill>
                  <a:srgbClr val="233A59"/>
                </a:solidFill>
              </a:rPr>
              <a:t>Original server certificate
validated by FortiGate</a:t>
            </a:r>
          </a:p>
        </p:txBody>
      </p:sp>
      <p:sp>
        <p:nvSpPr>
          <p:cNvPr id="25" name="TextBox 24"/>
          <p:cNvSpPr txBox="1"/>
          <p:nvPr/>
        </p:nvSpPr>
        <p:spPr>
          <a:xfrm>
            <a:off x="9829800" y="1600200"/>
            <a:ext cx="1691640" cy="228600"/>
          </a:xfrm>
          <a:prstGeom prst="rect">
            <a:avLst/>
          </a:prstGeom>
          <a:noFill/>
        </p:spPr>
        <p:txBody>
          <a:bodyPr wrap="square" lIns="36576" tIns="36576" rIns="36576" bIns="36576" anchor="t">
            <a:spAutoFit/>
          </a:bodyPr>
          <a:lstStyle/>
          <a:p>
            <a:pPr algn="ctr">
              <a:spcAft>
                <a:spcPts val="0"/>
              </a:spcAft>
            </a:pPr>
            <a:r>
              <a:rPr sz="1000" b="1">
                <a:solidFill>
                  <a:srgbClr val="E60012"/>
                </a:solidFill>
              </a:rPr>
              <a:t>CERTIFICATE INSPECTION</a:t>
            </a:r>
          </a:p>
        </p:txBody>
      </p:sp>
      <p:sp>
        <p:nvSpPr>
          <p:cNvPr id="26" name="TextBox 25"/>
          <p:cNvSpPr txBox="1">
            <a:spLocks/>
          </p:cNvSpPr>
          <p:nvPr/>
        </p:nvSpPr>
        <p:spPr>
          <a:xfrm>
            <a:off x="9738360" y="1965960"/>
            <a:ext cx="1828800" cy="1280160"/>
          </a:xfrm>
          <a:prstGeom prst="rect">
            <a:avLst/>
          </a:prstGeom>
          <a:noFill/>
        </p:spPr>
        <p:txBody>
          <a:bodyPr wrap="square" lIns="36576" tIns="36576" rIns="36576" bIns="36576" anchor="t">
            <a:spAutoFit/>
          </a:bodyPr>
          <a:lstStyle/>
          <a:p>
            <a:pPr algn="l">
              <a:spcAft>
                <a:spcPts val="400"/>
              </a:spcAft>
              <a:defRPr sz="1200">
                <a:solidFill>
                  <a:srgbClr val="1E2B40"/>
                </a:solidFill>
              </a:defRPr>
            </a:pPr>
            <a:r>
              <a:rPr lang="en-GB"/>
              <a:t>• No payload decryption</a:t>
            </a:r>
          </a:p>
          <a:p>
            <a:pPr>
              <a:spcAft>
                <a:spcPts val="400"/>
              </a:spcAft>
              <a:defRPr sz="1200">
                <a:solidFill>
                  <a:srgbClr val="1E2B40"/>
                </a:solidFill>
              </a:defRPr>
            </a:pPr>
            <a:r>
              <a:rPr lang="en-GB"/>
              <a:t>• Reads visible TLS metadata</a:t>
            </a:r>
          </a:p>
          <a:p>
            <a:pPr>
              <a:spcAft>
                <a:spcPts val="400"/>
              </a:spcAft>
              <a:defRPr sz="1200">
                <a:solidFill>
                  <a:srgbClr val="1E2B40"/>
                </a:solidFill>
              </a:defRPr>
            </a:pPr>
            <a:r>
              <a:rPr lang="en-GB"/>
              <a:t>• Cannot scan encrypted content</a:t>
            </a:r>
          </a:p>
        </p:txBody>
      </p:sp>
      <p:sp>
        <p:nvSpPr>
          <p:cNvPr id="27" name="TextBox 26"/>
          <p:cNvSpPr txBox="1"/>
          <p:nvPr/>
        </p:nvSpPr>
        <p:spPr>
          <a:xfrm>
            <a:off x="658368" y="5833872"/>
            <a:ext cx="731520" cy="227755"/>
          </a:xfrm>
          <a:prstGeom prst="rect">
            <a:avLst/>
          </a:prstGeom>
          <a:noFill/>
        </p:spPr>
        <p:txBody>
          <a:bodyPr wrap="square" lIns="36576" tIns="36576" rIns="36576" bIns="36576" anchor="t">
            <a:spAutoFit/>
          </a:bodyPr>
          <a:lstStyle/>
          <a:p>
            <a:pPr algn="l">
              <a:spcAft>
                <a:spcPts val="0"/>
              </a:spcAft>
            </a:pPr>
            <a:r>
              <a:rPr lang="en-GB" sz="1000" b="1">
                <a:solidFill>
                  <a:srgbClr val="E60012"/>
                </a:solidFill>
              </a:rPr>
              <a:t>LESSON</a:t>
            </a:r>
          </a:p>
        </p:txBody>
      </p:sp>
      <p:sp>
        <p:nvSpPr>
          <p:cNvPr id="28" name="TextBox 27"/>
          <p:cNvSpPr txBox="1"/>
          <p:nvPr/>
        </p:nvSpPr>
        <p:spPr>
          <a:xfrm>
            <a:off x="1417320" y="5769864"/>
            <a:ext cx="9875520" cy="273921"/>
          </a:xfrm>
          <a:prstGeom prst="rect">
            <a:avLst/>
          </a:prstGeom>
          <a:noFill/>
        </p:spPr>
        <p:txBody>
          <a:bodyPr wrap="square" lIns="36576" tIns="36576" rIns="36576" bIns="36576" anchor="t">
            <a:spAutoFit/>
          </a:bodyPr>
          <a:lstStyle/>
          <a:p>
            <a:pPr algn="l">
              <a:spcAft>
                <a:spcPts val="0"/>
              </a:spcAft>
            </a:pPr>
            <a:r>
              <a:rPr lang="en-GB" sz="1300" b="1">
                <a:solidFill>
                  <a:srgbClr val="233A59"/>
                </a:solidFill>
              </a:rPr>
              <a:t>The browser trusts the replacement certificate only when the inspection CA is installed and trusted on the endpoint.</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p:nvPr/>
        </p:nvSpPr>
        <p:spPr>
          <a:xfrm>
            <a:off x="502920" y="411480"/>
            <a:ext cx="548640" cy="189283"/>
          </a:xfrm>
          <a:prstGeom prst="rect">
            <a:avLst/>
          </a:prstGeom>
          <a:noFill/>
        </p:spPr>
        <p:txBody>
          <a:bodyPr wrap="square" lIns="36576" tIns="36576" rIns="36576" bIns="36576" anchor="t">
            <a:spAutoFit/>
          </a:bodyPr>
          <a:lstStyle/>
          <a:p>
            <a:pPr algn="l">
              <a:spcAft>
                <a:spcPts val="0"/>
              </a:spcAft>
            </a:pPr>
            <a:r>
              <a:rPr lang="en-HU" sz="750" b="1">
                <a:solidFill>
                  <a:srgbClr val="687385"/>
                </a:solidFill>
              </a:rPr>
              <a:t>073</a:t>
            </a:r>
            <a:endParaRPr sz="750" b="1">
              <a:solidFill>
                <a:srgbClr val="687385"/>
              </a:solidFill>
            </a:endParaRPr>
          </a:p>
        </p:txBody>
      </p:sp>
      <p:sp>
        <p:nvSpPr>
          <p:cNvPr id="4" name="TextBox 3"/>
          <p:cNvSpPr txBox="1"/>
          <p:nvPr/>
        </p:nvSpPr>
        <p:spPr>
          <a:xfrm>
            <a:off x="502920" y="621792"/>
            <a:ext cx="11109960" cy="548640"/>
          </a:xfrm>
          <a:prstGeom prst="rect">
            <a:avLst/>
          </a:prstGeom>
          <a:noFill/>
        </p:spPr>
        <p:txBody>
          <a:bodyPr wrap="square" lIns="36576" tIns="36576" rIns="36576" bIns="36576" anchor="t">
            <a:spAutoFit/>
          </a:bodyPr>
          <a:lstStyle/>
          <a:p>
            <a:pPr algn="l">
              <a:spcAft>
                <a:spcPts val="0"/>
              </a:spcAft>
            </a:pPr>
            <a:r>
              <a:rPr sz="2600" b="1">
                <a:solidFill>
                  <a:srgbClr val="1E2B40"/>
                </a:solidFill>
              </a:rPr>
              <a:t>HTTPS profile interaction</a:t>
            </a:r>
          </a:p>
        </p:txBody>
      </p:sp>
      <p:cxnSp>
        <p:nvCxnSpPr>
          <p:cNvPr id="5" name="Connector 4"/>
          <p:cNvCxnSpPr/>
          <p:nvPr/>
        </p:nvCxnSpPr>
        <p:spPr>
          <a:xfrm>
            <a:off x="502920" y="6473952"/>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109960" y="6537960"/>
            <a:ext cx="502920" cy="189283"/>
          </a:xfrm>
          <a:prstGeom prst="rect">
            <a:avLst/>
          </a:prstGeom>
          <a:noFill/>
        </p:spPr>
        <p:txBody>
          <a:bodyPr wrap="square" lIns="36576" tIns="36576" rIns="36576" bIns="36576" anchor="t">
            <a:spAutoFit/>
          </a:bodyPr>
          <a:lstStyle/>
          <a:p>
            <a:pPr algn="r">
              <a:spcAft>
                <a:spcPts val="0"/>
              </a:spcAft>
            </a:pPr>
            <a:r>
              <a:rPr lang="en-HU" sz="750" b="0">
                <a:solidFill>
                  <a:srgbClr val="687385"/>
                </a:solidFill>
              </a:rPr>
              <a:t>73</a:t>
            </a:r>
            <a:endParaRPr sz="750" b="0">
              <a:solidFill>
                <a:srgbClr val="687385"/>
              </a:solidFill>
            </a:endParaRPr>
          </a:p>
        </p:txBody>
      </p:sp>
      <p:sp>
        <p:nvSpPr>
          <p:cNvPr id="7" name="Rectangle 6"/>
          <p:cNvSpPr>
            <a:spLocks/>
          </p:cNvSpPr>
          <p:nvPr/>
        </p:nvSpPr>
        <p:spPr>
          <a:xfrm>
            <a:off x="685800" y="1828800"/>
            <a:ext cx="2008022"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8" name="TextBox 7"/>
          <p:cNvSpPr txBox="1">
            <a:spLocks/>
          </p:cNvSpPr>
          <p:nvPr/>
        </p:nvSpPr>
        <p:spPr>
          <a:xfrm>
            <a:off x="777240" y="1938528"/>
            <a:ext cx="365760" cy="227755"/>
          </a:xfrm>
          <a:prstGeom prst="rect">
            <a:avLst/>
          </a:prstGeom>
          <a:noFill/>
        </p:spPr>
        <p:txBody>
          <a:bodyPr wrap="square" lIns="36576" tIns="36576" rIns="36576" bIns="36576" anchor="t">
            <a:spAutoFit/>
          </a:bodyPr>
          <a:lstStyle/>
          <a:p>
            <a:pPr algn="l">
              <a:spcAft>
                <a:spcPts val="0"/>
              </a:spcAft>
            </a:pPr>
            <a:r>
              <a:rPr lang="en-HU" sz="1000" b="1">
                <a:solidFill>
                  <a:srgbClr val="E60012"/>
                </a:solidFill>
              </a:rPr>
              <a:t>01</a:t>
            </a:r>
          </a:p>
        </p:txBody>
      </p:sp>
      <p:sp>
        <p:nvSpPr>
          <p:cNvPr id="9" name="TextBox 8"/>
          <p:cNvSpPr txBox="1">
            <a:spLocks/>
          </p:cNvSpPr>
          <p:nvPr/>
        </p:nvSpPr>
        <p:spPr>
          <a:xfrm>
            <a:off x="795528" y="2243935"/>
            <a:ext cx="1788566" cy="504754"/>
          </a:xfrm>
          <a:prstGeom prst="rect">
            <a:avLst/>
          </a:prstGeom>
          <a:noFill/>
        </p:spPr>
        <p:txBody>
          <a:bodyPr wrap="square" lIns="36576" tIns="36576" rIns="36576" bIns="36576" anchor="ctr">
            <a:spAutoFit/>
          </a:bodyPr>
          <a:lstStyle/>
          <a:p>
            <a:pPr algn="ctr">
              <a:spcAft>
                <a:spcPts val="0"/>
              </a:spcAft>
            </a:pPr>
            <a:r>
              <a:rPr lang="en-GB" sz="1400" b="1">
                <a:solidFill>
                  <a:srgbClr val="FFFFFF"/>
                </a:solidFill>
              </a:rPr>
              <a:t>Policy selects SSL profile</a:t>
            </a:r>
          </a:p>
        </p:txBody>
      </p:sp>
      <p:sp>
        <p:nvSpPr>
          <p:cNvPr id="10" name="Right Arrow 9"/>
          <p:cNvSpPr/>
          <p:nvPr/>
        </p:nvSpPr>
        <p:spPr>
          <a:xfrm>
            <a:off x="2693822" y="2340864"/>
            <a:ext cx="164592" cy="146304"/>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1" name="Rectangle 10"/>
          <p:cNvSpPr>
            <a:spLocks/>
          </p:cNvSpPr>
          <p:nvPr/>
        </p:nvSpPr>
        <p:spPr>
          <a:xfrm>
            <a:off x="2858414" y="1828800"/>
            <a:ext cx="2008022"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2" name="TextBox 11"/>
          <p:cNvSpPr txBox="1"/>
          <p:nvPr/>
        </p:nvSpPr>
        <p:spPr>
          <a:xfrm>
            <a:off x="2949854" y="1938528"/>
            <a:ext cx="365760" cy="201168"/>
          </a:xfrm>
          <a:prstGeom prst="rect">
            <a:avLst/>
          </a:prstGeom>
          <a:noFill/>
        </p:spPr>
        <p:txBody>
          <a:bodyPr wrap="square" lIns="36576" tIns="36576" rIns="36576" bIns="36576" anchor="t">
            <a:spAutoFit/>
          </a:bodyPr>
          <a:lstStyle/>
          <a:p>
            <a:pPr algn="l">
              <a:spcAft>
                <a:spcPts val="0"/>
              </a:spcAft>
            </a:pPr>
            <a:r>
              <a:rPr sz="1000" b="1">
                <a:solidFill>
                  <a:srgbClr val="E60012"/>
                </a:solidFill>
              </a:rPr>
              <a:t>02</a:t>
            </a:r>
          </a:p>
        </p:txBody>
      </p:sp>
      <p:sp>
        <p:nvSpPr>
          <p:cNvPr id="13" name="TextBox 12"/>
          <p:cNvSpPr txBox="1">
            <a:spLocks/>
          </p:cNvSpPr>
          <p:nvPr/>
        </p:nvSpPr>
        <p:spPr>
          <a:xfrm>
            <a:off x="2968142" y="2267712"/>
            <a:ext cx="1788566" cy="457200"/>
          </a:xfrm>
          <a:prstGeom prst="rect">
            <a:avLst/>
          </a:prstGeom>
          <a:noFill/>
        </p:spPr>
        <p:txBody>
          <a:bodyPr wrap="square" lIns="36576" tIns="36576" rIns="36576" bIns="36576" anchor="ctr">
            <a:spAutoFit/>
          </a:bodyPr>
          <a:lstStyle/>
          <a:p>
            <a:pPr algn="ctr">
              <a:spcAft>
                <a:spcPts val="0"/>
              </a:spcAft>
            </a:pPr>
            <a:r>
              <a:rPr lang="en-GB" sz="1400" b="1">
                <a:solidFill>
                  <a:srgbClr val="FFFFFF"/>
                </a:solidFill>
              </a:rPr>
              <a:t>TLS visibility is established</a:t>
            </a:r>
          </a:p>
        </p:txBody>
      </p:sp>
      <p:sp>
        <p:nvSpPr>
          <p:cNvPr id="14" name="Right Arrow 13"/>
          <p:cNvSpPr>
            <a:spLocks/>
          </p:cNvSpPr>
          <p:nvPr/>
        </p:nvSpPr>
        <p:spPr>
          <a:xfrm>
            <a:off x="4866436" y="2340864"/>
            <a:ext cx="164592" cy="146304"/>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5" name="Rectangle 14"/>
          <p:cNvSpPr/>
          <p:nvPr/>
        </p:nvSpPr>
        <p:spPr>
          <a:xfrm>
            <a:off x="5031028" y="1828800"/>
            <a:ext cx="2008022"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a:spLocks/>
          </p:cNvSpPr>
          <p:nvPr/>
        </p:nvSpPr>
        <p:spPr>
          <a:xfrm>
            <a:off x="5122468" y="1938528"/>
            <a:ext cx="365760" cy="201168"/>
          </a:xfrm>
          <a:prstGeom prst="rect">
            <a:avLst/>
          </a:prstGeom>
          <a:noFill/>
        </p:spPr>
        <p:txBody>
          <a:bodyPr wrap="square" lIns="36576" tIns="36576" rIns="36576" bIns="36576" anchor="t">
            <a:spAutoFit/>
          </a:bodyPr>
          <a:lstStyle/>
          <a:p>
            <a:pPr algn="l">
              <a:spcAft>
                <a:spcPts val="0"/>
              </a:spcAft>
            </a:pPr>
            <a:r>
              <a:rPr lang="en-HU" sz="1000" b="1">
                <a:solidFill>
                  <a:srgbClr val="E60012"/>
                </a:solidFill>
              </a:rPr>
              <a:t>03</a:t>
            </a:r>
          </a:p>
        </p:txBody>
      </p:sp>
      <p:sp>
        <p:nvSpPr>
          <p:cNvPr id="17" name="TextBox 16"/>
          <p:cNvSpPr txBox="1"/>
          <p:nvPr/>
        </p:nvSpPr>
        <p:spPr>
          <a:xfrm>
            <a:off x="5140756" y="2243935"/>
            <a:ext cx="1788566" cy="504754"/>
          </a:xfrm>
          <a:prstGeom prst="rect">
            <a:avLst/>
          </a:prstGeom>
          <a:noFill/>
        </p:spPr>
        <p:txBody>
          <a:bodyPr wrap="square" lIns="36576" tIns="36576" rIns="36576" bIns="36576" anchor="ctr">
            <a:spAutoFit/>
          </a:bodyPr>
          <a:lstStyle/>
          <a:p>
            <a:pPr algn="ctr">
              <a:spcAft>
                <a:spcPts val="0"/>
              </a:spcAft>
            </a:pPr>
            <a:r>
              <a:rPr lang="en-GB" sz="1400" b="1">
                <a:solidFill>
                  <a:srgbClr val="FFFFFF"/>
                </a:solidFill>
              </a:rPr>
              <a:t>Security profiles inspect</a:t>
            </a:r>
          </a:p>
        </p:txBody>
      </p:sp>
      <p:sp>
        <p:nvSpPr>
          <p:cNvPr id="18" name="Right Arrow 17"/>
          <p:cNvSpPr/>
          <p:nvPr/>
        </p:nvSpPr>
        <p:spPr>
          <a:xfrm>
            <a:off x="7039051" y="2340864"/>
            <a:ext cx="164592" cy="146304"/>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203643" y="1828800"/>
            <a:ext cx="2008022"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295083" y="1938528"/>
            <a:ext cx="365760" cy="227755"/>
          </a:xfrm>
          <a:prstGeom prst="rect">
            <a:avLst/>
          </a:prstGeom>
          <a:noFill/>
        </p:spPr>
        <p:txBody>
          <a:bodyPr wrap="square" lIns="36576" tIns="36576" rIns="36576" bIns="36576" anchor="t">
            <a:spAutoFit/>
          </a:bodyPr>
          <a:lstStyle/>
          <a:p>
            <a:pPr algn="l">
              <a:spcAft>
                <a:spcPts val="0"/>
              </a:spcAft>
            </a:pPr>
            <a:r>
              <a:rPr lang="en-HU" sz="1000" b="1">
                <a:solidFill>
                  <a:srgbClr val="E60012"/>
                </a:solidFill>
              </a:rPr>
              <a:t>04</a:t>
            </a:r>
          </a:p>
        </p:txBody>
      </p:sp>
      <p:sp>
        <p:nvSpPr>
          <p:cNvPr id="21" name="TextBox 20"/>
          <p:cNvSpPr txBox="1"/>
          <p:nvPr/>
        </p:nvSpPr>
        <p:spPr>
          <a:xfrm>
            <a:off x="7313371" y="2243935"/>
            <a:ext cx="1788566" cy="504754"/>
          </a:xfrm>
          <a:prstGeom prst="rect">
            <a:avLst/>
          </a:prstGeom>
          <a:noFill/>
        </p:spPr>
        <p:txBody>
          <a:bodyPr wrap="square" lIns="36576" tIns="36576" rIns="36576" bIns="36576" anchor="ctr">
            <a:spAutoFit/>
          </a:bodyPr>
          <a:lstStyle/>
          <a:p>
            <a:pPr algn="ctr">
              <a:spcAft>
                <a:spcPts val="0"/>
              </a:spcAft>
            </a:pPr>
            <a:r>
              <a:rPr lang="en-GB" sz="1400" b="1">
                <a:solidFill>
                  <a:srgbClr val="FFFFFF"/>
                </a:solidFill>
              </a:rPr>
              <a:t>Traffic/security logs record action</a:t>
            </a:r>
          </a:p>
        </p:txBody>
      </p:sp>
      <p:sp>
        <p:nvSpPr>
          <p:cNvPr id="22" name="Right Arrow 21"/>
          <p:cNvSpPr>
            <a:spLocks/>
          </p:cNvSpPr>
          <p:nvPr/>
        </p:nvSpPr>
        <p:spPr>
          <a:xfrm>
            <a:off x="9211665" y="2340864"/>
            <a:ext cx="164592" cy="146304"/>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23" name="Rectangle 22"/>
          <p:cNvSpPr>
            <a:spLocks/>
          </p:cNvSpPr>
          <p:nvPr/>
        </p:nvSpPr>
        <p:spPr>
          <a:xfrm>
            <a:off x="9376257" y="1828800"/>
            <a:ext cx="2008022"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24" name="TextBox 23"/>
          <p:cNvSpPr txBox="1"/>
          <p:nvPr/>
        </p:nvSpPr>
        <p:spPr>
          <a:xfrm>
            <a:off x="9467697" y="1938528"/>
            <a:ext cx="365760" cy="227755"/>
          </a:xfrm>
          <a:prstGeom prst="rect">
            <a:avLst/>
          </a:prstGeom>
          <a:noFill/>
        </p:spPr>
        <p:txBody>
          <a:bodyPr wrap="square" lIns="36576" tIns="36576" rIns="36576" bIns="36576" anchor="t">
            <a:spAutoFit/>
          </a:bodyPr>
          <a:lstStyle/>
          <a:p>
            <a:pPr algn="l">
              <a:spcAft>
                <a:spcPts val="0"/>
              </a:spcAft>
            </a:pPr>
            <a:r>
              <a:rPr lang="en-HU" sz="1000" b="1">
                <a:solidFill>
                  <a:srgbClr val="E60012"/>
                </a:solidFill>
              </a:rPr>
              <a:t>05</a:t>
            </a:r>
          </a:p>
        </p:txBody>
      </p:sp>
      <p:sp>
        <p:nvSpPr>
          <p:cNvPr id="25" name="TextBox 24"/>
          <p:cNvSpPr txBox="1"/>
          <p:nvPr/>
        </p:nvSpPr>
        <p:spPr>
          <a:xfrm>
            <a:off x="9485985" y="2267712"/>
            <a:ext cx="1788566" cy="457200"/>
          </a:xfrm>
          <a:prstGeom prst="rect">
            <a:avLst/>
          </a:prstGeom>
          <a:noFill/>
        </p:spPr>
        <p:txBody>
          <a:bodyPr wrap="square" lIns="36576" tIns="36576" rIns="36576" bIns="36576" anchor="ctr">
            <a:spAutoFit/>
          </a:bodyPr>
          <a:lstStyle/>
          <a:p>
            <a:pPr algn="ctr">
              <a:spcAft>
                <a:spcPts val="0"/>
              </a:spcAft>
            </a:pPr>
            <a:r>
              <a:rPr sz="1400" b="1">
                <a:solidFill>
                  <a:srgbClr val="FFFFFF"/>
                </a:solidFill>
              </a:rPr>
              <a:t>Client receives allow/block</a:t>
            </a:r>
          </a:p>
        </p:txBody>
      </p:sp>
      <p:sp>
        <p:nvSpPr>
          <p:cNvPr id="26" name="TextBox 25"/>
          <p:cNvSpPr txBox="1"/>
          <p:nvPr/>
        </p:nvSpPr>
        <p:spPr>
          <a:xfrm>
            <a:off x="731520" y="3703320"/>
            <a:ext cx="1554480" cy="210312"/>
          </a:xfrm>
          <a:prstGeom prst="rect">
            <a:avLst/>
          </a:prstGeom>
          <a:noFill/>
        </p:spPr>
        <p:txBody>
          <a:bodyPr wrap="square" lIns="36576" tIns="36576" rIns="36576" bIns="36576" anchor="t">
            <a:spAutoFit/>
          </a:bodyPr>
          <a:lstStyle/>
          <a:p>
            <a:pPr algn="l">
              <a:spcAft>
                <a:spcPts val="0"/>
              </a:spcAft>
            </a:pPr>
            <a:r>
              <a:rPr sz="1000" b="1">
                <a:solidFill>
                  <a:srgbClr val="E60012"/>
                </a:solidFill>
              </a:rPr>
              <a:t>EXPECTED RESULT</a:t>
            </a:r>
          </a:p>
        </p:txBody>
      </p:sp>
      <p:sp>
        <p:nvSpPr>
          <p:cNvPr id="27" name="TextBox 26"/>
          <p:cNvSpPr txBox="1"/>
          <p:nvPr/>
        </p:nvSpPr>
        <p:spPr>
          <a:xfrm>
            <a:off x="731520" y="4041648"/>
            <a:ext cx="10424160" cy="594360"/>
          </a:xfrm>
          <a:prstGeom prst="rect">
            <a:avLst/>
          </a:prstGeom>
          <a:noFill/>
        </p:spPr>
        <p:txBody>
          <a:bodyPr wrap="square" lIns="36576" tIns="36576" rIns="36576" bIns="36576" anchor="t">
            <a:spAutoFit/>
          </a:bodyPr>
          <a:lstStyle/>
          <a:p>
            <a:pPr algn="ctr">
              <a:spcAft>
                <a:spcPts val="0"/>
              </a:spcAft>
            </a:pPr>
            <a:r>
              <a:rPr sz="1700" b="1">
                <a:solidFill>
                  <a:srgbClr val="233A59"/>
                </a:solidFill>
              </a:rPr>
              <a:t>The client trusts the inspection certificate and the relevant security profile records the intended action.</a:t>
            </a:r>
          </a:p>
        </p:txBody>
      </p:sp>
      <p:sp>
        <p:nvSpPr>
          <p:cNvPr id="28" name="TextBox 27"/>
          <p:cNvSpPr txBox="1"/>
          <p:nvPr/>
        </p:nvSpPr>
        <p:spPr>
          <a:xfrm>
            <a:off x="658368" y="5833872"/>
            <a:ext cx="731520" cy="182880"/>
          </a:xfrm>
          <a:prstGeom prst="rect">
            <a:avLst/>
          </a:prstGeom>
          <a:noFill/>
        </p:spPr>
        <p:txBody>
          <a:bodyPr wrap="square" lIns="36576" tIns="36576" rIns="36576" bIns="36576" anchor="t">
            <a:spAutoFit/>
          </a:bodyPr>
          <a:lstStyle/>
          <a:p>
            <a:pPr algn="l">
              <a:spcAft>
                <a:spcPts val="0"/>
              </a:spcAft>
            </a:pPr>
            <a:r>
              <a:rPr sz="1000" b="1">
                <a:solidFill>
                  <a:srgbClr val="E60012"/>
                </a:solidFill>
              </a:rPr>
              <a:t>LESSON</a:t>
            </a:r>
          </a:p>
        </p:txBody>
      </p:sp>
      <p:sp>
        <p:nvSpPr>
          <p:cNvPr id="29" name="TextBox 28"/>
          <p:cNvSpPr txBox="1"/>
          <p:nvPr/>
        </p:nvSpPr>
        <p:spPr>
          <a:xfrm>
            <a:off x="1417320" y="5769864"/>
            <a:ext cx="9875520" cy="384048"/>
          </a:xfrm>
          <a:prstGeom prst="rect">
            <a:avLst/>
          </a:prstGeom>
          <a:noFill/>
        </p:spPr>
        <p:txBody>
          <a:bodyPr wrap="square" lIns="36576" tIns="36576" rIns="36576" bIns="36576" anchor="t">
            <a:spAutoFit/>
          </a:bodyPr>
          <a:lstStyle/>
          <a:p>
            <a:pPr algn="l">
              <a:spcAft>
                <a:spcPts val="0"/>
              </a:spcAft>
            </a:pPr>
            <a:r>
              <a:rPr sz="1300" b="1">
                <a:solidFill>
                  <a:srgbClr val="233A59"/>
                </a:solidFill>
              </a:rPr>
              <a:t>Each step names a FortiGate state or packet change that can be checked directly; stop when the failed step is identified.</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p:nvPr/>
        </p:nvSpPr>
        <p:spPr>
          <a:xfrm>
            <a:off x="502920" y="411480"/>
            <a:ext cx="548640" cy="189283"/>
          </a:xfrm>
          <a:prstGeom prst="rect">
            <a:avLst/>
          </a:prstGeom>
          <a:noFill/>
        </p:spPr>
        <p:txBody>
          <a:bodyPr wrap="square" lIns="36576" tIns="36576" rIns="36576" bIns="36576" anchor="t">
            <a:spAutoFit/>
          </a:bodyPr>
          <a:lstStyle/>
          <a:p>
            <a:pPr algn="l">
              <a:spcAft>
                <a:spcPts val="0"/>
              </a:spcAft>
            </a:pPr>
            <a:r>
              <a:rPr lang="en-HU" sz="750" b="1">
                <a:solidFill>
                  <a:srgbClr val="687385"/>
                </a:solidFill>
              </a:rPr>
              <a:t>074</a:t>
            </a:r>
            <a:endParaRPr sz="750" b="1">
              <a:solidFill>
                <a:srgbClr val="687385"/>
              </a:solidFill>
            </a:endParaRPr>
          </a:p>
        </p:txBody>
      </p:sp>
      <p:sp>
        <p:nvSpPr>
          <p:cNvPr id="4" name="TextBox 3"/>
          <p:cNvSpPr txBox="1"/>
          <p:nvPr/>
        </p:nvSpPr>
        <p:spPr>
          <a:xfrm>
            <a:off x="502920" y="621792"/>
            <a:ext cx="11109960" cy="548640"/>
          </a:xfrm>
          <a:prstGeom prst="rect">
            <a:avLst/>
          </a:prstGeom>
          <a:noFill/>
        </p:spPr>
        <p:txBody>
          <a:bodyPr wrap="square" lIns="36576" tIns="36576" rIns="36576" bIns="36576" anchor="t">
            <a:spAutoFit/>
          </a:bodyPr>
          <a:lstStyle/>
          <a:p>
            <a:pPr algn="l">
              <a:spcAft>
                <a:spcPts val="0"/>
              </a:spcAft>
            </a:pPr>
            <a:r>
              <a:rPr sz="2600" b="1">
                <a:solidFill>
                  <a:srgbClr val="1E2B40"/>
                </a:solidFill>
              </a:rPr>
              <a:t>Common mistakes—and how to correct them</a:t>
            </a:r>
          </a:p>
        </p:txBody>
      </p:sp>
      <p:cxnSp>
        <p:nvCxnSpPr>
          <p:cNvPr id="5" name="Connector 4"/>
          <p:cNvCxnSpPr/>
          <p:nvPr/>
        </p:nvCxnSpPr>
        <p:spPr>
          <a:xfrm>
            <a:off x="502920" y="6473952"/>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109960" y="6537960"/>
            <a:ext cx="502920" cy="189283"/>
          </a:xfrm>
          <a:prstGeom prst="rect">
            <a:avLst/>
          </a:prstGeom>
          <a:noFill/>
        </p:spPr>
        <p:txBody>
          <a:bodyPr wrap="square" lIns="36576" tIns="36576" rIns="36576" bIns="36576" anchor="t">
            <a:spAutoFit/>
          </a:bodyPr>
          <a:lstStyle/>
          <a:p>
            <a:pPr algn="r">
              <a:spcAft>
                <a:spcPts val="0"/>
              </a:spcAft>
            </a:pPr>
            <a:r>
              <a:rPr lang="en-HU" sz="750" b="0">
                <a:solidFill>
                  <a:srgbClr val="687385"/>
                </a:solidFill>
              </a:rPr>
              <a:t>74</a:t>
            </a:r>
            <a:endParaRPr sz="750" b="0">
              <a:solidFill>
                <a:srgbClr val="687385"/>
              </a:solidFill>
            </a:endParaRPr>
          </a:p>
        </p:txBody>
      </p:sp>
      <p:sp>
        <p:nvSpPr>
          <p:cNvPr id="7" name="TextBox 6"/>
          <p:cNvSpPr txBox="1">
            <a:spLocks/>
          </p:cNvSpPr>
          <p:nvPr/>
        </p:nvSpPr>
        <p:spPr>
          <a:xfrm>
            <a:off x="685800" y="1417320"/>
            <a:ext cx="3291840" cy="243143"/>
          </a:xfrm>
          <a:prstGeom prst="rect">
            <a:avLst/>
          </a:prstGeom>
          <a:noFill/>
        </p:spPr>
        <p:txBody>
          <a:bodyPr wrap="square" lIns="36576" tIns="36576" rIns="36576" bIns="36576" anchor="t">
            <a:spAutoFit/>
          </a:bodyPr>
          <a:lstStyle/>
          <a:p>
            <a:pPr algn="l">
              <a:spcAft>
                <a:spcPts val="0"/>
              </a:spcAft>
            </a:pPr>
            <a:r>
              <a:rPr lang="en-GB" sz="1100" b="1">
                <a:solidFill>
                  <a:srgbClr val="E60012"/>
                </a:solidFill>
              </a:rPr>
              <a:t>MISTAKE</a:t>
            </a:r>
          </a:p>
        </p:txBody>
      </p:sp>
      <p:sp>
        <p:nvSpPr>
          <p:cNvPr id="8" name="TextBox 7"/>
          <p:cNvSpPr txBox="1">
            <a:spLocks/>
          </p:cNvSpPr>
          <p:nvPr/>
        </p:nvSpPr>
        <p:spPr>
          <a:xfrm>
            <a:off x="4160520" y="1417320"/>
            <a:ext cx="7040880" cy="243143"/>
          </a:xfrm>
          <a:prstGeom prst="rect">
            <a:avLst/>
          </a:prstGeom>
          <a:noFill/>
        </p:spPr>
        <p:txBody>
          <a:bodyPr wrap="square" lIns="36576" tIns="36576" rIns="36576" bIns="36576" anchor="t">
            <a:spAutoFit/>
          </a:bodyPr>
          <a:lstStyle/>
          <a:p>
            <a:pPr algn="l">
              <a:spcAft>
                <a:spcPts val="0"/>
              </a:spcAft>
            </a:pPr>
            <a:r>
              <a:rPr lang="en-GB" sz="1100" b="1">
                <a:solidFill>
                  <a:srgbClr val="E60012"/>
                </a:solidFill>
              </a:rPr>
              <a:t>CORRECTION — AND WHY IT HELPS</a:t>
            </a:r>
          </a:p>
        </p:txBody>
      </p:sp>
      <p:sp>
        <p:nvSpPr>
          <p:cNvPr id="9" name="TextBox 8"/>
          <p:cNvSpPr txBox="1">
            <a:spLocks/>
          </p:cNvSpPr>
          <p:nvPr/>
        </p:nvSpPr>
        <p:spPr>
          <a:xfrm>
            <a:off x="685800" y="1783080"/>
            <a:ext cx="3108960" cy="566309"/>
          </a:xfrm>
          <a:prstGeom prst="rect">
            <a:avLst/>
          </a:prstGeom>
          <a:noFill/>
        </p:spPr>
        <p:txBody>
          <a:bodyPr wrap="square" lIns="36576" tIns="36576" rIns="36576" bIns="36576" anchor="t">
            <a:spAutoFit/>
          </a:bodyPr>
          <a:lstStyle/>
          <a:p>
            <a:pPr algn="l">
              <a:spcAft>
                <a:spcPts val="0"/>
              </a:spcAft>
            </a:pPr>
            <a:r>
              <a:rPr lang="en-GB" sz="1600" b="1">
                <a:solidFill>
                  <a:srgbClr val="1E2B40"/>
                </a:solidFill>
              </a:rPr>
              <a:t>Enable deep inspection without CA deployment</a:t>
            </a:r>
          </a:p>
        </p:txBody>
      </p:sp>
      <p:cxnSp>
        <p:nvCxnSpPr>
          <p:cNvPr id="10" name="Connector 9"/>
          <p:cNvCxnSpPr/>
          <p:nvPr/>
        </p:nvCxnSpPr>
        <p:spPr>
          <a:xfrm>
            <a:off x="3931920" y="1737360"/>
            <a:ext cx="0" cy="96012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251960" y="1783080"/>
            <a:ext cx="6903720" cy="822960"/>
          </a:xfrm>
          <a:prstGeom prst="rect">
            <a:avLst/>
          </a:prstGeom>
          <a:noFill/>
        </p:spPr>
        <p:txBody>
          <a:bodyPr wrap="square" lIns="36576" tIns="36576" rIns="36576" bIns="36576" anchor="t">
            <a:spAutoFit/>
          </a:bodyPr>
          <a:lstStyle/>
          <a:p>
            <a:pPr algn="l">
              <a:spcAft>
                <a:spcPts val="0"/>
              </a:spcAft>
            </a:pPr>
            <a:r>
              <a:rPr sz="1600" b="0">
                <a:solidFill>
                  <a:srgbClr val="233A59"/>
                </a:solidFill>
              </a:rPr>
              <a:t>Install and trust the inspection CA on managed clients; otherwise browsers reject replacement certificates.</a:t>
            </a:r>
          </a:p>
        </p:txBody>
      </p:sp>
      <p:cxnSp>
        <p:nvCxnSpPr>
          <p:cNvPr id="12" name="Connector 11"/>
          <p:cNvCxnSpPr/>
          <p:nvPr/>
        </p:nvCxnSpPr>
        <p:spPr>
          <a:xfrm>
            <a:off x="685800" y="2834639"/>
            <a:ext cx="10469880"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13" name="TextBox 12"/>
          <p:cNvSpPr txBox="1">
            <a:spLocks/>
          </p:cNvSpPr>
          <p:nvPr/>
        </p:nvSpPr>
        <p:spPr>
          <a:xfrm>
            <a:off x="685800" y="3081528"/>
            <a:ext cx="3108960" cy="566309"/>
          </a:xfrm>
          <a:prstGeom prst="rect">
            <a:avLst/>
          </a:prstGeom>
          <a:noFill/>
        </p:spPr>
        <p:txBody>
          <a:bodyPr wrap="square" lIns="36576" tIns="36576" rIns="36576" bIns="36576" anchor="t">
            <a:spAutoFit/>
          </a:bodyPr>
          <a:lstStyle/>
          <a:p>
            <a:pPr algn="l">
              <a:spcAft>
                <a:spcPts val="0"/>
              </a:spcAft>
            </a:pPr>
            <a:r>
              <a:rPr lang="en-GB" sz="1600" b="1">
                <a:solidFill>
                  <a:srgbClr val="1E2B40"/>
                </a:solidFill>
              </a:rPr>
              <a:t>Expect certificate inspection to scan payload</a:t>
            </a:r>
          </a:p>
        </p:txBody>
      </p:sp>
      <p:cxnSp>
        <p:nvCxnSpPr>
          <p:cNvPr id="14" name="Connector 13"/>
          <p:cNvCxnSpPr/>
          <p:nvPr/>
        </p:nvCxnSpPr>
        <p:spPr>
          <a:xfrm>
            <a:off x="3931920" y="3035808"/>
            <a:ext cx="0" cy="96012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5" name="TextBox 14"/>
          <p:cNvSpPr txBox="1">
            <a:spLocks/>
          </p:cNvSpPr>
          <p:nvPr/>
        </p:nvSpPr>
        <p:spPr>
          <a:xfrm>
            <a:off x="4251960" y="3081528"/>
            <a:ext cx="6903720" cy="566309"/>
          </a:xfrm>
          <a:prstGeom prst="rect">
            <a:avLst/>
          </a:prstGeom>
          <a:noFill/>
        </p:spPr>
        <p:txBody>
          <a:bodyPr wrap="square" lIns="36576" tIns="36576" rIns="36576" bIns="36576" anchor="t">
            <a:spAutoFit/>
          </a:bodyPr>
          <a:lstStyle/>
          <a:p>
            <a:pPr algn="l">
              <a:spcAft>
                <a:spcPts val="0"/>
              </a:spcAft>
            </a:pPr>
            <a:r>
              <a:rPr lang="en-GB" sz="1600" b="0">
                <a:solidFill>
                  <a:srgbClr val="233A59"/>
                </a:solidFill>
              </a:rPr>
              <a:t>Use deep inspection when content scanning is required; certificate inspection does not decrypt payload.</a:t>
            </a:r>
          </a:p>
        </p:txBody>
      </p:sp>
      <p:cxnSp>
        <p:nvCxnSpPr>
          <p:cNvPr id="16" name="Connector 15"/>
          <p:cNvCxnSpPr/>
          <p:nvPr/>
        </p:nvCxnSpPr>
        <p:spPr>
          <a:xfrm>
            <a:off x="685800" y="4133087"/>
            <a:ext cx="10469880"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17" name="TextBox 16"/>
          <p:cNvSpPr txBox="1">
            <a:spLocks/>
          </p:cNvSpPr>
          <p:nvPr/>
        </p:nvSpPr>
        <p:spPr>
          <a:xfrm>
            <a:off x="685800" y="4379976"/>
            <a:ext cx="3108960" cy="566309"/>
          </a:xfrm>
          <a:prstGeom prst="rect">
            <a:avLst/>
          </a:prstGeom>
          <a:noFill/>
        </p:spPr>
        <p:txBody>
          <a:bodyPr wrap="square" lIns="36576" tIns="36576" rIns="36576" bIns="36576" anchor="t">
            <a:spAutoFit/>
          </a:bodyPr>
          <a:lstStyle/>
          <a:p>
            <a:pPr algn="l">
              <a:spcAft>
                <a:spcPts val="0"/>
              </a:spcAft>
            </a:pPr>
            <a:r>
              <a:rPr lang="en-GB" sz="1600" b="1">
                <a:solidFill>
                  <a:srgbClr val="1E2B40"/>
                </a:solidFill>
              </a:rPr>
              <a:t>Blame the profile before checking TLS</a:t>
            </a:r>
          </a:p>
        </p:txBody>
      </p:sp>
      <p:cxnSp>
        <p:nvCxnSpPr>
          <p:cNvPr id="18" name="Connector 17"/>
          <p:cNvCxnSpPr/>
          <p:nvPr/>
        </p:nvCxnSpPr>
        <p:spPr>
          <a:xfrm>
            <a:off x="3931920" y="4334256"/>
            <a:ext cx="0" cy="96012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251960" y="4379976"/>
            <a:ext cx="6903720" cy="822960"/>
          </a:xfrm>
          <a:prstGeom prst="rect">
            <a:avLst/>
          </a:prstGeom>
          <a:noFill/>
        </p:spPr>
        <p:txBody>
          <a:bodyPr wrap="square" lIns="36576" tIns="36576" rIns="36576" bIns="36576" anchor="t">
            <a:spAutoFit/>
          </a:bodyPr>
          <a:lstStyle/>
          <a:p>
            <a:pPr algn="l">
              <a:spcAft>
                <a:spcPts val="0"/>
              </a:spcAft>
            </a:pPr>
            <a:r>
              <a:rPr sz="1600" b="0">
                <a:solidFill>
                  <a:srgbClr val="233A59"/>
                </a:solidFill>
              </a:rPr>
              <a:t>Check certificate chain, time and pinning first; TLS can fail before a profile scans content.</a:t>
            </a:r>
          </a:p>
        </p:txBody>
      </p:sp>
      <p:cxnSp>
        <p:nvCxnSpPr>
          <p:cNvPr id="20" name="Connector 19"/>
          <p:cNvCxnSpPr/>
          <p:nvPr/>
        </p:nvCxnSpPr>
        <p:spPr>
          <a:xfrm>
            <a:off x="685800" y="5431536"/>
            <a:ext cx="10469880"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58368" y="5833872"/>
            <a:ext cx="731520" cy="182880"/>
          </a:xfrm>
          <a:prstGeom prst="rect">
            <a:avLst/>
          </a:prstGeom>
          <a:noFill/>
        </p:spPr>
        <p:txBody>
          <a:bodyPr wrap="square" lIns="36576" tIns="36576" rIns="36576" bIns="36576" anchor="t">
            <a:spAutoFit/>
          </a:bodyPr>
          <a:lstStyle/>
          <a:p>
            <a:pPr algn="l">
              <a:spcAft>
                <a:spcPts val="0"/>
              </a:spcAft>
            </a:pPr>
            <a:r>
              <a:rPr sz="1000" b="1">
                <a:solidFill>
                  <a:srgbClr val="E60012"/>
                </a:solidFill>
              </a:rPr>
              <a:t>LESSON</a:t>
            </a:r>
          </a:p>
        </p:txBody>
      </p:sp>
      <p:sp>
        <p:nvSpPr>
          <p:cNvPr id="22" name="TextBox 21"/>
          <p:cNvSpPr txBox="1"/>
          <p:nvPr/>
        </p:nvSpPr>
        <p:spPr>
          <a:xfrm>
            <a:off x="1417320" y="5769864"/>
            <a:ext cx="9875520" cy="384048"/>
          </a:xfrm>
          <a:prstGeom prst="rect">
            <a:avLst/>
          </a:prstGeom>
          <a:noFill/>
        </p:spPr>
        <p:txBody>
          <a:bodyPr wrap="square" lIns="36576" tIns="36576" rIns="36576" bIns="36576" anchor="t">
            <a:spAutoFit/>
          </a:bodyPr>
          <a:lstStyle/>
          <a:p>
            <a:pPr algn="l">
              <a:spcAft>
                <a:spcPts val="0"/>
              </a:spcAft>
            </a:pPr>
            <a:r>
              <a:rPr sz="1300" b="1">
                <a:solidFill>
                  <a:srgbClr val="233A59"/>
                </a:solidFill>
              </a:rPr>
              <a:t>A correction changes a concrete configuration, test or interpretation—not merely the wording used to describe it.</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75</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Troubleshooting workflow: narrow the failed decision</a:t>
            </a:r>
          </a:p>
        </p:txBody>
      </p:sp>
      <p:sp>
        <p:nvSpPr>
          <p:cNvPr id="10" name="Rectangle 9"/>
          <p:cNvSpPr/>
          <p:nvPr/>
        </p:nvSpPr>
        <p:spPr>
          <a:xfrm>
            <a:off x="658368"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1" name="TextBox 10"/>
          <p:cNvSpPr txBox="1">
            <a:spLocks/>
          </p:cNvSpPr>
          <p:nvPr/>
        </p:nvSpPr>
        <p:spPr>
          <a:xfrm>
            <a:off x="768096" y="2020824"/>
            <a:ext cx="411480" cy="219456"/>
          </a:xfrm>
          <a:prstGeom prst="rect">
            <a:avLst/>
          </a:prstGeom>
          <a:noFill/>
        </p:spPr>
        <p:txBody>
          <a:bodyPr wrap="square" lIns="27432" tIns="27432" rIns="27432" bIns="27432" anchor="t">
            <a:spAutoFit/>
          </a:bodyPr>
          <a:lstStyle/>
          <a:p>
            <a:pPr algn="l">
              <a:spcAft>
                <a:spcPts val="0"/>
              </a:spcAft>
            </a:pPr>
            <a:r>
              <a:rPr lang="en-HU" sz="1100" b="1">
                <a:solidFill>
                  <a:srgbClr val="E60012"/>
                </a:solidFill>
              </a:rPr>
              <a:t>01</a:t>
            </a:r>
          </a:p>
        </p:txBody>
      </p:sp>
      <p:sp>
        <p:nvSpPr>
          <p:cNvPr id="12" name="TextBox 11"/>
          <p:cNvSpPr txBox="1">
            <a:spLocks/>
          </p:cNvSpPr>
          <p:nvPr/>
        </p:nvSpPr>
        <p:spPr>
          <a:xfrm>
            <a:off x="768096" y="2340864"/>
            <a:ext cx="1830628" cy="603504"/>
          </a:xfrm>
          <a:prstGeom prst="rect">
            <a:avLst/>
          </a:prstGeom>
          <a:noFill/>
        </p:spPr>
        <p:txBody>
          <a:bodyPr wrap="square" lIns="27432" tIns="27432" rIns="27432" bIns="27432" anchor="ctr">
            <a:spAutoFit/>
          </a:bodyPr>
          <a:lstStyle/>
          <a:p>
            <a:pPr algn="ctr">
              <a:spcAft>
                <a:spcPts val="0"/>
              </a:spcAft>
            </a:pPr>
            <a:r>
              <a:rPr lang="en-GB" sz="1400" b="1">
                <a:solidFill>
                  <a:srgbClr val="1E2B40"/>
                </a:solidFill>
              </a:rPr>
              <a:t>Prove basic path and policy first</a:t>
            </a:r>
          </a:p>
        </p:txBody>
      </p:sp>
      <p:cxnSp>
        <p:nvCxnSpPr>
          <p:cNvPr id="13" name="Connector 12"/>
          <p:cNvCxnSpPr/>
          <p:nvPr/>
        </p:nvCxnSpPr>
        <p:spPr>
          <a:xfrm>
            <a:off x="2708452"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2854756"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5" name="TextBox 14"/>
          <p:cNvSpPr txBox="1">
            <a:spLocks/>
          </p:cNvSpPr>
          <p:nvPr/>
        </p:nvSpPr>
        <p:spPr>
          <a:xfrm>
            <a:off x="2964484" y="2020824"/>
            <a:ext cx="411480" cy="219456"/>
          </a:xfrm>
          <a:prstGeom prst="rect">
            <a:avLst/>
          </a:prstGeom>
          <a:noFill/>
        </p:spPr>
        <p:txBody>
          <a:bodyPr wrap="square" lIns="27432" tIns="27432" rIns="27432" bIns="27432" anchor="t">
            <a:spAutoFit/>
          </a:bodyPr>
          <a:lstStyle/>
          <a:p>
            <a:pPr algn="l">
              <a:spcAft>
                <a:spcPts val="0"/>
              </a:spcAft>
            </a:pPr>
            <a:r>
              <a:rPr lang="en-HU" sz="1100" b="1">
                <a:solidFill>
                  <a:srgbClr val="E60012"/>
                </a:solidFill>
              </a:rPr>
              <a:t>02</a:t>
            </a:r>
          </a:p>
        </p:txBody>
      </p:sp>
      <p:sp>
        <p:nvSpPr>
          <p:cNvPr id="16" name="TextBox 15"/>
          <p:cNvSpPr txBox="1">
            <a:spLocks/>
          </p:cNvSpPr>
          <p:nvPr/>
        </p:nvSpPr>
        <p:spPr>
          <a:xfrm>
            <a:off x="2964484" y="2340864"/>
            <a:ext cx="1830628" cy="603504"/>
          </a:xfrm>
          <a:prstGeom prst="rect">
            <a:avLst/>
          </a:prstGeom>
          <a:noFill/>
        </p:spPr>
        <p:txBody>
          <a:bodyPr wrap="square" lIns="27432" tIns="27432" rIns="27432" bIns="27432" anchor="ctr">
            <a:spAutoFit/>
          </a:bodyPr>
          <a:lstStyle/>
          <a:p>
            <a:pPr algn="ctr">
              <a:spcAft>
                <a:spcPts val="0"/>
              </a:spcAft>
            </a:pPr>
            <a:r>
              <a:rPr lang="en-GB" sz="1400" b="1">
                <a:solidFill>
                  <a:srgbClr val="1E2B40"/>
                </a:solidFill>
              </a:rPr>
              <a:t>Check TLS handshake/certificate errors</a:t>
            </a:r>
          </a:p>
        </p:txBody>
      </p:sp>
      <p:cxnSp>
        <p:nvCxnSpPr>
          <p:cNvPr id="17" name="Connector 16"/>
          <p:cNvCxnSpPr/>
          <p:nvPr/>
        </p:nvCxnSpPr>
        <p:spPr>
          <a:xfrm>
            <a:off x="4904841"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5051145"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9" name="TextBox 18"/>
          <p:cNvSpPr txBox="1">
            <a:spLocks/>
          </p:cNvSpPr>
          <p:nvPr/>
        </p:nvSpPr>
        <p:spPr>
          <a:xfrm>
            <a:off x="5160873" y="2020824"/>
            <a:ext cx="411480" cy="219456"/>
          </a:xfrm>
          <a:prstGeom prst="rect">
            <a:avLst/>
          </a:prstGeom>
          <a:noFill/>
        </p:spPr>
        <p:txBody>
          <a:bodyPr wrap="square" lIns="27432" tIns="27432" rIns="27432" bIns="27432" anchor="t">
            <a:spAutoFit/>
          </a:bodyPr>
          <a:lstStyle/>
          <a:p>
            <a:pPr algn="l">
              <a:spcAft>
                <a:spcPts val="0"/>
              </a:spcAft>
            </a:pPr>
            <a:r>
              <a:rPr lang="en-HU" sz="1100" b="1">
                <a:solidFill>
                  <a:srgbClr val="E60012"/>
                </a:solidFill>
              </a:rPr>
              <a:t>03</a:t>
            </a:r>
          </a:p>
        </p:txBody>
      </p:sp>
      <p:sp>
        <p:nvSpPr>
          <p:cNvPr id="20" name="TextBox 19"/>
          <p:cNvSpPr txBox="1">
            <a:spLocks/>
          </p:cNvSpPr>
          <p:nvPr/>
        </p:nvSpPr>
        <p:spPr>
          <a:xfrm>
            <a:off x="5160873" y="2340864"/>
            <a:ext cx="1830628" cy="603504"/>
          </a:xfrm>
          <a:prstGeom prst="rect">
            <a:avLst/>
          </a:prstGeom>
          <a:noFill/>
        </p:spPr>
        <p:txBody>
          <a:bodyPr wrap="square" lIns="27432" tIns="27432" rIns="27432" bIns="27432" anchor="ctr">
            <a:spAutoFit/>
          </a:bodyPr>
          <a:lstStyle/>
          <a:p>
            <a:pPr algn="ctr">
              <a:spcAft>
                <a:spcPts val="0"/>
              </a:spcAft>
            </a:pPr>
            <a:r>
              <a:rPr lang="en-GB" sz="1400" b="1">
                <a:solidFill>
                  <a:srgbClr val="1E2B40"/>
                </a:solidFill>
              </a:rPr>
              <a:t>Confirm inspection mode and client trust</a:t>
            </a:r>
          </a:p>
        </p:txBody>
      </p:sp>
      <p:cxnSp>
        <p:nvCxnSpPr>
          <p:cNvPr id="21" name="Connector 20"/>
          <p:cNvCxnSpPr/>
          <p:nvPr/>
        </p:nvCxnSpPr>
        <p:spPr>
          <a:xfrm>
            <a:off x="7101230"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7247534"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23" name="TextBox 22"/>
          <p:cNvSpPr txBox="1"/>
          <p:nvPr/>
        </p:nvSpPr>
        <p:spPr>
          <a:xfrm>
            <a:off x="7357262" y="2020824"/>
            <a:ext cx="411480" cy="219456"/>
          </a:xfrm>
          <a:prstGeom prst="rect">
            <a:avLst/>
          </a:prstGeom>
          <a:noFill/>
        </p:spPr>
        <p:txBody>
          <a:bodyPr wrap="square" lIns="27432" tIns="27432" rIns="27432" bIns="27432" anchor="t">
            <a:spAutoFit/>
          </a:bodyPr>
          <a:lstStyle/>
          <a:p>
            <a:pPr algn="l">
              <a:spcAft>
                <a:spcPts val="0"/>
              </a:spcAft>
            </a:pPr>
            <a:r>
              <a:rPr sz="1100" b="1">
                <a:solidFill>
                  <a:srgbClr val="E60012"/>
                </a:solidFill>
              </a:rPr>
              <a:t>04</a:t>
            </a:r>
          </a:p>
        </p:txBody>
      </p:sp>
      <p:sp>
        <p:nvSpPr>
          <p:cNvPr id="24" name="TextBox 23"/>
          <p:cNvSpPr txBox="1"/>
          <p:nvPr/>
        </p:nvSpPr>
        <p:spPr>
          <a:xfrm>
            <a:off x="7357262" y="2340864"/>
            <a:ext cx="1830628" cy="603504"/>
          </a:xfrm>
          <a:prstGeom prst="rect">
            <a:avLst/>
          </a:prstGeom>
          <a:noFill/>
        </p:spPr>
        <p:txBody>
          <a:bodyPr wrap="square" lIns="27432" tIns="27432" rIns="27432" bIns="27432" anchor="ctr">
            <a:spAutoFit/>
          </a:bodyPr>
          <a:lstStyle/>
          <a:p>
            <a:pPr algn="ctr">
              <a:spcAft>
                <a:spcPts val="0"/>
              </a:spcAft>
            </a:pPr>
            <a:r>
              <a:rPr sz="1400" b="1">
                <a:solidFill>
                  <a:srgbClr val="1E2B40"/>
                </a:solidFill>
              </a:rPr>
              <a:t>Identify which profile blocked or reset the session</a:t>
            </a:r>
          </a:p>
        </p:txBody>
      </p:sp>
      <p:cxnSp>
        <p:nvCxnSpPr>
          <p:cNvPr id="25" name="Connector 24"/>
          <p:cNvCxnSpPr/>
          <p:nvPr/>
        </p:nvCxnSpPr>
        <p:spPr>
          <a:xfrm>
            <a:off x="9297619"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9443923"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553651" y="2020824"/>
            <a:ext cx="411480" cy="219456"/>
          </a:xfrm>
          <a:prstGeom prst="rect">
            <a:avLst/>
          </a:prstGeom>
          <a:noFill/>
        </p:spPr>
        <p:txBody>
          <a:bodyPr wrap="square" lIns="27432" tIns="27432" rIns="27432" bIns="27432" anchor="t">
            <a:spAutoFit/>
          </a:bodyPr>
          <a:lstStyle/>
          <a:p>
            <a:pPr algn="l">
              <a:spcAft>
                <a:spcPts val="0"/>
              </a:spcAft>
            </a:pPr>
            <a:r>
              <a:rPr sz="1100" b="1">
                <a:solidFill>
                  <a:srgbClr val="E60012"/>
                </a:solidFill>
              </a:rPr>
              <a:t>05</a:t>
            </a:r>
          </a:p>
        </p:txBody>
      </p:sp>
      <p:sp>
        <p:nvSpPr>
          <p:cNvPr id="28" name="TextBox 27"/>
          <p:cNvSpPr txBox="1"/>
          <p:nvPr/>
        </p:nvSpPr>
        <p:spPr>
          <a:xfrm>
            <a:off x="9553651" y="2340864"/>
            <a:ext cx="1830628" cy="603504"/>
          </a:xfrm>
          <a:prstGeom prst="rect">
            <a:avLst/>
          </a:prstGeom>
          <a:noFill/>
        </p:spPr>
        <p:txBody>
          <a:bodyPr wrap="square" lIns="27432" tIns="27432" rIns="27432" bIns="27432" anchor="ctr">
            <a:spAutoFit/>
          </a:bodyPr>
          <a:lstStyle/>
          <a:p>
            <a:pPr algn="ctr">
              <a:spcAft>
                <a:spcPts val="0"/>
              </a:spcAft>
            </a:pPr>
            <a:r>
              <a:rPr sz="1400" b="1">
                <a:solidFill>
                  <a:srgbClr val="1E2B40"/>
                </a:solidFill>
              </a:rPr>
              <a:t>Test an approved exception without broad bypass</a:t>
            </a:r>
          </a:p>
        </p:txBody>
      </p:sp>
      <p:sp>
        <p:nvSpPr>
          <p:cNvPr id="29" name="TextBox 28"/>
          <p:cNvSpPr txBox="1"/>
          <p:nvPr/>
        </p:nvSpPr>
        <p:spPr>
          <a:xfrm>
            <a:off x="658368" y="3703320"/>
            <a:ext cx="2011680" cy="256032"/>
          </a:xfrm>
          <a:prstGeom prst="rect">
            <a:avLst/>
          </a:prstGeom>
          <a:noFill/>
        </p:spPr>
        <p:txBody>
          <a:bodyPr wrap="square" lIns="27432" tIns="27432" rIns="27432" bIns="27432" anchor="t">
            <a:spAutoFit/>
          </a:bodyPr>
          <a:lstStyle/>
          <a:p>
            <a:pPr algn="l">
              <a:spcAft>
                <a:spcPts val="0"/>
              </a:spcAft>
            </a:pPr>
            <a:r>
              <a:rPr sz="1100" b="1">
                <a:solidFill>
                  <a:srgbClr val="E60012"/>
                </a:solidFill>
              </a:rPr>
              <a:t>What to observe</a:t>
            </a:r>
          </a:p>
        </p:txBody>
      </p:sp>
      <p:sp>
        <p:nvSpPr>
          <p:cNvPr id="30" name="TextBox 29"/>
          <p:cNvSpPr txBox="1"/>
          <p:nvPr/>
        </p:nvSpPr>
        <p:spPr>
          <a:xfrm>
            <a:off x="658368" y="4050791"/>
            <a:ext cx="6446520" cy="1508760"/>
          </a:xfrm>
          <a:prstGeom prst="rect">
            <a:avLst/>
          </a:prstGeom>
          <a:noFill/>
        </p:spPr>
        <p:txBody>
          <a:bodyPr wrap="square" lIns="109728" tIns="73152" rIns="109728" bIns="73152" anchor="t">
            <a:spAutoFit/>
          </a:bodyPr>
          <a:lstStyle/>
          <a:p>
            <a:pPr algn="l">
              <a:lnSpc>
                <a:spcPct val="105000"/>
              </a:lnSpc>
              <a:spcAft>
                <a:spcPts val="700"/>
              </a:spcAft>
              <a:defRPr sz="1600">
                <a:solidFill>
                  <a:srgbClr val="1E2B40"/>
                </a:solidFill>
              </a:defRPr>
            </a:pPr>
            <a:r>
              <a:t>• Confirm inspection mode and client trust</a:t>
            </a:r>
          </a:p>
          <a:p>
            <a:pPr>
              <a:lnSpc>
                <a:spcPct val="105000"/>
              </a:lnSpc>
              <a:spcAft>
                <a:spcPts val="700"/>
              </a:spcAft>
              <a:defRPr sz="1600">
                <a:solidFill>
                  <a:srgbClr val="1E2B40"/>
                </a:solidFill>
              </a:defRPr>
            </a:pPr>
            <a:r>
              <a:t>• Identify which profile blocked or reset the session</a:t>
            </a:r>
          </a:p>
          <a:p>
            <a:pPr>
              <a:lnSpc>
                <a:spcPct val="105000"/>
              </a:lnSpc>
              <a:spcAft>
                <a:spcPts val="700"/>
              </a:spcAft>
              <a:defRPr sz="1600">
                <a:solidFill>
                  <a:srgbClr val="1E2B40"/>
                </a:solidFill>
              </a:defRPr>
            </a:pPr>
            <a:r>
              <a:t>• Test an approved exception without broad bypass</a:t>
            </a:r>
          </a:p>
        </p:txBody>
      </p:sp>
      <p:cxnSp>
        <p:nvCxnSpPr>
          <p:cNvPr id="31" name="Connector 30"/>
          <p:cNvCxnSpPr/>
          <p:nvPr/>
        </p:nvCxnSpPr>
        <p:spPr>
          <a:xfrm>
            <a:off x="7452360" y="3703320"/>
            <a:ext cx="0" cy="2093976"/>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7772400" y="3703320"/>
            <a:ext cx="292608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INSTRUCTOR DEMONSTRATION</a:t>
            </a:r>
            <a:endParaRPr sz="1100" b="1">
              <a:solidFill>
                <a:srgbClr val="E60012"/>
              </a:solidFill>
            </a:endParaRPr>
          </a:p>
        </p:txBody>
      </p:sp>
      <p:sp>
        <p:nvSpPr>
          <p:cNvPr id="33" name="TextBox 32"/>
          <p:cNvSpPr txBox="1"/>
          <p:nvPr/>
        </p:nvSpPr>
        <p:spPr>
          <a:xfrm>
            <a:off x="7772400" y="4096512"/>
            <a:ext cx="3337560" cy="1234440"/>
          </a:xfrm>
          <a:prstGeom prst="rect">
            <a:avLst/>
          </a:prstGeom>
          <a:noFill/>
        </p:spPr>
        <p:txBody>
          <a:bodyPr wrap="square" lIns="27432" tIns="27432" rIns="27432" bIns="27432" anchor="t">
            <a:spAutoFit/>
          </a:bodyPr>
          <a:lstStyle/>
          <a:p>
            <a:pPr algn="l">
              <a:spcAft>
                <a:spcPts val="0"/>
              </a:spcAft>
            </a:pPr>
            <a:r>
              <a:rPr sz="1500" b="1">
                <a:solidFill>
                  <a:srgbClr val="233A59"/>
                </a:solidFill>
              </a:rPr>
              <a:t>Preserve timestamps and before/after state; stop/reset debug operations.</a:t>
            </a:r>
          </a:p>
        </p:txBody>
      </p:sp>
      <p:sp>
        <p:nvSpPr>
          <p:cNvPr id="34" name="TextBox 33"/>
          <p:cNvSpPr txBox="1"/>
          <p:nvPr/>
        </p:nvSpPr>
        <p:spPr>
          <a:xfrm>
            <a:off x="7772400" y="5440680"/>
            <a:ext cx="3337560" cy="363176"/>
          </a:xfrm>
          <a:prstGeom prst="rect">
            <a:avLst/>
          </a:prstGeom>
          <a:noFill/>
        </p:spPr>
        <p:txBody>
          <a:bodyPr wrap="square" lIns="27432" tIns="27432" rIns="27432" bIns="27432" anchor="t">
            <a:spAutoFit/>
          </a:bodyPr>
          <a:lstStyle/>
          <a:p>
            <a:pPr algn="l">
              <a:spcAft>
                <a:spcPts val="0"/>
              </a:spcAft>
            </a:pPr>
            <a:r>
              <a:rPr lang="en-GB" sz="1000" b="0">
                <a:solidFill>
                  <a:srgbClr val="687385"/>
                </a:solidFill>
              </a:rPr>
              <a:t>If debug is used, filter by the test tuple and disable</a:t>
            </a:r>
            <a:r>
              <a:rPr sz="1000" b="0">
                <a:solidFill>
                  <a:srgbClr val="687385"/>
                </a:solidFill>
              </a:rPr>
              <a:t>/reset </a:t>
            </a:r>
            <a:r>
              <a:rPr lang="en-GB" sz="1000" b="0">
                <a:solidFill>
                  <a:srgbClr val="687385"/>
                </a:solidFill>
              </a:rPr>
              <a:t>it immediately </a:t>
            </a:r>
            <a:r>
              <a:rPr sz="1000" b="0">
                <a:solidFill>
                  <a:srgbClr val="687385"/>
                </a:solidFill>
              </a:rPr>
              <a:t>after </a:t>
            </a:r>
            <a:r>
              <a:rPr lang="en-GB" sz="1000" b="0">
                <a:solidFill>
                  <a:srgbClr val="687385"/>
                </a:solidFill>
              </a:rPr>
              <a:t>capture</a:t>
            </a:r>
            <a:r>
              <a:rPr sz="1000" b="0">
                <a:solidFill>
                  <a:srgbClr val="687385"/>
                </a:solidFill>
              </a:rPr>
              <a:t>.</a:t>
            </a:r>
          </a:p>
        </p:txBody>
      </p:sp>
      <p:sp>
        <p:nvSpPr>
          <p:cNvPr id="35" name="TextBox 34"/>
          <p:cNvSpPr txBox="1"/>
          <p:nvPr/>
        </p:nvSpPr>
        <p:spPr>
          <a:xfrm>
            <a:off x="502920" y="420624"/>
            <a:ext cx="10744200" cy="130805"/>
          </a:xfrm>
          <a:prstGeom prst="rect">
            <a:avLst/>
          </a:prstGeom>
          <a:noFill/>
        </p:spPr>
        <p:txBody>
          <a:bodyPr wrap="square" lIns="0" tIns="0" rIns="0" bIns="0">
            <a:spAutoFit/>
          </a:bodyPr>
          <a:lstStyle/>
          <a:p>
            <a:pPr algn="l"/>
            <a:r>
              <a:rPr lang="en-HU" sz="850" b="1">
                <a:solidFill>
                  <a:srgbClr val="687385"/>
                </a:solidFill>
              </a:rPr>
              <a:t>075</a:t>
            </a:r>
            <a:r>
              <a:rPr sz="850" b="1">
                <a:solidFill>
                  <a:srgbClr val="687385"/>
                </a:solidFill>
              </a:rPr>
              <a:t> • DAY 2 • BLOCK 07 • Security Services &amp; SSL Inspection</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76</a:t>
            </a:r>
          </a:p>
        </p:txBody>
      </p:sp>
      <p:sp>
        <p:nvSpPr>
          <p:cNvPr id="9" name="TextBox 8"/>
          <p:cNvSpPr txBox="1">
            <a:spLocks/>
          </p:cNvSpPr>
          <p:nvPr/>
        </p:nvSpPr>
        <p:spPr>
          <a:xfrm>
            <a:off x="502920" y="621792"/>
            <a:ext cx="11109960" cy="455509"/>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Practical handoff: Inspect and Block Controlled Security Events</a:t>
            </a:r>
          </a:p>
        </p:txBody>
      </p:sp>
      <p:sp>
        <p:nvSpPr>
          <p:cNvPr id="10" name="TextBox 9"/>
          <p:cNvSpPr txBox="1">
            <a:spLocks/>
          </p:cNvSpPr>
          <p:nvPr/>
        </p:nvSpPr>
        <p:spPr>
          <a:xfrm>
            <a:off x="658368" y="1554480"/>
            <a:ext cx="6583680" cy="3846117"/>
          </a:xfrm>
          <a:prstGeom prst="rect">
            <a:avLst/>
          </a:prstGeom>
          <a:noFill/>
        </p:spPr>
        <p:txBody>
          <a:bodyPr wrap="square" lIns="109728" tIns="73152" rIns="109728" bIns="73152" anchor="t">
            <a:spAutoFit/>
          </a:bodyPr>
          <a:lstStyle/>
          <a:p>
            <a:pPr algn="l">
              <a:lnSpc>
                <a:spcPct val="105000"/>
              </a:lnSpc>
              <a:spcAft>
                <a:spcPts val="800"/>
              </a:spcAft>
              <a:defRPr sz="1700">
                <a:solidFill>
                  <a:srgbClr val="1E2B40"/>
                </a:solidFill>
              </a:defRPr>
            </a:pPr>
            <a:r>
              <a:rPr lang="en-GB"/>
              <a:t>• START / PREREQUISITES: Validated Linux LAN client and DMZ HTTP/HTTPS server; logging and inspection CA package prepared.</a:t>
            </a:r>
          </a:p>
          <a:p>
            <a:pPr>
              <a:lnSpc>
                <a:spcPct val="105000"/>
              </a:lnSpc>
              <a:spcAft>
                <a:spcPts val="800"/>
              </a:spcAft>
              <a:defRPr sz="1700">
                <a:solidFill>
                  <a:srgbClr val="1E2B40"/>
                </a:solidFill>
              </a:defRPr>
            </a:pPr>
            <a:r>
              <a:rPr lang="en-GB"/>
              <a:t>• CHANGE / INVESTIGATE: Core: EICAR AV test, web-filter/log review, app-control observation, and certificate-vs-deep inspection with CA trust.</a:t>
            </a:r>
          </a:p>
          <a:p>
            <a:pPr>
              <a:lnSpc>
                <a:spcPct val="105000"/>
              </a:lnSpc>
              <a:spcAft>
                <a:spcPts val="800"/>
              </a:spcAft>
              <a:defRPr sz="1700">
                <a:solidFill>
                  <a:srgbClr val="1E2B40"/>
                </a:solidFill>
              </a:defRPr>
            </a:pPr>
            <a:r>
              <a:rPr lang="en-GB"/>
              <a:t>• EXPECTED RESULT: EICAR is blocked/logged; web/app actions are interpretable; deep inspection succeeds only after the inspection CA is trusted.</a:t>
            </a:r>
          </a:p>
          <a:p>
            <a:pPr>
              <a:lnSpc>
                <a:spcPct val="105000"/>
              </a:lnSpc>
              <a:spcAft>
                <a:spcPts val="800"/>
              </a:spcAft>
              <a:defRPr sz="1700">
                <a:solidFill>
                  <a:srgbClr val="1E2B40"/>
                </a:solidFill>
              </a:defRPr>
            </a:pPr>
            <a:r>
              <a:rPr lang="en-GB"/>
              <a:t>• CLEANUP / RESET: Delete test files, restore policy/profile and endpoint trust snapshot, and stop captures/debug.</a:t>
            </a:r>
          </a:p>
          <a:p>
            <a:pPr>
              <a:lnSpc>
                <a:spcPct val="105000"/>
              </a:lnSpc>
              <a:spcAft>
                <a:spcPts val="800"/>
              </a:spcAft>
              <a:defRPr sz="1700">
                <a:solidFill>
                  <a:srgbClr val="1E2B40"/>
                </a:solidFill>
              </a:defRPr>
            </a:pPr>
            <a:r>
              <a:rPr lang="en-GB"/>
              <a:t>• DELIVERY: Hands-on local core; controlled IPS and Internet/FortiGuard extensions only after instructor prevalidation.</a:t>
            </a:r>
          </a:p>
        </p:txBody>
      </p:sp>
      <p:cxnSp>
        <p:nvCxnSpPr>
          <p:cNvPr id="11" name="Connector 10"/>
          <p:cNvCxnSpPr/>
          <p:nvPr/>
        </p:nvCxnSpPr>
        <p:spPr>
          <a:xfrm>
            <a:off x="7452360" y="1600200"/>
            <a:ext cx="0" cy="434340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7790688" y="1627632"/>
            <a:ext cx="342900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PLANNED EXERCISE</a:t>
            </a:r>
          </a:p>
        </p:txBody>
      </p:sp>
      <p:sp>
        <p:nvSpPr>
          <p:cNvPr id="13" name="TextBox 12"/>
          <p:cNvSpPr txBox="1">
            <a:spLocks/>
          </p:cNvSpPr>
          <p:nvPr/>
        </p:nvSpPr>
        <p:spPr>
          <a:xfrm>
            <a:off x="7790688" y="2057400"/>
            <a:ext cx="3337560" cy="1101840"/>
          </a:xfrm>
          <a:prstGeom prst="rect">
            <a:avLst/>
          </a:prstGeom>
          <a:noFill/>
        </p:spPr>
        <p:txBody>
          <a:bodyPr wrap="square" lIns="27432" tIns="27432" rIns="27432" bIns="27432" anchor="t">
            <a:spAutoFit/>
          </a:bodyPr>
          <a:lstStyle/>
          <a:p>
            <a:pPr algn="l">
              <a:spcAft>
                <a:spcPts val="0"/>
              </a:spcAft>
            </a:pPr>
            <a:r>
              <a:rPr lang="en-GB" sz="1700" b="1">
                <a:solidFill>
                  <a:srgbClr val="233A59"/>
                </a:solidFill>
              </a:rPr>
              <a:t>Core: EICAR AV test, web-filter/log review, app-control observation, and certificate-vs-deep inspection with CA trust.</a:t>
            </a:r>
          </a:p>
        </p:txBody>
      </p:sp>
      <p:sp>
        <p:nvSpPr>
          <p:cNvPr id="14" name="TextBox 13"/>
          <p:cNvSpPr txBox="1">
            <a:spLocks/>
          </p:cNvSpPr>
          <p:nvPr/>
        </p:nvSpPr>
        <p:spPr>
          <a:xfrm>
            <a:off x="7790688" y="3822191"/>
            <a:ext cx="18288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EXPECTED RESULT</a:t>
            </a:r>
          </a:p>
        </p:txBody>
      </p:sp>
      <p:sp>
        <p:nvSpPr>
          <p:cNvPr id="15" name="TextBox 14"/>
          <p:cNvSpPr txBox="1">
            <a:spLocks/>
          </p:cNvSpPr>
          <p:nvPr/>
        </p:nvSpPr>
        <p:spPr>
          <a:xfrm>
            <a:off x="7790688" y="4187952"/>
            <a:ext cx="3337560" cy="978729"/>
          </a:xfrm>
          <a:prstGeom prst="rect">
            <a:avLst/>
          </a:prstGeom>
          <a:noFill/>
        </p:spPr>
        <p:txBody>
          <a:bodyPr wrap="square" lIns="27432" tIns="27432" rIns="27432" bIns="27432" anchor="t">
            <a:spAutoFit/>
          </a:bodyPr>
          <a:lstStyle/>
          <a:p>
            <a:pPr algn="l">
              <a:spcAft>
                <a:spcPts val="0"/>
              </a:spcAft>
            </a:pPr>
            <a:r>
              <a:rPr lang="en-GB" sz="1500" b="0">
                <a:solidFill>
                  <a:srgbClr val="1E2B40"/>
                </a:solidFill>
              </a:rPr>
              <a:t>EICAR is blocked/logged; web/app actions are interpretable; deep inspection succeeds only after the inspection CA is trusted.</a:t>
            </a:r>
          </a:p>
        </p:txBody>
      </p:sp>
      <p:sp>
        <p:nvSpPr>
          <p:cNvPr id="16" name="TextBox 15"/>
          <p:cNvSpPr txBox="1">
            <a:spLocks/>
          </p:cNvSpPr>
          <p:nvPr/>
        </p:nvSpPr>
        <p:spPr>
          <a:xfrm>
            <a:off x="7790688" y="5559552"/>
            <a:ext cx="1097280" cy="209288"/>
          </a:xfrm>
          <a:prstGeom prst="rect">
            <a:avLst/>
          </a:prstGeom>
          <a:noFill/>
        </p:spPr>
        <p:txBody>
          <a:bodyPr wrap="square" lIns="27432" tIns="27432" rIns="27432" bIns="27432" anchor="t">
            <a:spAutoFit/>
          </a:bodyPr>
          <a:lstStyle/>
          <a:p>
            <a:pPr algn="l">
              <a:spcAft>
                <a:spcPts val="0"/>
              </a:spcAft>
            </a:pPr>
            <a:r>
              <a:rPr lang="en-GB" sz="1000" b="1">
                <a:solidFill>
                  <a:srgbClr val="687385"/>
                </a:solidFill>
              </a:rPr>
              <a:t>DELIVERY MODE</a:t>
            </a:r>
          </a:p>
        </p:txBody>
      </p:sp>
      <p:sp>
        <p:nvSpPr>
          <p:cNvPr id="17" name="TextBox 16"/>
          <p:cNvSpPr txBox="1">
            <a:spLocks/>
          </p:cNvSpPr>
          <p:nvPr/>
        </p:nvSpPr>
        <p:spPr>
          <a:xfrm>
            <a:off x="8942832" y="5504688"/>
            <a:ext cx="2258568" cy="486287"/>
          </a:xfrm>
          <a:prstGeom prst="rect">
            <a:avLst/>
          </a:prstGeom>
          <a:noFill/>
        </p:spPr>
        <p:txBody>
          <a:bodyPr wrap="square" lIns="27432" tIns="27432" rIns="27432" bIns="27432" anchor="t">
            <a:spAutoFit/>
          </a:bodyPr>
          <a:lstStyle/>
          <a:p>
            <a:pPr algn="r">
              <a:spcAft>
                <a:spcPts val="0"/>
              </a:spcAft>
            </a:pPr>
            <a:r>
              <a:rPr lang="en-GB" sz="1400" b="0">
                <a:solidFill>
                  <a:srgbClr val="687385"/>
                </a:solidFill>
              </a:rPr>
              <a:t>Hands-on core; optional extensions</a:t>
            </a:r>
          </a:p>
        </p:txBody>
      </p:sp>
      <p:sp>
        <p:nvSpPr>
          <p:cNvPr id="18" name="TextBox 17"/>
          <p:cNvSpPr txBox="1">
            <a:spLocks/>
          </p:cNvSpPr>
          <p:nvPr/>
        </p:nvSpPr>
        <p:spPr>
          <a:xfrm>
            <a:off x="502920" y="420624"/>
            <a:ext cx="10744200" cy="130805"/>
          </a:xfrm>
          <a:prstGeom prst="rect">
            <a:avLst/>
          </a:prstGeom>
          <a:noFill/>
        </p:spPr>
        <p:txBody>
          <a:bodyPr wrap="square" lIns="0" tIns="0" rIns="0" bIns="0">
            <a:spAutoFit/>
          </a:bodyPr>
          <a:lstStyle/>
          <a:p>
            <a:pPr algn="l"/>
            <a:r>
              <a:rPr lang="en-GB" sz="850" b="1">
                <a:solidFill>
                  <a:srgbClr val="687385"/>
                </a:solidFill>
              </a:rPr>
              <a:t>076 • DAY 2 • BLOCK 07 • Security Services &amp; SSL Inspection</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77</a:t>
            </a:r>
          </a:p>
        </p:txBody>
      </p:sp>
      <p:sp>
        <p:nvSpPr>
          <p:cNvPr id="9" name="TextBox 8"/>
          <p:cNvSpPr txBox="1">
            <a:spLocks/>
          </p:cNvSpPr>
          <p:nvPr/>
        </p:nvSpPr>
        <p:spPr>
          <a:xfrm>
            <a:off x="502920" y="621792"/>
            <a:ext cx="11109960" cy="455509"/>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Knowledge check — explain the result</a:t>
            </a:r>
          </a:p>
        </p:txBody>
      </p:sp>
      <p:sp>
        <p:nvSpPr>
          <p:cNvPr id="10" name="TextBox 9"/>
          <p:cNvSpPr txBox="1">
            <a:spLocks/>
          </p:cNvSpPr>
          <p:nvPr/>
        </p:nvSpPr>
        <p:spPr>
          <a:xfrm>
            <a:off x="658368" y="1600200"/>
            <a:ext cx="5312664" cy="292608"/>
          </a:xfrm>
          <a:prstGeom prst="rect">
            <a:avLst/>
          </a:prstGeom>
          <a:noFill/>
        </p:spPr>
        <p:txBody>
          <a:bodyPr wrap="square" lIns="27432" tIns="27432" rIns="27432" bIns="27432" anchor="t">
            <a:spAutoFit/>
          </a:bodyPr>
          <a:lstStyle/>
          <a:p>
            <a:pPr algn="l">
              <a:spcAft>
                <a:spcPts val="0"/>
              </a:spcAft>
            </a:pPr>
            <a:r>
              <a:rPr lang="en-GB" sz="1300" b="1">
                <a:solidFill>
                  <a:srgbClr val="E60012"/>
                </a:solidFill>
              </a:rPr>
              <a:t>QUESTION 1</a:t>
            </a:r>
          </a:p>
        </p:txBody>
      </p:sp>
      <p:cxnSp>
        <p:nvCxnSpPr>
          <p:cNvPr id="11" name="Connector 10"/>
          <p:cNvCxnSpPr/>
          <p:nvPr/>
        </p:nvCxnSpPr>
        <p:spPr>
          <a:xfrm>
            <a:off x="658368" y="1984248"/>
            <a:ext cx="5312664" cy="0"/>
          </a:xfrm>
          <a:prstGeom prst="line">
            <a:avLst/>
          </a:prstGeom>
          <a:ln w="22860">
            <a:solidFill>
              <a:srgbClr val="E60012"/>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658368" y="2176272"/>
            <a:ext cx="5312664" cy="3337560"/>
          </a:xfrm>
          <a:prstGeom prst="rect">
            <a:avLst/>
          </a:prstGeom>
          <a:noFill/>
        </p:spPr>
        <p:txBody>
          <a:bodyPr wrap="square" lIns="109728" tIns="73152" rIns="109728" bIns="73152" anchor="t">
            <a:spAutoFit/>
          </a:bodyPr>
          <a:lstStyle/>
          <a:p>
            <a:pPr algn="l">
              <a:lnSpc>
                <a:spcPct val="105000"/>
              </a:lnSpc>
              <a:spcAft>
                <a:spcPts val="800"/>
              </a:spcAft>
              <a:defRPr sz="1600">
                <a:solidFill>
                  <a:srgbClr val="1E2B40"/>
                </a:solidFill>
              </a:defRPr>
            </a:pPr>
            <a:r>
              <a:rPr lang="en-GB"/>
              <a:t>• What payload does certificate inspection decrypt?</a:t>
            </a:r>
          </a:p>
        </p:txBody>
      </p:sp>
      <p:sp>
        <p:nvSpPr>
          <p:cNvPr id="13" name="TextBox 12"/>
          <p:cNvSpPr txBox="1"/>
          <p:nvPr/>
        </p:nvSpPr>
        <p:spPr>
          <a:xfrm>
            <a:off x="6227064" y="1600200"/>
            <a:ext cx="5312664" cy="292608"/>
          </a:xfrm>
          <a:prstGeom prst="rect">
            <a:avLst/>
          </a:prstGeom>
          <a:noFill/>
        </p:spPr>
        <p:txBody>
          <a:bodyPr wrap="square" lIns="27432" tIns="27432" rIns="27432" bIns="27432" anchor="t">
            <a:spAutoFit/>
          </a:bodyPr>
          <a:lstStyle/>
          <a:p>
            <a:pPr algn="l">
              <a:spcAft>
                <a:spcPts val="0"/>
              </a:spcAft>
            </a:pPr>
            <a:r>
              <a:rPr sz="1300" b="1">
                <a:solidFill>
                  <a:srgbClr val="E60012"/>
                </a:solidFill>
              </a:rPr>
              <a:t>QUESTION 2</a:t>
            </a:r>
          </a:p>
        </p:txBody>
      </p:sp>
      <p:cxnSp>
        <p:nvCxnSpPr>
          <p:cNvPr id="14" name="Connector 13"/>
          <p:cNvCxnSpPr/>
          <p:nvPr/>
        </p:nvCxnSpPr>
        <p:spPr>
          <a:xfrm>
            <a:off x="6227064" y="1984248"/>
            <a:ext cx="5312664" cy="0"/>
          </a:xfrm>
          <a:prstGeom prst="line">
            <a:avLst/>
          </a:prstGeom>
          <a:ln w="22860">
            <a:solidFill>
              <a:srgbClr val="E60012"/>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227064" y="2176272"/>
            <a:ext cx="5312664" cy="3337560"/>
          </a:xfrm>
          <a:prstGeom prst="rect">
            <a:avLst/>
          </a:prstGeom>
          <a:noFill/>
        </p:spPr>
        <p:txBody>
          <a:bodyPr wrap="square" lIns="109728" tIns="73152" rIns="109728" bIns="73152" anchor="t">
            <a:spAutoFit/>
          </a:bodyPr>
          <a:lstStyle/>
          <a:p>
            <a:pPr algn="l">
              <a:lnSpc>
                <a:spcPct val="105000"/>
              </a:lnSpc>
              <a:spcAft>
                <a:spcPts val="800"/>
              </a:spcAft>
              <a:defRPr sz="1600">
                <a:solidFill>
                  <a:srgbClr val="1E2B40"/>
                </a:solidFill>
              </a:defRPr>
            </a:pPr>
            <a:r>
              <a:t>• Why can deep inspection break an otherwise reachable site?</a:t>
            </a:r>
          </a:p>
        </p:txBody>
      </p:sp>
      <p:sp>
        <p:nvSpPr>
          <p:cNvPr id="16" name="TextBox 15"/>
          <p:cNvSpPr txBox="1"/>
          <p:nvPr/>
        </p:nvSpPr>
        <p:spPr>
          <a:xfrm>
            <a:off x="658368" y="5724144"/>
            <a:ext cx="1234440" cy="224677"/>
          </a:xfrm>
          <a:prstGeom prst="rect">
            <a:avLst/>
          </a:prstGeom>
          <a:noFill/>
        </p:spPr>
        <p:txBody>
          <a:bodyPr wrap="square" lIns="27432" tIns="27432" rIns="27432" bIns="27432" anchor="t">
            <a:spAutoFit/>
          </a:bodyPr>
          <a:lstStyle/>
          <a:p>
            <a:pPr algn="l">
              <a:spcAft>
                <a:spcPts val="0"/>
              </a:spcAft>
            </a:pPr>
            <a:r>
              <a:rPr lang="en-GB" sz="1100" b="1">
                <a:solidFill>
                  <a:srgbClr val="233A59"/>
                </a:solidFill>
              </a:rPr>
              <a:t>KEY DISTINCTION</a:t>
            </a:r>
            <a:endParaRPr sz="1100" b="1">
              <a:solidFill>
                <a:srgbClr val="233A59"/>
              </a:solidFill>
            </a:endParaRPr>
          </a:p>
        </p:txBody>
      </p:sp>
      <p:sp>
        <p:nvSpPr>
          <p:cNvPr id="17" name="TextBox 16"/>
          <p:cNvSpPr txBox="1"/>
          <p:nvPr/>
        </p:nvSpPr>
        <p:spPr>
          <a:xfrm>
            <a:off x="1920240" y="5687568"/>
            <a:ext cx="9235440" cy="329184"/>
          </a:xfrm>
          <a:prstGeom prst="rect">
            <a:avLst/>
          </a:prstGeom>
          <a:noFill/>
        </p:spPr>
        <p:txBody>
          <a:bodyPr wrap="square" lIns="27432" tIns="27432" rIns="27432" bIns="27432" anchor="t">
            <a:spAutoFit/>
          </a:bodyPr>
          <a:lstStyle/>
          <a:p>
            <a:pPr algn="l">
              <a:spcAft>
                <a:spcPts val="0"/>
              </a:spcAft>
            </a:pPr>
            <a:r>
              <a:rPr sz="1400" b="1">
                <a:solidFill>
                  <a:srgbClr val="233A59"/>
                </a:solidFill>
              </a:rPr>
              <a:t>Answers and teaching rationale are in speaker notes.</a:t>
            </a:r>
          </a:p>
        </p:txBody>
      </p:sp>
      <p:sp>
        <p:nvSpPr>
          <p:cNvPr id="18" name="TextBox 17"/>
          <p:cNvSpPr txBox="1"/>
          <p:nvPr/>
        </p:nvSpPr>
        <p:spPr>
          <a:xfrm>
            <a:off x="502920" y="420624"/>
            <a:ext cx="10744200" cy="130805"/>
          </a:xfrm>
          <a:prstGeom prst="rect">
            <a:avLst/>
          </a:prstGeom>
          <a:noFill/>
        </p:spPr>
        <p:txBody>
          <a:bodyPr wrap="square" lIns="0" tIns="0" rIns="0" bIns="0">
            <a:spAutoFit/>
          </a:bodyPr>
          <a:lstStyle/>
          <a:p>
            <a:pPr algn="l"/>
            <a:r>
              <a:rPr lang="en-HU" sz="850" b="1">
                <a:solidFill>
                  <a:srgbClr val="687385"/>
                </a:solidFill>
              </a:rPr>
              <a:t>077</a:t>
            </a:r>
            <a:r>
              <a:rPr sz="850" b="1">
                <a:solidFill>
                  <a:srgbClr val="687385"/>
                </a:solidFill>
              </a:rPr>
              <a:t> • DAY 2 • BLOCK 07 • Security Services &amp; SSL Inspection</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101827"/>
        </a:solidFill>
        <a:effectLst/>
      </p:bgPr>
    </p:bg>
    <p:spTree>
      <p:nvGrpSpPr>
        <p:cNvPr id="1" name=""/>
        <p:cNvGrpSpPr/>
        <p:nvPr/>
      </p:nvGrpSpPr>
      <p:grpSpPr>
        <a:xfrm>
          <a:off x="0" y="0"/>
          <a:ext cx="1" cy="1"/>
          <a:chOff x="0" y="0"/>
          <a:chExt cx="1" cy="1"/>
        </a:xfrm>
      </p:grpSpPr>
      <p:sp>
        <p:nvSpPr>
          <p:cNvPr id="2" name="Rectangle 1"/>
          <p:cNvSpPr/>
          <p:nvPr/>
        </p:nvSpPr>
        <p:spPr>
          <a:xfrm>
            <a:off x="0" y="0"/>
            <a:ext cx="146304" cy="6858000"/>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a:spLocks/>
          </p:cNvSpPr>
          <p:nvPr/>
        </p:nvSpPr>
        <p:spPr>
          <a:xfrm>
            <a:off x="658368" y="566928"/>
            <a:ext cx="5212080" cy="256032"/>
          </a:xfrm>
          <a:prstGeom prst="rect">
            <a:avLst/>
          </a:prstGeom>
          <a:noFill/>
        </p:spPr>
        <p:txBody>
          <a:bodyPr wrap="square" lIns="27432" tIns="27432" rIns="27432" bIns="27432" anchor="t">
            <a:spAutoFit/>
          </a:bodyPr>
          <a:lstStyle/>
          <a:p>
            <a:pPr algn="l">
              <a:spcAft>
                <a:spcPts val="0"/>
              </a:spcAft>
            </a:pPr>
            <a:r>
              <a:rPr lang="en-GB" sz="1400" b="1">
                <a:solidFill>
                  <a:srgbClr val="E60012"/>
                </a:solidFill>
              </a:rPr>
              <a:t>DAY 2  •  14:30–16:00</a:t>
            </a:r>
          </a:p>
        </p:txBody>
      </p:sp>
      <p:sp>
        <p:nvSpPr>
          <p:cNvPr id="4" name="TextBox 3"/>
          <p:cNvSpPr txBox="1">
            <a:spLocks/>
          </p:cNvSpPr>
          <p:nvPr/>
        </p:nvSpPr>
        <p:spPr>
          <a:xfrm>
            <a:off x="658368" y="1097280"/>
            <a:ext cx="10515600" cy="914400"/>
          </a:xfrm>
          <a:prstGeom prst="rect">
            <a:avLst/>
          </a:prstGeom>
          <a:noFill/>
        </p:spPr>
        <p:txBody>
          <a:bodyPr wrap="square" lIns="27432" tIns="27432" rIns="27432" bIns="27432" anchor="t">
            <a:spAutoFit/>
          </a:bodyPr>
          <a:lstStyle/>
          <a:p>
            <a:pPr algn="l">
              <a:spcAft>
                <a:spcPts val="0"/>
              </a:spcAft>
            </a:pPr>
            <a:r>
              <a:rPr lang="en-GB" sz="3400" b="1">
                <a:solidFill>
                  <a:srgbClr val="FFFFFF"/>
                </a:solidFill>
              </a:rPr>
              <a:t>FortiGate Hardware Architecture, Monitoring &amp; Operations</a:t>
            </a:r>
          </a:p>
        </p:txBody>
      </p:sp>
      <p:sp>
        <p:nvSpPr>
          <p:cNvPr id="5" name="TextBox 4"/>
          <p:cNvSpPr txBox="1">
            <a:spLocks/>
          </p:cNvSpPr>
          <p:nvPr/>
        </p:nvSpPr>
        <p:spPr>
          <a:xfrm>
            <a:off x="676656" y="2084831"/>
            <a:ext cx="8686800" cy="320040"/>
          </a:xfrm>
          <a:prstGeom prst="rect">
            <a:avLst/>
          </a:prstGeom>
          <a:noFill/>
        </p:spPr>
        <p:txBody>
          <a:bodyPr wrap="square" lIns="27432" tIns="27432" rIns="27432" bIns="27432" anchor="t">
            <a:spAutoFit/>
          </a:bodyPr>
          <a:lstStyle/>
          <a:p>
            <a:pPr algn="l">
              <a:spcAft>
                <a:spcPts val="0"/>
              </a:spcAft>
            </a:pPr>
            <a:r>
              <a:rPr lang="en-GB" sz="1500" b="0">
                <a:solidFill>
                  <a:srgbClr val="C9D1DD"/>
                </a:solidFill>
              </a:rPr>
              <a:t>Foundations • Day 2 of 2</a:t>
            </a:r>
          </a:p>
        </p:txBody>
      </p:sp>
      <p:cxnSp>
        <p:nvCxnSpPr>
          <p:cNvPr id="6" name="Connector 5"/>
          <p:cNvCxnSpPr/>
          <p:nvPr/>
        </p:nvCxnSpPr>
        <p:spPr>
          <a:xfrm>
            <a:off x="676656" y="2578608"/>
            <a:ext cx="10616184" cy="0"/>
          </a:xfrm>
          <a:prstGeom prst="line">
            <a:avLst/>
          </a:prstGeom>
          <a:ln w="12700">
            <a:solidFill>
              <a:srgbClr val="40516A"/>
            </a:solidFill>
          </a:ln>
        </p:spPr>
        <p:style>
          <a:lnRef idx="2">
            <a:schemeClr val="accent1"/>
          </a:lnRef>
          <a:fillRef idx="0">
            <a:schemeClr val="accent1"/>
          </a:fillRef>
          <a:effectRef idx="1">
            <a:schemeClr val="accent1"/>
          </a:effectRef>
          <a:fontRef idx="minor">
            <a:schemeClr val="tx1"/>
          </a:fontRef>
        </p:style>
      </p:cxnSp>
      <p:sp>
        <p:nvSpPr>
          <p:cNvPr id="7" name="TextBox 6"/>
          <p:cNvSpPr txBox="1">
            <a:spLocks/>
          </p:cNvSpPr>
          <p:nvPr/>
        </p:nvSpPr>
        <p:spPr>
          <a:xfrm>
            <a:off x="685800" y="2889504"/>
            <a:ext cx="27432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LEARNING OBJECTIVES</a:t>
            </a:r>
          </a:p>
        </p:txBody>
      </p:sp>
      <p:sp>
        <p:nvSpPr>
          <p:cNvPr id="8" name="TextBox 7"/>
          <p:cNvSpPr txBox="1">
            <a:spLocks/>
          </p:cNvSpPr>
          <p:nvPr/>
        </p:nvSpPr>
        <p:spPr>
          <a:xfrm>
            <a:off x="685800" y="3218688"/>
            <a:ext cx="6035040" cy="1132618"/>
          </a:xfrm>
          <a:prstGeom prst="rect">
            <a:avLst/>
          </a:prstGeom>
          <a:noFill/>
        </p:spPr>
        <p:txBody>
          <a:bodyPr wrap="square" lIns="109728" tIns="73152" rIns="109728" bIns="73152" anchor="t">
            <a:spAutoFit/>
          </a:bodyPr>
          <a:lstStyle/>
          <a:p>
            <a:r>
              <a:rPr lang="en-GB" sz="1600">
                <a:solidFill>
                  <a:srgbClr val="FFFFFF"/>
                </a:solidFill>
              </a:rPr>
              <a:t>• Distinguish management, control and data planes</a:t>
            </a:r>
          </a:p>
          <a:p>
            <a:r>
              <a:rPr lang="en-GB" sz="1600">
                <a:solidFill>
                  <a:srgbClr val="FFFFFF"/>
                </a:solidFill>
              </a:rPr>
              <a:t>• Explain NP/CP acceleration versus Azure FGVM datapaths</a:t>
            </a:r>
          </a:p>
          <a:p>
            <a:r>
              <a:rPr lang="en-GB" sz="1600">
                <a:solidFill>
                  <a:srgbClr val="FFFFFF"/>
                </a:solidFill>
              </a:rPr>
              <a:t>• Monitor performance and plan supervised backup/restore/firmware maintenance</a:t>
            </a:r>
          </a:p>
        </p:txBody>
      </p:sp>
      <p:sp>
        <p:nvSpPr>
          <p:cNvPr id="9" name="TextBox 8"/>
          <p:cNvSpPr txBox="1">
            <a:spLocks/>
          </p:cNvSpPr>
          <p:nvPr/>
        </p:nvSpPr>
        <p:spPr>
          <a:xfrm>
            <a:off x="7315200" y="2889504"/>
            <a:ext cx="36576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PREREQUISITES + PRACTICE RESERVE</a:t>
            </a:r>
          </a:p>
        </p:txBody>
      </p:sp>
      <p:sp>
        <p:nvSpPr>
          <p:cNvPr id="10" name="TextBox 9"/>
          <p:cNvSpPr txBox="1">
            <a:spLocks/>
          </p:cNvSpPr>
          <p:nvPr/>
        </p:nvSpPr>
        <p:spPr>
          <a:xfrm>
            <a:off x="7315200" y="3218688"/>
            <a:ext cx="3886200" cy="1132618"/>
          </a:xfrm>
          <a:prstGeom prst="rect">
            <a:avLst/>
          </a:prstGeom>
          <a:noFill/>
        </p:spPr>
        <p:txBody>
          <a:bodyPr wrap="square" lIns="109728" tIns="73152" rIns="109728" bIns="73152" anchor="t">
            <a:spAutoFit/>
          </a:bodyPr>
          <a:lstStyle/>
          <a:p>
            <a:r>
              <a:rPr lang="en-GB" sz="1600">
                <a:solidFill>
                  <a:srgbClr val="FFFFFF"/>
                </a:solidFill>
              </a:rPr>
              <a:t>• Read-only operational access</a:t>
            </a:r>
          </a:p>
          <a:p>
            <a:r>
              <a:rPr lang="en-GB" sz="1600">
                <a:solidFill>
                  <a:srgbClr val="FFFFFF"/>
                </a:solidFill>
              </a:rPr>
              <a:t>• FortiOS 7.6.7 Azure FGVM baseline</a:t>
            </a:r>
          </a:p>
          <a:p>
            <a:r>
              <a:rPr lang="en-GB" sz="1600">
                <a:solidFill>
                  <a:srgbClr val="FFFFFF"/>
                </a:solidFill>
              </a:rPr>
              <a:t>• Tested backup, image and recovery path before disruptive maintenance</a:t>
            </a:r>
          </a:p>
        </p:txBody>
      </p:sp>
      <p:sp>
        <p:nvSpPr>
          <p:cNvPr id="11" name="TextBox 10"/>
          <p:cNvSpPr txBox="1">
            <a:spLocks/>
          </p:cNvSpPr>
          <p:nvPr/>
        </p:nvSpPr>
        <p:spPr>
          <a:xfrm>
            <a:off x="7315200" y="4709160"/>
            <a:ext cx="3931920" cy="685800"/>
          </a:xfrm>
          <a:prstGeom prst="rect">
            <a:avLst/>
          </a:prstGeom>
          <a:noFill/>
        </p:spPr>
        <p:txBody>
          <a:bodyPr wrap="square" lIns="27432" tIns="27432" rIns="27432" bIns="27432" anchor="t">
            <a:spAutoFit/>
          </a:bodyPr>
          <a:lstStyle/>
          <a:p>
            <a:pPr algn="l">
              <a:spcAft>
                <a:spcPts val="0"/>
              </a:spcAft>
            </a:pPr>
            <a:r>
              <a:rPr lang="en-GB" sz="1600" b="1">
                <a:solidFill>
                  <a:srgbClr val="D8E0EA"/>
                </a:solidFill>
              </a:rPr>
              <a:t>Teach ~54 min • reserve ~36 min for guided activity, discussion and debrief</a:t>
            </a:r>
          </a:p>
        </p:txBody>
      </p:sp>
      <p:sp>
        <p:nvSpPr>
          <p:cNvPr id="12" name="TextBox 11"/>
          <p:cNvSpPr txBox="1">
            <a:spLocks/>
          </p:cNvSpPr>
          <p:nvPr/>
        </p:nvSpPr>
        <p:spPr>
          <a:xfrm>
            <a:off x="10424160" y="5715000"/>
            <a:ext cx="731520" cy="363176"/>
          </a:xfrm>
          <a:prstGeom prst="rect">
            <a:avLst/>
          </a:prstGeom>
          <a:noFill/>
        </p:spPr>
        <p:txBody>
          <a:bodyPr wrap="square" lIns="27432" tIns="27432" rIns="27432" bIns="27432" anchor="t">
            <a:spAutoFit/>
          </a:bodyPr>
          <a:lstStyle/>
          <a:p>
            <a:pPr algn="r">
              <a:spcAft>
                <a:spcPts val="0"/>
              </a:spcAft>
            </a:pPr>
            <a:r>
              <a:rPr lang="en-HU" sz="2000" b="1">
                <a:solidFill>
                  <a:srgbClr val="E60012"/>
                </a:solidFill>
              </a:rPr>
              <a:t>078</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79</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Planes separate configuration, decisions and packet work</a:t>
            </a:r>
          </a:p>
        </p:txBody>
      </p:sp>
      <p:sp>
        <p:nvSpPr>
          <p:cNvPr id="10" name="TextBox 9"/>
          <p:cNvSpPr txBox="1">
            <a:spLocks/>
          </p:cNvSpPr>
          <p:nvPr/>
        </p:nvSpPr>
        <p:spPr>
          <a:xfrm>
            <a:off x="658368" y="1600200"/>
            <a:ext cx="3456432" cy="292608"/>
          </a:xfrm>
          <a:prstGeom prst="rect">
            <a:avLst/>
          </a:prstGeom>
          <a:noFill/>
        </p:spPr>
        <p:txBody>
          <a:bodyPr wrap="square" lIns="27432" tIns="27432" rIns="27432" bIns="27432" anchor="t">
            <a:spAutoFit/>
          </a:bodyPr>
          <a:lstStyle/>
          <a:p>
            <a:pPr algn="l">
              <a:spcAft>
                <a:spcPts val="0"/>
              </a:spcAft>
            </a:pPr>
            <a:r>
              <a:rPr lang="en-GB" sz="1300" b="1">
                <a:solidFill>
                  <a:srgbClr val="E60012"/>
                </a:solidFill>
              </a:rPr>
              <a:t>MANAGEMENT</a:t>
            </a:r>
          </a:p>
        </p:txBody>
      </p:sp>
      <p:cxnSp>
        <p:nvCxnSpPr>
          <p:cNvPr id="11" name="Connector 10"/>
          <p:cNvCxnSpPr/>
          <p:nvPr/>
        </p:nvCxnSpPr>
        <p:spPr>
          <a:xfrm>
            <a:off x="658368" y="1984248"/>
            <a:ext cx="3456432" cy="0"/>
          </a:xfrm>
          <a:prstGeom prst="line">
            <a:avLst/>
          </a:prstGeom>
          <a:ln w="22860">
            <a:solidFill>
              <a:srgbClr val="E60012"/>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658368" y="2176272"/>
            <a:ext cx="3456432" cy="3337560"/>
          </a:xfrm>
          <a:prstGeom prst="rect">
            <a:avLst/>
          </a:prstGeom>
          <a:noFill/>
        </p:spPr>
        <p:txBody>
          <a:bodyPr wrap="square" lIns="109728" tIns="73152" rIns="109728" bIns="73152" anchor="t">
            <a:spAutoFit/>
          </a:bodyPr>
          <a:lstStyle/>
          <a:p>
            <a:pPr algn="l">
              <a:lnSpc>
                <a:spcPct val="105000"/>
              </a:lnSpc>
              <a:spcAft>
                <a:spcPts val="800"/>
              </a:spcAft>
              <a:defRPr sz="1600">
                <a:solidFill>
                  <a:srgbClr val="1E2B40"/>
                </a:solidFill>
              </a:defRPr>
            </a:pPr>
            <a:r>
              <a:rPr lang="en-GB"/>
              <a:t>• GUI/CLI/API</a:t>
            </a:r>
          </a:p>
          <a:p>
            <a:pPr>
              <a:lnSpc>
                <a:spcPct val="105000"/>
              </a:lnSpc>
              <a:spcAft>
                <a:spcPts val="800"/>
              </a:spcAft>
              <a:defRPr sz="1600">
                <a:solidFill>
                  <a:srgbClr val="1E2B40"/>
                </a:solidFill>
              </a:defRPr>
            </a:pPr>
            <a:r>
              <a:rPr lang="en-GB"/>
              <a:t>• Admins/config</a:t>
            </a:r>
          </a:p>
        </p:txBody>
      </p:sp>
      <p:sp>
        <p:nvSpPr>
          <p:cNvPr id="13" name="TextBox 12"/>
          <p:cNvSpPr txBox="1">
            <a:spLocks/>
          </p:cNvSpPr>
          <p:nvPr/>
        </p:nvSpPr>
        <p:spPr>
          <a:xfrm>
            <a:off x="4370831" y="1600200"/>
            <a:ext cx="3456432" cy="292608"/>
          </a:xfrm>
          <a:prstGeom prst="rect">
            <a:avLst/>
          </a:prstGeom>
          <a:noFill/>
        </p:spPr>
        <p:txBody>
          <a:bodyPr wrap="square" lIns="27432" tIns="27432" rIns="27432" bIns="27432" anchor="t">
            <a:spAutoFit/>
          </a:bodyPr>
          <a:lstStyle/>
          <a:p>
            <a:pPr algn="l">
              <a:spcAft>
                <a:spcPts val="0"/>
              </a:spcAft>
            </a:pPr>
            <a:r>
              <a:rPr lang="en-GB" sz="1300" b="1">
                <a:solidFill>
                  <a:srgbClr val="E60012"/>
                </a:solidFill>
              </a:rPr>
              <a:t>CONTROL</a:t>
            </a:r>
          </a:p>
        </p:txBody>
      </p:sp>
      <p:cxnSp>
        <p:nvCxnSpPr>
          <p:cNvPr id="14" name="Connector 13"/>
          <p:cNvCxnSpPr/>
          <p:nvPr/>
        </p:nvCxnSpPr>
        <p:spPr>
          <a:xfrm>
            <a:off x="4370831" y="1984248"/>
            <a:ext cx="3456432" cy="0"/>
          </a:xfrm>
          <a:prstGeom prst="line">
            <a:avLst/>
          </a:prstGeom>
          <a:ln w="22860">
            <a:solidFill>
              <a:srgbClr val="E60012"/>
            </a:solidFill>
          </a:ln>
        </p:spPr>
        <p:style>
          <a:lnRef idx="2">
            <a:schemeClr val="accent1"/>
          </a:lnRef>
          <a:fillRef idx="0">
            <a:schemeClr val="accent1"/>
          </a:fillRef>
          <a:effectRef idx="1">
            <a:schemeClr val="accent1"/>
          </a:effectRef>
          <a:fontRef idx="minor">
            <a:schemeClr val="tx1"/>
          </a:fontRef>
        </p:style>
      </p:cxnSp>
      <p:sp>
        <p:nvSpPr>
          <p:cNvPr id="15" name="TextBox 14"/>
          <p:cNvSpPr txBox="1">
            <a:spLocks/>
          </p:cNvSpPr>
          <p:nvPr/>
        </p:nvSpPr>
        <p:spPr>
          <a:xfrm>
            <a:off x="4370831" y="2176272"/>
            <a:ext cx="3456432" cy="3337560"/>
          </a:xfrm>
          <a:prstGeom prst="rect">
            <a:avLst/>
          </a:prstGeom>
          <a:noFill/>
        </p:spPr>
        <p:txBody>
          <a:bodyPr wrap="square" lIns="109728" tIns="73152" rIns="109728" bIns="73152" anchor="t">
            <a:spAutoFit/>
          </a:bodyPr>
          <a:lstStyle/>
          <a:p>
            <a:pPr algn="l">
              <a:lnSpc>
                <a:spcPct val="105000"/>
              </a:lnSpc>
              <a:spcAft>
                <a:spcPts val="800"/>
              </a:spcAft>
              <a:defRPr sz="1600">
                <a:solidFill>
                  <a:srgbClr val="1E2B40"/>
                </a:solidFill>
              </a:defRPr>
            </a:pPr>
            <a:r>
              <a:rPr lang="en-GB"/>
              <a:t>• Routes/HA/state</a:t>
            </a:r>
          </a:p>
          <a:p>
            <a:pPr>
              <a:lnSpc>
                <a:spcPct val="105000"/>
              </a:lnSpc>
              <a:spcAft>
                <a:spcPts val="800"/>
              </a:spcAft>
              <a:defRPr sz="1600">
                <a:solidFill>
                  <a:srgbClr val="1E2B40"/>
                </a:solidFill>
              </a:defRPr>
            </a:pPr>
            <a:r>
              <a:rPr lang="en-GB"/>
              <a:t>• Protocol decisions</a:t>
            </a:r>
          </a:p>
        </p:txBody>
      </p:sp>
      <p:sp>
        <p:nvSpPr>
          <p:cNvPr id="16" name="TextBox 15"/>
          <p:cNvSpPr txBox="1">
            <a:spLocks/>
          </p:cNvSpPr>
          <p:nvPr/>
        </p:nvSpPr>
        <p:spPr>
          <a:xfrm>
            <a:off x="8083296" y="1600200"/>
            <a:ext cx="3456432" cy="292608"/>
          </a:xfrm>
          <a:prstGeom prst="rect">
            <a:avLst/>
          </a:prstGeom>
          <a:noFill/>
        </p:spPr>
        <p:txBody>
          <a:bodyPr wrap="square" lIns="27432" tIns="27432" rIns="27432" bIns="27432" anchor="t">
            <a:spAutoFit/>
          </a:bodyPr>
          <a:lstStyle/>
          <a:p>
            <a:pPr algn="l">
              <a:spcAft>
                <a:spcPts val="0"/>
              </a:spcAft>
            </a:pPr>
            <a:r>
              <a:rPr lang="en-GB" sz="1300" b="1">
                <a:solidFill>
                  <a:srgbClr val="E60012"/>
                </a:solidFill>
              </a:rPr>
              <a:t>DATA</a:t>
            </a:r>
          </a:p>
        </p:txBody>
      </p:sp>
      <p:cxnSp>
        <p:nvCxnSpPr>
          <p:cNvPr id="17" name="Connector 16"/>
          <p:cNvCxnSpPr/>
          <p:nvPr/>
        </p:nvCxnSpPr>
        <p:spPr>
          <a:xfrm>
            <a:off x="8083296" y="1984248"/>
            <a:ext cx="3456432" cy="0"/>
          </a:xfrm>
          <a:prstGeom prst="line">
            <a:avLst/>
          </a:prstGeom>
          <a:ln w="22860">
            <a:solidFill>
              <a:srgbClr val="E60012"/>
            </a:solidFill>
          </a:ln>
        </p:spPr>
        <p:style>
          <a:lnRef idx="2">
            <a:schemeClr val="accent1"/>
          </a:lnRef>
          <a:fillRef idx="0">
            <a:schemeClr val="accent1"/>
          </a:fillRef>
          <a:effectRef idx="1">
            <a:schemeClr val="accent1"/>
          </a:effectRef>
          <a:fontRef idx="minor">
            <a:schemeClr val="tx1"/>
          </a:fontRef>
        </p:style>
      </p:cxnSp>
      <p:sp>
        <p:nvSpPr>
          <p:cNvPr id="18" name="TextBox 17"/>
          <p:cNvSpPr txBox="1">
            <a:spLocks/>
          </p:cNvSpPr>
          <p:nvPr/>
        </p:nvSpPr>
        <p:spPr>
          <a:xfrm>
            <a:off x="8083296" y="2176272"/>
            <a:ext cx="3456432" cy="3337560"/>
          </a:xfrm>
          <a:prstGeom prst="rect">
            <a:avLst/>
          </a:prstGeom>
          <a:noFill/>
        </p:spPr>
        <p:txBody>
          <a:bodyPr wrap="square" lIns="109728" tIns="73152" rIns="109728" bIns="73152" anchor="t">
            <a:spAutoFit/>
          </a:bodyPr>
          <a:lstStyle/>
          <a:p>
            <a:pPr algn="l">
              <a:lnSpc>
                <a:spcPct val="105000"/>
              </a:lnSpc>
              <a:spcAft>
                <a:spcPts val="800"/>
              </a:spcAft>
              <a:defRPr sz="1600">
                <a:solidFill>
                  <a:srgbClr val="1E2B40"/>
                </a:solidFill>
              </a:defRPr>
            </a:pPr>
            <a:r>
              <a:rPr lang="en-GB"/>
              <a:t>• Sessions/forwarding</a:t>
            </a:r>
          </a:p>
          <a:p>
            <a:pPr>
              <a:lnSpc>
                <a:spcPct val="105000"/>
              </a:lnSpc>
              <a:spcAft>
                <a:spcPts val="800"/>
              </a:spcAft>
              <a:defRPr sz="1600">
                <a:solidFill>
                  <a:srgbClr val="1E2B40"/>
                </a:solidFill>
              </a:defRPr>
            </a:pPr>
            <a:r>
              <a:rPr lang="en-GB"/>
              <a:t>• NAT/security engines</a:t>
            </a:r>
          </a:p>
        </p:txBody>
      </p:sp>
      <p:sp>
        <p:nvSpPr>
          <p:cNvPr id="19" name="TextBox 18"/>
          <p:cNvSpPr txBox="1">
            <a:spLocks/>
          </p:cNvSpPr>
          <p:nvPr/>
        </p:nvSpPr>
        <p:spPr>
          <a:xfrm>
            <a:off x="658368" y="5724144"/>
            <a:ext cx="1234440" cy="224677"/>
          </a:xfrm>
          <a:prstGeom prst="rect">
            <a:avLst/>
          </a:prstGeom>
          <a:noFill/>
        </p:spPr>
        <p:txBody>
          <a:bodyPr wrap="square" lIns="27432" tIns="27432" rIns="27432" bIns="27432" anchor="t">
            <a:spAutoFit/>
          </a:bodyPr>
          <a:lstStyle/>
          <a:p>
            <a:pPr algn="l">
              <a:spcAft>
                <a:spcPts val="0"/>
              </a:spcAft>
            </a:pPr>
            <a:r>
              <a:rPr lang="en-GB" sz="1100" b="1">
                <a:solidFill>
                  <a:srgbClr val="233A59"/>
                </a:solidFill>
              </a:rPr>
              <a:t>KEY DISTINCTION</a:t>
            </a:r>
          </a:p>
        </p:txBody>
      </p:sp>
      <p:sp>
        <p:nvSpPr>
          <p:cNvPr id="20" name="TextBox 19"/>
          <p:cNvSpPr txBox="1">
            <a:spLocks/>
          </p:cNvSpPr>
          <p:nvPr/>
        </p:nvSpPr>
        <p:spPr>
          <a:xfrm>
            <a:off x="1920240" y="5687568"/>
            <a:ext cx="9235440" cy="329184"/>
          </a:xfrm>
          <a:prstGeom prst="rect">
            <a:avLst/>
          </a:prstGeom>
          <a:noFill/>
        </p:spPr>
        <p:txBody>
          <a:bodyPr wrap="square" lIns="27432" tIns="27432" rIns="27432" bIns="27432" anchor="t">
            <a:spAutoFit/>
          </a:bodyPr>
          <a:lstStyle/>
          <a:p>
            <a:pPr algn="l">
              <a:spcAft>
                <a:spcPts val="0"/>
              </a:spcAft>
            </a:pPr>
            <a:r>
              <a:rPr lang="en-GB" sz="1400" b="1">
                <a:solidFill>
                  <a:srgbClr val="233A59"/>
                </a:solidFill>
              </a:rPr>
              <a:t>GUI responsiveness does not prove packet forwarding health; forwarding does not prove routing adjacency health</a:t>
            </a:r>
          </a:p>
        </p:txBody>
      </p:sp>
      <p:sp>
        <p:nvSpPr>
          <p:cNvPr id="21" name="TextBox 20"/>
          <p:cNvSpPr txBox="1">
            <a:spLocks/>
          </p:cNvSpPr>
          <p:nvPr/>
        </p:nvSpPr>
        <p:spPr>
          <a:xfrm>
            <a:off x="502920" y="420624"/>
            <a:ext cx="10744200" cy="130805"/>
          </a:xfrm>
          <a:prstGeom prst="rect">
            <a:avLst/>
          </a:prstGeom>
          <a:noFill/>
        </p:spPr>
        <p:txBody>
          <a:bodyPr wrap="square" lIns="0" tIns="0" rIns="0" bIns="0">
            <a:spAutoFit/>
          </a:bodyPr>
          <a:lstStyle/>
          <a:p>
            <a:pPr algn="l"/>
            <a:r>
              <a:rPr lang="en-GB" sz="850" b="1">
                <a:solidFill>
                  <a:srgbClr val="687385"/>
                </a:solidFill>
              </a:rPr>
              <a:t>079 • DAY 2 • BLOCK 08 • Hardware, Monitoring &amp; Operations</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p:nvPr/>
        </p:nvSpPr>
        <p:spPr>
          <a:xfrm>
            <a:off x="502920" y="411480"/>
            <a:ext cx="548640" cy="189283"/>
          </a:xfrm>
          <a:prstGeom prst="rect">
            <a:avLst/>
          </a:prstGeom>
          <a:noFill/>
        </p:spPr>
        <p:txBody>
          <a:bodyPr wrap="square" lIns="36576" tIns="36576" rIns="36576" bIns="36576" anchor="t">
            <a:spAutoFit/>
          </a:bodyPr>
          <a:lstStyle/>
          <a:p>
            <a:pPr algn="l">
              <a:spcAft>
                <a:spcPts val="0"/>
              </a:spcAft>
            </a:pPr>
            <a:r>
              <a:rPr lang="en-HU" sz="750" b="1">
                <a:solidFill>
                  <a:srgbClr val="687385"/>
                </a:solidFill>
              </a:rPr>
              <a:t>080</a:t>
            </a:r>
            <a:endParaRPr sz="750" b="1">
              <a:solidFill>
                <a:srgbClr val="687385"/>
              </a:solidFill>
            </a:endParaRPr>
          </a:p>
        </p:txBody>
      </p:sp>
      <p:sp>
        <p:nvSpPr>
          <p:cNvPr id="4" name="TextBox 3"/>
          <p:cNvSpPr txBox="1"/>
          <p:nvPr/>
        </p:nvSpPr>
        <p:spPr>
          <a:xfrm>
            <a:off x="502920" y="621792"/>
            <a:ext cx="11109960" cy="548640"/>
          </a:xfrm>
          <a:prstGeom prst="rect">
            <a:avLst/>
          </a:prstGeom>
          <a:noFill/>
        </p:spPr>
        <p:txBody>
          <a:bodyPr wrap="square" lIns="36576" tIns="36576" rIns="36576" bIns="36576" anchor="t">
            <a:spAutoFit/>
          </a:bodyPr>
          <a:lstStyle/>
          <a:p>
            <a:pPr algn="l">
              <a:spcAft>
                <a:spcPts val="0"/>
              </a:spcAft>
            </a:pPr>
            <a:r>
              <a:rPr sz="2600" b="1">
                <a:solidFill>
                  <a:srgbClr val="1E2B40"/>
                </a:solidFill>
              </a:rPr>
              <a:t>Appliance offload and Azure FGVM use different datapaths</a:t>
            </a:r>
          </a:p>
        </p:txBody>
      </p:sp>
      <p:sp>
        <p:nvSpPr>
          <p:cNvPr id="5" name="TextBox 4"/>
          <p:cNvSpPr txBox="1"/>
          <p:nvPr/>
        </p:nvSpPr>
        <p:spPr>
          <a:xfrm>
            <a:off x="521207" y="1143000"/>
            <a:ext cx="10789920" cy="274320"/>
          </a:xfrm>
          <a:prstGeom prst="rect">
            <a:avLst/>
          </a:prstGeom>
          <a:noFill/>
        </p:spPr>
        <p:txBody>
          <a:bodyPr wrap="square" lIns="36576" tIns="36576" rIns="36576" bIns="36576" anchor="t">
            <a:spAutoFit/>
          </a:bodyPr>
          <a:lstStyle/>
          <a:p>
            <a:pPr algn="l">
              <a:spcAft>
                <a:spcPts val="0"/>
              </a:spcAft>
            </a:pPr>
            <a:r>
              <a:rPr sz="1100" b="0">
                <a:solidFill>
                  <a:srgbClr val="687385"/>
                </a:solidFill>
              </a:rPr>
              <a:t>First packets and unsupported features remain on the CPU path</a:t>
            </a:r>
          </a:p>
        </p:txBody>
      </p:sp>
      <p:cxnSp>
        <p:nvCxnSpPr>
          <p:cNvPr id="6" name="Connector 5"/>
          <p:cNvCxnSpPr/>
          <p:nvPr/>
        </p:nvCxnSpPr>
        <p:spPr>
          <a:xfrm>
            <a:off x="502920" y="6473952"/>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7" name="TextBox 6"/>
          <p:cNvSpPr txBox="1">
            <a:spLocks/>
          </p:cNvSpPr>
          <p:nvPr/>
        </p:nvSpPr>
        <p:spPr>
          <a:xfrm>
            <a:off x="11109960" y="6537960"/>
            <a:ext cx="502920" cy="189283"/>
          </a:xfrm>
          <a:prstGeom prst="rect">
            <a:avLst/>
          </a:prstGeom>
          <a:noFill/>
        </p:spPr>
        <p:txBody>
          <a:bodyPr wrap="square" lIns="36576" tIns="36576" rIns="36576" bIns="36576" anchor="t">
            <a:spAutoFit/>
          </a:bodyPr>
          <a:lstStyle/>
          <a:p>
            <a:pPr algn="r">
              <a:spcAft>
                <a:spcPts val="0"/>
              </a:spcAft>
            </a:pPr>
            <a:r>
              <a:rPr lang="en-HU" sz="750" b="0">
                <a:solidFill>
                  <a:srgbClr val="687385"/>
                </a:solidFill>
              </a:rPr>
              <a:t>80</a:t>
            </a:r>
          </a:p>
        </p:txBody>
      </p:sp>
      <p:sp>
        <p:nvSpPr>
          <p:cNvPr id="8" name="TextBox 7"/>
          <p:cNvSpPr txBox="1">
            <a:spLocks/>
          </p:cNvSpPr>
          <p:nvPr/>
        </p:nvSpPr>
        <p:spPr>
          <a:xfrm>
            <a:off x="640080" y="1481328"/>
            <a:ext cx="4297680" cy="258532"/>
          </a:xfrm>
          <a:prstGeom prst="rect">
            <a:avLst/>
          </a:prstGeom>
          <a:noFill/>
        </p:spPr>
        <p:txBody>
          <a:bodyPr wrap="square" lIns="36576" tIns="36576" rIns="36576" bIns="36576" anchor="t">
            <a:spAutoFit/>
          </a:bodyPr>
          <a:lstStyle/>
          <a:p>
            <a:pPr algn="l">
              <a:spcAft>
                <a:spcPts val="0"/>
              </a:spcAft>
            </a:pPr>
            <a:r>
              <a:rPr lang="en-GB" sz="1200" b="1">
                <a:solidFill>
                  <a:srgbClr val="E60012"/>
                </a:solidFill>
              </a:rPr>
              <a:t>PHYSICAL FORTIGATE APPLIANCE</a:t>
            </a:r>
          </a:p>
        </p:txBody>
      </p:sp>
      <p:sp>
        <p:nvSpPr>
          <p:cNvPr id="9" name="Rectangle 8"/>
          <p:cNvSpPr>
            <a:spLocks/>
          </p:cNvSpPr>
          <p:nvPr/>
        </p:nvSpPr>
        <p:spPr>
          <a:xfrm>
            <a:off x="685800" y="1874519"/>
            <a:ext cx="1874519"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0" name="TextBox 9"/>
          <p:cNvSpPr txBox="1">
            <a:spLocks/>
          </p:cNvSpPr>
          <p:nvPr/>
        </p:nvSpPr>
        <p:spPr>
          <a:xfrm>
            <a:off x="758952" y="1993391"/>
            <a:ext cx="1728216" cy="274320"/>
          </a:xfrm>
          <a:prstGeom prst="rect">
            <a:avLst/>
          </a:prstGeom>
          <a:noFill/>
        </p:spPr>
        <p:txBody>
          <a:bodyPr wrap="square" lIns="36576" tIns="36576" rIns="36576" bIns="36576" anchor="t">
            <a:spAutoFit/>
          </a:bodyPr>
          <a:lstStyle/>
          <a:p>
            <a:pPr algn="ctr">
              <a:spcAft>
                <a:spcPts val="0"/>
              </a:spcAft>
            </a:pPr>
            <a:r>
              <a:rPr lang="en-GB" sz="1500" b="1">
                <a:solidFill>
                  <a:srgbClr val="FFFFFF"/>
                </a:solidFill>
              </a:rPr>
              <a:t>CPU</a:t>
            </a:r>
          </a:p>
        </p:txBody>
      </p:sp>
      <p:sp>
        <p:nvSpPr>
          <p:cNvPr id="11" name="TextBox 10"/>
          <p:cNvSpPr txBox="1">
            <a:spLocks/>
          </p:cNvSpPr>
          <p:nvPr/>
        </p:nvSpPr>
        <p:spPr>
          <a:xfrm>
            <a:off x="758952" y="2350008"/>
            <a:ext cx="1728216" cy="381643"/>
          </a:xfrm>
          <a:prstGeom prst="rect">
            <a:avLst/>
          </a:prstGeom>
          <a:noFill/>
        </p:spPr>
        <p:txBody>
          <a:bodyPr wrap="square" lIns="36576" tIns="36576" rIns="36576" bIns="36576" anchor="t">
            <a:spAutoFit/>
          </a:bodyPr>
          <a:lstStyle/>
          <a:p>
            <a:pPr algn="ctr">
              <a:spcAft>
                <a:spcPts val="0"/>
              </a:spcAft>
            </a:pPr>
            <a:r>
              <a:rPr lang="en-GB" sz="1000" b="0">
                <a:solidFill>
                  <a:srgbClr val="D8E0EA"/>
                </a:solidFill>
              </a:rPr>
              <a:t>session setup
route • policy • NAT</a:t>
            </a:r>
          </a:p>
        </p:txBody>
      </p:sp>
      <p:sp>
        <p:nvSpPr>
          <p:cNvPr id="12" name="Right Arrow 11"/>
          <p:cNvSpPr/>
          <p:nvPr/>
        </p:nvSpPr>
        <p:spPr>
          <a:xfrm>
            <a:off x="2606040" y="2286000"/>
            <a:ext cx="731520" cy="182880"/>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a:spLocks/>
          </p:cNvSpPr>
          <p:nvPr/>
        </p:nvSpPr>
        <p:spPr>
          <a:xfrm>
            <a:off x="2606040" y="2029967"/>
            <a:ext cx="731520" cy="228600"/>
          </a:xfrm>
          <a:prstGeom prst="rect">
            <a:avLst/>
          </a:prstGeom>
          <a:noFill/>
        </p:spPr>
        <p:txBody>
          <a:bodyPr wrap="square" lIns="36576" tIns="36576" rIns="36576" bIns="36576" anchor="t">
            <a:spAutoFit/>
          </a:bodyPr>
          <a:lstStyle/>
          <a:p>
            <a:pPr algn="ctr">
              <a:spcAft>
                <a:spcPts val="0"/>
              </a:spcAft>
            </a:pPr>
            <a:r>
              <a:rPr lang="en-GB" sz="900" b="1">
                <a:solidFill>
                  <a:srgbClr val="687385"/>
                </a:solidFill>
              </a:rPr>
              <a:t>eligible</a:t>
            </a:r>
          </a:p>
        </p:txBody>
      </p:sp>
      <p:sp>
        <p:nvSpPr>
          <p:cNvPr id="14" name="Rectangle 13"/>
          <p:cNvSpPr>
            <a:spLocks/>
          </p:cNvSpPr>
          <p:nvPr/>
        </p:nvSpPr>
        <p:spPr>
          <a:xfrm>
            <a:off x="3383280" y="1874519"/>
            <a:ext cx="1874519" cy="1143000"/>
          </a:xfrm>
          <a:prstGeom prst="rect">
            <a:avLst/>
          </a:prstGeom>
          <a:solidFill>
            <a:srgbClr val="233A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5" name="TextBox 14"/>
          <p:cNvSpPr txBox="1"/>
          <p:nvPr/>
        </p:nvSpPr>
        <p:spPr>
          <a:xfrm>
            <a:off x="3456432" y="1993391"/>
            <a:ext cx="1728216" cy="274320"/>
          </a:xfrm>
          <a:prstGeom prst="rect">
            <a:avLst/>
          </a:prstGeom>
          <a:noFill/>
        </p:spPr>
        <p:txBody>
          <a:bodyPr wrap="square" lIns="36576" tIns="36576" rIns="36576" bIns="36576" anchor="t">
            <a:spAutoFit/>
          </a:bodyPr>
          <a:lstStyle/>
          <a:p>
            <a:pPr algn="ctr">
              <a:spcAft>
                <a:spcPts val="0"/>
              </a:spcAft>
            </a:pPr>
            <a:r>
              <a:rPr sz="1500" b="1">
                <a:solidFill>
                  <a:srgbClr val="FFFFFF"/>
                </a:solidFill>
              </a:rPr>
              <a:t>NP</a:t>
            </a:r>
          </a:p>
        </p:txBody>
      </p:sp>
      <p:sp>
        <p:nvSpPr>
          <p:cNvPr id="16" name="TextBox 15"/>
          <p:cNvSpPr txBox="1">
            <a:spLocks/>
          </p:cNvSpPr>
          <p:nvPr/>
        </p:nvSpPr>
        <p:spPr>
          <a:xfrm>
            <a:off x="3456432" y="2350008"/>
            <a:ext cx="1728216" cy="310896"/>
          </a:xfrm>
          <a:prstGeom prst="rect">
            <a:avLst/>
          </a:prstGeom>
          <a:noFill/>
        </p:spPr>
        <p:txBody>
          <a:bodyPr wrap="square" lIns="36576" tIns="36576" rIns="36576" bIns="36576" anchor="t">
            <a:spAutoFit/>
          </a:bodyPr>
          <a:lstStyle/>
          <a:p>
            <a:pPr algn="ctr">
              <a:spcAft>
                <a:spcPts val="0"/>
              </a:spcAft>
            </a:pPr>
            <a:r>
              <a:rPr lang="en-GB" sz="1000" b="0">
                <a:solidFill>
                  <a:srgbClr val="D8E0EA"/>
                </a:solidFill>
              </a:rPr>
              <a:t>accelerated forwarding</a:t>
            </a:r>
          </a:p>
        </p:txBody>
      </p:sp>
      <p:sp>
        <p:nvSpPr>
          <p:cNvPr id="17" name="TextBox 16"/>
          <p:cNvSpPr txBox="1">
            <a:spLocks/>
          </p:cNvSpPr>
          <p:nvPr/>
        </p:nvSpPr>
        <p:spPr>
          <a:xfrm>
            <a:off x="777240" y="3310128"/>
            <a:ext cx="4343400" cy="504754"/>
          </a:xfrm>
          <a:prstGeom prst="rect">
            <a:avLst/>
          </a:prstGeom>
          <a:noFill/>
        </p:spPr>
        <p:txBody>
          <a:bodyPr wrap="square" lIns="36576" tIns="36576" rIns="36576" bIns="36576" anchor="t">
            <a:spAutoFit/>
          </a:bodyPr>
          <a:lstStyle/>
          <a:p>
            <a:pPr algn="l">
              <a:spcAft>
                <a:spcPts val="0"/>
              </a:spcAft>
            </a:pPr>
            <a:r>
              <a:rPr lang="en-GB" sz="1400" b="1">
                <a:solidFill>
                  <a:srgbClr val="233A59"/>
                </a:solidFill>
              </a:rPr>
              <a:t>CP assists supported content / crypto processing on applicable models and features.</a:t>
            </a:r>
          </a:p>
        </p:txBody>
      </p:sp>
      <p:sp>
        <p:nvSpPr>
          <p:cNvPr id="18" name="TextBox 17"/>
          <p:cNvSpPr txBox="1">
            <a:spLocks/>
          </p:cNvSpPr>
          <p:nvPr/>
        </p:nvSpPr>
        <p:spPr>
          <a:xfrm>
            <a:off x="685800" y="4160520"/>
            <a:ext cx="3108960" cy="243143"/>
          </a:xfrm>
          <a:prstGeom prst="rect">
            <a:avLst/>
          </a:prstGeom>
          <a:noFill/>
        </p:spPr>
        <p:txBody>
          <a:bodyPr wrap="square" lIns="36576" tIns="36576" rIns="36576" bIns="36576" anchor="t">
            <a:spAutoFit/>
          </a:bodyPr>
          <a:lstStyle/>
          <a:p>
            <a:pPr algn="l">
              <a:spcAft>
                <a:spcPts val="0"/>
              </a:spcAft>
            </a:pPr>
            <a:r>
              <a:rPr lang="en-GB" sz="1100" b="1">
                <a:solidFill>
                  <a:srgbClr val="E60012"/>
                </a:solidFill>
              </a:rPr>
              <a:t>TRAFFIC THAT STAYS ON CPU</a:t>
            </a:r>
          </a:p>
        </p:txBody>
      </p:sp>
      <p:sp>
        <p:nvSpPr>
          <p:cNvPr id="19" name="TextBox 18"/>
          <p:cNvSpPr txBox="1">
            <a:spLocks/>
          </p:cNvSpPr>
          <p:nvPr/>
        </p:nvSpPr>
        <p:spPr>
          <a:xfrm>
            <a:off x="685800" y="4480560"/>
            <a:ext cx="4389120" cy="776623"/>
          </a:xfrm>
          <a:prstGeom prst="rect">
            <a:avLst/>
          </a:prstGeom>
          <a:noFill/>
        </p:spPr>
        <p:txBody>
          <a:bodyPr wrap="square" lIns="36576" tIns="36576" rIns="36576" bIns="36576" anchor="t">
            <a:spAutoFit/>
          </a:bodyPr>
          <a:lstStyle/>
          <a:p>
            <a:pPr algn="l">
              <a:spcAft>
                <a:spcPts val="400"/>
              </a:spcAft>
              <a:defRPr sz="1300">
                <a:solidFill>
                  <a:srgbClr val="1E2B40"/>
                </a:solidFill>
              </a:defRPr>
            </a:pPr>
            <a:r>
              <a:rPr lang="en-GB"/>
              <a:t>• First packets and session setup</a:t>
            </a:r>
          </a:p>
          <a:p>
            <a:pPr>
              <a:spcAft>
                <a:spcPts val="400"/>
              </a:spcAft>
              <a:defRPr sz="1300">
                <a:solidFill>
                  <a:srgbClr val="1E2B40"/>
                </a:solidFill>
              </a:defRPr>
            </a:pPr>
            <a:r>
              <a:rPr lang="en-GB"/>
              <a:t>• Unsupported/offload-ineligible features</a:t>
            </a:r>
          </a:p>
          <a:p>
            <a:pPr>
              <a:spcAft>
                <a:spcPts val="400"/>
              </a:spcAft>
              <a:defRPr sz="1300">
                <a:solidFill>
                  <a:srgbClr val="1E2B40"/>
                </a:solidFill>
              </a:defRPr>
            </a:pPr>
            <a:r>
              <a:rPr lang="en-GB"/>
              <a:t>• Exceptional traffic and control-plane work</a:t>
            </a:r>
          </a:p>
        </p:txBody>
      </p:sp>
      <p:cxnSp>
        <p:nvCxnSpPr>
          <p:cNvPr id="20" name="Connector 19"/>
          <p:cNvCxnSpPr/>
          <p:nvPr/>
        </p:nvCxnSpPr>
        <p:spPr>
          <a:xfrm>
            <a:off x="5897880" y="1463040"/>
            <a:ext cx="0" cy="406908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263640" y="1481328"/>
            <a:ext cx="4297680" cy="258532"/>
          </a:xfrm>
          <a:prstGeom prst="rect">
            <a:avLst/>
          </a:prstGeom>
          <a:noFill/>
        </p:spPr>
        <p:txBody>
          <a:bodyPr wrap="square" lIns="36576" tIns="36576" rIns="36576" bIns="36576" anchor="t">
            <a:spAutoFit/>
          </a:bodyPr>
          <a:lstStyle/>
          <a:p>
            <a:pPr algn="l">
              <a:spcAft>
                <a:spcPts val="0"/>
              </a:spcAft>
            </a:pPr>
            <a:r>
              <a:rPr lang="en-GB" sz="1200" b="1">
                <a:solidFill>
                  <a:srgbClr val="E60012"/>
                </a:solidFill>
              </a:rPr>
              <a:t>AZURE FORTIGATE-VM LAB</a:t>
            </a:r>
          </a:p>
        </p:txBody>
      </p:sp>
      <p:sp>
        <p:nvSpPr>
          <p:cNvPr id="22" name="Rectangle 21"/>
          <p:cNvSpPr/>
          <p:nvPr/>
        </p:nvSpPr>
        <p:spPr>
          <a:xfrm>
            <a:off x="6309360" y="1874519"/>
            <a:ext cx="1920240"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82512" y="1993391"/>
            <a:ext cx="1773936" cy="274320"/>
          </a:xfrm>
          <a:prstGeom prst="rect">
            <a:avLst/>
          </a:prstGeom>
          <a:noFill/>
        </p:spPr>
        <p:txBody>
          <a:bodyPr wrap="square" lIns="36576" tIns="36576" rIns="36576" bIns="36576" anchor="t">
            <a:spAutoFit/>
          </a:bodyPr>
          <a:lstStyle/>
          <a:p>
            <a:pPr algn="ctr">
              <a:spcAft>
                <a:spcPts val="0"/>
              </a:spcAft>
            </a:pPr>
            <a:r>
              <a:rPr sz="1500" b="1">
                <a:solidFill>
                  <a:srgbClr val="FFFFFF"/>
                </a:solidFill>
              </a:rPr>
              <a:t>vCPU</a:t>
            </a:r>
          </a:p>
        </p:txBody>
      </p:sp>
      <p:sp>
        <p:nvSpPr>
          <p:cNvPr id="24" name="TextBox 23"/>
          <p:cNvSpPr txBox="1"/>
          <p:nvPr/>
        </p:nvSpPr>
        <p:spPr>
          <a:xfrm>
            <a:off x="6382512" y="2350008"/>
            <a:ext cx="1773936" cy="310896"/>
          </a:xfrm>
          <a:prstGeom prst="rect">
            <a:avLst/>
          </a:prstGeom>
          <a:noFill/>
        </p:spPr>
        <p:txBody>
          <a:bodyPr wrap="square" lIns="36576" tIns="36576" rIns="36576" bIns="36576" anchor="t">
            <a:spAutoFit/>
          </a:bodyPr>
          <a:lstStyle/>
          <a:p>
            <a:pPr algn="ctr">
              <a:spcAft>
                <a:spcPts val="0"/>
              </a:spcAft>
            </a:pPr>
            <a:r>
              <a:rPr sz="1000" b="0">
                <a:solidFill>
                  <a:srgbClr val="D8E0EA"/>
                </a:solidFill>
              </a:rPr>
              <a:t>FortiOS software path</a:t>
            </a:r>
          </a:p>
        </p:txBody>
      </p:sp>
      <p:sp>
        <p:nvSpPr>
          <p:cNvPr id="25" name="Right Arrow 24"/>
          <p:cNvSpPr/>
          <p:nvPr/>
        </p:nvSpPr>
        <p:spPr>
          <a:xfrm>
            <a:off x="8275320" y="2286000"/>
            <a:ext cx="731520" cy="182880"/>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275320" y="2029967"/>
            <a:ext cx="731520" cy="228600"/>
          </a:xfrm>
          <a:prstGeom prst="rect">
            <a:avLst/>
          </a:prstGeom>
          <a:noFill/>
        </p:spPr>
        <p:txBody>
          <a:bodyPr wrap="square" lIns="36576" tIns="36576" rIns="36576" bIns="36576" anchor="t">
            <a:spAutoFit/>
          </a:bodyPr>
          <a:lstStyle/>
          <a:p>
            <a:pPr algn="ctr">
              <a:spcAft>
                <a:spcPts val="0"/>
              </a:spcAft>
            </a:pPr>
            <a:r>
              <a:rPr sz="900" b="1">
                <a:solidFill>
                  <a:srgbClr val="687385"/>
                </a:solidFill>
              </a:rPr>
              <a:t>vNIC</a:t>
            </a:r>
          </a:p>
        </p:txBody>
      </p:sp>
      <p:sp>
        <p:nvSpPr>
          <p:cNvPr id="27" name="Rectangle 26"/>
          <p:cNvSpPr/>
          <p:nvPr/>
        </p:nvSpPr>
        <p:spPr>
          <a:xfrm>
            <a:off x="9052560" y="1874519"/>
            <a:ext cx="2057400" cy="1143000"/>
          </a:xfrm>
          <a:prstGeom prst="rect">
            <a:avLst/>
          </a:prstGeom>
          <a:solidFill>
            <a:srgbClr val="233A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125712" y="1993391"/>
            <a:ext cx="1911095" cy="274320"/>
          </a:xfrm>
          <a:prstGeom prst="rect">
            <a:avLst/>
          </a:prstGeom>
          <a:noFill/>
        </p:spPr>
        <p:txBody>
          <a:bodyPr wrap="square" lIns="36576" tIns="36576" rIns="36576" bIns="36576" anchor="t">
            <a:spAutoFit/>
          </a:bodyPr>
          <a:lstStyle/>
          <a:p>
            <a:pPr algn="ctr">
              <a:spcAft>
                <a:spcPts val="0"/>
              </a:spcAft>
            </a:pPr>
            <a:r>
              <a:rPr sz="1500" b="1">
                <a:solidFill>
                  <a:srgbClr val="FFFFFF"/>
                </a:solidFill>
              </a:rPr>
              <a:t>AZURE NETWORK</a:t>
            </a:r>
          </a:p>
        </p:txBody>
      </p:sp>
      <p:sp>
        <p:nvSpPr>
          <p:cNvPr id="29" name="TextBox 28"/>
          <p:cNvSpPr txBox="1"/>
          <p:nvPr/>
        </p:nvSpPr>
        <p:spPr>
          <a:xfrm>
            <a:off x="9125712" y="2350008"/>
            <a:ext cx="1911095" cy="310896"/>
          </a:xfrm>
          <a:prstGeom prst="rect">
            <a:avLst/>
          </a:prstGeom>
          <a:noFill/>
        </p:spPr>
        <p:txBody>
          <a:bodyPr wrap="square" lIns="36576" tIns="36576" rIns="36576" bIns="36576" anchor="t">
            <a:spAutoFit/>
          </a:bodyPr>
          <a:lstStyle/>
          <a:p>
            <a:pPr algn="ctr">
              <a:spcAft>
                <a:spcPts val="0"/>
              </a:spcAft>
            </a:pPr>
            <a:r>
              <a:rPr sz="1000" b="0">
                <a:solidFill>
                  <a:srgbClr val="D8E0EA"/>
                </a:solidFill>
              </a:rPr>
              <a:t>VM/vNIC/cloud acceleration</a:t>
            </a:r>
          </a:p>
        </p:txBody>
      </p:sp>
      <p:sp>
        <p:nvSpPr>
          <p:cNvPr id="30" name="TextBox 29"/>
          <p:cNvSpPr txBox="1"/>
          <p:nvPr/>
        </p:nvSpPr>
        <p:spPr>
          <a:xfrm>
            <a:off x="6309360" y="3429000"/>
            <a:ext cx="4572000" cy="1280160"/>
          </a:xfrm>
          <a:prstGeom prst="rect">
            <a:avLst/>
          </a:prstGeom>
          <a:noFill/>
        </p:spPr>
        <p:txBody>
          <a:bodyPr wrap="square" lIns="36576" tIns="36576" rIns="36576" bIns="36576" anchor="t">
            <a:spAutoFit/>
          </a:bodyPr>
          <a:lstStyle/>
          <a:p>
            <a:pPr algn="l">
              <a:spcAft>
                <a:spcPts val="400"/>
              </a:spcAft>
              <a:defRPr sz="1400">
                <a:solidFill>
                  <a:srgbClr val="1E2B40"/>
                </a:solidFill>
              </a:defRPr>
            </a:pPr>
            <a:r>
              <a:t>• No physical NP/CP ASIC datapath</a:t>
            </a:r>
          </a:p>
          <a:p>
            <a:pPr>
              <a:spcAft>
                <a:spcPts val="400"/>
              </a:spcAft>
              <a:defRPr sz="1400">
                <a:solidFill>
                  <a:srgbClr val="1E2B40"/>
                </a:solidFill>
              </a:defRPr>
            </a:pPr>
            <a:r>
              <a:t>• Use CPU/session counters for lab learning</a:t>
            </a:r>
          </a:p>
          <a:p>
            <a:pPr>
              <a:spcAft>
                <a:spcPts val="400"/>
              </a:spcAft>
              <a:defRPr sz="1400">
                <a:solidFill>
                  <a:srgbClr val="1E2B40"/>
                </a:solidFill>
              </a:defRPr>
            </a:pPr>
            <a:r>
              <a:t>• Do not extrapolate FGVM results to appliance capacity</a:t>
            </a:r>
          </a:p>
        </p:txBody>
      </p:sp>
      <p:sp>
        <p:nvSpPr>
          <p:cNvPr id="31" name="TextBox 30"/>
          <p:cNvSpPr txBox="1"/>
          <p:nvPr/>
        </p:nvSpPr>
        <p:spPr>
          <a:xfrm>
            <a:off x="658368" y="5833872"/>
            <a:ext cx="731520" cy="182880"/>
          </a:xfrm>
          <a:prstGeom prst="rect">
            <a:avLst/>
          </a:prstGeom>
          <a:noFill/>
        </p:spPr>
        <p:txBody>
          <a:bodyPr wrap="square" lIns="36576" tIns="36576" rIns="36576" bIns="36576" anchor="t">
            <a:spAutoFit/>
          </a:bodyPr>
          <a:lstStyle/>
          <a:p>
            <a:pPr algn="l">
              <a:spcAft>
                <a:spcPts val="0"/>
              </a:spcAft>
            </a:pPr>
            <a:r>
              <a:rPr sz="1000" b="1">
                <a:solidFill>
                  <a:srgbClr val="E60012"/>
                </a:solidFill>
              </a:rPr>
              <a:t>LESSON</a:t>
            </a:r>
          </a:p>
        </p:txBody>
      </p:sp>
      <p:sp>
        <p:nvSpPr>
          <p:cNvPr id="32" name="TextBox 31"/>
          <p:cNvSpPr txBox="1"/>
          <p:nvPr/>
        </p:nvSpPr>
        <p:spPr>
          <a:xfrm>
            <a:off x="1417320" y="5769864"/>
            <a:ext cx="9875520" cy="384048"/>
          </a:xfrm>
          <a:prstGeom prst="rect">
            <a:avLst/>
          </a:prstGeom>
          <a:noFill/>
        </p:spPr>
        <p:txBody>
          <a:bodyPr wrap="square" lIns="36576" tIns="36576" rIns="36576" bIns="36576" anchor="t">
            <a:spAutoFit/>
          </a:bodyPr>
          <a:lstStyle/>
          <a:p>
            <a:pPr algn="l">
              <a:spcAft>
                <a:spcPts val="0"/>
              </a:spcAft>
            </a:pPr>
            <a:r>
              <a:rPr sz="1300" b="1">
                <a:solidFill>
                  <a:srgbClr val="233A59"/>
                </a:solidFill>
              </a:rPr>
              <a:t>Teach appliance NP/CP concepts separately from what learners can actually verify in the Azure FGVM lab.</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81</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Fast path and slow path describe processing eligibility</a:t>
            </a:r>
          </a:p>
        </p:txBody>
      </p:sp>
      <p:sp>
        <p:nvSpPr>
          <p:cNvPr id="10" name="TextBox 9"/>
          <p:cNvSpPr txBox="1">
            <a:spLocks/>
          </p:cNvSpPr>
          <p:nvPr/>
        </p:nvSpPr>
        <p:spPr>
          <a:xfrm>
            <a:off x="658368" y="1554480"/>
            <a:ext cx="6583680" cy="4389120"/>
          </a:xfrm>
          <a:prstGeom prst="rect">
            <a:avLst/>
          </a:prstGeom>
          <a:noFill/>
        </p:spPr>
        <p:txBody>
          <a:bodyPr wrap="square" lIns="109728" tIns="73152" rIns="109728" bIns="73152" anchor="t">
            <a:spAutoFit/>
          </a:bodyPr>
          <a:lstStyle/>
          <a:p>
            <a:pPr algn="l">
              <a:lnSpc>
                <a:spcPct val="105000"/>
              </a:lnSpc>
              <a:spcAft>
                <a:spcPts val="800"/>
              </a:spcAft>
              <a:defRPr sz="1700">
                <a:solidFill>
                  <a:srgbClr val="1E2B40"/>
                </a:solidFill>
              </a:defRPr>
            </a:pPr>
            <a:r>
              <a:rPr lang="en-GB"/>
              <a:t>• Session setup and exceptional traffic require CPU decisions</a:t>
            </a:r>
          </a:p>
          <a:p>
            <a:pPr>
              <a:lnSpc>
                <a:spcPct val="105000"/>
              </a:lnSpc>
              <a:spcAft>
                <a:spcPts val="800"/>
              </a:spcAft>
              <a:defRPr sz="1700">
                <a:solidFill>
                  <a:srgbClr val="1E2B40"/>
                </a:solidFill>
              </a:defRPr>
            </a:pPr>
            <a:r>
              <a:rPr lang="en-GB"/>
              <a:t>• Established eligible sessions may be offloaded</a:t>
            </a:r>
          </a:p>
          <a:p>
            <a:pPr>
              <a:lnSpc>
                <a:spcPct val="105000"/>
              </a:lnSpc>
              <a:spcAft>
                <a:spcPts val="800"/>
              </a:spcAft>
              <a:defRPr sz="1700">
                <a:solidFill>
                  <a:srgbClr val="1E2B40"/>
                </a:solidFill>
              </a:defRPr>
            </a:pPr>
            <a:r>
              <a:rPr lang="en-GB"/>
              <a:t>• Inspection, fragmentation, tunneling or feature choices can affect eligibility</a:t>
            </a:r>
          </a:p>
          <a:p>
            <a:pPr>
              <a:lnSpc>
                <a:spcPct val="105000"/>
              </a:lnSpc>
              <a:spcAft>
                <a:spcPts val="800"/>
              </a:spcAft>
              <a:defRPr sz="1700">
                <a:solidFill>
                  <a:srgbClr val="1E2B40"/>
                </a:solidFill>
              </a:defRPr>
            </a:pPr>
            <a:r>
              <a:rPr lang="en-GB"/>
              <a:t>• No-offload is not automatically a fault; compare with documented support</a:t>
            </a:r>
          </a:p>
        </p:txBody>
      </p:sp>
      <p:cxnSp>
        <p:nvCxnSpPr>
          <p:cNvPr id="11" name="Connector 10"/>
          <p:cNvCxnSpPr/>
          <p:nvPr/>
        </p:nvCxnSpPr>
        <p:spPr>
          <a:xfrm>
            <a:off x="7452360" y="1600200"/>
            <a:ext cx="0" cy="434340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7790688" y="1627632"/>
            <a:ext cx="342900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ILLUSTRATIVE SCENARIO</a:t>
            </a:r>
          </a:p>
        </p:txBody>
      </p:sp>
      <p:sp>
        <p:nvSpPr>
          <p:cNvPr id="13" name="TextBox 12"/>
          <p:cNvSpPr txBox="1"/>
          <p:nvPr/>
        </p:nvSpPr>
        <p:spPr>
          <a:xfrm>
            <a:off x="7790688" y="2057400"/>
            <a:ext cx="3337560" cy="1417320"/>
          </a:xfrm>
          <a:prstGeom prst="rect">
            <a:avLst/>
          </a:prstGeom>
          <a:noFill/>
        </p:spPr>
        <p:txBody>
          <a:bodyPr wrap="square" lIns="27432" tIns="27432" rIns="27432" bIns="27432" anchor="t">
            <a:spAutoFit/>
          </a:bodyPr>
          <a:lstStyle/>
          <a:p>
            <a:pPr algn="l">
              <a:spcAft>
                <a:spcPts val="0"/>
              </a:spcAft>
            </a:pPr>
            <a:r>
              <a:rPr sz="1700" b="1">
                <a:solidFill>
                  <a:srgbClr val="233A59"/>
                </a:solidFill>
              </a:rPr>
              <a:t>A session can work correctly without offload but consume more CPU</a:t>
            </a:r>
          </a:p>
        </p:txBody>
      </p:sp>
      <p:sp>
        <p:nvSpPr>
          <p:cNvPr id="14" name="TextBox 13"/>
          <p:cNvSpPr txBox="1"/>
          <p:nvPr/>
        </p:nvSpPr>
        <p:spPr>
          <a:xfrm>
            <a:off x="7790688" y="3822191"/>
            <a:ext cx="18288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EXPECTED RESULT</a:t>
            </a:r>
            <a:endParaRPr sz="1100" b="1">
              <a:solidFill>
                <a:srgbClr val="E60012"/>
              </a:solidFill>
            </a:endParaRPr>
          </a:p>
        </p:txBody>
      </p:sp>
      <p:sp>
        <p:nvSpPr>
          <p:cNvPr id="15" name="TextBox 14"/>
          <p:cNvSpPr txBox="1"/>
          <p:nvPr/>
        </p:nvSpPr>
        <p:spPr>
          <a:xfrm>
            <a:off x="7790688" y="4187952"/>
            <a:ext cx="3337560" cy="1325880"/>
          </a:xfrm>
          <a:prstGeom prst="rect">
            <a:avLst/>
          </a:prstGeom>
          <a:noFill/>
        </p:spPr>
        <p:txBody>
          <a:bodyPr wrap="square" lIns="27432" tIns="27432" rIns="27432" bIns="27432" anchor="t">
            <a:spAutoFit/>
          </a:bodyPr>
          <a:lstStyle/>
          <a:p>
            <a:pPr algn="l">
              <a:spcAft>
                <a:spcPts val="0"/>
              </a:spcAft>
            </a:pPr>
            <a:r>
              <a:rPr sz="1500" b="0">
                <a:solidFill>
                  <a:srgbClr val="1E2B40"/>
                </a:solidFill>
              </a:rPr>
              <a:t>Inspect session offload flags/counters only with platform-specific documentation.</a:t>
            </a:r>
          </a:p>
        </p:txBody>
      </p:sp>
      <p:sp>
        <p:nvSpPr>
          <p:cNvPr id="16" name="TextBox 15"/>
          <p:cNvSpPr txBox="1"/>
          <p:nvPr/>
        </p:nvSpPr>
        <p:spPr>
          <a:xfrm>
            <a:off x="7790688" y="5596128"/>
            <a:ext cx="1920240" cy="201168"/>
          </a:xfrm>
          <a:prstGeom prst="rect">
            <a:avLst/>
          </a:prstGeom>
          <a:noFill/>
        </p:spPr>
        <p:txBody>
          <a:bodyPr wrap="square" lIns="27432" tIns="27432" rIns="27432" bIns="27432" anchor="t">
            <a:spAutoFit/>
          </a:bodyPr>
          <a:lstStyle/>
          <a:p>
            <a:pPr algn="l">
              <a:spcAft>
                <a:spcPts val="0"/>
              </a:spcAft>
            </a:pPr>
            <a:r>
              <a:rPr sz="1000" b="1">
                <a:solidFill>
                  <a:srgbClr val="687385"/>
                </a:solidFill>
              </a:rPr>
              <a:t>Expected observation</a:t>
            </a:r>
          </a:p>
        </p:txBody>
      </p:sp>
      <p:sp>
        <p:nvSpPr>
          <p:cNvPr id="17" name="TextBox 16"/>
          <p:cNvSpPr txBox="1"/>
          <p:nvPr/>
        </p:nvSpPr>
        <p:spPr>
          <a:xfrm>
            <a:off x="9509760" y="5577840"/>
            <a:ext cx="1691640" cy="824841"/>
          </a:xfrm>
          <a:prstGeom prst="rect">
            <a:avLst/>
          </a:prstGeom>
          <a:noFill/>
        </p:spPr>
        <p:txBody>
          <a:bodyPr wrap="square" lIns="27432" tIns="27432" rIns="27432" bIns="27432" anchor="t">
            <a:spAutoFit/>
          </a:bodyPr>
          <a:lstStyle/>
          <a:p>
            <a:pPr algn="r">
              <a:spcAft>
                <a:spcPts val="0"/>
              </a:spcAft>
            </a:pPr>
            <a:r>
              <a:rPr lang="en-GB" sz="1000" b="0">
                <a:solidFill>
                  <a:srgbClr val="687385"/>
                </a:solidFill>
              </a:rPr>
              <a:t>CPU, memory </a:t>
            </a:r>
            <a:r>
              <a:rPr sz="1000" b="0">
                <a:solidFill>
                  <a:srgbClr val="687385"/>
                </a:solidFill>
              </a:rPr>
              <a:t>and </a:t>
            </a:r>
            <a:r>
              <a:rPr lang="en-GB" sz="1000" b="0">
                <a:solidFill>
                  <a:srgbClr val="687385"/>
                </a:solidFill>
              </a:rPr>
              <a:t>session values are recorded; appliance-only offload counters are not inferred from Azure FGVM</a:t>
            </a:r>
            <a:r>
              <a:rPr sz="1000" b="0">
                <a:solidFill>
                  <a:srgbClr val="687385"/>
                </a:solidFill>
              </a:rPr>
              <a:t>.</a:t>
            </a:r>
          </a:p>
        </p:txBody>
      </p:sp>
      <p:sp>
        <p:nvSpPr>
          <p:cNvPr id="18" name="TextBox 17"/>
          <p:cNvSpPr txBox="1"/>
          <p:nvPr/>
        </p:nvSpPr>
        <p:spPr>
          <a:xfrm>
            <a:off x="502920" y="420624"/>
            <a:ext cx="10744200" cy="130805"/>
          </a:xfrm>
          <a:prstGeom prst="rect">
            <a:avLst/>
          </a:prstGeom>
          <a:noFill/>
        </p:spPr>
        <p:txBody>
          <a:bodyPr wrap="square" lIns="0" tIns="0" rIns="0" bIns="0">
            <a:spAutoFit/>
          </a:bodyPr>
          <a:lstStyle/>
          <a:p>
            <a:pPr algn="l"/>
            <a:r>
              <a:rPr lang="en-HU" sz="850" b="1">
                <a:solidFill>
                  <a:srgbClr val="687385"/>
                </a:solidFill>
              </a:rPr>
              <a:t>081</a:t>
            </a:r>
            <a:r>
              <a:rPr sz="850" b="1">
                <a:solidFill>
                  <a:srgbClr val="687385"/>
                </a:solidFill>
              </a:rPr>
              <a:t> • DAY 2 • BLOCK 08 • Hardware, Monitoring &amp; Operations</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p:nvPr/>
        </p:nvSpPr>
        <p:spPr>
          <a:xfrm>
            <a:off x="502920" y="411480"/>
            <a:ext cx="548640" cy="189283"/>
          </a:xfrm>
          <a:prstGeom prst="rect">
            <a:avLst/>
          </a:prstGeom>
          <a:noFill/>
        </p:spPr>
        <p:txBody>
          <a:bodyPr wrap="square" lIns="36576" tIns="36576" rIns="36576" bIns="36576" anchor="t">
            <a:spAutoFit/>
          </a:bodyPr>
          <a:lstStyle/>
          <a:p>
            <a:pPr algn="l">
              <a:spcAft>
                <a:spcPts val="0"/>
              </a:spcAft>
            </a:pPr>
            <a:r>
              <a:rPr lang="en-HU" sz="750" b="1">
                <a:solidFill>
                  <a:srgbClr val="687385"/>
                </a:solidFill>
              </a:rPr>
              <a:t>082</a:t>
            </a:r>
            <a:endParaRPr sz="750" b="1">
              <a:solidFill>
                <a:srgbClr val="687385"/>
              </a:solidFill>
            </a:endParaRPr>
          </a:p>
        </p:txBody>
      </p:sp>
      <p:sp>
        <p:nvSpPr>
          <p:cNvPr id="4" name="TextBox 3"/>
          <p:cNvSpPr txBox="1"/>
          <p:nvPr/>
        </p:nvSpPr>
        <p:spPr>
          <a:xfrm>
            <a:off x="502920" y="621792"/>
            <a:ext cx="11109960" cy="548640"/>
          </a:xfrm>
          <a:prstGeom prst="rect">
            <a:avLst/>
          </a:prstGeom>
          <a:noFill/>
        </p:spPr>
        <p:txBody>
          <a:bodyPr wrap="square" lIns="36576" tIns="36576" rIns="36576" bIns="36576" anchor="t">
            <a:spAutoFit/>
          </a:bodyPr>
          <a:lstStyle/>
          <a:p>
            <a:pPr algn="l">
              <a:spcAft>
                <a:spcPts val="0"/>
              </a:spcAft>
            </a:pPr>
            <a:r>
              <a:rPr sz="2600" b="1">
                <a:solidFill>
                  <a:srgbClr val="1E2B40"/>
                </a:solidFill>
              </a:rPr>
              <a:t>Operations baseline</a:t>
            </a:r>
          </a:p>
        </p:txBody>
      </p:sp>
      <p:cxnSp>
        <p:nvCxnSpPr>
          <p:cNvPr id="5" name="Connector 4"/>
          <p:cNvCxnSpPr/>
          <p:nvPr/>
        </p:nvCxnSpPr>
        <p:spPr>
          <a:xfrm>
            <a:off x="502920" y="6473952"/>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109960" y="6537960"/>
            <a:ext cx="502920" cy="189283"/>
          </a:xfrm>
          <a:prstGeom prst="rect">
            <a:avLst/>
          </a:prstGeom>
          <a:noFill/>
        </p:spPr>
        <p:txBody>
          <a:bodyPr wrap="square" lIns="36576" tIns="36576" rIns="36576" bIns="36576" anchor="t">
            <a:spAutoFit/>
          </a:bodyPr>
          <a:lstStyle/>
          <a:p>
            <a:pPr algn="r">
              <a:spcAft>
                <a:spcPts val="0"/>
              </a:spcAft>
            </a:pPr>
            <a:r>
              <a:rPr lang="en-HU" sz="750" b="0">
                <a:solidFill>
                  <a:srgbClr val="687385"/>
                </a:solidFill>
              </a:rPr>
              <a:t>82</a:t>
            </a:r>
            <a:endParaRPr sz="750" b="0">
              <a:solidFill>
                <a:srgbClr val="687385"/>
              </a:solidFill>
            </a:endParaRPr>
          </a:p>
        </p:txBody>
      </p:sp>
      <p:sp>
        <p:nvSpPr>
          <p:cNvPr id="7" name="Rectangle 6"/>
          <p:cNvSpPr>
            <a:spLocks/>
          </p:cNvSpPr>
          <p:nvPr/>
        </p:nvSpPr>
        <p:spPr>
          <a:xfrm>
            <a:off x="685800" y="1828800"/>
            <a:ext cx="2008022"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8" name="TextBox 7"/>
          <p:cNvSpPr txBox="1">
            <a:spLocks/>
          </p:cNvSpPr>
          <p:nvPr/>
        </p:nvSpPr>
        <p:spPr>
          <a:xfrm>
            <a:off x="777240" y="1938528"/>
            <a:ext cx="365760" cy="227755"/>
          </a:xfrm>
          <a:prstGeom prst="rect">
            <a:avLst/>
          </a:prstGeom>
          <a:noFill/>
        </p:spPr>
        <p:txBody>
          <a:bodyPr wrap="square" lIns="36576" tIns="36576" rIns="36576" bIns="36576" anchor="t">
            <a:spAutoFit/>
          </a:bodyPr>
          <a:lstStyle/>
          <a:p>
            <a:pPr algn="l">
              <a:spcAft>
                <a:spcPts val="0"/>
              </a:spcAft>
            </a:pPr>
            <a:r>
              <a:rPr lang="en-HU" sz="1000" b="1">
                <a:solidFill>
                  <a:srgbClr val="E60012"/>
                </a:solidFill>
              </a:rPr>
              <a:t>01</a:t>
            </a:r>
          </a:p>
        </p:txBody>
      </p:sp>
      <p:sp>
        <p:nvSpPr>
          <p:cNvPr id="9" name="TextBox 8"/>
          <p:cNvSpPr txBox="1">
            <a:spLocks/>
          </p:cNvSpPr>
          <p:nvPr/>
        </p:nvSpPr>
        <p:spPr>
          <a:xfrm>
            <a:off x="795528" y="2243935"/>
            <a:ext cx="1788566" cy="504754"/>
          </a:xfrm>
          <a:prstGeom prst="rect">
            <a:avLst/>
          </a:prstGeom>
          <a:noFill/>
        </p:spPr>
        <p:txBody>
          <a:bodyPr wrap="square" lIns="36576" tIns="36576" rIns="36576" bIns="36576" anchor="ctr">
            <a:spAutoFit/>
          </a:bodyPr>
          <a:lstStyle/>
          <a:p>
            <a:pPr algn="ctr">
              <a:spcAft>
                <a:spcPts val="0"/>
              </a:spcAft>
            </a:pPr>
            <a:r>
              <a:rPr lang="en-GB" sz="1400" b="1">
                <a:solidFill>
                  <a:srgbClr val="FFFFFF"/>
                </a:solidFill>
              </a:rPr>
              <a:t>Record build and uptime</a:t>
            </a:r>
          </a:p>
        </p:txBody>
      </p:sp>
      <p:sp>
        <p:nvSpPr>
          <p:cNvPr id="10" name="Right Arrow 9"/>
          <p:cNvSpPr/>
          <p:nvPr/>
        </p:nvSpPr>
        <p:spPr>
          <a:xfrm>
            <a:off x="2693822" y="2340864"/>
            <a:ext cx="164592" cy="146304"/>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1" name="Rectangle 10"/>
          <p:cNvSpPr>
            <a:spLocks/>
          </p:cNvSpPr>
          <p:nvPr/>
        </p:nvSpPr>
        <p:spPr>
          <a:xfrm>
            <a:off x="2858414" y="1828800"/>
            <a:ext cx="2008022"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2" name="TextBox 11"/>
          <p:cNvSpPr txBox="1"/>
          <p:nvPr/>
        </p:nvSpPr>
        <p:spPr>
          <a:xfrm>
            <a:off x="2949854" y="1938528"/>
            <a:ext cx="365760" cy="201168"/>
          </a:xfrm>
          <a:prstGeom prst="rect">
            <a:avLst/>
          </a:prstGeom>
          <a:noFill/>
        </p:spPr>
        <p:txBody>
          <a:bodyPr wrap="square" lIns="36576" tIns="36576" rIns="36576" bIns="36576" anchor="t">
            <a:spAutoFit/>
          </a:bodyPr>
          <a:lstStyle/>
          <a:p>
            <a:pPr algn="l">
              <a:spcAft>
                <a:spcPts val="0"/>
              </a:spcAft>
            </a:pPr>
            <a:r>
              <a:rPr sz="1000" b="1">
                <a:solidFill>
                  <a:srgbClr val="E60012"/>
                </a:solidFill>
              </a:rPr>
              <a:t>02</a:t>
            </a:r>
          </a:p>
        </p:txBody>
      </p:sp>
      <p:sp>
        <p:nvSpPr>
          <p:cNvPr id="13" name="TextBox 12"/>
          <p:cNvSpPr txBox="1">
            <a:spLocks/>
          </p:cNvSpPr>
          <p:nvPr/>
        </p:nvSpPr>
        <p:spPr>
          <a:xfrm>
            <a:off x="2968142" y="2267712"/>
            <a:ext cx="1788566" cy="457200"/>
          </a:xfrm>
          <a:prstGeom prst="rect">
            <a:avLst/>
          </a:prstGeom>
          <a:noFill/>
        </p:spPr>
        <p:txBody>
          <a:bodyPr wrap="square" lIns="36576" tIns="36576" rIns="36576" bIns="36576" anchor="ctr">
            <a:spAutoFit/>
          </a:bodyPr>
          <a:lstStyle/>
          <a:p>
            <a:pPr algn="ctr">
              <a:spcAft>
                <a:spcPts val="0"/>
              </a:spcAft>
            </a:pPr>
            <a:r>
              <a:rPr lang="en-GB" sz="1400" b="1">
                <a:solidFill>
                  <a:srgbClr val="FFFFFF"/>
                </a:solidFill>
              </a:rPr>
              <a:t>Count sessions</a:t>
            </a:r>
          </a:p>
        </p:txBody>
      </p:sp>
      <p:sp>
        <p:nvSpPr>
          <p:cNvPr id="14" name="Right Arrow 13"/>
          <p:cNvSpPr>
            <a:spLocks/>
          </p:cNvSpPr>
          <p:nvPr/>
        </p:nvSpPr>
        <p:spPr>
          <a:xfrm>
            <a:off x="4866436" y="2340864"/>
            <a:ext cx="164592" cy="146304"/>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5" name="Rectangle 14"/>
          <p:cNvSpPr/>
          <p:nvPr/>
        </p:nvSpPr>
        <p:spPr>
          <a:xfrm>
            <a:off x="5031028" y="1828800"/>
            <a:ext cx="2008022"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a:spLocks/>
          </p:cNvSpPr>
          <p:nvPr/>
        </p:nvSpPr>
        <p:spPr>
          <a:xfrm>
            <a:off x="5122468" y="1938528"/>
            <a:ext cx="365760" cy="201168"/>
          </a:xfrm>
          <a:prstGeom prst="rect">
            <a:avLst/>
          </a:prstGeom>
          <a:noFill/>
        </p:spPr>
        <p:txBody>
          <a:bodyPr wrap="square" lIns="36576" tIns="36576" rIns="36576" bIns="36576" anchor="t">
            <a:spAutoFit/>
          </a:bodyPr>
          <a:lstStyle/>
          <a:p>
            <a:pPr algn="l">
              <a:spcAft>
                <a:spcPts val="0"/>
              </a:spcAft>
            </a:pPr>
            <a:r>
              <a:rPr lang="en-HU" sz="1000" b="1">
                <a:solidFill>
                  <a:srgbClr val="E60012"/>
                </a:solidFill>
              </a:rPr>
              <a:t>03</a:t>
            </a:r>
          </a:p>
        </p:txBody>
      </p:sp>
      <p:sp>
        <p:nvSpPr>
          <p:cNvPr id="17" name="TextBox 16"/>
          <p:cNvSpPr txBox="1">
            <a:spLocks/>
          </p:cNvSpPr>
          <p:nvPr/>
        </p:nvSpPr>
        <p:spPr>
          <a:xfrm>
            <a:off x="5140756" y="2243935"/>
            <a:ext cx="1788566" cy="504754"/>
          </a:xfrm>
          <a:prstGeom prst="rect">
            <a:avLst/>
          </a:prstGeom>
          <a:noFill/>
        </p:spPr>
        <p:txBody>
          <a:bodyPr wrap="square" lIns="36576" tIns="36576" rIns="36576" bIns="36576" anchor="ctr">
            <a:spAutoFit/>
          </a:bodyPr>
          <a:lstStyle/>
          <a:p>
            <a:pPr algn="ctr">
              <a:spcAft>
                <a:spcPts val="0"/>
              </a:spcAft>
            </a:pPr>
            <a:r>
              <a:rPr lang="en-GB" sz="1400" b="1">
                <a:solidFill>
                  <a:srgbClr val="FFFFFF"/>
                </a:solidFill>
              </a:rPr>
              <a:t>Sample CPU/memory</a:t>
            </a:r>
          </a:p>
        </p:txBody>
      </p:sp>
      <p:sp>
        <p:nvSpPr>
          <p:cNvPr id="18" name="Right Arrow 17"/>
          <p:cNvSpPr/>
          <p:nvPr/>
        </p:nvSpPr>
        <p:spPr>
          <a:xfrm>
            <a:off x="7039051" y="2340864"/>
            <a:ext cx="164592" cy="146304"/>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203643" y="1828800"/>
            <a:ext cx="2008022"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20" name="TextBox 19"/>
          <p:cNvSpPr txBox="1">
            <a:spLocks/>
          </p:cNvSpPr>
          <p:nvPr/>
        </p:nvSpPr>
        <p:spPr>
          <a:xfrm>
            <a:off x="7295083" y="1938528"/>
            <a:ext cx="365760" cy="227755"/>
          </a:xfrm>
          <a:prstGeom prst="rect">
            <a:avLst/>
          </a:prstGeom>
          <a:noFill/>
        </p:spPr>
        <p:txBody>
          <a:bodyPr wrap="square" lIns="36576" tIns="36576" rIns="36576" bIns="36576" anchor="t">
            <a:spAutoFit/>
          </a:bodyPr>
          <a:lstStyle/>
          <a:p>
            <a:pPr algn="l">
              <a:spcAft>
                <a:spcPts val="0"/>
              </a:spcAft>
            </a:pPr>
            <a:r>
              <a:rPr lang="en-HU" sz="1000" b="1">
                <a:solidFill>
                  <a:srgbClr val="E60012"/>
                </a:solidFill>
              </a:rPr>
              <a:t>04</a:t>
            </a:r>
          </a:p>
        </p:txBody>
      </p:sp>
      <p:sp>
        <p:nvSpPr>
          <p:cNvPr id="21" name="TextBox 20"/>
          <p:cNvSpPr txBox="1">
            <a:spLocks/>
          </p:cNvSpPr>
          <p:nvPr/>
        </p:nvSpPr>
        <p:spPr>
          <a:xfrm>
            <a:off x="7313371" y="2243935"/>
            <a:ext cx="1788566" cy="504754"/>
          </a:xfrm>
          <a:prstGeom prst="rect">
            <a:avLst/>
          </a:prstGeom>
          <a:noFill/>
        </p:spPr>
        <p:txBody>
          <a:bodyPr wrap="square" lIns="36576" tIns="36576" rIns="36576" bIns="36576" anchor="ctr">
            <a:spAutoFit/>
          </a:bodyPr>
          <a:lstStyle/>
          <a:p>
            <a:pPr algn="ctr">
              <a:spcAft>
                <a:spcPts val="0"/>
              </a:spcAft>
            </a:pPr>
            <a:r>
              <a:rPr lang="en-GB" sz="1400" b="1">
                <a:solidFill>
                  <a:srgbClr val="FFFFFF"/>
                </a:solidFill>
              </a:rPr>
              <a:t>Check Conserve Mode events</a:t>
            </a:r>
          </a:p>
        </p:txBody>
      </p:sp>
      <p:sp>
        <p:nvSpPr>
          <p:cNvPr id="22" name="Right Arrow 21"/>
          <p:cNvSpPr>
            <a:spLocks/>
          </p:cNvSpPr>
          <p:nvPr/>
        </p:nvSpPr>
        <p:spPr>
          <a:xfrm>
            <a:off x="9211665" y="2340864"/>
            <a:ext cx="164592" cy="146304"/>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23" name="Rectangle 22"/>
          <p:cNvSpPr>
            <a:spLocks/>
          </p:cNvSpPr>
          <p:nvPr/>
        </p:nvSpPr>
        <p:spPr>
          <a:xfrm>
            <a:off x="9376257" y="1828800"/>
            <a:ext cx="2008022"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24" name="TextBox 23"/>
          <p:cNvSpPr txBox="1">
            <a:spLocks/>
          </p:cNvSpPr>
          <p:nvPr/>
        </p:nvSpPr>
        <p:spPr>
          <a:xfrm>
            <a:off x="9467697" y="1938528"/>
            <a:ext cx="365760" cy="227755"/>
          </a:xfrm>
          <a:prstGeom prst="rect">
            <a:avLst/>
          </a:prstGeom>
          <a:noFill/>
        </p:spPr>
        <p:txBody>
          <a:bodyPr wrap="square" lIns="36576" tIns="36576" rIns="36576" bIns="36576" anchor="t">
            <a:spAutoFit/>
          </a:bodyPr>
          <a:lstStyle/>
          <a:p>
            <a:pPr algn="l">
              <a:spcAft>
                <a:spcPts val="0"/>
              </a:spcAft>
            </a:pPr>
            <a:r>
              <a:rPr lang="en-HU" sz="1000" b="1">
                <a:solidFill>
                  <a:srgbClr val="E60012"/>
                </a:solidFill>
              </a:rPr>
              <a:t>05</a:t>
            </a:r>
          </a:p>
        </p:txBody>
      </p:sp>
      <p:sp>
        <p:nvSpPr>
          <p:cNvPr id="25" name="TextBox 24"/>
          <p:cNvSpPr txBox="1"/>
          <p:nvPr/>
        </p:nvSpPr>
        <p:spPr>
          <a:xfrm>
            <a:off x="9485985" y="2267712"/>
            <a:ext cx="1788566" cy="457200"/>
          </a:xfrm>
          <a:prstGeom prst="rect">
            <a:avLst/>
          </a:prstGeom>
          <a:noFill/>
        </p:spPr>
        <p:txBody>
          <a:bodyPr wrap="square" lIns="36576" tIns="36576" rIns="36576" bIns="36576" anchor="ctr">
            <a:spAutoFit/>
          </a:bodyPr>
          <a:lstStyle/>
          <a:p>
            <a:pPr algn="ctr">
              <a:spcAft>
                <a:spcPts val="0"/>
              </a:spcAft>
            </a:pPr>
            <a:r>
              <a:rPr sz="1400" b="1">
                <a:solidFill>
                  <a:srgbClr val="FFFFFF"/>
                </a:solidFill>
              </a:rPr>
              <a:t>Compare with normal baseline</a:t>
            </a:r>
          </a:p>
        </p:txBody>
      </p:sp>
      <p:sp>
        <p:nvSpPr>
          <p:cNvPr id="26" name="TextBox 25"/>
          <p:cNvSpPr txBox="1"/>
          <p:nvPr/>
        </p:nvSpPr>
        <p:spPr>
          <a:xfrm>
            <a:off x="731520" y="3703320"/>
            <a:ext cx="1554480" cy="210312"/>
          </a:xfrm>
          <a:prstGeom prst="rect">
            <a:avLst/>
          </a:prstGeom>
          <a:noFill/>
        </p:spPr>
        <p:txBody>
          <a:bodyPr wrap="square" lIns="36576" tIns="36576" rIns="36576" bIns="36576" anchor="t">
            <a:spAutoFit/>
          </a:bodyPr>
          <a:lstStyle/>
          <a:p>
            <a:pPr algn="l">
              <a:spcAft>
                <a:spcPts val="0"/>
              </a:spcAft>
            </a:pPr>
            <a:r>
              <a:rPr sz="1000" b="1">
                <a:solidFill>
                  <a:srgbClr val="E60012"/>
                </a:solidFill>
              </a:rPr>
              <a:t>EXPECTED RESULT</a:t>
            </a:r>
          </a:p>
        </p:txBody>
      </p:sp>
      <p:sp>
        <p:nvSpPr>
          <p:cNvPr id="27" name="TextBox 26"/>
          <p:cNvSpPr txBox="1"/>
          <p:nvPr/>
        </p:nvSpPr>
        <p:spPr>
          <a:xfrm>
            <a:off x="731520" y="4041648"/>
            <a:ext cx="10424160" cy="594360"/>
          </a:xfrm>
          <a:prstGeom prst="rect">
            <a:avLst/>
          </a:prstGeom>
          <a:noFill/>
        </p:spPr>
        <p:txBody>
          <a:bodyPr wrap="square" lIns="36576" tIns="36576" rIns="36576" bIns="36576" anchor="t">
            <a:spAutoFit/>
          </a:bodyPr>
          <a:lstStyle/>
          <a:p>
            <a:pPr algn="ctr">
              <a:spcAft>
                <a:spcPts val="0"/>
              </a:spcAft>
            </a:pPr>
            <a:r>
              <a:rPr sz="1700" b="1">
                <a:solidFill>
                  <a:srgbClr val="233A59"/>
                </a:solidFill>
              </a:rPr>
              <a:t>CPU, memory and session values are recorded; appliance-only offload counters are not inferred from Azure FGVM.</a:t>
            </a:r>
          </a:p>
        </p:txBody>
      </p:sp>
      <p:sp>
        <p:nvSpPr>
          <p:cNvPr id="28" name="TextBox 27"/>
          <p:cNvSpPr txBox="1"/>
          <p:nvPr/>
        </p:nvSpPr>
        <p:spPr>
          <a:xfrm>
            <a:off x="658368" y="5833872"/>
            <a:ext cx="731520" cy="182880"/>
          </a:xfrm>
          <a:prstGeom prst="rect">
            <a:avLst/>
          </a:prstGeom>
          <a:noFill/>
        </p:spPr>
        <p:txBody>
          <a:bodyPr wrap="square" lIns="36576" tIns="36576" rIns="36576" bIns="36576" anchor="t">
            <a:spAutoFit/>
          </a:bodyPr>
          <a:lstStyle/>
          <a:p>
            <a:pPr algn="l">
              <a:spcAft>
                <a:spcPts val="0"/>
              </a:spcAft>
            </a:pPr>
            <a:r>
              <a:rPr sz="1000" b="1">
                <a:solidFill>
                  <a:srgbClr val="E60012"/>
                </a:solidFill>
              </a:rPr>
              <a:t>LESSON</a:t>
            </a:r>
          </a:p>
        </p:txBody>
      </p:sp>
      <p:sp>
        <p:nvSpPr>
          <p:cNvPr id="29" name="TextBox 28"/>
          <p:cNvSpPr txBox="1"/>
          <p:nvPr/>
        </p:nvSpPr>
        <p:spPr>
          <a:xfrm>
            <a:off x="1417320" y="5769864"/>
            <a:ext cx="9875520" cy="384048"/>
          </a:xfrm>
          <a:prstGeom prst="rect">
            <a:avLst/>
          </a:prstGeom>
          <a:noFill/>
        </p:spPr>
        <p:txBody>
          <a:bodyPr wrap="square" lIns="36576" tIns="36576" rIns="36576" bIns="36576" anchor="t">
            <a:spAutoFit/>
          </a:bodyPr>
          <a:lstStyle/>
          <a:p>
            <a:pPr algn="l">
              <a:spcAft>
                <a:spcPts val="0"/>
              </a:spcAft>
            </a:pPr>
            <a:r>
              <a:rPr sz="1300" b="1">
                <a:solidFill>
                  <a:srgbClr val="233A59"/>
                </a:solidFill>
              </a:rPr>
              <a:t>Each step names a FortiGate state or packet change that can be checked directly; stop when the failed step is identified.</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p:nvPr/>
        </p:nvSpPr>
        <p:spPr>
          <a:xfrm>
            <a:off x="502920" y="411480"/>
            <a:ext cx="548640" cy="189283"/>
          </a:xfrm>
          <a:prstGeom prst="rect">
            <a:avLst/>
          </a:prstGeom>
          <a:noFill/>
        </p:spPr>
        <p:txBody>
          <a:bodyPr wrap="square" lIns="36576" tIns="36576" rIns="36576" bIns="36576" anchor="t">
            <a:spAutoFit/>
          </a:bodyPr>
          <a:lstStyle/>
          <a:p>
            <a:pPr algn="l">
              <a:spcAft>
                <a:spcPts val="0"/>
              </a:spcAft>
            </a:pPr>
            <a:r>
              <a:rPr lang="en-HU" sz="750" b="1">
                <a:solidFill>
                  <a:srgbClr val="687385"/>
                </a:solidFill>
              </a:rPr>
              <a:t>083</a:t>
            </a:r>
            <a:endParaRPr sz="750" b="1">
              <a:solidFill>
                <a:srgbClr val="687385"/>
              </a:solidFill>
            </a:endParaRPr>
          </a:p>
        </p:txBody>
      </p:sp>
      <p:sp>
        <p:nvSpPr>
          <p:cNvPr id="4" name="TextBox 3"/>
          <p:cNvSpPr txBox="1"/>
          <p:nvPr/>
        </p:nvSpPr>
        <p:spPr>
          <a:xfrm>
            <a:off x="502920" y="621792"/>
            <a:ext cx="11109960" cy="548640"/>
          </a:xfrm>
          <a:prstGeom prst="rect">
            <a:avLst/>
          </a:prstGeom>
          <a:noFill/>
        </p:spPr>
        <p:txBody>
          <a:bodyPr wrap="square" lIns="36576" tIns="36576" rIns="36576" bIns="36576" anchor="t">
            <a:spAutoFit/>
          </a:bodyPr>
          <a:lstStyle/>
          <a:p>
            <a:pPr algn="l">
              <a:spcAft>
                <a:spcPts val="0"/>
              </a:spcAft>
            </a:pPr>
            <a:r>
              <a:rPr sz="2600" b="1">
                <a:solidFill>
                  <a:srgbClr val="1E2B40"/>
                </a:solidFill>
              </a:rPr>
              <a:t>Common mistakes—and how to correct them</a:t>
            </a:r>
          </a:p>
        </p:txBody>
      </p:sp>
      <p:cxnSp>
        <p:nvCxnSpPr>
          <p:cNvPr id="5" name="Connector 4"/>
          <p:cNvCxnSpPr/>
          <p:nvPr/>
        </p:nvCxnSpPr>
        <p:spPr>
          <a:xfrm>
            <a:off x="502920" y="6473952"/>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109960" y="6537960"/>
            <a:ext cx="502920" cy="189283"/>
          </a:xfrm>
          <a:prstGeom prst="rect">
            <a:avLst/>
          </a:prstGeom>
          <a:noFill/>
        </p:spPr>
        <p:txBody>
          <a:bodyPr wrap="square" lIns="36576" tIns="36576" rIns="36576" bIns="36576" anchor="t">
            <a:spAutoFit/>
          </a:bodyPr>
          <a:lstStyle/>
          <a:p>
            <a:pPr algn="r">
              <a:spcAft>
                <a:spcPts val="0"/>
              </a:spcAft>
            </a:pPr>
            <a:r>
              <a:rPr lang="en-HU" sz="750" b="0">
                <a:solidFill>
                  <a:srgbClr val="687385"/>
                </a:solidFill>
              </a:rPr>
              <a:t>83</a:t>
            </a:r>
            <a:endParaRPr sz="750" b="0">
              <a:solidFill>
                <a:srgbClr val="687385"/>
              </a:solidFill>
            </a:endParaRPr>
          </a:p>
        </p:txBody>
      </p:sp>
      <p:sp>
        <p:nvSpPr>
          <p:cNvPr id="7" name="TextBox 6"/>
          <p:cNvSpPr txBox="1">
            <a:spLocks/>
          </p:cNvSpPr>
          <p:nvPr/>
        </p:nvSpPr>
        <p:spPr>
          <a:xfrm>
            <a:off x="685800" y="1417320"/>
            <a:ext cx="3291840" cy="243143"/>
          </a:xfrm>
          <a:prstGeom prst="rect">
            <a:avLst/>
          </a:prstGeom>
          <a:noFill/>
        </p:spPr>
        <p:txBody>
          <a:bodyPr wrap="square" lIns="36576" tIns="36576" rIns="36576" bIns="36576" anchor="t">
            <a:spAutoFit/>
          </a:bodyPr>
          <a:lstStyle/>
          <a:p>
            <a:pPr algn="l">
              <a:spcAft>
                <a:spcPts val="0"/>
              </a:spcAft>
            </a:pPr>
            <a:r>
              <a:rPr lang="en-GB" sz="1100" b="1">
                <a:solidFill>
                  <a:srgbClr val="E60012"/>
                </a:solidFill>
              </a:rPr>
              <a:t>MISTAKE</a:t>
            </a:r>
          </a:p>
        </p:txBody>
      </p:sp>
      <p:sp>
        <p:nvSpPr>
          <p:cNvPr id="8" name="TextBox 7"/>
          <p:cNvSpPr txBox="1">
            <a:spLocks/>
          </p:cNvSpPr>
          <p:nvPr/>
        </p:nvSpPr>
        <p:spPr>
          <a:xfrm>
            <a:off x="4160520" y="1417320"/>
            <a:ext cx="7040880" cy="243143"/>
          </a:xfrm>
          <a:prstGeom prst="rect">
            <a:avLst/>
          </a:prstGeom>
          <a:noFill/>
        </p:spPr>
        <p:txBody>
          <a:bodyPr wrap="square" lIns="36576" tIns="36576" rIns="36576" bIns="36576" anchor="t">
            <a:spAutoFit/>
          </a:bodyPr>
          <a:lstStyle/>
          <a:p>
            <a:pPr algn="l">
              <a:spcAft>
                <a:spcPts val="0"/>
              </a:spcAft>
            </a:pPr>
            <a:r>
              <a:rPr lang="en-GB" sz="1100" b="1">
                <a:solidFill>
                  <a:srgbClr val="E60012"/>
                </a:solidFill>
              </a:rPr>
              <a:t>CORRECTION — AND WHY IT HELPS</a:t>
            </a:r>
          </a:p>
        </p:txBody>
      </p:sp>
      <p:sp>
        <p:nvSpPr>
          <p:cNvPr id="9" name="TextBox 8"/>
          <p:cNvSpPr txBox="1">
            <a:spLocks/>
          </p:cNvSpPr>
          <p:nvPr/>
        </p:nvSpPr>
        <p:spPr>
          <a:xfrm>
            <a:off x="685800" y="1783080"/>
            <a:ext cx="3108960" cy="566309"/>
          </a:xfrm>
          <a:prstGeom prst="rect">
            <a:avLst/>
          </a:prstGeom>
          <a:noFill/>
        </p:spPr>
        <p:txBody>
          <a:bodyPr wrap="square" lIns="36576" tIns="36576" rIns="36576" bIns="36576" anchor="t">
            <a:spAutoFit/>
          </a:bodyPr>
          <a:lstStyle/>
          <a:p>
            <a:pPr algn="l">
              <a:spcAft>
                <a:spcPts val="0"/>
              </a:spcAft>
            </a:pPr>
            <a:r>
              <a:rPr lang="en-GB" sz="1600" b="1">
                <a:solidFill>
                  <a:srgbClr val="1E2B40"/>
                </a:solidFill>
              </a:rPr>
              <a:t>Expect NP/CP counters in Azure FGVM</a:t>
            </a:r>
          </a:p>
        </p:txBody>
      </p:sp>
      <p:cxnSp>
        <p:nvCxnSpPr>
          <p:cNvPr id="10" name="Connector 9"/>
          <p:cNvCxnSpPr/>
          <p:nvPr/>
        </p:nvCxnSpPr>
        <p:spPr>
          <a:xfrm>
            <a:off x="3931920" y="1737360"/>
            <a:ext cx="0" cy="96012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251960" y="1783080"/>
            <a:ext cx="6903720" cy="822960"/>
          </a:xfrm>
          <a:prstGeom prst="rect">
            <a:avLst/>
          </a:prstGeom>
          <a:noFill/>
        </p:spPr>
        <p:txBody>
          <a:bodyPr wrap="square" lIns="36576" tIns="36576" rIns="36576" bIns="36576" anchor="t">
            <a:spAutoFit/>
          </a:bodyPr>
          <a:lstStyle/>
          <a:p>
            <a:pPr algn="l">
              <a:spcAft>
                <a:spcPts val="0"/>
              </a:spcAft>
            </a:pPr>
            <a:r>
              <a:rPr sz="1600" b="0">
                <a:solidFill>
                  <a:srgbClr val="233A59"/>
                </a:solidFill>
              </a:rPr>
              <a:t>Use VM CPU/session counters in the lab; ASIC offload requires a physical appliance.</a:t>
            </a:r>
          </a:p>
        </p:txBody>
      </p:sp>
      <p:cxnSp>
        <p:nvCxnSpPr>
          <p:cNvPr id="12" name="Connector 11"/>
          <p:cNvCxnSpPr/>
          <p:nvPr/>
        </p:nvCxnSpPr>
        <p:spPr>
          <a:xfrm>
            <a:off x="685800" y="2834639"/>
            <a:ext cx="10469880"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13" name="TextBox 12"/>
          <p:cNvSpPr txBox="1">
            <a:spLocks/>
          </p:cNvSpPr>
          <p:nvPr/>
        </p:nvSpPr>
        <p:spPr>
          <a:xfrm>
            <a:off x="685800" y="3081528"/>
            <a:ext cx="3108960" cy="566309"/>
          </a:xfrm>
          <a:prstGeom prst="rect">
            <a:avLst/>
          </a:prstGeom>
          <a:noFill/>
        </p:spPr>
        <p:txBody>
          <a:bodyPr wrap="square" lIns="36576" tIns="36576" rIns="36576" bIns="36576" anchor="t">
            <a:spAutoFit/>
          </a:bodyPr>
          <a:lstStyle/>
          <a:p>
            <a:pPr algn="l">
              <a:spcAft>
                <a:spcPts val="0"/>
              </a:spcAft>
            </a:pPr>
            <a:r>
              <a:rPr lang="en-GB" sz="1600" b="1">
                <a:solidFill>
                  <a:srgbClr val="1E2B40"/>
                </a:solidFill>
              </a:rPr>
              <a:t>Upgrade without backup and release review</a:t>
            </a:r>
          </a:p>
        </p:txBody>
      </p:sp>
      <p:cxnSp>
        <p:nvCxnSpPr>
          <p:cNvPr id="14" name="Connector 13"/>
          <p:cNvCxnSpPr/>
          <p:nvPr/>
        </p:nvCxnSpPr>
        <p:spPr>
          <a:xfrm>
            <a:off x="3931920" y="3035808"/>
            <a:ext cx="0" cy="96012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5" name="TextBox 14"/>
          <p:cNvSpPr txBox="1">
            <a:spLocks/>
          </p:cNvSpPr>
          <p:nvPr/>
        </p:nvSpPr>
        <p:spPr>
          <a:xfrm>
            <a:off x="4251960" y="3081528"/>
            <a:ext cx="6903720" cy="320088"/>
          </a:xfrm>
          <a:prstGeom prst="rect">
            <a:avLst/>
          </a:prstGeom>
          <a:noFill/>
        </p:spPr>
        <p:txBody>
          <a:bodyPr wrap="square" lIns="36576" tIns="36576" rIns="36576" bIns="36576" anchor="t">
            <a:spAutoFit/>
          </a:bodyPr>
          <a:lstStyle/>
          <a:p>
            <a:pPr algn="l">
              <a:spcAft>
                <a:spcPts val="0"/>
              </a:spcAft>
            </a:pPr>
            <a:r>
              <a:rPr lang="en-GB" sz="1600" b="0">
                <a:solidFill>
                  <a:srgbClr val="233A59"/>
                </a:solidFill>
              </a:rPr>
              <a:t>Back up and read 7.6.7 release notes/upgrade path; this preserves rollback.</a:t>
            </a:r>
          </a:p>
        </p:txBody>
      </p:sp>
      <p:cxnSp>
        <p:nvCxnSpPr>
          <p:cNvPr id="16" name="Connector 15"/>
          <p:cNvCxnSpPr/>
          <p:nvPr/>
        </p:nvCxnSpPr>
        <p:spPr>
          <a:xfrm>
            <a:off x="685800" y="4133087"/>
            <a:ext cx="10469880"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17" name="TextBox 16"/>
          <p:cNvSpPr txBox="1">
            <a:spLocks/>
          </p:cNvSpPr>
          <p:nvPr/>
        </p:nvSpPr>
        <p:spPr>
          <a:xfrm>
            <a:off x="685800" y="4379976"/>
            <a:ext cx="3108960" cy="566309"/>
          </a:xfrm>
          <a:prstGeom prst="rect">
            <a:avLst/>
          </a:prstGeom>
          <a:noFill/>
        </p:spPr>
        <p:txBody>
          <a:bodyPr wrap="square" lIns="36576" tIns="36576" rIns="36576" bIns="36576" anchor="t">
            <a:spAutoFit/>
          </a:bodyPr>
          <a:lstStyle/>
          <a:p>
            <a:pPr algn="l">
              <a:spcAft>
                <a:spcPts val="0"/>
              </a:spcAft>
            </a:pPr>
            <a:r>
              <a:rPr lang="en-GB" sz="1600" b="1">
                <a:solidFill>
                  <a:srgbClr val="1E2B40"/>
                </a:solidFill>
              </a:rPr>
              <a:t>Treat Conserve Mode as one process fault</a:t>
            </a:r>
          </a:p>
        </p:txBody>
      </p:sp>
      <p:cxnSp>
        <p:nvCxnSpPr>
          <p:cNvPr id="18" name="Connector 17"/>
          <p:cNvCxnSpPr/>
          <p:nvPr/>
        </p:nvCxnSpPr>
        <p:spPr>
          <a:xfrm>
            <a:off x="3931920" y="4334256"/>
            <a:ext cx="0" cy="96012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251960" y="4379976"/>
            <a:ext cx="6903720" cy="822960"/>
          </a:xfrm>
          <a:prstGeom prst="rect">
            <a:avLst/>
          </a:prstGeom>
          <a:noFill/>
        </p:spPr>
        <p:txBody>
          <a:bodyPr wrap="square" lIns="36576" tIns="36576" rIns="36576" bIns="36576" anchor="t">
            <a:spAutoFit/>
          </a:bodyPr>
          <a:lstStyle/>
          <a:p>
            <a:pPr algn="l">
              <a:spcAft>
                <a:spcPts val="0"/>
              </a:spcAft>
            </a:pPr>
            <a:r>
              <a:rPr sz="1600" b="0">
                <a:solidFill>
                  <a:srgbClr val="233A59"/>
                </a:solidFill>
              </a:rPr>
              <a:t>Check memory trend, sessions, proxy use and top processes; multiple consumers can trigger it.</a:t>
            </a:r>
          </a:p>
        </p:txBody>
      </p:sp>
      <p:cxnSp>
        <p:nvCxnSpPr>
          <p:cNvPr id="20" name="Connector 19"/>
          <p:cNvCxnSpPr/>
          <p:nvPr/>
        </p:nvCxnSpPr>
        <p:spPr>
          <a:xfrm>
            <a:off x="685800" y="5431536"/>
            <a:ext cx="10469880"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58368" y="5833872"/>
            <a:ext cx="731520" cy="182880"/>
          </a:xfrm>
          <a:prstGeom prst="rect">
            <a:avLst/>
          </a:prstGeom>
          <a:noFill/>
        </p:spPr>
        <p:txBody>
          <a:bodyPr wrap="square" lIns="36576" tIns="36576" rIns="36576" bIns="36576" anchor="t">
            <a:spAutoFit/>
          </a:bodyPr>
          <a:lstStyle/>
          <a:p>
            <a:pPr algn="l">
              <a:spcAft>
                <a:spcPts val="0"/>
              </a:spcAft>
            </a:pPr>
            <a:r>
              <a:rPr sz="1000" b="1">
                <a:solidFill>
                  <a:srgbClr val="E60012"/>
                </a:solidFill>
              </a:rPr>
              <a:t>LESSON</a:t>
            </a:r>
          </a:p>
        </p:txBody>
      </p:sp>
      <p:sp>
        <p:nvSpPr>
          <p:cNvPr id="22" name="TextBox 21"/>
          <p:cNvSpPr txBox="1"/>
          <p:nvPr/>
        </p:nvSpPr>
        <p:spPr>
          <a:xfrm>
            <a:off x="1417320" y="5769864"/>
            <a:ext cx="9875520" cy="384048"/>
          </a:xfrm>
          <a:prstGeom prst="rect">
            <a:avLst/>
          </a:prstGeom>
          <a:noFill/>
        </p:spPr>
        <p:txBody>
          <a:bodyPr wrap="square" lIns="36576" tIns="36576" rIns="36576" bIns="36576" anchor="t">
            <a:spAutoFit/>
          </a:bodyPr>
          <a:lstStyle/>
          <a:p>
            <a:pPr algn="l">
              <a:spcAft>
                <a:spcPts val="0"/>
              </a:spcAft>
            </a:pPr>
            <a:r>
              <a:rPr sz="1300" b="1">
                <a:solidFill>
                  <a:srgbClr val="233A59"/>
                </a:solidFill>
              </a:rPr>
              <a:t>A correction changes a concrete configuration, test or interpretation—not merely the wording used to describe it.</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84</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Troubleshooting workflow: narrow the failed decision</a:t>
            </a:r>
          </a:p>
        </p:txBody>
      </p:sp>
      <p:sp>
        <p:nvSpPr>
          <p:cNvPr id="10" name="Rectangle 9"/>
          <p:cNvSpPr/>
          <p:nvPr/>
        </p:nvSpPr>
        <p:spPr>
          <a:xfrm>
            <a:off x="658368"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1" name="TextBox 10"/>
          <p:cNvSpPr txBox="1">
            <a:spLocks/>
          </p:cNvSpPr>
          <p:nvPr/>
        </p:nvSpPr>
        <p:spPr>
          <a:xfrm>
            <a:off x="768096" y="2020824"/>
            <a:ext cx="411480" cy="219456"/>
          </a:xfrm>
          <a:prstGeom prst="rect">
            <a:avLst/>
          </a:prstGeom>
          <a:noFill/>
        </p:spPr>
        <p:txBody>
          <a:bodyPr wrap="square" lIns="27432" tIns="27432" rIns="27432" bIns="27432" anchor="t">
            <a:spAutoFit/>
          </a:bodyPr>
          <a:lstStyle/>
          <a:p>
            <a:pPr algn="l">
              <a:spcAft>
                <a:spcPts val="0"/>
              </a:spcAft>
            </a:pPr>
            <a:r>
              <a:rPr lang="en-HU" sz="1100" b="1">
                <a:solidFill>
                  <a:srgbClr val="E60012"/>
                </a:solidFill>
              </a:rPr>
              <a:t>01</a:t>
            </a:r>
          </a:p>
        </p:txBody>
      </p:sp>
      <p:sp>
        <p:nvSpPr>
          <p:cNvPr id="12" name="TextBox 11"/>
          <p:cNvSpPr txBox="1">
            <a:spLocks/>
          </p:cNvSpPr>
          <p:nvPr/>
        </p:nvSpPr>
        <p:spPr>
          <a:xfrm>
            <a:off x="768096" y="2340864"/>
            <a:ext cx="1830628" cy="603504"/>
          </a:xfrm>
          <a:prstGeom prst="rect">
            <a:avLst/>
          </a:prstGeom>
          <a:noFill/>
        </p:spPr>
        <p:txBody>
          <a:bodyPr wrap="square" lIns="27432" tIns="27432" rIns="27432" bIns="27432" anchor="ctr">
            <a:spAutoFit/>
          </a:bodyPr>
          <a:lstStyle/>
          <a:p>
            <a:pPr algn="ctr">
              <a:spcAft>
                <a:spcPts val="0"/>
              </a:spcAft>
            </a:pPr>
            <a:r>
              <a:rPr lang="en-GB" sz="1400" b="1">
                <a:solidFill>
                  <a:srgbClr val="1E2B40"/>
                </a:solidFill>
              </a:rPr>
              <a:t>Confirm current build/model/VM and recent changes</a:t>
            </a:r>
          </a:p>
        </p:txBody>
      </p:sp>
      <p:cxnSp>
        <p:nvCxnSpPr>
          <p:cNvPr id="13" name="Connector 12"/>
          <p:cNvCxnSpPr/>
          <p:nvPr/>
        </p:nvCxnSpPr>
        <p:spPr>
          <a:xfrm>
            <a:off x="2708452"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2854756"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5" name="TextBox 14"/>
          <p:cNvSpPr txBox="1">
            <a:spLocks/>
          </p:cNvSpPr>
          <p:nvPr/>
        </p:nvSpPr>
        <p:spPr>
          <a:xfrm>
            <a:off x="2964484" y="2020824"/>
            <a:ext cx="411480" cy="219456"/>
          </a:xfrm>
          <a:prstGeom prst="rect">
            <a:avLst/>
          </a:prstGeom>
          <a:noFill/>
        </p:spPr>
        <p:txBody>
          <a:bodyPr wrap="square" lIns="27432" tIns="27432" rIns="27432" bIns="27432" anchor="t">
            <a:spAutoFit/>
          </a:bodyPr>
          <a:lstStyle/>
          <a:p>
            <a:pPr algn="l">
              <a:spcAft>
                <a:spcPts val="0"/>
              </a:spcAft>
            </a:pPr>
            <a:r>
              <a:rPr lang="en-HU" sz="1100" b="1">
                <a:solidFill>
                  <a:srgbClr val="E60012"/>
                </a:solidFill>
              </a:rPr>
              <a:t>02</a:t>
            </a:r>
          </a:p>
        </p:txBody>
      </p:sp>
      <p:sp>
        <p:nvSpPr>
          <p:cNvPr id="16" name="TextBox 15"/>
          <p:cNvSpPr txBox="1">
            <a:spLocks/>
          </p:cNvSpPr>
          <p:nvPr/>
        </p:nvSpPr>
        <p:spPr>
          <a:xfrm>
            <a:off x="2964484" y="2340864"/>
            <a:ext cx="1830628" cy="603504"/>
          </a:xfrm>
          <a:prstGeom prst="rect">
            <a:avLst/>
          </a:prstGeom>
          <a:noFill/>
        </p:spPr>
        <p:txBody>
          <a:bodyPr wrap="square" lIns="27432" tIns="27432" rIns="27432" bIns="27432" anchor="ctr">
            <a:spAutoFit/>
          </a:bodyPr>
          <a:lstStyle/>
          <a:p>
            <a:pPr algn="ctr">
              <a:spcAft>
                <a:spcPts val="0"/>
              </a:spcAft>
            </a:pPr>
            <a:r>
              <a:rPr lang="en-GB" sz="1400" b="1">
                <a:solidFill>
                  <a:srgbClr val="1E2B40"/>
                </a:solidFill>
              </a:rPr>
              <a:t>Compare CPU, memory and session counts to baseline</a:t>
            </a:r>
          </a:p>
        </p:txBody>
      </p:sp>
      <p:cxnSp>
        <p:nvCxnSpPr>
          <p:cNvPr id="17" name="Connector 16"/>
          <p:cNvCxnSpPr/>
          <p:nvPr/>
        </p:nvCxnSpPr>
        <p:spPr>
          <a:xfrm>
            <a:off x="4904841"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5051145"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9" name="TextBox 18"/>
          <p:cNvSpPr txBox="1">
            <a:spLocks/>
          </p:cNvSpPr>
          <p:nvPr/>
        </p:nvSpPr>
        <p:spPr>
          <a:xfrm>
            <a:off x="5160873" y="2020824"/>
            <a:ext cx="411480" cy="219456"/>
          </a:xfrm>
          <a:prstGeom prst="rect">
            <a:avLst/>
          </a:prstGeom>
          <a:noFill/>
        </p:spPr>
        <p:txBody>
          <a:bodyPr wrap="square" lIns="27432" tIns="27432" rIns="27432" bIns="27432" anchor="t">
            <a:spAutoFit/>
          </a:bodyPr>
          <a:lstStyle/>
          <a:p>
            <a:pPr algn="l">
              <a:spcAft>
                <a:spcPts val="0"/>
              </a:spcAft>
            </a:pPr>
            <a:r>
              <a:rPr lang="en-HU" sz="1100" b="1">
                <a:solidFill>
                  <a:srgbClr val="E60012"/>
                </a:solidFill>
              </a:rPr>
              <a:t>03</a:t>
            </a:r>
          </a:p>
        </p:txBody>
      </p:sp>
      <p:sp>
        <p:nvSpPr>
          <p:cNvPr id="20" name="TextBox 19"/>
          <p:cNvSpPr txBox="1">
            <a:spLocks/>
          </p:cNvSpPr>
          <p:nvPr/>
        </p:nvSpPr>
        <p:spPr>
          <a:xfrm>
            <a:off x="5160873" y="2340864"/>
            <a:ext cx="1830628" cy="603504"/>
          </a:xfrm>
          <a:prstGeom prst="rect">
            <a:avLst/>
          </a:prstGeom>
          <a:noFill/>
        </p:spPr>
        <p:txBody>
          <a:bodyPr wrap="square" lIns="27432" tIns="27432" rIns="27432" bIns="27432" anchor="ctr">
            <a:spAutoFit/>
          </a:bodyPr>
          <a:lstStyle/>
          <a:p>
            <a:pPr algn="ctr">
              <a:spcAft>
                <a:spcPts val="0"/>
              </a:spcAft>
            </a:pPr>
            <a:r>
              <a:rPr lang="en-GB" sz="1400" b="1">
                <a:solidFill>
                  <a:srgbClr val="1E2B40"/>
                </a:solidFill>
              </a:rPr>
              <a:t>Identify top consumers and inspection load</a:t>
            </a:r>
          </a:p>
        </p:txBody>
      </p:sp>
      <p:cxnSp>
        <p:nvCxnSpPr>
          <p:cNvPr id="21" name="Connector 20"/>
          <p:cNvCxnSpPr/>
          <p:nvPr/>
        </p:nvCxnSpPr>
        <p:spPr>
          <a:xfrm>
            <a:off x="7101230"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7247534"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357262" y="2020824"/>
            <a:ext cx="411480" cy="219456"/>
          </a:xfrm>
          <a:prstGeom prst="rect">
            <a:avLst/>
          </a:prstGeom>
          <a:noFill/>
        </p:spPr>
        <p:txBody>
          <a:bodyPr wrap="square" lIns="27432" tIns="27432" rIns="27432" bIns="27432" anchor="t">
            <a:spAutoFit/>
          </a:bodyPr>
          <a:lstStyle/>
          <a:p>
            <a:pPr algn="l">
              <a:spcAft>
                <a:spcPts val="0"/>
              </a:spcAft>
            </a:pPr>
            <a:r>
              <a:rPr sz="1100" b="1">
                <a:solidFill>
                  <a:srgbClr val="E60012"/>
                </a:solidFill>
              </a:rPr>
              <a:t>04</a:t>
            </a:r>
          </a:p>
        </p:txBody>
      </p:sp>
      <p:sp>
        <p:nvSpPr>
          <p:cNvPr id="24" name="TextBox 23"/>
          <p:cNvSpPr txBox="1"/>
          <p:nvPr/>
        </p:nvSpPr>
        <p:spPr>
          <a:xfrm>
            <a:off x="7357262" y="2340864"/>
            <a:ext cx="1830628" cy="603504"/>
          </a:xfrm>
          <a:prstGeom prst="rect">
            <a:avLst/>
          </a:prstGeom>
          <a:noFill/>
        </p:spPr>
        <p:txBody>
          <a:bodyPr wrap="square" lIns="27432" tIns="27432" rIns="27432" bIns="27432" anchor="ctr">
            <a:spAutoFit/>
          </a:bodyPr>
          <a:lstStyle/>
          <a:p>
            <a:pPr algn="ctr">
              <a:spcAft>
                <a:spcPts val="0"/>
              </a:spcAft>
            </a:pPr>
            <a:r>
              <a:rPr sz="1400" b="1">
                <a:solidFill>
                  <a:srgbClr val="1E2B40"/>
                </a:solidFill>
              </a:rPr>
              <a:t>Check Conserve Mode thresholds/events and proxy behavior</a:t>
            </a:r>
          </a:p>
        </p:txBody>
      </p:sp>
      <p:cxnSp>
        <p:nvCxnSpPr>
          <p:cNvPr id="25" name="Connector 24"/>
          <p:cNvCxnSpPr/>
          <p:nvPr/>
        </p:nvCxnSpPr>
        <p:spPr>
          <a:xfrm>
            <a:off x="9297619"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9443923"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553651" y="2020824"/>
            <a:ext cx="411480" cy="219456"/>
          </a:xfrm>
          <a:prstGeom prst="rect">
            <a:avLst/>
          </a:prstGeom>
          <a:noFill/>
        </p:spPr>
        <p:txBody>
          <a:bodyPr wrap="square" lIns="27432" tIns="27432" rIns="27432" bIns="27432" anchor="t">
            <a:spAutoFit/>
          </a:bodyPr>
          <a:lstStyle/>
          <a:p>
            <a:pPr algn="l">
              <a:spcAft>
                <a:spcPts val="0"/>
              </a:spcAft>
            </a:pPr>
            <a:r>
              <a:rPr sz="1100" b="1">
                <a:solidFill>
                  <a:srgbClr val="E60012"/>
                </a:solidFill>
              </a:rPr>
              <a:t>05</a:t>
            </a:r>
          </a:p>
        </p:txBody>
      </p:sp>
      <p:sp>
        <p:nvSpPr>
          <p:cNvPr id="28" name="TextBox 27"/>
          <p:cNvSpPr txBox="1"/>
          <p:nvPr/>
        </p:nvSpPr>
        <p:spPr>
          <a:xfrm>
            <a:off x="9553651" y="2340864"/>
            <a:ext cx="1830628" cy="603504"/>
          </a:xfrm>
          <a:prstGeom prst="rect">
            <a:avLst/>
          </a:prstGeom>
          <a:noFill/>
        </p:spPr>
        <p:txBody>
          <a:bodyPr wrap="square" lIns="27432" tIns="27432" rIns="27432" bIns="27432" anchor="ctr">
            <a:spAutoFit/>
          </a:bodyPr>
          <a:lstStyle/>
          <a:p>
            <a:pPr algn="ctr">
              <a:spcAft>
                <a:spcPts val="0"/>
              </a:spcAft>
            </a:pPr>
            <a:r>
              <a:rPr sz="1400" b="1">
                <a:solidFill>
                  <a:srgbClr val="1E2B40"/>
                </a:solidFill>
              </a:rPr>
              <a:t>Mitigate safely; preserve evidence before restart/upgrade</a:t>
            </a:r>
          </a:p>
        </p:txBody>
      </p:sp>
      <p:sp>
        <p:nvSpPr>
          <p:cNvPr id="29" name="TextBox 28"/>
          <p:cNvSpPr txBox="1"/>
          <p:nvPr/>
        </p:nvSpPr>
        <p:spPr>
          <a:xfrm>
            <a:off x="658368" y="3703320"/>
            <a:ext cx="2011680" cy="256032"/>
          </a:xfrm>
          <a:prstGeom prst="rect">
            <a:avLst/>
          </a:prstGeom>
          <a:noFill/>
        </p:spPr>
        <p:txBody>
          <a:bodyPr wrap="square" lIns="27432" tIns="27432" rIns="27432" bIns="27432" anchor="t">
            <a:spAutoFit/>
          </a:bodyPr>
          <a:lstStyle/>
          <a:p>
            <a:pPr algn="l">
              <a:spcAft>
                <a:spcPts val="0"/>
              </a:spcAft>
            </a:pPr>
            <a:r>
              <a:rPr sz="1100" b="1">
                <a:solidFill>
                  <a:srgbClr val="E60012"/>
                </a:solidFill>
              </a:rPr>
              <a:t>What to observe</a:t>
            </a:r>
          </a:p>
        </p:txBody>
      </p:sp>
      <p:sp>
        <p:nvSpPr>
          <p:cNvPr id="30" name="TextBox 29"/>
          <p:cNvSpPr txBox="1"/>
          <p:nvPr/>
        </p:nvSpPr>
        <p:spPr>
          <a:xfrm>
            <a:off x="658368" y="4050791"/>
            <a:ext cx="6446520" cy="1508760"/>
          </a:xfrm>
          <a:prstGeom prst="rect">
            <a:avLst/>
          </a:prstGeom>
          <a:noFill/>
        </p:spPr>
        <p:txBody>
          <a:bodyPr wrap="square" lIns="109728" tIns="73152" rIns="109728" bIns="73152" anchor="t">
            <a:spAutoFit/>
          </a:bodyPr>
          <a:lstStyle/>
          <a:p>
            <a:pPr algn="l">
              <a:lnSpc>
                <a:spcPct val="105000"/>
              </a:lnSpc>
              <a:spcAft>
                <a:spcPts val="700"/>
              </a:spcAft>
              <a:defRPr sz="1600">
                <a:solidFill>
                  <a:srgbClr val="1E2B40"/>
                </a:solidFill>
              </a:defRPr>
            </a:pPr>
            <a:r>
              <a:t>• Identify top consumers and inspection load</a:t>
            </a:r>
          </a:p>
          <a:p>
            <a:pPr>
              <a:lnSpc>
                <a:spcPct val="105000"/>
              </a:lnSpc>
              <a:spcAft>
                <a:spcPts val="700"/>
              </a:spcAft>
              <a:defRPr sz="1600">
                <a:solidFill>
                  <a:srgbClr val="1E2B40"/>
                </a:solidFill>
              </a:defRPr>
            </a:pPr>
            <a:r>
              <a:t>• Check Conserve Mode thresholds/events and proxy behavior</a:t>
            </a:r>
          </a:p>
          <a:p>
            <a:pPr>
              <a:lnSpc>
                <a:spcPct val="105000"/>
              </a:lnSpc>
              <a:spcAft>
                <a:spcPts val="700"/>
              </a:spcAft>
              <a:defRPr sz="1600">
                <a:solidFill>
                  <a:srgbClr val="1E2B40"/>
                </a:solidFill>
              </a:defRPr>
            </a:pPr>
            <a:r>
              <a:t>• Mitigate safely; preserve evidence before restart/upgrade</a:t>
            </a:r>
          </a:p>
        </p:txBody>
      </p:sp>
      <p:cxnSp>
        <p:nvCxnSpPr>
          <p:cNvPr id="31" name="Connector 30"/>
          <p:cNvCxnSpPr/>
          <p:nvPr/>
        </p:nvCxnSpPr>
        <p:spPr>
          <a:xfrm>
            <a:off x="7452360" y="3703320"/>
            <a:ext cx="0" cy="2093976"/>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7772400" y="3703320"/>
            <a:ext cx="292608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INSTRUCTOR DEMONSTRATION</a:t>
            </a:r>
            <a:endParaRPr sz="1100" b="1">
              <a:solidFill>
                <a:srgbClr val="E60012"/>
              </a:solidFill>
            </a:endParaRPr>
          </a:p>
        </p:txBody>
      </p:sp>
      <p:sp>
        <p:nvSpPr>
          <p:cNvPr id="33" name="TextBox 32"/>
          <p:cNvSpPr txBox="1"/>
          <p:nvPr/>
        </p:nvSpPr>
        <p:spPr>
          <a:xfrm>
            <a:off x="7772400" y="4096512"/>
            <a:ext cx="3337560" cy="1234440"/>
          </a:xfrm>
          <a:prstGeom prst="rect">
            <a:avLst/>
          </a:prstGeom>
          <a:noFill/>
        </p:spPr>
        <p:txBody>
          <a:bodyPr wrap="square" lIns="27432" tIns="27432" rIns="27432" bIns="27432" anchor="t">
            <a:spAutoFit/>
          </a:bodyPr>
          <a:lstStyle/>
          <a:p>
            <a:pPr algn="l">
              <a:spcAft>
                <a:spcPts val="0"/>
              </a:spcAft>
            </a:pPr>
            <a:r>
              <a:rPr sz="1500" b="1">
                <a:solidFill>
                  <a:srgbClr val="233A59"/>
                </a:solidFill>
              </a:rPr>
              <a:t>Preserve timestamps and before/after state; stop/reset debug operations.</a:t>
            </a:r>
          </a:p>
        </p:txBody>
      </p:sp>
      <p:sp>
        <p:nvSpPr>
          <p:cNvPr id="34" name="TextBox 33"/>
          <p:cNvSpPr txBox="1"/>
          <p:nvPr/>
        </p:nvSpPr>
        <p:spPr>
          <a:xfrm>
            <a:off x="7772400" y="5440680"/>
            <a:ext cx="3337560" cy="363176"/>
          </a:xfrm>
          <a:prstGeom prst="rect">
            <a:avLst/>
          </a:prstGeom>
          <a:noFill/>
        </p:spPr>
        <p:txBody>
          <a:bodyPr wrap="square" lIns="27432" tIns="27432" rIns="27432" bIns="27432" anchor="t">
            <a:spAutoFit/>
          </a:bodyPr>
          <a:lstStyle/>
          <a:p>
            <a:pPr algn="l">
              <a:spcAft>
                <a:spcPts val="0"/>
              </a:spcAft>
            </a:pPr>
            <a:r>
              <a:rPr lang="en-GB" sz="1000" b="0">
                <a:solidFill>
                  <a:srgbClr val="687385"/>
                </a:solidFill>
              </a:rPr>
              <a:t>If debug is used, filter by the test tuple and disable</a:t>
            </a:r>
            <a:r>
              <a:rPr sz="1000" b="0">
                <a:solidFill>
                  <a:srgbClr val="687385"/>
                </a:solidFill>
              </a:rPr>
              <a:t>/reset </a:t>
            </a:r>
            <a:r>
              <a:rPr lang="en-GB" sz="1000" b="0">
                <a:solidFill>
                  <a:srgbClr val="687385"/>
                </a:solidFill>
              </a:rPr>
              <a:t>it immediately </a:t>
            </a:r>
            <a:r>
              <a:rPr sz="1000" b="0">
                <a:solidFill>
                  <a:srgbClr val="687385"/>
                </a:solidFill>
              </a:rPr>
              <a:t>after </a:t>
            </a:r>
            <a:r>
              <a:rPr lang="en-GB" sz="1000" b="0">
                <a:solidFill>
                  <a:srgbClr val="687385"/>
                </a:solidFill>
              </a:rPr>
              <a:t>capture</a:t>
            </a:r>
            <a:r>
              <a:rPr sz="1000" b="0">
                <a:solidFill>
                  <a:srgbClr val="687385"/>
                </a:solidFill>
              </a:rPr>
              <a:t>.</a:t>
            </a:r>
          </a:p>
        </p:txBody>
      </p:sp>
      <p:sp>
        <p:nvSpPr>
          <p:cNvPr id="35" name="TextBox 34"/>
          <p:cNvSpPr txBox="1"/>
          <p:nvPr/>
        </p:nvSpPr>
        <p:spPr>
          <a:xfrm>
            <a:off x="502920" y="420624"/>
            <a:ext cx="10744200" cy="130805"/>
          </a:xfrm>
          <a:prstGeom prst="rect">
            <a:avLst/>
          </a:prstGeom>
          <a:noFill/>
        </p:spPr>
        <p:txBody>
          <a:bodyPr wrap="square" lIns="0" tIns="0" rIns="0" bIns="0">
            <a:spAutoFit/>
          </a:bodyPr>
          <a:lstStyle/>
          <a:p>
            <a:pPr algn="l"/>
            <a:r>
              <a:rPr lang="en-HU" sz="850" b="1">
                <a:solidFill>
                  <a:srgbClr val="687385"/>
                </a:solidFill>
              </a:rPr>
              <a:t>084</a:t>
            </a:r>
            <a:r>
              <a:rPr sz="850" b="1">
                <a:solidFill>
                  <a:srgbClr val="687385"/>
                </a:solidFill>
              </a:rPr>
              <a:t> • DAY 2 • BLOCK 08 • Hardware, Monitoring &amp; Operations</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85</a:t>
            </a:r>
          </a:p>
        </p:txBody>
      </p:sp>
      <p:sp>
        <p:nvSpPr>
          <p:cNvPr id="9" name="TextBox 8"/>
          <p:cNvSpPr txBox="1">
            <a:spLocks/>
          </p:cNvSpPr>
          <p:nvPr/>
        </p:nvSpPr>
        <p:spPr>
          <a:xfrm>
            <a:off x="502920" y="621792"/>
            <a:ext cx="11109960" cy="455509"/>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Practical handoff: Operate and Observe the Firewall</a:t>
            </a:r>
          </a:p>
        </p:txBody>
      </p:sp>
      <p:sp>
        <p:nvSpPr>
          <p:cNvPr id="10" name="TextBox 9"/>
          <p:cNvSpPr txBox="1">
            <a:spLocks/>
          </p:cNvSpPr>
          <p:nvPr/>
        </p:nvSpPr>
        <p:spPr>
          <a:xfrm>
            <a:off x="658368" y="1554480"/>
            <a:ext cx="6583680" cy="3846117"/>
          </a:xfrm>
          <a:prstGeom prst="rect">
            <a:avLst/>
          </a:prstGeom>
          <a:noFill/>
        </p:spPr>
        <p:txBody>
          <a:bodyPr wrap="square" lIns="109728" tIns="73152" rIns="109728" bIns="73152" anchor="t">
            <a:spAutoFit/>
          </a:bodyPr>
          <a:lstStyle/>
          <a:p>
            <a:pPr algn="l">
              <a:lnSpc>
                <a:spcPct val="105000"/>
              </a:lnSpc>
              <a:spcAft>
                <a:spcPts val="800"/>
              </a:spcAft>
              <a:defRPr sz="1700">
                <a:solidFill>
                  <a:srgbClr val="1E2B40"/>
                </a:solidFill>
              </a:defRPr>
            </a:pPr>
            <a:r>
              <a:rPr lang="en-GB"/>
              <a:t>• START / PREREQUISITES: Known-good Student N traffic and read-only dashboard/CLI/log access; baseline metrics recorded.</a:t>
            </a:r>
          </a:p>
          <a:p>
            <a:pPr>
              <a:lnSpc>
                <a:spcPct val="105000"/>
              </a:lnSpc>
              <a:spcAft>
                <a:spcPts val="800"/>
              </a:spcAft>
              <a:defRPr sz="1700">
                <a:solidFill>
                  <a:srgbClr val="1E2B40"/>
                </a:solidFill>
              </a:defRPr>
            </a:pPr>
            <a:r>
              <a:rPr lang="en-GB"/>
              <a:t>• CHANGE / INVESTIGATE: Correlate sessions, logs, interface counters, CPU/memory and one bounded packet capture during a test flow.</a:t>
            </a:r>
          </a:p>
          <a:p>
            <a:pPr>
              <a:lnSpc>
                <a:spcPct val="105000"/>
              </a:lnSpc>
              <a:spcAft>
                <a:spcPts val="800"/>
              </a:spcAft>
              <a:defRPr sz="1700">
                <a:solidFill>
                  <a:srgbClr val="1E2B40"/>
                </a:solidFill>
              </a:defRPr>
            </a:pPr>
            <a:r>
              <a:rPr lang="en-GB"/>
              <a:t>• EXPECTED RESULT: The team explains the flow from packet to session/log and distinguishes normal baseline from one supplied anomaly.</a:t>
            </a:r>
          </a:p>
          <a:p>
            <a:pPr>
              <a:lnSpc>
                <a:spcPct val="105000"/>
              </a:lnSpc>
              <a:spcAft>
                <a:spcPts val="800"/>
              </a:spcAft>
              <a:defRPr sz="1700">
                <a:solidFill>
                  <a:srgbClr val="1E2B40"/>
                </a:solidFill>
              </a:defRPr>
            </a:pPr>
            <a:r>
              <a:rPr lang="en-GB"/>
              <a:t>• CLEANUP / RESET: Stop capture/debug, clear filters and leave configuration unchanged.</a:t>
            </a:r>
          </a:p>
          <a:p>
            <a:pPr>
              <a:lnSpc>
                <a:spcPct val="105000"/>
              </a:lnSpc>
              <a:spcAft>
                <a:spcPts val="800"/>
              </a:spcAft>
              <a:defRPr sz="1700">
                <a:solidFill>
                  <a:srgbClr val="1E2B40"/>
                </a:solidFill>
              </a:defRPr>
            </a:pPr>
            <a:r>
              <a:rPr lang="en-GB"/>
              <a:t>• DELIVERY: Hands-on observation; instructor metric snapshot fallback.</a:t>
            </a:r>
          </a:p>
        </p:txBody>
      </p:sp>
      <p:cxnSp>
        <p:nvCxnSpPr>
          <p:cNvPr id="11" name="Connector 10"/>
          <p:cNvCxnSpPr/>
          <p:nvPr/>
        </p:nvCxnSpPr>
        <p:spPr>
          <a:xfrm>
            <a:off x="7452360" y="1600200"/>
            <a:ext cx="0" cy="434340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7790688" y="1627632"/>
            <a:ext cx="342900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PLANNED EXERCISE</a:t>
            </a:r>
          </a:p>
        </p:txBody>
      </p:sp>
      <p:sp>
        <p:nvSpPr>
          <p:cNvPr id="13" name="TextBox 12"/>
          <p:cNvSpPr txBox="1"/>
          <p:nvPr/>
        </p:nvSpPr>
        <p:spPr>
          <a:xfrm>
            <a:off x="7790688" y="2057400"/>
            <a:ext cx="3337560" cy="1101840"/>
          </a:xfrm>
          <a:prstGeom prst="rect">
            <a:avLst/>
          </a:prstGeom>
          <a:noFill/>
        </p:spPr>
        <p:txBody>
          <a:bodyPr wrap="square" lIns="27432" tIns="27432" rIns="27432" bIns="27432" anchor="t">
            <a:spAutoFit/>
          </a:bodyPr>
          <a:lstStyle/>
          <a:p>
            <a:pPr algn="l">
              <a:spcAft>
                <a:spcPts val="0"/>
              </a:spcAft>
            </a:pPr>
            <a:r>
              <a:rPr lang="en-GB" sz="1700" b="1">
                <a:solidFill>
                  <a:srgbClr val="233A59"/>
                </a:solidFill>
              </a:rPr>
              <a:t>Correlate sessions</a:t>
            </a:r>
            <a:r>
              <a:rPr sz="1700" b="1">
                <a:solidFill>
                  <a:srgbClr val="233A59"/>
                </a:solidFill>
              </a:rPr>
              <a:t>, </a:t>
            </a:r>
            <a:r>
              <a:rPr lang="en-GB" sz="1700" b="1">
                <a:solidFill>
                  <a:srgbClr val="233A59"/>
                </a:solidFill>
              </a:rPr>
              <a:t>logs</a:t>
            </a:r>
            <a:r>
              <a:rPr sz="1700" b="1">
                <a:solidFill>
                  <a:srgbClr val="233A59"/>
                </a:solidFill>
              </a:rPr>
              <a:t>, </a:t>
            </a:r>
            <a:r>
              <a:rPr lang="en-GB" sz="1700" b="1">
                <a:solidFill>
                  <a:srgbClr val="233A59"/>
                </a:solidFill>
              </a:rPr>
              <a:t>interface counters</a:t>
            </a:r>
            <a:r>
              <a:rPr sz="1700" b="1">
                <a:solidFill>
                  <a:srgbClr val="233A59"/>
                </a:solidFill>
              </a:rPr>
              <a:t>, CPU</a:t>
            </a:r>
            <a:r>
              <a:rPr lang="en-GB" sz="1700" b="1">
                <a:solidFill>
                  <a:srgbClr val="233A59"/>
                </a:solidFill>
              </a:rPr>
              <a:t>/memory</a:t>
            </a:r>
            <a:r>
              <a:rPr sz="1700" b="1">
                <a:solidFill>
                  <a:srgbClr val="233A59"/>
                </a:solidFill>
              </a:rPr>
              <a:t> and </a:t>
            </a:r>
            <a:r>
              <a:rPr lang="en-GB" sz="1700" b="1">
                <a:solidFill>
                  <a:srgbClr val="233A59"/>
                </a:solidFill>
              </a:rPr>
              <a:t>one bounded packet capture during </a:t>
            </a:r>
            <a:r>
              <a:rPr sz="1700" b="1">
                <a:solidFill>
                  <a:srgbClr val="233A59"/>
                </a:solidFill>
              </a:rPr>
              <a:t>a </a:t>
            </a:r>
            <a:r>
              <a:rPr lang="en-GB" sz="1700" b="1">
                <a:solidFill>
                  <a:srgbClr val="233A59"/>
                </a:solidFill>
              </a:rPr>
              <a:t>test flow</a:t>
            </a:r>
            <a:r>
              <a:rPr sz="1700" b="1">
                <a:solidFill>
                  <a:srgbClr val="233A59"/>
                </a:solidFill>
              </a:rPr>
              <a:t>.</a:t>
            </a:r>
          </a:p>
        </p:txBody>
      </p:sp>
      <p:sp>
        <p:nvSpPr>
          <p:cNvPr id="14" name="TextBox 13"/>
          <p:cNvSpPr txBox="1"/>
          <p:nvPr/>
        </p:nvSpPr>
        <p:spPr>
          <a:xfrm>
            <a:off x="7790688" y="3822191"/>
            <a:ext cx="18288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EXPECTED RESULT</a:t>
            </a:r>
            <a:endParaRPr sz="1100" b="1">
              <a:solidFill>
                <a:srgbClr val="E60012"/>
              </a:solidFill>
            </a:endParaRPr>
          </a:p>
        </p:txBody>
      </p:sp>
      <p:sp>
        <p:nvSpPr>
          <p:cNvPr id="15" name="TextBox 14"/>
          <p:cNvSpPr txBox="1"/>
          <p:nvPr/>
        </p:nvSpPr>
        <p:spPr>
          <a:xfrm>
            <a:off x="7790688" y="4187952"/>
            <a:ext cx="3337560" cy="747897"/>
          </a:xfrm>
          <a:prstGeom prst="rect">
            <a:avLst/>
          </a:prstGeom>
          <a:noFill/>
        </p:spPr>
        <p:txBody>
          <a:bodyPr wrap="square" lIns="27432" tIns="27432" rIns="27432" bIns="27432" anchor="t">
            <a:spAutoFit/>
          </a:bodyPr>
          <a:lstStyle/>
          <a:p>
            <a:pPr algn="l">
              <a:spcAft>
                <a:spcPts val="0"/>
              </a:spcAft>
            </a:pPr>
            <a:r>
              <a:rPr lang="en-GB" sz="1500" b="0">
                <a:solidFill>
                  <a:srgbClr val="1E2B40"/>
                </a:solidFill>
              </a:rPr>
              <a:t>The team explains </a:t>
            </a:r>
            <a:r>
              <a:rPr sz="1500" b="0">
                <a:solidFill>
                  <a:srgbClr val="1E2B40"/>
                </a:solidFill>
              </a:rPr>
              <a:t>the </a:t>
            </a:r>
            <a:r>
              <a:rPr lang="en-GB" sz="1500" b="0">
                <a:solidFill>
                  <a:srgbClr val="1E2B40"/>
                </a:solidFill>
              </a:rPr>
              <a:t>flow from packet to session/log and distinguishes normal baseline from one supplied anomaly</a:t>
            </a:r>
            <a:r>
              <a:rPr sz="1500" b="0">
                <a:solidFill>
                  <a:srgbClr val="1E2B40"/>
                </a:solidFill>
              </a:rPr>
              <a:t>.</a:t>
            </a:r>
          </a:p>
        </p:txBody>
      </p:sp>
      <p:sp>
        <p:nvSpPr>
          <p:cNvPr id="16" name="TextBox 15"/>
          <p:cNvSpPr txBox="1"/>
          <p:nvPr/>
        </p:nvSpPr>
        <p:spPr>
          <a:xfrm>
            <a:off x="7790688" y="5559552"/>
            <a:ext cx="1097280" cy="209288"/>
          </a:xfrm>
          <a:prstGeom prst="rect">
            <a:avLst/>
          </a:prstGeom>
          <a:noFill/>
        </p:spPr>
        <p:txBody>
          <a:bodyPr wrap="square" lIns="27432" tIns="27432" rIns="27432" bIns="27432" anchor="t">
            <a:spAutoFit/>
          </a:bodyPr>
          <a:lstStyle/>
          <a:p>
            <a:pPr algn="l">
              <a:spcAft>
                <a:spcPts val="0"/>
              </a:spcAft>
            </a:pPr>
            <a:r>
              <a:rPr lang="en-GB" sz="1000" b="1">
                <a:solidFill>
                  <a:srgbClr val="687385"/>
                </a:solidFill>
              </a:rPr>
              <a:t>DELIVERY MODE</a:t>
            </a:r>
            <a:endParaRPr sz="1000" b="1">
              <a:solidFill>
                <a:srgbClr val="687385"/>
              </a:solidFill>
            </a:endParaRPr>
          </a:p>
        </p:txBody>
      </p:sp>
      <p:sp>
        <p:nvSpPr>
          <p:cNvPr id="17" name="TextBox 16"/>
          <p:cNvSpPr txBox="1"/>
          <p:nvPr/>
        </p:nvSpPr>
        <p:spPr>
          <a:xfrm>
            <a:off x="8942832" y="5504688"/>
            <a:ext cx="2258568" cy="486287"/>
          </a:xfrm>
          <a:prstGeom prst="rect">
            <a:avLst/>
          </a:prstGeom>
          <a:noFill/>
        </p:spPr>
        <p:txBody>
          <a:bodyPr wrap="square" lIns="27432" tIns="27432" rIns="27432" bIns="27432" anchor="t">
            <a:spAutoFit/>
          </a:bodyPr>
          <a:lstStyle/>
          <a:p>
            <a:pPr algn="r">
              <a:spcAft>
                <a:spcPts val="0"/>
              </a:spcAft>
            </a:pPr>
            <a:r>
              <a:rPr lang="en-GB" sz="1400" b="0">
                <a:solidFill>
                  <a:srgbClr val="687385"/>
                </a:solidFill>
              </a:rPr>
              <a:t>Hands-on; snapshot fallback</a:t>
            </a:r>
          </a:p>
        </p:txBody>
      </p:sp>
      <p:sp>
        <p:nvSpPr>
          <p:cNvPr id="18" name="TextBox 17"/>
          <p:cNvSpPr txBox="1"/>
          <p:nvPr/>
        </p:nvSpPr>
        <p:spPr>
          <a:xfrm>
            <a:off x="502920" y="420624"/>
            <a:ext cx="10744200" cy="130805"/>
          </a:xfrm>
          <a:prstGeom prst="rect">
            <a:avLst/>
          </a:prstGeom>
          <a:noFill/>
        </p:spPr>
        <p:txBody>
          <a:bodyPr wrap="square" lIns="0" tIns="0" rIns="0" bIns="0">
            <a:spAutoFit/>
          </a:bodyPr>
          <a:lstStyle/>
          <a:p>
            <a:pPr algn="l"/>
            <a:r>
              <a:rPr lang="en-HU" sz="850" b="1">
                <a:solidFill>
                  <a:srgbClr val="687385"/>
                </a:solidFill>
              </a:rPr>
              <a:t>085</a:t>
            </a:r>
            <a:r>
              <a:rPr sz="850" b="1">
                <a:solidFill>
                  <a:srgbClr val="687385"/>
                </a:solidFill>
              </a:rPr>
              <a:t> • DAY 2 • BLOCK 08 • Hardware, Monitoring &amp; Operations</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86</a:t>
            </a:r>
          </a:p>
        </p:txBody>
      </p:sp>
      <p:sp>
        <p:nvSpPr>
          <p:cNvPr id="9" name="TextBox 8"/>
          <p:cNvSpPr txBox="1">
            <a:spLocks/>
          </p:cNvSpPr>
          <p:nvPr/>
        </p:nvSpPr>
        <p:spPr>
          <a:xfrm>
            <a:off x="502920" y="621792"/>
            <a:ext cx="11109960" cy="455509"/>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Knowledge check — explain the result</a:t>
            </a:r>
          </a:p>
        </p:txBody>
      </p:sp>
      <p:sp>
        <p:nvSpPr>
          <p:cNvPr id="10" name="TextBox 9"/>
          <p:cNvSpPr txBox="1">
            <a:spLocks/>
          </p:cNvSpPr>
          <p:nvPr/>
        </p:nvSpPr>
        <p:spPr>
          <a:xfrm>
            <a:off x="658368" y="1600200"/>
            <a:ext cx="5312664" cy="292608"/>
          </a:xfrm>
          <a:prstGeom prst="rect">
            <a:avLst/>
          </a:prstGeom>
          <a:noFill/>
        </p:spPr>
        <p:txBody>
          <a:bodyPr wrap="square" lIns="27432" tIns="27432" rIns="27432" bIns="27432" anchor="t">
            <a:spAutoFit/>
          </a:bodyPr>
          <a:lstStyle/>
          <a:p>
            <a:pPr algn="l">
              <a:spcAft>
                <a:spcPts val="0"/>
              </a:spcAft>
            </a:pPr>
            <a:r>
              <a:rPr lang="en-GB" sz="1300" b="1">
                <a:solidFill>
                  <a:srgbClr val="E60012"/>
                </a:solidFill>
              </a:rPr>
              <a:t>QUESTION 1</a:t>
            </a:r>
          </a:p>
        </p:txBody>
      </p:sp>
      <p:cxnSp>
        <p:nvCxnSpPr>
          <p:cNvPr id="11" name="Connector 10"/>
          <p:cNvCxnSpPr/>
          <p:nvPr/>
        </p:nvCxnSpPr>
        <p:spPr>
          <a:xfrm>
            <a:off x="658368" y="1984248"/>
            <a:ext cx="5312664" cy="0"/>
          </a:xfrm>
          <a:prstGeom prst="line">
            <a:avLst/>
          </a:prstGeom>
          <a:ln w="22860">
            <a:solidFill>
              <a:srgbClr val="E60012"/>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658368" y="2176272"/>
            <a:ext cx="5312664" cy="3337560"/>
          </a:xfrm>
          <a:prstGeom prst="rect">
            <a:avLst/>
          </a:prstGeom>
          <a:noFill/>
        </p:spPr>
        <p:txBody>
          <a:bodyPr wrap="square" lIns="109728" tIns="73152" rIns="109728" bIns="73152" anchor="t">
            <a:spAutoFit/>
          </a:bodyPr>
          <a:lstStyle/>
          <a:p>
            <a:pPr algn="l">
              <a:lnSpc>
                <a:spcPct val="105000"/>
              </a:lnSpc>
              <a:spcAft>
                <a:spcPts val="800"/>
              </a:spcAft>
              <a:defRPr sz="1600">
                <a:solidFill>
                  <a:srgbClr val="1E2B40"/>
                </a:solidFill>
              </a:defRPr>
            </a:pPr>
            <a:r>
              <a:rPr lang="en-GB"/>
              <a:t>• Why can a VM lab not prove NP/CP offload behavior?</a:t>
            </a:r>
          </a:p>
        </p:txBody>
      </p:sp>
      <p:sp>
        <p:nvSpPr>
          <p:cNvPr id="13" name="TextBox 12"/>
          <p:cNvSpPr txBox="1">
            <a:spLocks/>
          </p:cNvSpPr>
          <p:nvPr/>
        </p:nvSpPr>
        <p:spPr>
          <a:xfrm>
            <a:off x="6227064" y="1600200"/>
            <a:ext cx="5312664" cy="292608"/>
          </a:xfrm>
          <a:prstGeom prst="rect">
            <a:avLst/>
          </a:prstGeom>
          <a:noFill/>
        </p:spPr>
        <p:txBody>
          <a:bodyPr wrap="square" lIns="27432" tIns="27432" rIns="27432" bIns="27432" anchor="t">
            <a:spAutoFit/>
          </a:bodyPr>
          <a:lstStyle/>
          <a:p>
            <a:pPr algn="l">
              <a:spcAft>
                <a:spcPts val="0"/>
              </a:spcAft>
            </a:pPr>
            <a:r>
              <a:rPr lang="en-GB" sz="1300" b="1">
                <a:solidFill>
                  <a:srgbClr val="E60012"/>
                </a:solidFill>
              </a:rPr>
              <a:t>QUESTION 2</a:t>
            </a:r>
          </a:p>
        </p:txBody>
      </p:sp>
      <p:cxnSp>
        <p:nvCxnSpPr>
          <p:cNvPr id="14" name="Connector 13"/>
          <p:cNvCxnSpPr/>
          <p:nvPr/>
        </p:nvCxnSpPr>
        <p:spPr>
          <a:xfrm>
            <a:off x="6227064" y="1984248"/>
            <a:ext cx="5312664" cy="0"/>
          </a:xfrm>
          <a:prstGeom prst="line">
            <a:avLst/>
          </a:prstGeom>
          <a:ln w="22860">
            <a:solidFill>
              <a:srgbClr val="E60012"/>
            </a:solidFill>
          </a:ln>
        </p:spPr>
        <p:style>
          <a:lnRef idx="2">
            <a:schemeClr val="accent1"/>
          </a:lnRef>
          <a:fillRef idx="0">
            <a:schemeClr val="accent1"/>
          </a:fillRef>
          <a:effectRef idx="1">
            <a:schemeClr val="accent1"/>
          </a:effectRef>
          <a:fontRef idx="minor">
            <a:schemeClr val="tx1"/>
          </a:fontRef>
        </p:style>
      </p:cxnSp>
      <p:sp>
        <p:nvSpPr>
          <p:cNvPr id="15" name="TextBox 14"/>
          <p:cNvSpPr txBox="1">
            <a:spLocks/>
          </p:cNvSpPr>
          <p:nvPr/>
        </p:nvSpPr>
        <p:spPr>
          <a:xfrm>
            <a:off x="6227064" y="2176272"/>
            <a:ext cx="5312664" cy="3337560"/>
          </a:xfrm>
          <a:prstGeom prst="rect">
            <a:avLst/>
          </a:prstGeom>
          <a:noFill/>
        </p:spPr>
        <p:txBody>
          <a:bodyPr wrap="square" lIns="109728" tIns="73152" rIns="109728" bIns="73152" anchor="t">
            <a:spAutoFit/>
          </a:bodyPr>
          <a:lstStyle/>
          <a:p>
            <a:pPr algn="l">
              <a:lnSpc>
                <a:spcPct val="105000"/>
              </a:lnSpc>
              <a:spcAft>
                <a:spcPts val="800"/>
              </a:spcAft>
              <a:defRPr sz="1600">
                <a:solidFill>
                  <a:srgbClr val="1E2B40"/>
                </a:solidFill>
              </a:defRPr>
            </a:pPr>
            <a:r>
              <a:rPr lang="en-GB"/>
              <a:t>• What is Conserve Mode?</a:t>
            </a:r>
          </a:p>
        </p:txBody>
      </p:sp>
      <p:sp>
        <p:nvSpPr>
          <p:cNvPr id="16" name="TextBox 15"/>
          <p:cNvSpPr txBox="1">
            <a:spLocks/>
          </p:cNvSpPr>
          <p:nvPr/>
        </p:nvSpPr>
        <p:spPr>
          <a:xfrm>
            <a:off x="658368" y="5724144"/>
            <a:ext cx="1234440" cy="224677"/>
          </a:xfrm>
          <a:prstGeom prst="rect">
            <a:avLst/>
          </a:prstGeom>
          <a:noFill/>
        </p:spPr>
        <p:txBody>
          <a:bodyPr wrap="square" lIns="27432" tIns="27432" rIns="27432" bIns="27432" anchor="t">
            <a:spAutoFit/>
          </a:bodyPr>
          <a:lstStyle/>
          <a:p>
            <a:pPr algn="l">
              <a:spcAft>
                <a:spcPts val="0"/>
              </a:spcAft>
            </a:pPr>
            <a:r>
              <a:rPr lang="en-GB" sz="1100" b="1">
                <a:solidFill>
                  <a:srgbClr val="233A59"/>
                </a:solidFill>
              </a:rPr>
              <a:t>KEY DISTINCTION</a:t>
            </a:r>
          </a:p>
        </p:txBody>
      </p:sp>
      <p:sp>
        <p:nvSpPr>
          <p:cNvPr id="17" name="TextBox 16"/>
          <p:cNvSpPr txBox="1">
            <a:spLocks/>
          </p:cNvSpPr>
          <p:nvPr/>
        </p:nvSpPr>
        <p:spPr>
          <a:xfrm>
            <a:off x="1920240" y="5687568"/>
            <a:ext cx="9235440" cy="329184"/>
          </a:xfrm>
          <a:prstGeom prst="rect">
            <a:avLst/>
          </a:prstGeom>
          <a:noFill/>
        </p:spPr>
        <p:txBody>
          <a:bodyPr wrap="square" lIns="27432" tIns="27432" rIns="27432" bIns="27432" anchor="t">
            <a:spAutoFit/>
          </a:bodyPr>
          <a:lstStyle/>
          <a:p>
            <a:pPr algn="l">
              <a:spcAft>
                <a:spcPts val="0"/>
              </a:spcAft>
            </a:pPr>
            <a:r>
              <a:rPr lang="en-GB" sz="1400" b="1">
                <a:solidFill>
                  <a:srgbClr val="233A59"/>
                </a:solidFill>
              </a:rPr>
              <a:t>Answers and teaching rationale are in speaker notes.</a:t>
            </a:r>
          </a:p>
        </p:txBody>
      </p:sp>
      <p:sp>
        <p:nvSpPr>
          <p:cNvPr id="18" name="TextBox 17"/>
          <p:cNvSpPr txBox="1">
            <a:spLocks/>
          </p:cNvSpPr>
          <p:nvPr/>
        </p:nvSpPr>
        <p:spPr>
          <a:xfrm>
            <a:off x="502920" y="420624"/>
            <a:ext cx="10744200" cy="130805"/>
          </a:xfrm>
          <a:prstGeom prst="rect">
            <a:avLst/>
          </a:prstGeom>
          <a:noFill/>
        </p:spPr>
        <p:txBody>
          <a:bodyPr wrap="square" lIns="0" tIns="0" rIns="0" bIns="0">
            <a:spAutoFit/>
          </a:bodyPr>
          <a:lstStyle/>
          <a:p>
            <a:pPr algn="l"/>
            <a:r>
              <a:rPr lang="en-GB" sz="850" b="1">
                <a:solidFill>
                  <a:srgbClr val="687385"/>
                </a:solidFill>
              </a:rPr>
              <a:t>086 • DAY 2 • BLOCK 08 • Hardware, Monitoring &amp; Operations</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101827"/>
        </a:solidFill>
        <a:effectLst/>
      </p:bgPr>
    </p:bg>
    <p:spTree>
      <p:nvGrpSpPr>
        <p:cNvPr id="1" name=""/>
        <p:cNvGrpSpPr/>
        <p:nvPr/>
      </p:nvGrpSpPr>
      <p:grpSpPr>
        <a:xfrm>
          <a:off x="0" y="0"/>
          <a:ext cx="1" cy="1"/>
          <a:chOff x="0" y="0"/>
          <a:chExt cx="1" cy="1"/>
        </a:xfrm>
      </p:grpSpPr>
      <p:sp>
        <p:nvSpPr>
          <p:cNvPr id="2" name="Rectangle 1"/>
          <p:cNvSpPr/>
          <p:nvPr/>
        </p:nvSpPr>
        <p:spPr>
          <a:xfrm>
            <a:off x="0" y="0"/>
            <a:ext cx="146304" cy="6858000"/>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a:spLocks/>
          </p:cNvSpPr>
          <p:nvPr/>
        </p:nvSpPr>
        <p:spPr>
          <a:xfrm>
            <a:off x="658368" y="566928"/>
            <a:ext cx="5212080" cy="256032"/>
          </a:xfrm>
          <a:prstGeom prst="rect">
            <a:avLst/>
          </a:prstGeom>
          <a:noFill/>
        </p:spPr>
        <p:txBody>
          <a:bodyPr wrap="square" lIns="27432" tIns="27432" rIns="27432" bIns="27432" anchor="t">
            <a:spAutoFit/>
          </a:bodyPr>
          <a:lstStyle/>
          <a:p>
            <a:pPr algn="l">
              <a:spcAft>
                <a:spcPts val="0"/>
              </a:spcAft>
            </a:pPr>
            <a:r>
              <a:rPr lang="en-GB" sz="1400" b="1">
                <a:solidFill>
                  <a:srgbClr val="E60012"/>
                </a:solidFill>
              </a:rPr>
              <a:t>DAY 3  •  09:00–10:30</a:t>
            </a:r>
          </a:p>
        </p:txBody>
      </p:sp>
      <p:sp>
        <p:nvSpPr>
          <p:cNvPr id="4" name="TextBox 3"/>
          <p:cNvSpPr txBox="1">
            <a:spLocks/>
          </p:cNvSpPr>
          <p:nvPr/>
        </p:nvSpPr>
        <p:spPr>
          <a:xfrm>
            <a:off x="658368" y="1097280"/>
            <a:ext cx="10515600" cy="914400"/>
          </a:xfrm>
          <a:prstGeom prst="rect">
            <a:avLst/>
          </a:prstGeom>
          <a:noFill/>
        </p:spPr>
        <p:txBody>
          <a:bodyPr wrap="square" lIns="27432" tIns="27432" rIns="27432" bIns="27432" anchor="t">
            <a:spAutoFit/>
          </a:bodyPr>
          <a:lstStyle/>
          <a:p>
            <a:pPr algn="l">
              <a:spcAft>
                <a:spcPts val="0"/>
              </a:spcAft>
            </a:pPr>
            <a:r>
              <a:rPr lang="en-GB" sz="3400" b="1">
                <a:solidFill>
                  <a:srgbClr val="FFFFFF"/>
                </a:solidFill>
              </a:rPr>
              <a:t>Route Selection, PBR &amp; OSPF</a:t>
            </a:r>
          </a:p>
        </p:txBody>
      </p:sp>
      <p:sp>
        <p:nvSpPr>
          <p:cNvPr id="5" name="TextBox 4"/>
          <p:cNvSpPr txBox="1">
            <a:spLocks/>
          </p:cNvSpPr>
          <p:nvPr/>
        </p:nvSpPr>
        <p:spPr>
          <a:xfrm>
            <a:off x="676656" y="2084831"/>
            <a:ext cx="8686800" cy="320040"/>
          </a:xfrm>
          <a:prstGeom prst="rect">
            <a:avLst/>
          </a:prstGeom>
          <a:noFill/>
        </p:spPr>
        <p:txBody>
          <a:bodyPr wrap="square" lIns="27432" tIns="27432" rIns="27432" bIns="27432" anchor="t">
            <a:spAutoFit/>
          </a:bodyPr>
          <a:lstStyle/>
          <a:p>
            <a:pPr algn="l">
              <a:spcAft>
                <a:spcPts val="0"/>
              </a:spcAft>
            </a:pPr>
            <a:r>
              <a:rPr lang="en-GB" sz="1500" b="0">
                <a:solidFill>
                  <a:srgbClr val="C9D1DD"/>
                </a:solidFill>
              </a:rPr>
              <a:t>Advanced • Day 1 of 2</a:t>
            </a:r>
          </a:p>
        </p:txBody>
      </p:sp>
      <p:cxnSp>
        <p:nvCxnSpPr>
          <p:cNvPr id="6" name="Connector 5"/>
          <p:cNvCxnSpPr/>
          <p:nvPr/>
        </p:nvCxnSpPr>
        <p:spPr>
          <a:xfrm>
            <a:off x="676656" y="2578608"/>
            <a:ext cx="10616184" cy="0"/>
          </a:xfrm>
          <a:prstGeom prst="line">
            <a:avLst/>
          </a:prstGeom>
          <a:ln w="12700">
            <a:solidFill>
              <a:srgbClr val="40516A"/>
            </a:solidFill>
          </a:ln>
        </p:spPr>
        <p:style>
          <a:lnRef idx="2">
            <a:schemeClr val="accent1"/>
          </a:lnRef>
          <a:fillRef idx="0">
            <a:schemeClr val="accent1"/>
          </a:fillRef>
          <a:effectRef idx="1">
            <a:schemeClr val="accent1"/>
          </a:effectRef>
          <a:fontRef idx="minor">
            <a:schemeClr val="tx1"/>
          </a:fontRef>
        </p:style>
      </p:cxnSp>
      <p:sp>
        <p:nvSpPr>
          <p:cNvPr id="7" name="TextBox 6"/>
          <p:cNvSpPr txBox="1">
            <a:spLocks/>
          </p:cNvSpPr>
          <p:nvPr/>
        </p:nvSpPr>
        <p:spPr>
          <a:xfrm>
            <a:off x="685800" y="2889504"/>
            <a:ext cx="27432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LEARNING OBJECTIVES</a:t>
            </a:r>
          </a:p>
        </p:txBody>
      </p:sp>
      <p:sp>
        <p:nvSpPr>
          <p:cNvPr id="8" name="TextBox 7"/>
          <p:cNvSpPr txBox="1">
            <a:spLocks/>
          </p:cNvSpPr>
          <p:nvPr/>
        </p:nvSpPr>
        <p:spPr>
          <a:xfrm>
            <a:off x="685800" y="3218688"/>
            <a:ext cx="6035040" cy="2057400"/>
          </a:xfrm>
          <a:prstGeom prst="rect">
            <a:avLst/>
          </a:prstGeom>
          <a:noFill/>
        </p:spPr>
        <p:txBody>
          <a:bodyPr wrap="square" lIns="109728" tIns="73152" rIns="109728" bIns="73152" anchor="t">
            <a:spAutoFit/>
          </a:bodyPr>
          <a:lstStyle/>
          <a:p>
            <a:pPr algn="l">
              <a:lnSpc>
                <a:spcPct val="105000"/>
              </a:lnSpc>
              <a:spcAft>
                <a:spcPts val="700"/>
              </a:spcAft>
              <a:defRPr sz="1700">
                <a:solidFill>
                  <a:srgbClr val="FFFFFF"/>
                </a:solidFill>
              </a:defRPr>
            </a:pPr>
            <a:r>
              <a:rPr lang="en-GB"/>
              <a:t>• Explain route selection interactions with PBR</a:t>
            </a:r>
          </a:p>
          <a:p>
            <a:pPr>
              <a:lnSpc>
                <a:spcPct val="105000"/>
              </a:lnSpc>
              <a:spcAft>
                <a:spcPts val="700"/>
              </a:spcAft>
              <a:defRPr sz="1700">
                <a:solidFill>
                  <a:srgbClr val="FFFFFF"/>
                </a:solidFill>
              </a:defRPr>
            </a:pPr>
            <a:r>
              <a:rPr lang="en-GB"/>
              <a:t>• Plan controlled route redistribution</a:t>
            </a:r>
          </a:p>
          <a:p>
            <a:pPr>
              <a:lnSpc>
                <a:spcPct val="105000"/>
              </a:lnSpc>
              <a:spcAft>
                <a:spcPts val="700"/>
              </a:spcAft>
              <a:defRPr sz="1700">
                <a:solidFill>
                  <a:srgbClr val="FFFFFF"/>
                </a:solidFill>
              </a:defRPr>
            </a:pPr>
            <a:r>
              <a:rPr lang="en-GB"/>
              <a:t>• Establish OSPF neighbors and trace LSA-to-route exchange</a:t>
            </a:r>
          </a:p>
        </p:txBody>
      </p:sp>
      <p:sp>
        <p:nvSpPr>
          <p:cNvPr id="9" name="TextBox 8"/>
          <p:cNvSpPr txBox="1">
            <a:spLocks/>
          </p:cNvSpPr>
          <p:nvPr/>
        </p:nvSpPr>
        <p:spPr>
          <a:xfrm>
            <a:off x="7315200" y="2889504"/>
            <a:ext cx="36576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PREREQUISITES + PRACTICE RESERVE</a:t>
            </a:r>
          </a:p>
        </p:txBody>
      </p:sp>
      <p:sp>
        <p:nvSpPr>
          <p:cNvPr id="10" name="TextBox 9"/>
          <p:cNvSpPr txBox="1">
            <a:spLocks/>
          </p:cNvSpPr>
          <p:nvPr/>
        </p:nvSpPr>
        <p:spPr>
          <a:xfrm>
            <a:off x="7315200" y="3218688"/>
            <a:ext cx="3886200" cy="1506182"/>
          </a:xfrm>
          <a:prstGeom prst="rect">
            <a:avLst/>
          </a:prstGeom>
          <a:noFill/>
        </p:spPr>
        <p:txBody>
          <a:bodyPr wrap="square" lIns="109728" tIns="73152" rIns="109728" bIns="73152" anchor="t">
            <a:spAutoFit/>
          </a:bodyPr>
          <a:lstStyle/>
          <a:p>
            <a:pPr algn="l">
              <a:lnSpc>
                <a:spcPct val="105000"/>
              </a:lnSpc>
              <a:spcAft>
                <a:spcPts val="600"/>
              </a:spcAft>
              <a:defRPr sz="1500">
                <a:solidFill>
                  <a:srgbClr val="FFFFFF"/>
                </a:solidFill>
              </a:defRPr>
            </a:pPr>
            <a:r>
              <a:rPr lang="en-GB"/>
              <a:t>• Static routing mastery</a:t>
            </a:r>
          </a:p>
          <a:p>
            <a:pPr>
              <a:lnSpc>
                <a:spcPct val="105000"/>
              </a:lnSpc>
              <a:spcAft>
                <a:spcPts val="600"/>
              </a:spcAft>
              <a:defRPr sz="1500">
                <a:solidFill>
                  <a:srgbClr val="FFFFFF"/>
                </a:solidFill>
              </a:defRPr>
            </a:pPr>
            <a:r>
              <a:rPr lang="en-GB"/>
              <a:t>• Required instructor preparation: isolated training tunnel</a:t>
            </a:r>
          </a:p>
          <a:p>
            <a:pPr>
              <a:lnSpc>
                <a:spcPct val="105000"/>
              </a:lnSpc>
              <a:spcAft>
                <a:spcPts val="600"/>
              </a:spcAft>
              <a:defRPr sz="1500">
                <a:solidFill>
                  <a:srgbClr val="FFFFFF"/>
                </a:solidFill>
              </a:defRPr>
            </a:pPr>
            <a:r>
              <a:rPr lang="en-GB"/>
              <a:t>• Supplied tunnel IPs/router IDs; shared management protected</a:t>
            </a:r>
          </a:p>
        </p:txBody>
      </p:sp>
      <p:sp>
        <p:nvSpPr>
          <p:cNvPr id="11" name="TextBox 10"/>
          <p:cNvSpPr txBox="1">
            <a:spLocks/>
          </p:cNvSpPr>
          <p:nvPr/>
        </p:nvSpPr>
        <p:spPr>
          <a:xfrm>
            <a:off x="7315200" y="4709160"/>
            <a:ext cx="3931920" cy="685800"/>
          </a:xfrm>
          <a:prstGeom prst="rect">
            <a:avLst/>
          </a:prstGeom>
          <a:noFill/>
        </p:spPr>
        <p:txBody>
          <a:bodyPr wrap="square" lIns="27432" tIns="27432" rIns="27432" bIns="27432" anchor="t">
            <a:spAutoFit/>
          </a:bodyPr>
          <a:lstStyle/>
          <a:p>
            <a:pPr algn="l">
              <a:spcAft>
                <a:spcPts val="0"/>
              </a:spcAft>
            </a:pPr>
            <a:r>
              <a:rPr lang="en-GB" sz="1600" b="1">
                <a:solidFill>
                  <a:srgbClr val="D8E0EA"/>
                </a:solidFill>
              </a:rPr>
              <a:t>Teach ~56 min • reserve ~34 min for guided activity, discussion and debrief</a:t>
            </a:r>
          </a:p>
        </p:txBody>
      </p:sp>
      <p:sp>
        <p:nvSpPr>
          <p:cNvPr id="12" name="TextBox 11"/>
          <p:cNvSpPr txBox="1">
            <a:spLocks/>
          </p:cNvSpPr>
          <p:nvPr/>
        </p:nvSpPr>
        <p:spPr>
          <a:xfrm>
            <a:off x="10424160" y="5715000"/>
            <a:ext cx="731520" cy="363176"/>
          </a:xfrm>
          <a:prstGeom prst="rect">
            <a:avLst/>
          </a:prstGeom>
          <a:noFill/>
        </p:spPr>
        <p:txBody>
          <a:bodyPr wrap="square" lIns="27432" tIns="27432" rIns="27432" bIns="27432" anchor="t">
            <a:spAutoFit/>
          </a:bodyPr>
          <a:lstStyle/>
          <a:p>
            <a:pPr algn="r">
              <a:spcAft>
                <a:spcPts val="0"/>
              </a:spcAft>
            </a:pPr>
            <a:r>
              <a:rPr lang="en-HU" sz="2000" b="1">
                <a:solidFill>
                  <a:srgbClr val="E60012"/>
                </a:solidFill>
              </a:rPr>
              <a:t>087</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88</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PBR can override destination-route intent for selected traffic</a:t>
            </a:r>
          </a:p>
        </p:txBody>
      </p:sp>
      <p:sp>
        <p:nvSpPr>
          <p:cNvPr id="10" name="Rectangle 9"/>
          <p:cNvSpPr/>
          <p:nvPr/>
        </p:nvSpPr>
        <p:spPr>
          <a:xfrm>
            <a:off x="658368"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1" name="TextBox 10"/>
          <p:cNvSpPr txBox="1">
            <a:spLocks/>
          </p:cNvSpPr>
          <p:nvPr/>
        </p:nvSpPr>
        <p:spPr>
          <a:xfrm>
            <a:off x="768096" y="2020824"/>
            <a:ext cx="411480" cy="219456"/>
          </a:xfrm>
          <a:prstGeom prst="rect">
            <a:avLst/>
          </a:prstGeom>
          <a:noFill/>
        </p:spPr>
        <p:txBody>
          <a:bodyPr wrap="square" lIns="27432" tIns="27432" rIns="27432" bIns="27432" anchor="t">
            <a:spAutoFit/>
          </a:bodyPr>
          <a:lstStyle/>
          <a:p>
            <a:pPr algn="l">
              <a:spcAft>
                <a:spcPts val="0"/>
              </a:spcAft>
            </a:pPr>
            <a:r>
              <a:rPr lang="en-HU" sz="1100" b="1">
                <a:solidFill>
                  <a:srgbClr val="E60012"/>
                </a:solidFill>
              </a:rPr>
              <a:t>01</a:t>
            </a:r>
          </a:p>
        </p:txBody>
      </p:sp>
      <p:sp>
        <p:nvSpPr>
          <p:cNvPr id="12" name="TextBox 11"/>
          <p:cNvSpPr txBox="1">
            <a:spLocks/>
          </p:cNvSpPr>
          <p:nvPr/>
        </p:nvSpPr>
        <p:spPr>
          <a:xfrm>
            <a:off x="768096" y="2340864"/>
            <a:ext cx="1830628" cy="603504"/>
          </a:xfrm>
          <a:prstGeom prst="rect">
            <a:avLst/>
          </a:prstGeom>
          <a:noFill/>
        </p:spPr>
        <p:txBody>
          <a:bodyPr wrap="square" lIns="27432" tIns="27432" rIns="27432" bIns="27432" anchor="ctr">
            <a:spAutoFit/>
          </a:bodyPr>
          <a:lstStyle/>
          <a:p>
            <a:pPr algn="ctr">
              <a:spcAft>
                <a:spcPts val="0"/>
              </a:spcAft>
            </a:pPr>
            <a:r>
              <a:rPr lang="en-GB" sz="1400" b="1">
                <a:solidFill>
                  <a:srgbClr val="1E2B40"/>
                </a:solidFill>
              </a:rPr>
              <a:t>Packet fields</a:t>
            </a:r>
          </a:p>
        </p:txBody>
      </p:sp>
      <p:cxnSp>
        <p:nvCxnSpPr>
          <p:cNvPr id="13" name="Connector 12"/>
          <p:cNvCxnSpPr/>
          <p:nvPr/>
        </p:nvCxnSpPr>
        <p:spPr>
          <a:xfrm>
            <a:off x="2708452"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2854756"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5" name="TextBox 14"/>
          <p:cNvSpPr txBox="1">
            <a:spLocks/>
          </p:cNvSpPr>
          <p:nvPr/>
        </p:nvSpPr>
        <p:spPr>
          <a:xfrm>
            <a:off x="2964484" y="2020824"/>
            <a:ext cx="411480" cy="219456"/>
          </a:xfrm>
          <a:prstGeom prst="rect">
            <a:avLst/>
          </a:prstGeom>
          <a:noFill/>
        </p:spPr>
        <p:txBody>
          <a:bodyPr wrap="square" lIns="27432" tIns="27432" rIns="27432" bIns="27432" anchor="t">
            <a:spAutoFit/>
          </a:bodyPr>
          <a:lstStyle/>
          <a:p>
            <a:pPr algn="l">
              <a:spcAft>
                <a:spcPts val="0"/>
              </a:spcAft>
            </a:pPr>
            <a:r>
              <a:rPr lang="en-HU" sz="1100" b="1">
                <a:solidFill>
                  <a:srgbClr val="E60012"/>
                </a:solidFill>
              </a:rPr>
              <a:t>02</a:t>
            </a:r>
          </a:p>
        </p:txBody>
      </p:sp>
      <p:sp>
        <p:nvSpPr>
          <p:cNvPr id="16" name="TextBox 15"/>
          <p:cNvSpPr txBox="1">
            <a:spLocks/>
          </p:cNvSpPr>
          <p:nvPr/>
        </p:nvSpPr>
        <p:spPr>
          <a:xfrm>
            <a:off x="2964484" y="2340864"/>
            <a:ext cx="1830628" cy="603504"/>
          </a:xfrm>
          <a:prstGeom prst="rect">
            <a:avLst/>
          </a:prstGeom>
          <a:noFill/>
        </p:spPr>
        <p:txBody>
          <a:bodyPr wrap="square" lIns="27432" tIns="27432" rIns="27432" bIns="27432" anchor="ctr">
            <a:spAutoFit/>
          </a:bodyPr>
          <a:lstStyle/>
          <a:p>
            <a:pPr algn="ctr">
              <a:spcAft>
                <a:spcPts val="0"/>
              </a:spcAft>
            </a:pPr>
            <a:r>
              <a:rPr lang="en-GB" sz="1400" b="1">
                <a:solidFill>
                  <a:srgbClr val="1E2B40"/>
                </a:solidFill>
              </a:rPr>
              <a:t>PBR match?</a:t>
            </a:r>
          </a:p>
        </p:txBody>
      </p:sp>
      <p:cxnSp>
        <p:nvCxnSpPr>
          <p:cNvPr id="17" name="Connector 16"/>
          <p:cNvCxnSpPr/>
          <p:nvPr/>
        </p:nvCxnSpPr>
        <p:spPr>
          <a:xfrm>
            <a:off x="4904841"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5051145"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9" name="TextBox 18"/>
          <p:cNvSpPr txBox="1">
            <a:spLocks/>
          </p:cNvSpPr>
          <p:nvPr/>
        </p:nvSpPr>
        <p:spPr>
          <a:xfrm>
            <a:off x="5160873" y="2020824"/>
            <a:ext cx="411480" cy="219456"/>
          </a:xfrm>
          <a:prstGeom prst="rect">
            <a:avLst/>
          </a:prstGeom>
          <a:noFill/>
        </p:spPr>
        <p:txBody>
          <a:bodyPr wrap="square" lIns="27432" tIns="27432" rIns="27432" bIns="27432" anchor="t">
            <a:spAutoFit/>
          </a:bodyPr>
          <a:lstStyle/>
          <a:p>
            <a:pPr algn="l">
              <a:spcAft>
                <a:spcPts val="0"/>
              </a:spcAft>
            </a:pPr>
            <a:r>
              <a:rPr lang="en-HU" sz="1100" b="1">
                <a:solidFill>
                  <a:srgbClr val="E60012"/>
                </a:solidFill>
              </a:rPr>
              <a:t>03</a:t>
            </a:r>
          </a:p>
        </p:txBody>
      </p:sp>
      <p:sp>
        <p:nvSpPr>
          <p:cNvPr id="20" name="TextBox 19"/>
          <p:cNvSpPr txBox="1">
            <a:spLocks/>
          </p:cNvSpPr>
          <p:nvPr/>
        </p:nvSpPr>
        <p:spPr>
          <a:xfrm>
            <a:off x="5160873" y="2340864"/>
            <a:ext cx="1830628" cy="603504"/>
          </a:xfrm>
          <a:prstGeom prst="rect">
            <a:avLst/>
          </a:prstGeom>
          <a:noFill/>
        </p:spPr>
        <p:txBody>
          <a:bodyPr wrap="square" lIns="27432" tIns="27432" rIns="27432" bIns="27432" anchor="ctr">
            <a:spAutoFit/>
          </a:bodyPr>
          <a:lstStyle/>
          <a:p>
            <a:pPr algn="ctr">
              <a:spcAft>
                <a:spcPts val="0"/>
              </a:spcAft>
            </a:pPr>
            <a:r>
              <a:rPr lang="en-GB" sz="1400" b="1">
                <a:solidFill>
                  <a:srgbClr val="1E2B40"/>
                </a:solidFill>
              </a:rPr>
              <a:t>Next hop valid?</a:t>
            </a:r>
          </a:p>
        </p:txBody>
      </p:sp>
      <p:cxnSp>
        <p:nvCxnSpPr>
          <p:cNvPr id="21" name="Connector 20"/>
          <p:cNvCxnSpPr/>
          <p:nvPr/>
        </p:nvCxnSpPr>
        <p:spPr>
          <a:xfrm>
            <a:off x="7101230"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7247534"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357262" y="2020824"/>
            <a:ext cx="411480" cy="219456"/>
          </a:xfrm>
          <a:prstGeom prst="rect">
            <a:avLst/>
          </a:prstGeom>
          <a:noFill/>
        </p:spPr>
        <p:txBody>
          <a:bodyPr wrap="square" lIns="27432" tIns="27432" rIns="27432" bIns="27432" anchor="t">
            <a:spAutoFit/>
          </a:bodyPr>
          <a:lstStyle/>
          <a:p>
            <a:pPr algn="l">
              <a:spcAft>
                <a:spcPts val="0"/>
              </a:spcAft>
            </a:pPr>
            <a:r>
              <a:rPr sz="1100" b="1">
                <a:solidFill>
                  <a:srgbClr val="E60012"/>
                </a:solidFill>
              </a:rPr>
              <a:t>04</a:t>
            </a:r>
          </a:p>
        </p:txBody>
      </p:sp>
      <p:sp>
        <p:nvSpPr>
          <p:cNvPr id="24" name="TextBox 23"/>
          <p:cNvSpPr txBox="1"/>
          <p:nvPr/>
        </p:nvSpPr>
        <p:spPr>
          <a:xfrm>
            <a:off x="7357262" y="2340864"/>
            <a:ext cx="1830628" cy="603504"/>
          </a:xfrm>
          <a:prstGeom prst="rect">
            <a:avLst/>
          </a:prstGeom>
          <a:noFill/>
        </p:spPr>
        <p:txBody>
          <a:bodyPr wrap="square" lIns="27432" tIns="27432" rIns="27432" bIns="27432" anchor="ctr">
            <a:spAutoFit/>
          </a:bodyPr>
          <a:lstStyle/>
          <a:p>
            <a:pPr algn="ctr">
              <a:spcAft>
                <a:spcPts val="0"/>
              </a:spcAft>
            </a:pPr>
            <a:r>
              <a:rPr sz="1400" b="1">
                <a:solidFill>
                  <a:srgbClr val="1E2B40"/>
                </a:solidFill>
              </a:rPr>
              <a:t>Forward</a:t>
            </a:r>
          </a:p>
        </p:txBody>
      </p:sp>
      <p:cxnSp>
        <p:nvCxnSpPr>
          <p:cNvPr id="25" name="Connector 24"/>
          <p:cNvCxnSpPr/>
          <p:nvPr/>
        </p:nvCxnSpPr>
        <p:spPr>
          <a:xfrm>
            <a:off x="9297619"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9443923"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553651" y="2020824"/>
            <a:ext cx="411480" cy="219456"/>
          </a:xfrm>
          <a:prstGeom prst="rect">
            <a:avLst/>
          </a:prstGeom>
          <a:noFill/>
        </p:spPr>
        <p:txBody>
          <a:bodyPr wrap="square" lIns="27432" tIns="27432" rIns="27432" bIns="27432" anchor="t">
            <a:spAutoFit/>
          </a:bodyPr>
          <a:lstStyle/>
          <a:p>
            <a:pPr algn="l">
              <a:spcAft>
                <a:spcPts val="0"/>
              </a:spcAft>
            </a:pPr>
            <a:r>
              <a:rPr sz="1100" b="1">
                <a:solidFill>
                  <a:srgbClr val="E60012"/>
                </a:solidFill>
              </a:rPr>
              <a:t>05</a:t>
            </a:r>
          </a:p>
        </p:txBody>
      </p:sp>
      <p:sp>
        <p:nvSpPr>
          <p:cNvPr id="28" name="TextBox 27"/>
          <p:cNvSpPr txBox="1"/>
          <p:nvPr/>
        </p:nvSpPr>
        <p:spPr>
          <a:xfrm>
            <a:off x="9553651" y="2340864"/>
            <a:ext cx="1830628" cy="603504"/>
          </a:xfrm>
          <a:prstGeom prst="rect">
            <a:avLst/>
          </a:prstGeom>
          <a:noFill/>
        </p:spPr>
        <p:txBody>
          <a:bodyPr wrap="square" lIns="27432" tIns="27432" rIns="27432" bIns="27432" anchor="ctr">
            <a:spAutoFit/>
          </a:bodyPr>
          <a:lstStyle/>
          <a:p>
            <a:pPr algn="ctr">
              <a:spcAft>
                <a:spcPts val="0"/>
              </a:spcAft>
            </a:pPr>
            <a:r>
              <a:rPr sz="1400" b="1">
                <a:solidFill>
                  <a:srgbClr val="1E2B40"/>
                </a:solidFill>
              </a:rPr>
              <a:t>Fallback route</a:t>
            </a:r>
          </a:p>
        </p:txBody>
      </p:sp>
      <p:sp>
        <p:nvSpPr>
          <p:cNvPr id="29" name="TextBox 28"/>
          <p:cNvSpPr txBox="1"/>
          <p:nvPr/>
        </p:nvSpPr>
        <p:spPr>
          <a:xfrm>
            <a:off x="658368" y="3703320"/>
            <a:ext cx="2011680" cy="256032"/>
          </a:xfrm>
          <a:prstGeom prst="rect">
            <a:avLst/>
          </a:prstGeom>
          <a:noFill/>
        </p:spPr>
        <p:txBody>
          <a:bodyPr wrap="square" lIns="27432" tIns="27432" rIns="27432" bIns="27432" anchor="t">
            <a:spAutoFit/>
          </a:bodyPr>
          <a:lstStyle/>
          <a:p>
            <a:pPr algn="l">
              <a:spcAft>
                <a:spcPts val="0"/>
              </a:spcAft>
            </a:pPr>
            <a:r>
              <a:rPr sz="1100" b="1">
                <a:solidFill>
                  <a:srgbClr val="E60012"/>
                </a:solidFill>
              </a:rPr>
              <a:t>What to observe</a:t>
            </a:r>
          </a:p>
        </p:txBody>
      </p:sp>
      <p:sp>
        <p:nvSpPr>
          <p:cNvPr id="30" name="TextBox 29"/>
          <p:cNvSpPr txBox="1"/>
          <p:nvPr/>
        </p:nvSpPr>
        <p:spPr>
          <a:xfrm>
            <a:off x="658368" y="4050791"/>
            <a:ext cx="6446520" cy="1508760"/>
          </a:xfrm>
          <a:prstGeom prst="rect">
            <a:avLst/>
          </a:prstGeom>
          <a:noFill/>
        </p:spPr>
        <p:txBody>
          <a:bodyPr wrap="square" lIns="109728" tIns="73152" rIns="109728" bIns="73152" anchor="t">
            <a:spAutoFit/>
          </a:bodyPr>
          <a:lstStyle/>
          <a:p>
            <a:pPr algn="l">
              <a:lnSpc>
                <a:spcPct val="105000"/>
              </a:lnSpc>
              <a:spcAft>
                <a:spcPts val="700"/>
              </a:spcAft>
              <a:defRPr sz="1600">
                <a:solidFill>
                  <a:srgbClr val="1E2B40"/>
                </a:solidFill>
              </a:defRPr>
            </a:pPr>
            <a:r>
              <a:t>• If matched and valid, it directs a next hop/interface before normal route selection</a:t>
            </a:r>
          </a:p>
          <a:p>
            <a:pPr>
              <a:lnSpc>
                <a:spcPct val="105000"/>
              </a:lnSpc>
              <a:spcAft>
                <a:spcPts val="700"/>
              </a:spcAft>
              <a:defRPr sz="1600">
                <a:solidFill>
                  <a:srgbClr val="1E2B40"/>
                </a:solidFill>
              </a:defRPr>
            </a:pPr>
            <a:r>
              <a:t>• A supporting route and reachable next hop are still required</a:t>
            </a:r>
          </a:p>
          <a:p>
            <a:pPr>
              <a:lnSpc>
                <a:spcPct val="105000"/>
              </a:lnSpc>
              <a:spcAft>
                <a:spcPts val="700"/>
              </a:spcAft>
              <a:defRPr sz="1600">
                <a:solidFill>
                  <a:srgbClr val="1E2B40"/>
                </a:solidFill>
              </a:defRPr>
            </a:pPr>
            <a:r>
              <a:t>• PBR increases operational complexity; document scope and fallback</a:t>
            </a:r>
          </a:p>
        </p:txBody>
      </p:sp>
      <p:cxnSp>
        <p:nvCxnSpPr>
          <p:cNvPr id="31" name="Connector 30"/>
          <p:cNvCxnSpPr/>
          <p:nvPr/>
        </p:nvCxnSpPr>
        <p:spPr>
          <a:xfrm>
            <a:off x="7452360" y="3703320"/>
            <a:ext cx="0" cy="2093976"/>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7772400" y="3703320"/>
            <a:ext cx="292608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INSTRUCTOR DEMONSTRATION</a:t>
            </a:r>
            <a:endParaRPr sz="1100" b="1">
              <a:solidFill>
                <a:srgbClr val="E60012"/>
              </a:solidFill>
            </a:endParaRPr>
          </a:p>
        </p:txBody>
      </p:sp>
      <p:sp>
        <p:nvSpPr>
          <p:cNvPr id="33" name="TextBox 32"/>
          <p:cNvSpPr txBox="1"/>
          <p:nvPr/>
        </p:nvSpPr>
        <p:spPr>
          <a:xfrm>
            <a:off x="7772400" y="4096512"/>
            <a:ext cx="3337560" cy="1234440"/>
          </a:xfrm>
          <a:prstGeom prst="rect">
            <a:avLst/>
          </a:prstGeom>
          <a:noFill/>
        </p:spPr>
        <p:txBody>
          <a:bodyPr wrap="square" lIns="27432" tIns="27432" rIns="27432" bIns="27432" anchor="t">
            <a:spAutoFit/>
          </a:bodyPr>
          <a:lstStyle/>
          <a:p>
            <a:pPr algn="l">
              <a:spcAft>
                <a:spcPts val="0"/>
              </a:spcAft>
            </a:pPr>
            <a:r>
              <a:rPr sz="1500" b="1">
                <a:solidFill>
                  <a:srgbClr val="233A59"/>
                </a:solidFill>
              </a:rPr>
              <a:t>Inspect policy-route list and debug-flow route decision for the exact test tuple.</a:t>
            </a:r>
          </a:p>
        </p:txBody>
      </p:sp>
      <p:sp>
        <p:nvSpPr>
          <p:cNvPr id="34" name="TextBox 33"/>
          <p:cNvSpPr txBox="1"/>
          <p:nvPr/>
        </p:nvSpPr>
        <p:spPr>
          <a:xfrm>
            <a:off x="7772400" y="5440680"/>
            <a:ext cx="3337560" cy="363176"/>
          </a:xfrm>
          <a:prstGeom prst="rect">
            <a:avLst/>
          </a:prstGeom>
          <a:noFill/>
        </p:spPr>
        <p:txBody>
          <a:bodyPr wrap="square" lIns="27432" tIns="27432" rIns="27432" bIns="27432" anchor="t">
            <a:spAutoFit/>
          </a:bodyPr>
          <a:lstStyle/>
          <a:p>
            <a:pPr algn="l">
              <a:spcAft>
                <a:spcPts val="0"/>
              </a:spcAft>
            </a:pPr>
            <a:r>
              <a:rPr lang="en-GB" sz="1000" b="0">
                <a:solidFill>
                  <a:srgbClr val="687385"/>
                </a:solidFill>
              </a:rPr>
              <a:t>If debug is used, filter by the test tuple and disable</a:t>
            </a:r>
            <a:r>
              <a:rPr sz="1000" b="0">
                <a:solidFill>
                  <a:srgbClr val="687385"/>
                </a:solidFill>
              </a:rPr>
              <a:t>/reset </a:t>
            </a:r>
            <a:r>
              <a:rPr lang="en-GB" sz="1000" b="0">
                <a:solidFill>
                  <a:srgbClr val="687385"/>
                </a:solidFill>
              </a:rPr>
              <a:t>it immediately </a:t>
            </a:r>
            <a:r>
              <a:rPr sz="1000" b="0">
                <a:solidFill>
                  <a:srgbClr val="687385"/>
                </a:solidFill>
              </a:rPr>
              <a:t>after </a:t>
            </a:r>
            <a:r>
              <a:rPr lang="en-GB" sz="1000" b="0">
                <a:solidFill>
                  <a:srgbClr val="687385"/>
                </a:solidFill>
              </a:rPr>
              <a:t>capture</a:t>
            </a:r>
            <a:r>
              <a:rPr sz="1000" b="0">
                <a:solidFill>
                  <a:srgbClr val="687385"/>
                </a:solidFill>
              </a:rPr>
              <a:t>.</a:t>
            </a:r>
          </a:p>
        </p:txBody>
      </p:sp>
      <p:sp>
        <p:nvSpPr>
          <p:cNvPr id="35" name="TextBox 34"/>
          <p:cNvSpPr txBox="1"/>
          <p:nvPr/>
        </p:nvSpPr>
        <p:spPr>
          <a:xfrm>
            <a:off x="502920" y="420624"/>
            <a:ext cx="10744200" cy="130805"/>
          </a:xfrm>
          <a:prstGeom prst="rect">
            <a:avLst/>
          </a:prstGeom>
          <a:noFill/>
        </p:spPr>
        <p:txBody>
          <a:bodyPr wrap="square" lIns="0" tIns="0" rIns="0" bIns="0">
            <a:spAutoFit/>
          </a:bodyPr>
          <a:lstStyle/>
          <a:p>
            <a:pPr algn="l"/>
            <a:r>
              <a:rPr lang="en-HU" sz="850" b="1">
                <a:solidFill>
                  <a:srgbClr val="687385"/>
                </a:solidFill>
              </a:rPr>
              <a:t>088</a:t>
            </a:r>
            <a:r>
              <a:rPr sz="850" b="1">
                <a:solidFill>
                  <a:srgbClr val="687385"/>
                </a:solidFill>
              </a:rPr>
              <a:t> • DAY 3 • BLOCK 09 • Route Selection, PBR &amp; OSPF</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89</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Redistribution moves selected routes between protocols</a:t>
            </a:r>
          </a:p>
        </p:txBody>
      </p:sp>
      <p:sp>
        <p:nvSpPr>
          <p:cNvPr id="10" name="TextBox 9"/>
          <p:cNvSpPr txBox="1">
            <a:spLocks/>
          </p:cNvSpPr>
          <p:nvPr/>
        </p:nvSpPr>
        <p:spPr>
          <a:xfrm>
            <a:off x="658368" y="1554480"/>
            <a:ext cx="6583680" cy="4389120"/>
          </a:xfrm>
          <a:prstGeom prst="rect">
            <a:avLst/>
          </a:prstGeom>
          <a:noFill/>
        </p:spPr>
        <p:txBody>
          <a:bodyPr wrap="square" lIns="109728" tIns="73152" rIns="109728" bIns="73152" anchor="t">
            <a:spAutoFit/>
          </a:bodyPr>
          <a:lstStyle/>
          <a:p>
            <a:pPr algn="l">
              <a:lnSpc>
                <a:spcPct val="105000"/>
              </a:lnSpc>
              <a:spcAft>
                <a:spcPts val="800"/>
              </a:spcAft>
              <a:defRPr sz="1700">
                <a:solidFill>
                  <a:srgbClr val="1E2B40"/>
                </a:solidFill>
              </a:defRPr>
            </a:pPr>
            <a:r>
              <a:rPr lang="en-GB"/>
              <a:t>• Redistribute only intentional prefixes with route maps/prefix filters</a:t>
            </a:r>
          </a:p>
          <a:p>
            <a:pPr>
              <a:lnSpc>
                <a:spcPct val="105000"/>
              </a:lnSpc>
              <a:spcAft>
                <a:spcPts val="800"/>
              </a:spcAft>
              <a:defRPr sz="1700">
                <a:solidFill>
                  <a:srgbClr val="1E2B40"/>
                </a:solidFill>
              </a:defRPr>
            </a:pPr>
            <a:r>
              <a:rPr lang="en-GB"/>
              <a:t>• Metrics and tags help prevent loops and control preference</a:t>
            </a:r>
          </a:p>
          <a:p>
            <a:pPr>
              <a:lnSpc>
                <a:spcPct val="105000"/>
              </a:lnSpc>
              <a:spcAft>
                <a:spcPts val="800"/>
              </a:spcAft>
              <a:defRPr sz="1700">
                <a:solidFill>
                  <a:srgbClr val="1E2B40"/>
                </a:solidFill>
              </a:defRPr>
            </a:pPr>
            <a:r>
              <a:rPr lang="en-GB"/>
              <a:t>• A route in one database is not automatically advertised into another</a:t>
            </a:r>
          </a:p>
          <a:p>
            <a:pPr>
              <a:lnSpc>
                <a:spcPct val="105000"/>
              </a:lnSpc>
              <a:spcAft>
                <a:spcPts val="800"/>
              </a:spcAft>
              <a:defRPr sz="1700">
                <a:solidFill>
                  <a:srgbClr val="1E2B40"/>
                </a:solidFill>
              </a:defRPr>
            </a:pPr>
            <a:r>
              <a:rPr lang="en-GB"/>
              <a:t>• Default-route origination should be conditional and documented</a:t>
            </a:r>
          </a:p>
        </p:txBody>
      </p:sp>
      <p:cxnSp>
        <p:nvCxnSpPr>
          <p:cNvPr id="11" name="Connector 10"/>
          <p:cNvCxnSpPr/>
          <p:nvPr/>
        </p:nvCxnSpPr>
        <p:spPr>
          <a:xfrm>
            <a:off x="7452360" y="1600200"/>
            <a:ext cx="0" cy="434340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7790688" y="1627632"/>
            <a:ext cx="342900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ILLUSTRATIVE SCENARIO</a:t>
            </a:r>
          </a:p>
        </p:txBody>
      </p:sp>
      <p:sp>
        <p:nvSpPr>
          <p:cNvPr id="13" name="TextBox 12"/>
          <p:cNvSpPr txBox="1"/>
          <p:nvPr/>
        </p:nvSpPr>
        <p:spPr>
          <a:xfrm>
            <a:off x="7790688" y="2057400"/>
            <a:ext cx="3337560" cy="840230"/>
          </a:xfrm>
          <a:prstGeom prst="rect">
            <a:avLst/>
          </a:prstGeom>
          <a:noFill/>
        </p:spPr>
        <p:txBody>
          <a:bodyPr wrap="square" lIns="27432" tIns="27432" rIns="27432" bIns="27432" anchor="t">
            <a:spAutoFit/>
          </a:bodyPr>
          <a:lstStyle/>
          <a:p>
            <a:pPr algn="l">
              <a:spcAft>
                <a:spcPts val="0"/>
              </a:spcAft>
            </a:pPr>
            <a:r>
              <a:rPr lang="en-GB" sz="1700" b="1">
                <a:solidFill>
                  <a:srgbClr val="233A59"/>
                </a:solidFill>
              </a:rPr>
              <a:t>Student01 10.1.10.0/24</a:t>
            </a:r>
            <a:r>
              <a:rPr sz="1700" b="1">
                <a:solidFill>
                  <a:srgbClr val="233A59"/>
                </a:solidFill>
              </a:rPr>
              <a:t> enters OSPF only if it passes the prefix policy</a:t>
            </a:r>
          </a:p>
        </p:txBody>
      </p:sp>
      <p:sp>
        <p:nvSpPr>
          <p:cNvPr id="14" name="TextBox 13"/>
          <p:cNvSpPr txBox="1"/>
          <p:nvPr/>
        </p:nvSpPr>
        <p:spPr>
          <a:xfrm>
            <a:off x="7790688" y="3822191"/>
            <a:ext cx="18288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EXPECTED RESULT</a:t>
            </a:r>
            <a:endParaRPr sz="1100" b="1">
              <a:solidFill>
                <a:srgbClr val="E60012"/>
              </a:solidFill>
            </a:endParaRPr>
          </a:p>
        </p:txBody>
      </p:sp>
      <p:sp>
        <p:nvSpPr>
          <p:cNvPr id="15" name="TextBox 14"/>
          <p:cNvSpPr txBox="1"/>
          <p:nvPr/>
        </p:nvSpPr>
        <p:spPr>
          <a:xfrm>
            <a:off x="7790688" y="4187952"/>
            <a:ext cx="3337560" cy="1325880"/>
          </a:xfrm>
          <a:prstGeom prst="rect">
            <a:avLst/>
          </a:prstGeom>
          <a:noFill/>
        </p:spPr>
        <p:txBody>
          <a:bodyPr wrap="square" lIns="27432" tIns="27432" rIns="27432" bIns="27432" anchor="t">
            <a:spAutoFit/>
          </a:bodyPr>
          <a:lstStyle/>
          <a:p>
            <a:pPr algn="l">
              <a:spcAft>
                <a:spcPts val="0"/>
              </a:spcAft>
            </a:pPr>
            <a:r>
              <a:rPr sz="1500" b="0">
                <a:solidFill>
                  <a:srgbClr val="1E2B40"/>
                </a:solidFill>
              </a:rPr>
              <a:t>Verify source route, redistribution rule, advertised LSA and remote installation.</a:t>
            </a:r>
          </a:p>
        </p:txBody>
      </p:sp>
      <p:sp>
        <p:nvSpPr>
          <p:cNvPr id="16" name="TextBox 15"/>
          <p:cNvSpPr txBox="1"/>
          <p:nvPr/>
        </p:nvSpPr>
        <p:spPr>
          <a:xfrm>
            <a:off x="7790688" y="5596128"/>
            <a:ext cx="1920240" cy="201168"/>
          </a:xfrm>
          <a:prstGeom prst="rect">
            <a:avLst/>
          </a:prstGeom>
          <a:noFill/>
        </p:spPr>
        <p:txBody>
          <a:bodyPr wrap="square" lIns="27432" tIns="27432" rIns="27432" bIns="27432" anchor="t">
            <a:spAutoFit/>
          </a:bodyPr>
          <a:lstStyle/>
          <a:p>
            <a:pPr algn="l">
              <a:spcAft>
                <a:spcPts val="0"/>
              </a:spcAft>
            </a:pPr>
            <a:r>
              <a:rPr sz="1000" b="1">
                <a:solidFill>
                  <a:srgbClr val="687385"/>
                </a:solidFill>
              </a:rPr>
              <a:t>Expected observation</a:t>
            </a:r>
          </a:p>
        </p:txBody>
      </p:sp>
      <p:sp>
        <p:nvSpPr>
          <p:cNvPr id="17" name="TextBox 16"/>
          <p:cNvSpPr txBox="1"/>
          <p:nvPr/>
        </p:nvSpPr>
        <p:spPr>
          <a:xfrm>
            <a:off x="9509760" y="5577840"/>
            <a:ext cx="1691640" cy="670953"/>
          </a:xfrm>
          <a:prstGeom prst="rect">
            <a:avLst/>
          </a:prstGeom>
          <a:noFill/>
        </p:spPr>
        <p:txBody>
          <a:bodyPr wrap="square" lIns="27432" tIns="27432" rIns="27432" bIns="27432" anchor="t">
            <a:spAutoFit/>
          </a:bodyPr>
          <a:lstStyle/>
          <a:p>
            <a:pPr algn="r">
              <a:spcAft>
                <a:spcPts val="0"/>
              </a:spcAft>
            </a:pPr>
            <a:r>
              <a:rPr lang="en-GB" sz="1000" b="0">
                <a:solidFill>
                  <a:srgbClr val="687385"/>
                </a:solidFill>
              </a:rPr>
              <a:t>The OSPF neighbor reaches Full and the advertised Student01 prefix is installed with the expected next hop.</a:t>
            </a:r>
          </a:p>
        </p:txBody>
      </p:sp>
      <p:sp>
        <p:nvSpPr>
          <p:cNvPr id="18" name="TextBox 17"/>
          <p:cNvSpPr txBox="1"/>
          <p:nvPr/>
        </p:nvSpPr>
        <p:spPr>
          <a:xfrm>
            <a:off x="502920" y="420624"/>
            <a:ext cx="10744200" cy="130805"/>
          </a:xfrm>
          <a:prstGeom prst="rect">
            <a:avLst/>
          </a:prstGeom>
          <a:noFill/>
        </p:spPr>
        <p:txBody>
          <a:bodyPr wrap="square" lIns="0" tIns="0" rIns="0" bIns="0">
            <a:spAutoFit/>
          </a:bodyPr>
          <a:lstStyle/>
          <a:p>
            <a:pPr algn="l"/>
            <a:r>
              <a:rPr lang="en-HU" sz="850" b="1">
                <a:solidFill>
                  <a:srgbClr val="687385"/>
                </a:solidFill>
              </a:rPr>
              <a:t>089</a:t>
            </a:r>
            <a:r>
              <a:rPr sz="850" b="1">
                <a:solidFill>
                  <a:srgbClr val="687385"/>
                </a:solidFill>
              </a:rPr>
              <a:t> • DAY 3 • BLOCK 09 • Route Selection, PBR &amp; OSPF</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p:nvPr/>
        </p:nvSpPr>
        <p:spPr>
          <a:xfrm>
            <a:off x="502920" y="411480"/>
            <a:ext cx="548640" cy="189283"/>
          </a:xfrm>
          <a:prstGeom prst="rect">
            <a:avLst/>
          </a:prstGeom>
          <a:noFill/>
        </p:spPr>
        <p:txBody>
          <a:bodyPr wrap="square" lIns="36576" tIns="36576" rIns="36576" bIns="36576" anchor="t">
            <a:spAutoFit/>
          </a:bodyPr>
          <a:lstStyle/>
          <a:p>
            <a:pPr algn="l">
              <a:spcAft>
                <a:spcPts val="0"/>
              </a:spcAft>
            </a:pPr>
            <a:r>
              <a:rPr lang="en-HU" sz="750" b="1">
                <a:solidFill>
                  <a:srgbClr val="687385"/>
                </a:solidFill>
              </a:rPr>
              <a:t>090</a:t>
            </a:r>
            <a:endParaRPr sz="750" b="1">
              <a:solidFill>
                <a:srgbClr val="687385"/>
              </a:solidFill>
            </a:endParaRPr>
          </a:p>
        </p:txBody>
      </p:sp>
      <p:sp>
        <p:nvSpPr>
          <p:cNvPr id="4" name="TextBox 3"/>
          <p:cNvSpPr txBox="1"/>
          <p:nvPr/>
        </p:nvSpPr>
        <p:spPr>
          <a:xfrm>
            <a:off x="502920" y="621792"/>
            <a:ext cx="11109960" cy="548640"/>
          </a:xfrm>
          <a:prstGeom prst="rect">
            <a:avLst/>
          </a:prstGeom>
          <a:noFill/>
        </p:spPr>
        <p:txBody>
          <a:bodyPr wrap="square" lIns="36576" tIns="36576" rIns="36576" bIns="36576" anchor="t">
            <a:spAutoFit/>
          </a:bodyPr>
          <a:lstStyle/>
          <a:p>
            <a:pPr algn="l">
              <a:spcAft>
                <a:spcPts val="0"/>
              </a:spcAft>
            </a:pPr>
            <a:r>
              <a:rPr sz="2600" b="1">
                <a:solidFill>
                  <a:srgbClr val="1E2B40"/>
                </a:solidFill>
              </a:rPr>
              <a:t>OSPF neighbors exchange LSAs; SPF installs the best route</a:t>
            </a:r>
          </a:p>
        </p:txBody>
      </p:sp>
      <p:sp>
        <p:nvSpPr>
          <p:cNvPr id="5" name="TextBox 4"/>
          <p:cNvSpPr txBox="1"/>
          <p:nvPr/>
        </p:nvSpPr>
        <p:spPr>
          <a:xfrm>
            <a:off x="521207" y="1143000"/>
            <a:ext cx="10789920" cy="243143"/>
          </a:xfrm>
          <a:prstGeom prst="rect">
            <a:avLst/>
          </a:prstGeom>
          <a:noFill/>
        </p:spPr>
        <p:txBody>
          <a:bodyPr wrap="square" lIns="36576" tIns="36576" rIns="36576" bIns="36576" anchor="t">
            <a:spAutoFit/>
          </a:bodyPr>
          <a:lstStyle/>
          <a:p>
            <a:pPr algn="l">
              <a:spcAft>
                <a:spcPts val="0"/>
              </a:spcAft>
            </a:pPr>
            <a:r>
              <a:rPr lang="en-GB" sz="1100" b="0">
                <a:solidFill>
                  <a:srgbClr val="687385"/>
                </a:solidFill>
              </a:rPr>
              <a:t>Actual lab addressing; morning exercise uses the instructor-provided training tunnel</a:t>
            </a:r>
            <a:endParaRPr sz="1100" b="0">
              <a:solidFill>
                <a:srgbClr val="687385"/>
              </a:solidFill>
            </a:endParaRPr>
          </a:p>
        </p:txBody>
      </p:sp>
      <p:cxnSp>
        <p:nvCxnSpPr>
          <p:cNvPr id="6" name="Connector 5"/>
          <p:cNvCxnSpPr/>
          <p:nvPr/>
        </p:nvCxnSpPr>
        <p:spPr>
          <a:xfrm>
            <a:off x="502920" y="6473952"/>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7" name="TextBox 6"/>
          <p:cNvSpPr txBox="1">
            <a:spLocks/>
          </p:cNvSpPr>
          <p:nvPr/>
        </p:nvSpPr>
        <p:spPr>
          <a:xfrm>
            <a:off x="11109960" y="6537960"/>
            <a:ext cx="502920" cy="189283"/>
          </a:xfrm>
          <a:prstGeom prst="rect">
            <a:avLst/>
          </a:prstGeom>
          <a:noFill/>
        </p:spPr>
        <p:txBody>
          <a:bodyPr wrap="square" lIns="36576" tIns="36576" rIns="36576" bIns="36576" anchor="t">
            <a:spAutoFit/>
          </a:bodyPr>
          <a:lstStyle/>
          <a:p>
            <a:pPr algn="r">
              <a:spcAft>
                <a:spcPts val="0"/>
              </a:spcAft>
            </a:pPr>
            <a:r>
              <a:rPr lang="en-HU" sz="750" b="0">
                <a:solidFill>
                  <a:srgbClr val="687385"/>
                </a:solidFill>
              </a:rPr>
              <a:t>90</a:t>
            </a:r>
          </a:p>
        </p:txBody>
      </p:sp>
      <p:sp>
        <p:nvSpPr>
          <p:cNvPr id="8" name="Rectangle 7"/>
          <p:cNvSpPr>
            <a:spLocks/>
          </p:cNvSpPr>
          <p:nvPr/>
        </p:nvSpPr>
        <p:spPr>
          <a:xfrm>
            <a:off x="685800" y="1965960"/>
            <a:ext cx="1920240" cy="9144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9" name="TextBox 8"/>
          <p:cNvSpPr txBox="1">
            <a:spLocks/>
          </p:cNvSpPr>
          <p:nvPr/>
        </p:nvSpPr>
        <p:spPr>
          <a:xfrm>
            <a:off x="758952" y="2084831"/>
            <a:ext cx="1773936" cy="304699"/>
          </a:xfrm>
          <a:prstGeom prst="rect">
            <a:avLst/>
          </a:prstGeom>
          <a:noFill/>
        </p:spPr>
        <p:txBody>
          <a:bodyPr wrap="square" lIns="36576" tIns="36576" rIns="36576" bIns="36576" anchor="t">
            <a:spAutoFit/>
          </a:bodyPr>
          <a:lstStyle/>
          <a:p>
            <a:pPr algn="ctr">
              <a:spcAft>
                <a:spcPts val="0"/>
              </a:spcAft>
            </a:pPr>
            <a:r>
              <a:rPr lang="en-GB" sz="1500" b="1">
                <a:solidFill>
                  <a:srgbClr val="FFFFFF"/>
                </a:solidFill>
              </a:rPr>
              <a:t>INSTRUCTOR FGT</a:t>
            </a:r>
          </a:p>
        </p:txBody>
      </p:sp>
      <p:sp>
        <p:nvSpPr>
          <p:cNvPr id="10" name="TextBox 9"/>
          <p:cNvSpPr txBox="1">
            <a:spLocks/>
          </p:cNvSpPr>
          <p:nvPr/>
        </p:nvSpPr>
        <p:spPr>
          <a:xfrm>
            <a:off x="758952" y="2441448"/>
            <a:ext cx="1773936" cy="227755"/>
          </a:xfrm>
          <a:prstGeom prst="rect">
            <a:avLst/>
          </a:prstGeom>
          <a:noFill/>
        </p:spPr>
        <p:txBody>
          <a:bodyPr wrap="square" lIns="36576" tIns="36576" rIns="36576" bIns="36576" anchor="t">
            <a:spAutoFit/>
          </a:bodyPr>
          <a:lstStyle/>
          <a:p>
            <a:pPr algn="ctr">
              <a:spcAft>
                <a:spcPts val="0"/>
              </a:spcAft>
            </a:pPr>
            <a:r>
              <a:rPr lang="en-GB" sz="1000" b="0">
                <a:solidFill>
                  <a:srgbClr val="D8E0EA"/>
                </a:solidFill>
              </a:rPr>
              <a:t>RID &lt;instructor RID&gt;</a:t>
            </a:r>
          </a:p>
        </p:txBody>
      </p:sp>
      <p:sp>
        <p:nvSpPr>
          <p:cNvPr id="11" name="Right Arrow 10"/>
          <p:cNvSpPr>
            <a:spLocks/>
          </p:cNvSpPr>
          <p:nvPr/>
        </p:nvSpPr>
        <p:spPr>
          <a:xfrm>
            <a:off x="2651760" y="2304288"/>
            <a:ext cx="1188720" cy="201168"/>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2" name="TextBox 11"/>
          <p:cNvSpPr txBox="1">
            <a:spLocks/>
          </p:cNvSpPr>
          <p:nvPr/>
        </p:nvSpPr>
        <p:spPr>
          <a:xfrm>
            <a:off x="2651760" y="2048256"/>
            <a:ext cx="1188720" cy="212366"/>
          </a:xfrm>
          <a:prstGeom prst="rect">
            <a:avLst/>
          </a:prstGeom>
          <a:noFill/>
        </p:spPr>
        <p:txBody>
          <a:bodyPr wrap="square" lIns="36576" tIns="36576" rIns="36576" bIns="36576" anchor="t">
            <a:spAutoFit/>
          </a:bodyPr>
          <a:lstStyle/>
          <a:p>
            <a:pPr algn="ctr">
              <a:spcAft>
                <a:spcPts val="0"/>
              </a:spcAft>
            </a:pPr>
            <a:r>
              <a:rPr lang="en-GB" sz="900" b="1">
                <a:solidFill>
                  <a:srgbClr val="687385"/>
                </a:solidFill>
              </a:rPr>
              <a:t>Hello / DBD / LSA</a:t>
            </a:r>
          </a:p>
        </p:txBody>
      </p:sp>
      <p:sp>
        <p:nvSpPr>
          <p:cNvPr id="13" name="Rectangle 12"/>
          <p:cNvSpPr/>
          <p:nvPr/>
        </p:nvSpPr>
        <p:spPr>
          <a:xfrm>
            <a:off x="3886200" y="1965960"/>
            <a:ext cx="1920240" cy="914400"/>
          </a:xfrm>
          <a:prstGeom prst="rect">
            <a:avLst/>
          </a:prstGeom>
          <a:solidFill>
            <a:srgbClr val="233A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a:spLocks/>
          </p:cNvSpPr>
          <p:nvPr/>
        </p:nvSpPr>
        <p:spPr>
          <a:xfrm>
            <a:off x="3959352" y="2084831"/>
            <a:ext cx="1773936" cy="274320"/>
          </a:xfrm>
          <a:prstGeom prst="rect">
            <a:avLst/>
          </a:prstGeom>
          <a:noFill/>
        </p:spPr>
        <p:txBody>
          <a:bodyPr wrap="square" lIns="36576" tIns="36576" rIns="36576" bIns="36576" anchor="t">
            <a:spAutoFit/>
          </a:bodyPr>
          <a:lstStyle/>
          <a:p>
            <a:pPr algn="ctr">
              <a:spcAft>
                <a:spcPts val="0"/>
              </a:spcAft>
            </a:pPr>
            <a:r>
              <a:rPr lang="en-GB" sz="1500" b="1">
                <a:solidFill>
                  <a:srgbClr val="FFFFFF"/>
                </a:solidFill>
              </a:rPr>
              <a:t>AREA 0</a:t>
            </a:r>
          </a:p>
        </p:txBody>
      </p:sp>
      <p:sp>
        <p:nvSpPr>
          <p:cNvPr id="15" name="TextBox 14"/>
          <p:cNvSpPr txBox="1">
            <a:spLocks/>
          </p:cNvSpPr>
          <p:nvPr/>
        </p:nvSpPr>
        <p:spPr>
          <a:xfrm>
            <a:off x="3959352" y="2441448"/>
            <a:ext cx="1773936" cy="227755"/>
          </a:xfrm>
          <a:prstGeom prst="rect">
            <a:avLst/>
          </a:prstGeom>
          <a:noFill/>
        </p:spPr>
        <p:txBody>
          <a:bodyPr wrap="square" lIns="36576" tIns="36576" rIns="36576" bIns="36576" anchor="t">
            <a:spAutoFit/>
          </a:bodyPr>
          <a:lstStyle/>
          <a:p>
            <a:pPr algn="ctr">
              <a:spcAft>
                <a:spcPts val="0"/>
              </a:spcAft>
            </a:pPr>
            <a:r>
              <a:rPr lang="en-GB" sz="1000" b="0">
                <a:solidFill>
                  <a:srgbClr val="D8E0EA"/>
                </a:solidFill>
              </a:rPr>
              <a:t>transit network</a:t>
            </a:r>
          </a:p>
        </p:txBody>
      </p:sp>
      <p:sp>
        <p:nvSpPr>
          <p:cNvPr id="16" name="Right Arrow 15"/>
          <p:cNvSpPr>
            <a:spLocks/>
          </p:cNvSpPr>
          <p:nvPr/>
        </p:nvSpPr>
        <p:spPr>
          <a:xfrm>
            <a:off x="5852160" y="2304288"/>
            <a:ext cx="1188720" cy="201168"/>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7" name="TextBox 16"/>
          <p:cNvSpPr txBox="1"/>
          <p:nvPr/>
        </p:nvSpPr>
        <p:spPr>
          <a:xfrm>
            <a:off x="5852160" y="2048256"/>
            <a:ext cx="1188720" cy="228600"/>
          </a:xfrm>
          <a:prstGeom prst="rect">
            <a:avLst/>
          </a:prstGeom>
          <a:noFill/>
        </p:spPr>
        <p:txBody>
          <a:bodyPr wrap="square" lIns="36576" tIns="36576" rIns="36576" bIns="36576" anchor="t">
            <a:spAutoFit/>
          </a:bodyPr>
          <a:lstStyle/>
          <a:p>
            <a:pPr algn="ctr">
              <a:spcAft>
                <a:spcPts val="0"/>
              </a:spcAft>
            </a:pPr>
            <a:r>
              <a:rPr sz="900" b="1">
                <a:solidFill>
                  <a:srgbClr val="687385"/>
                </a:solidFill>
              </a:rPr>
              <a:t>LSA / ACK</a:t>
            </a:r>
          </a:p>
        </p:txBody>
      </p:sp>
      <p:sp>
        <p:nvSpPr>
          <p:cNvPr id="18" name="Rectangle 17"/>
          <p:cNvSpPr/>
          <p:nvPr/>
        </p:nvSpPr>
        <p:spPr>
          <a:xfrm>
            <a:off x="7086600" y="1965960"/>
            <a:ext cx="1920240" cy="9144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9" name="TextBox 18"/>
          <p:cNvSpPr txBox="1">
            <a:spLocks/>
          </p:cNvSpPr>
          <p:nvPr/>
        </p:nvSpPr>
        <p:spPr>
          <a:xfrm>
            <a:off x="7159752" y="2084831"/>
            <a:ext cx="1773936" cy="304699"/>
          </a:xfrm>
          <a:prstGeom prst="rect">
            <a:avLst/>
          </a:prstGeom>
          <a:noFill/>
        </p:spPr>
        <p:txBody>
          <a:bodyPr wrap="square" lIns="36576" tIns="36576" rIns="36576" bIns="36576" anchor="t">
            <a:spAutoFit/>
          </a:bodyPr>
          <a:lstStyle/>
          <a:p>
            <a:pPr algn="ctr">
              <a:spcAft>
                <a:spcPts val="0"/>
              </a:spcAft>
            </a:pPr>
            <a:r>
              <a:rPr lang="en-GB" sz="1500" b="1">
                <a:solidFill>
                  <a:srgbClr val="FFFFFF"/>
                </a:solidFill>
              </a:rPr>
              <a:t>STUDENT01 FGT</a:t>
            </a:r>
          </a:p>
        </p:txBody>
      </p:sp>
      <p:sp>
        <p:nvSpPr>
          <p:cNvPr id="20" name="TextBox 19"/>
          <p:cNvSpPr txBox="1">
            <a:spLocks/>
          </p:cNvSpPr>
          <p:nvPr/>
        </p:nvSpPr>
        <p:spPr>
          <a:xfrm>
            <a:off x="7159752" y="2441448"/>
            <a:ext cx="1773936" cy="227755"/>
          </a:xfrm>
          <a:prstGeom prst="rect">
            <a:avLst/>
          </a:prstGeom>
          <a:noFill/>
        </p:spPr>
        <p:txBody>
          <a:bodyPr wrap="square" lIns="36576" tIns="36576" rIns="36576" bIns="36576" anchor="t">
            <a:spAutoFit/>
          </a:bodyPr>
          <a:lstStyle/>
          <a:p>
            <a:pPr algn="ctr">
              <a:spcAft>
                <a:spcPts val="0"/>
              </a:spcAft>
            </a:pPr>
            <a:r>
              <a:rPr lang="en-GB" sz="1000" b="0">
                <a:solidFill>
                  <a:srgbClr val="D8E0EA"/>
                </a:solidFill>
              </a:rPr>
              <a:t>RID &lt;Student01 RID&gt;</a:t>
            </a:r>
          </a:p>
        </p:txBody>
      </p:sp>
      <p:sp>
        <p:nvSpPr>
          <p:cNvPr id="21" name="Rectangle 20"/>
          <p:cNvSpPr/>
          <p:nvPr/>
        </p:nvSpPr>
        <p:spPr>
          <a:xfrm>
            <a:off x="9555480" y="1965960"/>
            <a:ext cx="1920240" cy="9144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a:spLocks/>
          </p:cNvSpPr>
          <p:nvPr/>
        </p:nvSpPr>
        <p:spPr>
          <a:xfrm>
            <a:off x="9628632" y="2084831"/>
            <a:ext cx="1773936" cy="304699"/>
          </a:xfrm>
          <a:prstGeom prst="rect">
            <a:avLst/>
          </a:prstGeom>
          <a:noFill/>
        </p:spPr>
        <p:txBody>
          <a:bodyPr wrap="square" lIns="36576" tIns="36576" rIns="36576" bIns="36576" anchor="t">
            <a:spAutoFit/>
          </a:bodyPr>
          <a:lstStyle/>
          <a:p>
            <a:pPr algn="ctr">
              <a:spcAft>
                <a:spcPts val="0"/>
              </a:spcAft>
            </a:pPr>
            <a:r>
              <a:rPr lang="en-GB" sz="1500" b="1">
                <a:solidFill>
                  <a:srgbClr val="FFFFFF"/>
                </a:solidFill>
              </a:rPr>
              <a:t>STUDENT01 LAN</a:t>
            </a:r>
          </a:p>
        </p:txBody>
      </p:sp>
      <p:sp>
        <p:nvSpPr>
          <p:cNvPr id="23" name="TextBox 22"/>
          <p:cNvSpPr txBox="1">
            <a:spLocks/>
          </p:cNvSpPr>
          <p:nvPr/>
        </p:nvSpPr>
        <p:spPr>
          <a:xfrm>
            <a:off x="9628632" y="2441448"/>
            <a:ext cx="1773936" cy="227755"/>
          </a:xfrm>
          <a:prstGeom prst="rect">
            <a:avLst/>
          </a:prstGeom>
          <a:noFill/>
        </p:spPr>
        <p:txBody>
          <a:bodyPr wrap="square" lIns="36576" tIns="36576" rIns="36576" bIns="36576" anchor="t">
            <a:spAutoFit/>
          </a:bodyPr>
          <a:lstStyle/>
          <a:p>
            <a:pPr algn="ctr">
              <a:spcAft>
                <a:spcPts val="0"/>
              </a:spcAft>
            </a:pPr>
            <a:r>
              <a:rPr lang="en-HU" sz="1000" b="0">
                <a:solidFill>
                  <a:srgbClr val="D8E0EA"/>
                </a:solidFill>
              </a:rPr>
              <a:t>10.1.10.0/24</a:t>
            </a:r>
          </a:p>
        </p:txBody>
      </p:sp>
      <p:sp>
        <p:nvSpPr>
          <p:cNvPr id="24" name="Right Arrow 23"/>
          <p:cNvSpPr>
            <a:spLocks/>
          </p:cNvSpPr>
          <p:nvPr/>
        </p:nvSpPr>
        <p:spPr>
          <a:xfrm>
            <a:off x="9052560" y="2304288"/>
            <a:ext cx="457200" cy="201168"/>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25" name="TextBox 24"/>
          <p:cNvSpPr txBox="1"/>
          <p:nvPr/>
        </p:nvSpPr>
        <p:spPr>
          <a:xfrm>
            <a:off x="9052560" y="2048256"/>
            <a:ext cx="457200" cy="228600"/>
          </a:xfrm>
          <a:prstGeom prst="rect">
            <a:avLst/>
          </a:prstGeom>
          <a:noFill/>
        </p:spPr>
        <p:txBody>
          <a:bodyPr wrap="square" lIns="36576" tIns="36576" rIns="36576" bIns="36576" anchor="t">
            <a:spAutoFit/>
          </a:bodyPr>
          <a:lstStyle/>
          <a:p>
            <a:pPr algn="ctr">
              <a:spcAft>
                <a:spcPts val="0"/>
              </a:spcAft>
            </a:pPr>
            <a:r>
              <a:rPr sz="900" b="1">
                <a:solidFill>
                  <a:srgbClr val="687385"/>
                </a:solidFill>
              </a:rPr>
              <a:t>LAN</a:t>
            </a:r>
          </a:p>
        </p:txBody>
      </p:sp>
      <p:sp>
        <p:nvSpPr>
          <p:cNvPr id="26" name="TextBox 25"/>
          <p:cNvSpPr txBox="1">
            <a:spLocks/>
          </p:cNvSpPr>
          <p:nvPr/>
        </p:nvSpPr>
        <p:spPr>
          <a:xfrm>
            <a:off x="777240" y="3474720"/>
            <a:ext cx="2011680" cy="219456"/>
          </a:xfrm>
          <a:prstGeom prst="rect">
            <a:avLst/>
          </a:prstGeom>
          <a:noFill/>
        </p:spPr>
        <p:txBody>
          <a:bodyPr wrap="square" lIns="36576" tIns="36576" rIns="36576" bIns="36576" anchor="t">
            <a:spAutoFit/>
          </a:bodyPr>
          <a:lstStyle/>
          <a:p>
            <a:pPr algn="l">
              <a:spcAft>
                <a:spcPts val="0"/>
              </a:spcAft>
            </a:pPr>
            <a:r>
              <a:rPr lang="en-GB" sz="1100" b="1">
                <a:solidFill>
                  <a:srgbClr val="E60012"/>
                </a:solidFill>
              </a:rPr>
              <a:t>NEIGHBOR STATE</a:t>
            </a:r>
          </a:p>
        </p:txBody>
      </p:sp>
      <p:sp>
        <p:nvSpPr>
          <p:cNvPr id="27" name="TextBox 26"/>
          <p:cNvSpPr txBox="1"/>
          <p:nvPr/>
        </p:nvSpPr>
        <p:spPr>
          <a:xfrm>
            <a:off x="777240" y="3794760"/>
            <a:ext cx="5029200" cy="289310"/>
          </a:xfrm>
          <a:prstGeom prst="rect">
            <a:avLst/>
          </a:prstGeom>
          <a:noFill/>
        </p:spPr>
        <p:txBody>
          <a:bodyPr wrap="square" lIns="36576" tIns="36576" rIns="36576" bIns="36576" anchor="t">
            <a:spAutoFit/>
          </a:bodyPr>
          <a:lstStyle/>
          <a:p>
            <a:pPr algn="l">
              <a:spcAft>
                <a:spcPts val="0"/>
              </a:spcAft>
            </a:pPr>
            <a:r>
              <a:rPr lang="en-GB" sz="1400" b="1">
                <a:solidFill>
                  <a:srgbClr val="233A59"/>
                </a:solidFill>
              </a:rPr>
              <a:t>Down → Init → 2-Way → ExStart → Exchange → Loading → Full</a:t>
            </a:r>
          </a:p>
        </p:txBody>
      </p:sp>
      <p:sp>
        <p:nvSpPr>
          <p:cNvPr id="28" name="TextBox 27"/>
          <p:cNvSpPr txBox="1"/>
          <p:nvPr/>
        </p:nvSpPr>
        <p:spPr>
          <a:xfrm>
            <a:off x="6492240" y="3474720"/>
            <a:ext cx="2011680" cy="243143"/>
          </a:xfrm>
          <a:prstGeom prst="rect">
            <a:avLst/>
          </a:prstGeom>
          <a:noFill/>
        </p:spPr>
        <p:txBody>
          <a:bodyPr wrap="square" lIns="36576" tIns="36576" rIns="36576" bIns="36576" anchor="t">
            <a:spAutoFit/>
          </a:bodyPr>
          <a:lstStyle/>
          <a:p>
            <a:pPr algn="l">
              <a:spcAft>
                <a:spcPts val="0"/>
              </a:spcAft>
            </a:pPr>
            <a:r>
              <a:rPr lang="en-GB" sz="1100" b="1">
                <a:solidFill>
                  <a:srgbClr val="E60012"/>
                </a:solidFill>
              </a:rPr>
              <a:t>INSTRUCTOR ROUTING TABLE</a:t>
            </a:r>
          </a:p>
        </p:txBody>
      </p:sp>
      <p:sp>
        <p:nvSpPr>
          <p:cNvPr id="29" name="TextBox 28"/>
          <p:cNvSpPr txBox="1"/>
          <p:nvPr/>
        </p:nvSpPr>
        <p:spPr>
          <a:xfrm>
            <a:off x="6492240" y="3794760"/>
            <a:ext cx="4572000" cy="289310"/>
          </a:xfrm>
          <a:prstGeom prst="rect">
            <a:avLst/>
          </a:prstGeom>
          <a:noFill/>
        </p:spPr>
        <p:txBody>
          <a:bodyPr wrap="square" lIns="36576" tIns="36576" rIns="36576" bIns="36576" anchor="t">
            <a:spAutoFit/>
          </a:bodyPr>
          <a:lstStyle/>
          <a:p>
            <a:pPr algn="l">
              <a:spcAft>
                <a:spcPts val="0"/>
              </a:spcAft>
            </a:pPr>
            <a:r>
              <a:rPr lang="en-GB" sz="1400" b="1">
                <a:solidFill>
                  <a:srgbClr val="233A59"/>
                </a:solidFill>
              </a:rPr>
              <a:t>O 10.1.10.0/24 via &lt;training-tunnel next hop&gt;</a:t>
            </a:r>
          </a:p>
        </p:txBody>
      </p:sp>
      <p:sp>
        <p:nvSpPr>
          <p:cNvPr id="30" name="TextBox 29"/>
          <p:cNvSpPr txBox="1"/>
          <p:nvPr/>
        </p:nvSpPr>
        <p:spPr>
          <a:xfrm>
            <a:off x="658368" y="5833872"/>
            <a:ext cx="731520" cy="227755"/>
          </a:xfrm>
          <a:prstGeom prst="rect">
            <a:avLst/>
          </a:prstGeom>
          <a:noFill/>
        </p:spPr>
        <p:txBody>
          <a:bodyPr wrap="square" lIns="36576" tIns="36576" rIns="36576" bIns="36576" anchor="t">
            <a:spAutoFit/>
          </a:bodyPr>
          <a:lstStyle/>
          <a:p>
            <a:pPr algn="l">
              <a:spcAft>
                <a:spcPts val="0"/>
              </a:spcAft>
            </a:pPr>
            <a:r>
              <a:rPr lang="en-GB" sz="1000" b="1">
                <a:solidFill>
                  <a:srgbClr val="E60012"/>
                </a:solidFill>
              </a:rPr>
              <a:t>LESSON</a:t>
            </a:r>
          </a:p>
        </p:txBody>
      </p:sp>
      <p:sp>
        <p:nvSpPr>
          <p:cNvPr id="31" name="TextBox 30"/>
          <p:cNvSpPr txBox="1"/>
          <p:nvPr/>
        </p:nvSpPr>
        <p:spPr>
          <a:xfrm>
            <a:off x="1417320" y="5769864"/>
            <a:ext cx="9875520" cy="384048"/>
          </a:xfrm>
          <a:prstGeom prst="rect">
            <a:avLst/>
          </a:prstGeom>
          <a:noFill/>
        </p:spPr>
        <p:txBody>
          <a:bodyPr wrap="square" lIns="36576" tIns="36576" rIns="36576" bIns="36576" anchor="t">
            <a:spAutoFit/>
          </a:bodyPr>
          <a:lstStyle/>
          <a:p>
            <a:pPr algn="l">
              <a:spcAft>
                <a:spcPts val="0"/>
              </a:spcAft>
            </a:pPr>
            <a:r>
              <a:rPr sz="1300" b="1">
                <a:solidFill>
                  <a:srgbClr val="233A59"/>
                </a:solidFill>
              </a:rPr>
              <a:t>Full adjacency is necessary, but the learned prefix must also appear in the LSDB and active routing table.</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91</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LSAs build a shared topology; SPF installs best paths</a:t>
            </a:r>
          </a:p>
        </p:txBody>
      </p:sp>
      <p:sp>
        <p:nvSpPr>
          <p:cNvPr id="10" name="Rectangle 9"/>
          <p:cNvSpPr/>
          <p:nvPr/>
        </p:nvSpPr>
        <p:spPr>
          <a:xfrm>
            <a:off x="960120" y="1965960"/>
            <a:ext cx="2217420" cy="105156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1" name="TextBox 10"/>
          <p:cNvSpPr txBox="1">
            <a:spLocks/>
          </p:cNvSpPr>
          <p:nvPr/>
        </p:nvSpPr>
        <p:spPr>
          <a:xfrm>
            <a:off x="1051560" y="2130552"/>
            <a:ext cx="2034539" cy="502920"/>
          </a:xfrm>
          <a:prstGeom prst="rect">
            <a:avLst/>
          </a:prstGeom>
          <a:noFill/>
        </p:spPr>
        <p:txBody>
          <a:bodyPr wrap="square" lIns="27432" tIns="27432" rIns="27432" bIns="27432" anchor="ctr">
            <a:spAutoFit/>
          </a:bodyPr>
          <a:lstStyle/>
          <a:p>
            <a:pPr algn="ctr">
              <a:spcAft>
                <a:spcPts val="0"/>
              </a:spcAft>
            </a:pPr>
            <a:r>
              <a:rPr lang="en-GB" sz="1600" b="1">
                <a:solidFill>
                  <a:srgbClr val="FFFFFF"/>
                </a:solidFill>
              </a:rPr>
              <a:t>R1 AREA 0</a:t>
            </a:r>
          </a:p>
        </p:txBody>
      </p:sp>
      <p:cxnSp>
        <p:nvCxnSpPr>
          <p:cNvPr id="12" name="Connector 11"/>
          <p:cNvCxnSpPr/>
          <p:nvPr/>
        </p:nvCxnSpPr>
        <p:spPr>
          <a:xfrm>
            <a:off x="3177539" y="2496312"/>
            <a:ext cx="457200" cy="0"/>
          </a:xfrm>
          <a:prstGeom prst="line">
            <a:avLst/>
          </a:prstGeom>
          <a:ln w="31750">
            <a:solidFill>
              <a:srgbClr val="E60012"/>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3634739" y="1965960"/>
            <a:ext cx="2217420" cy="105156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4" name="TextBox 13"/>
          <p:cNvSpPr txBox="1">
            <a:spLocks/>
          </p:cNvSpPr>
          <p:nvPr/>
        </p:nvSpPr>
        <p:spPr>
          <a:xfrm>
            <a:off x="3726179" y="2130552"/>
            <a:ext cx="2034539" cy="502920"/>
          </a:xfrm>
          <a:prstGeom prst="rect">
            <a:avLst/>
          </a:prstGeom>
          <a:noFill/>
        </p:spPr>
        <p:txBody>
          <a:bodyPr wrap="square" lIns="27432" tIns="27432" rIns="27432" bIns="27432" anchor="ctr">
            <a:spAutoFit/>
          </a:bodyPr>
          <a:lstStyle/>
          <a:p>
            <a:pPr algn="ctr">
              <a:spcAft>
                <a:spcPts val="0"/>
              </a:spcAft>
            </a:pPr>
            <a:r>
              <a:rPr lang="en-GB" sz="1600" b="1">
                <a:solidFill>
                  <a:srgbClr val="FFFFFF"/>
                </a:solidFill>
              </a:rPr>
              <a:t>LSA FLOOD</a:t>
            </a:r>
          </a:p>
        </p:txBody>
      </p:sp>
      <p:cxnSp>
        <p:nvCxnSpPr>
          <p:cNvPr id="15" name="Connector 14"/>
          <p:cNvCxnSpPr/>
          <p:nvPr/>
        </p:nvCxnSpPr>
        <p:spPr>
          <a:xfrm>
            <a:off x="5852159" y="2496312"/>
            <a:ext cx="457200" cy="0"/>
          </a:xfrm>
          <a:prstGeom prst="line">
            <a:avLst/>
          </a:prstGeom>
          <a:ln w="31750">
            <a:solidFill>
              <a:srgbClr val="E60012"/>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6309359" y="1965960"/>
            <a:ext cx="2217420" cy="105156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7" name="TextBox 16"/>
          <p:cNvSpPr txBox="1">
            <a:spLocks/>
          </p:cNvSpPr>
          <p:nvPr/>
        </p:nvSpPr>
        <p:spPr>
          <a:xfrm>
            <a:off x="6400799" y="2130552"/>
            <a:ext cx="2034539" cy="502920"/>
          </a:xfrm>
          <a:prstGeom prst="rect">
            <a:avLst/>
          </a:prstGeom>
          <a:noFill/>
        </p:spPr>
        <p:txBody>
          <a:bodyPr wrap="square" lIns="27432" tIns="27432" rIns="27432" bIns="27432" anchor="ctr">
            <a:spAutoFit/>
          </a:bodyPr>
          <a:lstStyle/>
          <a:p>
            <a:pPr algn="ctr">
              <a:spcAft>
                <a:spcPts val="0"/>
              </a:spcAft>
            </a:pPr>
            <a:r>
              <a:rPr lang="en-GB" sz="1600" b="1">
                <a:solidFill>
                  <a:srgbClr val="FFFFFF"/>
                </a:solidFill>
              </a:rPr>
              <a:t>R2 LSDB</a:t>
            </a:r>
          </a:p>
        </p:txBody>
      </p:sp>
      <p:cxnSp>
        <p:nvCxnSpPr>
          <p:cNvPr id="18" name="Connector 17"/>
          <p:cNvCxnSpPr/>
          <p:nvPr/>
        </p:nvCxnSpPr>
        <p:spPr>
          <a:xfrm>
            <a:off x="8526780" y="2496312"/>
            <a:ext cx="457200" cy="0"/>
          </a:xfrm>
          <a:prstGeom prst="line">
            <a:avLst/>
          </a:prstGeom>
          <a:ln w="31750">
            <a:solidFill>
              <a:srgbClr val="E60012"/>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8983980" y="1965960"/>
            <a:ext cx="2217420" cy="105156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20" name="TextBox 19"/>
          <p:cNvSpPr txBox="1">
            <a:spLocks/>
          </p:cNvSpPr>
          <p:nvPr/>
        </p:nvSpPr>
        <p:spPr>
          <a:xfrm>
            <a:off x="9075419" y="2130552"/>
            <a:ext cx="2034539" cy="502920"/>
          </a:xfrm>
          <a:prstGeom prst="rect">
            <a:avLst/>
          </a:prstGeom>
          <a:noFill/>
        </p:spPr>
        <p:txBody>
          <a:bodyPr wrap="square" lIns="27432" tIns="27432" rIns="27432" bIns="27432" anchor="ctr">
            <a:spAutoFit/>
          </a:bodyPr>
          <a:lstStyle/>
          <a:p>
            <a:pPr algn="ctr">
              <a:spcAft>
                <a:spcPts val="0"/>
              </a:spcAft>
            </a:pPr>
            <a:r>
              <a:rPr lang="en-GB" sz="1600" b="1">
                <a:solidFill>
                  <a:srgbClr val="FFFFFF"/>
                </a:solidFill>
              </a:rPr>
              <a:t>SPF → ROUTE</a:t>
            </a:r>
          </a:p>
        </p:txBody>
      </p:sp>
      <p:sp>
        <p:nvSpPr>
          <p:cNvPr id="21" name="TextBox 20"/>
          <p:cNvSpPr txBox="1">
            <a:spLocks/>
          </p:cNvSpPr>
          <p:nvPr/>
        </p:nvSpPr>
        <p:spPr>
          <a:xfrm>
            <a:off x="822960" y="3383280"/>
            <a:ext cx="10515600" cy="411480"/>
          </a:xfrm>
          <a:prstGeom prst="rect">
            <a:avLst/>
          </a:prstGeom>
          <a:noFill/>
        </p:spPr>
        <p:txBody>
          <a:bodyPr wrap="square" lIns="27432" tIns="27432" rIns="27432" bIns="27432" anchor="t">
            <a:spAutoFit/>
          </a:bodyPr>
          <a:lstStyle/>
          <a:p>
            <a:pPr algn="ctr">
              <a:spcAft>
                <a:spcPts val="0"/>
              </a:spcAft>
            </a:pPr>
            <a:r>
              <a:rPr lang="en-GB" sz="1700" b="1">
                <a:solidFill>
                  <a:srgbClr val="233A59"/>
                </a:solidFill>
              </a:rPr>
              <a:t>A connected /24 is advertised, appears in LSDB, then installs as OSPF route</a:t>
            </a:r>
          </a:p>
        </p:txBody>
      </p:sp>
      <p:sp>
        <p:nvSpPr>
          <p:cNvPr id="22" name="TextBox 21"/>
          <p:cNvSpPr txBox="1">
            <a:spLocks/>
          </p:cNvSpPr>
          <p:nvPr/>
        </p:nvSpPr>
        <p:spPr>
          <a:xfrm>
            <a:off x="960120" y="4069080"/>
            <a:ext cx="10241280" cy="1417320"/>
          </a:xfrm>
          <a:prstGeom prst="rect">
            <a:avLst/>
          </a:prstGeom>
          <a:noFill/>
        </p:spPr>
        <p:txBody>
          <a:bodyPr wrap="square" lIns="109728" tIns="73152" rIns="109728" bIns="73152" anchor="t">
            <a:spAutoFit/>
          </a:bodyPr>
          <a:lstStyle/>
          <a:p>
            <a:pPr algn="l">
              <a:lnSpc>
                <a:spcPct val="105000"/>
              </a:lnSpc>
              <a:spcAft>
                <a:spcPts val="600"/>
              </a:spcAft>
              <a:defRPr sz="1500">
                <a:solidFill>
                  <a:srgbClr val="1E2B40"/>
                </a:solidFill>
              </a:defRPr>
            </a:pPr>
            <a:r>
              <a:rPr lang="en-GB"/>
              <a:t>• Routers flood link-state information within defined scope</a:t>
            </a:r>
          </a:p>
          <a:p>
            <a:pPr>
              <a:lnSpc>
                <a:spcPct val="105000"/>
              </a:lnSpc>
              <a:spcAft>
                <a:spcPts val="600"/>
              </a:spcAft>
              <a:defRPr sz="1500">
                <a:solidFill>
                  <a:srgbClr val="1E2B40"/>
                </a:solidFill>
              </a:defRPr>
            </a:pPr>
            <a:r>
              <a:rPr lang="en-GB"/>
              <a:t>• Area design limits flooding and supports hierarchy</a:t>
            </a:r>
          </a:p>
          <a:p>
            <a:pPr>
              <a:lnSpc>
                <a:spcPct val="105000"/>
              </a:lnSpc>
              <a:spcAft>
                <a:spcPts val="600"/>
              </a:spcAft>
              <a:defRPr sz="1500">
                <a:solidFill>
                  <a:srgbClr val="1E2B40"/>
                </a:solidFill>
              </a:defRPr>
            </a:pPr>
            <a:r>
              <a:rPr lang="en-GB"/>
              <a:t>• The LSDB is not the routing table; SPF derives candidate paths</a:t>
            </a:r>
          </a:p>
          <a:p>
            <a:pPr>
              <a:lnSpc>
                <a:spcPct val="105000"/>
              </a:lnSpc>
              <a:spcAft>
                <a:spcPts val="600"/>
              </a:spcAft>
              <a:defRPr sz="1500">
                <a:solidFill>
                  <a:srgbClr val="1E2B40"/>
                </a:solidFill>
              </a:defRPr>
            </a:pPr>
            <a:r>
              <a:rPr lang="en-GB"/>
              <a:t>• Route type and metric influence the installed result</a:t>
            </a:r>
          </a:p>
        </p:txBody>
      </p:sp>
      <p:sp>
        <p:nvSpPr>
          <p:cNvPr id="23" name="TextBox 22"/>
          <p:cNvSpPr txBox="1"/>
          <p:nvPr/>
        </p:nvSpPr>
        <p:spPr>
          <a:xfrm>
            <a:off x="960120" y="5650992"/>
            <a:ext cx="10241280" cy="255455"/>
          </a:xfrm>
          <a:prstGeom prst="rect">
            <a:avLst/>
          </a:prstGeom>
          <a:noFill/>
        </p:spPr>
        <p:txBody>
          <a:bodyPr wrap="square" lIns="27432" tIns="27432" rIns="27432" bIns="27432" anchor="t">
            <a:spAutoFit/>
          </a:bodyPr>
          <a:lstStyle/>
          <a:p>
            <a:pPr algn="ctr">
              <a:spcAft>
                <a:spcPts val="0"/>
              </a:spcAft>
            </a:pPr>
            <a:r>
              <a:rPr sz="1300" b="1">
                <a:solidFill>
                  <a:srgbClr val="E60012"/>
                </a:solidFill>
              </a:rPr>
              <a:t>Compare </a:t>
            </a:r>
            <a:r>
              <a:rPr lang="en-GB" sz="1300" b="1">
                <a:solidFill>
                  <a:srgbClr val="E60012"/>
                </a:solidFill>
              </a:rPr>
              <a:t>the </a:t>
            </a:r>
            <a:r>
              <a:rPr sz="1300" b="1">
                <a:solidFill>
                  <a:srgbClr val="E60012"/>
                </a:solidFill>
              </a:rPr>
              <a:t>OSPF database, </a:t>
            </a:r>
            <a:r>
              <a:rPr lang="en-GB" sz="1300" b="1">
                <a:solidFill>
                  <a:srgbClr val="E60012"/>
                </a:solidFill>
              </a:rPr>
              <a:t>installed route </a:t>
            </a:r>
            <a:r>
              <a:rPr sz="1300" b="1">
                <a:solidFill>
                  <a:srgbClr val="E60012"/>
                </a:solidFill>
              </a:rPr>
              <a:t>and </a:t>
            </a:r>
            <a:r>
              <a:rPr lang="en-GB" sz="1300" b="1">
                <a:solidFill>
                  <a:srgbClr val="E60012"/>
                </a:solidFill>
              </a:rPr>
              <a:t>one forwarded test flow</a:t>
            </a:r>
            <a:r>
              <a:rPr sz="1300" b="1">
                <a:solidFill>
                  <a:srgbClr val="E60012"/>
                </a:solidFill>
              </a:rPr>
              <a:t>.</a:t>
            </a:r>
          </a:p>
        </p:txBody>
      </p:sp>
      <p:sp>
        <p:nvSpPr>
          <p:cNvPr id="24" name="TextBox 23"/>
          <p:cNvSpPr txBox="1"/>
          <p:nvPr/>
        </p:nvSpPr>
        <p:spPr>
          <a:xfrm>
            <a:off x="502920" y="420624"/>
            <a:ext cx="10744200" cy="130805"/>
          </a:xfrm>
          <a:prstGeom prst="rect">
            <a:avLst/>
          </a:prstGeom>
          <a:noFill/>
        </p:spPr>
        <p:txBody>
          <a:bodyPr wrap="square" lIns="0" tIns="0" rIns="0" bIns="0">
            <a:spAutoFit/>
          </a:bodyPr>
          <a:lstStyle/>
          <a:p>
            <a:pPr algn="l"/>
            <a:r>
              <a:rPr lang="en-HU" sz="850" b="1">
                <a:solidFill>
                  <a:srgbClr val="687385"/>
                </a:solidFill>
              </a:rPr>
              <a:t>091</a:t>
            </a:r>
            <a:r>
              <a:rPr sz="850" b="1">
                <a:solidFill>
                  <a:srgbClr val="687385"/>
                </a:solidFill>
              </a:rPr>
              <a:t> • DAY 3 • BLOCK 09 • Route Selection, PBR &amp; OSPF</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p:nvPr/>
        </p:nvSpPr>
        <p:spPr>
          <a:xfrm>
            <a:off x="475488" y="256032"/>
            <a:ext cx="2011680" cy="212366"/>
          </a:xfrm>
          <a:prstGeom prst="rect">
            <a:avLst/>
          </a:prstGeom>
          <a:noFill/>
        </p:spPr>
        <p:txBody>
          <a:bodyPr wrap="square" lIns="36576" tIns="36576" rIns="36576" bIns="36576" anchor="t">
            <a:spAutoFit/>
          </a:bodyPr>
          <a:lstStyle/>
          <a:p>
            <a:pPr algn="l">
              <a:spcAft>
                <a:spcPts val="0"/>
              </a:spcAft>
            </a:pPr>
            <a:r>
              <a:rPr lang="en-HU" sz="900" b="1">
                <a:solidFill>
                  <a:srgbClr val="687385"/>
                </a:solidFill>
              </a:rPr>
              <a:t>092</a:t>
            </a:r>
            <a:endParaRPr sz="900" b="1">
              <a:solidFill>
                <a:srgbClr val="687385"/>
              </a:solidFill>
            </a:endParaRPr>
          </a:p>
        </p:txBody>
      </p:sp>
      <p:sp>
        <p:nvSpPr>
          <p:cNvPr id="4" name="TextBox 3"/>
          <p:cNvSpPr txBox="1"/>
          <p:nvPr/>
        </p:nvSpPr>
        <p:spPr>
          <a:xfrm>
            <a:off x="502920" y="621792"/>
            <a:ext cx="11109960" cy="548640"/>
          </a:xfrm>
          <a:prstGeom prst="rect">
            <a:avLst/>
          </a:prstGeom>
          <a:noFill/>
        </p:spPr>
        <p:txBody>
          <a:bodyPr wrap="square" lIns="36576" tIns="36576" rIns="36576" bIns="36576" anchor="t">
            <a:spAutoFit/>
          </a:bodyPr>
          <a:lstStyle/>
          <a:p>
            <a:pPr algn="l">
              <a:spcAft>
                <a:spcPts val="0"/>
              </a:spcAft>
            </a:pPr>
            <a:r>
              <a:rPr sz="2600" b="1">
                <a:solidFill>
                  <a:srgbClr val="1E2B40"/>
                </a:solidFill>
              </a:rPr>
              <a:t>OSPF route exchange</a:t>
            </a:r>
          </a:p>
        </p:txBody>
      </p:sp>
      <p:cxnSp>
        <p:nvCxnSpPr>
          <p:cNvPr id="5" name="Connector 4"/>
          <p:cNvCxnSpPr/>
          <p:nvPr/>
        </p:nvCxnSpPr>
        <p:spPr>
          <a:xfrm>
            <a:off x="502920" y="6473952"/>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109960" y="6537960"/>
            <a:ext cx="502920" cy="189283"/>
          </a:xfrm>
          <a:prstGeom prst="rect">
            <a:avLst/>
          </a:prstGeom>
          <a:noFill/>
        </p:spPr>
        <p:txBody>
          <a:bodyPr wrap="square" lIns="36576" tIns="36576" rIns="36576" bIns="36576" anchor="t">
            <a:spAutoFit/>
          </a:bodyPr>
          <a:lstStyle/>
          <a:p>
            <a:pPr algn="r">
              <a:spcAft>
                <a:spcPts val="0"/>
              </a:spcAft>
            </a:pPr>
            <a:r>
              <a:rPr lang="en-HU" sz="750" b="0">
                <a:solidFill>
                  <a:srgbClr val="687385"/>
                </a:solidFill>
              </a:rPr>
              <a:t>92</a:t>
            </a:r>
            <a:endParaRPr sz="750" b="0">
              <a:solidFill>
                <a:srgbClr val="687385"/>
              </a:solidFill>
            </a:endParaRPr>
          </a:p>
        </p:txBody>
      </p:sp>
      <p:sp>
        <p:nvSpPr>
          <p:cNvPr id="7" name="Rectangle 6"/>
          <p:cNvSpPr>
            <a:spLocks/>
          </p:cNvSpPr>
          <p:nvPr/>
        </p:nvSpPr>
        <p:spPr>
          <a:xfrm>
            <a:off x="685800" y="1828800"/>
            <a:ext cx="2008022"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8" name="TextBox 7"/>
          <p:cNvSpPr txBox="1">
            <a:spLocks/>
          </p:cNvSpPr>
          <p:nvPr/>
        </p:nvSpPr>
        <p:spPr>
          <a:xfrm>
            <a:off x="777240" y="1938528"/>
            <a:ext cx="365760" cy="227755"/>
          </a:xfrm>
          <a:prstGeom prst="rect">
            <a:avLst/>
          </a:prstGeom>
          <a:noFill/>
        </p:spPr>
        <p:txBody>
          <a:bodyPr wrap="square" lIns="36576" tIns="36576" rIns="36576" bIns="36576" anchor="t">
            <a:spAutoFit/>
          </a:bodyPr>
          <a:lstStyle/>
          <a:p>
            <a:pPr algn="l">
              <a:spcAft>
                <a:spcPts val="0"/>
              </a:spcAft>
            </a:pPr>
            <a:r>
              <a:rPr lang="en-HU" sz="1000" b="1">
                <a:solidFill>
                  <a:srgbClr val="E60012"/>
                </a:solidFill>
              </a:rPr>
              <a:t>01</a:t>
            </a:r>
          </a:p>
        </p:txBody>
      </p:sp>
      <p:sp>
        <p:nvSpPr>
          <p:cNvPr id="9" name="TextBox 8"/>
          <p:cNvSpPr txBox="1">
            <a:spLocks/>
          </p:cNvSpPr>
          <p:nvPr/>
        </p:nvSpPr>
        <p:spPr>
          <a:xfrm>
            <a:off x="795528" y="2351657"/>
            <a:ext cx="1788566" cy="289310"/>
          </a:xfrm>
          <a:prstGeom prst="rect">
            <a:avLst/>
          </a:prstGeom>
          <a:noFill/>
        </p:spPr>
        <p:txBody>
          <a:bodyPr wrap="square" lIns="36576" tIns="36576" rIns="36576" bIns="36576" anchor="ctr">
            <a:spAutoFit/>
          </a:bodyPr>
          <a:lstStyle/>
          <a:p>
            <a:pPr algn="ctr">
              <a:spcAft>
                <a:spcPts val="0"/>
              </a:spcAft>
            </a:pPr>
            <a:r>
              <a:rPr lang="en-GB" sz="1400" b="1">
                <a:solidFill>
                  <a:srgbClr val="FFFFFF"/>
                </a:solidFill>
              </a:rPr>
              <a:t>Reach Full neighbor</a:t>
            </a:r>
          </a:p>
        </p:txBody>
      </p:sp>
      <p:sp>
        <p:nvSpPr>
          <p:cNvPr id="10" name="Right Arrow 9"/>
          <p:cNvSpPr/>
          <p:nvPr/>
        </p:nvSpPr>
        <p:spPr>
          <a:xfrm>
            <a:off x="2693822" y="2340864"/>
            <a:ext cx="164592" cy="146304"/>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1" name="Rectangle 10"/>
          <p:cNvSpPr>
            <a:spLocks/>
          </p:cNvSpPr>
          <p:nvPr/>
        </p:nvSpPr>
        <p:spPr>
          <a:xfrm>
            <a:off x="2858414" y="1828800"/>
            <a:ext cx="2008022"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2" name="TextBox 11"/>
          <p:cNvSpPr txBox="1"/>
          <p:nvPr/>
        </p:nvSpPr>
        <p:spPr>
          <a:xfrm>
            <a:off x="2949854" y="1938528"/>
            <a:ext cx="365760" cy="201168"/>
          </a:xfrm>
          <a:prstGeom prst="rect">
            <a:avLst/>
          </a:prstGeom>
          <a:noFill/>
        </p:spPr>
        <p:txBody>
          <a:bodyPr wrap="square" lIns="36576" tIns="36576" rIns="36576" bIns="36576" anchor="t">
            <a:spAutoFit/>
          </a:bodyPr>
          <a:lstStyle/>
          <a:p>
            <a:pPr algn="l">
              <a:spcAft>
                <a:spcPts val="0"/>
              </a:spcAft>
            </a:pPr>
            <a:r>
              <a:rPr sz="1000" b="1">
                <a:solidFill>
                  <a:srgbClr val="E60012"/>
                </a:solidFill>
              </a:rPr>
              <a:t>02</a:t>
            </a:r>
          </a:p>
        </p:txBody>
      </p:sp>
      <p:sp>
        <p:nvSpPr>
          <p:cNvPr id="13" name="TextBox 12"/>
          <p:cNvSpPr txBox="1">
            <a:spLocks/>
          </p:cNvSpPr>
          <p:nvPr/>
        </p:nvSpPr>
        <p:spPr>
          <a:xfrm>
            <a:off x="2968142" y="2267712"/>
            <a:ext cx="1788566" cy="457200"/>
          </a:xfrm>
          <a:prstGeom prst="rect">
            <a:avLst/>
          </a:prstGeom>
          <a:noFill/>
        </p:spPr>
        <p:txBody>
          <a:bodyPr wrap="square" lIns="36576" tIns="36576" rIns="36576" bIns="36576" anchor="ctr">
            <a:spAutoFit/>
          </a:bodyPr>
          <a:lstStyle/>
          <a:p>
            <a:pPr algn="ctr">
              <a:spcAft>
                <a:spcPts val="0"/>
              </a:spcAft>
            </a:pPr>
            <a:r>
              <a:rPr lang="en-GB" sz="1400" b="1">
                <a:solidFill>
                  <a:srgbClr val="FFFFFF"/>
                </a:solidFill>
              </a:rPr>
              <a:t>Receive/flood LSA</a:t>
            </a:r>
          </a:p>
        </p:txBody>
      </p:sp>
      <p:sp>
        <p:nvSpPr>
          <p:cNvPr id="14" name="Right Arrow 13"/>
          <p:cNvSpPr>
            <a:spLocks/>
          </p:cNvSpPr>
          <p:nvPr/>
        </p:nvSpPr>
        <p:spPr>
          <a:xfrm>
            <a:off x="4866436" y="2340864"/>
            <a:ext cx="164592" cy="146304"/>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5" name="Rectangle 14"/>
          <p:cNvSpPr/>
          <p:nvPr/>
        </p:nvSpPr>
        <p:spPr>
          <a:xfrm>
            <a:off x="5031028" y="1828800"/>
            <a:ext cx="2008022"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a:spLocks/>
          </p:cNvSpPr>
          <p:nvPr/>
        </p:nvSpPr>
        <p:spPr>
          <a:xfrm>
            <a:off x="5122468" y="1938528"/>
            <a:ext cx="365760" cy="201168"/>
          </a:xfrm>
          <a:prstGeom prst="rect">
            <a:avLst/>
          </a:prstGeom>
          <a:noFill/>
        </p:spPr>
        <p:txBody>
          <a:bodyPr wrap="square" lIns="36576" tIns="36576" rIns="36576" bIns="36576" anchor="t">
            <a:spAutoFit/>
          </a:bodyPr>
          <a:lstStyle/>
          <a:p>
            <a:pPr algn="l">
              <a:spcAft>
                <a:spcPts val="0"/>
              </a:spcAft>
            </a:pPr>
            <a:r>
              <a:rPr lang="en-HU" sz="1000" b="1">
                <a:solidFill>
                  <a:srgbClr val="E60012"/>
                </a:solidFill>
              </a:rPr>
              <a:t>03</a:t>
            </a:r>
          </a:p>
        </p:txBody>
      </p:sp>
      <p:sp>
        <p:nvSpPr>
          <p:cNvPr id="17" name="TextBox 16"/>
          <p:cNvSpPr txBox="1">
            <a:spLocks/>
          </p:cNvSpPr>
          <p:nvPr/>
        </p:nvSpPr>
        <p:spPr>
          <a:xfrm>
            <a:off x="5140756" y="2351657"/>
            <a:ext cx="1788566" cy="289310"/>
          </a:xfrm>
          <a:prstGeom prst="rect">
            <a:avLst/>
          </a:prstGeom>
          <a:noFill/>
        </p:spPr>
        <p:txBody>
          <a:bodyPr wrap="square" lIns="36576" tIns="36576" rIns="36576" bIns="36576" anchor="ctr">
            <a:spAutoFit/>
          </a:bodyPr>
          <a:lstStyle/>
          <a:p>
            <a:pPr algn="ctr">
              <a:spcAft>
                <a:spcPts val="0"/>
              </a:spcAft>
            </a:pPr>
            <a:r>
              <a:rPr lang="en-GB" sz="1400" b="1">
                <a:solidFill>
                  <a:srgbClr val="FFFFFF"/>
                </a:solidFill>
              </a:rPr>
              <a:t>Run SPF</a:t>
            </a:r>
          </a:p>
        </p:txBody>
      </p:sp>
      <p:sp>
        <p:nvSpPr>
          <p:cNvPr id="18" name="Right Arrow 17"/>
          <p:cNvSpPr/>
          <p:nvPr/>
        </p:nvSpPr>
        <p:spPr>
          <a:xfrm>
            <a:off x="7039051" y="2340864"/>
            <a:ext cx="164592" cy="146304"/>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203643" y="1828800"/>
            <a:ext cx="2008022"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20" name="TextBox 19"/>
          <p:cNvSpPr txBox="1">
            <a:spLocks/>
          </p:cNvSpPr>
          <p:nvPr/>
        </p:nvSpPr>
        <p:spPr>
          <a:xfrm>
            <a:off x="7295083" y="1938528"/>
            <a:ext cx="365760" cy="227755"/>
          </a:xfrm>
          <a:prstGeom prst="rect">
            <a:avLst/>
          </a:prstGeom>
          <a:noFill/>
        </p:spPr>
        <p:txBody>
          <a:bodyPr wrap="square" lIns="36576" tIns="36576" rIns="36576" bIns="36576" anchor="t">
            <a:spAutoFit/>
          </a:bodyPr>
          <a:lstStyle/>
          <a:p>
            <a:pPr algn="l">
              <a:spcAft>
                <a:spcPts val="0"/>
              </a:spcAft>
            </a:pPr>
            <a:r>
              <a:rPr lang="en-HU" sz="1000" b="1">
                <a:solidFill>
                  <a:srgbClr val="E60012"/>
                </a:solidFill>
              </a:rPr>
              <a:t>04</a:t>
            </a:r>
          </a:p>
        </p:txBody>
      </p:sp>
      <p:sp>
        <p:nvSpPr>
          <p:cNvPr id="21" name="TextBox 20"/>
          <p:cNvSpPr txBox="1"/>
          <p:nvPr/>
        </p:nvSpPr>
        <p:spPr>
          <a:xfrm>
            <a:off x="7313371" y="2351657"/>
            <a:ext cx="1788566" cy="289310"/>
          </a:xfrm>
          <a:prstGeom prst="rect">
            <a:avLst/>
          </a:prstGeom>
          <a:noFill/>
        </p:spPr>
        <p:txBody>
          <a:bodyPr wrap="square" lIns="36576" tIns="36576" rIns="36576" bIns="36576" anchor="ctr">
            <a:spAutoFit/>
          </a:bodyPr>
          <a:lstStyle/>
          <a:p>
            <a:pPr algn="ctr">
              <a:spcAft>
                <a:spcPts val="0"/>
              </a:spcAft>
            </a:pPr>
            <a:r>
              <a:rPr lang="en-GB" sz="1400" b="1">
                <a:solidFill>
                  <a:srgbClr val="FFFFFF"/>
                </a:solidFill>
              </a:rPr>
              <a:t>Install route</a:t>
            </a:r>
          </a:p>
        </p:txBody>
      </p:sp>
      <p:sp>
        <p:nvSpPr>
          <p:cNvPr id="22" name="Right Arrow 21"/>
          <p:cNvSpPr>
            <a:spLocks/>
          </p:cNvSpPr>
          <p:nvPr/>
        </p:nvSpPr>
        <p:spPr>
          <a:xfrm>
            <a:off x="9211665" y="2340864"/>
            <a:ext cx="164592" cy="146304"/>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23" name="Rectangle 22"/>
          <p:cNvSpPr>
            <a:spLocks/>
          </p:cNvSpPr>
          <p:nvPr/>
        </p:nvSpPr>
        <p:spPr>
          <a:xfrm>
            <a:off x="9376257" y="1828800"/>
            <a:ext cx="2008022"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24" name="TextBox 23"/>
          <p:cNvSpPr txBox="1"/>
          <p:nvPr/>
        </p:nvSpPr>
        <p:spPr>
          <a:xfrm>
            <a:off x="9467697" y="1938528"/>
            <a:ext cx="365760" cy="227755"/>
          </a:xfrm>
          <a:prstGeom prst="rect">
            <a:avLst/>
          </a:prstGeom>
          <a:noFill/>
        </p:spPr>
        <p:txBody>
          <a:bodyPr wrap="square" lIns="36576" tIns="36576" rIns="36576" bIns="36576" anchor="t">
            <a:spAutoFit/>
          </a:bodyPr>
          <a:lstStyle/>
          <a:p>
            <a:pPr algn="l">
              <a:spcAft>
                <a:spcPts val="0"/>
              </a:spcAft>
            </a:pPr>
            <a:r>
              <a:rPr lang="en-HU" sz="1000" b="1">
                <a:solidFill>
                  <a:srgbClr val="E60012"/>
                </a:solidFill>
              </a:rPr>
              <a:t>05</a:t>
            </a:r>
          </a:p>
        </p:txBody>
      </p:sp>
      <p:sp>
        <p:nvSpPr>
          <p:cNvPr id="25" name="TextBox 24"/>
          <p:cNvSpPr txBox="1"/>
          <p:nvPr/>
        </p:nvSpPr>
        <p:spPr>
          <a:xfrm>
            <a:off x="9485985" y="2267712"/>
            <a:ext cx="1788566" cy="457200"/>
          </a:xfrm>
          <a:prstGeom prst="rect">
            <a:avLst/>
          </a:prstGeom>
          <a:noFill/>
        </p:spPr>
        <p:txBody>
          <a:bodyPr wrap="square" lIns="36576" tIns="36576" rIns="36576" bIns="36576" anchor="ctr">
            <a:spAutoFit/>
          </a:bodyPr>
          <a:lstStyle/>
          <a:p>
            <a:pPr algn="ctr">
              <a:spcAft>
                <a:spcPts val="0"/>
              </a:spcAft>
            </a:pPr>
            <a:r>
              <a:rPr sz="1400" b="1">
                <a:solidFill>
                  <a:srgbClr val="FFFFFF"/>
                </a:solidFill>
              </a:rPr>
              <a:t>Forward test traffic</a:t>
            </a:r>
          </a:p>
        </p:txBody>
      </p:sp>
      <p:sp>
        <p:nvSpPr>
          <p:cNvPr id="26" name="TextBox 25"/>
          <p:cNvSpPr txBox="1"/>
          <p:nvPr/>
        </p:nvSpPr>
        <p:spPr>
          <a:xfrm>
            <a:off x="731520" y="3703320"/>
            <a:ext cx="1554480" cy="210312"/>
          </a:xfrm>
          <a:prstGeom prst="rect">
            <a:avLst/>
          </a:prstGeom>
          <a:noFill/>
        </p:spPr>
        <p:txBody>
          <a:bodyPr wrap="square" lIns="36576" tIns="36576" rIns="36576" bIns="36576" anchor="t">
            <a:spAutoFit/>
          </a:bodyPr>
          <a:lstStyle/>
          <a:p>
            <a:pPr algn="l">
              <a:spcAft>
                <a:spcPts val="0"/>
              </a:spcAft>
            </a:pPr>
            <a:r>
              <a:rPr sz="1000" b="1">
                <a:solidFill>
                  <a:srgbClr val="E60012"/>
                </a:solidFill>
              </a:rPr>
              <a:t>EXPECTED RESULT</a:t>
            </a:r>
          </a:p>
        </p:txBody>
      </p:sp>
      <p:sp>
        <p:nvSpPr>
          <p:cNvPr id="27" name="TextBox 26"/>
          <p:cNvSpPr txBox="1"/>
          <p:nvPr/>
        </p:nvSpPr>
        <p:spPr>
          <a:xfrm>
            <a:off x="731520" y="4041648"/>
            <a:ext cx="10424160" cy="335476"/>
          </a:xfrm>
          <a:prstGeom prst="rect">
            <a:avLst/>
          </a:prstGeom>
          <a:noFill/>
        </p:spPr>
        <p:txBody>
          <a:bodyPr wrap="square" lIns="36576" tIns="36576" rIns="36576" bIns="36576" anchor="t">
            <a:spAutoFit/>
          </a:bodyPr>
          <a:lstStyle/>
          <a:p>
            <a:pPr algn="ctr">
              <a:spcAft>
                <a:spcPts val="0"/>
              </a:spcAft>
            </a:pPr>
            <a:r>
              <a:rPr sz="1700" b="1">
                <a:solidFill>
                  <a:srgbClr val="233A59"/>
                </a:solidFill>
              </a:rPr>
              <a:t>The OSPF neighbor reaches Full and </a:t>
            </a:r>
            <a:r>
              <a:rPr lang="en-GB" sz="1700" b="1">
                <a:solidFill>
                  <a:srgbClr val="233A59"/>
                </a:solidFill>
              </a:rPr>
              <a:t>Student01/Student02 lab prefixes install through </a:t>
            </a:r>
            <a:r>
              <a:rPr sz="1700" b="1">
                <a:solidFill>
                  <a:srgbClr val="233A59"/>
                </a:solidFill>
              </a:rPr>
              <a:t>the </a:t>
            </a:r>
            <a:r>
              <a:rPr lang="en-GB" sz="1700" b="1">
                <a:solidFill>
                  <a:srgbClr val="233A59"/>
                </a:solidFill>
              </a:rPr>
              <a:t>training tunnel</a:t>
            </a:r>
            <a:r>
              <a:rPr sz="1700" b="1">
                <a:solidFill>
                  <a:srgbClr val="233A59"/>
                </a:solidFill>
              </a:rPr>
              <a:t>.</a:t>
            </a:r>
          </a:p>
        </p:txBody>
      </p:sp>
      <p:sp>
        <p:nvSpPr>
          <p:cNvPr id="28" name="TextBox 27"/>
          <p:cNvSpPr txBox="1"/>
          <p:nvPr/>
        </p:nvSpPr>
        <p:spPr>
          <a:xfrm>
            <a:off x="658368" y="5833872"/>
            <a:ext cx="731520" cy="182880"/>
          </a:xfrm>
          <a:prstGeom prst="rect">
            <a:avLst/>
          </a:prstGeom>
          <a:noFill/>
        </p:spPr>
        <p:txBody>
          <a:bodyPr wrap="square" lIns="36576" tIns="36576" rIns="36576" bIns="36576" anchor="t">
            <a:spAutoFit/>
          </a:bodyPr>
          <a:lstStyle/>
          <a:p>
            <a:pPr algn="l">
              <a:spcAft>
                <a:spcPts val="0"/>
              </a:spcAft>
            </a:pPr>
            <a:r>
              <a:rPr sz="1000" b="1">
                <a:solidFill>
                  <a:srgbClr val="E60012"/>
                </a:solidFill>
              </a:rPr>
              <a:t>LESSON</a:t>
            </a:r>
          </a:p>
        </p:txBody>
      </p:sp>
      <p:sp>
        <p:nvSpPr>
          <p:cNvPr id="29" name="TextBox 28"/>
          <p:cNvSpPr txBox="1"/>
          <p:nvPr/>
        </p:nvSpPr>
        <p:spPr>
          <a:xfrm>
            <a:off x="1417320" y="5769864"/>
            <a:ext cx="9875520" cy="384048"/>
          </a:xfrm>
          <a:prstGeom prst="rect">
            <a:avLst/>
          </a:prstGeom>
          <a:noFill/>
        </p:spPr>
        <p:txBody>
          <a:bodyPr wrap="square" lIns="36576" tIns="36576" rIns="36576" bIns="36576" anchor="t">
            <a:spAutoFit/>
          </a:bodyPr>
          <a:lstStyle/>
          <a:p>
            <a:pPr algn="l">
              <a:spcAft>
                <a:spcPts val="0"/>
              </a:spcAft>
            </a:pPr>
            <a:r>
              <a:rPr sz="1300" b="1">
                <a:solidFill>
                  <a:srgbClr val="233A59"/>
                </a:solidFill>
              </a:rPr>
              <a:t>Each step names a FortiGate state or packet change that can be checked directly; stop when the failed step is identified.</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p:nvPr/>
        </p:nvSpPr>
        <p:spPr>
          <a:xfrm>
            <a:off x="502920" y="411480"/>
            <a:ext cx="548640" cy="189283"/>
          </a:xfrm>
          <a:prstGeom prst="rect">
            <a:avLst/>
          </a:prstGeom>
          <a:noFill/>
        </p:spPr>
        <p:txBody>
          <a:bodyPr wrap="square" lIns="36576" tIns="36576" rIns="36576" bIns="36576" anchor="t">
            <a:spAutoFit/>
          </a:bodyPr>
          <a:lstStyle/>
          <a:p>
            <a:pPr algn="l">
              <a:spcAft>
                <a:spcPts val="0"/>
              </a:spcAft>
            </a:pPr>
            <a:r>
              <a:rPr lang="en-HU" sz="750" b="1">
                <a:solidFill>
                  <a:srgbClr val="687385"/>
                </a:solidFill>
              </a:rPr>
              <a:t>093</a:t>
            </a:r>
            <a:endParaRPr sz="750" b="1">
              <a:solidFill>
                <a:srgbClr val="687385"/>
              </a:solidFill>
            </a:endParaRPr>
          </a:p>
        </p:txBody>
      </p:sp>
      <p:sp>
        <p:nvSpPr>
          <p:cNvPr id="4" name="TextBox 3"/>
          <p:cNvSpPr txBox="1"/>
          <p:nvPr/>
        </p:nvSpPr>
        <p:spPr>
          <a:xfrm>
            <a:off x="502920" y="621792"/>
            <a:ext cx="11109960" cy="548640"/>
          </a:xfrm>
          <a:prstGeom prst="rect">
            <a:avLst/>
          </a:prstGeom>
          <a:noFill/>
        </p:spPr>
        <p:txBody>
          <a:bodyPr wrap="square" lIns="36576" tIns="36576" rIns="36576" bIns="36576" anchor="t">
            <a:spAutoFit/>
          </a:bodyPr>
          <a:lstStyle/>
          <a:p>
            <a:pPr algn="l">
              <a:spcAft>
                <a:spcPts val="0"/>
              </a:spcAft>
            </a:pPr>
            <a:r>
              <a:rPr sz="2600" b="1">
                <a:solidFill>
                  <a:srgbClr val="1E2B40"/>
                </a:solidFill>
              </a:rPr>
              <a:t>Common mistakes—and how to correct them</a:t>
            </a:r>
          </a:p>
        </p:txBody>
      </p:sp>
      <p:cxnSp>
        <p:nvCxnSpPr>
          <p:cNvPr id="5" name="Connector 4"/>
          <p:cNvCxnSpPr/>
          <p:nvPr/>
        </p:nvCxnSpPr>
        <p:spPr>
          <a:xfrm>
            <a:off x="502920" y="6473952"/>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109960" y="6537960"/>
            <a:ext cx="502920" cy="189283"/>
          </a:xfrm>
          <a:prstGeom prst="rect">
            <a:avLst/>
          </a:prstGeom>
          <a:noFill/>
        </p:spPr>
        <p:txBody>
          <a:bodyPr wrap="square" lIns="36576" tIns="36576" rIns="36576" bIns="36576" anchor="t">
            <a:spAutoFit/>
          </a:bodyPr>
          <a:lstStyle/>
          <a:p>
            <a:pPr algn="r">
              <a:spcAft>
                <a:spcPts val="0"/>
              </a:spcAft>
            </a:pPr>
            <a:r>
              <a:rPr lang="en-HU" sz="750" b="0">
                <a:solidFill>
                  <a:srgbClr val="687385"/>
                </a:solidFill>
              </a:rPr>
              <a:t>93</a:t>
            </a:r>
            <a:endParaRPr sz="750" b="0">
              <a:solidFill>
                <a:srgbClr val="687385"/>
              </a:solidFill>
            </a:endParaRPr>
          </a:p>
        </p:txBody>
      </p:sp>
      <p:sp>
        <p:nvSpPr>
          <p:cNvPr id="7" name="TextBox 6"/>
          <p:cNvSpPr txBox="1">
            <a:spLocks/>
          </p:cNvSpPr>
          <p:nvPr/>
        </p:nvSpPr>
        <p:spPr>
          <a:xfrm>
            <a:off x="685800" y="1417320"/>
            <a:ext cx="3291840" cy="243143"/>
          </a:xfrm>
          <a:prstGeom prst="rect">
            <a:avLst/>
          </a:prstGeom>
          <a:noFill/>
        </p:spPr>
        <p:txBody>
          <a:bodyPr wrap="square" lIns="36576" tIns="36576" rIns="36576" bIns="36576" anchor="t">
            <a:spAutoFit/>
          </a:bodyPr>
          <a:lstStyle/>
          <a:p>
            <a:pPr algn="l">
              <a:spcAft>
                <a:spcPts val="0"/>
              </a:spcAft>
            </a:pPr>
            <a:r>
              <a:rPr lang="en-GB" sz="1100" b="1">
                <a:solidFill>
                  <a:srgbClr val="E60012"/>
                </a:solidFill>
              </a:rPr>
              <a:t>MISTAKE</a:t>
            </a:r>
          </a:p>
        </p:txBody>
      </p:sp>
      <p:sp>
        <p:nvSpPr>
          <p:cNvPr id="8" name="TextBox 7"/>
          <p:cNvSpPr txBox="1">
            <a:spLocks/>
          </p:cNvSpPr>
          <p:nvPr/>
        </p:nvSpPr>
        <p:spPr>
          <a:xfrm>
            <a:off x="4160520" y="1417320"/>
            <a:ext cx="7040880" cy="243143"/>
          </a:xfrm>
          <a:prstGeom prst="rect">
            <a:avLst/>
          </a:prstGeom>
          <a:noFill/>
        </p:spPr>
        <p:txBody>
          <a:bodyPr wrap="square" lIns="36576" tIns="36576" rIns="36576" bIns="36576" anchor="t">
            <a:spAutoFit/>
          </a:bodyPr>
          <a:lstStyle/>
          <a:p>
            <a:pPr algn="l">
              <a:spcAft>
                <a:spcPts val="0"/>
              </a:spcAft>
            </a:pPr>
            <a:r>
              <a:rPr lang="en-GB" sz="1100" b="1">
                <a:solidFill>
                  <a:srgbClr val="E60012"/>
                </a:solidFill>
              </a:rPr>
              <a:t>CORRECTION — AND WHY IT HELPS</a:t>
            </a:r>
          </a:p>
        </p:txBody>
      </p:sp>
      <p:sp>
        <p:nvSpPr>
          <p:cNvPr id="9" name="TextBox 8"/>
          <p:cNvSpPr txBox="1">
            <a:spLocks/>
          </p:cNvSpPr>
          <p:nvPr/>
        </p:nvSpPr>
        <p:spPr>
          <a:xfrm>
            <a:off x="685800" y="1783080"/>
            <a:ext cx="3108960" cy="566309"/>
          </a:xfrm>
          <a:prstGeom prst="rect">
            <a:avLst/>
          </a:prstGeom>
          <a:noFill/>
        </p:spPr>
        <p:txBody>
          <a:bodyPr wrap="square" lIns="36576" tIns="36576" rIns="36576" bIns="36576" anchor="t">
            <a:spAutoFit/>
          </a:bodyPr>
          <a:lstStyle/>
          <a:p>
            <a:pPr algn="l">
              <a:spcAft>
                <a:spcPts val="0"/>
              </a:spcAft>
            </a:pPr>
            <a:r>
              <a:rPr lang="en-GB" sz="1600" b="1">
                <a:solidFill>
                  <a:srgbClr val="1E2B40"/>
                </a:solidFill>
              </a:rPr>
              <a:t>Troubleshoot only the routing table</a:t>
            </a:r>
          </a:p>
        </p:txBody>
      </p:sp>
      <p:cxnSp>
        <p:nvCxnSpPr>
          <p:cNvPr id="10" name="Connector 9"/>
          <p:cNvCxnSpPr/>
          <p:nvPr/>
        </p:nvCxnSpPr>
        <p:spPr>
          <a:xfrm>
            <a:off x="3931920" y="1737360"/>
            <a:ext cx="0" cy="96012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251960" y="1783080"/>
            <a:ext cx="6903720" cy="822960"/>
          </a:xfrm>
          <a:prstGeom prst="rect">
            <a:avLst/>
          </a:prstGeom>
          <a:noFill/>
        </p:spPr>
        <p:txBody>
          <a:bodyPr wrap="square" lIns="36576" tIns="36576" rIns="36576" bIns="36576" anchor="t">
            <a:spAutoFit/>
          </a:bodyPr>
          <a:lstStyle/>
          <a:p>
            <a:pPr algn="l">
              <a:spcAft>
                <a:spcPts val="0"/>
              </a:spcAft>
            </a:pPr>
            <a:r>
              <a:rPr sz="1600" b="0">
                <a:solidFill>
                  <a:srgbClr val="233A59"/>
                </a:solidFill>
              </a:rPr>
              <a:t>Check neighbor state and LSDB first; no route installs until adjacency and LSA exchange succeed.</a:t>
            </a:r>
          </a:p>
        </p:txBody>
      </p:sp>
      <p:cxnSp>
        <p:nvCxnSpPr>
          <p:cNvPr id="12" name="Connector 11"/>
          <p:cNvCxnSpPr/>
          <p:nvPr/>
        </p:nvCxnSpPr>
        <p:spPr>
          <a:xfrm>
            <a:off x="685800" y="2834639"/>
            <a:ext cx="10469880"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85800" y="3081528"/>
            <a:ext cx="3108960" cy="320088"/>
          </a:xfrm>
          <a:prstGeom prst="rect">
            <a:avLst/>
          </a:prstGeom>
          <a:noFill/>
        </p:spPr>
        <p:txBody>
          <a:bodyPr wrap="square" lIns="36576" tIns="36576" rIns="36576" bIns="36576" anchor="t">
            <a:spAutoFit/>
          </a:bodyPr>
          <a:lstStyle/>
          <a:p>
            <a:pPr algn="l">
              <a:spcAft>
                <a:spcPts val="0"/>
              </a:spcAft>
            </a:pPr>
            <a:r>
              <a:rPr lang="en-GB" sz="1600" b="1">
                <a:solidFill>
                  <a:srgbClr val="1E2B40"/>
                </a:solidFill>
              </a:rPr>
              <a:t>Redistribute every route</a:t>
            </a:r>
          </a:p>
        </p:txBody>
      </p:sp>
      <p:cxnSp>
        <p:nvCxnSpPr>
          <p:cNvPr id="14" name="Connector 13"/>
          <p:cNvCxnSpPr/>
          <p:nvPr/>
        </p:nvCxnSpPr>
        <p:spPr>
          <a:xfrm>
            <a:off x="3931920" y="3035808"/>
            <a:ext cx="0" cy="96012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251960" y="3081528"/>
            <a:ext cx="6903720" cy="566309"/>
          </a:xfrm>
          <a:prstGeom prst="rect">
            <a:avLst/>
          </a:prstGeom>
          <a:noFill/>
        </p:spPr>
        <p:txBody>
          <a:bodyPr wrap="square" lIns="36576" tIns="36576" rIns="36576" bIns="36576" anchor="t">
            <a:spAutoFit/>
          </a:bodyPr>
          <a:lstStyle/>
          <a:p>
            <a:pPr algn="l">
              <a:spcAft>
                <a:spcPts val="0"/>
              </a:spcAft>
            </a:pPr>
            <a:r>
              <a:rPr lang="en-GB" sz="1600" b="0">
                <a:solidFill>
                  <a:srgbClr val="233A59"/>
                </a:solidFill>
              </a:rPr>
              <a:t>Apply prefix/route-map filters; controlled redistribution prevents leaks and loops.</a:t>
            </a:r>
          </a:p>
        </p:txBody>
      </p:sp>
      <p:cxnSp>
        <p:nvCxnSpPr>
          <p:cNvPr id="16" name="Connector 15"/>
          <p:cNvCxnSpPr/>
          <p:nvPr/>
        </p:nvCxnSpPr>
        <p:spPr>
          <a:xfrm>
            <a:off x="685800" y="4133087"/>
            <a:ext cx="10469880"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85800" y="4379976"/>
            <a:ext cx="3108960" cy="566309"/>
          </a:xfrm>
          <a:prstGeom prst="rect">
            <a:avLst/>
          </a:prstGeom>
          <a:noFill/>
        </p:spPr>
        <p:txBody>
          <a:bodyPr wrap="square" lIns="36576" tIns="36576" rIns="36576" bIns="36576" anchor="t">
            <a:spAutoFit/>
          </a:bodyPr>
          <a:lstStyle/>
          <a:p>
            <a:pPr algn="l">
              <a:spcAft>
                <a:spcPts val="0"/>
              </a:spcAft>
            </a:pPr>
            <a:r>
              <a:rPr lang="en-GB" sz="1600" b="1">
                <a:solidFill>
                  <a:srgbClr val="1E2B40"/>
                </a:solidFill>
              </a:rPr>
              <a:t>Use PBR to hide a return-path problem</a:t>
            </a:r>
          </a:p>
        </p:txBody>
      </p:sp>
      <p:cxnSp>
        <p:nvCxnSpPr>
          <p:cNvPr id="18" name="Connector 17"/>
          <p:cNvCxnSpPr/>
          <p:nvPr/>
        </p:nvCxnSpPr>
        <p:spPr>
          <a:xfrm>
            <a:off x="3931920" y="4334256"/>
            <a:ext cx="0" cy="96012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251960" y="4379976"/>
            <a:ext cx="6903720" cy="822960"/>
          </a:xfrm>
          <a:prstGeom prst="rect">
            <a:avLst/>
          </a:prstGeom>
          <a:noFill/>
        </p:spPr>
        <p:txBody>
          <a:bodyPr wrap="square" lIns="36576" tIns="36576" rIns="36576" bIns="36576" anchor="t">
            <a:spAutoFit/>
          </a:bodyPr>
          <a:lstStyle/>
          <a:p>
            <a:pPr algn="l">
              <a:spcAft>
                <a:spcPts val="0"/>
              </a:spcAft>
            </a:pPr>
            <a:r>
              <a:rPr sz="1600" b="0">
                <a:solidFill>
                  <a:srgbClr val="233A59"/>
                </a:solidFill>
              </a:rPr>
              <a:t>Correct both route directions; PBR only changes selected matching traffic.</a:t>
            </a:r>
          </a:p>
        </p:txBody>
      </p:sp>
      <p:cxnSp>
        <p:nvCxnSpPr>
          <p:cNvPr id="20" name="Connector 19"/>
          <p:cNvCxnSpPr/>
          <p:nvPr/>
        </p:nvCxnSpPr>
        <p:spPr>
          <a:xfrm>
            <a:off x="685800" y="5431536"/>
            <a:ext cx="10469880"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58368" y="5833872"/>
            <a:ext cx="731520" cy="182880"/>
          </a:xfrm>
          <a:prstGeom prst="rect">
            <a:avLst/>
          </a:prstGeom>
          <a:noFill/>
        </p:spPr>
        <p:txBody>
          <a:bodyPr wrap="square" lIns="36576" tIns="36576" rIns="36576" bIns="36576" anchor="t">
            <a:spAutoFit/>
          </a:bodyPr>
          <a:lstStyle/>
          <a:p>
            <a:pPr algn="l">
              <a:spcAft>
                <a:spcPts val="0"/>
              </a:spcAft>
            </a:pPr>
            <a:r>
              <a:rPr sz="1000" b="1">
                <a:solidFill>
                  <a:srgbClr val="E60012"/>
                </a:solidFill>
              </a:rPr>
              <a:t>LESSON</a:t>
            </a:r>
          </a:p>
        </p:txBody>
      </p:sp>
      <p:sp>
        <p:nvSpPr>
          <p:cNvPr id="22" name="TextBox 21"/>
          <p:cNvSpPr txBox="1"/>
          <p:nvPr/>
        </p:nvSpPr>
        <p:spPr>
          <a:xfrm>
            <a:off x="1417320" y="5769864"/>
            <a:ext cx="9875520" cy="384048"/>
          </a:xfrm>
          <a:prstGeom prst="rect">
            <a:avLst/>
          </a:prstGeom>
          <a:noFill/>
        </p:spPr>
        <p:txBody>
          <a:bodyPr wrap="square" lIns="36576" tIns="36576" rIns="36576" bIns="36576" anchor="t">
            <a:spAutoFit/>
          </a:bodyPr>
          <a:lstStyle/>
          <a:p>
            <a:pPr algn="l">
              <a:spcAft>
                <a:spcPts val="0"/>
              </a:spcAft>
            </a:pPr>
            <a:r>
              <a:rPr sz="1300" b="1">
                <a:solidFill>
                  <a:srgbClr val="233A59"/>
                </a:solidFill>
              </a:rPr>
              <a:t>A correction changes a concrete configuration, test or interpretation—not merely the wording used to describe it.</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94</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Troubleshooting workflow: narrow the failed decision</a:t>
            </a:r>
          </a:p>
        </p:txBody>
      </p:sp>
      <p:sp>
        <p:nvSpPr>
          <p:cNvPr id="10" name="Rectangle 9"/>
          <p:cNvSpPr/>
          <p:nvPr/>
        </p:nvSpPr>
        <p:spPr>
          <a:xfrm>
            <a:off x="658368"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1" name="TextBox 10"/>
          <p:cNvSpPr txBox="1">
            <a:spLocks/>
          </p:cNvSpPr>
          <p:nvPr/>
        </p:nvSpPr>
        <p:spPr>
          <a:xfrm>
            <a:off x="768096" y="2020824"/>
            <a:ext cx="411480" cy="219456"/>
          </a:xfrm>
          <a:prstGeom prst="rect">
            <a:avLst/>
          </a:prstGeom>
          <a:noFill/>
        </p:spPr>
        <p:txBody>
          <a:bodyPr wrap="square" lIns="27432" tIns="27432" rIns="27432" bIns="27432" anchor="t">
            <a:spAutoFit/>
          </a:bodyPr>
          <a:lstStyle/>
          <a:p>
            <a:pPr algn="l">
              <a:spcAft>
                <a:spcPts val="0"/>
              </a:spcAft>
            </a:pPr>
            <a:r>
              <a:rPr lang="en-HU" sz="1100" b="1">
                <a:solidFill>
                  <a:srgbClr val="E60012"/>
                </a:solidFill>
              </a:rPr>
              <a:t>01</a:t>
            </a:r>
          </a:p>
        </p:txBody>
      </p:sp>
      <p:sp>
        <p:nvSpPr>
          <p:cNvPr id="12" name="TextBox 11"/>
          <p:cNvSpPr txBox="1">
            <a:spLocks/>
          </p:cNvSpPr>
          <p:nvPr/>
        </p:nvSpPr>
        <p:spPr>
          <a:xfrm>
            <a:off x="768096" y="2340864"/>
            <a:ext cx="1830628" cy="603504"/>
          </a:xfrm>
          <a:prstGeom prst="rect">
            <a:avLst/>
          </a:prstGeom>
          <a:noFill/>
        </p:spPr>
        <p:txBody>
          <a:bodyPr wrap="square" lIns="27432" tIns="27432" rIns="27432" bIns="27432" anchor="ctr">
            <a:spAutoFit/>
          </a:bodyPr>
          <a:lstStyle/>
          <a:p>
            <a:pPr algn="ctr">
              <a:spcAft>
                <a:spcPts val="0"/>
              </a:spcAft>
            </a:pPr>
            <a:r>
              <a:rPr lang="en-GB" sz="1400" b="1">
                <a:solidFill>
                  <a:srgbClr val="1E2B40"/>
                </a:solidFill>
              </a:rPr>
              <a:t>Check physical/IP reachability and PBR scope</a:t>
            </a:r>
          </a:p>
        </p:txBody>
      </p:sp>
      <p:cxnSp>
        <p:nvCxnSpPr>
          <p:cNvPr id="13" name="Connector 12"/>
          <p:cNvCxnSpPr/>
          <p:nvPr/>
        </p:nvCxnSpPr>
        <p:spPr>
          <a:xfrm>
            <a:off x="2708452"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2854756"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5" name="TextBox 14"/>
          <p:cNvSpPr txBox="1">
            <a:spLocks/>
          </p:cNvSpPr>
          <p:nvPr/>
        </p:nvSpPr>
        <p:spPr>
          <a:xfrm>
            <a:off x="2964484" y="2020824"/>
            <a:ext cx="411480" cy="219456"/>
          </a:xfrm>
          <a:prstGeom prst="rect">
            <a:avLst/>
          </a:prstGeom>
          <a:noFill/>
        </p:spPr>
        <p:txBody>
          <a:bodyPr wrap="square" lIns="27432" tIns="27432" rIns="27432" bIns="27432" anchor="t">
            <a:spAutoFit/>
          </a:bodyPr>
          <a:lstStyle/>
          <a:p>
            <a:pPr algn="l">
              <a:spcAft>
                <a:spcPts val="0"/>
              </a:spcAft>
            </a:pPr>
            <a:r>
              <a:rPr lang="en-HU" sz="1100" b="1">
                <a:solidFill>
                  <a:srgbClr val="E60012"/>
                </a:solidFill>
              </a:rPr>
              <a:t>02</a:t>
            </a:r>
          </a:p>
        </p:txBody>
      </p:sp>
      <p:sp>
        <p:nvSpPr>
          <p:cNvPr id="16" name="TextBox 15"/>
          <p:cNvSpPr txBox="1">
            <a:spLocks/>
          </p:cNvSpPr>
          <p:nvPr/>
        </p:nvSpPr>
        <p:spPr>
          <a:xfrm>
            <a:off x="2964484" y="2340864"/>
            <a:ext cx="1830628" cy="603504"/>
          </a:xfrm>
          <a:prstGeom prst="rect">
            <a:avLst/>
          </a:prstGeom>
          <a:noFill/>
        </p:spPr>
        <p:txBody>
          <a:bodyPr wrap="square" lIns="27432" tIns="27432" rIns="27432" bIns="27432" anchor="ctr">
            <a:spAutoFit/>
          </a:bodyPr>
          <a:lstStyle/>
          <a:p>
            <a:pPr algn="ctr">
              <a:spcAft>
                <a:spcPts val="0"/>
              </a:spcAft>
            </a:pPr>
            <a:r>
              <a:rPr lang="en-GB" sz="1400" b="1">
                <a:solidFill>
                  <a:srgbClr val="1E2B40"/>
                </a:solidFill>
              </a:rPr>
              <a:t>Verify OSPF interface/area/timers/authentication/MTU</a:t>
            </a:r>
          </a:p>
        </p:txBody>
      </p:sp>
      <p:cxnSp>
        <p:nvCxnSpPr>
          <p:cNvPr id="17" name="Connector 16"/>
          <p:cNvCxnSpPr/>
          <p:nvPr/>
        </p:nvCxnSpPr>
        <p:spPr>
          <a:xfrm>
            <a:off x="4904841"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5051145"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9" name="TextBox 18"/>
          <p:cNvSpPr txBox="1">
            <a:spLocks/>
          </p:cNvSpPr>
          <p:nvPr/>
        </p:nvSpPr>
        <p:spPr>
          <a:xfrm>
            <a:off x="5160873" y="2020824"/>
            <a:ext cx="411480" cy="219456"/>
          </a:xfrm>
          <a:prstGeom prst="rect">
            <a:avLst/>
          </a:prstGeom>
          <a:noFill/>
        </p:spPr>
        <p:txBody>
          <a:bodyPr wrap="square" lIns="27432" tIns="27432" rIns="27432" bIns="27432" anchor="t">
            <a:spAutoFit/>
          </a:bodyPr>
          <a:lstStyle/>
          <a:p>
            <a:pPr algn="l">
              <a:spcAft>
                <a:spcPts val="0"/>
              </a:spcAft>
            </a:pPr>
            <a:r>
              <a:rPr lang="en-HU" sz="1100" b="1">
                <a:solidFill>
                  <a:srgbClr val="E60012"/>
                </a:solidFill>
              </a:rPr>
              <a:t>03</a:t>
            </a:r>
          </a:p>
        </p:txBody>
      </p:sp>
      <p:sp>
        <p:nvSpPr>
          <p:cNvPr id="20" name="TextBox 19"/>
          <p:cNvSpPr txBox="1">
            <a:spLocks/>
          </p:cNvSpPr>
          <p:nvPr/>
        </p:nvSpPr>
        <p:spPr>
          <a:xfrm>
            <a:off x="5160873" y="2340864"/>
            <a:ext cx="1830628" cy="603504"/>
          </a:xfrm>
          <a:prstGeom prst="rect">
            <a:avLst/>
          </a:prstGeom>
          <a:noFill/>
        </p:spPr>
        <p:txBody>
          <a:bodyPr wrap="square" lIns="27432" tIns="27432" rIns="27432" bIns="27432" anchor="ctr">
            <a:spAutoFit/>
          </a:bodyPr>
          <a:lstStyle/>
          <a:p>
            <a:pPr algn="ctr">
              <a:spcAft>
                <a:spcPts val="0"/>
              </a:spcAft>
            </a:pPr>
            <a:r>
              <a:rPr lang="en-GB" sz="1400" b="1">
                <a:solidFill>
                  <a:srgbClr val="1E2B40"/>
                </a:solidFill>
              </a:rPr>
              <a:t>Inspect neighbor state transition</a:t>
            </a:r>
          </a:p>
        </p:txBody>
      </p:sp>
      <p:cxnSp>
        <p:nvCxnSpPr>
          <p:cNvPr id="21" name="Connector 20"/>
          <p:cNvCxnSpPr/>
          <p:nvPr/>
        </p:nvCxnSpPr>
        <p:spPr>
          <a:xfrm>
            <a:off x="7101230"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7247534"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23" name="TextBox 22"/>
          <p:cNvSpPr txBox="1">
            <a:spLocks/>
          </p:cNvSpPr>
          <p:nvPr/>
        </p:nvSpPr>
        <p:spPr>
          <a:xfrm>
            <a:off x="7357262" y="2020824"/>
            <a:ext cx="411480" cy="219456"/>
          </a:xfrm>
          <a:prstGeom prst="rect">
            <a:avLst/>
          </a:prstGeom>
          <a:noFill/>
        </p:spPr>
        <p:txBody>
          <a:bodyPr wrap="square" lIns="27432" tIns="27432" rIns="27432" bIns="27432" anchor="t">
            <a:spAutoFit/>
          </a:bodyPr>
          <a:lstStyle/>
          <a:p>
            <a:pPr algn="l">
              <a:spcAft>
                <a:spcPts val="0"/>
              </a:spcAft>
            </a:pPr>
            <a:r>
              <a:rPr lang="en-HU" sz="1100" b="1">
                <a:solidFill>
                  <a:srgbClr val="E60012"/>
                </a:solidFill>
              </a:rPr>
              <a:t>04</a:t>
            </a:r>
          </a:p>
        </p:txBody>
      </p:sp>
      <p:sp>
        <p:nvSpPr>
          <p:cNvPr id="24" name="TextBox 23"/>
          <p:cNvSpPr txBox="1">
            <a:spLocks/>
          </p:cNvSpPr>
          <p:nvPr/>
        </p:nvSpPr>
        <p:spPr>
          <a:xfrm>
            <a:off x="7357262" y="2340864"/>
            <a:ext cx="1830628" cy="603504"/>
          </a:xfrm>
          <a:prstGeom prst="rect">
            <a:avLst/>
          </a:prstGeom>
          <a:noFill/>
        </p:spPr>
        <p:txBody>
          <a:bodyPr wrap="square" lIns="27432" tIns="27432" rIns="27432" bIns="27432" anchor="ctr">
            <a:spAutoFit/>
          </a:bodyPr>
          <a:lstStyle/>
          <a:p>
            <a:pPr algn="ctr">
              <a:spcAft>
                <a:spcPts val="0"/>
              </a:spcAft>
            </a:pPr>
            <a:r>
              <a:rPr lang="en-GB" sz="1400" b="1">
                <a:solidFill>
                  <a:srgbClr val="1E2B40"/>
                </a:solidFill>
              </a:rPr>
              <a:t>Inspect LSDB and redistribution filter</a:t>
            </a:r>
          </a:p>
        </p:txBody>
      </p:sp>
      <p:cxnSp>
        <p:nvCxnSpPr>
          <p:cNvPr id="25" name="Connector 24"/>
          <p:cNvCxnSpPr/>
          <p:nvPr/>
        </p:nvCxnSpPr>
        <p:spPr>
          <a:xfrm>
            <a:off x="9297619"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9443923"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553651" y="2020824"/>
            <a:ext cx="411480" cy="219456"/>
          </a:xfrm>
          <a:prstGeom prst="rect">
            <a:avLst/>
          </a:prstGeom>
          <a:noFill/>
        </p:spPr>
        <p:txBody>
          <a:bodyPr wrap="square" lIns="27432" tIns="27432" rIns="27432" bIns="27432" anchor="t">
            <a:spAutoFit/>
          </a:bodyPr>
          <a:lstStyle/>
          <a:p>
            <a:pPr algn="l">
              <a:spcAft>
                <a:spcPts val="0"/>
              </a:spcAft>
            </a:pPr>
            <a:r>
              <a:rPr sz="1100" b="1">
                <a:solidFill>
                  <a:srgbClr val="E60012"/>
                </a:solidFill>
              </a:rPr>
              <a:t>05</a:t>
            </a:r>
          </a:p>
        </p:txBody>
      </p:sp>
      <p:sp>
        <p:nvSpPr>
          <p:cNvPr id="28" name="TextBox 27"/>
          <p:cNvSpPr txBox="1"/>
          <p:nvPr/>
        </p:nvSpPr>
        <p:spPr>
          <a:xfrm>
            <a:off x="9553651" y="2340864"/>
            <a:ext cx="1830628" cy="603504"/>
          </a:xfrm>
          <a:prstGeom prst="rect">
            <a:avLst/>
          </a:prstGeom>
          <a:noFill/>
        </p:spPr>
        <p:txBody>
          <a:bodyPr wrap="square" lIns="27432" tIns="27432" rIns="27432" bIns="27432" anchor="ctr">
            <a:spAutoFit/>
          </a:bodyPr>
          <a:lstStyle/>
          <a:p>
            <a:pPr algn="ctr">
              <a:spcAft>
                <a:spcPts val="0"/>
              </a:spcAft>
            </a:pPr>
            <a:r>
              <a:rPr sz="1400" b="1">
                <a:solidFill>
                  <a:srgbClr val="1E2B40"/>
                </a:solidFill>
              </a:rPr>
              <a:t>Confirm active route, policy and return path</a:t>
            </a:r>
          </a:p>
        </p:txBody>
      </p:sp>
      <p:sp>
        <p:nvSpPr>
          <p:cNvPr id="29" name="TextBox 28"/>
          <p:cNvSpPr txBox="1"/>
          <p:nvPr/>
        </p:nvSpPr>
        <p:spPr>
          <a:xfrm>
            <a:off x="658368" y="3703320"/>
            <a:ext cx="2011680" cy="256032"/>
          </a:xfrm>
          <a:prstGeom prst="rect">
            <a:avLst/>
          </a:prstGeom>
          <a:noFill/>
        </p:spPr>
        <p:txBody>
          <a:bodyPr wrap="square" lIns="27432" tIns="27432" rIns="27432" bIns="27432" anchor="t">
            <a:spAutoFit/>
          </a:bodyPr>
          <a:lstStyle/>
          <a:p>
            <a:pPr algn="l">
              <a:spcAft>
                <a:spcPts val="0"/>
              </a:spcAft>
            </a:pPr>
            <a:r>
              <a:rPr sz="1100" b="1">
                <a:solidFill>
                  <a:srgbClr val="E60012"/>
                </a:solidFill>
              </a:rPr>
              <a:t>What to observe</a:t>
            </a:r>
          </a:p>
        </p:txBody>
      </p:sp>
      <p:sp>
        <p:nvSpPr>
          <p:cNvPr id="30" name="TextBox 29"/>
          <p:cNvSpPr txBox="1"/>
          <p:nvPr/>
        </p:nvSpPr>
        <p:spPr>
          <a:xfrm>
            <a:off x="658368" y="4050791"/>
            <a:ext cx="6446520" cy="1508760"/>
          </a:xfrm>
          <a:prstGeom prst="rect">
            <a:avLst/>
          </a:prstGeom>
          <a:noFill/>
        </p:spPr>
        <p:txBody>
          <a:bodyPr wrap="square" lIns="109728" tIns="73152" rIns="109728" bIns="73152" anchor="t">
            <a:spAutoFit/>
          </a:bodyPr>
          <a:lstStyle/>
          <a:p>
            <a:pPr algn="l">
              <a:lnSpc>
                <a:spcPct val="105000"/>
              </a:lnSpc>
              <a:spcAft>
                <a:spcPts val="700"/>
              </a:spcAft>
              <a:defRPr sz="1600">
                <a:solidFill>
                  <a:srgbClr val="1E2B40"/>
                </a:solidFill>
              </a:defRPr>
            </a:pPr>
            <a:r>
              <a:t>• Inspect neighbor state transition</a:t>
            </a:r>
          </a:p>
          <a:p>
            <a:pPr>
              <a:lnSpc>
                <a:spcPct val="105000"/>
              </a:lnSpc>
              <a:spcAft>
                <a:spcPts val="700"/>
              </a:spcAft>
              <a:defRPr sz="1600">
                <a:solidFill>
                  <a:srgbClr val="1E2B40"/>
                </a:solidFill>
              </a:defRPr>
            </a:pPr>
            <a:r>
              <a:t>• Inspect LSDB and redistribution filter</a:t>
            </a:r>
          </a:p>
          <a:p>
            <a:pPr>
              <a:lnSpc>
                <a:spcPct val="105000"/>
              </a:lnSpc>
              <a:spcAft>
                <a:spcPts val="700"/>
              </a:spcAft>
              <a:defRPr sz="1600">
                <a:solidFill>
                  <a:srgbClr val="1E2B40"/>
                </a:solidFill>
              </a:defRPr>
            </a:pPr>
            <a:r>
              <a:t>• Confirm active route, policy and return path</a:t>
            </a:r>
          </a:p>
        </p:txBody>
      </p:sp>
      <p:cxnSp>
        <p:nvCxnSpPr>
          <p:cNvPr id="31" name="Connector 30"/>
          <p:cNvCxnSpPr/>
          <p:nvPr/>
        </p:nvCxnSpPr>
        <p:spPr>
          <a:xfrm>
            <a:off x="7452360" y="3703320"/>
            <a:ext cx="0" cy="2093976"/>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7772400" y="3703320"/>
            <a:ext cx="292608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INSTRUCTOR DEMONSTRATION</a:t>
            </a:r>
            <a:endParaRPr sz="1100" b="1">
              <a:solidFill>
                <a:srgbClr val="E60012"/>
              </a:solidFill>
            </a:endParaRPr>
          </a:p>
        </p:txBody>
      </p:sp>
      <p:sp>
        <p:nvSpPr>
          <p:cNvPr id="33" name="TextBox 32"/>
          <p:cNvSpPr txBox="1"/>
          <p:nvPr/>
        </p:nvSpPr>
        <p:spPr>
          <a:xfrm>
            <a:off x="7772400" y="4096512"/>
            <a:ext cx="3337560" cy="1234440"/>
          </a:xfrm>
          <a:prstGeom prst="rect">
            <a:avLst/>
          </a:prstGeom>
          <a:noFill/>
        </p:spPr>
        <p:txBody>
          <a:bodyPr wrap="square" lIns="27432" tIns="27432" rIns="27432" bIns="27432" anchor="t">
            <a:spAutoFit/>
          </a:bodyPr>
          <a:lstStyle/>
          <a:p>
            <a:pPr algn="l">
              <a:spcAft>
                <a:spcPts val="0"/>
              </a:spcAft>
            </a:pPr>
            <a:r>
              <a:rPr sz="1500" b="1">
                <a:solidFill>
                  <a:srgbClr val="233A59"/>
                </a:solidFill>
              </a:rPr>
              <a:t>Preserve timestamps and before/after state; stop/reset debug operations.</a:t>
            </a:r>
          </a:p>
        </p:txBody>
      </p:sp>
      <p:sp>
        <p:nvSpPr>
          <p:cNvPr id="34" name="TextBox 33"/>
          <p:cNvSpPr txBox="1"/>
          <p:nvPr/>
        </p:nvSpPr>
        <p:spPr>
          <a:xfrm>
            <a:off x="7772400" y="5440680"/>
            <a:ext cx="3337560" cy="363176"/>
          </a:xfrm>
          <a:prstGeom prst="rect">
            <a:avLst/>
          </a:prstGeom>
          <a:noFill/>
        </p:spPr>
        <p:txBody>
          <a:bodyPr wrap="square" lIns="27432" tIns="27432" rIns="27432" bIns="27432" anchor="t">
            <a:spAutoFit/>
          </a:bodyPr>
          <a:lstStyle/>
          <a:p>
            <a:pPr algn="l">
              <a:spcAft>
                <a:spcPts val="0"/>
              </a:spcAft>
            </a:pPr>
            <a:r>
              <a:rPr lang="en-GB" sz="1000" b="0">
                <a:solidFill>
                  <a:srgbClr val="687385"/>
                </a:solidFill>
              </a:rPr>
              <a:t>If debug is used, filter by the test tuple and disable</a:t>
            </a:r>
            <a:r>
              <a:rPr sz="1000" b="0">
                <a:solidFill>
                  <a:srgbClr val="687385"/>
                </a:solidFill>
              </a:rPr>
              <a:t>/reset </a:t>
            </a:r>
            <a:r>
              <a:rPr lang="en-GB" sz="1000" b="0">
                <a:solidFill>
                  <a:srgbClr val="687385"/>
                </a:solidFill>
              </a:rPr>
              <a:t>it immediately </a:t>
            </a:r>
            <a:r>
              <a:rPr sz="1000" b="0">
                <a:solidFill>
                  <a:srgbClr val="687385"/>
                </a:solidFill>
              </a:rPr>
              <a:t>after </a:t>
            </a:r>
            <a:r>
              <a:rPr lang="en-GB" sz="1000" b="0">
                <a:solidFill>
                  <a:srgbClr val="687385"/>
                </a:solidFill>
              </a:rPr>
              <a:t>capture</a:t>
            </a:r>
            <a:r>
              <a:rPr sz="1000" b="0">
                <a:solidFill>
                  <a:srgbClr val="687385"/>
                </a:solidFill>
              </a:rPr>
              <a:t>.</a:t>
            </a:r>
          </a:p>
        </p:txBody>
      </p:sp>
      <p:sp>
        <p:nvSpPr>
          <p:cNvPr id="35" name="TextBox 34"/>
          <p:cNvSpPr txBox="1"/>
          <p:nvPr/>
        </p:nvSpPr>
        <p:spPr>
          <a:xfrm>
            <a:off x="502920" y="420624"/>
            <a:ext cx="10744200" cy="130805"/>
          </a:xfrm>
          <a:prstGeom prst="rect">
            <a:avLst/>
          </a:prstGeom>
          <a:noFill/>
        </p:spPr>
        <p:txBody>
          <a:bodyPr wrap="square" lIns="0" tIns="0" rIns="0" bIns="0">
            <a:spAutoFit/>
          </a:bodyPr>
          <a:lstStyle/>
          <a:p>
            <a:pPr algn="l"/>
            <a:r>
              <a:rPr lang="en-HU" sz="850" b="1">
                <a:solidFill>
                  <a:srgbClr val="687385"/>
                </a:solidFill>
              </a:rPr>
              <a:t>094</a:t>
            </a:r>
            <a:r>
              <a:rPr sz="850" b="1">
                <a:solidFill>
                  <a:srgbClr val="687385"/>
                </a:solidFill>
              </a:rPr>
              <a:t> • DAY 3 • BLOCK 09 • Route Selection, PBR &amp; OSPF</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95</a:t>
            </a:r>
          </a:p>
        </p:txBody>
      </p:sp>
      <p:sp>
        <p:nvSpPr>
          <p:cNvPr id="9" name="TextBox 8"/>
          <p:cNvSpPr txBox="1">
            <a:spLocks/>
          </p:cNvSpPr>
          <p:nvPr/>
        </p:nvSpPr>
        <p:spPr>
          <a:xfrm>
            <a:off x="502920" y="621792"/>
            <a:ext cx="11109960" cy="455509"/>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Practical handoff: Dynamic Routing across the Overlay</a:t>
            </a:r>
          </a:p>
        </p:txBody>
      </p:sp>
      <p:sp>
        <p:nvSpPr>
          <p:cNvPr id="10" name="TextBox 9"/>
          <p:cNvSpPr txBox="1">
            <a:spLocks/>
          </p:cNvSpPr>
          <p:nvPr/>
        </p:nvSpPr>
        <p:spPr>
          <a:xfrm>
            <a:off x="658368" y="1554480"/>
            <a:ext cx="6583680" cy="3846117"/>
          </a:xfrm>
          <a:prstGeom prst="rect">
            <a:avLst/>
          </a:prstGeom>
          <a:noFill/>
        </p:spPr>
        <p:txBody>
          <a:bodyPr wrap="square" lIns="109728" tIns="73152" rIns="109728" bIns="73152" anchor="t">
            <a:spAutoFit/>
          </a:bodyPr>
          <a:lstStyle/>
          <a:p>
            <a:pPr algn="l">
              <a:lnSpc>
                <a:spcPct val="105000"/>
              </a:lnSpc>
              <a:spcAft>
                <a:spcPts val="800"/>
              </a:spcAft>
              <a:defRPr sz="1700">
                <a:solidFill>
                  <a:srgbClr val="1E2B40"/>
                </a:solidFill>
              </a:defRPr>
            </a:pPr>
            <a:r>
              <a:rPr lang="en-GB"/>
              <a:t>• START / PREREQUISITES: Required preparation: instructor-provided training tunnel is up and isolated from management; router IDs/tunnel IPs supplied.</a:t>
            </a:r>
          </a:p>
          <a:p>
            <a:pPr>
              <a:lnSpc>
                <a:spcPct val="105000"/>
              </a:lnSpc>
              <a:spcAft>
                <a:spcPts val="800"/>
              </a:spcAft>
              <a:defRPr sz="1700">
                <a:solidFill>
                  <a:srgbClr val="1E2B40"/>
                </a:solidFill>
              </a:defRPr>
            </a:pPr>
            <a:r>
              <a:rPr lang="en-GB"/>
              <a:t>• CHANGE / INVESTIGATE: Build/inspect OSPF on that tunnel, advertise Student01/Student02 lab prefixes, and trace neighbor → LSA → route → traffic.</a:t>
            </a:r>
          </a:p>
          <a:p>
            <a:pPr>
              <a:lnSpc>
                <a:spcPct val="105000"/>
              </a:lnSpc>
              <a:spcAft>
                <a:spcPts val="800"/>
              </a:spcAft>
              <a:defRPr sz="1700">
                <a:solidFill>
                  <a:srgbClr val="1E2B40"/>
                </a:solidFill>
              </a:defRPr>
            </a:pPr>
            <a:r>
              <a:rPr lang="en-GB"/>
              <a:t>• EXPECTED RESULT: Neighbor reaches Full and the expected Student pod prefix installs through the training tunnel.</a:t>
            </a:r>
          </a:p>
          <a:p>
            <a:pPr>
              <a:lnSpc>
                <a:spcPct val="105000"/>
              </a:lnSpc>
              <a:spcAft>
                <a:spcPts val="800"/>
              </a:spcAft>
              <a:defRPr sz="1700">
                <a:solidFill>
                  <a:srgbClr val="1E2B40"/>
                </a:solidFill>
              </a:defRPr>
            </a:pPr>
            <a:r>
              <a:rPr lang="en-GB"/>
              <a:t>• CLEANUP / RESET: Remove only student OSPF changes or restore the routing snapshot; do not alter the tunnel or shared access.</a:t>
            </a:r>
          </a:p>
          <a:p>
            <a:pPr>
              <a:lnSpc>
                <a:spcPct val="105000"/>
              </a:lnSpc>
              <a:spcAft>
                <a:spcPts val="800"/>
              </a:spcAft>
              <a:defRPr sz="1700">
                <a:solidFill>
                  <a:srgbClr val="1E2B40"/>
                </a:solidFill>
              </a:defRPr>
            </a:pPr>
            <a:r>
              <a:rPr lang="en-GB"/>
              <a:t>• DELIVERY: Hands-on objective; instructor demonstration fallback if the prepared tunnel is not validated.</a:t>
            </a:r>
          </a:p>
        </p:txBody>
      </p:sp>
      <p:cxnSp>
        <p:nvCxnSpPr>
          <p:cNvPr id="11" name="Connector 10"/>
          <p:cNvCxnSpPr/>
          <p:nvPr/>
        </p:nvCxnSpPr>
        <p:spPr>
          <a:xfrm>
            <a:off x="7452360" y="1600200"/>
            <a:ext cx="0" cy="434340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7790688" y="1627632"/>
            <a:ext cx="342900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PLANNED EXERCISE</a:t>
            </a:r>
          </a:p>
        </p:txBody>
      </p:sp>
      <p:sp>
        <p:nvSpPr>
          <p:cNvPr id="13" name="TextBox 12"/>
          <p:cNvSpPr txBox="1">
            <a:spLocks/>
          </p:cNvSpPr>
          <p:nvPr/>
        </p:nvSpPr>
        <p:spPr>
          <a:xfrm>
            <a:off x="7790688" y="2057400"/>
            <a:ext cx="3337560" cy="1417320"/>
          </a:xfrm>
          <a:prstGeom prst="rect">
            <a:avLst/>
          </a:prstGeom>
          <a:noFill/>
        </p:spPr>
        <p:txBody>
          <a:bodyPr wrap="square" lIns="27432" tIns="27432" rIns="27432" bIns="27432" anchor="t">
            <a:spAutoFit/>
          </a:bodyPr>
          <a:lstStyle/>
          <a:p>
            <a:pPr algn="l">
              <a:spcAft>
                <a:spcPts val="0"/>
              </a:spcAft>
            </a:pPr>
            <a:r>
              <a:rPr lang="en-GB" sz="1700" b="1">
                <a:solidFill>
                  <a:srgbClr val="233A59"/>
                </a:solidFill>
              </a:rPr>
              <a:t>Build/inspect OSPF on that tunnel, advertise Student01/Student02 lab prefixes, and trace neighbor → LSA → route → traffic.</a:t>
            </a:r>
          </a:p>
        </p:txBody>
      </p:sp>
      <p:sp>
        <p:nvSpPr>
          <p:cNvPr id="14" name="TextBox 13"/>
          <p:cNvSpPr txBox="1">
            <a:spLocks/>
          </p:cNvSpPr>
          <p:nvPr/>
        </p:nvSpPr>
        <p:spPr>
          <a:xfrm>
            <a:off x="7790688" y="3822191"/>
            <a:ext cx="18288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EXPECTED RESULT</a:t>
            </a:r>
          </a:p>
        </p:txBody>
      </p:sp>
      <p:sp>
        <p:nvSpPr>
          <p:cNvPr id="15" name="TextBox 14"/>
          <p:cNvSpPr txBox="1">
            <a:spLocks/>
          </p:cNvSpPr>
          <p:nvPr/>
        </p:nvSpPr>
        <p:spPr>
          <a:xfrm>
            <a:off x="7790688" y="4187952"/>
            <a:ext cx="3337560" cy="747897"/>
          </a:xfrm>
          <a:prstGeom prst="rect">
            <a:avLst/>
          </a:prstGeom>
          <a:noFill/>
        </p:spPr>
        <p:txBody>
          <a:bodyPr wrap="square" lIns="27432" tIns="27432" rIns="27432" bIns="27432" anchor="t">
            <a:spAutoFit/>
          </a:bodyPr>
          <a:lstStyle/>
          <a:p>
            <a:pPr algn="l">
              <a:spcAft>
                <a:spcPts val="0"/>
              </a:spcAft>
            </a:pPr>
            <a:r>
              <a:rPr lang="en-GB" sz="1500" b="0">
                <a:solidFill>
                  <a:srgbClr val="1E2B40"/>
                </a:solidFill>
              </a:rPr>
              <a:t>Neighbor reaches Full and the expected Student pod prefix installs through the training tunnel.</a:t>
            </a:r>
          </a:p>
        </p:txBody>
      </p:sp>
      <p:sp>
        <p:nvSpPr>
          <p:cNvPr id="16" name="TextBox 15"/>
          <p:cNvSpPr txBox="1">
            <a:spLocks/>
          </p:cNvSpPr>
          <p:nvPr/>
        </p:nvSpPr>
        <p:spPr>
          <a:xfrm>
            <a:off x="7790688" y="5559552"/>
            <a:ext cx="1097280" cy="209288"/>
          </a:xfrm>
          <a:prstGeom prst="rect">
            <a:avLst/>
          </a:prstGeom>
          <a:noFill/>
        </p:spPr>
        <p:txBody>
          <a:bodyPr wrap="square" lIns="27432" tIns="27432" rIns="27432" bIns="27432" anchor="t">
            <a:spAutoFit/>
          </a:bodyPr>
          <a:lstStyle/>
          <a:p>
            <a:pPr algn="l">
              <a:spcAft>
                <a:spcPts val="0"/>
              </a:spcAft>
            </a:pPr>
            <a:r>
              <a:rPr lang="en-GB" sz="1000" b="1">
                <a:solidFill>
                  <a:srgbClr val="687385"/>
                </a:solidFill>
              </a:rPr>
              <a:t>DELIVERY MODE</a:t>
            </a:r>
          </a:p>
        </p:txBody>
      </p:sp>
      <p:sp>
        <p:nvSpPr>
          <p:cNvPr id="17" name="TextBox 16"/>
          <p:cNvSpPr txBox="1">
            <a:spLocks/>
          </p:cNvSpPr>
          <p:nvPr/>
        </p:nvSpPr>
        <p:spPr>
          <a:xfrm>
            <a:off x="8942832" y="5504688"/>
            <a:ext cx="2258568" cy="270843"/>
          </a:xfrm>
          <a:prstGeom prst="rect">
            <a:avLst/>
          </a:prstGeom>
          <a:noFill/>
        </p:spPr>
        <p:txBody>
          <a:bodyPr wrap="square" lIns="27432" tIns="27432" rIns="27432" bIns="27432" anchor="t">
            <a:spAutoFit/>
          </a:bodyPr>
          <a:lstStyle/>
          <a:p>
            <a:pPr algn="r">
              <a:spcAft>
                <a:spcPts val="0"/>
              </a:spcAft>
            </a:pPr>
            <a:r>
              <a:rPr lang="en-GB" sz="1400" b="0">
                <a:solidFill>
                  <a:srgbClr val="687385"/>
                </a:solidFill>
              </a:rPr>
              <a:t>Hands-on; demo fallback</a:t>
            </a:r>
          </a:p>
        </p:txBody>
      </p:sp>
      <p:sp>
        <p:nvSpPr>
          <p:cNvPr id="18" name="TextBox 17"/>
          <p:cNvSpPr txBox="1">
            <a:spLocks/>
          </p:cNvSpPr>
          <p:nvPr/>
        </p:nvSpPr>
        <p:spPr>
          <a:xfrm>
            <a:off x="502920" y="420624"/>
            <a:ext cx="10744200" cy="130805"/>
          </a:xfrm>
          <a:prstGeom prst="rect">
            <a:avLst/>
          </a:prstGeom>
          <a:noFill/>
        </p:spPr>
        <p:txBody>
          <a:bodyPr wrap="square" lIns="0" tIns="0" rIns="0" bIns="0">
            <a:spAutoFit/>
          </a:bodyPr>
          <a:lstStyle/>
          <a:p>
            <a:pPr algn="l"/>
            <a:r>
              <a:rPr lang="en-GB" sz="850" b="1">
                <a:solidFill>
                  <a:srgbClr val="687385"/>
                </a:solidFill>
              </a:rPr>
              <a:t>095 • DAY 3 • BLOCK 09 • Route Selection, PBR &amp; OSPF</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96</a:t>
            </a:r>
          </a:p>
        </p:txBody>
      </p:sp>
      <p:sp>
        <p:nvSpPr>
          <p:cNvPr id="9" name="TextBox 8"/>
          <p:cNvSpPr txBox="1">
            <a:spLocks/>
          </p:cNvSpPr>
          <p:nvPr/>
        </p:nvSpPr>
        <p:spPr>
          <a:xfrm>
            <a:off x="502920" y="621792"/>
            <a:ext cx="11109960" cy="455509"/>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Knowledge check — explain the result</a:t>
            </a:r>
          </a:p>
        </p:txBody>
      </p:sp>
      <p:sp>
        <p:nvSpPr>
          <p:cNvPr id="10" name="TextBox 9"/>
          <p:cNvSpPr txBox="1">
            <a:spLocks/>
          </p:cNvSpPr>
          <p:nvPr/>
        </p:nvSpPr>
        <p:spPr>
          <a:xfrm>
            <a:off x="658368" y="1600200"/>
            <a:ext cx="5312664" cy="292608"/>
          </a:xfrm>
          <a:prstGeom prst="rect">
            <a:avLst/>
          </a:prstGeom>
          <a:noFill/>
        </p:spPr>
        <p:txBody>
          <a:bodyPr wrap="square" lIns="27432" tIns="27432" rIns="27432" bIns="27432" anchor="t">
            <a:spAutoFit/>
          </a:bodyPr>
          <a:lstStyle/>
          <a:p>
            <a:pPr algn="l">
              <a:spcAft>
                <a:spcPts val="0"/>
              </a:spcAft>
            </a:pPr>
            <a:r>
              <a:rPr lang="en-GB" sz="1300" b="1">
                <a:solidFill>
                  <a:srgbClr val="E60012"/>
                </a:solidFill>
              </a:rPr>
              <a:t>QUESTION 1</a:t>
            </a:r>
          </a:p>
        </p:txBody>
      </p:sp>
      <p:cxnSp>
        <p:nvCxnSpPr>
          <p:cNvPr id="11" name="Connector 10"/>
          <p:cNvCxnSpPr/>
          <p:nvPr/>
        </p:nvCxnSpPr>
        <p:spPr>
          <a:xfrm>
            <a:off x="658368" y="1984248"/>
            <a:ext cx="5312664" cy="0"/>
          </a:xfrm>
          <a:prstGeom prst="line">
            <a:avLst/>
          </a:prstGeom>
          <a:ln w="22860">
            <a:solidFill>
              <a:srgbClr val="E60012"/>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658368" y="2176272"/>
            <a:ext cx="5312664" cy="657039"/>
          </a:xfrm>
          <a:prstGeom prst="rect">
            <a:avLst/>
          </a:prstGeom>
          <a:noFill/>
        </p:spPr>
        <p:txBody>
          <a:bodyPr wrap="square" lIns="109728" tIns="73152" rIns="109728" bIns="73152" anchor="t">
            <a:spAutoFit/>
          </a:bodyPr>
          <a:lstStyle/>
          <a:p>
            <a:pPr algn="l">
              <a:lnSpc>
                <a:spcPct val="105000"/>
              </a:lnSpc>
              <a:spcAft>
                <a:spcPts val="800"/>
              </a:spcAft>
              <a:defRPr sz="1600">
                <a:solidFill>
                  <a:srgbClr val="1E2B40"/>
                </a:solidFill>
              </a:defRPr>
            </a:pPr>
            <a:r>
              <a:rPr lang="en-GB"/>
              <a:t>• Which command output shows route exchange beyond adjacency?</a:t>
            </a:r>
          </a:p>
        </p:txBody>
      </p:sp>
      <p:sp>
        <p:nvSpPr>
          <p:cNvPr id="13" name="TextBox 12"/>
          <p:cNvSpPr txBox="1">
            <a:spLocks/>
          </p:cNvSpPr>
          <p:nvPr/>
        </p:nvSpPr>
        <p:spPr>
          <a:xfrm>
            <a:off x="6227064" y="1600200"/>
            <a:ext cx="5312664" cy="292608"/>
          </a:xfrm>
          <a:prstGeom prst="rect">
            <a:avLst/>
          </a:prstGeom>
          <a:noFill/>
        </p:spPr>
        <p:txBody>
          <a:bodyPr wrap="square" lIns="27432" tIns="27432" rIns="27432" bIns="27432" anchor="t">
            <a:spAutoFit/>
          </a:bodyPr>
          <a:lstStyle/>
          <a:p>
            <a:pPr algn="l">
              <a:spcAft>
                <a:spcPts val="0"/>
              </a:spcAft>
            </a:pPr>
            <a:r>
              <a:rPr lang="en-GB" sz="1300" b="1">
                <a:solidFill>
                  <a:srgbClr val="E60012"/>
                </a:solidFill>
              </a:rPr>
              <a:t>QUESTION 2</a:t>
            </a:r>
          </a:p>
        </p:txBody>
      </p:sp>
      <p:cxnSp>
        <p:nvCxnSpPr>
          <p:cNvPr id="14" name="Connector 13"/>
          <p:cNvCxnSpPr/>
          <p:nvPr/>
        </p:nvCxnSpPr>
        <p:spPr>
          <a:xfrm>
            <a:off x="6227064" y="1984248"/>
            <a:ext cx="5312664" cy="0"/>
          </a:xfrm>
          <a:prstGeom prst="line">
            <a:avLst/>
          </a:prstGeom>
          <a:ln w="22860">
            <a:solidFill>
              <a:srgbClr val="E60012"/>
            </a:solidFill>
          </a:ln>
        </p:spPr>
        <p:style>
          <a:lnRef idx="2">
            <a:schemeClr val="accent1"/>
          </a:lnRef>
          <a:fillRef idx="0">
            <a:schemeClr val="accent1"/>
          </a:fillRef>
          <a:effectRef idx="1">
            <a:schemeClr val="accent1"/>
          </a:effectRef>
          <a:fontRef idx="minor">
            <a:schemeClr val="tx1"/>
          </a:fontRef>
        </p:style>
      </p:cxnSp>
      <p:sp>
        <p:nvSpPr>
          <p:cNvPr id="15" name="TextBox 14"/>
          <p:cNvSpPr txBox="1">
            <a:spLocks/>
          </p:cNvSpPr>
          <p:nvPr/>
        </p:nvSpPr>
        <p:spPr>
          <a:xfrm>
            <a:off x="6227064" y="2176272"/>
            <a:ext cx="5312664" cy="3337560"/>
          </a:xfrm>
          <a:prstGeom prst="rect">
            <a:avLst/>
          </a:prstGeom>
          <a:noFill/>
        </p:spPr>
        <p:txBody>
          <a:bodyPr wrap="square" lIns="109728" tIns="73152" rIns="109728" bIns="73152" anchor="t">
            <a:spAutoFit/>
          </a:bodyPr>
          <a:lstStyle/>
          <a:p>
            <a:pPr algn="l">
              <a:lnSpc>
                <a:spcPct val="105000"/>
              </a:lnSpc>
              <a:spcAft>
                <a:spcPts val="800"/>
              </a:spcAft>
              <a:defRPr sz="1600">
                <a:solidFill>
                  <a:srgbClr val="1E2B40"/>
                </a:solidFill>
              </a:defRPr>
            </a:pPr>
            <a:r>
              <a:rPr lang="en-GB"/>
              <a:t>• Why filter redistribution?</a:t>
            </a:r>
          </a:p>
        </p:txBody>
      </p:sp>
      <p:sp>
        <p:nvSpPr>
          <p:cNvPr id="16" name="TextBox 15"/>
          <p:cNvSpPr txBox="1">
            <a:spLocks/>
          </p:cNvSpPr>
          <p:nvPr/>
        </p:nvSpPr>
        <p:spPr>
          <a:xfrm>
            <a:off x="658368" y="5724144"/>
            <a:ext cx="1234440" cy="224677"/>
          </a:xfrm>
          <a:prstGeom prst="rect">
            <a:avLst/>
          </a:prstGeom>
          <a:noFill/>
        </p:spPr>
        <p:txBody>
          <a:bodyPr wrap="square" lIns="27432" tIns="27432" rIns="27432" bIns="27432" anchor="t">
            <a:spAutoFit/>
          </a:bodyPr>
          <a:lstStyle/>
          <a:p>
            <a:pPr algn="l">
              <a:spcAft>
                <a:spcPts val="0"/>
              </a:spcAft>
            </a:pPr>
            <a:r>
              <a:rPr lang="en-GB" sz="1100" b="1">
                <a:solidFill>
                  <a:srgbClr val="233A59"/>
                </a:solidFill>
              </a:rPr>
              <a:t>KEY DISTINCTION</a:t>
            </a:r>
          </a:p>
        </p:txBody>
      </p:sp>
      <p:sp>
        <p:nvSpPr>
          <p:cNvPr id="17" name="TextBox 16"/>
          <p:cNvSpPr txBox="1">
            <a:spLocks/>
          </p:cNvSpPr>
          <p:nvPr/>
        </p:nvSpPr>
        <p:spPr>
          <a:xfrm>
            <a:off x="1920240" y="5687568"/>
            <a:ext cx="9235440" cy="329184"/>
          </a:xfrm>
          <a:prstGeom prst="rect">
            <a:avLst/>
          </a:prstGeom>
          <a:noFill/>
        </p:spPr>
        <p:txBody>
          <a:bodyPr wrap="square" lIns="27432" tIns="27432" rIns="27432" bIns="27432" anchor="t">
            <a:spAutoFit/>
          </a:bodyPr>
          <a:lstStyle/>
          <a:p>
            <a:pPr algn="l">
              <a:spcAft>
                <a:spcPts val="0"/>
              </a:spcAft>
            </a:pPr>
            <a:r>
              <a:rPr lang="en-GB" sz="1400" b="1">
                <a:solidFill>
                  <a:srgbClr val="233A59"/>
                </a:solidFill>
              </a:rPr>
              <a:t>Answers and teaching rationale are in speaker notes.</a:t>
            </a:r>
          </a:p>
        </p:txBody>
      </p:sp>
      <p:sp>
        <p:nvSpPr>
          <p:cNvPr id="18" name="TextBox 17"/>
          <p:cNvSpPr txBox="1">
            <a:spLocks/>
          </p:cNvSpPr>
          <p:nvPr/>
        </p:nvSpPr>
        <p:spPr>
          <a:xfrm>
            <a:off x="502920" y="420624"/>
            <a:ext cx="10744200" cy="130805"/>
          </a:xfrm>
          <a:prstGeom prst="rect">
            <a:avLst/>
          </a:prstGeom>
          <a:noFill/>
        </p:spPr>
        <p:txBody>
          <a:bodyPr wrap="square" lIns="0" tIns="0" rIns="0" bIns="0">
            <a:spAutoFit/>
          </a:bodyPr>
          <a:lstStyle/>
          <a:p>
            <a:pPr algn="l"/>
            <a:r>
              <a:rPr lang="en-GB" sz="850" b="1">
                <a:solidFill>
                  <a:srgbClr val="687385"/>
                </a:solidFill>
              </a:rPr>
              <a:t>096 • DAY 3 • BLOCK 09 • Route Selection, PBR &amp; OSPF</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101827"/>
        </a:solidFill>
        <a:effectLst/>
      </p:bgPr>
    </p:bg>
    <p:spTree>
      <p:nvGrpSpPr>
        <p:cNvPr id="1" name=""/>
        <p:cNvGrpSpPr/>
        <p:nvPr/>
      </p:nvGrpSpPr>
      <p:grpSpPr>
        <a:xfrm>
          <a:off x="0" y="0"/>
          <a:ext cx="1" cy="1"/>
          <a:chOff x="0" y="0"/>
          <a:chExt cx="1" cy="1"/>
        </a:xfrm>
      </p:grpSpPr>
      <p:sp>
        <p:nvSpPr>
          <p:cNvPr id="2" name="Rectangle 1"/>
          <p:cNvSpPr/>
          <p:nvPr/>
        </p:nvSpPr>
        <p:spPr>
          <a:xfrm>
            <a:off x="0" y="0"/>
            <a:ext cx="146304" cy="6858000"/>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a:spLocks/>
          </p:cNvSpPr>
          <p:nvPr/>
        </p:nvSpPr>
        <p:spPr>
          <a:xfrm>
            <a:off x="658368" y="566928"/>
            <a:ext cx="5212080" cy="256032"/>
          </a:xfrm>
          <a:prstGeom prst="rect">
            <a:avLst/>
          </a:prstGeom>
          <a:noFill/>
        </p:spPr>
        <p:txBody>
          <a:bodyPr wrap="square" lIns="27432" tIns="27432" rIns="27432" bIns="27432" anchor="t">
            <a:spAutoFit/>
          </a:bodyPr>
          <a:lstStyle/>
          <a:p>
            <a:pPr algn="l">
              <a:spcAft>
                <a:spcPts val="0"/>
              </a:spcAft>
            </a:pPr>
            <a:r>
              <a:rPr lang="en-GB" sz="1400" b="1">
                <a:solidFill>
                  <a:srgbClr val="E60012"/>
                </a:solidFill>
              </a:rPr>
              <a:t>DAY 3  •  10:30–12:00</a:t>
            </a:r>
          </a:p>
        </p:txBody>
      </p:sp>
      <p:sp>
        <p:nvSpPr>
          <p:cNvPr id="4" name="TextBox 3"/>
          <p:cNvSpPr txBox="1">
            <a:spLocks/>
          </p:cNvSpPr>
          <p:nvPr/>
        </p:nvSpPr>
        <p:spPr>
          <a:xfrm>
            <a:off x="658368" y="1097280"/>
            <a:ext cx="10515600" cy="914400"/>
          </a:xfrm>
          <a:prstGeom prst="rect">
            <a:avLst/>
          </a:prstGeom>
          <a:noFill/>
        </p:spPr>
        <p:txBody>
          <a:bodyPr wrap="square" lIns="27432" tIns="27432" rIns="27432" bIns="27432" anchor="t">
            <a:spAutoFit/>
          </a:bodyPr>
          <a:lstStyle/>
          <a:p>
            <a:pPr algn="l">
              <a:spcAft>
                <a:spcPts val="0"/>
              </a:spcAft>
            </a:pPr>
            <a:r>
              <a:rPr lang="en-GB" sz="2800" b="1">
                <a:solidFill>
                  <a:srgbClr val="FFFFFF"/>
                </a:solidFill>
              </a:rPr>
              <a:t>BGP exchanges policy-controlled reachability between autonomous systems</a:t>
            </a:r>
          </a:p>
        </p:txBody>
      </p:sp>
      <p:sp>
        <p:nvSpPr>
          <p:cNvPr id="5" name="TextBox 4"/>
          <p:cNvSpPr txBox="1">
            <a:spLocks/>
          </p:cNvSpPr>
          <p:nvPr/>
        </p:nvSpPr>
        <p:spPr>
          <a:xfrm>
            <a:off x="676656" y="2084831"/>
            <a:ext cx="8686800" cy="286232"/>
          </a:xfrm>
          <a:prstGeom prst="rect">
            <a:avLst/>
          </a:prstGeom>
          <a:noFill/>
        </p:spPr>
        <p:txBody>
          <a:bodyPr wrap="square" lIns="27432" tIns="27432" rIns="27432" bIns="27432" anchor="t">
            <a:spAutoFit/>
          </a:bodyPr>
          <a:lstStyle/>
          <a:p>
            <a:pPr algn="l">
              <a:spcAft>
                <a:spcPts val="0"/>
              </a:spcAft>
            </a:pPr>
            <a:r>
              <a:rPr lang="en-GB" sz="1500" b="0">
                <a:solidFill>
                  <a:srgbClr val="C9D1DD"/>
                </a:solidFill>
              </a:rPr>
              <a:t>Small route exchange across the required instructor-provided morning training tunnel</a:t>
            </a:r>
          </a:p>
        </p:txBody>
      </p:sp>
      <p:cxnSp>
        <p:nvCxnSpPr>
          <p:cNvPr id="6" name="Connector 5"/>
          <p:cNvCxnSpPr/>
          <p:nvPr/>
        </p:nvCxnSpPr>
        <p:spPr>
          <a:xfrm>
            <a:off x="676656" y="2578608"/>
            <a:ext cx="10616184" cy="0"/>
          </a:xfrm>
          <a:prstGeom prst="line">
            <a:avLst/>
          </a:prstGeom>
          <a:ln w="12700">
            <a:solidFill>
              <a:srgbClr val="40516A"/>
            </a:solidFill>
          </a:ln>
        </p:spPr>
        <p:style>
          <a:lnRef idx="2">
            <a:schemeClr val="accent1"/>
          </a:lnRef>
          <a:fillRef idx="0">
            <a:schemeClr val="accent1"/>
          </a:fillRef>
          <a:effectRef idx="1">
            <a:schemeClr val="accent1"/>
          </a:effectRef>
          <a:fontRef idx="minor">
            <a:schemeClr val="tx1"/>
          </a:fontRef>
        </p:style>
      </p:cxnSp>
      <p:sp>
        <p:nvSpPr>
          <p:cNvPr id="7" name="TextBox 6"/>
          <p:cNvSpPr txBox="1">
            <a:spLocks/>
          </p:cNvSpPr>
          <p:nvPr/>
        </p:nvSpPr>
        <p:spPr>
          <a:xfrm>
            <a:off x="685800" y="2889504"/>
            <a:ext cx="27432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BGP IN ONE MINUTE</a:t>
            </a:r>
          </a:p>
        </p:txBody>
      </p:sp>
      <p:sp>
        <p:nvSpPr>
          <p:cNvPr id="8" name="TextBox 7"/>
          <p:cNvSpPr txBox="1">
            <a:spLocks/>
          </p:cNvSpPr>
          <p:nvPr/>
        </p:nvSpPr>
        <p:spPr>
          <a:xfrm>
            <a:off x="685800" y="3218688"/>
            <a:ext cx="6035040" cy="2057400"/>
          </a:xfrm>
          <a:prstGeom prst="rect">
            <a:avLst/>
          </a:prstGeom>
          <a:noFill/>
        </p:spPr>
        <p:txBody>
          <a:bodyPr wrap="square" lIns="109728" tIns="73152" rIns="109728" bIns="73152" anchor="t">
            <a:spAutoFit/>
          </a:bodyPr>
          <a:lstStyle/>
          <a:p>
            <a:pPr algn="l">
              <a:lnSpc>
                <a:spcPct val="105000"/>
              </a:lnSpc>
              <a:spcAft>
                <a:spcPts val="500"/>
              </a:spcAft>
              <a:defRPr sz="1600">
                <a:solidFill>
                  <a:srgbClr val="FFFFFF"/>
                </a:solidFill>
              </a:defRPr>
            </a:pPr>
            <a:r>
              <a:rPr lang="en-GB"/>
              <a:t>• An autonomous system (AS) applies one routing policy under an AS number</a:t>
            </a:r>
          </a:p>
          <a:p>
            <a:pPr>
              <a:spcAft>
                <a:spcPts val="500"/>
              </a:spcAft>
              <a:defRPr sz="1600">
                <a:solidFill>
                  <a:srgbClr val="FFFFFF"/>
                </a:solidFill>
              </a:defRPr>
            </a:pPr>
            <a:r>
              <a:rPr lang="en-GB"/>
              <a:t>• eBGP peers use different ASes; iBGP peers share an AS</a:t>
            </a:r>
          </a:p>
          <a:p>
            <a:pPr>
              <a:spcAft>
                <a:spcPts val="500"/>
              </a:spcAft>
              <a:defRPr sz="1600">
                <a:solidFill>
                  <a:srgbClr val="FFFFFF"/>
                </a:solidFill>
              </a:defRPr>
            </a:pPr>
            <a:r>
              <a:rPr lang="en-GB"/>
              <a:t>• TCP/179 and OPEN/KEEPALIVE must succeed before UPDATE messages</a:t>
            </a:r>
          </a:p>
          <a:p>
            <a:pPr>
              <a:spcAft>
                <a:spcPts val="500"/>
              </a:spcAft>
              <a:defRPr sz="1600">
                <a:solidFill>
                  <a:srgbClr val="FFFFFF"/>
                </a:solidFill>
              </a:defRPr>
            </a:pPr>
            <a:r>
              <a:rPr lang="en-GB"/>
              <a:t>• Filters control which prefixes are accepted and advertised</a:t>
            </a:r>
          </a:p>
        </p:txBody>
      </p:sp>
      <p:sp>
        <p:nvSpPr>
          <p:cNvPr id="9" name="TextBox 8"/>
          <p:cNvSpPr txBox="1">
            <a:spLocks/>
          </p:cNvSpPr>
          <p:nvPr/>
        </p:nvSpPr>
        <p:spPr>
          <a:xfrm>
            <a:off x="7315200" y="2889504"/>
            <a:ext cx="36576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PEERING STATE</a:t>
            </a:r>
          </a:p>
        </p:txBody>
      </p:sp>
      <p:sp>
        <p:nvSpPr>
          <p:cNvPr id="10" name="TextBox 9"/>
          <p:cNvSpPr txBox="1">
            <a:spLocks/>
          </p:cNvSpPr>
          <p:nvPr/>
        </p:nvSpPr>
        <p:spPr>
          <a:xfrm>
            <a:off x="7315200" y="3218688"/>
            <a:ext cx="3886200" cy="1143000"/>
          </a:xfrm>
          <a:prstGeom prst="rect">
            <a:avLst/>
          </a:prstGeom>
          <a:noFill/>
        </p:spPr>
        <p:txBody>
          <a:bodyPr wrap="square" lIns="109728" tIns="73152" rIns="109728" bIns="73152" anchor="t">
            <a:spAutoFit/>
          </a:bodyPr>
          <a:lstStyle/>
          <a:p>
            <a:pPr algn="l">
              <a:lnSpc>
                <a:spcPct val="105000"/>
              </a:lnSpc>
              <a:spcAft>
                <a:spcPts val="400"/>
              </a:spcAft>
              <a:defRPr sz="1500">
                <a:solidFill>
                  <a:srgbClr val="FFFFFF"/>
                </a:solidFill>
              </a:defRPr>
            </a:pPr>
            <a:r>
              <a:rPr lang="en-GB"/>
              <a:t>• Route to neighbor and TCP reachability</a:t>
            </a:r>
          </a:p>
          <a:p>
            <a:pPr>
              <a:spcAft>
                <a:spcPts val="400"/>
              </a:spcAft>
              <a:defRPr sz="1500">
                <a:solidFill>
                  <a:srgbClr val="FFFFFF"/>
                </a:solidFill>
              </a:defRPr>
            </a:pPr>
            <a:r>
              <a:rPr lang="en-GB"/>
              <a:t>• State progresses to Established</a:t>
            </a:r>
          </a:p>
          <a:p>
            <a:pPr>
              <a:spcAft>
                <a:spcPts val="400"/>
              </a:spcAft>
              <a:defRPr sz="1500">
                <a:solidFill>
                  <a:srgbClr val="FFFFFF"/>
                </a:solidFill>
              </a:defRPr>
            </a:pPr>
            <a:r>
              <a:rPr lang="en-GB"/>
              <a:t>• Intended prefix is advertised/received</a:t>
            </a:r>
          </a:p>
          <a:p>
            <a:pPr>
              <a:spcAft>
                <a:spcPts val="400"/>
              </a:spcAft>
              <a:defRPr sz="1500">
                <a:solidFill>
                  <a:srgbClr val="FFFFFF"/>
                </a:solidFill>
              </a:defRPr>
            </a:pPr>
            <a:r>
              <a:rPr lang="en-GB"/>
              <a:t>• Best path installs with reachable next hop</a:t>
            </a:r>
          </a:p>
        </p:txBody>
      </p:sp>
      <p:sp>
        <p:nvSpPr>
          <p:cNvPr id="11" name="TextBox 10"/>
          <p:cNvSpPr txBox="1">
            <a:spLocks/>
          </p:cNvSpPr>
          <p:nvPr/>
        </p:nvSpPr>
        <p:spPr>
          <a:xfrm>
            <a:off x="7315200" y="4709160"/>
            <a:ext cx="3931920" cy="685800"/>
          </a:xfrm>
          <a:prstGeom prst="rect">
            <a:avLst/>
          </a:prstGeom>
          <a:noFill/>
        </p:spPr>
        <p:txBody>
          <a:bodyPr wrap="square" lIns="27432" tIns="27432" rIns="27432" bIns="27432" anchor="t">
            <a:spAutoFit/>
          </a:bodyPr>
          <a:lstStyle/>
          <a:p>
            <a:pPr algn="l">
              <a:spcAft>
                <a:spcPts val="0"/>
              </a:spcAft>
            </a:pPr>
            <a:r>
              <a:rPr lang="en-GB" sz="1600" b="1">
                <a:solidFill>
                  <a:srgbClr val="D8E0EA"/>
                </a:solidFill>
              </a:rPr>
              <a:t>Teach ~58 min • reserve ~32 min for guided activity, discussion and debrief</a:t>
            </a:r>
          </a:p>
        </p:txBody>
      </p:sp>
      <p:sp>
        <p:nvSpPr>
          <p:cNvPr id="12" name="TextBox 11"/>
          <p:cNvSpPr txBox="1">
            <a:spLocks/>
          </p:cNvSpPr>
          <p:nvPr/>
        </p:nvSpPr>
        <p:spPr>
          <a:xfrm>
            <a:off x="10424160" y="5715000"/>
            <a:ext cx="731520" cy="363176"/>
          </a:xfrm>
          <a:prstGeom prst="rect">
            <a:avLst/>
          </a:prstGeom>
          <a:noFill/>
        </p:spPr>
        <p:txBody>
          <a:bodyPr wrap="square" lIns="27432" tIns="27432" rIns="27432" bIns="27432" anchor="t">
            <a:spAutoFit/>
          </a:bodyPr>
          <a:lstStyle/>
          <a:p>
            <a:pPr algn="r">
              <a:spcAft>
                <a:spcPts val="0"/>
              </a:spcAft>
            </a:pPr>
            <a:r>
              <a:rPr lang="en-HU" sz="2000" b="1">
                <a:solidFill>
                  <a:srgbClr val="E60012"/>
                </a:solidFill>
              </a:rPr>
              <a:t>097</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p:nvPr/>
        </p:nvSpPr>
        <p:spPr>
          <a:xfrm>
            <a:off x="502920" y="411480"/>
            <a:ext cx="548640" cy="189283"/>
          </a:xfrm>
          <a:prstGeom prst="rect">
            <a:avLst/>
          </a:prstGeom>
          <a:noFill/>
        </p:spPr>
        <p:txBody>
          <a:bodyPr wrap="square" lIns="36576" tIns="36576" rIns="36576" bIns="36576" anchor="t">
            <a:spAutoFit/>
          </a:bodyPr>
          <a:lstStyle/>
          <a:p>
            <a:pPr algn="l">
              <a:spcAft>
                <a:spcPts val="0"/>
              </a:spcAft>
            </a:pPr>
            <a:r>
              <a:rPr lang="en-HU" sz="750" b="1">
                <a:solidFill>
                  <a:srgbClr val="687385"/>
                </a:solidFill>
              </a:rPr>
              <a:t>098</a:t>
            </a:r>
            <a:endParaRPr sz="750" b="1">
              <a:solidFill>
                <a:srgbClr val="687385"/>
              </a:solidFill>
            </a:endParaRPr>
          </a:p>
        </p:txBody>
      </p:sp>
      <p:sp>
        <p:nvSpPr>
          <p:cNvPr id="4" name="TextBox 3"/>
          <p:cNvSpPr txBox="1"/>
          <p:nvPr/>
        </p:nvSpPr>
        <p:spPr>
          <a:xfrm>
            <a:off x="502920" y="621792"/>
            <a:ext cx="11109960" cy="548640"/>
          </a:xfrm>
          <a:prstGeom prst="rect">
            <a:avLst/>
          </a:prstGeom>
          <a:noFill/>
        </p:spPr>
        <p:txBody>
          <a:bodyPr wrap="square" lIns="36576" tIns="36576" rIns="36576" bIns="36576" anchor="t">
            <a:spAutoFit/>
          </a:bodyPr>
          <a:lstStyle/>
          <a:p>
            <a:pPr algn="l">
              <a:spcAft>
                <a:spcPts val="0"/>
              </a:spcAft>
            </a:pPr>
            <a:r>
              <a:rPr sz="2600" b="1">
                <a:solidFill>
                  <a:srgbClr val="1E2B40"/>
                </a:solidFill>
              </a:rPr>
              <a:t>BGP policy controls which reachable prefixes cross an AS boundary</a:t>
            </a:r>
          </a:p>
        </p:txBody>
      </p:sp>
      <p:sp>
        <p:nvSpPr>
          <p:cNvPr id="5" name="TextBox 4"/>
          <p:cNvSpPr txBox="1"/>
          <p:nvPr/>
        </p:nvSpPr>
        <p:spPr>
          <a:xfrm>
            <a:off x="521207" y="1143000"/>
            <a:ext cx="10789920" cy="243143"/>
          </a:xfrm>
          <a:prstGeom prst="rect">
            <a:avLst/>
          </a:prstGeom>
          <a:noFill/>
        </p:spPr>
        <p:txBody>
          <a:bodyPr wrap="square" lIns="36576" tIns="36576" rIns="36576" bIns="36576" anchor="t">
            <a:spAutoFit/>
          </a:bodyPr>
          <a:lstStyle/>
          <a:p>
            <a:pPr algn="l">
              <a:spcAft>
                <a:spcPts val="0"/>
              </a:spcAft>
            </a:pPr>
            <a:r>
              <a:rPr lang="en-GB" sz="1100" b="0">
                <a:solidFill>
                  <a:srgbClr val="687385"/>
                </a:solidFill>
              </a:rPr>
              <a:t>Actual lab prefixes; peer tunnel IPs, ASNs and router IDs remain instructor preparation items</a:t>
            </a:r>
            <a:endParaRPr sz="1100" b="0">
              <a:solidFill>
                <a:srgbClr val="687385"/>
              </a:solidFill>
            </a:endParaRPr>
          </a:p>
        </p:txBody>
      </p:sp>
      <p:cxnSp>
        <p:nvCxnSpPr>
          <p:cNvPr id="6" name="Connector 5"/>
          <p:cNvCxnSpPr/>
          <p:nvPr/>
        </p:nvCxnSpPr>
        <p:spPr>
          <a:xfrm>
            <a:off x="502920" y="6473952"/>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7" name="TextBox 6"/>
          <p:cNvSpPr txBox="1">
            <a:spLocks/>
          </p:cNvSpPr>
          <p:nvPr/>
        </p:nvSpPr>
        <p:spPr>
          <a:xfrm>
            <a:off x="11109960" y="6537960"/>
            <a:ext cx="502920" cy="189283"/>
          </a:xfrm>
          <a:prstGeom prst="rect">
            <a:avLst/>
          </a:prstGeom>
          <a:noFill/>
        </p:spPr>
        <p:txBody>
          <a:bodyPr wrap="square" lIns="36576" tIns="36576" rIns="36576" bIns="36576" anchor="t">
            <a:spAutoFit/>
          </a:bodyPr>
          <a:lstStyle/>
          <a:p>
            <a:pPr algn="r">
              <a:spcAft>
                <a:spcPts val="0"/>
              </a:spcAft>
            </a:pPr>
            <a:r>
              <a:rPr lang="en-HU" sz="750" b="0">
                <a:solidFill>
                  <a:srgbClr val="687385"/>
                </a:solidFill>
              </a:rPr>
              <a:t>98</a:t>
            </a:r>
          </a:p>
        </p:txBody>
      </p:sp>
      <p:sp>
        <p:nvSpPr>
          <p:cNvPr id="8" name="Rectangle 7"/>
          <p:cNvSpPr>
            <a:spLocks/>
          </p:cNvSpPr>
          <p:nvPr/>
        </p:nvSpPr>
        <p:spPr>
          <a:xfrm>
            <a:off x="594360" y="1828800"/>
            <a:ext cx="2148840"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9" name="TextBox 8"/>
          <p:cNvSpPr txBox="1">
            <a:spLocks/>
          </p:cNvSpPr>
          <p:nvPr/>
        </p:nvSpPr>
        <p:spPr>
          <a:xfrm>
            <a:off x="667512" y="1947672"/>
            <a:ext cx="2002536" cy="535531"/>
          </a:xfrm>
          <a:prstGeom prst="rect">
            <a:avLst/>
          </a:prstGeom>
          <a:noFill/>
        </p:spPr>
        <p:txBody>
          <a:bodyPr wrap="square" lIns="36576" tIns="36576" rIns="36576" bIns="36576" anchor="t">
            <a:spAutoFit/>
          </a:bodyPr>
          <a:lstStyle/>
          <a:p>
            <a:pPr algn="ctr">
              <a:spcAft>
                <a:spcPts val="0"/>
              </a:spcAft>
            </a:pPr>
            <a:r>
              <a:rPr lang="en-GB" sz="1500" b="1">
                <a:solidFill>
                  <a:srgbClr val="FFFFFF"/>
                </a:solidFill>
              </a:rPr>
              <a:t>STUDENT01 • AS &lt;S01 AS&gt;</a:t>
            </a:r>
          </a:p>
        </p:txBody>
      </p:sp>
      <p:sp>
        <p:nvSpPr>
          <p:cNvPr id="10" name="TextBox 9"/>
          <p:cNvSpPr txBox="1">
            <a:spLocks/>
          </p:cNvSpPr>
          <p:nvPr/>
        </p:nvSpPr>
        <p:spPr>
          <a:xfrm>
            <a:off x="667512" y="2304288"/>
            <a:ext cx="2002536" cy="227755"/>
          </a:xfrm>
          <a:prstGeom prst="rect">
            <a:avLst/>
          </a:prstGeom>
          <a:noFill/>
        </p:spPr>
        <p:txBody>
          <a:bodyPr wrap="square" lIns="36576" tIns="36576" rIns="36576" bIns="36576" anchor="t">
            <a:spAutoFit/>
          </a:bodyPr>
          <a:lstStyle/>
          <a:p>
            <a:pPr algn="ctr">
              <a:spcAft>
                <a:spcPts val="0"/>
              </a:spcAft>
            </a:pPr>
            <a:r>
              <a:rPr lang="en-GB" sz="1000" b="0">
                <a:solidFill>
                  <a:srgbClr val="D8E0EA"/>
                </a:solidFill>
              </a:rPr>
              <a:t>advertises 10.1.10.0/24</a:t>
            </a:r>
          </a:p>
        </p:txBody>
      </p:sp>
      <p:sp>
        <p:nvSpPr>
          <p:cNvPr id="11" name="Right Arrow 10"/>
          <p:cNvSpPr>
            <a:spLocks/>
          </p:cNvSpPr>
          <p:nvPr/>
        </p:nvSpPr>
        <p:spPr>
          <a:xfrm>
            <a:off x="2788920" y="2267712"/>
            <a:ext cx="1143000" cy="201168"/>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2" name="TextBox 11"/>
          <p:cNvSpPr txBox="1"/>
          <p:nvPr/>
        </p:nvSpPr>
        <p:spPr>
          <a:xfrm>
            <a:off x="2788920" y="2011680"/>
            <a:ext cx="1143000" cy="228600"/>
          </a:xfrm>
          <a:prstGeom prst="rect">
            <a:avLst/>
          </a:prstGeom>
          <a:noFill/>
        </p:spPr>
        <p:txBody>
          <a:bodyPr wrap="square" lIns="36576" tIns="36576" rIns="36576" bIns="36576" anchor="t">
            <a:spAutoFit/>
          </a:bodyPr>
          <a:lstStyle/>
          <a:p>
            <a:pPr algn="ctr">
              <a:spcAft>
                <a:spcPts val="0"/>
              </a:spcAft>
            </a:pPr>
            <a:r>
              <a:rPr sz="900" b="1">
                <a:solidFill>
                  <a:srgbClr val="687385"/>
                </a:solidFill>
              </a:rPr>
              <a:t>eBGP TCP/179</a:t>
            </a:r>
          </a:p>
        </p:txBody>
      </p:sp>
      <p:sp>
        <p:nvSpPr>
          <p:cNvPr id="13" name="Rectangle 12"/>
          <p:cNvSpPr/>
          <p:nvPr/>
        </p:nvSpPr>
        <p:spPr>
          <a:xfrm>
            <a:off x="3977639" y="1828800"/>
            <a:ext cx="2148840" cy="1143000"/>
          </a:xfrm>
          <a:prstGeom prst="rect">
            <a:avLst/>
          </a:prstGeom>
          <a:solidFill>
            <a:srgbClr val="233A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4" name="TextBox 13"/>
          <p:cNvSpPr txBox="1">
            <a:spLocks/>
          </p:cNvSpPr>
          <p:nvPr/>
        </p:nvSpPr>
        <p:spPr>
          <a:xfrm>
            <a:off x="4050791" y="1947672"/>
            <a:ext cx="2002536" cy="304699"/>
          </a:xfrm>
          <a:prstGeom prst="rect">
            <a:avLst/>
          </a:prstGeom>
          <a:noFill/>
        </p:spPr>
        <p:txBody>
          <a:bodyPr wrap="square" lIns="36576" tIns="36576" rIns="36576" bIns="36576" anchor="t">
            <a:spAutoFit/>
          </a:bodyPr>
          <a:lstStyle/>
          <a:p>
            <a:pPr algn="ctr">
              <a:spcAft>
                <a:spcPts val="0"/>
              </a:spcAft>
            </a:pPr>
            <a:r>
              <a:rPr lang="en-GB" sz="1500" b="1">
                <a:solidFill>
                  <a:srgbClr val="FFFFFF"/>
                </a:solidFill>
              </a:rPr>
              <a:t>TRAINING TUNNEL</a:t>
            </a:r>
          </a:p>
        </p:txBody>
      </p:sp>
      <p:sp>
        <p:nvSpPr>
          <p:cNvPr id="15" name="TextBox 14"/>
          <p:cNvSpPr txBox="1"/>
          <p:nvPr/>
        </p:nvSpPr>
        <p:spPr>
          <a:xfrm>
            <a:off x="4050791" y="2304288"/>
            <a:ext cx="2002536" cy="227755"/>
          </a:xfrm>
          <a:prstGeom prst="rect">
            <a:avLst/>
          </a:prstGeom>
          <a:noFill/>
        </p:spPr>
        <p:txBody>
          <a:bodyPr wrap="square" lIns="36576" tIns="36576" rIns="36576" bIns="36576" anchor="t">
            <a:spAutoFit/>
          </a:bodyPr>
          <a:lstStyle/>
          <a:p>
            <a:pPr algn="ctr">
              <a:spcAft>
                <a:spcPts val="0"/>
              </a:spcAft>
            </a:pPr>
            <a:r>
              <a:rPr lang="en-GB" sz="1000" b="0">
                <a:solidFill>
                  <a:srgbClr val="D8E0EA"/>
                </a:solidFill>
              </a:rPr>
              <a:t>preconfigured / isolated</a:t>
            </a:r>
            <a:endParaRPr sz="1000" b="0">
              <a:solidFill>
                <a:srgbClr val="D8E0EA"/>
              </a:solidFill>
            </a:endParaRPr>
          </a:p>
        </p:txBody>
      </p:sp>
      <p:sp>
        <p:nvSpPr>
          <p:cNvPr id="16" name="Right Arrow 15"/>
          <p:cNvSpPr/>
          <p:nvPr/>
        </p:nvSpPr>
        <p:spPr>
          <a:xfrm>
            <a:off x="6172200" y="2267712"/>
            <a:ext cx="1143000" cy="201168"/>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7" name="TextBox 16"/>
          <p:cNvSpPr txBox="1">
            <a:spLocks/>
          </p:cNvSpPr>
          <p:nvPr/>
        </p:nvSpPr>
        <p:spPr>
          <a:xfrm>
            <a:off x="6172200" y="2011680"/>
            <a:ext cx="1143000" cy="212366"/>
          </a:xfrm>
          <a:prstGeom prst="rect">
            <a:avLst/>
          </a:prstGeom>
          <a:noFill/>
        </p:spPr>
        <p:txBody>
          <a:bodyPr wrap="square" lIns="36576" tIns="36576" rIns="36576" bIns="36576" anchor="t">
            <a:spAutoFit/>
          </a:bodyPr>
          <a:lstStyle/>
          <a:p>
            <a:pPr algn="ctr">
              <a:spcAft>
                <a:spcPts val="0"/>
              </a:spcAft>
            </a:pPr>
            <a:r>
              <a:rPr lang="en-GB" sz="900" b="1">
                <a:solidFill>
                  <a:srgbClr val="687385"/>
                </a:solidFill>
              </a:rPr>
              <a:t>accepted prefix</a:t>
            </a:r>
          </a:p>
        </p:txBody>
      </p:sp>
      <p:sp>
        <p:nvSpPr>
          <p:cNvPr id="18" name="Rectangle 17"/>
          <p:cNvSpPr>
            <a:spLocks/>
          </p:cNvSpPr>
          <p:nvPr/>
        </p:nvSpPr>
        <p:spPr>
          <a:xfrm>
            <a:off x="7360920" y="1828800"/>
            <a:ext cx="2148840"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9" name="TextBox 18"/>
          <p:cNvSpPr txBox="1">
            <a:spLocks/>
          </p:cNvSpPr>
          <p:nvPr/>
        </p:nvSpPr>
        <p:spPr>
          <a:xfrm>
            <a:off x="7434072" y="1947672"/>
            <a:ext cx="2002536" cy="535531"/>
          </a:xfrm>
          <a:prstGeom prst="rect">
            <a:avLst/>
          </a:prstGeom>
          <a:noFill/>
        </p:spPr>
        <p:txBody>
          <a:bodyPr wrap="square" lIns="36576" tIns="36576" rIns="36576" bIns="36576" anchor="t">
            <a:spAutoFit/>
          </a:bodyPr>
          <a:lstStyle/>
          <a:p>
            <a:pPr algn="ctr">
              <a:spcAft>
                <a:spcPts val="0"/>
              </a:spcAft>
            </a:pPr>
            <a:r>
              <a:rPr lang="en-GB" sz="1500" b="1">
                <a:solidFill>
                  <a:srgbClr val="FFFFFF"/>
                </a:solidFill>
              </a:rPr>
              <a:t>STUDENT02 • AS &lt;S02 AS&gt;</a:t>
            </a:r>
          </a:p>
        </p:txBody>
      </p:sp>
      <p:sp>
        <p:nvSpPr>
          <p:cNvPr id="20" name="TextBox 19"/>
          <p:cNvSpPr txBox="1">
            <a:spLocks/>
          </p:cNvSpPr>
          <p:nvPr/>
        </p:nvSpPr>
        <p:spPr>
          <a:xfrm>
            <a:off x="7434072" y="2304288"/>
            <a:ext cx="2002536" cy="227755"/>
          </a:xfrm>
          <a:prstGeom prst="rect">
            <a:avLst/>
          </a:prstGeom>
          <a:noFill/>
        </p:spPr>
        <p:txBody>
          <a:bodyPr wrap="square" lIns="36576" tIns="36576" rIns="36576" bIns="36576" anchor="t">
            <a:spAutoFit/>
          </a:bodyPr>
          <a:lstStyle/>
          <a:p>
            <a:pPr algn="ctr">
              <a:spcAft>
                <a:spcPts val="0"/>
              </a:spcAft>
            </a:pPr>
            <a:r>
              <a:rPr lang="en-GB" sz="1000" b="0">
                <a:solidFill>
                  <a:srgbClr val="D8E0EA"/>
                </a:solidFill>
              </a:rPr>
              <a:t>receives UPDATE</a:t>
            </a:r>
          </a:p>
        </p:txBody>
      </p:sp>
      <p:sp>
        <p:nvSpPr>
          <p:cNvPr id="21" name="TextBox 20"/>
          <p:cNvSpPr txBox="1">
            <a:spLocks/>
          </p:cNvSpPr>
          <p:nvPr/>
        </p:nvSpPr>
        <p:spPr>
          <a:xfrm>
            <a:off x="731520" y="3429000"/>
            <a:ext cx="3017520" cy="243143"/>
          </a:xfrm>
          <a:prstGeom prst="rect">
            <a:avLst/>
          </a:prstGeom>
          <a:noFill/>
        </p:spPr>
        <p:txBody>
          <a:bodyPr wrap="square" lIns="36576" tIns="36576" rIns="36576" bIns="36576" anchor="t">
            <a:spAutoFit/>
          </a:bodyPr>
          <a:lstStyle/>
          <a:p>
            <a:pPr algn="l">
              <a:spcAft>
                <a:spcPts val="0"/>
              </a:spcAft>
            </a:pPr>
            <a:r>
              <a:rPr lang="en-GB" sz="1100" b="1">
                <a:solidFill>
                  <a:srgbClr val="E60012"/>
                </a:solidFill>
              </a:rPr>
              <a:t>OUTBOUND FILTER AT STUDENT01</a:t>
            </a:r>
          </a:p>
        </p:txBody>
      </p:sp>
      <p:sp>
        <p:nvSpPr>
          <p:cNvPr id="22" name="TextBox 21"/>
          <p:cNvSpPr txBox="1"/>
          <p:nvPr/>
        </p:nvSpPr>
        <p:spPr>
          <a:xfrm>
            <a:off x="731520" y="3749039"/>
            <a:ext cx="3474720" cy="597087"/>
          </a:xfrm>
          <a:prstGeom prst="rect">
            <a:avLst/>
          </a:prstGeom>
          <a:noFill/>
        </p:spPr>
        <p:txBody>
          <a:bodyPr wrap="square" lIns="36576" tIns="36576" rIns="36576" bIns="36576" anchor="t">
            <a:spAutoFit/>
          </a:bodyPr>
          <a:lstStyle/>
          <a:p>
            <a:pPr algn="l">
              <a:spcAft>
                <a:spcPts val="0"/>
              </a:spcAft>
            </a:pPr>
            <a:r>
              <a:rPr sz="1600" b="1">
                <a:solidFill>
                  <a:srgbClr val="233A59"/>
                </a:solidFill>
              </a:rPr>
              <a:t>permit </a:t>
            </a:r>
            <a:r>
              <a:rPr lang="en-GB" sz="1600" b="1">
                <a:solidFill>
                  <a:srgbClr val="233A59"/>
                </a:solidFill>
              </a:rPr>
              <a:t>10.1.10.0/24</a:t>
            </a:r>
          </a:p>
          <a:p>
            <a:r>
              <a:rPr lang="en-GB"/>
              <a:t>deny all other prefixes</a:t>
            </a:r>
          </a:p>
        </p:txBody>
      </p:sp>
      <p:sp>
        <p:nvSpPr>
          <p:cNvPr id="23" name="TextBox 22"/>
          <p:cNvSpPr txBox="1"/>
          <p:nvPr/>
        </p:nvSpPr>
        <p:spPr>
          <a:xfrm>
            <a:off x="4663440" y="3429000"/>
            <a:ext cx="2743200" cy="228600"/>
          </a:xfrm>
          <a:prstGeom prst="rect">
            <a:avLst/>
          </a:prstGeom>
          <a:noFill/>
        </p:spPr>
        <p:txBody>
          <a:bodyPr wrap="square" lIns="36576" tIns="36576" rIns="36576" bIns="36576" anchor="t">
            <a:spAutoFit/>
          </a:bodyPr>
          <a:lstStyle/>
          <a:p>
            <a:pPr algn="l">
              <a:spcAft>
                <a:spcPts val="0"/>
              </a:spcAft>
            </a:pPr>
            <a:r>
              <a:rPr sz="1100" b="1">
                <a:solidFill>
                  <a:srgbClr val="E60012"/>
                </a:solidFill>
              </a:rPr>
              <a:t>CONTROL → FORWARDING</a:t>
            </a:r>
          </a:p>
        </p:txBody>
      </p:sp>
      <p:sp>
        <p:nvSpPr>
          <p:cNvPr id="24" name="TextBox 23"/>
          <p:cNvSpPr txBox="1"/>
          <p:nvPr/>
        </p:nvSpPr>
        <p:spPr>
          <a:xfrm>
            <a:off x="4663440" y="3749039"/>
            <a:ext cx="2926080" cy="246888"/>
          </a:xfrm>
          <a:prstGeom prst="rect">
            <a:avLst/>
          </a:prstGeom>
          <a:noFill/>
        </p:spPr>
        <p:txBody>
          <a:bodyPr wrap="square" lIns="36576" tIns="36576" rIns="36576" bIns="36576" anchor="t">
            <a:spAutoFit/>
          </a:bodyPr>
          <a:lstStyle/>
          <a:p>
            <a:pPr algn="l">
              <a:spcAft>
                <a:spcPts val="0"/>
              </a:spcAft>
            </a:pPr>
            <a:r>
              <a:rPr sz="1300" b="1">
                <a:solidFill>
                  <a:srgbClr val="1E2B40"/>
                </a:solidFill>
              </a:rPr>
              <a:t>1  Prefix received</a:t>
            </a:r>
          </a:p>
        </p:txBody>
      </p:sp>
      <p:sp>
        <p:nvSpPr>
          <p:cNvPr id="25" name="TextBox 24"/>
          <p:cNvSpPr txBox="1"/>
          <p:nvPr/>
        </p:nvSpPr>
        <p:spPr>
          <a:xfrm>
            <a:off x="4663440" y="4041648"/>
            <a:ext cx="2926080" cy="246888"/>
          </a:xfrm>
          <a:prstGeom prst="rect">
            <a:avLst/>
          </a:prstGeom>
          <a:noFill/>
        </p:spPr>
        <p:txBody>
          <a:bodyPr wrap="square" lIns="36576" tIns="36576" rIns="36576" bIns="36576" anchor="t">
            <a:spAutoFit/>
          </a:bodyPr>
          <a:lstStyle/>
          <a:p>
            <a:pPr algn="l">
              <a:spcAft>
                <a:spcPts val="0"/>
              </a:spcAft>
            </a:pPr>
            <a:r>
              <a:rPr sz="1300" b="1">
                <a:solidFill>
                  <a:srgbClr val="1E2B40"/>
                </a:solidFill>
              </a:rPr>
              <a:t>2  Policy permits</a:t>
            </a:r>
          </a:p>
        </p:txBody>
      </p:sp>
      <p:sp>
        <p:nvSpPr>
          <p:cNvPr id="26" name="TextBox 25"/>
          <p:cNvSpPr txBox="1"/>
          <p:nvPr/>
        </p:nvSpPr>
        <p:spPr>
          <a:xfrm>
            <a:off x="4663440" y="4334255"/>
            <a:ext cx="2926080" cy="246888"/>
          </a:xfrm>
          <a:prstGeom prst="rect">
            <a:avLst/>
          </a:prstGeom>
          <a:noFill/>
        </p:spPr>
        <p:txBody>
          <a:bodyPr wrap="square" lIns="36576" tIns="36576" rIns="36576" bIns="36576" anchor="t">
            <a:spAutoFit/>
          </a:bodyPr>
          <a:lstStyle/>
          <a:p>
            <a:pPr algn="l">
              <a:spcAft>
                <a:spcPts val="0"/>
              </a:spcAft>
            </a:pPr>
            <a:r>
              <a:rPr sz="1300" b="1">
                <a:solidFill>
                  <a:srgbClr val="1E2B40"/>
                </a:solidFill>
              </a:rPr>
              <a:t>3  Best path selected</a:t>
            </a:r>
          </a:p>
        </p:txBody>
      </p:sp>
      <p:sp>
        <p:nvSpPr>
          <p:cNvPr id="27" name="TextBox 26"/>
          <p:cNvSpPr txBox="1"/>
          <p:nvPr/>
        </p:nvSpPr>
        <p:spPr>
          <a:xfrm>
            <a:off x="4663440" y="4626864"/>
            <a:ext cx="2926080" cy="246888"/>
          </a:xfrm>
          <a:prstGeom prst="rect">
            <a:avLst/>
          </a:prstGeom>
          <a:noFill/>
        </p:spPr>
        <p:txBody>
          <a:bodyPr wrap="square" lIns="36576" tIns="36576" rIns="36576" bIns="36576" anchor="t">
            <a:spAutoFit/>
          </a:bodyPr>
          <a:lstStyle/>
          <a:p>
            <a:pPr algn="l">
              <a:spcAft>
                <a:spcPts val="0"/>
              </a:spcAft>
            </a:pPr>
            <a:r>
              <a:rPr sz="1300" b="1">
                <a:solidFill>
                  <a:srgbClr val="1E2B40"/>
                </a:solidFill>
              </a:rPr>
              <a:t>4  Next hop reachable</a:t>
            </a:r>
          </a:p>
        </p:txBody>
      </p:sp>
      <p:sp>
        <p:nvSpPr>
          <p:cNvPr id="28" name="TextBox 27"/>
          <p:cNvSpPr txBox="1"/>
          <p:nvPr/>
        </p:nvSpPr>
        <p:spPr>
          <a:xfrm>
            <a:off x="4663440" y="4919472"/>
            <a:ext cx="2926080" cy="246888"/>
          </a:xfrm>
          <a:prstGeom prst="rect">
            <a:avLst/>
          </a:prstGeom>
          <a:noFill/>
        </p:spPr>
        <p:txBody>
          <a:bodyPr wrap="square" lIns="36576" tIns="36576" rIns="36576" bIns="36576" anchor="t">
            <a:spAutoFit/>
          </a:bodyPr>
          <a:lstStyle/>
          <a:p>
            <a:pPr algn="l">
              <a:spcAft>
                <a:spcPts val="0"/>
              </a:spcAft>
            </a:pPr>
            <a:r>
              <a:rPr sz="1300" b="1">
                <a:solidFill>
                  <a:srgbClr val="1E2B40"/>
                </a:solidFill>
              </a:rPr>
              <a:t>5  Route installed</a:t>
            </a:r>
          </a:p>
        </p:txBody>
      </p:sp>
      <p:sp>
        <p:nvSpPr>
          <p:cNvPr id="29" name="TextBox 28"/>
          <p:cNvSpPr txBox="1"/>
          <p:nvPr/>
        </p:nvSpPr>
        <p:spPr>
          <a:xfrm>
            <a:off x="8229600" y="3429000"/>
            <a:ext cx="2011680" cy="228600"/>
          </a:xfrm>
          <a:prstGeom prst="rect">
            <a:avLst/>
          </a:prstGeom>
          <a:noFill/>
        </p:spPr>
        <p:txBody>
          <a:bodyPr wrap="square" lIns="36576" tIns="36576" rIns="36576" bIns="36576" anchor="t">
            <a:spAutoFit/>
          </a:bodyPr>
          <a:lstStyle/>
          <a:p>
            <a:pPr algn="l">
              <a:spcAft>
                <a:spcPts val="0"/>
              </a:spcAft>
            </a:pPr>
            <a:r>
              <a:rPr sz="1100" b="1">
                <a:solidFill>
                  <a:srgbClr val="E60012"/>
                </a:solidFill>
              </a:rPr>
              <a:t>INSTALLED ROUTE</a:t>
            </a:r>
          </a:p>
        </p:txBody>
      </p:sp>
      <p:sp>
        <p:nvSpPr>
          <p:cNvPr id="30" name="TextBox 29"/>
          <p:cNvSpPr txBox="1"/>
          <p:nvPr/>
        </p:nvSpPr>
        <p:spPr>
          <a:xfrm>
            <a:off x="8229600" y="3749039"/>
            <a:ext cx="2651760" cy="566309"/>
          </a:xfrm>
          <a:prstGeom prst="rect">
            <a:avLst/>
          </a:prstGeom>
          <a:noFill/>
        </p:spPr>
        <p:txBody>
          <a:bodyPr wrap="square" lIns="36576" tIns="36576" rIns="36576" bIns="36576" anchor="t">
            <a:spAutoFit/>
          </a:bodyPr>
          <a:lstStyle/>
          <a:p>
            <a:pPr algn="l">
              <a:spcAft>
                <a:spcPts val="0"/>
              </a:spcAft>
            </a:pPr>
            <a:r>
              <a:rPr sz="1600" b="1">
                <a:solidFill>
                  <a:srgbClr val="233A59"/>
                </a:solidFill>
              </a:rPr>
              <a:t>B </a:t>
            </a:r>
            <a:r>
              <a:rPr lang="en-HU" sz="1600" b="1">
                <a:solidFill>
                  <a:srgbClr val="233A59"/>
                </a:solidFill>
              </a:rPr>
              <a:t>10.1.10.0/24 </a:t>
            </a:r>
            <a:r>
              <a:rPr sz="1600" b="1">
                <a:solidFill>
                  <a:srgbClr val="233A59"/>
                </a:solidFill>
              </a:rPr>
              <a:t>via &lt;</a:t>
            </a:r>
            <a:r>
              <a:rPr lang="en-GB" sz="1600" b="1">
                <a:solidFill>
                  <a:srgbClr val="233A59"/>
                </a:solidFill>
              </a:rPr>
              <a:t>training-tunnel</a:t>
            </a:r>
            <a:r>
              <a:rPr sz="1600" b="1">
                <a:solidFill>
                  <a:srgbClr val="233A59"/>
                </a:solidFill>
              </a:rPr>
              <a:t> next hop&gt;</a:t>
            </a:r>
          </a:p>
        </p:txBody>
      </p:sp>
      <p:sp>
        <p:nvSpPr>
          <p:cNvPr id="31" name="TextBox 30"/>
          <p:cNvSpPr txBox="1"/>
          <p:nvPr/>
        </p:nvSpPr>
        <p:spPr>
          <a:xfrm>
            <a:off x="658368" y="5833872"/>
            <a:ext cx="731520" cy="182880"/>
          </a:xfrm>
          <a:prstGeom prst="rect">
            <a:avLst/>
          </a:prstGeom>
          <a:noFill/>
        </p:spPr>
        <p:txBody>
          <a:bodyPr wrap="square" lIns="36576" tIns="36576" rIns="36576" bIns="36576" anchor="t">
            <a:spAutoFit/>
          </a:bodyPr>
          <a:lstStyle/>
          <a:p>
            <a:pPr algn="l">
              <a:spcAft>
                <a:spcPts val="0"/>
              </a:spcAft>
            </a:pPr>
            <a:r>
              <a:rPr sz="1000" b="1">
                <a:solidFill>
                  <a:srgbClr val="E60012"/>
                </a:solidFill>
              </a:rPr>
              <a:t>LESSON</a:t>
            </a:r>
          </a:p>
        </p:txBody>
      </p:sp>
      <p:sp>
        <p:nvSpPr>
          <p:cNvPr id="32" name="TextBox 31"/>
          <p:cNvSpPr txBox="1"/>
          <p:nvPr/>
        </p:nvSpPr>
        <p:spPr>
          <a:xfrm>
            <a:off x="1417320" y="5769864"/>
            <a:ext cx="9875520" cy="384048"/>
          </a:xfrm>
          <a:prstGeom prst="rect">
            <a:avLst/>
          </a:prstGeom>
          <a:noFill/>
        </p:spPr>
        <p:txBody>
          <a:bodyPr wrap="square" lIns="36576" tIns="36576" rIns="36576" bIns="36576" anchor="t">
            <a:spAutoFit/>
          </a:bodyPr>
          <a:lstStyle/>
          <a:p>
            <a:pPr algn="l">
              <a:spcAft>
                <a:spcPts val="0"/>
              </a:spcAft>
            </a:pPr>
            <a:r>
              <a:rPr sz="1300" b="1">
                <a:solidFill>
                  <a:srgbClr val="233A59"/>
                </a:solidFill>
              </a:rPr>
              <a:t>Troubleshoot BGP in order: peer Established → prefix permitted → best path selected → next hop resolved → route installed.</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99</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BGP neighbor state reveals the failed stage</a:t>
            </a:r>
          </a:p>
        </p:txBody>
      </p:sp>
      <p:sp>
        <p:nvSpPr>
          <p:cNvPr id="10" name="Rectangle 9"/>
          <p:cNvSpPr/>
          <p:nvPr/>
        </p:nvSpPr>
        <p:spPr>
          <a:xfrm>
            <a:off x="658368"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1" name="TextBox 10"/>
          <p:cNvSpPr txBox="1">
            <a:spLocks/>
          </p:cNvSpPr>
          <p:nvPr/>
        </p:nvSpPr>
        <p:spPr>
          <a:xfrm>
            <a:off x="768096" y="2020824"/>
            <a:ext cx="411480" cy="219456"/>
          </a:xfrm>
          <a:prstGeom prst="rect">
            <a:avLst/>
          </a:prstGeom>
          <a:noFill/>
        </p:spPr>
        <p:txBody>
          <a:bodyPr wrap="square" lIns="27432" tIns="27432" rIns="27432" bIns="27432" anchor="t">
            <a:spAutoFit/>
          </a:bodyPr>
          <a:lstStyle/>
          <a:p>
            <a:pPr algn="l">
              <a:spcAft>
                <a:spcPts val="0"/>
              </a:spcAft>
            </a:pPr>
            <a:r>
              <a:rPr lang="en-HU" sz="1100" b="1">
                <a:solidFill>
                  <a:srgbClr val="E60012"/>
                </a:solidFill>
              </a:rPr>
              <a:t>01</a:t>
            </a:r>
          </a:p>
        </p:txBody>
      </p:sp>
      <p:sp>
        <p:nvSpPr>
          <p:cNvPr id="12" name="TextBox 11"/>
          <p:cNvSpPr txBox="1">
            <a:spLocks/>
          </p:cNvSpPr>
          <p:nvPr/>
        </p:nvSpPr>
        <p:spPr>
          <a:xfrm>
            <a:off x="768096" y="2340864"/>
            <a:ext cx="1830628" cy="603504"/>
          </a:xfrm>
          <a:prstGeom prst="rect">
            <a:avLst/>
          </a:prstGeom>
          <a:noFill/>
        </p:spPr>
        <p:txBody>
          <a:bodyPr wrap="square" lIns="27432" tIns="27432" rIns="27432" bIns="27432" anchor="ctr">
            <a:spAutoFit/>
          </a:bodyPr>
          <a:lstStyle/>
          <a:p>
            <a:pPr algn="ctr">
              <a:spcAft>
                <a:spcPts val="0"/>
              </a:spcAft>
            </a:pPr>
            <a:r>
              <a:rPr lang="en-GB" sz="1400" b="1">
                <a:solidFill>
                  <a:srgbClr val="1E2B40"/>
                </a:solidFill>
              </a:rPr>
              <a:t>Idle</a:t>
            </a:r>
          </a:p>
        </p:txBody>
      </p:sp>
      <p:cxnSp>
        <p:nvCxnSpPr>
          <p:cNvPr id="13" name="Connector 12"/>
          <p:cNvCxnSpPr/>
          <p:nvPr/>
        </p:nvCxnSpPr>
        <p:spPr>
          <a:xfrm>
            <a:off x="2708452"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2854756"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5" name="TextBox 14"/>
          <p:cNvSpPr txBox="1">
            <a:spLocks/>
          </p:cNvSpPr>
          <p:nvPr/>
        </p:nvSpPr>
        <p:spPr>
          <a:xfrm>
            <a:off x="2964484" y="2020824"/>
            <a:ext cx="411480" cy="219456"/>
          </a:xfrm>
          <a:prstGeom prst="rect">
            <a:avLst/>
          </a:prstGeom>
          <a:noFill/>
        </p:spPr>
        <p:txBody>
          <a:bodyPr wrap="square" lIns="27432" tIns="27432" rIns="27432" bIns="27432" anchor="t">
            <a:spAutoFit/>
          </a:bodyPr>
          <a:lstStyle/>
          <a:p>
            <a:pPr algn="l">
              <a:spcAft>
                <a:spcPts val="0"/>
              </a:spcAft>
            </a:pPr>
            <a:r>
              <a:rPr lang="en-HU" sz="1100" b="1">
                <a:solidFill>
                  <a:srgbClr val="E60012"/>
                </a:solidFill>
              </a:rPr>
              <a:t>02</a:t>
            </a:r>
          </a:p>
        </p:txBody>
      </p:sp>
      <p:sp>
        <p:nvSpPr>
          <p:cNvPr id="16" name="TextBox 15"/>
          <p:cNvSpPr txBox="1">
            <a:spLocks/>
          </p:cNvSpPr>
          <p:nvPr/>
        </p:nvSpPr>
        <p:spPr>
          <a:xfrm>
            <a:off x="2964484" y="2340864"/>
            <a:ext cx="1830628" cy="603504"/>
          </a:xfrm>
          <a:prstGeom prst="rect">
            <a:avLst/>
          </a:prstGeom>
          <a:noFill/>
        </p:spPr>
        <p:txBody>
          <a:bodyPr wrap="square" lIns="27432" tIns="27432" rIns="27432" bIns="27432" anchor="ctr">
            <a:spAutoFit/>
          </a:bodyPr>
          <a:lstStyle/>
          <a:p>
            <a:pPr algn="ctr">
              <a:spcAft>
                <a:spcPts val="0"/>
              </a:spcAft>
            </a:pPr>
            <a:r>
              <a:rPr lang="en-GB" sz="1400" b="1">
                <a:solidFill>
                  <a:srgbClr val="1E2B40"/>
                </a:solidFill>
              </a:rPr>
              <a:t>Connect</a:t>
            </a:r>
          </a:p>
        </p:txBody>
      </p:sp>
      <p:cxnSp>
        <p:nvCxnSpPr>
          <p:cNvPr id="17" name="Connector 16"/>
          <p:cNvCxnSpPr/>
          <p:nvPr/>
        </p:nvCxnSpPr>
        <p:spPr>
          <a:xfrm>
            <a:off x="4904841"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5051145"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9" name="TextBox 18"/>
          <p:cNvSpPr txBox="1">
            <a:spLocks/>
          </p:cNvSpPr>
          <p:nvPr/>
        </p:nvSpPr>
        <p:spPr>
          <a:xfrm>
            <a:off x="5160873" y="2020824"/>
            <a:ext cx="411480" cy="219456"/>
          </a:xfrm>
          <a:prstGeom prst="rect">
            <a:avLst/>
          </a:prstGeom>
          <a:noFill/>
        </p:spPr>
        <p:txBody>
          <a:bodyPr wrap="square" lIns="27432" tIns="27432" rIns="27432" bIns="27432" anchor="t">
            <a:spAutoFit/>
          </a:bodyPr>
          <a:lstStyle/>
          <a:p>
            <a:pPr algn="l">
              <a:spcAft>
                <a:spcPts val="0"/>
              </a:spcAft>
            </a:pPr>
            <a:r>
              <a:rPr lang="en-HU" sz="1100" b="1">
                <a:solidFill>
                  <a:srgbClr val="E60012"/>
                </a:solidFill>
              </a:rPr>
              <a:t>03</a:t>
            </a:r>
          </a:p>
        </p:txBody>
      </p:sp>
      <p:sp>
        <p:nvSpPr>
          <p:cNvPr id="20" name="TextBox 19"/>
          <p:cNvSpPr txBox="1">
            <a:spLocks/>
          </p:cNvSpPr>
          <p:nvPr/>
        </p:nvSpPr>
        <p:spPr>
          <a:xfrm>
            <a:off x="5160873" y="2340864"/>
            <a:ext cx="1830628" cy="603504"/>
          </a:xfrm>
          <a:prstGeom prst="rect">
            <a:avLst/>
          </a:prstGeom>
          <a:noFill/>
        </p:spPr>
        <p:txBody>
          <a:bodyPr wrap="square" lIns="27432" tIns="27432" rIns="27432" bIns="27432" anchor="ctr">
            <a:spAutoFit/>
          </a:bodyPr>
          <a:lstStyle/>
          <a:p>
            <a:pPr algn="ctr">
              <a:spcAft>
                <a:spcPts val="0"/>
              </a:spcAft>
            </a:pPr>
            <a:r>
              <a:rPr lang="en-GB" sz="1400" b="1">
                <a:solidFill>
                  <a:srgbClr val="1E2B40"/>
                </a:solidFill>
              </a:rPr>
              <a:t>OpenSent</a:t>
            </a:r>
          </a:p>
        </p:txBody>
      </p:sp>
      <p:cxnSp>
        <p:nvCxnSpPr>
          <p:cNvPr id="21" name="Connector 20"/>
          <p:cNvCxnSpPr/>
          <p:nvPr/>
        </p:nvCxnSpPr>
        <p:spPr>
          <a:xfrm>
            <a:off x="7101230"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7247534"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23" name="TextBox 22"/>
          <p:cNvSpPr txBox="1"/>
          <p:nvPr/>
        </p:nvSpPr>
        <p:spPr>
          <a:xfrm>
            <a:off x="7357262" y="2020824"/>
            <a:ext cx="411480" cy="219456"/>
          </a:xfrm>
          <a:prstGeom prst="rect">
            <a:avLst/>
          </a:prstGeom>
          <a:noFill/>
        </p:spPr>
        <p:txBody>
          <a:bodyPr wrap="square" lIns="27432" tIns="27432" rIns="27432" bIns="27432" anchor="t">
            <a:spAutoFit/>
          </a:bodyPr>
          <a:lstStyle/>
          <a:p>
            <a:pPr algn="l">
              <a:spcAft>
                <a:spcPts val="0"/>
              </a:spcAft>
            </a:pPr>
            <a:r>
              <a:rPr sz="1100" b="1">
                <a:solidFill>
                  <a:srgbClr val="E60012"/>
                </a:solidFill>
              </a:rPr>
              <a:t>04</a:t>
            </a:r>
          </a:p>
        </p:txBody>
      </p:sp>
      <p:sp>
        <p:nvSpPr>
          <p:cNvPr id="24" name="TextBox 23"/>
          <p:cNvSpPr txBox="1"/>
          <p:nvPr/>
        </p:nvSpPr>
        <p:spPr>
          <a:xfrm>
            <a:off x="7357262" y="2340864"/>
            <a:ext cx="1830628" cy="603504"/>
          </a:xfrm>
          <a:prstGeom prst="rect">
            <a:avLst/>
          </a:prstGeom>
          <a:noFill/>
        </p:spPr>
        <p:txBody>
          <a:bodyPr wrap="square" lIns="27432" tIns="27432" rIns="27432" bIns="27432" anchor="ctr">
            <a:spAutoFit/>
          </a:bodyPr>
          <a:lstStyle/>
          <a:p>
            <a:pPr algn="ctr">
              <a:spcAft>
                <a:spcPts val="0"/>
              </a:spcAft>
            </a:pPr>
            <a:r>
              <a:rPr sz="1400" b="1">
                <a:solidFill>
                  <a:srgbClr val="1E2B40"/>
                </a:solidFill>
              </a:rPr>
              <a:t>OpenConfirm</a:t>
            </a:r>
          </a:p>
        </p:txBody>
      </p:sp>
      <p:cxnSp>
        <p:nvCxnSpPr>
          <p:cNvPr id="25" name="Connector 24"/>
          <p:cNvCxnSpPr/>
          <p:nvPr/>
        </p:nvCxnSpPr>
        <p:spPr>
          <a:xfrm>
            <a:off x="9297619"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9443923"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553651" y="2020824"/>
            <a:ext cx="411480" cy="219456"/>
          </a:xfrm>
          <a:prstGeom prst="rect">
            <a:avLst/>
          </a:prstGeom>
          <a:noFill/>
        </p:spPr>
        <p:txBody>
          <a:bodyPr wrap="square" lIns="27432" tIns="27432" rIns="27432" bIns="27432" anchor="t">
            <a:spAutoFit/>
          </a:bodyPr>
          <a:lstStyle/>
          <a:p>
            <a:pPr algn="l">
              <a:spcAft>
                <a:spcPts val="0"/>
              </a:spcAft>
            </a:pPr>
            <a:r>
              <a:rPr sz="1100" b="1">
                <a:solidFill>
                  <a:srgbClr val="E60012"/>
                </a:solidFill>
              </a:rPr>
              <a:t>05</a:t>
            </a:r>
          </a:p>
        </p:txBody>
      </p:sp>
      <p:sp>
        <p:nvSpPr>
          <p:cNvPr id="28" name="TextBox 27"/>
          <p:cNvSpPr txBox="1"/>
          <p:nvPr/>
        </p:nvSpPr>
        <p:spPr>
          <a:xfrm>
            <a:off x="9553651" y="2340864"/>
            <a:ext cx="1830628" cy="603504"/>
          </a:xfrm>
          <a:prstGeom prst="rect">
            <a:avLst/>
          </a:prstGeom>
          <a:noFill/>
        </p:spPr>
        <p:txBody>
          <a:bodyPr wrap="square" lIns="27432" tIns="27432" rIns="27432" bIns="27432" anchor="ctr">
            <a:spAutoFit/>
          </a:bodyPr>
          <a:lstStyle/>
          <a:p>
            <a:pPr algn="ctr">
              <a:spcAft>
                <a:spcPts val="0"/>
              </a:spcAft>
            </a:pPr>
            <a:r>
              <a:rPr sz="1400" b="1">
                <a:solidFill>
                  <a:srgbClr val="1E2B40"/>
                </a:solidFill>
              </a:rPr>
              <a:t>Established</a:t>
            </a:r>
          </a:p>
        </p:txBody>
      </p:sp>
      <p:sp>
        <p:nvSpPr>
          <p:cNvPr id="29" name="TextBox 28"/>
          <p:cNvSpPr txBox="1"/>
          <p:nvPr/>
        </p:nvSpPr>
        <p:spPr>
          <a:xfrm>
            <a:off x="658368" y="3703320"/>
            <a:ext cx="2011680" cy="256032"/>
          </a:xfrm>
          <a:prstGeom prst="rect">
            <a:avLst/>
          </a:prstGeom>
          <a:noFill/>
        </p:spPr>
        <p:txBody>
          <a:bodyPr wrap="square" lIns="27432" tIns="27432" rIns="27432" bIns="27432" anchor="t">
            <a:spAutoFit/>
          </a:bodyPr>
          <a:lstStyle/>
          <a:p>
            <a:pPr algn="l">
              <a:spcAft>
                <a:spcPts val="0"/>
              </a:spcAft>
            </a:pPr>
            <a:r>
              <a:rPr sz="1100" b="1">
                <a:solidFill>
                  <a:srgbClr val="E60012"/>
                </a:solidFill>
              </a:rPr>
              <a:t>What to observe</a:t>
            </a:r>
          </a:p>
        </p:txBody>
      </p:sp>
      <p:sp>
        <p:nvSpPr>
          <p:cNvPr id="30" name="TextBox 29"/>
          <p:cNvSpPr txBox="1"/>
          <p:nvPr/>
        </p:nvSpPr>
        <p:spPr>
          <a:xfrm>
            <a:off x="658368" y="4050791"/>
            <a:ext cx="6446520" cy="1508760"/>
          </a:xfrm>
          <a:prstGeom prst="rect">
            <a:avLst/>
          </a:prstGeom>
          <a:noFill/>
        </p:spPr>
        <p:txBody>
          <a:bodyPr wrap="square" lIns="109728" tIns="73152" rIns="109728" bIns="73152" anchor="t">
            <a:spAutoFit/>
          </a:bodyPr>
          <a:lstStyle/>
          <a:p>
            <a:pPr algn="l">
              <a:lnSpc>
                <a:spcPct val="105000"/>
              </a:lnSpc>
              <a:spcAft>
                <a:spcPts val="700"/>
              </a:spcAft>
              <a:defRPr sz="1600">
                <a:solidFill>
                  <a:srgbClr val="1E2B40"/>
                </a:solidFill>
              </a:defRPr>
            </a:pPr>
            <a:r>
              <a:t>• OpenSent/OpenConfirm indicate BGP capability/parameter exchange</a:t>
            </a:r>
          </a:p>
          <a:p>
            <a:pPr>
              <a:lnSpc>
                <a:spcPct val="105000"/>
              </a:lnSpc>
              <a:spcAft>
                <a:spcPts val="700"/>
              </a:spcAft>
              <a:defRPr sz="1600">
                <a:solidFill>
                  <a:srgbClr val="1E2B40"/>
                </a:solidFill>
              </a:defRPr>
            </a:pPr>
            <a:r>
              <a:t>• Established permits UPDATE messages</a:t>
            </a:r>
          </a:p>
          <a:p>
            <a:pPr>
              <a:lnSpc>
                <a:spcPct val="105000"/>
              </a:lnSpc>
              <a:spcAft>
                <a:spcPts val="700"/>
              </a:spcAft>
              <a:defRPr sz="1600">
                <a:solidFill>
                  <a:srgbClr val="1E2B40"/>
                </a:solidFill>
              </a:defRPr>
            </a:pPr>
            <a:r>
              <a:t>• Timers, source address, multihop, password and AS configuration must agree</a:t>
            </a:r>
          </a:p>
        </p:txBody>
      </p:sp>
      <p:cxnSp>
        <p:nvCxnSpPr>
          <p:cNvPr id="31" name="Connector 30"/>
          <p:cNvCxnSpPr/>
          <p:nvPr/>
        </p:nvCxnSpPr>
        <p:spPr>
          <a:xfrm>
            <a:off x="7452360" y="3703320"/>
            <a:ext cx="0" cy="2093976"/>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7772400" y="3703320"/>
            <a:ext cx="292608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INSTRUCTOR DEMONSTRATION</a:t>
            </a:r>
            <a:endParaRPr sz="1100" b="1">
              <a:solidFill>
                <a:srgbClr val="E60012"/>
              </a:solidFill>
            </a:endParaRPr>
          </a:p>
        </p:txBody>
      </p:sp>
      <p:sp>
        <p:nvSpPr>
          <p:cNvPr id="33" name="TextBox 32"/>
          <p:cNvSpPr txBox="1"/>
          <p:nvPr/>
        </p:nvSpPr>
        <p:spPr>
          <a:xfrm>
            <a:off x="7772400" y="4096512"/>
            <a:ext cx="3337560" cy="1234440"/>
          </a:xfrm>
          <a:prstGeom prst="rect">
            <a:avLst/>
          </a:prstGeom>
          <a:noFill/>
        </p:spPr>
        <p:txBody>
          <a:bodyPr wrap="square" lIns="27432" tIns="27432" rIns="27432" bIns="27432" anchor="t">
            <a:spAutoFit/>
          </a:bodyPr>
          <a:lstStyle/>
          <a:p>
            <a:pPr algn="l">
              <a:spcAft>
                <a:spcPts val="0"/>
              </a:spcAft>
            </a:pPr>
            <a:r>
              <a:rPr sz="1500" b="1">
                <a:solidFill>
                  <a:srgbClr val="233A59"/>
                </a:solidFill>
              </a:rPr>
              <a:t>get router info bgp summary; inspect peer state, uptime and received/advertised counts.</a:t>
            </a:r>
          </a:p>
        </p:txBody>
      </p:sp>
      <p:sp>
        <p:nvSpPr>
          <p:cNvPr id="34" name="TextBox 33"/>
          <p:cNvSpPr txBox="1"/>
          <p:nvPr/>
        </p:nvSpPr>
        <p:spPr>
          <a:xfrm>
            <a:off x="7772400" y="5440680"/>
            <a:ext cx="3337560" cy="363176"/>
          </a:xfrm>
          <a:prstGeom prst="rect">
            <a:avLst/>
          </a:prstGeom>
          <a:noFill/>
        </p:spPr>
        <p:txBody>
          <a:bodyPr wrap="square" lIns="27432" tIns="27432" rIns="27432" bIns="27432" anchor="t">
            <a:spAutoFit/>
          </a:bodyPr>
          <a:lstStyle/>
          <a:p>
            <a:pPr algn="l">
              <a:spcAft>
                <a:spcPts val="0"/>
              </a:spcAft>
            </a:pPr>
            <a:r>
              <a:rPr lang="en-GB" sz="1000" b="0">
                <a:solidFill>
                  <a:srgbClr val="687385"/>
                </a:solidFill>
              </a:rPr>
              <a:t>If debug is used, filter by the test tuple and disable</a:t>
            </a:r>
            <a:r>
              <a:rPr sz="1000" b="0">
                <a:solidFill>
                  <a:srgbClr val="687385"/>
                </a:solidFill>
              </a:rPr>
              <a:t>/reset </a:t>
            </a:r>
            <a:r>
              <a:rPr lang="en-GB" sz="1000" b="0">
                <a:solidFill>
                  <a:srgbClr val="687385"/>
                </a:solidFill>
              </a:rPr>
              <a:t>it immediately </a:t>
            </a:r>
            <a:r>
              <a:rPr sz="1000" b="0">
                <a:solidFill>
                  <a:srgbClr val="687385"/>
                </a:solidFill>
              </a:rPr>
              <a:t>after </a:t>
            </a:r>
            <a:r>
              <a:rPr lang="en-GB" sz="1000" b="0">
                <a:solidFill>
                  <a:srgbClr val="687385"/>
                </a:solidFill>
              </a:rPr>
              <a:t>capture</a:t>
            </a:r>
            <a:r>
              <a:rPr sz="1000" b="0">
                <a:solidFill>
                  <a:srgbClr val="687385"/>
                </a:solidFill>
              </a:rPr>
              <a:t>.</a:t>
            </a:r>
          </a:p>
        </p:txBody>
      </p:sp>
      <p:sp>
        <p:nvSpPr>
          <p:cNvPr id="35" name="TextBox 34"/>
          <p:cNvSpPr txBox="1"/>
          <p:nvPr/>
        </p:nvSpPr>
        <p:spPr>
          <a:xfrm>
            <a:off x="502920" y="420624"/>
            <a:ext cx="10744200" cy="130805"/>
          </a:xfrm>
          <a:prstGeom prst="rect">
            <a:avLst/>
          </a:prstGeom>
          <a:noFill/>
        </p:spPr>
        <p:txBody>
          <a:bodyPr wrap="square" lIns="0" tIns="0" rIns="0" bIns="0">
            <a:spAutoFit/>
          </a:bodyPr>
          <a:lstStyle/>
          <a:p>
            <a:pPr algn="l"/>
            <a:r>
              <a:rPr lang="en-HU" sz="850" b="1">
                <a:solidFill>
                  <a:srgbClr val="687385"/>
                </a:solidFill>
              </a:rPr>
              <a:t>099</a:t>
            </a:r>
            <a:r>
              <a:rPr sz="850" b="1">
                <a:solidFill>
                  <a:srgbClr val="687385"/>
                </a:solidFill>
              </a:rPr>
              <a:t> • DAY 3 • BLOCK 10 • BGP Fundamentals</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100</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eBGP and iBGP serve different propagation roles</a:t>
            </a:r>
          </a:p>
        </p:txBody>
      </p:sp>
      <p:sp>
        <p:nvSpPr>
          <p:cNvPr id="10" name="TextBox 9"/>
          <p:cNvSpPr txBox="1">
            <a:spLocks/>
          </p:cNvSpPr>
          <p:nvPr/>
        </p:nvSpPr>
        <p:spPr>
          <a:xfrm>
            <a:off x="658368" y="1600200"/>
            <a:ext cx="5312664" cy="292608"/>
          </a:xfrm>
          <a:prstGeom prst="rect">
            <a:avLst/>
          </a:prstGeom>
          <a:noFill/>
        </p:spPr>
        <p:txBody>
          <a:bodyPr wrap="square" lIns="27432" tIns="27432" rIns="27432" bIns="27432" anchor="t">
            <a:spAutoFit/>
          </a:bodyPr>
          <a:lstStyle/>
          <a:p>
            <a:pPr algn="l">
              <a:spcAft>
                <a:spcPts val="0"/>
              </a:spcAft>
            </a:pPr>
            <a:r>
              <a:rPr lang="en-GB" sz="1300" b="1">
                <a:solidFill>
                  <a:srgbClr val="E60012"/>
                </a:solidFill>
              </a:rPr>
              <a:t>eBGP</a:t>
            </a:r>
          </a:p>
        </p:txBody>
      </p:sp>
      <p:cxnSp>
        <p:nvCxnSpPr>
          <p:cNvPr id="11" name="Connector 10"/>
          <p:cNvCxnSpPr/>
          <p:nvPr/>
        </p:nvCxnSpPr>
        <p:spPr>
          <a:xfrm>
            <a:off x="658368" y="1984248"/>
            <a:ext cx="5312664" cy="0"/>
          </a:xfrm>
          <a:prstGeom prst="line">
            <a:avLst/>
          </a:prstGeom>
          <a:ln w="22860">
            <a:solidFill>
              <a:srgbClr val="E60012"/>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658368" y="2176272"/>
            <a:ext cx="5312664" cy="3337560"/>
          </a:xfrm>
          <a:prstGeom prst="rect">
            <a:avLst/>
          </a:prstGeom>
          <a:noFill/>
        </p:spPr>
        <p:txBody>
          <a:bodyPr wrap="square" lIns="109728" tIns="73152" rIns="109728" bIns="73152" anchor="t">
            <a:spAutoFit/>
          </a:bodyPr>
          <a:lstStyle/>
          <a:p>
            <a:pPr algn="l">
              <a:lnSpc>
                <a:spcPct val="105000"/>
              </a:lnSpc>
              <a:spcAft>
                <a:spcPts val="800"/>
              </a:spcAft>
              <a:defRPr sz="1600">
                <a:solidFill>
                  <a:srgbClr val="1E2B40"/>
                </a:solidFill>
              </a:defRPr>
            </a:pPr>
            <a:r>
              <a:rPr lang="en-GB"/>
              <a:t>• Different AS</a:t>
            </a:r>
          </a:p>
          <a:p>
            <a:pPr>
              <a:lnSpc>
                <a:spcPct val="105000"/>
              </a:lnSpc>
              <a:spcAft>
                <a:spcPts val="800"/>
              </a:spcAft>
              <a:defRPr sz="1600">
                <a:solidFill>
                  <a:srgbClr val="1E2B40"/>
                </a:solidFill>
              </a:defRPr>
            </a:pPr>
            <a:r>
              <a:rPr lang="en-GB"/>
              <a:t>• External policy boundary</a:t>
            </a:r>
          </a:p>
          <a:p>
            <a:pPr>
              <a:lnSpc>
                <a:spcPct val="105000"/>
              </a:lnSpc>
              <a:spcAft>
                <a:spcPts val="800"/>
              </a:spcAft>
              <a:defRPr sz="1600">
                <a:solidFill>
                  <a:srgbClr val="1E2B40"/>
                </a:solidFill>
              </a:defRPr>
            </a:pPr>
            <a:r>
              <a:rPr lang="en-GB"/>
              <a:t>• AS_PATH changes</a:t>
            </a:r>
          </a:p>
        </p:txBody>
      </p:sp>
      <p:sp>
        <p:nvSpPr>
          <p:cNvPr id="13" name="TextBox 12"/>
          <p:cNvSpPr txBox="1">
            <a:spLocks/>
          </p:cNvSpPr>
          <p:nvPr/>
        </p:nvSpPr>
        <p:spPr>
          <a:xfrm>
            <a:off x="6227064" y="1600200"/>
            <a:ext cx="5312664" cy="292608"/>
          </a:xfrm>
          <a:prstGeom prst="rect">
            <a:avLst/>
          </a:prstGeom>
          <a:noFill/>
        </p:spPr>
        <p:txBody>
          <a:bodyPr wrap="square" lIns="27432" tIns="27432" rIns="27432" bIns="27432" anchor="t">
            <a:spAutoFit/>
          </a:bodyPr>
          <a:lstStyle/>
          <a:p>
            <a:pPr algn="l">
              <a:spcAft>
                <a:spcPts val="0"/>
              </a:spcAft>
            </a:pPr>
            <a:r>
              <a:rPr lang="en-GB" sz="1300" b="1">
                <a:solidFill>
                  <a:srgbClr val="E60012"/>
                </a:solidFill>
              </a:rPr>
              <a:t>iBGP</a:t>
            </a:r>
          </a:p>
        </p:txBody>
      </p:sp>
      <p:cxnSp>
        <p:nvCxnSpPr>
          <p:cNvPr id="14" name="Connector 13"/>
          <p:cNvCxnSpPr/>
          <p:nvPr/>
        </p:nvCxnSpPr>
        <p:spPr>
          <a:xfrm>
            <a:off x="6227064" y="1984248"/>
            <a:ext cx="5312664" cy="0"/>
          </a:xfrm>
          <a:prstGeom prst="line">
            <a:avLst/>
          </a:prstGeom>
          <a:ln w="22860">
            <a:solidFill>
              <a:srgbClr val="E60012"/>
            </a:solidFill>
          </a:ln>
        </p:spPr>
        <p:style>
          <a:lnRef idx="2">
            <a:schemeClr val="accent1"/>
          </a:lnRef>
          <a:fillRef idx="0">
            <a:schemeClr val="accent1"/>
          </a:fillRef>
          <a:effectRef idx="1">
            <a:schemeClr val="accent1"/>
          </a:effectRef>
          <a:fontRef idx="minor">
            <a:schemeClr val="tx1"/>
          </a:fontRef>
        </p:style>
      </p:cxnSp>
      <p:sp>
        <p:nvSpPr>
          <p:cNvPr id="15" name="TextBox 14"/>
          <p:cNvSpPr txBox="1">
            <a:spLocks/>
          </p:cNvSpPr>
          <p:nvPr/>
        </p:nvSpPr>
        <p:spPr>
          <a:xfrm>
            <a:off x="6227064" y="2176272"/>
            <a:ext cx="5312664" cy="3337560"/>
          </a:xfrm>
          <a:prstGeom prst="rect">
            <a:avLst/>
          </a:prstGeom>
          <a:noFill/>
        </p:spPr>
        <p:txBody>
          <a:bodyPr wrap="square" lIns="109728" tIns="73152" rIns="109728" bIns="73152" anchor="t">
            <a:spAutoFit/>
          </a:bodyPr>
          <a:lstStyle/>
          <a:p>
            <a:pPr algn="l">
              <a:lnSpc>
                <a:spcPct val="105000"/>
              </a:lnSpc>
              <a:spcAft>
                <a:spcPts val="800"/>
              </a:spcAft>
              <a:defRPr sz="1600">
                <a:solidFill>
                  <a:srgbClr val="1E2B40"/>
                </a:solidFill>
              </a:defRPr>
            </a:pPr>
            <a:r>
              <a:rPr lang="en-GB"/>
              <a:t>• Same AS</a:t>
            </a:r>
          </a:p>
          <a:p>
            <a:pPr>
              <a:lnSpc>
                <a:spcPct val="105000"/>
              </a:lnSpc>
              <a:spcAft>
                <a:spcPts val="800"/>
              </a:spcAft>
              <a:defRPr sz="1600">
                <a:solidFill>
                  <a:srgbClr val="1E2B40"/>
                </a:solidFill>
              </a:defRPr>
            </a:pPr>
            <a:r>
              <a:rPr lang="en-GB"/>
              <a:t>• Internal distribution</a:t>
            </a:r>
          </a:p>
          <a:p>
            <a:pPr>
              <a:lnSpc>
                <a:spcPct val="105000"/>
              </a:lnSpc>
              <a:spcAft>
                <a:spcPts val="800"/>
              </a:spcAft>
              <a:defRPr sz="1600">
                <a:solidFill>
                  <a:srgbClr val="1E2B40"/>
                </a:solidFill>
              </a:defRPr>
            </a:pPr>
            <a:r>
              <a:rPr lang="en-GB"/>
              <a:t>• Full mesh or RR design</a:t>
            </a:r>
          </a:p>
        </p:txBody>
      </p:sp>
      <p:sp>
        <p:nvSpPr>
          <p:cNvPr id="16" name="TextBox 15"/>
          <p:cNvSpPr txBox="1">
            <a:spLocks/>
          </p:cNvSpPr>
          <p:nvPr/>
        </p:nvSpPr>
        <p:spPr>
          <a:xfrm>
            <a:off x="658368" y="5724144"/>
            <a:ext cx="1234440" cy="224677"/>
          </a:xfrm>
          <a:prstGeom prst="rect">
            <a:avLst/>
          </a:prstGeom>
          <a:noFill/>
        </p:spPr>
        <p:txBody>
          <a:bodyPr wrap="square" lIns="27432" tIns="27432" rIns="27432" bIns="27432" anchor="t">
            <a:spAutoFit/>
          </a:bodyPr>
          <a:lstStyle/>
          <a:p>
            <a:pPr algn="l">
              <a:spcAft>
                <a:spcPts val="0"/>
              </a:spcAft>
            </a:pPr>
            <a:r>
              <a:rPr lang="en-GB" sz="1100" b="1">
                <a:solidFill>
                  <a:srgbClr val="233A59"/>
                </a:solidFill>
              </a:rPr>
              <a:t>KEY DISTINCTION</a:t>
            </a:r>
          </a:p>
        </p:txBody>
      </p:sp>
      <p:sp>
        <p:nvSpPr>
          <p:cNvPr id="17" name="TextBox 16"/>
          <p:cNvSpPr txBox="1">
            <a:spLocks/>
          </p:cNvSpPr>
          <p:nvPr/>
        </p:nvSpPr>
        <p:spPr>
          <a:xfrm>
            <a:off x="1920240" y="5687568"/>
            <a:ext cx="9235440" cy="329184"/>
          </a:xfrm>
          <a:prstGeom prst="rect">
            <a:avLst/>
          </a:prstGeom>
          <a:noFill/>
        </p:spPr>
        <p:txBody>
          <a:bodyPr wrap="square" lIns="27432" tIns="27432" rIns="27432" bIns="27432" anchor="t">
            <a:spAutoFit/>
          </a:bodyPr>
          <a:lstStyle/>
          <a:p>
            <a:pPr algn="l">
              <a:spcAft>
                <a:spcPts val="0"/>
              </a:spcAft>
            </a:pPr>
            <a:r>
              <a:rPr lang="en-GB" sz="1400" b="1">
                <a:solidFill>
                  <a:srgbClr val="233A59"/>
                </a:solidFill>
              </a:rPr>
              <a:t>Route reflector design is optional deep dive; do not infer full-mesh scalability</a:t>
            </a:r>
          </a:p>
        </p:txBody>
      </p:sp>
      <p:sp>
        <p:nvSpPr>
          <p:cNvPr id="18" name="TextBox 17"/>
          <p:cNvSpPr txBox="1">
            <a:spLocks/>
          </p:cNvSpPr>
          <p:nvPr/>
        </p:nvSpPr>
        <p:spPr>
          <a:xfrm>
            <a:off x="502920" y="420624"/>
            <a:ext cx="10744200" cy="130805"/>
          </a:xfrm>
          <a:prstGeom prst="rect">
            <a:avLst/>
          </a:prstGeom>
          <a:noFill/>
        </p:spPr>
        <p:txBody>
          <a:bodyPr wrap="square" lIns="0" tIns="0" rIns="0" bIns="0">
            <a:spAutoFit/>
          </a:bodyPr>
          <a:lstStyle/>
          <a:p>
            <a:pPr algn="l"/>
            <a:r>
              <a:rPr lang="en-GB" sz="850" b="1">
                <a:solidFill>
                  <a:srgbClr val="687385"/>
                </a:solidFill>
              </a:rPr>
              <a:t>100 • DAY 3 • BLOCK 10 • BGP Fundamentals</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101</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Prefix advertisement requires route presence and policy permission</a:t>
            </a:r>
          </a:p>
        </p:txBody>
      </p:sp>
      <p:sp>
        <p:nvSpPr>
          <p:cNvPr id="10" name="TextBox 9"/>
          <p:cNvSpPr txBox="1">
            <a:spLocks/>
          </p:cNvSpPr>
          <p:nvPr/>
        </p:nvSpPr>
        <p:spPr>
          <a:xfrm>
            <a:off x="658368" y="1554480"/>
            <a:ext cx="6583680" cy="4389120"/>
          </a:xfrm>
          <a:prstGeom prst="rect">
            <a:avLst/>
          </a:prstGeom>
          <a:noFill/>
        </p:spPr>
        <p:txBody>
          <a:bodyPr wrap="square" lIns="109728" tIns="73152" rIns="109728" bIns="73152" anchor="t">
            <a:spAutoFit/>
          </a:bodyPr>
          <a:lstStyle/>
          <a:p>
            <a:pPr algn="l">
              <a:lnSpc>
                <a:spcPct val="105000"/>
              </a:lnSpc>
              <a:spcAft>
                <a:spcPts val="800"/>
              </a:spcAft>
              <a:defRPr sz="1700">
                <a:solidFill>
                  <a:srgbClr val="1E2B40"/>
                </a:solidFill>
              </a:defRPr>
            </a:pPr>
            <a:r>
              <a:rPr lang="en-GB"/>
              <a:t>• A network statement/redistribution mechanism does not create reachability by itself</a:t>
            </a:r>
          </a:p>
          <a:p>
            <a:pPr>
              <a:lnSpc>
                <a:spcPct val="105000"/>
              </a:lnSpc>
              <a:spcAft>
                <a:spcPts val="800"/>
              </a:spcAft>
              <a:defRPr sz="1700">
                <a:solidFill>
                  <a:srgbClr val="1E2B40"/>
                </a:solidFill>
              </a:defRPr>
            </a:pPr>
            <a:r>
              <a:rPr lang="en-GB"/>
              <a:t>• The prefix must meet the platform’s origination conditions</a:t>
            </a:r>
          </a:p>
          <a:p>
            <a:pPr>
              <a:lnSpc>
                <a:spcPct val="105000"/>
              </a:lnSpc>
              <a:spcAft>
                <a:spcPts val="800"/>
              </a:spcAft>
              <a:defRPr sz="1700">
                <a:solidFill>
                  <a:srgbClr val="1E2B40"/>
                </a:solidFill>
              </a:defRPr>
            </a:pPr>
            <a:r>
              <a:rPr lang="en-GB"/>
              <a:t>• Outbound filters prevent accidental leaks</a:t>
            </a:r>
          </a:p>
          <a:p>
            <a:pPr>
              <a:lnSpc>
                <a:spcPct val="105000"/>
              </a:lnSpc>
              <a:spcAft>
                <a:spcPts val="800"/>
              </a:spcAft>
              <a:defRPr sz="1700">
                <a:solidFill>
                  <a:srgbClr val="1E2B40"/>
                </a:solidFill>
              </a:defRPr>
            </a:pPr>
            <a:r>
              <a:rPr lang="en-GB"/>
              <a:t>• Inbound filters and maximum-prefix controls limit accepted scope</a:t>
            </a:r>
          </a:p>
        </p:txBody>
      </p:sp>
      <p:cxnSp>
        <p:nvCxnSpPr>
          <p:cNvPr id="11" name="Connector 10"/>
          <p:cNvCxnSpPr/>
          <p:nvPr/>
        </p:nvCxnSpPr>
        <p:spPr>
          <a:xfrm>
            <a:off x="7452360" y="1600200"/>
            <a:ext cx="0" cy="434340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7790688" y="1627632"/>
            <a:ext cx="342900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ILLUSTRATIVE SCENARIO</a:t>
            </a:r>
          </a:p>
        </p:txBody>
      </p:sp>
      <p:sp>
        <p:nvSpPr>
          <p:cNvPr id="13" name="TextBox 12"/>
          <p:cNvSpPr txBox="1"/>
          <p:nvPr/>
        </p:nvSpPr>
        <p:spPr>
          <a:xfrm>
            <a:off x="7790688" y="2057400"/>
            <a:ext cx="3337560" cy="578620"/>
          </a:xfrm>
          <a:prstGeom prst="rect">
            <a:avLst/>
          </a:prstGeom>
          <a:noFill/>
        </p:spPr>
        <p:txBody>
          <a:bodyPr wrap="square" lIns="27432" tIns="27432" rIns="27432" bIns="27432" anchor="t">
            <a:spAutoFit/>
          </a:bodyPr>
          <a:lstStyle/>
          <a:p>
            <a:pPr algn="l">
              <a:spcAft>
                <a:spcPts val="0"/>
              </a:spcAft>
            </a:pPr>
            <a:r>
              <a:rPr sz="1700" b="1">
                <a:solidFill>
                  <a:srgbClr val="233A59"/>
                </a:solidFill>
              </a:rPr>
              <a:t>Advertise </a:t>
            </a:r>
            <a:r>
              <a:rPr lang="en-GB" sz="1700" b="1">
                <a:solidFill>
                  <a:srgbClr val="233A59"/>
                </a:solidFill>
              </a:rPr>
              <a:t>Student01 10.1.10.0/24 </a:t>
            </a:r>
            <a:r>
              <a:rPr sz="1700" b="1">
                <a:solidFill>
                  <a:srgbClr val="233A59"/>
                </a:solidFill>
              </a:rPr>
              <a:t>only; reject </a:t>
            </a:r>
            <a:r>
              <a:rPr lang="en-GB" sz="1700" b="1">
                <a:solidFill>
                  <a:srgbClr val="233A59"/>
                </a:solidFill>
              </a:rPr>
              <a:t>all </a:t>
            </a:r>
            <a:r>
              <a:rPr sz="1700" b="1">
                <a:solidFill>
                  <a:srgbClr val="233A59"/>
                </a:solidFill>
              </a:rPr>
              <a:t>unrelated </a:t>
            </a:r>
            <a:r>
              <a:rPr lang="en-GB" sz="1700" b="1">
                <a:solidFill>
                  <a:srgbClr val="233A59"/>
                </a:solidFill>
              </a:rPr>
              <a:t>prefixes</a:t>
            </a:r>
            <a:endParaRPr sz="1700" b="1">
              <a:solidFill>
                <a:srgbClr val="233A59"/>
              </a:solidFill>
            </a:endParaRPr>
          </a:p>
        </p:txBody>
      </p:sp>
      <p:sp>
        <p:nvSpPr>
          <p:cNvPr id="14" name="TextBox 13"/>
          <p:cNvSpPr txBox="1"/>
          <p:nvPr/>
        </p:nvSpPr>
        <p:spPr>
          <a:xfrm>
            <a:off x="7790688" y="3822191"/>
            <a:ext cx="18288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EXPECTED RESULT</a:t>
            </a:r>
            <a:endParaRPr sz="1100" b="1">
              <a:solidFill>
                <a:srgbClr val="E60012"/>
              </a:solidFill>
            </a:endParaRPr>
          </a:p>
        </p:txBody>
      </p:sp>
      <p:sp>
        <p:nvSpPr>
          <p:cNvPr id="15" name="TextBox 14"/>
          <p:cNvSpPr txBox="1"/>
          <p:nvPr/>
        </p:nvSpPr>
        <p:spPr>
          <a:xfrm>
            <a:off x="7790688" y="4187952"/>
            <a:ext cx="3337560" cy="1325880"/>
          </a:xfrm>
          <a:prstGeom prst="rect">
            <a:avLst/>
          </a:prstGeom>
          <a:noFill/>
        </p:spPr>
        <p:txBody>
          <a:bodyPr wrap="square" lIns="27432" tIns="27432" rIns="27432" bIns="27432" anchor="t">
            <a:spAutoFit/>
          </a:bodyPr>
          <a:lstStyle/>
          <a:p>
            <a:pPr algn="l">
              <a:spcAft>
                <a:spcPts val="0"/>
              </a:spcAft>
            </a:pPr>
            <a:r>
              <a:rPr sz="1500" b="0">
                <a:solidFill>
                  <a:srgbClr val="1E2B40"/>
                </a:solidFill>
              </a:rPr>
              <a:t>Compare local route, advertised-routes, peer received-routes and active table.</a:t>
            </a:r>
          </a:p>
        </p:txBody>
      </p:sp>
      <p:sp>
        <p:nvSpPr>
          <p:cNvPr id="16" name="TextBox 15"/>
          <p:cNvSpPr txBox="1"/>
          <p:nvPr/>
        </p:nvSpPr>
        <p:spPr>
          <a:xfrm>
            <a:off x="7790688" y="5596128"/>
            <a:ext cx="1920240" cy="201168"/>
          </a:xfrm>
          <a:prstGeom prst="rect">
            <a:avLst/>
          </a:prstGeom>
          <a:noFill/>
        </p:spPr>
        <p:txBody>
          <a:bodyPr wrap="square" lIns="27432" tIns="27432" rIns="27432" bIns="27432" anchor="t">
            <a:spAutoFit/>
          </a:bodyPr>
          <a:lstStyle/>
          <a:p>
            <a:pPr algn="l">
              <a:spcAft>
                <a:spcPts val="0"/>
              </a:spcAft>
            </a:pPr>
            <a:r>
              <a:rPr sz="1000" b="1">
                <a:solidFill>
                  <a:srgbClr val="687385"/>
                </a:solidFill>
              </a:rPr>
              <a:t>Expected observation</a:t>
            </a:r>
          </a:p>
        </p:txBody>
      </p:sp>
      <p:sp>
        <p:nvSpPr>
          <p:cNvPr id="17" name="TextBox 16"/>
          <p:cNvSpPr txBox="1"/>
          <p:nvPr/>
        </p:nvSpPr>
        <p:spPr>
          <a:xfrm>
            <a:off x="9509760" y="5577840"/>
            <a:ext cx="1691640" cy="824841"/>
          </a:xfrm>
          <a:prstGeom prst="rect">
            <a:avLst/>
          </a:prstGeom>
          <a:noFill/>
        </p:spPr>
        <p:txBody>
          <a:bodyPr wrap="square" lIns="27432" tIns="27432" rIns="27432" bIns="27432" anchor="t">
            <a:spAutoFit/>
          </a:bodyPr>
          <a:lstStyle/>
          <a:p>
            <a:pPr algn="r">
              <a:spcAft>
                <a:spcPts val="0"/>
              </a:spcAft>
            </a:pPr>
            <a:r>
              <a:rPr lang="en-GB" sz="1000" b="0">
                <a:solidFill>
                  <a:srgbClr val="687385"/>
                </a:solidFill>
              </a:rPr>
              <a:t>The peer reaches Established, the permitted prefix is received, and </a:t>
            </a:r>
            <a:r>
              <a:rPr sz="1000" b="0">
                <a:solidFill>
                  <a:srgbClr val="687385"/>
                </a:solidFill>
              </a:rPr>
              <a:t>the </a:t>
            </a:r>
            <a:r>
              <a:rPr lang="en-GB" sz="1000" b="0">
                <a:solidFill>
                  <a:srgbClr val="687385"/>
                </a:solidFill>
              </a:rPr>
              <a:t>selected BGP </a:t>
            </a:r>
            <a:r>
              <a:rPr sz="1000" b="0">
                <a:solidFill>
                  <a:srgbClr val="687385"/>
                </a:solidFill>
              </a:rPr>
              <a:t>path </a:t>
            </a:r>
            <a:r>
              <a:rPr lang="en-GB" sz="1000" b="0">
                <a:solidFill>
                  <a:srgbClr val="687385"/>
                </a:solidFill>
              </a:rPr>
              <a:t>is installed</a:t>
            </a:r>
            <a:r>
              <a:rPr sz="1000" b="0">
                <a:solidFill>
                  <a:srgbClr val="687385"/>
                </a:solidFill>
              </a:rPr>
              <a:t>.</a:t>
            </a:r>
          </a:p>
        </p:txBody>
      </p:sp>
      <p:sp>
        <p:nvSpPr>
          <p:cNvPr id="18" name="TextBox 17"/>
          <p:cNvSpPr txBox="1"/>
          <p:nvPr/>
        </p:nvSpPr>
        <p:spPr>
          <a:xfrm>
            <a:off x="502920" y="420624"/>
            <a:ext cx="10744200" cy="130805"/>
          </a:xfrm>
          <a:prstGeom prst="rect">
            <a:avLst/>
          </a:prstGeom>
          <a:noFill/>
        </p:spPr>
        <p:txBody>
          <a:bodyPr wrap="square" lIns="0" tIns="0" rIns="0" bIns="0">
            <a:spAutoFit/>
          </a:bodyPr>
          <a:lstStyle/>
          <a:p>
            <a:pPr algn="l"/>
            <a:r>
              <a:rPr lang="en-HU" sz="850" b="1">
                <a:solidFill>
                  <a:srgbClr val="687385"/>
                </a:solidFill>
              </a:rPr>
              <a:t>101</a:t>
            </a:r>
            <a:r>
              <a:rPr sz="850" b="1">
                <a:solidFill>
                  <a:srgbClr val="687385"/>
                </a:solidFill>
              </a:rPr>
              <a:t> • DAY 3 • BLOCK 10 • BGP Fundamentals</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102</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BGP path selection is ordered, not a vote</a:t>
            </a:r>
          </a:p>
        </p:txBody>
      </p:sp>
      <p:sp>
        <p:nvSpPr>
          <p:cNvPr id="10" name="TextBox 9"/>
          <p:cNvSpPr txBox="1">
            <a:spLocks/>
          </p:cNvSpPr>
          <p:nvPr/>
        </p:nvSpPr>
        <p:spPr>
          <a:xfrm>
            <a:off x="658368" y="1600200"/>
            <a:ext cx="3456432" cy="292608"/>
          </a:xfrm>
          <a:prstGeom prst="rect">
            <a:avLst/>
          </a:prstGeom>
          <a:noFill/>
        </p:spPr>
        <p:txBody>
          <a:bodyPr wrap="square" lIns="27432" tIns="27432" rIns="27432" bIns="27432" anchor="t">
            <a:spAutoFit/>
          </a:bodyPr>
          <a:lstStyle/>
          <a:p>
            <a:pPr algn="l">
              <a:spcAft>
                <a:spcPts val="0"/>
              </a:spcAft>
            </a:pPr>
            <a:r>
              <a:rPr lang="en-GB" sz="1300" b="1">
                <a:solidFill>
                  <a:srgbClr val="E60012"/>
                </a:solidFill>
              </a:rPr>
              <a:t>PATH A</a:t>
            </a:r>
          </a:p>
        </p:txBody>
      </p:sp>
      <p:cxnSp>
        <p:nvCxnSpPr>
          <p:cNvPr id="11" name="Connector 10"/>
          <p:cNvCxnSpPr/>
          <p:nvPr/>
        </p:nvCxnSpPr>
        <p:spPr>
          <a:xfrm>
            <a:off x="658368" y="1984248"/>
            <a:ext cx="3456432" cy="0"/>
          </a:xfrm>
          <a:prstGeom prst="line">
            <a:avLst/>
          </a:prstGeom>
          <a:ln w="22860">
            <a:solidFill>
              <a:srgbClr val="E60012"/>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658368" y="2176272"/>
            <a:ext cx="3456432" cy="3337560"/>
          </a:xfrm>
          <a:prstGeom prst="rect">
            <a:avLst/>
          </a:prstGeom>
          <a:noFill/>
        </p:spPr>
        <p:txBody>
          <a:bodyPr wrap="square" lIns="109728" tIns="73152" rIns="109728" bIns="73152" anchor="t">
            <a:spAutoFit/>
          </a:bodyPr>
          <a:lstStyle/>
          <a:p>
            <a:pPr algn="l">
              <a:lnSpc>
                <a:spcPct val="105000"/>
              </a:lnSpc>
              <a:spcAft>
                <a:spcPts val="800"/>
              </a:spcAft>
              <a:defRPr sz="1600">
                <a:solidFill>
                  <a:srgbClr val="1E2B40"/>
                </a:solidFill>
              </a:defRPr>
            </a:pPr>
            <a:r>
              <a:rPr lang="en-GB"/>
              <a:t>• local-pref 200</a:t>
            </a:r>
          </a:p>
          <a:p>
            <a:pPr>
              <a:lnSpc>
                <a:spcPct val="105000"/>
              </a:lnSpc>
              <a:spcAft>
                <a:spcPts val="800"/>
              </a:spcAft>
              <a:defRPr sz="1600">
                <a:solidFill>
                  <a:srgbClr val="1E2B40"/>
                </a:solidFill>
              </a:defRPr>
            </a:pPr>
            <a:r>
              <a:rPr lang="en-GB"/>
              <a:t>• AS_PATH 65020 65100</a:t>
            </a:r>
          </a:p>
          <a:p>
            <a:pPr>
              <a:lnSpc>
                <a:spcPct val="105000"/>
              </a:lnSpc>
              <a:spcAft>
                <a:spcPts val="800"/>
              </a:spcAft>
              <a:defRPr sz="1600">
                <a:solidFill>
                  <a:srgbClr val="1E2B40"/>
                </a:solidFill>
              </a:defRPr>
            </a:pPr>
            <a:r>
              <a:rPr lang="en-GB"/>
              <a:t>• next hop reachable</a:t>
            </a:r>
          </a:p>
        </p:txBody>
      </p:sp>
      <p:sp>
        <p:nvSpPr>
          <p:cNvPr id="13" name="TextBox 12"/>
          <p:cNvSpPr txBox="1">
            <a:spLocks/>
          </p:cNvSpPr>
          <p:nvPr/>
        </p:nvSpPr>
        <p:spPr>
          <a:xfrm>
            <a:off x="4370831" y="1600200"/>
            <a:ext cx="3456432" cy="292608"/>
          </a:xfrm>
          <a:prstGeom prst="rect">
            <a:avLst/>
          </a:prstGeom>
          <a:noFill/>
        </p:spPr>
        <p:txBody>
          <a:bodyPr wrap="square" lIns="27432" tIns="27432" rIns="27432" bIns="27432" anchor="t">
            <a:spAutoFit/>
          </a:bodyPr>
          <a:lstStyle/>
          <a:p>
            <a:pPr algn="l">
              <a:spcAft>
                <a:spcPts val="0"/>
              </a:spcAft>
            </a:pPr>
            <a:r>
              <a:rPr lang="en-GB" sz="1300" b="1">
                <a:solidFill>
                  <a:srgbClr val="E60012"/>
                </a:solidFill>
              </a:rPr>
              <a:t>PATH B</a:t>
            </a:r>
          </a:p>
        </p:txBody>
      </p:sp>
      <p:cxnSp>
        <p:nvCxnSpPr>
          <p:cNvPr id="14" name="Connector 13"/>
          <p:cNvCxnSpPr/>
          <p:nvPr/>
        </p:nvCxnSpPr>
        <p:spPr>
          <a:xfrm>
            <a:off x="4370831" y="1984248"/>
            <a:ext cx="3456432" cy="0"/>
          </a:xfrm>
          <a:prstGeom prst="line">
            <a:avLst/>
          </a:prstGeom>
          <a:ln w="22860">
            <a:solidFill>
              <a:srgbClr val="E60012"/>
            </a:solidFill>
          </a:ln>
        </p:spPr>
        <p:style>
          <a:lnRef idx="2">
            <a:schemeClr val="accent1"/>
          </a:lnRef>
          <a:fillRef idx="0">
            <a:schemeClr val="accent1"/>
          </a:fillRef>
          <a:effectRef idx="1">
            <a:schemeClr val="accent1"/>
          </a:effectRef>
          <a:fontRef idx="minor">
            <a:schemeClr val="tx1"/>
          </a:fontRef>
        </p:style>
      </p:cxnSp>
      <p:sp>
        <p:nvSpPr>
          <p:cNvPr id="15" name="TextBox 14"/>
          <p:cNvSpPr txBox="1">
            <a:spLocks/>
          </p:cNvSpPr>
          <p:nvPr/>
        </p:nvSpPr>
        <p:spPr>
          <a:xfrm>
            <a:off x="4370831" y="2176272"/>
            <a:ext cx="3456432" cy="3337560"/>
          </a:xfrm>
          <a:prstGeom prst="rect">
            <a:avLst/>
          </a:prstGeom>
          <a:noFill/>
        </p:spPr>
        <p:txBody>
          <a:bodyPr wrap="square" lIns="109728" tIns="73152" rIns="109728" bIns="73152" anchor="t">
            <a:spAutoFit/>
          </a:bodyPr>
          <a:lstStyle/>
          <a:p>
            <a:pPr algn="l">
              <a:lnSpc>
                <a:spcPct val="105000"/>
              </a:lnSpc>
              <a:spcAft>
                <a:spcPts val="800"/>
              </a:spcAft>
              <a:defRPr sz="1600">
                <a:solidFill>
                  <a:srgbClr val="1E2B40"/>
                </a:solidFill>
              </a:defRPr>
            </a:pPr>
            <a:r>
              <a:rPr lang="en-GB"/>
              <a:t>• local-pref 100</a:t>
            </a:r>
          </a:p>
          <a:p>
            <a:pPr>
              <a:lnSpc>
                <a:spcPct val="105000"/>
              </a:lnSpc>
              <a:spcAft>
                <a:spcPts val="800"/>
              </a:spcAft>
              <a:defRPr sz="1600">
                <a:solidFill>
                  <a:srgbClr val="1E2B40"/>
                </a:solidFill>
              </a:defRPr>
            </a:pPr>
            <a:r>
              <a:rPr lang="en-GB"/>
              <a:t>• AS_PATH 65200</a:t>
            </a:r>
          </a:p>
          <a:p>
            <a:pPr>
              <a:lnSpc>
                <a:spcPct val="105000"/>
              </a:lnSpc>
              <a:spcAft>
                <a:spcPts val="800"/>
              </a:spcAft>
              <a:defRPr sz="1600">
                <a:solidFill>
                  <a:srgbClr val="1E2B40"/>
                </a:solidFill>
              </a:defRPr>
            </a:pPr>
            <a:r>
              <a:rPr lang="en-GB"/>
              <a:t>• next hop reachable</a:t>
            </a:r>
          </a:p>
        </p:txBody>
      </p:sp>
      <p:sp>
        <p:nvSpPr>
          <p:cNvPr id="16" name="TextBox 15"/>
          <p:cNvSpPr txBox="1">
            <a:spLocks/>
          </p:cNvSpPr>
          <p:nvPr/>
        </p:nvSpPr>
        <p:spPr>
          <a:xfrm>
            <a:off x="8083296" y="1600200"/>
            <a:ext cx="3456432" cy="292608"/>
          </a:xfrm>
          <a:prstGeom prst="rect">
            <a:avLst/>
          </a:prstGeom>
          <a:noFill/>
        </p:spPr>
        <p:txBody>
          <a:bodyPr wrap="square" lIns="27432" tIns="27432" rIns="27432" bIns="27432" anchor="t">
            <a:spAutoFit/>
          </a:bodyPr>
          <a:lstStyle/>
          <a:p>
            <a:pPr algn="l">
              <a:spcAft>
                <a:spcPts val="0"/>
              </a:spcAft>
            </a:pPr>
            <a:r>
              <a:rPr lang="en-GB" sz="1300" b="1">
                <a:solidFill>
                  <a:srgbClr val="E60012"/>
                </a:solidFill>
              </a:rPr>
              <a:t>RESULT</a:t>
            </a:r>
          </a:p>
        </p:txBody>
      </p:sp>
      <p:cxnSp>
        <p:nvCxnSpPr>
          <p:cNvPr id="17" name="Connector 16"/>
          <p:cNvCxnSpPr/>
          <p:nvPr/>
        </p:nvCxnSpPr>
        <p:spPr>
          <a:xfrm>
            <a:off x="8083296" y="1984248"/>
            <a:ext cx="3456432" cy="0"/>
          </a:xfrm>
          <a:prstGeom prst="line">
            <a:avLst/>
          </a:prstGeom>
          <a:ln w="22860">
            <a:solidFill>
              <a:srgbClr val="E60012"/>
            </a:solidFill>
          </a:ln>
        </p:spPr>
        <p:style>
          <a:lnRef idx="2">
            <a:schemeClr val="accent1"/>
          </a:lnRef>
          <a:fillRef idx="0">
            <a:schemeClr val="accent1"/>
          </a:fillRef>
          <a:effectRef idx="1">
            <a:schemeClr val="accent1"/>
          </a:effectRef>
          <a:fontRef idx="minor">
            <a:schemeClr val="tx1"/>
          </a:fontRef>
        </p:style>
      </p:cxnSp>
      <p:sp>
        <p:nvSpPr>
          <p:cNvPr id="18" name="TextBox 17"/>
          <p:cNvSpPr txBox="1">
            <a:spLocks/>
          </p:cNvSpPr>
          <p:nvPr/>
        </p:nvSpPr>
        <p:spPr>
          <a:xfrm>
            <a:off x="8083296" y="2176272"/>
            <a:ext cx="3456432" cy="3337560"/>
          </a:xfrm>
          <a:prstGeom prst="rect">
            <a:avLst/>
          </a:prstGeom>
          <a:noFill/>
        </p:spPr>
        <p:txBody>
          <a:bodyPr wrap="square" lIns="109728" tIns="73152" rIns="109728" bIns="73152" anchor="t">
            <a:spAutoFit/>
          </a:bodyPr>
          <a:lstStyle/>
          <a:p>
            <a:pPr algn="l">
              <a:lnSpc>
                <a:spcPct val="105000"/>
              </a:lnSpc>
              <a:spcAft>
                <a:spcPts val="800"/>
              </a:spcAft>
              <a:defRPr sz="1600">
                <a:solidFill>
                  <a:srgbClr val="1E2B40"/>
                </a:solidFill>
              </a:defRPr>
            </a:pPr>
            <a:r>
              <a:rPr lang="en-GB"/>
              <a:t>• A wins at local preference</a:t>
            </a:r>
          </a:p>
          <a:p>
            <a:pPr>
              <a:lnSpc>
                <a:spcPct val="105000"/>
              </a:lnSpc>
              <a:spcAft>
                <a:spcPts val="800"/>
              </a:spcAft>
              <a:defRPr sz="1600">
                <a:solidFill>
                  <a:srgbClr val="1E2B40"/>
                </a:solidFill>
              </a:defRPr>
            </a:pPr>
            <a:r>
              <a:rPr lang="en-GB"/>
              <a:t>• Later criteria not evaluated</a:t>
            </a:r>
          </a:p>
          <a:p>
            <a:pPr>
              <a:lnSpc>
                <a:spcPct val="105000"/>
              </a:lnSpc>
              <a:spcAft>
                <a:spcPts val="800"/>
              </a:spcAft>
              <a:defRPr sz="1600">
                <a:solidFill>
                  <a:srgbClr val="1E2B40"/>
                </a:solidFill>
              </a:defRPr>
            </a:pPr>
            <a:r>
              <a:rPr lang="en-GB"/>
              <a:t>• Validate best-path marker</a:t>
            </a:r>
          </a:p>
        </p:txBody>
      </p:sp>
      <p:sp>
        <p:nvSpPr>
          <p:cNvPr id="19" name="TextBox 18"/>
          <p:cNvSpPr txBox="1">
            <a:spLocks/>
          </p:cNvSpPr>
          <p:nvPr/>
        </p:nvSpPr>
        <p:spPr>
          <a:xfrm>
            <a:off x="658368" y="5724144"/>
            <a:ext cx="1234440" cy="224677"/>
          </a:xfrm>
          <a:prstGeom prst="rect">
            <a:avLst/>
          </a:prstGeom>
          <a:noFill/>
        </p:spPr>
        <p:txBody>
          <a:bodyPr wrap="square" lIns="27432" tIns="27432" rIns="27432" bIns="27432" anchor="t">
            <a:spAutoFit/>
          </a:bodyPr>
          <a:lstStyle/>
          <a:p>
            <a:pPr algn="l">
              <a:spcAft>
                <a:spcPts val="0"/>
              </a:spcAft>
            </a:pPr>
            <a:r>
              <a:rPr lang="en-GB" sz="1100" b="1">
                <a:solidFill>
                  <a:srgbClr val="233A59"/>
                </a:solidFill>
              </a:rPr>
              <a:t>KEY DISTINCTION</a:t>
            </a:r>
          </a:p>
        </p:txBody>
      </p:sp>
      <p:sp>
        <p:nvSpPr>
          <p:cNvPr id="20" name="TextBox 19"/>
          <p:cNvSpPr txBox="1">
            <a:spLocks/>
          </p:cNvSpPr>
          <p:nvPr/>
        </p:nvSpPr>
        <p:spPr>
          <a:xfrm>
            <a:off x="1920240" y="5687568"/>
            <a:ext cx="9235440" cy="329184"/>
          </a:xfrm>
          <a:prstGeom prst="rect">
            <a:avLst/>
          </a:prstGeom>
          <a:noFill/>
        </p:spPr>
        <p:txBody>
          <a:bodyPr wrap="square" lIns="27432" tIns="27432" rIns="27432" bIns="27432" anchor="t">
            <a:spAutoFit/>
          </a:bodyPr>
          <a:lstStyle/>
          <a:p>
            <a:pPr algn="l">
              <a:spcAft>
                <a:spcPts val="0"/>
              </a:spcAft>
            </a:pPr>
            <a:r>
              <a:rPr lang="en-GB" sz="1400" b="1">
                <a:solidFill>
                  <a:srgbClr val="233A59"/>
                </a:solidFill>
              </a:rPr>
              <a:t>Two /24 paths: higher local preference can win before shorter AS_PATH</a:t>
            </a:r>
          </a:p>
        </p:txBody>
      </p:sp>
      <p:sp>
        <p:nvSpPr>
          <p:cNvPr id="21" name="TextBox 20"/>
          <p:cNvSpPr txBox="1">
            <a:spLocks/>
          </p:cNvSpPr>
          <p:nvPr/>
        </p:nvSpPr>
        <p:spPr>
          <a:xfrm>
            <a:off x="502920" y="420624"/>
            <a:ext cx="10744200" cy="130805"/>
          </a:xfrm>
          <a:prstGeom prst="rect">
            <a:avLst/>
          </a:prstGeom>
          <a:noFill/>
        </p:spPr>
        <p:txBody>
          <a:bodyPr wrap="square" lIns="0" tIns="0" rIns="0" bIns="0">
            <a:spAutoFit/>
          </a:bodyPr>
          <a:lstStyle/>
          <a:p>
            <a:pPr algn="l"/>
            <a:r>
              <a:rPr lang="en-GB" sz="850" b="1">
                <a:solidFill>
                  <a:srgbClr val="687385"/>
                </a:solidFill>
              </a:rPr>
              <a:t>102 • DAY 3 • BLOCK 10 • BGP Fundamentals</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103</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Route maps and prefix lists implement routing policy</a:t>
            </a:r>
          </a:p>
        </p:txBody>
      </p:sp>
      <p:sp>
        <p:nvSpPr>
          <p:cNvPr id="10" name="Rectangle 9"/>
          <p:cNvSpPr/>
          <p:nvPr/>
        </p:nvSpPr>
        <p:spPr>
          <a:xfrm>
            <a:off x="658368" y="1572768"/>
            <a:ext cx="6583680" cy="425196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1" name="TextBox 10"/>
          <p:cNvSpPr txBox="1">
            <a:spLocks/>
          </p:cNvSpPr>
          <p:nvPr/>
        </p:nvSpPr>
        <p:spPr>
          <a:xfrm>
            <a:off x="877824" y="1783080"/>
            <a:ext cx="6126480" cy="209288"/>
          </a:xfrm>
          <a:prstGeom prst="rect">
            <a:avLst/>
          </a:prstGeom>
          <a:noFill/>
        </p:spPr>
        <p:txBody>
          <a:bodyPr wrap="square" lIns="27432" tIns="27432" rIns="27432" bIns="27432" anchor="t">
            <a:spAutoFit/>
          </a:bodyPr>
          <a:lstStyle/>
          <a:p>
            <a:pPr algn="l">
              <a:spcAft>
                <a:spcPts val="0"/>
              </a:spcAft>
            </a:pPr>
            <a:r>
              <a:rPr lang="en-GB" sz="1000" b="1">
                <a:solidFill>
                  <a:srgbClr val="E60012"/>
                </a:solidFill>
              </a:rPr>
              <a:t>ILLUSTRATIVE CLI — validate on FortiOS 7.6.7 / Azure FortiGate-VM</a:t>
            </a:r>
          </a:p>
        </p:txBody>
      </p:sp>
      <p:sp>
        <p:nvSpPr>
          <p:cNvPr id="12" name="TextBox 11"/>
          <p:cNvSpPr txBox="1">
            <a:spLocks/>
          </p:cNvSpPr>
          <p:nvPr/>
        </p:nvSpPr>
        <p:spPr>
          <a:xfrm>
            <a:off x="877824" y="2212848"/>
            <a:ext cx="6080760" cy="3154680"/>
          </a:xfrm>
          <a:prstGeom prst="rect">
            <a:avLst/>
          </a:prstGeom>
          <a:noFill/>
        </p:spPr>
        <p:txBody>
          <a:bodyPr wrap="square" lIns="27432" tIns="27432" rIns="27432" bIns="27432" anchor="t">
            <a:spAutoFit/>
          </a:bodyPr>
          <a:lstStyle/>
          <a:p>
            <a:pPr algn="l">
              <a:spcAft>
                <a:spcPts val="0"/>
              </a:spcAft>
            </a:pPr>
            <a:r>
              <a:rPr lang="en-GB" sz="1400" b="0">
                <a:solidFill>
                  <a:srgbClr val="E6ECF4"/>
                </a:solidFill>
                <a:latin typeface="Consolas"/>
              </a:rPr>
              <a:t>get router info bgp summary
get router info bgp network
get router info bgp neighbors &lt;peer&gt; advertised-routes
get router info bgp neighbors &lt;peer&gt; received-routes</a:t>
            </a:r>
          </a:p>
        </p:txBody>
      </p:sp>
      <p:sp>
        <p:nvSpPr>
          <p:cNvPr id="13" name="TextBox 12"/>
          <p:cNvSpPr txBox="1">
            <a:spLocks/>
          </p:cNvSpPr>
          <p:nvPr/>
        </p:nvSpPr>
        <p:spPr>
          <a:xfrm>
            <a:off x="7754112" y="1719072"/>
            <a:ext cx="3154680" cy="256032"/>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READ THE OUTPUT</a:t>
            </a:r>
          </a:p>
        </p:txBody>
      </p:sp>
      <p:sp>
        <p:nvSpPr>
          <p:cNvPr id="14" name="TextBox 13"/>
          <p:cNvSpPr txBox="1">
            <a:spLocks/>
          </p:cNvSpPr>
          <p:nvPr/>
        </p:nvSpPr>
        <p:spPr>
          <a:xfrm>
            <a:off x="7754112" y="2121408"/>
            <a:ext cx="3383280" cy="2148840"/>
          </a:xfrm>
          <a:prstGeom prst="rect">
            <a:avLst/>
          </a:prstGeom>
          <a:noFill/>
        </p:spPr>
        <p:txBody>
          <a:bodyPr wrap="square" lIns="109728" tIns="73152" rIns="109728" bIns="73152" anchor="t">
            <a:spAutoFit/>
          </a:bodyPr>
          <a:lstStyle/>
          <a:p>
            <a:pPr algn="l">
              <a:lnSpc>
                <a:spcPct val="105000"/>
              </a:lnSpc>
              <a:spcAft>
                <a:spcPts val="700"/>
              </a:spcAft>
              <a:defRPr sz="1500">
                <a:solidFill>
                  <a:srgbClr val="1E2B40"/>
                </a:solidFill>
              </a:defRPr>
            </a:pPr>
            <a:r>
              <a:rPr lang="en-GB"/>
              <a:t>• Prefix lists match address and prefix-length ranges</a:t>
            </a:r>
          </a:p>
          <a:p>
            <a:pPr>
              <a:lnSpc>
                <a:spcPct val="105000"/>
              </a:lnSpc>
              <a:spcAft>
                <a:spcPts val="700"/>
              </a:spcAft>
              <a:defRPr sz="1500">
                <a:solidFill>
                  <a:srgbClr val="1E2B40"/>
                </a:solidFill>
              </a:defRPr>
            </a:pPr>
            <a:r>
              <a:rPr lang="en-GB"/>
              <a:t>• Route maps match and permit/deny or set attributes</a:t>
            </a:r>
          </a:p>
          <a:p>
            <a:pPr>
              <a:lnSpc>
                <a:spcPct val="105000"/>
              </a:lnSpc>
              <a:spcAft>
                <a:spcPts val="700"/>
              </a:spcAft>
              <a:defRPr sz="1500">
                <a:solidFill>
                  <a:srgbClr val="1E2B40"/>
                </a:solidFill>
              </a:defRPr>
            </a:pPr>
            <a:r>
              <a:rPr lang="en-GB"/>
              <a:t>• Direction matters: inbound changes acceptance; outbound changes advertisement</a:t>
            </a:r>
          </a:p>
          <a:p>
            <a:pPr>
              <a:lnSpc>
                <a:spcPct val="105000"/>
              </a:lnSpc>
              <a:spcAft>
                <a:spcPts val="700"/>
              </a:spcAft>
              <a:defRPr sz="1500">
                <a:solidFill>
                  <a:srgbClr val="1E2B40"/>
                </a:solidFill>
              </a:defRPr>
            </a:pPr>
            <a:r>
              <a:rPr lang="en-GB"/>
              <a:t>• Always include an explicit policy for default/unmatched routes</a:t>
            </a:r>
          </a:p>
        </p:txBody>
      </p:sp>
      <p:sp>
        <p:nvSpPr>
          <p:cNvPr id="15" name="TextBox 14"/>
          <p:cNvSpPr txBox="1">
            <a:spLocks/>
          </p:cNvSpPr>
          <p:nvPr/>
        </p:nvSpPr>
        <p:spPr>
          <a:xfrm>
            <a:off x="7754112" y="4553712"/>
            <a:ext cx="201168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Safe operation</a:t>
            </a:r>
          </a:p>
        </p:txBody>
      </p:sp>
      <p:sp>
        <p:nvSpPr>
          <p:cNvPr id="16" name="TextBox 15"/>
          <p:cNvSpPr txBox="1">
            <a:spLocks/>
          </p:cNvSpPr>
          <p:nvPr/>
        </p:nvSpPr>
        <p:spPr>
          <a:xfrm>
            <a:off x="7754112" y="4882896"/>
            <a:ext cx="3401568" cy="486287"/>
          </a:xfrm>
          <a:prstGeom prst="rect">
            <a:avLst/>
          </a:prstGeom>
          <a:noFill/>
        </p:spPr>
        <p:txBody>
          <a:bodyPr wrap="square" lIns="27432" tIns="27432" rIns="27432" bIns="27432" anchor="t">
            <a:spAutoFit/>
          </a:bodyPr>
          <a:lstStyle/>
          <a:p>
            <a:pPr algn="l">
              <a:spcAft>
                <a:spcPts val="0"/>
              </a:spcAft>
            </a:pPr>
            <a:r>
              <a:rPr lang="en-GB" sz="1400" b="1">
                <a:solidFill>
                  <a:srgbClr val="233A59"/>
                </a:solidFill>
              </a:rPr>
              <a:t>Outbound permit for 10.2.10.0/24; deny everything else</a:t>
            </a:r>
          </a:p>
        </p:txBody>
      </p:sp>
      <p:sp>
        <p:nvSpPr>
          <p:cNvPr id="17" name="TextBox 16"/>
          <p:cNvSpPr txBox="1">
            <a:spLocks/>
          </p:cNvSpPr>
          <p:nvPr/>
        </p:nvSpPr>
        <p:spPr>
          <a:xfrm>
            <a:off x="502920" y="420624"/>
            <a:ext cx="10744200" cy="130805"/>
          </a:xfrm>
          <a:prstGeom prst="rect">
            <a:avLst/>
          </a:prstGeom>
          <a:noFill/>
        </p:spPr>
        <p:txBody>
          <a:bodyPr wrap="square" lIns="0" tIns="0" rIns="0" bIns="0">
            <a:spAutoFit/>
          </a:bodyPr>
          <a:lstStyle/>
          <a:p>
            <a:pPr algn="l"/>
            <a:r>
              <a:rPr lang="en-GB" sz="850" b="1">
                <a:solidFill>
                  <a:srgbClr val="687385"/>
                </a:solidFill>
              </a:rPr>
              <a:t>103 • DAY 3 • BLOCK 10 • BGP Fundamentals</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104</a:t>
            </a:r>
          </a:p>
        </p:txBody>
      </p:sp>
      <p:sp>
        <p:nvSpPr>
          <p:cNvPr id="9" name="TextBox 8"/>
          <p:cNvSpPr txBox="1">
            <a:spLocks/>
          </p:cNvSpPr>
          <p:nvPr/>
        </p:nvSpPr>
        <p:spPr>
          <a:xfrm>
            <a:off x="502920" y="621792"/>
            <a:ext cx="11109960" cy="455509"/>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BGP state connects peer, prefix selection and forwarding</a:t>
            </a:r>
          </a:p>
        </p:txBody>
      </p:sp>
      <p:sp>
        <p:nvSpPr>
          <p:cNvPr id="10" name="TextBox 9"/>
          <p:cNvSpPr txBox="1">
            <a:spLocks/>
          </p:cNvSpPr>
          <p:nvPr/>
        </p:nvSpPr>
        <p:spPr>
          <a:xfrm>
            <a:off x="658368" y="1554480"/>
            <a:ext cx="6583680" cy="1820691"/>
          </a:xfrm>
          <a:prstGeom prst="rect">
            <a:avLst/>
          </a:prstGeom>
          <a:noFill/>
        </p:spPr>
        <p:txBody>
          <a:bodyPr wrap="square" lIns="109728" tIns="73152" rIns="109728" bIns="73152" anchor="t">
            <a:spAutoFit/>
          </a:bodyPr>
          <a:lstStyle/>
          <a:p>
            <a:pPr algn="l">
              <a:lnSpc>
                <a:spcPct val="105000"/>
              </a:lnSpc>
              <a:spcAft>
                <a:spcPts val="800"/>
              </a:spcAft>
              <a:defRPr sz="1700">
                <a:solidFill>
                  <a:srgbClr val="1E2B40"/>
                </a:solidFill>
              </a:defRPr>
            </a:pPr>
            <a:r>
              <a:rPr lang="en-GB"/>
              <a:t>• Peer state: Established with stable uptime</a:t>
            </a:r>
          </a:p>
          <a:p>
            <a:pPr>
              <a:lnSpc>
                <a:spcPct val="105000"/>
              </a:lnSpc>
              <a:spcAft>
                <a:spcPts val="800"/>
              </a:spcAft>
              <a:defRPr sz="1700">
                <a:solidFill>
                  <a:srgbClr val="1E2B40"/>
                </a:solidFill>
              </a:defRPr>
            </a:pPr>
            <a:r>
              <a:rPr lang="en-GB"/>
              <a:t>• Control plane: expected prefix received/advertised and best path selected</a:t>
            </a:r>
          </a:p>
          <a:p>
            <a:pPr>
              <a:lnSpc>
                <a:spcPct val="105000"/>
              </a:lnSpc>
              <a:spcAft>
                <a:spcPts val="800"/>
              </a:spcAft>
              <a:defRPr sz="1700">
                <a:solidFill>
                  <a:srgbClr val="1E2B40"/>
                </a:solidFill>
              </a:defRPr>
            </a:pPr>
            <a:r>
              <a:rPr lang="en-GB"/>
              <a:t>• Routing table: BGP route installed with intended next hop</a:t>
            </a:r>
          </a:p>
          <a:p>
            <a:pPr>
              <a:lnSpc>
                <a:spcPct val="105000"/>
              </a:lnSpc>
              <a:spcAft>
                <a:spcPts val="800"/>
              </a:spcAft>
              <a:defRPr sz="1700">
                <a:solidFill>
                  <a:srgbClr val="1E2B40"/>
                </a:solidFill>
              </a:defRPr>
            </a:pPr>
            <a:r>
              <a:rPr lang="en-GB"/>
              <a:t>• Data plane: policy/session/packet behavior follows that next hop</a:t>
            </a:r>
          </a:p>
        </p:txBody>
      </p:sp>
      <p:cxnSp>
        <p:nvCxnSpPr>
          <p:cNvPr id="11" name="Connector 10"/>
          <p:cNvCxnSpPr/>
          <p:nvPr/>
        </p:nvCxnSpPr>
        <p:spPr>
          <a:xfrm>
            <a:off x="7452360" y="1600200"/>
            <a:ext cx="0" cy="434340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7790688" y="1627632"/>
            <a:ext cx="342900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ILLUSTRATIVE SCENARIO</a:t>
            </a:r>
          </a:p>
        </p:txBody>
      </p:sp>
      <p:sp>
        <p:nvSpPr>
          <p:cNvPr id="13" name="TextBox 12"/>
          <p:cNvSpPr txBox="1">
            <a:spLocks/>
          </p:cNvSpPr>
          <p:nvPr/>
        </p:nvSpPr>
        <p:spPr>
          <a:xfrm>
            <a:off x="7790688" y="2057400"/>
            <a:ext cx="3337560" cy="1417320"/>
          </a:xfrm>
          <a:prstGeom prst="rect">
            <a:avLst/>
          </a:prstGeom>
          <a:noFill/>
        </p:spPr>
        <p:txBody>
          <a:bodyPr wrap="square" lIns="27432" tIns="27432" rIns="27432" bIns="27432" anchor="t">
            <a:spAutoFit/>
          </a:bodyPr>
          <a:lstStyle/>
          <a:p>
            <a:pPr algn="l">
              <a:spcAft>
                <a:spcPts val="0"/>
              </a:spcAft>
            </a:pPr>
            <a:r>
              <a:rPr lang="en-GB" sz="1700" b="1">
                <a:solidFill>
                  <a:srgbClr val="233A59"/>
                </a:solidFill>
              </a:rPr>
              <a:t>A received route can lose selection or fail installation; never stop at prefix count</a:t>
            </a:r>
          </a:p>
        </p:txBody>
      </p:sp>
      <p:sp>
        <p:nvSpPr>
          <p:cNvPr id="14" name="TextBox 13"/>
          <p:cNvSpPr txBox="1">
            <a:spLocks/>
          </p:cNvSpPr>
          <p:nvPr/>
        </p:nvSpPr>
        <p:spPr>
          <a:xfrm>
            <a:off x="7790688" y="3822191"/>
            <a:ext cx="18288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EXPECTED RESULT</a:t>
            </a:r>
          </a:p>
        </p:txBody>
      </p:sp>
      <p:sp>
        <p:nvSpPr>
          <p:cNvPr id="15" name="TextBox 14"/>
          <p:cNvSpPr txBox="1">
            <a:spLocks/>
          </p:cNvSpPr>
          <p:nvPr/>
        </p:nvSpPr>
        <p:spPr>
          <a:xfrm>
            <a:off x="7790688" y="4187952"/>
            <a:ext cx="3337560" cy="1325880"/>
          </a:xfrm>
          <a:prstGeom prst="rect">
            <a:avLst/>
          </a:prstGeom>
          <a:noFill/>
        </p:spPr>
        <p:txBody>
          <a:bodyPr wrap="square" lIns="27432" tIns="27432" rIns="27432" bIns="27432" anchor="t">
            <a:spAutoFit/>
          </a:bodyPr>
          <a:lstStyle/>
          <a:p>
            <a:pPr algn="l">
              <a:spcAft>
                <a:spcPts val="0"/>
              </a:spcAft>
            </a:pPr>
            <a:r>
              <a:rPr lang="en-GB" sz="1500" b="0">
                <a:solidFill>
                  <a:srgbClr val="1E2B40"/>
                </a:solidFill>
              </a:rPr>
              <a:t>Capture summary, detailed prefix, route table and one test flow.</a:t>
            </a:r>
          </a:p>
        </p:txBody>
      </p:sp>
      <p:sp>
        <p:nvSpPr>
          <p:cNvPr id="16" name="TextBox 15"/>
          <p:cNvSpPr txBox="1">
            <a:spLocks/>
          </p:cNvSpPr>
          <p:nvPr/>
        </p:nvSpPr>
        <p:spPr>
          <a:xfrm>
            <a:off x="7790688" y="5596128"/>
            <a:ext cx="1920240" cy="201168"/>
          </a:xfrm>
          <a:prstGeom prst="rect">
            <a:avLst/>
          </a:prstGeom>
          <a:noFill/>
        </p:spPr>
        <p:txBody>
          <a:bodyPr wrap="square" lIns="27432" tIns="27432" rIns="27432" bIns="27432" anchor="t">
            <a:spAutoFit/>
          </a:bodyPr>
          <a:lstStyle/>
          <a:p>
            <a:pPr algn="l">
              <a:spcAft>
                <a:spcPts val="0"/>
              </a:spcAft>
            </a:pPr>
            <a:r>
              <a:rPr lang="en-GB" sz="1000" b="1">
                <a:solidFill>
                  <a:srgbClr val="687385"/>
                </a:solidFill>
              </a:rPr>
              <a:t>Expected observation</a:t>
            </a:r>
          </a:p>
        </p:txBody>
      </p:sp>
      <p:sp>
        <p:nvSpPr>
          <p:cNvPr id="17" name="TextBox 16"/>
          <p:cNvSpPr txBox="1">
            <a:spLocks/>
          </p:cNvSpPr>
          <p:nvPr/>
        </p:nvSpPr>
        <p:spPr>
          <a:xfrm>
            <a:off x="9509760" y="5577840"/>
            <a:ext cx="1691640" cy="824841"/>
          </a:xfrm>
          <a:prstGeom prst="rect">
            <a:avLst/>
          </a:prstGeom>
          <a:noFill/>
        </p:spPr>
        <p:txBody>
          <a:bodyPr wrap="square" lIns="27432" tIns="27432" rIns="27432" bIns="27432" anchor="t">
            <a:spAutoFit/>
          </a:bodyPr>
          <a:lstStyle/>
          <a:p>
            <a:pPr algn="r">
              <a:spcAft>
                <a:spcPts val="0"/>
              </a:spcAft>
            </a:pPr>
            <a:r>
              <a:rPr lang="en-GB" sz="1000" b="0">
                <a:solidFill>
                  <a:srgbClr val="687385"/>
                </a:solidFill>
              </a:rPr>
              <a:t>The peer reaches Established, the permitted prefix is received, and the selected BGP path is installed.</a:t>
            </a:r>
          </a:p>
        </p:txBody>
      </p:sp>
      <p:sp>
        <p:nvSpPr>
          <p:cNvPr id="18" name="TextBox 17"/>
          <p:cNvSpPr txBox="1">
            <a:spLocks/>
          </p:cNvSpPr>
          <p:nvPr/>
        </p:nvSpPr>
        <p:spPr>
          <a:xfrm>
            <a:off x="502920" y="420624"/>
            <a:ext cx="10744200" cy="130805"/>
          </a:xfrm>
          <a:prstGeom prst="rect">
            <a:avLst/>
          </a:prstGeom>
          <a:noFill/>
        </p:spPr>
        <p:txBody>
          <a:bodyPr wrap="square" lIns="0" tIns="0" rIns="0" bIns="0">
            <a:spAutoFit/>
          </a:bodyPr>
          <a:lstStyle/>
          <a:p>
            <a:pPr algn="l"/>
            <a:r>
              <a:rPr lang="en-GB" sz="850" b="1">
                <a:solidFill>
                  <a:srgbClr val="687385"/>
                </a:solidFill>
              </a:rPr>
              <a:t>104 • DAY 3 • BLOCK 10 • BGP Fundamentals</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p:nvPr/>
        </p:nvSpPr>
        <p:spPr>
          <a:xfrm>
            <a:off x="502920" y="411480"/>
            <a:ext cx="548640" cy="189283"/>
          </a:xfrm>
          <a:prstGeom prst="rect">
            <a:avLst/>
          </a:prstGeom>
          <a:noFill/>
        </p:spPr>
        <p:txBody>
          <a:bodyPr wrap="square" lIns="36576" tIns="36576" rIns="36576" bIns="36576" anchor="t">
            <a:spAutoFit/>
          </a:bodyPr>
          <a:lstStyle/>
          <a:p>
            <a:pPr algn="l">
              <a:spcAft>
                <a:spcPts val="0"/>
              </a:spcAft>
            </a:pPr>
            <a:r>
              <a:rPr lang="en-HU" sz="750" b="1">
                <a:solidFill>
                  <a:srgbClr val="687385"/>
                </a:solidFill>
              </a:rPr>
              <a:t>105</a:t>
            </a:r>
            <a:endParaRPr sz="750" b="1">
              <a:solidFill>
                <a:srgbClr val="687385"/>
              </a:solidFill>
            </a:endParaRPr>
          </a:p>
        </p:txBody>
      </p:sp>
      <p:sp>
        <p:nvSpPr>
          <p:cNvPr id="4" name="TextBox 3"/>
          <p:cNvSpPr txBox="1"/>
          <p:nvPr/>
        </p:nvSpPr>
        <p:spPr>
          <a:xfrm>
            <a:off x="502920" y="621792"/>
            <a:ext cx="11109960" cy="548640"/>
          </a:xfrm>
          <a:prstGeom prst="rect">
            <a:avLst/>
          </a:prstGeom>
          <a:noFill/>
        </p:spPr>
        <p:txBody>
          <a:bodyPr wrap="square" lIns="36576" tIns="36576" rIns="36576" bIns="36576" anchor="t">
            <a:spAutoFit/>
          </a:bodyPr>
          <a:lstStyle/>
          <a:p>
            <a:pPr algn="l">
              <a:spcAft>
                <a:spcPts val="0"/>
              </a:spcAft>
            </a:pPr>
            <a:r>
              <a:rPr sz="2600" b="1">
                <a:solidFill>
                  <a:srgbClr val="1E2B40"/>
                </a:solidFill>
              </a:rPr>
              <a:t>Controlled BGP advertisement</a:t>
            </a:r>
          </a:p>
        </p:txBody>
      </p:sp>
      <p:cxnSp>
        <p:nvCxnSpPr>
          <p:cNvPr id="5" name="Connector 4"/>
          <p:cNvCxnSpPr/>
          <p:nvPr/>
        </p:nvCxnSpPr>
        <p:spPr>
          <a:xfrm>
            <a:off x="502920" y="6473952"/>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109960" y="6537960"/>
            <a:ext cx="502920" cy="189283"/>
          </a:xfrm>
          <a:prstGeom prst="rect">
            <a:avLst/>
          </a:prstGeom>
          <a:noFill/>
        </p:spPr>
        <p:txBody>
          <a:bodyPr wrap="square" lIns="36576" tIns="36576" rIns="36576" bIns="36576" anchor="t">
            <a:spAutoFit/>
          </a:bodyPr>
          <a:lstStyle/>
          <a:p>
            <a:pPr algn="r">
              <a:spcAft>
                <a:spcPts val="0"/>
              </a:spcAft>
            </a:pPr>
            <a:r>
              <a:rPr lang="en-HU" sz="750" b="0">
                <a:solidFill>
                  <a:srgbClr val="687385"/>
                </a:solidFill>
              </a:rPr>
              <a:t>105</a:t>
            </a:r>
            <a:endParaRPr sz="750" b="0">
              <a:solidFill>
                <a:srgbClr val="687385"/>
              </a:solidFill>
            </a:endParaRPr>
          </a:p>
        </p:txBody>
      </p:sp>
      <p:sp>
        <p:nvSpPr>
          <p:cNvPr id="7" name="Rectangle 6"/>
          <p:cNvSpPr>
            <a:spLocks/>
          </p:cNvSpPr>
          <p:nvPr/>
        </p:nvSpPr>
        <p:spPr>
          <a:xfrm>
            <a:off x="685800" y="1828800"/>
            <a:ext cx="2008022"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8" name="TextBox 7"/>
          <p:cNvSpPr txBox="1">
            <a:spLocks/>
          </p:cNvSpPr>
          <p:nvPr/>
        </p:nvSpPr>
        <p:spPr>
          <a:xfrm>
            <a:off x="777240" y="1938528"/>
            <a:ext cx="365760" cy="227755"/>
          </a:xfrm>
          <a:prstGeom prst="rect">
            <a:avLst/>
          </a:prstGeom>
          <a:noFill/>
        </p:spPr>
        <p:txBody>
          <a:bodyPr wrap="square" lIns="36576" tIns="36576" rIns="36576" bIns="36576" anchor="t">
            <a:spAutoFit/>
          </a:bodyPr>
          <a:lstStyle/>
          <a:p>
            <a:pPr algn="l">
              <a:spcAft>
                <a:spcPts val="0"/>
              </a:spcAft>
            </a:pPr>
            <a:r>
              <a:rPr lang="en-HU" sz="1000" b="1">
                <a:solidFill>
                  <a:srgbClr val="E60012"/>
                </a:solidFill>
              </a:rPr>
              <a:t>01</a:t>
            </a:r>
          </a:p>
        </p:txBody>
      </p:sp>
      <p:sp>
        <p:nvSpPr>
          <p:cNvPr id="9" name="TextBox 8"/>
          <p:cNvSpPr txBox="1">
            <a:spLocks/>
          </p:cNvSpPr>
          <p:nvPr/>
        </p:nvSpPr>
        <p:spPr>
          <a:xfrm>
            <a:off x="795528" y="2243935"/>
            <a:ext cx="1788566" cy="504754"/>
          </a:xfrm>
          <a:prstGeom prst="rect">
            <a:avLst/>
          </a:prstGeom>
          <a:noFill/>
        </p:spPr>
        <p:txBody>
          <a:bodyPr wrap="square" lIns="36576" tIns="36576" rIns="36576" bIns="36576" anchor="ctr">
            <a:spAutoFit/>
          </a:bodyPr>
          <a:lstStyle/>
          <a:p>
            <a:pPr algn="ctr">
              <a:spcAft>
                <a:spcPts val="0"/>
              </a:spcAft>
            </a:pPr>
            <a:r>
              <a:rPr lang="en-GB" sz="1400" b="1">
                <a:solidFill>
                  <a:srgbClr val="FFFFFF"/>
                </a:solidFill>
              </a:rPr>
              <a:t>Peer reaches Established</a:t>
            </a:r>
          </a:p>
        </p:txBody>
      </p:sp>
      <p:sp>
        <p:nvSpPr>
          <p:cNvPr id="10" name="Right Arrow 9"/>
          <p:cNvSpPr/>
          <p:nvPr/>
        </p:nvSpPr>
        <p:spPr>
          <a:xfrm>
            <a:off x="2693822" y="2340864"/>
            <a:ext cx="164592" cy="146304"/>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1" name="Rectangle 10"/>
          <p:cNvSpPr>
            <a:spLocks/>
          </p:cNvSpPr>
          <p:nvPr/>
        </p:nvSpPr>
        <p:spPr>
          <a:xfrm>
            <a:off x="2858414" y="1828800"/>
            <a:ext cx="2008022"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2" name="TextBox 11"/>
          <p:cNvSpPr txBox="1"/>
          <p:nvPr/>
        </p:nvSpPr>
        <p:spPr>
          <a:xfrm>
            <a:off x="2949854" y="1938528"/>
            <a:ext cx="365760" cy="201168"/>
          </a:xfrm>
          <a:prstGeom prst="rect">
            <a:avLst/>
          </a:prstGeom>
          <a:noFill/>
        </p:spPr>
        <p:txBody>
          <a:bodyPr wrap="square" lIns="36576" tIns="36576" rIns="36576" bIns="36576" anchor="t">
            <a:spAutoFit/>
          </a:bodyPr>
          <a:lstStyle/>
          <a:p>
            <a:pPr algn="l">
              <a:spcAft>
                <a:spcPts val="0"/>
              </a:spcAft>
            </a:pPr>
            <a:r>
              <a:rPr sz="1000" b="1">
                <a:solidFill>
                  <a:srgbClr val="E60012"/>
                </a:solidFill>
              </a:rPr>
              <a:t>02</a:t>
            </a:r>
          </a:p>
        </p:txBody>
      </p:sp>
      <p:sp>
        <p:nvSpPr>
          <p:cNvPr id="13" name="TextBox 12"/>
          <p:cNvSpPr txBox="1">
            <a:spLocks/>
          </p:cNvSpPr>
          <p:nvPr/>
        </p:nvSpPr>
        <p:spPr>
          <a:xfrm>
            <a:off x="2968142" y="2267712"/>
            <a:ext cx="1788566" cy="457200"/>
          </a:xfrm>
          <a:prstGeom prst="rect">
            <a:avLst/>
          </a:prstGeom>
          <a:noFill/>
        </p:spPr>
        <p:txBody>
          <a:bodyPr wrap="square" lIns="36576" tIns="36576" rIns="36576" bIns="36576" anchor="ctr">
            <a:spAutoFit/>
          </a:bodyPr>
          <a:lstStyle/>
          <a:p>
            <a:pPr algn="ctr">
              <a:spcAft>
                <a:spcPts val="0"/>
              </a:spcAft>
            </a:pPr>
            <a:r>
              <a:rPr lang="en-GB" sz="1400" b="1">
                <a:solidFill>
                  <a:srgbClr val="FFFFFF"/>
                </a:solidFill>
              </a:rPr>
              <a:t>Prefix list permits /24</a:t>
            </a:r>
          </a:p>
        </p:txBody>
      </p:sp>
      <p:sp>
        <p:nvSpPr>
          <p:cNvPr id="14" name="Right Arrow 13"/>
          <p:cNvSpPr>
            <a:spLocks/>
          </p:cNvSpPr>
          <p:nvPr/>
        </p:nvSpPr>
        <p:spPr>
          <a:xfrm>
            <a:off x="4866436" y="2340864"/>
            <a:ext cx="164592" cy="146304"/>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5" name="Rectangle 14"/>
          <p:cNvSpPr/>
          <p:nvPr/>
        </p:nvSpPr>
        <p:spPr>
          <a:xfrm>
            <a:off x="5031028" y="1828800"/>
            <a:ext cx="2008022"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a:spLocks/>
          </p:cNvSpPr>
          <p:nvPr/>
        </p:nvSpPr>
        <p:spPr>
          <a:xfrm>
            <a:off x="5122468" y="1938528"/>
            <a:ext cx="365760" cy="201168"/>
          </a:xfrm>
          <a:prstGeom prst="rect">
            <a:avLst/>
          </a:prstGeom>
          <a:noFill/>
        </p:spPr>
        <p:txBody>
          <a:bodyPr wrap="square" lIns="36576" tIns="36576" rIns="36576" bIns="36576" anchor="t">
            <a:spAutoFit/>
          </a:bodyPr>
          <a:lstStyle/>
          <a:p>
            <a:pPr algn="l">
              <a:spcAft>
                <a:spcPts val="0"/>
              </a:spcAft>
            </a:pPr>
            <a:r>
              <a:rPr lang="en-HU" sz="1000" b="1">
                <a:solidFill>
                  <a:srgbClr val="E60012"/>
                </a:solidFill>
              </a:rPr>
              <a:t>03</a:t>
            </a:r>
          </a:p>
        </p:txBody>
      </p:sp>
      <p:sp>
        <p:nvSpPr>
          <p:cNvPr id="17" name="TextBox 16"/>
          <p:cNvSpPr txBox="1"/>
          <p:nvPr/>
        </p:nvSpPr>
        <p:spPr>
          <a:xfrm>
            <a:off x="5140756" y="2243935"/>
            <a:ext cx="1788566" cy="504754"/>
          </a:xfrm>
          <a:prstGeom prst="rect">
            <a:avLst/>
          </a:prstGeom>
          <a:noFill/>
        </p:spPr>
        <p:txBody>
          <a:bodyPr wrap="square" lIns="36576" tIns="36576" rIns="36576" bIns="36576" anchor="ctr">
            <a:spAutoFit/>
          </a:bodyPr>
          <a:lstStyle/>
          <a:p>
            <a:pPr algn="ctr">
              <a:spcAft>
                <a:spcPts val="0"/>
              </a:spcAft>
            </a:pPr>
            <a:r>
              <a:rPr lang="en-GB" sz="1400" b="1">
                <a:solidFill>
                  <a:srgbClr val="FFFFFF"/>
                </a:solidFill>
              </a:rPr>
              <a:t>UPDATE advertises prefix</a:t>
            </a:r>
          </a:p>
        </p:txBody>
      </p:sp>
      <p:sp>
        <p:nvSpPr>
          <p:cNvPr id="18" name="Right Arrow 17"/>
          <p:cNvSpPr/>
          <p:nvPr/>
        </p:nvSpPr>
        <p:spPr>
          <a:xfrm>
            <a:off x="7039051" y="2340864"/>
            <a:ext cx="164592" cy="146304"/>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203643" y="1828800"/>
            <a:ext cx="2008022"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295083" y="1938528"/>
            <a:ext cx="365760" cy="227755"/>
          </a:xfrm>
          <a:prstGeom prst="rect">
            <a:avLst/>
          </a:prstGeom>
          <a:noFill/>
        </p:spPr>
        <p:txBody>
          <a:bodyPr wrap="square" lIns="36576" tIns="36576" rIns="36576" bIns="36576" anchor="t">
            <a:spAutoFit/>
          </a:bodyPr>
          <a:lstStyle/>
          <a:p>
            <a:pPr algn="l">
              <a:spcAft>
                <a:spcPts val="0"/>
              </a:spcAft>
            </a:pPr>
            <a:r>
              <a:rPr lang="en-HU" sz="1000" b="1">
                <a:solidFill>
                  <a:srgbClr val="E60012"/>
                </a:solidFill>
              </a:rPr>
              <a:t>04</a:t>
            </a:r>
          </a:p>
        </p:txBody>
      </p:sp>
      <p:sp>
        <p:nvSpPr>
          <p:cNvPr id="21" name="TextBox 20"/>
          <p:cNvSpPr txBox="1"/>
          <p:nvPr/>
        </p:nvSpPr>
        <p:spPr>
          <a:xfrm>
            <a:off x="7313371" y="2243935"/>
            <a:ext cx="1788566" cy="504754"/>
          </a:xfrm>
          <a:prstGeom prst="rect">
            <a:avLst/>
          </a:prstGeom>
          <a:noFill/>
        </p:spPr>
        <p:txBody>
          <a:bodyPr wrap="square" lIns="36576" tIns="36576" rIns="36576" bIns="36576" anchor="ctr">
            <a:spAutoFit/>
          </a:bodyPr>
          <a:lstStyle/>
          <a:p>
            <a:pPr algn="ctr">
              <a:spcAft>
                <a:spcPts val="0"/>
              </a:spcAft>
            </a:pPr>
            <a:r>
              <a:rPr lang="en-GB" sz="1400" b="1">
                <a:solidFill>
                  <a:srgbClr val="FFFFFF"/>
                </a:solidFill>
              </a:rPr>
              <a:t>Peer selects best path</a:t>
            </a:r>
          </a:p>
        </p:txBody>
      </p:sp>
      <p:sp>
        <p:nvSpPr>
          <p:cNvPr id="22" name="Right Arrow 21"/>
          <p:cNvSpPr>
            <a:spLocks/>
          </p:cNvSpPr>
          <p:nvPr/>
        </p:nvSpPr>
        <p:spPr>
          <a:xfrm>
            <a:off x="9211665" y="2340864"/>
            <a:ext cx="164592" cy="146304"/>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23" name="Rectangle 22"/>
          <p:cNvSpPr>
            <a:spLocks/>
          </p:cNvSpPr>
          <p:nvPr/>
        </p:nvSpPr>
        <p:spPr>
          <a:xfrm>
            <a:off x="9376257" y="1828800"/>
            <a:ext cx="2008022"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24" name="TextBox 23"/>
          <p:cNvSpPr txBox="1"/>
          <p:nvPr/>
        </p:nvSpPr>
        <p:spPr>
          <a:xfrm>
            <a:off x="9467697" y="1938528"/>
            <a:ext cx="365760" cy="227755"/>
          </a:xfrm>
          <a:prstGeom prst="rect">
            <a:avLst/>
          </a:prstGeom>
          <a:noFill/>
        </p:spPr>
        <p:txBody>
          <a:bodyPr wrap="square" lIns="36576" tIns="36576" rIns="36576" bIns="36576" anchor="t">
            <a:spAutoFit/>
          </a:bodyPr>
          <a:lstStyle/>
          <a:p>
            <a:pPr algn="l">
              <a:spcAft>
                <a:spcPts val="0"/>
              </a:spcAft>
            </a:pPr>
            <a:r>
              <a:rPr lang="en-HU" sz="1000" b="1">
                <a:solidFill>
                  <a:srgbClr val="E60012"/>
                </a:solidFill>
              </a:rPr>
              <a:t>05</a:t>
            </a:r>
          </a:p>
        </p:txBody>
      </p:sp>
      <p:sp>
        <p:nvSpPr>
          <p:cNvPr id="25" name="TextBox 24"/>
          <p:cNvSpPr txBox="1"/>
          <p:nvPr/>
        </p:nvSpPr>
        <p:spPr>
          <a:xfrm>
            <a:off x="9485985" y="2267712"/>
            <a:ext cx="1788566" cy="457200"/>
          </a:xfrm>
          <a:prstGeom prst="rect">
            <a:avLst/>
          </a:prstGeom>
          <a:noFill/>
        </p:spPr>
        <p:txBody>
          <a:bodyPr wrap="square" lIns="36576" tIns="36576" rIns="36576" bIns="36576" anchor="ctr">
            <a:spAutoFit/>
          </a:bodyPr>
          <a:lstStyle/>
          <a:p>
            <a:pPr algn="ctr">
              <a:spcAft>
                <a:spcPts val="0"/>
              </a:spcAft>
            </a:pPr>
            <a:r>
              <a:rPr sz="1400" b="1">
                <a:solidFill>
                  <a:srgbClr val="FFFFFF"/>
                </a:solidFill>
              </a:rPr>
              <a:t>Route installs</a:t>
            </a:r>
          </a:p>
        </p:txBody>
      </p:sp>
      <p:sp>
        <p:nvSpPr>
          <p:cNvPr id="26" name="TextBox 25"/>
          <p:cNvSpPr txBox="1"/>
          <p:nvPr/>
        </p:nvSpPr>
        <p:spPr>
          <a:xfrm>
            <a:off x="731520" y="3703320"/>
            <a:ext cx="1554480" cy="210312"/>
          </a:xfrm>
          <a:prstGeom prst="rect">
            <a:avLst/>
          </a:prstGeom>
          <a:noFill/>
        </p:spPr>
        <p:txBody>
          <a:bodyPr wrap="square" lIns="36576" tIns="36576" rIns="36576" bIns="36576" anchor="t">
            <a:spAutoFit/>
          </a:bodyPr>
          <a:lstStyle/>
          <a:p>
            <a:pPr algn="l">
              <a:spcAft>
                <a:spcPts val="0"/>
              </a:spcAft>
            </a:pPr>
            <a:r>
              <a:rPr sz="1000" b="1">
                <a:solidFill>
                  <a:srgbClr val="E60012"/>
                </a:solidFill>
              </a:rPr>
              <a:t>EXPECTED RESULT</a:t>
            </a:r>
          </a:p>
        </p:txBody>
      </p:sp>
      <p:sp>
        <p:nvSpPr>
          <p:cNvPr id="27" name="TextBox 26"/>
          <p:cNvSpPr txBox="1"/>
          <p:nvPr/>
        </p:nvSpPr>
        <p:spPr>
          <a:xfrm>
            <a:off x="731520" y="4041648"/>
            <a:ext cx="10424160" cy="335476"/>
          </a:xfrm>
          <a:prstGeom prst="rect">
            <a:avLst/>
          </a:prstGeom>
          <a:noFill/>
        </p:spPr>
        <p:txBody>
          <a:bodyPr wrap="square" lIns="36576" tIns="36576" rIns="36576" bIns="36576" anchor="t">
            <a:spAutoFit/>
          </a:bodyPr>
          <a:lstStyle/>
          <a:p>
            <a:pPr algn="ctr">
              <a:spcAft>
                <a:spcPts val="0"/>
              </a:spcAft>
            </a:pPr>
            <a:r>
              <a:rPr sz="1700" b="1">
                <a:solidFill>
                  <a:srgbClr val="233A59"/>
                </a:solidFill>
              </a:rPr>
              <a:t>The peer </a:t>
            </a:r>
            <a:r>
              <a:rPr lang="en-GB" sz="1700" b="1">
                <a:solidFill>
                  <a:srgbClr val="233A59"/>
                </a:solidFill>
              </a:rPr>
              <a:t>is </a:t>
            </a:r>
            <a:r>
              <a:rPr sz="1700" b="1">
                <a:solidFill>
                  <a:srgbClr val="233A59"/>
                </a:solidFill>
              </a:rPr>
              <a:t>Established</a:t>
            </a:r>
            <a:r>
              <a:rPr lang="en-GB" sz="1700" b="1">
                <a:solidFill>
                  <a:srgbClr val="233A59"/>
                </a:solidFill>
              </a:rPr>
              <a:t>; only </a:t>
            </a:r>
            <a:r>
              <a:rPr sz="1700" b="1">
                <a:solidFill>
                  <a:srgbClr val="233A59"/>
                </a:solidFill>
              </a:rPr>
              <a:t>the permitted </a:t>
            </a:r>
            <a:r>
              <a:rPr lang="en-GB" sz="1700" b="1">
                <a:solidFill>
                  <a:srgbClr val="233A59"/>
                </a:solidFill>
              </a:rPr>
              <a:t>Student pod </a:t>
            </a:r>
            <a:r>
              <a:rPr sz="1700" b="1">
                <a:solidFill>
                  <a:srgbClr val="233A59"/>
                </a:solidFill>
              </a:rPr>
              <a:t>prefix is received, selected </a:t>
            </a:r>
            <a:r>
              <a:rPr lang="en-GB" sz="1700" b="1">
                <a:solidFill>
                  <a:srgbClr val="233A59"/>
                </a:solidFill>
              </a:rPr>
              <a:t>and</a:t>
            </a:r>
            <a:r>
              <a:rPr sz="1700" b="1">
                <a:solidFill>
                  <a:srgbClr val="233A59"/>
                </a:solidFill>
              </a:rPr>
              <a:t> installed.</a:t>
            </a:r>
          </a:p>
        </p:txBody>
      </p:sp>
      <p:sp>
        <p:nvSpPr>
          <p:cNvPr id="28" name="TextBox 27"/>
          <p:cNvSpPr txBox="1"/>
          <p:nvPr/>
        </p:nvSpPr>
        <p:spPr>
          <a:xfrm>
            <a:off x="658368" y="5833872"/>
            <a:ext cx="731520" cy="182880"/>
          </a:xfrm>
          <a:prstGeom prst="rect">
            <a:avLst/>
          </a:prstGeom>
          <a:noFill/>
        </p:spPr>
        <p:txBody>
          <a:bodyPr wrap="square" lIns="36576" tIns="36576" rIns="36576" bIns="36576" anchor="t">
            <a:spAutoFit/>
          </a:bodyPr>
          <a:lstStyle/>
          <a:p>
            <a:pPr algn="l">
              <a:spcAft>
                <a:spcPts val="0"/>
              </a:spcAft>
            </a:pPr>
            <a:r>
              <a:rPr sz="1000" b="1">
                <a:solidFill>
                  <a:srgbClr val="E60012"/>
                </a:solidFill>
              </a:rPr>
              <a:t>LESSON</a:t>
            </a:r>
          </a:p>
        </p:txBody>
      </p:sp>
      <p:sp>
        <p:nvSpPr>
          <p:cNvPr id="29" name="TextBox 28"/>
          <p:cNvSpPr txBox="1"/>
          <p:nvPr/>
        </p:nvSpPr>
        <p:spPr>
          <a:xfrm>
            <a:off x="1417320" y="5769864"/>
            <a:ext cx="9875520" cy="384048"/>
          </a:xfrm>
          <a:prstGeom prst="rect">
            <a:avLst/>
          </a:prstGeom>
          <a:noFill/>
        </p:spPr>
        <p:txBody>
          <a:bodyPr wrap="square" lIns="36576" tIns="36576" rIns="36576" bIns="36576" anchor="t">
            <a:spAutoFit/>
          </a:bodyPr>
          <a:lstStyle/>
          <a:p>
            <a:pPr algn="l">
              <a:spcAft>
                <a:spcPts val="0"/>
              </a:spcAft>
            </a:pPr>
            <a:r>
              <a:rPr sz="1300" b="1">
                <a:solidFill>
                  <a:srgbClr val="233A59"/>
                </a:solidFill>
              </a:rPr>
              <a:t>Each step names a FortiGate state or packet change that can be checked directly; stop when the failed step is identified.</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p:nvPr/>
        </p:nvSpPr>
        <p:spPr>
          <a:xfrm>
            <a:off x="502920" y="411480"/>
            <a:ext cx="548640" cy="189283"/>
          </a:xfrm>
          <a:prstGeom prst="rect">
            <a:avLst/>
          </a:prstGeom>
          <a:noFill/>
        </p:spPr>
        <p:txBody>
          <a:bodyPr wrap="square" lIns="36576" tIns="36576" rIns="36576" bIns="36576" anchor="t">
            <a:spAutoFit/>
          </a:bodyPr>
          <a:lstStyle/>
          <a:p>
            <a:pPr algn="l">
              <a:spcAft>
                <a:spcPts val="0"/>
              </a:spcAft>
            </a:pPr>
            <a:r>
              <a:rPr lang="en-HU" sz="750" b="1">
                <a:solidFill>
                  <a:srgbClr val="687385"/>
                </a:solidFill>
              </a:rPr>
              <a:t>106</a:t>
            </a:r>
            <a:endParaRPr sz="750" b="1">
              <a:solidFill>
                <a:srgbClr val="687385"/>
              </a:solidFill>
            </a:endParaRPr>
          </a:p>
        </p:txBody>
      </p:sp>
      <p:sp>
        <p:nvSpPr>
          <p:cNvPr id="4" name="TextBox 3"/>
          <p:cNvSpPr txBox="1"/>
          <p:nvPr/>
        </p:nvSpPr>
        <p:spPr>
          <a:xfrm>
            <a:off x="502920" y="621792"/>
            <a:ext cx="11109960" cy="548640"/>
          </a:xfrm>
          <a:prstGeom prst="rect">
            <a:avLst/>
          </a:prstGeom>
          <a:noFill/>
        </p:spPr>
        <p:txBody>
          <a:bodyPr wrap="square" lIns="36576" tIns="36576" rIns="36576" bIns="36576" anchor="t">
            <a:spAutoFit/>
          </a:bodyPr>
          <a:lstStyle/>
          <a:p>
            <a:pPr algn="l">
              <a:spcAft>
                <a:spcPts val="0"/>
              </a:spcAft>
            </a:pPr>
            <a:r>
              <a:rPr sz="2600" b="1">
                <a:solidFill>
                  <a:srgbClr val="1E2B40"/>
                </a:solidFill>
              </a:rPr>
              <a:t>Common mistakes—and how to correct them</a:t>
            </a:r>
          </a:p>
        </p:txBody>
      </p:sp>
      <p:cxnSp>
        <p:nvCxnSpPr>
          <p:cNvPr id="5" name="Connector 4"/>
          <p:cNvCxnSpPr/>
          <p:nvPr/>
        </p:nvCxnSpPr>
        <p:spPr>
          <a:xfrm>
            <a:off x="502920" y="6473952"/>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109960" y="6537960"/>
            <a:ext cx="502920" cy="189283"/>
          </a:xfrm>
          <a:prstGeom prst="rect">
            <a:avLst/>
          </a:prstGeom>
          <a:noFill/>
        </p:spPr>
        <p:txBody>
          <a:bodyPr wrap="square" lIns="36576" tIns="36576" rIns="36576" bIns="36576" anchor="t">
            <a:spAutoFit/>
          </a:bodyPr>
          <a:lstStyle/>
          <a:p>
            <a:pPr algn="r">
              <a:spcAft>
                <a:spcPts val="0"/>
              </a:spcAft>
            </a:pPr>
            <a:r>
              <a:rPr lang="en-HU" sz="750" b="0">
                <a:solidFill>
                  <a:srgbClr val="687385"/>
                </a:solidFill>
              </a:rPr>
              <a:t>106</a:t>
            </a:r>
            <a:endParaRPr sz="750" b="0">
              <a:solidFill>
                <a:srgbClr val="687385"/>
              </a:solidFill>
            </a:endParaRPr>
          </a:p>
        </p:txBody>
      </p:sp>
      <p:sp>
        <p:nvSpPr>
          <p:cNvPr id="7" name="TextBox 6"/>
          <p:cNvSpPr txBox="1">
            <a:spLocks/>
          </p:cNvSpPr>
          <p:nvPr/>
        </p:nvSpPr>
        <p:spPr>
          <a:xfrm>
            <a:off x="685800" y="1417320"/>
            <a:ext cx="3291840" cy="243143"/>
          </a:xfrm>
          <a:prstGeom prst="rect">
            <a:avLst/>
          </a:prstGeom>
          <a:noFill/>
        </p:spPr>
        <p:txBody>
          <a:bodyPr wrap="square" lIns="36576" tIns="36576" rIns="36576" bIns="36576" anchor="t">
            <a:spAutoFit/>
          </a:bodyPr>
          <a:lstStyle/>
          <a:p>
            <a:pPr algn="l">
              <a:spcAft>
                <a:spcPts val="0"/>
              </a:spcAft>
            </a:pPr>
            <a:r>
              <a:rPr lang="en-GB" sz="1100" b="1">
                <a:solidFill>
                  <a:srgbClr val="E60012"/>
                </a:solidFill>
              </a:rPr>
              <a:t>MISTAKE</a:t>
            </a:r>
          </a:p>
        </p:txBody>
      </p:sp>
      <p:sp>
        <p:nvSpPr>
          <p:cNvPr id="8" name="TextBox 7"/>
          <p:cNvSpPr txBox="1">
            <a:spLocks/>
          </p:cNvSpPr>
          <p:nvPr/>
        </p:nvSpPr>
        <p:spPr>
          <a:xfrm>
            <a:off x="4160520" y="1417320"/>
            <a:ext cx="7040880" cy="243143"/>
          </a:xfrm>
          <a:prstGeom prst="rect">
            <a:avLst/>
          </a:prstGeom>
          <a:noFill/>
        </p:spPr>
        <p:txBody>
          <a:bodyPr wrap="square" lIns="36576" tIns="36576" rIns="36576" bIns="36576" anchor="t">
            <a:spAutoFit/>
          </a:bodyPr>
          <a:lstStyle/>
          <a:p>
            <a:pPr algn="l">
              <a:spcAft>
                <a:spcPts val="0"/>
              </a:spcAft>
            </a:pPr>
            <a:r>
              <a:rPr lang="en-GB" sz="1100" b="1">
                <a:solidFill>
                  <a:srgbClr val="E60012"/>
                </a:solidFill>
              </a:rPr>
              <a:t>CORRECTION — AND WHY IT HELPS</a:t>
            </a:r>
          </a:p>
        </p:txBody>
      </p:sp>
      <p:sp>
        <p:nvSpPr>
          <p:cNvPr id="9" name="TextBox 8"/>
          <p:cNvSpPr txBox="1">
            <a:spLocks/>
          </p:cNvSpPr>
          <p:nvPr/>
        </p:nvSpPr>
        <p:spPr>
          <a:xfrm>
            <a:off x="685800" y="1783080"/>
            <a:ext cx="3108960" cy="320088"/>
          </a:xfrm>
          <a:prstGeom prst="rect">
            <a:avLst/>
          </a:prstGeom>
          <a:noFill/>
        </p:spPr>
        <p:txBody>
          <a:bodyPr wrap="square" lIns="36576" tIns="36576" rIns="36576" bIns="36576" anchor="t">
            <a:spAutoFit/>
          </a:bodyPr>
          <a:lstStyle/>
          <a:p>
            <a:pPr algn="l">
              <a:spcAft>
                <a:spcPts val="0"/>
              </a:spcAft>
            </a:pPr>
            <a:r>
              <a:rPr lang="en-GB" sz="1600" b="1">
                <a:solidFill>
                  <a:srgbClr val="1E2B40"/>
                </a:solidFill>
              </a:rPr>
              <a:t>Call Active state healthy</a:t>
            </a:r>
          </a:p>
        </p:txBody>
      </p:sp>
      <p:cxnSp>
        <p:nvCxnSpPr>
          <p:cNvPr id="10" name="Connector 9"/>
          <p:cNvCxnSpPr/>
          <p:nvPr/>
        </p:nvCxnSpPr>
        <p:spPr>
          <a:xfrm>
            <a:off x="3931920" y="1737360"/>
            <a:ext cx="0" cy="96012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251960" y="1783080"/>
            <a:ext cx="6903720" cy="822960"/>
          </a:xfrm>
          <a:prstGeom prst="rect">
            <a:avLst/>
          </a:prstGeom>
          <a:noFill/>
        </p:spPr>
        <p:txBody>
          <a:bodyPr wrap="square" lIns="36576" tIns="36576" rIns="36576" bIns="36576" anchor="t">
            <a:spAutoFit/>
          </a:bodyPr>
          <a:lstStyle/>
          <a:p>
            <a:pPr algn="l">
              <a:spcAft>
                <a:spcPts val="0"/>
              </a:spcAft>
            </a:pPr>
            <a:r>
              <a:rPr sz="1600" b="0">
                <a:solidFill>
                  <a:srgbClr val="233A59"/>
                </a:solidFill>
              </a:rPr>
              <a:t>Check TCP/179 and peer parameters; BGP Active means the session is not Established.</a:t>
            </a:r>
          </a:p>
        </p:txBody>
      </p:sp>
      <p:cxnSp>
        <p:nvCxnSpPr>
          <p:cNvPr id="12" name="Connector 11"/>
          <p:cNvCxnSpPr/>
          <p:nvPr/>
        </p:nvCxnSpPr>
        <p:spPr>
          <a:xfrm>
            <a:off x="685800" y="2834639"/>
            <a:ext cx="10469880"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13" name="TextBox 12"/>
          <p:cNvSpPr txBox="1">
            <a:spLocks/>
          </p:cNvSpPr>
          <p:nvPr/>
        </p:nvSpPr>
        <p:spPr>
          <a:xfrm>
            <a:off x="685800" y="3081528"/>
            <a:ext cx="3108960" cy="566309"/>
          </a:xfrm>
          <a:prstGeom prst="rect">
            <a:avLst/>
          </a:prstGeom>
          <a:noFill/>
        </p:spPr>
        <p:txBody>
          <a:bodyPr wrap="square" lIns="36576" tIns="36576" rIns="36576" bIns="36576" anchor="t">
            <a:spAutoFit/>
          </a:bodyPr>
          <a:lstStyle/>
          <a:p>
            <a:pPr algn="l">
              <a:spcAft>
                <a:spcPts val="0"/>
              </a:spcAft>
            </a:pPr>
            <a:r>
              <a:rPr lang="en-GB" sz="1600" b="1">
                <a:solidFill>
                  <a:srgbClr val="1E2B40"/>
                </a:solidFill>
              </a:rPr>
              <a:t>Advertise a broad default accidentally</a:t>
            </a:r>
          </a:p>
        </p:txBody>
      </p:sp>
      <p:cxnSp>
        <p:nvCxnSpPr>
          <p:cNvPr id="14" name="Connector 13"/>
          <p:cNvCxnSpPr/>
          <p:nvPr/>
        </p:nvCxnSpPr>
        <p:spPr>
          <a:xfrm>
            <a:off x="3931920" y="3035808"/>
            <a:ext cx="0" cy="96012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5" name="TextBox 14"/>
          <p:cNvSpPr txBox="1">
            <a:spLocks/>
          </p:cNvSpPr>
          <p:nvPr/>
        </p:nvSpPr>
        <p:spPr>
          <a:xfrm>
            <a:off x="4251960" y="3081528"/>
            <a:ext cx="6903720" cy="566309"/>
          </a:xfrm>
          <a:prstGeom prst="rect">
            <a:avLst/>
          </a:prstGeom>
          <a:noFill/>
        </p:spPr>
        <p:txBody>
          <a:bodyPr wrap="square" lIns="36576" tIns="36576" rIns="36576" bIns="36576" anchor="t">
            <a:spAutoFit/>
          </a:bodyPr>
          <a:lstStyle/>
          <a:p>
            <a:pPr algn="l">
              <a:spcAft>
                <a:spcPts val="0"/>
              </a:spcAft>
            </a:pPr>
            <a:r>
              <a:rPr lang="en-GB" sz="1600" b="0">
                <a:solidFill>
                  <a:srgbClr val="233A59"/>
                </a:solidFill>
              </a:rPr>
              <a:t>Use an explicit outbound prefix list and review advertised-routes before activation.</a:t>
            </a:r>
          </a:p>
        </p:txBody>
      </p:sp>
      <p:cxnSp>
        <p:nvCxnSpPr>
          <p:cNvPr id="16" name="Connector 15"/>
          <p:cNvCxnSpPr/>
          <p:nvPr/>
        </p:nvCxnSpPr>
        <p:spPr>
          <a:xfrm>
            <a:off x="685800" y="4133087"/>
            <a:ext cx="10469880"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17" name="TextBox 16"/>
          <p:cNvSpPr txBox="1">
            <a:spLocks/>
          </p:cNvSpPr>
          <p:nvPr/>
        </p:nvSpPr>
        <p:spPr>
          <a:xfrm>
            <a:off x="685800" y="4379976"/>
            <a:ext cx="3108960" cy="566309"/>
          </a:xfrm>
          <a:prstGeom prst="rect">
            <a:avLst/>
          </a:prstGeom>
          <a:noFill/>
        </p:spPr>
        <p:txBody>
          <a:bodyPr wrap="square" lIns="36576" tIns="36576" rIns="36576" bIns="36576" anchor="t">
            <a:spAutoFit/>
          </a:bodyPr>
          <a:lstStyle/>
          <a:p>
            <a:pPr algn="l">
              <a:spcAft>
                <a:spcPts val="0"/>
              </a:spcAft>
            </a:pPr>
            <a:r>
              <a:rPr lang="en-GB" sz="1600" b="1">
                <a:solidFill>
                  <a:srgbClr val="1E2B40"/>
                </a:solidFill>
              </a:rPr>
              <a:t>Tune attributes before next-hop reachability</a:t>
            </a:r>
          </a:p>
        </p:txBody>
      </p:sp>
      <p:cxnSp>
        <p:nvCxnSpPr>
          <p:cNvPr id="18" name="Connector 17"/>
          <p:cNvCxnSpPr/>
          <p:nvPr/>
        </p:nvCxnSpPr>
        <p:spPr>
          <a:xfrm>
            <a:off x="3931920" y="4334256"/>
            <a:ext cx="0" cy="96012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251960" y="4379976"/>
            <a:ext cx="6903720" cy="822960"/>
          </a:xfrm>
          <a:prstGeom prst="rect">
            <a:avLst/>
          </a:prstGeom>
          <a:noFill/>
        </p:spPr>
        <p:txBody>
          <a:bodyPr wrap="square" lIns="36576" tIns="36576" rIns="36576" bIns="36576" anchor="t">
            <a:spAutoFit/>
          </a:bodyPr>
          <a:lstStyle/>
          <a:p>
            <a:pPr algn="l">
              <a:spcAft>
                <a:spcPts val="0"/>
              </a:spcAft>
            </a:pPr>
            <a:r>
              <a:rPr sz="1600" b="0">
                <a:solidFill>
                  <a:srgbClr val="233A59"/>
                </a:solidFill>
              </a:rPr>
              <a:t>Resolve the next hop first; an unusable path cannot enter forwarding.</a:t>
            </a:r>
          </a:p>
        </p:txBody>
      </p:sp>
      <p:cxnSp>
        <p:nvCxnSpPr>
          <p:cNvPr id="20" name="Connector 19"/>
          <p:cNvCxnSpPr/>
          <p:nvPr/>
        </p:nvCxnSpPr>
        <p:spPr>
          <a:xfrm>
            <a:off x="685800" y="5431536"/>
            <a:ext cx="10469880"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58368" y="5833872"/>
            <a:ext cx="731520" cy="182880"/>
          </a:xfrm>
          <a:prstGeom prst="rect">
            <a:avLst/>
          </a:prstGeom>
          <a:noFill/>
        </p:spPr>
        <p:txBody>
          <a:bodyPr wrap="square" lIns="36576" tIns="36576" rIns="36576" bIns="36576" anchor="t">
            <a:spAutoFit/>
          </a:bodyPr>
          <a:lstStyle/>
          <a:p>
            <a:pPr algn="l">
              <a:spcAft>
                <a:spcPts val="0"/>
              </a:spcAft>
            </a:pPr>
            <a:r>
              <a:rPr sz="1000" b="1">
                <a:solidFill>
                  <a:srgbClr val="E60012"/>
                </a:solidFill>
              </a:rPr>
              <a:t>LESSON</a:t>
            </a:r>
          </a:p>
        </p:txBody>
      </p:sp>
      <p:sp>
        <p:nvSpPr>
          <p:cNvPr id="22" name="TextBox 21"/>
          <p:cNvSpPr txBox="1"/>
          <p:nvPr/>
        </p:nvSpPr>
        <p:spPr>
          <a:xfrm>
            <a:off x="1417320" y="5769864"/>
            <a:ext cx="9875520" cy="384048"/>
          </a:xfrm>
          <a:prstGeom prst="rect">
            <a:avLst/>
          </a:prstGeom>
          <a:noFill/>
        </p:spPr>
        <p:txBody>
          <a:bodyPr wrap="square" lIns="36576" tIns="36576" rIns="36576" bIns="36576" anchor="t">
            <a:spAutoFit/>
          </a:bodyPr>
          <a:lstStyle/>
          <a:p>
            <a:pPr algn="l">
              <a:spcAft>
                <a:spcPts val="0"/>
              </a:spcAft>
            </a:pPr>
            <a:r>
              <a:rPr sz="1300" b="1">
                <a:solidFill>
                  <a:srgbClr val="233A59"/>
                </a:solidFill>
              </a:rPr>
              <a:t>A correction changes a concrete configuration, test or interpretation—not merely the wording used to describe it.</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107</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Troubleshooting workflow: narrow the failed decision</a:t>
            </a:r>
          </a:p>
        </p:txBody>
      </p:sp>
      <p:sp>
        <p:nvSpPr>
          <p:cNvPr id="10" name="Rectangle 9"/>
          <p:cNvSpPr/>
          <p:nvPr/>
        </p:nvSpPr>
        <p:spPr>
          <a:xfrm>
            <a:off x="658368"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1" name="TextBox 10"/>
          <p:cNvSpPr txBox="1">
            <a:spLocks/>
          </p:cNvSpPr>
          <p:nvPr/>
        </p:nvSpPr>
        <p:spPr>
          <a:xfrm>
            <a:off x="768096" y="2020824"/>
            <a:ext cx="411480" cy="219456"/>
          </a:xfrm>
          <a:prstGeom prst="rect">
            <a:avLst/>
          </a:prstGeom>
          <a:noFill/>
        </p:spPr>
        <p:txBody>
          <a:bodyPr wrap="square" lIns="27432" tIns="27432" rIns="27432" bIns="27432" anchor="t">
            <a:spAutoFit/>
          </a:bodyPr>
          <a:lstStyle/>
          <a:p>
            <a:pPr algn="l">
              <a:spcAft>
                <a:spcPts val="0"/>
              </a:spcAft>
            </a:pPr>
            <a:r>
              <a:rPr lang="en-HU" sz="1100" b="1">
                <a:solidFill>
                  <a:srgbClr val="E60012"/>
                </a:solidFill>
              </a:rPr>
              <a:t>01</a:t>
            </a:r>
          </a:p>
        </p:txBody>
      </p:sp>
      <p:sp>
        <p:nvSpPr>
          <p:cNvPr id="12" name="TextBox 11"/>
          <p:cNvSpPr txBox="1">
            <a:spLocks/>
          </p:cNvSpPr>
          <p:nvPr/>
        </p:nvSpPr>
        <p:spPr>
          <a:xfrm>
            <a:off x="768096" y="2340864"/>
            <a:ext cx="1830628" cy="603504"/>
          </a:xfrm>
          <a:prstGeom prst="rect">
            <a:avLst/>
          </a:prstGeom>
          <a:noFill/>
        </p:spPr>
        <p:txBody>
          <a:bodyPr wrap="square" lIns="27432" tIns="27432" rIns="27432" bIns="27432" anchor="ctr">
            <a:spAutoFit/>
          </a:bodyPr>
          <a:lstStyle/>
          <a:p>
            <a:pPr algn="ctr">
              <a:spcAft>
                <a:spcPts val="0"/>
              </a:spcAft>
            </a:pPr>
            <a:r>
              <a:rPr lang="en-GB" sz="1400" b="1">
                <a:solidFill>
                  <a:srgbClr val="1E2B40"/>
                </a:solidFill>
              </a:rPr>
              <a:t>Verify route and TCP/179 reachability to peer</a:t>
            </a:r>
          </a:p>
        </p:txBody>
      </p:sp>
      <p:cxnSp>
        <p:nvCxnSpPr>
          <p:cNvPr id="13" name="Connector 12"/>
          <p:cNvCxnSpPr/>
          <p:nvPr/>
        </p:nvCxnSpPr>
        <p:spPr>
          <a:xfrm>
            <a:off x="2708452"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2854756"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5" name="TextBox 14"/>
          <p:cNvSpPr txBox="1">
            <a:spLocks/>
          </p:cNvSpPr>
          <p:nvPr/>
        </p:nvSpPr>
        <p:spPr>
          <a:xfrm>
            <a:off x="2964484" y="2020824"/>
            <a:ext cx="411480" cy="219456"/>
          </a:xfrm>
          <a:prstGeom prst="rect">
            <a:avLst/>
          </a:prstGeom>
          <a:noFill/>
        </p:spPr>
        <p:txBody>
          <a:bodyPr wrap="square" lIns="27432" tIns="27432" rIns="27432" bIns="27432" anchor="t">
            <a:spAutoFit/>
          </a:bodyPr>
          <a:lstStyle/>
          <a:p>
            <a:pPr algn="l">
              <a:spcAft>
                <a:spcPts val="0"/>
              </a:spcAft>
            </a:pPr>
            <a:r>
              <a:rPr lang="en-HU" sz="1100" b="1">
                <a:solidFill>
                  <a:srgbClr val="E60012"/>
                </a:solidFill>
              </a:rPr>
              <a:t>02</a:t>
            </a:r>
          </a:p>
        </p:txBody>
      </p:sp>
      <p:sp>
        <p:nvSpPr>
          <p:cNvPr id="16" name="TextBox 15"/>
          <p:cNvSpPr txBox="1">
            <a:spLocks/>
          </p:cNvSpPr>
          <p:nvPr/>
        </p:nvSpPr>
        <p:spPr>
          <a:xfrm>
            <a:off x="2964484" y="2340864"/>
            <a:ext cx="1830628" cy="603504"/>
          </a:xfrm>
          <a:prstGeom prst="rect">
            <a:avLst/>
          </a:prstGeom>
          <a:noFill/>
        </p:spPr>
        <p:txBody>
          <a:bodyPr wrap="square" lIns="27432" tIns="27432" rIns="27432" bIns="27432" anchor="ctr">
            <a:spAutoFit/>
          </a:bodyPr>
          <a:lstStyle/>
          <a:p>
            <a:pPr algn="ctr">
              <a:spcAft>
                <a:spcPts val="0"/>
              </a:spcAft>
            </a:pPr>
            <a:r>
              <a:rPr lang="en-GB" sz="1400" b="1">
                <a:solidFill>
                  <a:srgbClr val="1E2B40"/>
                </a:solidFill>
              </a:rPr>
              <a:t>Check local/remote AS, update source, password and timers</a:t>
            </a:r>
          </a:p>
        </p:txBody>
      </p:sp>
      <p:cxnSp>
        <p:nvCxnSpPr>
          <p:cNvPr id="17" name="Connector 16"/>
          <p:cNvCxnSpPr/>
          <p:nvPr/>
        </p:nvCxnSpPr>
        <p:spPr>
          <a:xfrm>
            <a:off x="4904841"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5051145"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9" name="TextBox 18"/>
          <p:cNvSpPr txBox="1">
            <a:spLocks/>
          </p:cNvSpPr>
          <p:nvPr/>
        </p:nvSpPr>
        <p:spPr>
          <a:xfrm>
            <a:off x="5160873" y="2020824"/>
            <a:ext cx="411480" cy="219456"/>
          </a:xfrm>
          <a:prstGeom prst="rect">
            <a:avLst/>
          </a:prstGeom>
          <a:noFill/>
        </p:spPr>
        <p:txBody>
          <a:bodyPr wrap="square" lIns="27432" tIns="27432" rIns="27432" bIns="27432" anchor="t">
            <a:spAutoFit/>
          </a:bodyPr>
          <a:lstStyle/>
          <a:p>
            <a:pPr algn="l">
              <a:spcAft>
                <a:spcPts val="0"/>
              </a:spcAft>
            </a:pPr>
            <a:r>
              <a:rPr lang="en-HU" sz="1100" b="1">
                <a:solidFill>
                  <a:srgbClr val="E60012"/>
                </a:solidFill>
              </a:rPr>
              <a:t>03</a:t>
            </a:r>
          </a:p>
        </p:txBody>
      </p:sp>
      <p:sp>
        <p:nvSpPr>
          <p:cNvPr id="20" name="TextBox 19"/>
          <p:cNvSpPr txBox="1">
            <a:spLocks/>
          </p:cNvSpPr>
          <p:nvPr/>
        </p:nvSpPr>
        <p:spPr>
          <a:xfrm>
            <a:off x="5160873" y="2340864"/>
            <a:ext cx="1830628" cy="603504"/>
          </a:xfrm>
          <a:prstGeom prst="rect">
            <a:avLst/>
          </a:prstGeom>
          <a:noFill/>
        </p:spPr>
        <p:txBody>
          <a:bodyPr wrap="square" lIns="27432" tIns="27432" rIns="27432" bIns="27432" anchor="ctr">
            <a:spAutoFit/>
          </a:bodyPr>
          <a:lstStyle/>
          <a:p>
            <a:pPr algn="ctr">
              <a:spcAft>
                <a:spcPts val="0"/>
              </a:spcAft>
            </a:pPr>
            <a:r>
              <a:rPr lang="en-GB" sz="1400" b="1">
                <a:solidFill>
                  <a:srgbClr val="1E2B40"/>
                </a:solidFill>
              </a:rPr>
              <a:t>Reach Established; inspect notifications if not</a:t>
            </a:r>
          </a:p>
        </p:txBody>
      </p:sp>
      <p:cxnSp>
        <p:nvCxnSpPr>
          <p:cNvPr id="21" name="Connector 20"/>
          <p:cNvCxnSpPr/>
          <p:nvPr/>
        </p:nvCxnSpPr>
        <p:spPr>
          <a:xfrm>
            <a:off x="7101230"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7247534"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23" name="TextBox 22"/>
          <p:cNvSpPr txBox="1"/>
          <p:nvPr/>
        </p:nvSpPr>
        <p:spPr>
          <a:xfrm>
            <a:off x="7357262" y="2020824"/>
            <a:ext cx="411480" cy="219456"/>
          </a:xfrm>
          <a:prstGeom prst="rect">
            <a:avLst/>
          </a:prstGeom>
          <a:noFill/>
        </p:spPr>
        <p:txBody>
          <a:bodyPr wrap="square" lIns="27432" tIns="27432" rIns="27432" bIns="27432" anchor="t">
            <a:spAutoFit/>
          </a:bodyPr>
          <a:lstStyle/>
          <a:p>
            <a:pPr algn="l">
              <a:spcAft>
                <a:spcPts val="0"/>
              </a:spcAft>
            </a:pPr>
            <a:r>
              <a:rPr sz="1100" b="1">
                <a:solidFill>
                  <a:srgbClr val="E60012"/>
                </a:solidFill>
              </a:rPr>
              <a:t>04</a:t>
            </a:r>
          </a:p>
        </p:txBody>
      </p:sp>
      <p:sp>
        <p:nvSpPr>
          <p:cNvPr id="24" name="TextBox 23"/>
          <p:cNvSpPr txBox="1"/>
          <p:nvPr/>
        </p:nvSpPr>
        <p:spPr>
          <a:xfrm>
            <a:off x="7357262" y="2340864"/>
            <a:ext cx="1830628" cy="603504"/>
          </a:xfrm>
          <a:prstGeom prst="rect">
            <a:avLst/>
          </a:prstGeom>
          <a:noFill/>
        </p:spPr>
        <p:txBody>
          <a:bodyPr wrap="square" lIns="27432" tIns="27432" rIns="27432" bIns="27432" anchor="ctr">
            <a:spAutoFit/>
          </a:bodyPr>
          <a:lstStyle/>
          <a:p>
            <a:pPr algn="ctr">
              <a:spcAft>
                <a:spcPts val="0"/>
              </a:spcAft>
            </a:pPr>
            <a:r>
              <a:rPr sz="1400" b="1">
                <a:solidFill>
                  <a:srgbClr val="1E2B40"/>
                </a:solidFill>
              </a:rPr>
              <a:t>Verify origination and inbound/outbound filters</a:t>
            </a:r>
          </a:p>
        </p:txBody>
      </p:sp>
      <p:cxnSp>
        <p:nvCxnSpPr>
          <p:cNvPr id="25" name="Connector 24"/>
          <p:cNvCxnSpPr/>
          <p:nvPr/>
        </p:nvCxnSpPr>
        <p:spPr>
          <a:xfrm>
            <a:off x="9297619"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9443923"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553651" y="2020824"/>
            <a:ext cx="411480" cy="219456"/>
          </a:xfrm>
          <a:prstGeom prst="rect">
            <a:avLst/>
          </a:prstGeom>
          <a:noFill/>
        </p:spPr>
        <p:txBody>
          <a:bodyPr wrap="square" lIns="27432" tIns="27432" rIns="27432" bIns="27432" anchor="t">
            <a:spAutoFit/>
          </a:bodyPr>
          <a:lstStyle/>
          <a:p>
            <a:pPr algn="l">
              <a:spcAft>
                <a:spcPts val="0"/>
              </a:spcAft>
            </a:pPr>
            <a:r>
              <a:rPr sz="1100" b="1">
                <a:solidFill>
                  <a:srgbClr val="E60012"/>
                </a:solidFill>
              </a:rPr>
              <a:t>05</a:t>
            </a:r>
          </a:p>
        </p:txBody>
      </p:sp>
      <p:sp>
        <p:nvSpPr>
          <p:cNvPr id="28" name="TextBox 27"/>
          <p:cNvSpPr txBox="1"/>
          <p:nvPr/>
        </p:nvSpPr>
        <p:spPr>
          <a:xfrm>
            <a:off x="9553651" y="2340864"/>
            <a:ext cx="1830628" cy="603504"/>
          </a:xfrm>
          <a:prstGeom prst="rect">
            <a:avLst/>
          </a:prstGeom>
          <a:noFill/>
        </p:spPr>
        <p:txBody>
          <a:bodyPr wrap="square" lIns="27432" tIns="27432" rIns="27432" bIns="27432" anchor="ctr">
            <a:spAutoFit/>
          </a:bodyPr>
          <a:lstStyle/>
          <a:p>
            <a:pPr algn="ctr">
              <a:spcAft>
                <a:spcPts val="0"/>
              </a:spcAft>
            </a:pPr>
            <a:r>
              <a:rPr sz="1400" b="1">
                <a:solidFill>
                  <a:srgbClr val="1E2B40"/>
                </a:solidFill>
              </a:rPr>
              <a:t>Confirm best path, active route and return path</a:t>
            </a:r>
          </a:p>
        </p:txBody>
      </p:sp>
      <p:sp>
        <p:nvSpPr>
          <p:cNvPr id="29" name="TextBox 28"/>
          <p:cNvSpPr txBox="1"/>
          <p:nvPr/>
        </p:nvSpPr>
        <p:spPr>
          <a:xfrm>
            <a:off x="658368" y="3703320"/>
            <a:ext cx="2011680" cy="256032"/>
          </a:xfrm>
          <a:prstGeom prst="rect">
            <a:avLst/>
          </a:prstGeom>
          <a:noFill/>
        </p:spPr>
        <p:txBody>
          <a:bodyPr wrap="square" lIns="27432" tIns="27432" rIns="27432" bIns="27432" anchor="t">
            <a:spAutoFit/>
          </a:bodyPr>
          <a:lstStyle/>
          <a:p>
            <a:pPr algn="l">
              <a:spcAft>
                <a:spcPts val="0"/>
              </a:spcAft>
            </a:pPr>
            <a:r>
              <a:rPr sz="1100" b="1">
                <a:solidFill>
                  <a:srgbClr val="E60012"/>
                </a:solidFill>
              </a:rPr>
              <a:t>What to observe</a:t>
            </a:r>
          </a:p>
        </p:txBody>
      </p:sp>
      <p:sp>
        <p:nvSpPr>
          <p:cNvPr id="30" name="TextBox 29"/>
          <p:cNvSpPr txBox="1"/>
          <p:nvPr/>
        </p:nvSpPr>
        <p:spPr>
          <a:xfrm>
            <a:off x="658368" y="4050791"/>
            <a:ext cx="6446520" cy="1508760"/>
          </a:xfrm>
          <a:prstGeom prst="rect">
            <a:avLst/>
          </a:prstGeom>
          <a:noFill/>
        </p:spPr>
        <p:txBody>
          <a:bodyPr wrap="square" lIns="109728" tIns="73152" rIns="109728" bIns="73152" anchor="t">
            <a:spAutoFit/>
          </a:bodyPr>
          <a:lstStyle/>
          <a:p>
            <a:pPr algn="l">
              <a:lnSpc>
                <a:spcPct val="105000"/>
              </a:lnSpc>
              <a:spcAft>
                <a:spcPts val="700"/>
              </a:spcAft>
              <a:defRPr sz="1600">
                <a:solidFill>
                  <a:srgbClr val="1E2B40"/>
                </a:solidFill>
              </a:defRPr>
            </a:pPr>
            <a:r>
              <a:t>• Reach Established; inspect notifications if not</a:t>
            </a:r>
          </a:p>
          <a:p>
            <a:pPr>
              <a:lnSpc>
                <a:spcPct val="105000"/>
              </a:lnSpc>
              <a:spcAft>
                <a:spcPts val="700"/>
              </a:spcAft>
              <a:defRPr sz="1600">
                <a:solidFill>
                  <a:srgbClr val="1E2B40"/>
                </a:solidFill>
              </a:defRPr>
            </a:pPr>
            <a:r>
              <a:t>• Verify origination and inbound/outbound filters</a:t>
            </a:r>
          </a:p>
          <a:p>
            <a:pPr>
              <a:lnSpc>
                <a:spcPct val="105000"/>
              </a:lnSpc>
              <a:spcAft>
                <a:spcPts val="700"/>
              </a:spcAft>
              <a:defRPr sz="1600">
                <a:solidFill>
                  <a:srgbClr val="1E2B40"/>
                </a:solidFill>
              </a:defRPr>
            </a:pPr>
            <a:r>
              <a:t>• Confirm best path, active route and return path</a:t>
            </a:r>
          </a:p>
        </p:txBody>
      </p:sp>
      <p:cxnSp>
        <p:nvCxnSpPr>
          <p:cNvPr id="31" name="Connector 30"/>
          <p:cNvCxnSpPr/>
          <p:nvPr/>
        </p:nvCxnSpPr>
        <p:spPr>
          <a:xfrm>
            <a:off x="7452360" y="3703320"/>
            <a:ext cx="0" cy="2093976"/>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7772400" y="3703320"/>
            <a:ext cx="292608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INSTRUCTOR DEMONSTRATION</a:t>
            </a:r>
            <a:endParaRPr sz="1100" b="1">
              <a:solidFill>
                <a:srgbClr val="E60012"/>
              </a:solidFill>
            </a:endParaRPr>
          </a:p>
        </p:txBody>
      </p:sp>
      <p:sp>
        <p:nvSpPr>
          <p:cNvPr id="33" name="TextBox 32"/>
          <p:cNvSpPr txBox="1"/>
          <p:nvPr/>
        </p:nvSpPr>
        <p:spPr>
          <a:xfrm>
            <a:off x="7772400" y="4096512"/>
            <a:ext cx="3337560" cy="1234440"/>
          </a:xfrm>
          <a:prstGeom prst="rect">
            <a:avLst/>
          </a:prstGeom>
          <a:noFill/>
        </p:spPr>
        <p:txBody>
          <a:bodyPr wrap="square" lIns="27432" tIns="27432" rIns="27432" bIns="27432" anchor="t">
            <a:spAutoFit/>
          </a:bodyPr>
          <a:lstStyle/>
          <a:p>
            <a:pPr algn="l">
              <a:spcAft>
                <a:spcPts val="0"/>
              </a:spcAft>
            </a:pPr>
            <a:r>
              <a:rPr sz="1500" b="1">
                <a:solidFill>
                  <a:srgbClr val="233A59"/>
                </a:solidFill>
              </a:rPr>
              <a:t>Preserve timestamps and before/after state; stop/reset debug operations.</a:t>
            </a:r>
          </a:p>
        </p:txBody>
      </p:sp>
      <p:sp>
        <p:nvSpPr>
          <p:cNvPr id="34" name="TextBox 33"/>
          <p:cNvSpPr txBox="1"/>
          <p:nvPr/>
        </p:nvSpPr>
        <p:spPr>
          <a:xfrm>
            <a:off x="7772400" y="5440680"/>
            <a:ext cx="3337560" cy="363176"/>
          </a:xfrm>
          <a:prstGeom prst="rect">
            <a:avLst/>
          </a:prstGeom>
          <a:noFill/>
        </p:spPr>
        <p:txBody>
          <a:bodyPr wrap="square" lIns="27432" tIns="27432" rIns="27432" bIns="27432" anchor="t">
            <a:spAutoFit/>
          </a:bodyPr>
          <a:lstStyle/>
          <a:p>
            <a:pPr algn="l">
              <a:spcAft>
                <a:spcPts val="0"/>
              </a:spcAft>
            </a:pPr>
            <a:r>
              <a:rPr lang="en-GB" sz="1000" b="0">
                <a:solidFill>
                  <a:srgbClr val="687385"/>
                </a:solidFill>
              </a:rPr>
              <a:t>If debug is used, filter by the test tuple and disable</a:t>
            </a:r>
            <a:r>
              <a:rPr sz="1000" b="0">
                <a:solidFill>
                  <a:srgbClr val="687385"/>
                </a:solidFill>
              </a:rPr>
              <a:t>/reset </a:t>
            </a:r>
            <a:r>
              <a:rPr lang="en-GB" sz="1000" b="0">
                <a:solidFill>
                  <a:srgbClr val="687385"/>
                </a:solidFill>
              </a:rPr>
              <a:t>it immediately </a:t>
            </a:r>
            <a:r>
              <a:rPr sz="1000" b="0">
                <a:solidFill>
                  <a:srgbClr val="687385"/>
                </a:solidFill>
              </a:rPr>
              <a:t>after </a:t>
            </a:r>
            <a:r>
              <a:rPr lang="en-GB" sz="1000" b="0">
                <a:solidFill>
                  <a:srgbClr val="687385"/>
                </a:solidFill>
              </a:rPr>
              <a:t>capture</a:t>
            </a:r>
            <a:r>
              <a:rPr sz="1000" b="0">
                <a:solidFill>
                  <a:srgbClr val="687385"/>
                </a:solidFill>
              </a:rPr>
              <a:t>.</a:t>
            </a:r>
          </a:p>
        </p:txBody>
      </p:sp>
      <p:sp>
        <p:nvSpPr>
          <p:cNvPr id="35" name="TextBox 34"/>
          <p:cNvSpPr txBox="1"/>
          <p:nvPr/>
        </p:nvSpPr>
        <p:spPr>
          <a:xfrm>
            <a:off x="502920" y="420624"/>
            <a:ext cx="10744200" cy="130805"/>
          </a:xfrm>
          <a:prstGeom prst="rect">
            <a:avLst/>
          </a:prstGeom>
          <a:noFill/>
        </p:spPr>
        <p:txBody>
          <a:bodyPr wrap="square" lIns="0" tIns="0" rIns="0" bIns="0">
            <a:spAutoFit/>
          </a:bodyPr>
          <a:lstStyle/>
          <a:p>
            <a:pPr algn="l"/>
            <a:r>
              <a:rPr lang="en-HU" sz="850" b="1">
                <a:solidFill>
                  <a:srgbClr val="687385"/>
                </a:solidFill>
              </a:rPr>
              <a:t>107</a:t>
            </a:r>
            <a:r>
              <a:rPr sz="850" b="1">
                <a:solidFill>
                  <a:srgbClr val="687385"/>
                </a:solidFill>
              </a:rPr>
              <a:t> • DAY 3 • BLOCK 10 • BGP Fundamentals</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108</a:t>
            </a:r>
          </a:p>
        </p:txBody>
      </p:sp>
      <p:sp>
        <p:nvSpPr>
          <p:cNvPr id="9" name="TextBox 8"/>
          <p:cNvSpPr txBox="1">
            <a:spLocks/>
          </p:cNvSpPr>
          <p:nvPr/>
        </p:nvSpPr>
        <p:spPr>
          <a:xfrm>
            <a:off x="502920" y="621792"/>
            <a:ext cx="11109960" cy="455509"/>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Practical handoff: Small BGP Route Exchange</a:t>
            </a:r>
          </a:p>
        </p:txBody>
      </p:sp>
      <p:sp>
        <p:nvSpPr>
          <p:cNvPr id="10" name="TextBox 9"/>
          <p:cNvSpPr txBox="1">
            <a:spLocks/>
          </p:cNvSpPr>
          <p:nvPr/>
        </p:nvSpPr>
        <p:spPr>
          <a:xfrm>
            <a:off x="658368" y="1554480"/>
            <a:ext cx="6583680" cy="3571427"/>
          </a:xfrm>
          <a:prstGeom prst="rect">
            <a:avLst/>
          </a:prstGeom>
          <a:noFill/>
        </p:spPr>
        <p:txBody>
          <a:bodyPr wrap="square" lIns="109728" tIns="73152" rIns="109728" bIns="73152" anchor="t">
            <a:spAutoFit/>
          </a:bodyPr>
          <a:lstStyle/>
          <a:p>
            <a:pPr algn="l">
              <a:lnSpc>
                <a:spcPct val="105000"/>
              </a:lnSpc>
              <a:spcAft>
                <a:spcPts val="800"/>
              </a:spcAft>
              <a:defRPr sz="1700">
                <a:solidFill>
                  <a:srgbClr val="1E2B40"/>
                </a:solidFill>
              </a:defRPr>
            </a:pPr>
            <a:r>
              <a:rPr lang="en-GB"/>
              <a:t>• START / PREREQUISITES: Morning training tunnel preserved; instructor supplies peer tunnel IPs, ASNs and router IDs.</a:t>
            </a:r>
          </a:p>
          <a:p>
            <a:pPr>
              <a:lnSpc>
                <a:spcPct val="105000"/>
              </a:lnSpc>
              <a:spcAft>
                <a:spcPts val="800"/>
              </a:spcAft>
              <a:defRPr sz="1700">
                <a:solidFill>
                  <a:srgbClr val="1E2B40"/>
                </a:solidFill>
              </a:defRPr>
            </a:pPr>
            <a:r>
              <a:rPr lang="en-GB"/>
              <a:t>• CHANGE / INVESTIGATE: Form one eBGP peering and advertise one Student pod /24 through an explicit prefix list.</a:t>
            </a:r>
          </a:p>
          <a:p>
            <a:pPr>
              <a:lnSpc>
                <a:spcPct val="105000"/>
              </a:lnSpc>
              <a:spcAft>
                <a:spcPts val="800"/>
              </a:spcAft>
              <a:defRPr sz="1700">
                <a:solidFill>
                  <a:srgbClr val="1E2B40"/>
                </a:solidFill>
              </a:defRPr>
            </a:pPr>
            <a:r>
              <a:rPr lang="en-GB"/>
              <a:t>• EXPECTED RESULT: Peer is Established; only the permitted prefix is received, selected and installed with a reachable next hop.</a:t>
            </a:r>
          </a:p>
          <a:p>
            <a:pPr>
              <a:lnSpc>
                <a:spcPct val="105000"/>
              </a:lnSpc>
              <a:spcAft>
                <a:spcPts val="800"/>
              </a:spcAft>
              <a:defRPr sz="1700">
                <a:solidFill>
                  <a:srgbClr val="1E2B40"/>
                </a:solidFill>
              </a:defRPr>
            </a:pPr>
            <a:r>
              <a:rPr lang="en-GB"/>
              <a:t>• CLEANUP / RESET: Remove the BGP neighbor/filter changes or restore snapshot; keep the training tunnel and management path intact.</a:t>
            </a:r>
          </a:p>
          <a:p>
            <a:pPr>
              <a:lnSpc>
                <a:spcPct val="105000"/>
              </a:lnSpc>
              <a:spcAft>
                <a:spcPts val="800"/>
              </a:spcAft>
              <a:defRPr sz="1700">
                <a:solidFill>
                  <a:srgbClr val="1E2B40"/>
                </a:solidFill>
              </a:defRPr>
            </a:pPr>
            <a:r>
              <a:rPr lang="en-GB"/>
              <a:t>• DELIVERY: Hands-on objective on the prepared tunnel; instructor demonstration fallback.</a:t>
            </a:r>
          </a:p>
        </p:txBody>
      </p:sp>
      <p:cxnSp>
        <p:nvCxnSpPr>
          <p:cNvPr id="11" name="Connector 10"/>
          <p:cNvCxnSpPr/>
          <p:nvPr/>
        </p:nvCxnSpPr>
        <p:spPr>
          <a:xfrm>
            <a:off x="7452360" y="1600200"/>
            <a:ext cx="0" cy="434340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7790688" y="1627632"/>
            <a:ext cx="342900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PLANNED EXERCISE</a:t>
            </a:r>
          </a:p>
        </p:txBody>
      </p:sp>
      <p:sp>
        <p:nvSpPr>
          <p:cNvPr id="13" name="TextBox 12"/>
          <p:cNvSpPr txBox="1">
            <a:spLocks/>
          </p:cNvSpPr>
          <p:nvPr/>
        </p:nvSpPr>
        <p:spPr>
          <a:xfrm>
            <a:off x="7790688" y="2057400"/>
            <a:ext cx="3337560" cy="840230"/>
          </a:xfrm>
          <a:prstGeom prst="rect">
            <a:avLst/>
          </a:prstGeom>
          <a:noFill/>
        </p:spPr>
        <p:txBody>
          <a:bodyPr wrap="square" lIns="27432" tIns="27432" rIns="27432" bIns="27432" anchor="t">
            <a:spAutoFit/>
          </a:bodyPr>
          <a:lstStyle/>
          <a:p>
            <a:pPr algn="l">
              <a:spcAft>
                <a:spcPts val="0"/>
              </a:spcAft>
            </a:pPr>
            <a:r>
              <a:rPr lang="en-GB" sz="1700" b="1">
                <a:solidFill>
                  <a:srgbClr val="233A59"/>
                </a:solidFill>
              </a:rPr>
              <a:t>Form one eBGP peering and advertise one Student pod /24 through an explicit prefix list.</a:t>
            </a:r>
          </a:p>
        </p:txBody>
      </p:sp>
      <p:sp>
        <p:nvSpPr>
          <p:cNvPr id="14" name="TextBox 13"/>
          <p:cNvSpPr txBox="1">
            <a:spLocks/>
          </p:cNvSpPr>
          <p:nvPr/>
        </p:nvSpPr>
        <p:spPr>
          <a:xfrm>
            <a:off x="7790688" y="3822191"/>
            <a:ext cx="18288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EXPECTED RESULT</a:t>
            </a:r>
          </a:p>
        </p:txBody>
      </p:sp>
      <p:sp>
        <p:nvSpPr>
          <p:cNvPr id="15" name="TextBox 14"/>
          <p:cNvSpPr txBox="1">
            <a:spLocks/>
          </p:cNvSpPr>
          <p:nvPr/>
        </p:nvSpPr>
        <p:spPr>
          <a:xfrm>
            <a:off x="7790688" y="4187952"/>
            <a:ext cx="3337560" cy="747897"/>
          </a:xfrm>
          <a:prstGeom prst="rect">
            <a:avLst/>
          </a:prstGeom>
          <a:noFill/>
        </p:spPr>
        <p:txBody>
          <a:bodyPr wrap="square" lIns="27432" tIns="27432" rIns="27432" bIns="27432" anchor="t">
            <a:spAutoFit/>
          </a:bodyPr>
          <a:lstStyle/>
          <a:p>
            <a:pPr algn="l">
              <a:spcAft>
                <a:spcPts val="0"/>
              </a:spcAft>
            </a:pPr>
            <a:r>
              <a:rPr lang="en-GB" sz="1500" b="0">
                <a:solidFill>
                  <a:srgbClr val="1E2B40"/>
                </a:solidFill>
              </a:rPr>
              <a:t>Peer is Established; only the permitted prefix is received, selected and installed with a reachable next hop.</a:t>
            </a:r>
          </a:p>
        </p:txBody>
      </p:sp>
      <p:sp>
        <p:nvSpPr>
          <p:cNvPr id="16" name="TextBox 15"/>
          <p:cNvSpPr txBox="1">
            <a:spLocks/>
          </p:cNvSpPr>
          <p:nvPr/>
        </p:nvSpPr>
        <p:spPr>
          <a:xfrm>
            <a:off x="7790688" y="5559552"/>
            <a:ext cx="1097280" cy="209288"/>
          </a:xfrm>
          <a:prstGeom prst="rect">
            <a:avLst/>
          </a:prstGeom>
          <a:noFill/>
        </p:spPr>
        <p:txBody>
          <a:bodyPr wrap="square" lIns="27432" tIns="27432" rIns="27432" bIns="27432" anchor="t">
            <a:spAutoFit/>
          </a:bodyPr>
          <a:lstStyle/>
          <a:p>
            <a:pPr algn="l">
              <a:spcAft>
                <a:spcPts val="0"/>
              </a:spcAft>
            </a:pPr>
            <a:r>
              <a:rPr lang="en-GB" sz="1000" b="1">
                <a:solidFill>
                  <a:srgbClr val="687385"/>
                </a:solidFill>
              </a:rPr>
              <a:t>DELIVERY MODE</a:t>
            </a:r>
          </a:p>
        </p:txBody>
      </p:sp>
      <p:sp>
        <p:nvSpPr>
          <p:cNvPr id="17" name="TextBox 16"/>
          <p:cNvSpPr txBox="1">
            <a:spLocks/>
          </p:cNvSpPr>
          <p:nvPr/>
        </p:nvSpPr>
        <p:spPr>
          <a:xfrm>
            <a:off x="8942832" y="5504688"/>
            <a:ext cx="2258568" cy="270843"/>
          </a:xfrm>
          <a:prstGeom prst="rect">
            <a:avLst/>
          </a:prstGeom>
          <a:noFill/>
        </p:spPr>
        <p:txBody>
          <a:bodyPr wrap="square" lIns="27432" tIns="27432" rIns="27432" bIns="27432" anchor="t">
            <a:spAutoFit/>
          </a:bodyPr>
          <a:lstStyle/>
          <a:p>
            <a:pPr algn="r">
              <a:spcAft>
                <a:spcPts val="0"/>
              </a:spcAft>
            </a:pPr>
            <a:r>
              <a:rPr lang="en-GB" sz="1400" b="0">
                <a:solidFill>
                  <a:srgbClr val="687385"/>
                </a:solidFill>
              </a:rPr>
              <a:t>Hands-on; demo fallback</a:t>
            </a:r>
          </a:p>
        </p:txBody>
      </p:sp>
      <p:sp>
        <p:nvSpPr>
          <p:cNvPr id="18" name="TextBox 17"/>
          <p:cNvSpPr txBox="1">
            <a:spLocks/>
          </p:cNvSpPr>
          <p:nvPr/>
        </p:nvSpPr>
        <p:spPr>
          <a:xfrm>
            <a:off x="502920" y="420624"/>
            <a:ext cx="10744200" cy="130805"/>
          </a:xfrm>
          <a:prstGeom prst="rect">
            <a:avLst/>
          </a:prstGeom>
          <a:noFill/>
        </p:spPr>
        <p:txBody>
          <a:bodyPr wrap="square" lIns="0" tIns="0" rIns="0" bIns="0">
            <a:spAutoFit/>
          </a:bodyPr>
          <a:lstStyle/>
          <a:p>
            <a:pPr algn="l"/>
            <a:r>
              <a:rPr lang="en-GB" sz="850" b="1">
                <a:solidFill>
                  <a:srgbClr val="687385"/>
                </a:solidFill>
              </a:rPr>
              <a:t>108 • DAY 3 • BLOCK 10 • BGP Fundamentals</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109</a:t>
            </a:r>
          </a:p>
        </p:txBody>
      </p:sp>
      <p:sp>
        <p:nvSpPr>
          <p:cNvPr id="9" name="TextBox 8"/>
          <p:cNvSpPr txBox="1">
            <a:spLocks/>
          </p:cNvSpPr>
          <p:nvPr/>
        </p:nvSpPr>
        <p:spPr>
          <a:xfrm>
            <a:off x="502920" y="621792"/>
            <a:ext cx="11109960" cy="455509"/>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Knowledge check — explain the result</a:t>
            </a:r>
          </a:p>
        </p:txBody>
      </p:sp>
      <p:sp>
        <p:nvSpPr>
          <p:cNvPr id="10" name="TextBox 9"/>
          <p:cNvSpPr txBox="1">
            <a:spLocks/>
          </p:cNvSpPr>
          <p:nvPr/>
        </p:nvSpPr>
        <p:spPr>
          <a:xfrm>
            <a:off x="658368" y="1600200"/>
            <a:ext cx="5312664" cy="292608"/>
          </a:xfrm>
          <a:prstGeom prst="rect">
            <a:avLst/>
          </a:prstGeom>
          <a:noFill/>
        </p:spPr>
        <p:txBody>
          <a:bodyPr wrap="square" lIns="27432" tIns="27432" rIns="27432" bIns="27432" anchor="t">
            <a:spAutoFit/>
          </a:bodyPr>
          <a:lstStyle/>
          <a:p>
            <a:pPr algn="l">
              <a:spcAft>
                <a:spcPts val="0"/>
              </a:spcAft>
            </a:pPr>
            <a:r>
              <a:rPr lang="en-GB" sz="1300" b="1">
                <a:solidFill>
                  <a:srgbClr val="E60012"/>
                </a:solidFill>
              </a:rPr>
              <a:t>QUESTION 1</a:t>
            </a:r>
          </a:p>
        </p:txBody>
      </p:sp>
      <p:cxnSp>
        <p:nvCxnSpPr>
          <p:cNvPr id="11" name="Connector 10"/>
          <p:cNvCxnSpPr/>
          <p:nvPr/>
        </p:nvCxnSpPr>
        <p:spPr>
          <a:xfrm>
            <a:off x="658368" y="1984248"/>
            <a:ext cx="5312664" cy="0"/>
          </a:xfrm>
          <a:prstGeom prst="line">
            <a:avLst/>
          </a:prstGeom>
          <a:ln w="22860">
            <a:solidFill>
              <a:srgbClr val="E60012"/>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658368" y="2176272"/>
            <a:ext cx="5312664" cy="3337560"/>
          </a:xfrm>
          <a:prstGeom prst="rect">
            <a:avLst/>
          </a:prstGeom>
          <a:noFill/>
        </p:spPr>
        <p:txBody>
          <a:bodyPr wrap="square" lIns="109728" tIns="73152" rIns="109728" bIns="73152" anchor="t">
            <a:spAutoFit/>
          </a:bodyPr>
          <a:lstStyle/>
          <a:p>
            <a:pPr algn="l">
              <a:lnSpc>
                <a:spcPct val="105000"/>
              </a:lnSpc>
              <a:spcAft>
                <a:spcPts val="800"/>
              </a:spcAft>
              <a:defRPr sz="1600">
                <a:solidFill>
                  <a:srgbClr val="1E2B40"/>
                </a:solidFill>
              </a:defRPr>
            </a:pPr>
            <a:r>
              <a:rPr lang="en-GB"/>
              <a:t>• What does Established prove?</a:t>
            </a:r>
          </a:p>
        </p:txBody>
      </p:sp>
      <p:sp>
        <p:nvSpPr>
          <p:cNvPr id="13" name="TextBox 12"/>
          <p:cNvSpPr txBox="1"/>
          <p:nvPr/>
        </p:nvSpPr>
        <p:spPr>
          <a:xfrm>
            <a:off x="6227064" y="1600200"/>
            <a:ext cx="5312664" cy="292608"/>
          </a:xfrm>
          <a:prstGeom prst="rect">
            <a:avLst/>
          </a:prstGeom>
          <a:noFill/>
        </p:spPr>
        <p:txBody>
          <a:bodyPr wrap="square" lIns="27432" tIns="27432" rIns="27432" bIns="27432" anchor="t">
            <a:spAutoFit/>
          </a:bodyPr>
          <a:lstStyle/>
          <a:p>
            <a:pPr algn="l">
              <a:spcAft>
                <a:spcPts val="0"/>
              </a:spcAft>
            </a:pPr>
            <a:r>
              <a:rPr sz="1300" b="1">
                <a:solidFill>
                  <a:srgbClr val="E60012"/>
                </a:solidFill>
              </a:rPr>
              <a:t>QUESTION 2</a:t>
            </a:r>
          </a:p>
        </p:txBody>
      </p:sp>
      <p:cxnSp>
        <p:nvCxnSpPr>
          <p:cNvPr id="14" name="Connector 13"/>
          <p:cNvCxnSpPr/>
          <p:nvPr/>
        </p:nvCxnSpPr>
        <p:spPr>
          <a:xfrm>
            <a:off x="6227064" y="1984248"/>
            <a:ext cx="5312664" cy="0"/>
          </a:xfrm>
          <a:prstGeom prst="line">
            <a:avLst/>
          </a:prstGeom>
          <a:ln w="22860">
            <a:solidFill>
              <a:srgbClr val="E60012"/>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227064" y="2176272"/>
            <a:ext cx="5312664" cy="3337560"/>
          </a:xfrm>
          <a:prstGeom prst="rect">
            <a:avLst/>
          </a:prstGeom>
          <a:noFill/>
        </p:spPr>
        <p:txBody>
          <a:bodyPr wrap="square" lIns="109728" tIns="73152" rIns="109728" bIns="73152" anchor="t">
            <a:spAutoFit/>
          </a:bodyPr>
          <a:lstStyle/>
          <a:p>
            <a:pPr algn="l">
              <a:lnSpc>
                <a:spcPct val="105000"/>
              </a:lnSpc>
              <a:spcAft>
                <a:spcPts val="800"/>
              </a:spcAft>
              <a:defRPr sz="1600">
                <a:solidFill>
                  <a:srgbClr val="1E2B40"/>
                </a:solidFill>
              </a:defRPr>
            </a:pPr>
            <a:r>
              <a:t>• Which path wins if local preference differs?</a:t>
            </a:r>
          </a:p>
        </p:txBody>
      </p:sp>
      <p:sp>
        <p:nvSpPr>
          <p:cNvPr id="16" name="TextBox 15"/>
          <p:cNvSpPr txBox="1"/>
          <p:nvPr/>
        </p:nvSpPr>
        <p:spPr>
          <a:xfrm>
            <a:off x="658368" y="5724144"/>
            <a:ext cx="1234440" cy="224677"/>
          </a:xfrm>
          <a:prstGeom prst="rect">
            <a:avLst/>
          </a:prstGeom>
          <a:noFill/>
        </p:spPr>
        <p:txBody>
          <a:bodyPr wrap="square" lIns="27432" tIns="27432" rIns="27432" bIns="27432" anchor="t">
            <a:spAutoFit/>
          </a:bodyPr>
          <a:lstStyle/>
          <a:p>
            <a:pPr algn="l">
              <a:spcAft>
                <a:spcPts val="0"/>
              </a:spcAft>
            </a:pPr>
            <a:r>
              <a:rPr lang="en-GB" sz="1100" b="1">
                <a:solidFill>
                  <a:srgbClr val="233A59"/>
                </a:solidFill>
              </a:rPr>
              <a:t>KEY DISTINCTION</a:t>
            </a:r>
            <a:endParaRPr sz="1100" b="1">
              <a:solidFill>
                <a:srgbClr val="233A59"/>
              </a:solidFill>
            </a:endParaRPr>
          </a:p>
        </p:txBody>
      </p:sp>
      <p:sp>
        <p:nvSpPr>
          <p:cNvPr id="17" name="TextBox 16"/>
          <p:cNvSpPr txBox="1"/>
          <p:nvPr/>
        </p:nvSpPr>
        <p:spPr>
          <a:xfrm>
            <a:off x="1920240" y="5687568"/>
            <a:ext cx="9235440" cy="329184"/>
          </a:xfrm>
          <a:prstGeom prst="rect">
            <a:avLst/>
          </a:prstGeom>
          <a:noFill/>
        </p:spPr>
        <p:txBody>
          <a:bodyPr wrap="square" lIns="27432" tIns="27432" rIns="27432" bIns="27432" anchor="t">
            <a:spAutoFit/>
          </a:bodyPr>
          <a:lstStyle/>
          <a:p>
            <a:pPr algn="l">
              <a:spcAft>
                <a:spcPts val="0"/>
              </a:spcAft>
            </a:pPr>
            <a:r>
              <a:rPr sz="1400" b="1">
                <a:solidFill>
                  <a:srgbClr val="233A59"/>
                </a:solidFill>
              </a:rPr>
              <a:t>Answers and teaching rationale are in speaker notes.</a:t>
            </a:r>
          </a:p>
        </p:txBody>
      </p:sp>
      <p:sp>
        <p:nvSpPr>
          <p:cNvPr id="18" name="TextBox 17"/>
          <p:cNvSpPr txBox="1"/>
          <p:nvPr/>
        </p:nvSpPr>
        <p:spPr>
          <a:xfrm>
            <a:off x="502920" y="420624"/>
            <a:ext cx="10744200" cy="130805"/>
          </a:xfrm>
          <a:prstGeom prst="rect">
            <a:avLst/>
          </a:prstGeom>
          <a:noFill/>
        </p:spPr>
        <p:txBody>
          <a:bodyPr wrap="square" lIns="0" tIns="0" rIns="0" bIns="0">
            <a:spAutoFit/>
          </a:bodyPr>
          <a:lstStyle/>
          <a:p>
            <a:pPr algn="l"/>
            <a:r>
              <a:rPr lang="en-HU" sz="850" b="1">
                <a:solidFill>
                  <a:srgbClr val="687385"/>
                </a:solidFill>
              </a:rPr>
              <a:t>109</a:t>
            </a:r>
            <a:r>
              <a:rPr sz="850" b="1">
                <a:solidFill>
                  <a:srgbClr val="687385"/>
                </a:solidFill>
              </a:rPr>
              <a:t> • DAY 3 • BLOCK 10 • BGP Fundamentals</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101827"/>
        </a:solidFill>
        <a:effectLst/>
      </p:bgPr>
    </p:bg>
    <p:spTree>
      <p:nvGrpSpPr>
        <p:cNvPr id="1" name=""/>
        <p:cNvGrpSpPr/>
        <p:nvPr/>
      </p:nvGrpSpPr>
      <p:grpSpPr>
        <a:xfrm>
          <a:off x="0" y="0"/>
          <a:ext cx="1" cy="1"/>
          <a:chOff x="0" y="0"/>
          <a:chExt cx="1" cy="1"/>
        </a:xfrm>
      </p:grpSpPr>
      <p:sp>
        <p:nvSpPr>
          <p:cNvPr id="2" name="Rectangle 1"/>
          <p:cNvSpPr/>
          <p:nvPr/>
        </p:nvSpPr>
        <p:spPr>
          <a:xfrm>
            <a:off x="0" y="0"/>
            <a:ext cx="146304" cy="6858000"/>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a:spLocks/>
          </p:cNvSpPr>
          <p:nvPr/>
        </p:nvSpPr>
        <p:spPr>
          <a:xfrm>
            <a:off x="658368" y="566928"/>
            <a:ext cx="5212080" cy="256032"/>
          </a:xfrm>
          <a:prstGeom prst="rect">
            <a:avLst/>
          </a:prstGeom>
          <a:noFill/>
        </p:spPr>
        <p:txBody>
          <a:bodyPr wrap="square" lIns="27432" tIns="27432" rIns="27432" bIns="27432" anchor="t">
            <a:spAutoFit/>
          </a:bodyPr>
          <a:lstStyle/>
          <a:p>
            <a:pPr algn="l">
              <a:spcAft>
                <a:spcPts val="0"/>
              </a:spcAft>
            </a:pPr>
            <a:r>
              <a:rPr lang="en-GB" sz="1400" b="1">
                <a:solidFill>
                  <a:srgbClr val="E60012"/>
                </a:solidFill>
              </a:rPr>
              <a:t>DAY 3  •  13:00–14:30</a:t>
            </a:r>
          </a:p>
        </p:txBody>
      </p:sp>
      <p:sp>
        <p:nvSpPr>
          <p:cNvPr id="4" name="TextBox 3"/>
          <p:cNvSpPr txBox="1">
            <a:spLocks/>
          </p:cNvSpPr>
          <p:nvPr/>
        </p:nvSpPr>
        <p:spPr>
          <a:xfrm>
            <a:off x="658368" y="1097280"/>
            <a:ext cx="10515600" cy="914400"/>
          </a:xfrm>
          <a:prstGeom prst="rect">
            <a:avLst/>
          </a:prstGeom>
          <a:noFill/>
        </p:spPr>
        <p:txBody>
          <a:bodyPr wrap="square" lIns="27432" tIns="27432" rIns="27432" bIns="27432" anchor="t">
            <a:spAutoFit/>
          </a:bodyPr>
          <a:lstStyle/>
          <a:p>
            <a:pPr algn="l">
              <a:spcAft>
                <a:spcPts val="0"/>
              </a:spcAft>
            </a:pPr>
            <a:r>
              <a:rPr lang="en-GB" sz="3400" b="1">
                <a:solidFill>
                  <a:srgbClr val="FFFFFF"/>
                </a:solidFill>
              </a:rPr>
              <a:t>IPsec VPN Architecture &amp; ADVPN</a:t>
            </a:r>
          </a:p>
        </p:txBody>
      </p:sp>
      <p:sp>
        <p:nvSpPr>
          <p:cNvPr id="5" name="TextBox 4"/>
          <p:cNvSpPr txBox="1">
            <a:spLocks/>
          </p:cNvSpPr>
          <p:nvPr/>
        </p:nvSpPr>
        <p:spPr>
          <a:xfrm>
            <a:off x="676656" y="2084831"/>
            <a:ext cx="8686800" cy="320040"/>
          </a:xfrm>
          <a:prstGeom prst="rect">
            <a:avLst/>
          </a:prstGeom>
          <a:noFill/>
        </p:spPr>
        <p:txBody>
          <a:bodyPr wrap="square" lIns="27432" tIns="27432" rIns="27432" bIns="27432" anchor="t">
            <a:spAutoFit/>
          </a:bodyPr>
          <a:lstStyle/>
          <a:p>
            <a:pPr algn="l">
              <a:spcAft>
                <a:spcPts val="0"/>
              </a:spcAft>
            </a:pPr>
            <a:r>
              <a:rPr lang="en-GB" sz="1500" b="0">
                <a:solidFill>
                  <a:srgbClr val="C9D1DD"/>
                </a:solidFill>
              </a:rPr>
              <a:t>Advanced • Day 1 of 2</a:t>
            </a:r>
          </a:p>
        </p:txBody>
      </p:sp>
      <p:cxnSp>
        <p:nvCxnSpPr>
          <p:cNvPr id="6" name="Connector 5"/>
          <p:cNvCxnSpPr/>
          <p:nvPr/>
        </p:nvCxnSpPr>
        <p:spPr>
          <a:xfrm>
            <a:off x="676656" y="2578608"/>
            <a:ext cx="10616184" cy="0"/>
          </a:xfrm>
          <a:prstGeom prst="line">
            <a:avLst/>
          </a:prstGeom>
          <a:ln w="12700">
            <a:solidFill>
              <a:srgbClr val="40516A"/>
            </a:solidFill>
          </a:ln>
        </p:spPr>
        <p:style>
          <a:lnRef idx="2">
            <a:schemeClr val="accent1"/>
          </a:lnRef>
          <a:fillRef idx="0">
            <a:schemeClr val="accent1"/>
          </a:fillRef>
          <a:effectRef idx="1">
            <a:schemeClr val="accent1"/>
          </a:effectRef>
          <a:fontRef idx="minor">
            <a:schemeClr val="tx1"/>
          </a:fontRef>
        </p:style>
      </p:cxnSp>
      <p:sp>
        <p:nvSpPr>
          <p:cNvPr id="7" name="TextBox 6"/>
          <p:cNvSpPr txBox="1">
            <a:spLocks/>
          </p:cNvSpPr>
          <p:nvPr/>
        </p:nvSpPr>
        <p:spPr>
          <a:xfrm>
            <a:off x="685800" y="2889504"/>
            <a:ext cx="27432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LEARNING OBJECTIVES</a:t>
            </a:r>
          </a:p>
        </p:txBody>
      </p:sp>
      <p:sp>
        <p:nvSpPr>
          <p:cNvPr id="8" name="TextBox 7"/>
          <p:cNvSpPr txBox="1">
            <a:spLocks/>
          </p:cNvSpPr>
          <p:nvPr/>
        </p:nvSpPr>
        <p:spPr>
          <a:xfrm>
            <a:off x="685800" y="3218688"/>
            <a:ext cx="6035040" cy="2057400"/>
          </a:xfrm>
          <a:prstGeom prst="rect">
            <a:avLst/>
          </a:prstGeom>
          <a:noFill/>
        </p:spPr>
        <p:txBody>
          <a:bodyPr wrap="square" lIns="109728" tIns="73152" rIns="109728" bIns="73152" anchor="t">
            <a:spAutoFit/>
          </a:bodyPr>
          <a:lstStyle/>
          <a:p>
            <a:pPr algn="l">
              <a:lnSpc>
                <a:spcPct val="105000"/>
              </a:lnSpc>
              <a:spcAft>
                <a:spcPts val="700"/>
              </a:spcAft>
              <a:defRPr sz="1700">
                <a:solidFill>
                  <a:srgbClr val="FFFFFF"/>
                </a:solidFill>
              </a:defRPr>
            </a:pPr>
            <a:r>
              <a:rPr lang="en-GB"/>
              <a:t>• Relate IKEv2 Phase 1, Phase 2 and route-based forwarding</a:t>
            </a:r>
          </a:p>
          <a:p>
            <a:pPr>
              <a:lnSpc>
                <a:spcPct val="105000"/>
              </a:lnSpc>
              <a:spcAft>
                <a:spcPts val="700"/>
              </a:spcAft>
              <a:defRPr sz="1700">
                <a:solidFill>
                  <a:srgbClr val="FFFFFF"/>
                </a:solidFill>
              </a:defRPr>
            </a:pPr>
            <a:r>
              <a:rPr lang="en-GB"/>
              <a:t>• Design selectors, routes and policies as one system</a:t>
            </a:r>
          </a:p>
          <a:p>
            <a:pPr>
              <a:lnSpc>
                <a:spcPct val="105000"/>
              </a:lnSpc>
              <a:spcAft>
                <a:spcPts val="700"/>
              </a:spcAft>
              <a:defRPr sz="1700">
                <a:solidFill>
                  <a:srgbClr val="FFFFFF"/>
                </a:solidFill>
              </a:defRPr>
            </a:pPr>
            <a:r>
              <a:rPr lang="en-GB"/>
              <a:t>• Explain ADVPN underlay/overlay, hub/spoke and shortcut behavior</a:t>
            </a:r>
          </a:p>
        </p:txBody>
      </p:sp>
      <p:sp>
        <p:nvSpPr>
          <p:cNvPr id="9" name="TextBox 8"/>
          <p:cNvSpPr txBox="1">
            <a:spLocks/>
          </p:cNvSpPr>
          <p:nvPr/>
        </p:nvSpPr>
        <p:spPr>
          <a:xfrm>
            <a:off x="7315200" y="2889504"/>
            <a:ext cx="36576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PREREQUISITES + PRACTICE RESERVE</a:t>
            </a:r>
          </a:p>
        </p:txBody>
      </p:sp>
      <p:sp>
        <p:nvSpPr>
          <p:cNvPr id="10" name="TextBox 9"/>
          <p:cNvSpPr txBox="1">
            <a:spLocks/>
          </p:cNvSpPr>
          <p:nvPr/>
        </p:nvSpPr>
        <p:spPr>
          <a:xfrm>
            <a:off x="7315200" y="3218688"/>
            <a:ext cx="3886200" cy="1506182"/>
          </a:xfrm>
          <a:prstGeom prst="rect">
            <a:avLst/>
          </a:prstGeom>
          <a:noFill/>
        </p:spPr>
        <p:txBody>
          <a:bodyPr wrap="square" lIns="109728" tIns="73152" rIns="109728" bIns="73152" anchor="t">
            <a:spAutoFit/>
          </a:bodyPr>
          <a:lstStyle/>
          <a:p>
            <a:pPr algn="l">
              <a:lnSpc>
                <a:spcPct val="105000"/>
              </a:lnSpc>
              <a:spcAft>
                <a:spcPts val="600"/>
              </a:spcAft>
              <a:defRPr sz="1500">
                <a:solidFill>
                  <a:srgbClr val="FFFFFF"/>
                </a:solidFill>
              </a:defRPr>
            </a:pPr>
            <a:r>
              <a:rPr lang="en-GB"/>
              <a:t>• Working Student01/Student02 underlay reachability</a:t>
            </a:r>
          </a:p>
          <a:p>
            <a:pPr>
              <a:lnSpc>
                <a:spcPct val="105000"/>
              </a:lnSpc>
              <a:spcAft>
                <a:spcPts val="600"/>
              </a:spcAft>
              <a:defRPr sz="1500">
                <a:solidFill>
                  <a:srgbClr val="FFFFFF"/>
                </a:solidFill>
              </a:defRPr>
            </a:pPr>
            <a:r>
              <a:rPr lang="en-GB"/>
              <a:t>• Separate afternoon baseline or tunnel</a:t>
            </a:r>
          </a:p>
          <a:p>
            <a:pPr>
              <a:lnSpc>
                <a:spcPct val="105000"/>
              </a:lnSpc>
              <a:spcAft>
                <a:spcPts val="600"/>
              </a:spcAft>
              <a:defRPr sz="1500">
                <a:solidFill>
                  <a:srgbClr val="FFFFFF"/>
                </a:solidFill>
              </a:defRPr>
            </a:pPr>
            <a:r>
              <a:rPr lang="en-GB"/>
              <a:t>• ADVPN shortcut/OSPF objective prevalidated or demo fallback</a:t>
            </a:r>
          </a:p>
        </p:txBody>
      </p:sp>
      <p:sp>
        <p:nvSpPr>
          <p:cNvPr id="11" name="TextBox 10"/>
          <p:cNvSpPr txBox="1">
            <a:spLocks/>
          </p:cNvSpPr>
          <p:nvPr/>
        </p:nvSpPr>
        <p:spPr>
          <a:xfrm>
            <a:off x="7315200" y="4709160"/>
            <a:ext cx="3931920" cy="685800"/>
          </a:xfrm>
          <a:prstGeom prst="rect">
            <a:avLst/>
          </a:prstGeom>
          <a:noFill/>
        </p:spPr>
        <p:txBody>
          <a:bodyPr wrap="square" lIns="27432" tIns="27432" rIns="27432" bIns="27432" anchor="t">
            <a:spAutoFit/>
          </a:bodyPr>
          <a:lstStyle/>
          <a:p>
            <a:pPr algn="l">
              <a:spcAft>
                <a:spcPts val="0"/>
              </a:spcAft>
            </a:pPr>
            <a:r>
              <a:rPr lang="en-GB" sz="1600" b="1">
                <a:solidFill>
                  <a:srgbClr val="D8E0EA"/>
                </a:solidFill>
              </a:rPr>
              <a:t>Teach ~60 min • reserve ~30 min for guided activity, discussion and debrief</a:t>
            </a:r>
          </a:p>
        </p:txBody>
      </p:sp>
      <p:sp>
        <p:nvSpPr>
          <p:cNvPr id="12" name="TextBox 11"/>
          <p:cNvSpPr txBox="1">
            <a:spLocks/>
          </p:cNvSpPr>
          <p:nvPr/>
        </p:nvSpPr>
        <p:spPr>
          <a:xfrm>
            <a:off x="10424160" y="5715000"/>
            <a:ext cx="731520" cy="363176"/>
          </a:xfrm>
          <a:prstGeom prst="rect">
            <a:avLst/>
          </a:prstGeom>
          <a:noFill/>
        </p:spPr>
        <p:txBody>
          <a:bodyPr wrap="square" lIns="27432" tIns="27432" rIns="27432" bIns="27432" anchor="t">
            <a:spAutoFit/>
          </a:bodyPr>
          <a:lstStyle/>
          <a:p>
            <a:pPr algn="r">
              <a:spcAft>
                <a:spcPts val="0"/>
              </a:spcAft>
            </a:pPr>
            <a:r>
              <a:rPr lang="en-HU" sz="2000" b="1">
                <a:solidFill>
                  <a:srgbClr val="E60012"/>
                </a:solidFill>
              </a:rPr>
              <a:t>110</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p:nvPr/>
        </p:nvSpPr>
        <p:spPr>
          <a:xfrm>
            <a:off x="502920" y="411480"/>
            <a:ext cx="548640" cy="189283"/>
          </a:xfrm>
          <a:prstGeom prst="rect">
            <a:avLst/>
          </a:prstGeom>
          <a:noFill/>
        </p:spPr>
        <p:txBody>
          <a:bodyPr wrap="square" lIns="36576" tIns="36576" rIns="36576" bIns="36576" anchor="t">
            <a:spAutoFit/>
          </a:bodyPr>
          <a:lstStyle/>
          <a:p>
            <a:pPr algn="l">
              <a:spcAft>
                <a:spcPts val="0"/>
              </a:spcAft>
            </a:pPr>
            <a:r>
              <a:rPr lang="en-HU" sz="750" b="1">
                <a:solidFill>
                  <a:srgbClr val="687385"/>
                </a:solidFill>
              </a:rPr>
              <a:t>111</a:t>
            </a:r>
            <a:endParaRPr sz="750" b="1">
              <a:solidFill>
                <a:srgbClr val="687385"/>
              </a:solidFill>
            </a:endParaRPr>
          </a:p>
        </p:txBody>
      </p:sp>
      <p:sp>
        <p:nvSpPr>
          <p:cNvPr id="4" name="TextBox 3"/>
          <p:cNvSpPr txBox="1"/>
          <p:nvPr/>
        </p:nvSpPr>
        <p:spPr>
          <a:xfrm>
            <a:off x="502920" y="621792"/>
            <a:ext cx="11109960" cy="548640"/>
          </a:xfrm>
          <a:prstGeom prst="rect">
            <a:avLst/>
          </a:prstGeom>
          <a:noFill/>
        </p:spPr>
        <p:txBody>
          <a:bodyPr wrap="square" lIns="36576" tIns="36576" rIns="36576" bIns="36576" anchor="t">
            <a:spAutoFit/>
          </a:bodyPr>
          <a:lstStyle/>
          <a:p>
            <a:pPr algn="l">
              <a:spcAft>
                <a:spcPts val="0"/>
              </a:spcAft>
            </a:pPr>
            <a:r>
              <a:rPr sz="2600" b="1">
                <a:solidFill>
                  <a:srgbClr val="1E2B40"/>
                </a:solidFill>
              </a:rPr>
              <a:t>Route-based IPsec connects protected subnets over an underlay</a:t>
            </a:r>
          </a:p>
        </p:txBody>
      </p:sp>
      <p:sp>
        <p:nvSpPr>
          <p:cNvPr id="5" name="TextBox 4"/>
          <p:cNvSpPr txBox="1"/>
          <p:nvPr/>
        </p:nvSpPr>
        <p:spPr>
          <a:xfrm>
            <a:off x="521207" y="1143000"/>
            <a:ext cx="10789920" cy="243143"/>
          </a:xfrm>
          <a:prstGeom prst="rect">
            <a:avLst/>
          </a:prstGeom>
          <a:noFill/>
        </p:spPr>
        <p:txBody>
          <a:bodyPr wrap="square" lIns="36576" tIns="36576" rIns="36576" bIns="36576" anchor="t">
            <a:spAutoFit/>
          </a:bodyPr>
          <a:lstStyle/>
          <a:p>
            <a:pPr algn="l">
              <a:spcAft>
                <a:spcPts val="0"/>
              </a:spcAft>
            </a:pPr>
            <a:r>
              <a:rPr lang="en-GB" sz="1100" b="0">
                <a:solidFill>
                  <a:srgbClr val="687385"/>
                </a:solidFill>
              </a:rPr>
              <a:t>Afternoon exercise: separate tunnel or isolated baseline</a:t>
            </a:r>
            <a:r>
              <a:rPr sz="1100" b="0">
                <a:solidFill>
                  <a:srgbClr val="687385"/>
                </a:solidFill>
              </a:rPr>
              <a:t>; </a:t>
            </a:r>
            <a:r>
              <a:rPr lang="en-GB" sz="1100" b="0">
                <a:solidFill>
                  <a:srgbClr val="687385"/>
                </a:solidFill>
              </a:rPr>
              <a:t>morning training tunnel remains intact</a:t>
            </a:r>
            <a:endParaRPr sz="1100" b="0">
              <a:solidFill>
                <a:srgbClr val="687385"/>
              </a:solidFill>
            </a:endParaRPr>
          </a:p>
        </p:txBody>
      </p:sp>
      <p:cxnSp>
        <p:nvCxnSpPr>
          <p:cNvPr id="6" name="Connector 5"/>
          <p:cNvCxnSpPr/>
          <p:nvPr/>
        </p:nvCxnSpPr>
        <p:spPr>
          <a:xfrm>
            <a:off x="502920" y="6473952"/>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7" name="TextBox 6"/>
          <p:cNvSpPr txBox="1">
            <a:spLocks/>
          </p:cNvSpPr>
          <p:nvPr/>
        </p:nvSpPr>
        <p:spPr>
          <a:xfrm>
            <a:off x="11109960" y="6537960"/>
            <a:ext cx="502920" cy="189283"/>
          </a:xfrm>
          <a:prstGeom prst="rect">
            <a:avLst/>
          </a:prstGeom>
          <a:noFill/>
        </p:spPr>
        <p:txBody>
          <a:bodyPr wrap="square" lIns="36576" tIns="36576" rIns="36576" bIns="36576" anchor="t">
            <a:spAutoFit/>
          </a:bodyPr>
          <a:lstStyle/>
          <a:p>
            <a:pPr algn="r">
              <a:spcAft>
                <a:spcPts val="0"/>
              </a:spcAft>
            </a:pPr>
            <a:r>
              <a:rPr lang="en-HU" sz="750" b="0">
                <a:solidFill>
                  <a:srgbClr val="687385"/>
                </a:solidFill>
              </a:rPr>
              <a:t>111</a:t>
            </a:r>
          </a:p>
        </p:txBody>
      </p:sp>
      <p:sp>
        <p:nvSpPr>
          <p:cNvPr id="8" name="Rectangle 7"/>
          <p:cNvSpPr>
            <a:spLocks/>
          </p:cNvSpPr>
          <p:nvPr/>
        </p:nvSpPr>
        <p:spPr>
          <a:xfrm>
            <a:off x="411480" y="1965960"/>
            <a:ext cx="1645920" cy="9144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9" name="TextBox 8"/>
          <p:cNvSpPr txBox="1">
            <a:spLocks/>
          </p:cNvSpPr>
          <p:nvPr/>
        </p:nvSpPr>
        <p:spPr>
          <a:xfrm>
            <a:off x="484632" y="2084831"/>
            <a:ext cx="1499616" cy="304699"/>
          </a:xfrm>
          <a:prstGeom prst="rect">
            <a:avLst/>
          </a:prstGeom>
          <a:noFill/>
        </p:spPr>
        <p:txBody>
          <a:bodyPr wrap="square" lIns="36576" tIns="36576" rIns="36576" bIns="36576" anchor="t">
            <a:spAutoFit/>
          </a:bodyPr>
          <a:lstStyle/>
          <a:p>
            <a:pPr algn="ctr">
              <a:spcAft>
                <a:spcPts val="0"/>
              </a:spcAft>
            </a:pPr>
            <a:r>
              <a:rPr lang="en-GB" sz="1500" b="1">
                <a:solidFill>
                  <a:srgbClr val="FFFFFF"/>
                </a:solidFill>
              </a:rPr>
              <a:t>STUDENT01 LAN</a:t>
            </a:r>
          </a:p>
        </p:txBody>
      </p:sp>
      <p:sp>
        <p:nvSpPr>
          <p:cNvPr id="10" name="TextBox 9"/>
          <p:cNvSpPr txBox="1">
            <a:spLocks/>
          </p:cNvSpPr>
          <p:nvPr/>
        </p:nvSpPr>
        <p:spPr>
          <a:xfrm>
            <a:off x="484632" y="2441448"/>
            <a:ext cx="1499616" cy="227755"/>
          </a:xfrm>
          <a:prstGeom prst="rect">
            <a:avLst/>
          </a:prstGeom>
          <a:noFill/>
        </p:spPr>
        <p:txBody>
          <a:bodyPr wrap="square" lIns="36576" tIns="36576" rIns="36576" bIns="36576" anchor="t">
            <a:spAutoFit/>
          </a:bodyPr>
          <a:lstStyle/>
          <a:p>
            <a:pPr algn="ctr">
              <a:spcAft>
                <a:spcPts val="0"/>
              </a:spcAft>
            </a:pPr>
            <a:r>
              <a:rPr lang="en-HU" sz="1000" b="0">
                <a:solidFill>
                  <a:srgbClr val="D8E0EA"/>
                </a:solidFill>
              </a:rPr>
              <a:t>10.1.10.0/24</a:t>
            </a:r>
          </a:p>
        </p:txBody>
      </p:sp>
      <p:sp>
        <p:nvSpPr>
          <p:cNvPr id="11" name="Rectangle 10"/>
          <p:cNvSpPr>
            <a:spLocks/>
          </p:cNvSpPr>
          <p:nvPr/>
        </p:nvSpPr>
        <p:spPr>
          <a:xfrm>
            <a:off x="2423160" y="1828800"/>
            <a:ext cx="1828800"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2" name="TextBox 11"/>
          <p:cNvSpPr txBox="1"/>
          <p:nvPr/>
        </p:nvSpPr>
        <p:spPr>
          <a:xfrm>
            <a:off x="2496312" y="1947672"/>
            <a:ext cx="1682496" cy="304699"/>
          </a:xfrm>
          <a:prstGeom prst="rect">
            <a:avLst/>
          </a:prstGeom>
          <a:noFill/>
        </p:spPr>
        <p:txBody>
          <a:bodyPr wrap="square" lIns="36576" tIns="36576" rIns="36576" bIns="36576" anchor="t">
            <a:spAutoFit/>
          </a:bodyPr>
          <a:lstStyle/>
          <a:p>
            <a:pPr algn="ctr">
              <a:spcAft>
                <a:spcPts val="0"/>
              </a:spcAft>
            </a:pPr>
            <a:r>
              <a:rPr lang="en-GB" sz="1500" b="1">
                <a:solidFill>
                  <a:srgbClr val="FFFFFF"/>
                </a:solidFill>
              </a:rPr>
              <a:t>STUDENT01 FGT</a:t>
            </a:r>
            <a:endParaRPr sz="1500" b="1">
              <a:solidFill>
                <a:srgbClr val="FFFFFF"/>
              </a:solidFill>
            </a:endParaRPr>
          </a:p>
        </p:txBody>
      </p:sp>
      <p:sp>
        <p:nvSpPr>
          <p:cNvPr id="13" name="TextBox 12"/>
          <p:cNvSpPr txBox="1">
            <a:spLocks/>
          </p:cNvSpPr>
          <p:nvPr/>
        </p:nvSpPr>
        <p:spPr>
          <a:xfrm>
            <a:off x="2496312" y="2304288"/>
            <a:ext cx="1682496" cy="227755"/>
          </a:xfrm>
          <a:prstGeom prst="rect">
            <a:avLst/>
          </a:prstGeom>
          <a:noFill/>
        </p:spPr>
        <p:txBody>
          <a:bodyPr wrap="square" lIns="36576" tIns="36576" rIns="36576" bIns="36576" anchor="t">
            <a:spAutoFit/>
          </a:bodyPr>
          <a:lstStyle/>
          <a:p>
            <a:pPr algn="ctr">
              <a:spcAft>
                <a:spcPts val="0"/>
              </a:spcAft>
            </a:pPr>
            <a:r>
              <a:rPr lang="en-GB" sz="1000" b="0">
                <a:solidFill>
                  <a:srgbClr val="D8E0EA"/>
                </a:solidFill>
              </a:rPr>
              <a:t>port1 10.1.0.4</a:t>
            </a:r>
          </a:p>
        </p:txBody>
      </p:sp>
      <p:sp>
        <p:nvSpPr>
          <p:cNvPr id="14" name="Rectangle 13"/>
          <p:cNvSpPr>
            <a:spLocks/>
          </p:cNvSpPr>
          <p:nvPr/>
        </p:nvSpPr>
        <p:spPr>
          <a:xfrm>
            <a:off x="4983480" y="1828800"/>
            <a:ext cx="2148840" cy="1143000"/>
          </a:xfrm>
          <a:prstGeom prst="rect">
            <a:avLst/>
          </a:prstGeom>
          <a:solidFill>
            <a:srgbClr val="233A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5" name="TextBox 14"/>
          <p:cNvSpPr txBox="1"/>
          <p:nvPr/>
        </p:nvSpPr>
        <p:spPr>
          <a:xfrm>
            <a:off x="5056632" y="1947672"/>
            <a:ext cx="2002536" cy="304699"/>
          </a:xfrm>
          <a:prstGeom prst="rect">
            <a:avLst/>
          </a:prstGeom>
          <a:noFill/>
        </p:spPr>
        <p:txBody>
          <a:bodyPr wrap="square" lIns="36576" tIns="36576" rIns="36576" bIns="36576" anchor="t">
            <a:spAutoFit/>
          </a:bodyPr>
          <a:lstStyle/>
          <a:p>
            <a:pPr algn="ctr">
              <a:spcAft>
                <a:spcPts val="0"/>
              </a:spcAft>
            </a:pPr>
            <a:r>
              <a:rPr sz="1500" b="1">
                <a:solidFill>
                  <a:srgbClr val="FFFFFF"/>
                </a:solidFill>
              </a:rPr>
              <a:t>AZURE </a:t>
            </a:r>
            <a:r>
              <a:rPr lang="en-GB" sz="1500" b="1">
                <a:solidFill>
                  <a:srgbClr val="FFFFFF"/>
                </a:solidFill>
              </a:rPr>
              <a:t>UNDERLAY</a:t>
            </a:r>
            <a:endParaRPr sz="1500" b="1">
              <a:solidFill>
                <a:srgbClr val="FFFFFF"/>
              </a:solidFill>
            </a:endParaRPr>
          </a:p>
        </p:txBody>
      </p:sp>
      <p:sp>
        <p:nvSpPr>
          <p:cNvPr id="16" name="TextBox 15"/>
          <p:cNvSpPr txBox="1">
            <a:spLocks/>
          </p:cNvSpPr>
          <p:nvPr/>
        </p:nvSpPr>
        <p:spPr>
          <a:xfrm>
            <a:off x="5056632" y="2304288"/>
            <a:ext cx="2002536" cy="227755"/>
          </a:xfrm>
          <a:prstGeom prst="rect">
            <a:avLst/>
          </a:prstGeom>
          <a:noFill/>
        </p:spPr>
        <p:txBody>
          <a:bodyPr wrap="square" lIns="36576" tIns="36576" rIns="36576" bIns="36576" anchor="t">
            <a:spAutoFit/>
          </a:bodyPr>
          <a:lstStyle/>
          <a:p>
            <a:pPr algn="ctr">
              <a:spcAft>
                <a:spcPts val="0"/>
              </a:spcAft>
            </a:pPr>
            <a:r>
              <a:rPr lang="en-GB" sz="1000" b="0">
                <a:solidFill>
                  <a:srgbClr val="D8E0EA"/>
                </a:solidFill>
              </a:rPr>
              <a:t>transport reachability</a:t>
            </a:r>
          </a:p>
        </p:txBody>
      </p:sp>
      <p:sp>
        <p:nvSpPr>
          <p:cNvPr id="17" name="Rectangle 16"/>
          <p:cNvSpPr>
            <a:spLocks/>
          </p:cNvSpPr>
          <p:nvPr/>
        </p:nvSpPr>
        <p:spPr>
          <a:xfrm>
            <a:off x="7818120" y="1828800"/>
            <a:ext cx="1828800"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8" name="TextBox 17"/>
          <p:cNvSpPr txBox="1"/>
          <p:nvPr/>
        </p:nvSpPr>
        <p:spPr>
          <a:xfrm>
            <a:off x="7891272" y="1947672"/>
            <a:ext cx="1682496" cy="304699"/>
          </a:xfrm>
          <a:prstGeom prst="rect">
            <a:avLst/>
          </a:prstGeom>
          <a:noFill/>
        </p:spPr>
        <p:txBody>
          <a:bodyPr wrap="square" lIns="36576" tIns="36576" rIns="36576" bIns="36576" anchor="t">
            <a:spAutoFit/>
          </a:bodyPr>
          <a:lstStyle/>
          <a:p>
            <a:pPr algn="ctr">
              <a:spcAft>
                <a:spcPts val="0"/>
              </a:spcAft>
            </a:pPr>
            <a:r>
              <a:rPr lang="en-GB" sz="1500" b="1">
                <a:solidFill>
                  <a:srgbClr val="FFFFFF"/>
                </a:solidFill>
              </a:rPr>
              <a:t>STUDENT02 FGT</a:t>
            </a:r>
            <a:endParaRPr sz="1500" b="1">
              <a:solidFill>
                <a:srgbClr val="FFFFFF"/>
              </a:solidFill>
            </a:endParaRPr>
          </a:p>
        </p:txBody>
      </p:sp>
      <p:sp>
        <p:nvSpPr>
          <p:cNvPr id="19" name="TextBox 18"/>
          <p:cNvSpPr txBox="1">
            <a:spLocks/>
          </p:cNvSpPr>
          <p:nvPr/>
        </p:nvSpPr>
        <p:spPr>
          <a:xfrm>
            <a:off x="7891272" y="2304288"/>
            <a:ext cx="1682496" cy="227755"/>
          </a:xfrm>
          <a:prstGeom prst="rect">
            <a:avLst/>
          </a:prstGeom>
          <a:noFill/>
        </p:spPr>
        <p:txBody>
          <a:bodyPr wrap="square" lIns="36576" tIns="36576" rIns="36576" bIns="36576" anchor="t">
            <a:spAutoFit/>
          </a:bodyPr>
          <a:lstStyle/>
          <a:p>
            <a:pPr algn="ctr">
              <a:spcAft>
                <a:spcPts val="0"/>
              </a:spcAft>
            </a:pPr>
            <a:r>
              <a:rPr lang="en-GB" sz="1000" b="0">
                <a:solidFill>
                  <a:srgbClr val="D8E0EA"/>
                </a:solidFill>
              </a:rPr>
              <a:t>port1 10.2.0.4</a:t>
            </a:r>
          </a:p>
        </p:txBody>
      </p:sp>
      <p:sp>
        <p:nvSpPr>
          <p:cNvPr id="20" name="Rectangle 19"/>
          <p:cNvSpPr>
            <a:spLocks/>
          </p:cNvSpPr>
          <p:nvPr/>
        </p:nvSpPr>
        <p:spPr>
          <a:xfrm>
            <a:off x="10058400" y="1965960"/>
            <a:ext cx="1645920" cy="9144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21" name="TextBox 20"/>
          <p:cNvSpPr txBox="1"/>
          <p:nvPr/>
        </p:nvSpPr>
        <p:spPr>
          <a:xfrm>
            <a:off x="10131552" y="2084831"/>
            <a:ext cx="1499616" cy="304699"/>
          </a:xfrm>
          <a:prstGeom prst="rect">
            <a:avLst/>
          </a:prstGeom>
          <a:noFill/>
        </p:spPr>
        <p:txBody>
          <a:bodyPr wrap="square" lIns="36576" tIns="36576" rIns="36576" bIns="36576" anchor="t">
            <a:spAutoFit/>
          </a:bodyPr>
          <a:lstStyle/>
          <a:p>
            <a:pPr algn="ctr">
              <a:spcAft>
                <a:spcPts val="0"/>
              </a:spcAft>
            </a:pPr>
            <a:r>
              <a:rPr lang="en-GB" sz="1500" b="1">
                <a:solidFill>
                  <a:srgbClr val="FFFFFF"/>
                </a:solidFill>
              </a:rPr>
              <a:t>STUDENT02</a:t>
            </a:r>
            <a:r>
              <a:rPr sz="1500" b="1">
                <a:solidFill>
                  <a:srgbClr val="FFFFFF"/>
                </a:solidFill>
              </a:rPr>
              <a:t> LAN</a:t>
            </a:r>
          </a:p>
        </p:txBody>
      </p:sp>
      <p:sp>
        <p:nvSpPr>
          <p:cNvPr id="22" name="TextBox 21"/>
          <p:cNvSpPr txBox="1">
            <a:spLocks/>
          </p:cNvSpPr>
          <p:nvPr/>
        </p:nvSpPr>
        <p:spPr>
          <a:xfrm>
            <a:off x="10131552" y="2441448"/>
            <a:ext cx="1499616" cy="227755"/>
          </a:xfrm>
          <a:prstGeom prst="rect">
            <a:avLst/>
          </a:prstGeom>
          <a:noFill/>
        </p:spPr>
        <p:txBody>
          <a:bodyPr wrap="square" lIns="36576" tIns="36576" rIns="36576" bIns="36576" anchor="t">
            <a:spAutoFit/>
          </a:bodyPr>
          <a:lstStyle/>
          <a:p>
            <a:pPr algn="ctr">
              <a:spcAft>
                <a:spcPts val="0"/>
              </a:spcAft>
            </a:pPr>
            <a:r>
              <a:rPr lang="en-HU" sz="1000" b="0">
                <a:solidFill>
                  <a:srgbClr val="D8E0EA"/>
                </a:solidFill>
              </a:rPr>
              <a:t>10.2.10.0/24</a:t>
            </a:r>
          </a:p>
        </p:txBody>
      </p:sp>
      <p:sp>
        <p:nvSpPr>
          <p:cNvPr id="23" name="Right Arrow 22"/>
          <p:cNvSpPr>
            <a:spLocks/>
          </p:cNvSpPr>
          <p:nvPr/>
        </p:nvSpPr>
        <p:spPr>
          <a:xfrm>
            <a:off x="2057400" y="2286000"/>
            <a:ext cx="320040" cy="164592"/>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24" name="Right Arrow 23"/>
          <p:cNvSpPr>
            <a:spLocks/>
          </p:cNvSpPr>
          <p:nvPr/>
        </p:nvSpPr>
        <p:spPr>
          <a:xfrm>
            <a:off x="4297680" y="2286000"/>
            <a:ext cx="640080" cy="164592"/>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25" name="TextBox 24"/>
          <p:cNvSpPr txBox="1"/>
          <p:nvPr/>
        </p:nvSpPr>
        <p:spPr>
          <a:xfrm>
            <a:off x="4297680" y="2029967"/>
            <a:ext cx="640080" cy="350865"/>
          </a:xfrm>
          <a:prstGeom prst="rect">
            <a:avLst/>
          </a:prstGeom>
          <a:noFill/>
        </p:spPr>
        <p:txBody>
          <a:bodyPr wrap="square" lIns="36576" tIns="36576" rIns="36576" bIns="36576" anchor="t">
            <a:spAutoFit/>
          </a:bodyPr>
          <a:lstStyle/>
          <a:p>
            <a:pPr algn="ctr">
              <a:spcAft>
                <a:spcPts val="0"/>
              </a:spcAft>
            </a:pPr>
            <a:r>
              <a:rPr lang="en-GB" sz="900" b="1">
                <a:solidFill>
                  <a:srgbClr val="687385"/>
                </a:solidFill>
              </a:rPr>
              <a:t>UDP 500/4500</a:t>
            </a:r>
          </a:p>
        </p:txBody>
      </p:sp>
      <p:sp>
        <p:nvSpPr>
          <p:cNvPr id="26" name="Right Arrow 25"/>
          <p:cNvSpPr>
            <a:spLocks/>
          </p:cNvSpPr>
          <p:nvPr/>
        </p:nvSpPr>
        <p:spPr>
          <a:xfrm>
            <a:off x="7178040" y="2286000"/>
            <a:ext cx="594360" cy="164592"/>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27" name="TextBox 26"/>
          <p:cNvSpPr txBox="1"/>
          <p:nvPr/>
        </p:nvSpPr>
        <p:spPr>
          <a:xfrm>
            <a:off x="7178040" y="2029967"/>
            <a:ext cx="594360" cy="212366"/>
          </a:xfrm>
          <a:prstGeom prst="rect">
            <a:avLst/>
          </a:prstGeom>
          <a:noFill/>
        </p:spPr>
        <p:txBody>
          <a:bodyPr wrap="square" lIns="36576" tIns="36576" rIns="36576" bIns="36576" anchor="t">
            <a:spAutoFit/>
          </a:bodyPr>
          <a:lstStyle/>
          <a:p>
            <a:pPr algn="ctr">
              <a:spcAft>
                <a:spcPts val="0"/>
              </a:spcAft>
            </a:pPr>
            <a:r>
              <a:rPr lang="en-GB" sz="900" b="1">
                <a:solidFill>
                  <a:srgbClr val="687385"/>
                </a:solidFill>
              </a:rPr>
              <a:t>IKEv2</a:t>
            </a:r>
          </a:p>
        </p:txBody>
      </p:sp>
      <p:sp>
        <p:nvSpPr>
          <p:cNvPr id="28" name="Right Arrow 27"/>
          <p:cNvSpPr/>
          <p:nvPr/>
        </p:nvSpPr>
        <p:spPr>
          <a:xfrm>
            <a:off x="9692640" y="2286000"/>
            <a:ext cx="320040" cy="164592"/>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9" name="Connector 28"/>
          <p:cNvCxnSpPr/>
          <p:nvPr/>
        </p:nvCxnSpPr>
        <p:spPr>
          <a:xfrm>
            <a:off x="4251960" y="3840480"/>
            <a:ext cx="3611880" cy="0"/>
          </a:xfrm>
          <a:prstGeom prst="line">
            <a:avLst/>
          </a:prstGeom>
          <a:ln w="50800">
            <a:solidFill>
              <a:srgbClr val="E60012"/>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3886200" y="4041648"/>
            <a:ext cx="4343400" cy="273921"/>
          </a:xfrm>
          <a:prstGeom prst="rect">
            <a:avLst/>
          </a:prstGeom>
          <a:noFill/>
        </p:spPr>
        <p:txBody>
          <a:bodyPr wrap="square" lIns="36576" tIns="36576" rIns="36576" bIns="36576" anchor="t">
            <a:spAutoFit/>
          </a:bodyPr>
          <a:lstStyle/>
          <a:p>
            <a:pPr algn="ctr">
              <a:spcAft>
                <a:spcPts val="0"/>
              </a:spcAft>
            </a:pPr>
            <a:r>
              <a:rPr sz="1300" b="1">
                <a:solidFill>
                  <a:srgbClr val="233A59"/>
                </a:solidFill>
              </a:rPr>
              <a:t>IPsec overlay / selectors: </a:t>
            </a:r>
            <a:r>
              <a:rPr lang="en-HU" sz="1300" b="1">
                <a:solidFill>
                  <a:srgbClr val="233A59"/>
                </a:solidFill>
              </a:rPr>
              <a:t>10.1.10.0/24 </a:t>
            </a:r>
            <a:r>
              <a:rPr sz="1300" b="1">
                <a:solidFill>
                  <a:srgbClr val="233A59"/>
                </a:solidFill>
              </a:rPr>
              <a:t>↔ </a:t>
            </a:r>
            <a:r>
              <a:rPr lang="en-HU" sz="1300" b="1">
                <a:solidFill>
                  <a:srgbClr val="233A59"/>
                </a:solidFill>
              </a:rPr>
              <a:t>10.2.10.0/24</a:t>
            </a:r>
            <a:endParaRPr sz="1300" b="1">
              <a:solidFill>
                <a:srgbClr val="233A59"/>
              </a:solidFill>
            </a:endParaRPr>
          </a:p>
        </p:txBody>
      </p:sp>
      <p:sp>
        <p:nvSpPr>
          <p:cNvPr id="31" name="TextBox 30"/>
          <p:cNvSpPr txBox="1"/>
          <p:nvPr/>
        </p:nvSpPr>
        <p:spPr>
          <a:xfrm>
            <a:off x="731520" y="4663440"/>
            <a:ext cx="1005840" cy="210312"/>
          </a:xfrm>
          <a:prstGeom prst="rect">
            <a:avLst/>
          </a:prstGeom>
          <a:noFill/>
        </p:spPr>
        <p:txBody>
          <a:bodyPr wrap="square" lIns="36576" tIns="36576" rIns="36576" bIns="36576" anchor="t">
            <a:spAutoFit/>
          </a:bodyPr>
          <a:lstStyle/>
          <a:p>
            <a:pPr algn="l">
              <a:spcAft>
                <a:spcPts val="0"/>
              </a:spcAft>
            </a:pPr>
            <a:r>
              <a:rPr sz="1000" b="1">
                <a:solidFill>
                  <a:srgbClr val="E60012"/>
                </a:solidFill>
              </a:rPr>
              <a:t>CONTROL</a:t>
            </a:r>
          </a:p>
        </p:txBody>
      </p:sp>
      <p:sp>
        <p:nvSpPr>
          <p:cNvPr id="32" name="TextBox 31"/>
          <p:cNvSpPr txBox="1"/>
          <p:nvPr/>
        </p:nvSpPr>
        <p:spPr>
          <a:xfrm>
            <a:off x="1691640" y="4617720"/>
            <a:ext cx="3291840" cy="274320"/>
          </a:xfrm>
          <a:prstGeom prst="rect">
            <a:avLst/>
          </a:prstGeom>
          <a:noFill/>
        </p:spPr>
        <p:txBody>
          <a:bodyPr wrap="square" lIns="36576" tIns="36576" rIns="36576" bIns="36576" anchor="t">
            <a:spAutoFit/>
          </a:bodyPr>
          <a:lstStyle/>
          <a:p>
            <a:pPr algn="l">
              <a:spcAft>
                <a:spcPts val="0"/>
              </a:spcAft>
            </a:pPr>
            <a:r>
              <a:rPr sz="1300" b="1">
                <a:solidFill>
                  <a:srgbClr val="1E2B40"/>
                </a:solidFill>
              </a:rPr>
              <a:t>IKE_SA_INIT → IKE_AUTH → CHILD SA</a:t>
            </a:r>
          </a:p>
        </p:txBody>
      </p:sp>
      <p:sp>
        <p:nvSpPr>
          <p:cNvPr id="33" name="TextBox 32"/>
          <p:cNvSpPr txBox="1"/>
          <p:nvPr/>
        </p:nvSpPr>
        <p:spPr>
          <a:xfrm>
            <a:off x="5669280" y="4663440"/>
            <a:ext cx="640080" cy="210312"/>
          </a:xfrm>
          <a:prstGeom prst="rect">
            <a:avLst/>
          </a:prstGeom>
          <a:noFill/>
        </p:spPr>
        <p:txBody>
          <a:bodyPr wrap="square" lIns="36576" tIns="36576" rIns="36576" bIns="36576" anchor="t">
            <a:spAutoFit/>
          </a:bodyPr>
          <a:lstStyle/>
          <a:p>
            <a:pPr algn="l">
              <a:spcAft>
                <a:spcPts val="0"/>
              </a:spcAft>
            </a:pPr>
            <a:r>
              <a:rPr sz="1000" b="1">
                <a:solidFill>
                  <a:srgbClr val="E60012"/>
                </a:solidFill>
              </a:rPr>
              <a:t>DATA</a:t>
            </a:r>
          </a:p>
        </p:txBody>
      </p:sp>
      <p:sp>
        <p:nvSpPr>
          <p:cNvPr id="34" name="TextBox 33"/>
          <p:cNvSpPr txBox="1"/>
          <p:nvPr/>
        </p:nvSpPr>
        <p:spPr>
          <a:xfrm>
            <a:off x="6309360" y="4617720"/>
            <a:ext cx="4572000" cy="274320"/>
          </a:xfrm>
          <a:prstGeom prst="rect">
            <a:avLst/>
          </a:prstGeom>
          <a:noFill/>
        </p:spPr>
        <p:txBody>
          <a:bodyPr wrap="square" lIns="36576" tIns="36576" rIns="36576" bIns="36576" anchor="t">
            <a:spAutoFit/>
          </a:bodyPr>
          <a:lstStyle/>
          <a:p>
            <a:pPr algn="l">
              <a:spcAft>
                <a:spcPts val="0"/>
              </a:spcAft>
            </a:pPr>
            <a:r>
              <a:rPr sz="1300" b="1">
                <a:solidFill>
                  <a:srgbClr val="1E2B40"/>
                </a:solidFill>
              </a:rPr>
              <a:t>route → tunnel interface → policy → encrypted packets</a:t>
            </a:r>
          </a:p>
        </p:txBody>
      </p:sp>
      <p:sp>
        <p:nvSpPr>
          <p:cNvPr id="35" name="TextBox 34"/>
          <p:cNvSpPr txBox="1"/>
          <p:nvPr/>
        </p:nvSpPr>
        <p:spPr>
          <a:xfrm>
            <a:off x="658368" y="5833872"/>
            <a:ext cx="731520" cy="182880"/>
          </a:xfrm>
          <a:prstGeom prst="rect">
            <a:avLst/>
          </a:prstGeom>
          <a:noFill/>
        </p:spPr>
        <p:txBody>
          <a:bodyPr wrap="square" lIns="36576" tIns="36576" rIns="36576" bIns="36576" anchor="t">
            <a:spAutoFit/>
          </a:bodyPr>
          <a:lstStyle/>
          <a:p>
            <a:pPr algn="l">
              <a:spcAft>
                <a:spcPts val="0"/>
              </a:spcAft>
            </a:pPr>
            <a:r>
              <a:rPr sz="1000" b="1">
                <a:solidFill>
                  <a:srgbClr val="E60012"/>
                </a:solidFill>
              </a:rPr>
              <a:t>LESSON</a:t>
            </a:r>
          </a:p>
        </p:txBody>
      </p:sp>
      <p:sp>
        <p:nvSpPr>
          <p:cNvPr id="36" name="TextBox 35"/>
          <p:cNvSpPr txBox="1"/>
          <p:nvPr/>
        </p:nvSpPr>
        <p:spPr>
          <a:xfrm>
            <a:off x="1417320" y="5769864"/>
            <a:ext cx="9875520" cy="384048"/>
          </a:xfrm>
          <a:prstGeom prst="rect">
            <a:avLst/>
          </a:prstGeom>
          <a:noFill/>
        </p:spPr>
        <p:txBody>
          <a:bodyPr wrap="square" lIns="36576" tIns="36576" rIns="36576" bIns="36576" anchor="t">
            <a:spAutoFit/>
          </a:bodyPr>
          <a:lstStyle/>
          <a:p>
            <a:pPr algn="l">
              <a:spcAft>
                <a:spcPts val="0"/>
              </a:spcAft>
            </a:pPr>
            <a:r>
              <a:rPr sz="1300" b="1">
                <a:solidFill>
                  <a:srgbClr val="233A59"/>
                </a:solidFill>
              </a:rPr>
              <a:t>A tunnel can be “up” while application traffic fails because route, policy, selectors or return path are wrong.</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112</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IKEv2 negotiation produces authenticated secure state</a:t>
            </a:r>
          </a:p>
        </p:txBody>
      </p:sp>
      <p:sp>
        <p:nvSpPr>
          <p:cNvPr id="10" name="Rectangle 9"/>
          <p:cNvSpPr/>
          <p:nvPr/>
        </p:nvSpPr>
        <p:spPr>
          <a:xfrm>
            <a:off x="658368"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1" name="TextBox 10"/>
          <p:cNvSpPr txBox="1">
            <a:spLocks/>
          </p:cNvSpPr>
          <p:nvPr/>
        </p:nvSpPr>
        <p:spPr>
          <a:xfrm>
            <a:off x="768096" y="2020824"/>
            <a:ext cx="411480" cy="219456"/>
          </a:xfrm>
          <a:prstGeom prst="rect">
            <a:avLst/>
          </a:prstGeom>
          <a:noFill/>
        </p:spPr>
        <p:txBody>
          <a:bodyPr wrap="square" lIns="27432" tIns="27432" rIns="27432" bIns="27432" anchor="t">
            <a:spAutoFit/>
          </a:bodyPr>
          <a:lstStyle/>
          <a:p>
            <a:pPr algn="l">
              <a:spcAft>
                <a:spcPts val="0"/>
              </a:spcAft>
            </a:pPr>
            <a:r>
              <a:rPr lang="en-HU" sz="1100" b="1">
                <a:solidFill>
                  <a:srgbClr val="E60012"/>
                </a:solidFill>
              </a:rPr>
              <a:t>01</a:t>
            </a:r>
          </a:p>
        </p:txBody>
      </p:sp>
      <p:sp>
        <p:nvSpPr>
          <p:cNvPr id="12" name="TextBox 11"/>
          <p:cNvSpPr txBox="1">
            <a:spLocks/>
          </p:cNvSpPr>
          <p:nvPr/>
        </p:nvSpPr>
        <p:spPr>
          <a:xfrm>
            <a:off x="768096" y="2340864"/>
            <a:ext cx="1830628" cy="603504"/>
          </a:xfrm>
          <a:prstGeom prst="rect">
            <a:avLst/>
          </a:prstGeom>
          <a:noFill/>
        </p:spPr>
        <p:txBody>
          <a:bodyPr wrap="square" lIns="27432" tIns="27432" rIns="27432" bIns="27432" anchor="ctr">
            <a:spAutoFit/>
          </a:bodyPr>
          <a:lstStyle/>
          <a:p>
            <a:pPr algn="ctr">
              <a:spcAft>
                <a:spcPts val="0"/>
              </a:spcAft>
            </a:pPr>
            <a:r>
              <a:rPr lang="en-GB" sz="1400" b="1">
                <a:solidFill>
                  <a:srgbClr val="1E2B40"/>
                </a:solidFill>
              </a:rPr>
              <a:t>IKE_SA_INIT</a:t>
            </a:r>
          </a:p>
        </p:txBody>
      </p:sp>
      <p:cxnSp>
        <p:nvCxnSpPr>
          <p:cNvPr id="13" name="Connector 12"/>
          <p:cNvCxnSpPr/>
          <p:nvPr/>
        </p:nvCxnSpPr>
        <p:spPr>
          <a:xfrm>
            <a:off x="2708452"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2854756"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5" name="TextBox 14"/>
          <p:cNvSpPr txBox="1">
            <a:spLocks/>
          </p:cNvSpPr>
          <p:nvPr/>
        </p:nvSpPr>
        <p:spPr>
          <a:xfrm>
            <a:off x="2964484" y="2020824"/>
            <a:ext cx="411480" cy="219456"/>
          </a:xfrm>
          <a:prstGeom prst="rect">
            <a:avLst/>
          </a:prstGeom>
          <a:noFill/>
        </p:spPr>
        <p:txBody>
          <a:bodyPr wrap="square" lIns="27432" tIns="27432" rIns="27432" bIns="27432" anchor="t">
            <a:spAutoFit/>
          </a:bodyPr>
          <a:lstStyle/>
          <a:p>
            <a:pPr algn="l">
              <a:spcAft>
                <a:spcPts val="0"/>
              </a:spcAft>
            </a:pPr>
            <a:r>
              <a:rPr lang="en-HU" sz="1100" b="1">
                <a:solidFill>
                  <a:srgbClr val="E60012"/>
                </a:solidFill>
              </a:rPr>
              <a:t>02</a:t>
            </a:r>
          </a:p>
        </p:txBody>
      </p:sp>
      <p:sp>
        <p:nvSpPr>
          <p:cNvPr id="16" name="TextBox 15"/>
          <p:cNvSpPr txBox="1">
            <a:spLocks/>
          </p:cNvSpPr>
          <p:nvPr/>
        </p:nvSpPr>
        <p:spPr>
          <a:xfrm>
            <a:off x="2964484" y="2340864"/>
            <a:ext cx="1830628" cy="603504"/>
          </a:xfrm>
          <a:prstGeom prst="rect">
            <a:avLst/>
          </a:prstGeom>
          <a:noFill/>
        </p:spPr>
        <p:txBody>
          <a:bodyPr wrap="square" lIns="27432" tIns="27432" rIns="27432" bIns="27432" anchor="ctr">
            <a:spAutoFit/>
          </a:bodyPr>
          <a:lstStyle/>
          <a:p>
            <a:pPr algn="ctr">
              <a:spcAft>
                <a:spcPts val="0"/>
              </a:spcAft>
            </a:pPr>
            <a:r>
              <a:rPr lang="en-GB" sz="1400" b="1">
                <a:solidFill>
                  <a:srgbClr val="1E2B40"/>
                </a:solidFill>
              </a:rPr>
              <a:t>IKE_AUTH</a:t>
            </a:r>
          </a:p>
        </p:txBody>
      </p:sp>
      <p:cxnSp>
        <p:nvCxnSpPr>
          <p:cNvPr id="17" name="Connector 16"/>
          <p:cNvCxnSpPr/>
          <p:nvPr/>
        </p:nvCxnSpPr>
        <p:spPr>
          <a:xfrm>
            <a:off x="4904841"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5051145"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9" name="TextBox 18"/>
          <p:cNvSpPr txBox="1">
            <a:spLocks/>
          </p:cNvSpPr>
          <p:nvPr/>
        </p:nvSpPr>
        <p:spPr>
          <a:xfrm>
            <a:off x="5160873" y="2020824"/>
            <a:ext cx="411480" cy="219456"/>
          </a:xfrm>
          <a:prstGeom prst="rect">
            <a:avLst/>
          </a:prstGeom>
          <a:noFill/>
        </p:spPr>
        <p:txBody>
          <a:bodyPr wrap="square" lIns="27432" tIns="27432" rIns="27432" bIns="27432" anchor="t">
            <a:spAutoFit/>
          </a:bodyPr>
          <a:lstStyle/>
          <a:p>
            <a:pPr algn="l">
              <a:spcAft>
                <a:spcPts val="0"/>
              </a:spcAft>
            </a:pPr>
            <a:r>
              <a:rPr lang="en-HU" sz="1100" b="1">
                <a:solidFill>
                  <a:srgbClr val="E60012"/>
                </a:solidFill>
              </a:rPr>
              <a:t>03</a:t>
            </a:r>
          </a:p>
        </p:txBody>
      </p:sp>
      <p:sp>
        <p:nvSpPr>
          <p:cNvPr id="20" name="TextBox 19"/>
          <p:cNvSpPr txBox="1">
            <a:spLocks/>
          </p:cNvSpPr>
          <p:nvPr/>
        </p:nvSpPr>
        <p:spPr>
          <a:xfrm>
            <a:off x="5160873" y="2340864"/>
            <a:ext cx="1830628" cy="603504"/>
          </a:xfrm>
          <a:prstGeom prst="rect">
            <a:avLst/>
          </a:prstGeom>
          <a:noFill/>
        </p:spPr>
        <p:txBody>
          <a:bodyPr wrap="square" lIns="27432" tIns="27432" rIns="27432" bIns="27432" anchor="ctr">
            <a:spAutoFit/>
          </a:bodyPr>
          <a:lstStyle/>
          <a:p>
            <a:pPr algn="ctr">
              <a:spcAft>
                <a:spcPts val="0"/>
              </a:spcAft>
            </a:pPr>
            <a:r>
              <a:rPr lang="en-GB" sz="1400" b="1">
                <a:solidFill>
                  <a:srgbClr val="1E2B40"/>
                </a:solidFill>
              </a:rPr>
              <a:t>CHILD SA</a:t>
            </a:r>
          </a:p>
        </p:txBody>
      </p:sp>
      <p:cxnSp>
        <p:nvCxnSpPr>
          <p:cNvPr id="21" name="Connector 20"/>
          <p:cNvCxnSpPr/>
          <p:nvPr/>
        </p:nvCxnSpPr>
        <p:spPr>
          <a:xfrm>
            <a:off x="7101230"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7247534"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357262" y="2020824"/>
            <a:ext cx="411480" cy="219456"/>
          </a:xfrm>
          <a:prstGeom prst="rect">
            <a:avLst/>
          </a:prstGeom>
          <a:noFill/>
        </p:spPr>
        <p:txBody>
          <a:bodyPr wrap="square" lIns="27432" tIns="27432" rIns="27432" bIns="27432" anchor="t">
            <a:spAutoFit/>
          </a:bodyPr>
          <a:lstStyle/>
          <a:p>
            <a:pPr algn="l">
              <a:spcAft>
                <a:spcPts val="0"/>
              </a:spcAft>
            </a:pPr>
            <a:r>
              <a:rPr sz="1100" b="1">
                <a:solidFill>
                  <a:srgbClr val="E60012"/>
                </a:solidFill>
              </a:rPr>
              <a:t>04</a:t>
            </a:r>
          </a:p>
        </p:txBody>
      </p:sp>
      <p:sp>
        <p:nvSpPr>
          <p:cNvPr id="24" name="TextBox 23"/>
          <p:cNvSpPr txBox="1"/>
          <p:nvPr/>
        </p:nvSpPr>
        <p:spPr>
          <a:xfrm>
            <a:off x="7357262" y="2340864"/>
            <a:ext cx="1830628" cy="603504"/>
          </a:xfrm>
          <a:prstGeom prst="rect">
            <a:avLst/>
          </a:prstGeom>
          <a:noFill/>
        </p:spPr>
        <p:txBody>
          <a:bodyPr wrap="square" lIns="27432" tIns="27432" rIns="27432" bIns="27432" anchor="ctr">
            <a:spAutoFit/>
          </a:bodyPr>
          <a:lstStyle/>
          <a:p>
            <a:pPr algn="ctr">
              <a:spcAft>
                <a:spcPts val="0"/>
              </a:spcAft>
            </a:pPr>
            <a:r>
              <a:rPr sz="1400" b="1">
                <a:solidFill>
                  <a:srgbClr val="1E2B40"/>
                </a:solidFill>
              </a:rPr>
              <a:t>Route/policy</a:t>
            </a:r>
          </a:p>
        </p:txBody>
      </p:sp>
      <p:cxnSp>
        <p:nvCxnSpPr>
          <p:cNvPr id="25" name="Connector 24"/>
          <p:cNvCxnSpPr/>
          <p:nvPr/>
        </p:nvCxnSpPr>
        <p:spPr>
          <a:xfrm>
            <a:off x="9297619"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9443923"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553651" y="2020824"/>
            <a:ext cx="411480" cy="219456"/>
          </a:xfrm>
          <a:prstGeom prst="rect">
            <a:avLst/>
          </a:prstGeom>
          <a:noFill/>
        </p:spPr>
        <p:txBody>
          <a:bodyPr wrap="square" lIns="27432" tIns="27432" rIns="27432" bIns="27432" anchor="t">
            <a:spAutoFit/>
          </a:bodyPr>
          <a:lstStyle/>
          <a:p>
            <a:pPr algn="l">
              <a:spcAft>
                <a:spcPts val="0"/>
              </a:spcAft>
            </a:pPr>
            <a:r>
              <a:rPr sz="1100" b="1">
                <a:solidFill>
                  <a:srgbClr val="E60012"/>
                </a:solidFill>
              </a:rPr>
              <a:t>05</a:t>
            </a:r>
          </a:p>
        </p:txBody>
      </p:sp>
      <p:sp>
        <p:nvSpPr>
          <p:cNvPr id="28" name="TextBox 27"/>
          <p:cNvSpPr txBox="1"/>
          <p:nvPr/>
        </p:nvSpPr>
        <p:spPr>
          <a:xfrm>
            <a:off x="9553651" y="2340864"/>
            <a:ext cx="1830628" cy="603504"/>
          </a:xfrm>
          <a:prstGeom prst="rect">
            <a:avLst/>
          </a:prstGeom>
          <a:noFill/>
        </p:spPr>
        <p:txBody>
          <a:bodyPr wrap="square" lIns="27432" tIns="27432" rIns="27432" bIns="27432" anchor="ctr">
            <a:spAutoFit/>
          </a:bodyPr>
          <a:lstStyle/>
          <a:p>
            <a:pPr algn="ctr">
              <a:spcAft>
                <a:spcPts val="0"/>
              </a:spcAft>
            </a:pPr>
            <a:r>
              <a:rPr sz="1400" b="1">
                <a:solidFill>
                  <a:srgbClr val="1E2B40"/>
                </a:solidFill>
              </a:rPr>
              <a:t>Protected traffic</a:t>
            </a:r>
          </a:p>
        </p:txBody>
      </p:sp>
      <p:sp>
        <p:nvSpPr>
          <p:cNvPr id="29" name="TextBox 28"/>
          <p:cNvSpPr txBox="1"/>
          <p:nvPr/>
        </p:nvSpPr>
        <p:spPr>
          <a:xfrm>
            <a:off x="658368" y="3703320"/>
            <a:ext cx="2011680" cy="256032"/>
          </a:xfrm>
          <a:prstGeom prst="rect">
            <a:avLst/>
          </a:prstGeom>
          <a:noFill/>
        </p:spPr>
        <p:txBody>
          <a:bodyPr wrap="square" lIns="27432" tIns="27432" rIns="27432" bIns="27432" anchor="t">
            <a:spAutoFit/>
          </a:bodyPr>
          <a:lstStyle/>
          <a:p>
            <a:pPr algn="l">
              <a:spcAft>
                <a:spcPts val="0"/>
              </a:spcAft>
            </a:pPr>
            <a:r>
              <a:rPr sz="1100" b="1">
                <a:solidFill>
                  <a:srgbClr val="E60012"/>
                </a:solidFill>
              </a:rPr>
              <a:t>What to observe</a:t>
            </a:r>
          </a:p>
        </p:txBody>
      </p:sp>
      <p:sp>
        <p:nvSpPr>
          <p:cNvPr id="30" name="TextBox 29"/>
          <p:cNvSpPr txBox="1"/>
          <p:nvPr/>
        </p:nvSpPr>
        <p:spPr>
          <a:xfrm>
            <a:off x="658368" y="4050791"/>
            <a:ext cx="6446520" cy="1508760"/>
          </a:xfrm>
          <a:prstGeom prst="rect">
            <a:avLst/>
          </a:prstGeom>
          <a:noFill/>
        </p:spPr>
        <p:txBody>
          <a:bodyPr wrap="square" lIns="109728" tIns="73152" rIns="109728" bIns="73152" anchor="t">
            <a:spAutoFit/>
          </a:bodyPr>
          <a:lstStyle/>
          <a:p>
            <a:pPr algn="l">
              <a:lnSpc>
                <a:spcPct val="105000"/>
              </a:lnSpc>
              <a:spcAft>
                <a:spcPts val="700"/>
              </a:spcAft>
              <a:defRPr sz="1600">
                <a:solidFill>
                  <a:srgbClr val="1E2B40"/>
                </a:solidFill>
              </a:defRPr>
            </a:pPr>
            <a:r>
              <a:t>• Proposal, authentication method, IDs and reachability must be compatible</a:t>
            </a:r>
          </a:p>
          <a:p>
            <a:pPr>
              <a:lnSpc>
                <a:spcPct val="105000"/>
              </a:lnSpc>
              <a:spcAft>
                <a:spcPts val="700"/>
              </a:spcAft>
              <a:defRPr sz="1600">
                <a:solidFill>
                  <a:srgbClr val="1E2B40"/>
                </a:solidFill>
              </a:defRPr>
            </a:pPr>
            <a:r>
              <a:t>• NAT traversal and fragmentation behavior depend on path/design</a:t>
            </a:r>
          </a:p>
          <a:p>
            <a:pPr>
              <a:lnSpc>
                <a:spcPct val="105000"/>
              </a:lnSpc>
              <a:spcAft>
                <a:spcPts val="700"/>
              </a:spcAft>
              <a:defRPr sz="1600">
                <a:solidFill>
                  <a:srgbClr val="1E2B40"/>
                </a:solidFill>
              </a:defRPr>
            </a:pPr>
            <a:r>
              <a:t>• Logs/debug should be filtered by peer and stopped after capture</a:t>
            </a:r>
          </a:p>
        </p:txBody>
      </p:sp>
      <p:cxnSp>
        <p:nvCxnSpPr>
          <p:cNvPr id="31" name="Connector 30"/>
          <p:cNvCxnSpPr/>
          <p:nvPr/>
        </p:nvCxnSpPr>
        <p:spPr>
          <a:xfrm>
            <a:off x="7452360" y="3703320"/>
            <a:ext cx="0" cy="2093976"/>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7772400" y="3703320"/>
            <a:ext cx="292608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INSTRUCTOR DEMONSTRATION</a:t>
            </a:r>
            <a:endParaRPr sz="1100" b="1">
              <a:solidFill>
                <a:srgbClr val="E60012"/>
              </a:solidFill>
            </a:endParaRPr>
          </a:p>
        </p:txBody>
      </p:sp>
      <p:sp>
        <p:nvSpPr>
          <p:cNvPr id="33" name="TextBox 32"/>
          <p:cNvSpPr txBox="1"/>
          <p:nvPr/>
        </p:nvSpPr>
        <p:spPr>
          <a:xfrm>
            <a:off x="7772400" y="4096512"/>
            <a:ext cx="3337560" cy="1234440"/>
          </a:xfrm>
          <a:prstGeom prst="rect">
            <a:avLst/>
          </a:prstGeom>
          <a:noFill/>
        </p:spPr>
        <p:txBody>
          <a:bodyPr wrap="square" lIns="27432" tIns="27432" rIns="27432" bIns="27432" anchor="t">
            <a:spAutoFit/>
          </a:bodyPr>
          <a:lstStyle/>
          <a:p>
            <a:pPr algn="l">
              <a:spcAft>
                <a:spcPts val="0"/>
              </a:spcAft>
            </a:pPr>
            <a:r>
              <a:rPr sz="1500" b="1">
                <a:solidFill>
                  <a:srgbClr val="233A59"/>
                </a:solidFill>
              </a:rPr>
              <a:t>Use tunnel summary and filtered IKE diagnostics; do not paste invented output.</a:t>
            </a:r>
          </a:p>
        </p:txBody>
      </p:sp>
      <p:sp>
        <p:nvSpPr>
          <p:cNvPr id="34" name="TextBox 33"/>
          <p:cNvSpPr txBox="1"/>
          <p:nvPr/>
        </p:nvSpPr>
        <p:spPr>
          <a:xfrm>
            <a:off x="7772400" y="5440680"/>
            <a:ext cx="3337560" cy="363176"/>
          </a:xfrm>
          <a:prstGeom prst="rect">
            <a:avLst/>
          </a:prstGeom>
          <a:noFill/>
        </p:spPr>
        <p:txBody>
          <a:bodyPr wrap="square" lIns="27432" tIns="27432" rIns="27432" bIns="27432" anchor="t">
            <a:spAutoFit/>
          </a:bodyPr>
          <a:lstStyle/>
          <a:p>
            <a:pPr algn="l">
              <a:spcAft>
                <a:spcPts val="0"/>
              </a:spcAft>
            </a:pPr>
            <a:r>
              <a:rPr lang="en-GB" sz="1000" b="0">
                <a:solidFill>
                  <a:srgbClr val="687385"/>
                </a:solidFill>
              </a:rPr>
              <a:t>If debug is used, filter by the test tuple and disable</a:t>
            </a:r>
            <a:r>
              <a:rPr sz="1000" b="0">
                <a:solidFill>
                  <a:srgbClr val="687385"/>
                </a:solidFill>
              </a:rPr>
              <a:t>/reset </a:t>
            </a:r>
            <a:r>
              <a:rPr lang="en-GB" sz="1000" b="0">
                <a:solidFill>
                  <a:srgbClr val="687385"/>
                </a:solidFill>
              </a:rPr>
              <a:t>it immediately </a:t>
            </a:r>
            <a:r>
              <a:rPr sz="1000" b="0">
                <a:solidFill>
                  <a:srgbClr val="687385"/>
                </a:solidFill>
              </a:rPr>
              <a:t>after </a:t>
            </a:r>
            <a:r>
              <a:rPr lang="en-GB" sz="1000" b="0">
                <a:solidFill>
                  <a:srgbClr val="687385"/>
                </a:solidFill>
              </a:rPr>
              <a:t>capture</a:t>
            </a:r>
            <a:r>
              <a:rPr sz="1000" b="0">
                <a:solidFill>
                  <a:srgbClr val="687385"/>
                </a:solidFill>
              </a:rPr>
              <a:t>.</a:t>
            </a:r>
          </a:p>
        </p:txBody>
      </p:sp>
      <p:sp>
        <p:nvSpPr>
          <p:cNvPr id="35" name="TextBox 34"/>
          <p:cNvSpPr txBox="1"/>
          <p:nvPr/>
        </p:nvSpPr>
        <p:spPr>
          <a:xfrm>
            <a:off x="502920" y="420624"/>
            <a:ext cx="10744200" cy="130805"/>
          </a:xfrm>
          <a:prstGeom prst="rect">
            <a:avLst/>
          </a:prstGeom>
          <a:noFill/>
        </p:spPr>
        <p:txBody>
          <a:bodyPr wrap="square" lIns="0" tIns="0" rIns="0" bIns="0">
            <a:spAutoFit/>
          </a:bodyPr>
          <a:lstStyle/>
          <a:p>
            <a:pPr algn="l"/>
            <a:r>
              <a:rPr lang="en-HU" sz="850" b="1">
                <a:solidFill>
                  <a:srgbClr val="687385"/>
                </a:solidFill>
              </a:rPr>
              <a:t>112</a:t>
            </a:r>
            <a:r>
              <a:rPr sz="850" b="1">
                <a:solidFill>
                  <a:srgbClr val="687385"/>
                </a:solidFill>
              </a:rPr>
              <a:t> • DAY 3 • BLOCK 11 • IPsec &amp; ADVPN</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113</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Phase 2 selectors define permitted protected traffic</a:t>
            </a:r>
          </a:p>
        </p:txBody>
      </p:sp>
      <p:sp>
        <p:nvSpPr>
          <p:cNvPr id="10" name="TextBox 9"/>
          <p:cNvSpPr txBox="1">
            <a:spLocks/>
          </p:cNvSpPr>
          <p:nvPr/>
        </p:nvSpPr>
        <p:spPr>
          <a:xfrm>
            <a:off x="658368" y="1554480"/>
            <a:ext cx="6583680" cy="4389120"/>
          </a:xfrm>
          <a:prstGeom prst="rect">
            <a:avLst/>
          </a:prstGeom>
          <a:noFill/>
        </p:spPr>
        <p:txBody>
          <a:bodyPr wrap="square" lIns="109728" tIns="73152" rIns="109728" bIns="73152" anchor="t">
            <a:spAutoFit/>
          </a:bodyPr>
          <a:lstStyle/>
          <a:p>
            <a:pPr algn="l">
              <a:lnSpc>
                <a:spcPct val="105000"/>
              </a:lnSpc>
              <a:spcAft>
                <a:spcPts val="800"/>
              </a:spcAft>
              <a:defRPr sz="1700">
                <a:solidFill>
                  <a:srgbClr val="1E2B40"/>
                </a:solidFill>
              </a:defRPr>
            </a:pPr>
            <a:r>
              <a:rPr lang="en-GB"/>
              <a:t>• Route-based designs may use broad selectors but still require routing/policy boundaries</a:t>
            </a:r>
          </a:p>
          <a:p>
            <a:pPr>
              <a:lnSpc>
                <a:spcPct val="105000"/>
              </a:lnSpc>
              <a:spcAft>
                <a:spcPts val="800"/>
              </a:spcAft>
              <a:defRPr sz="1700">
                <a:solidFill>
                  <a:srgbClr val="1E2B40"/>
                </a:solidFill>
              </a:defRPr>
            </a:pPr>
            <a:r>
              <a:rPr lang="en-GB"/>
              <a:t>• Mismatched local/remote selectors prevent or limit SA establishment</a:t>
            </a:r>
          </a:p>
          <a:p>
            <a:pPr>
              <a:lnSpc>
                <a:spcPct val="105000"/>
              </a:lnSpc>
              <a:spcAft>
                <a:spcPts val="800"/>
              </a:spcAft>
              <a:defRPr sz="1700">
                <a:solidFill>
                  <a:srgbClr val="1E2B40"/>
                </a:solidFill>
              </a:defRPr>
            </a:pPr>
            <a:r>
              <a:rPr lang="en-GB"/>
              <a:t>• Overlapping prefixes complicate route and identity decisions</a:t>
            </a:r>
          </a:p>
          <a:p>
            <a:pPr>
              <a:lnSpc>
                <a:spcPct val="105000"/>
              </a:lnSpc>
              <a:spcAft>
                <a:spcPts val="800"/>
              </a:spcAft>
              <a:defRPr sz="1700">
                <a:solidFill>
                  <a:srgbClr val="1E2B40"/>
                </a:solidFill>
              </a:defRPr>
            </a:pPr>
            <a:r>
              <a:rPr lang="en-GB"/>
              <a:t>• Rekey/lifetime mismatches can appear as intermittent failures</a:t>
            </a:r>
          </a:p>
        </p:txBody>
      </p:sp>
      <p:cxnSp>
        <p:nvCxnSpPr>
          <p:cNvPr id="11" name="Connector 10"/>
          <p:cNvCxnSpPr/>
          <p:nvPr/>
        </p:nvCxnSpPr>
        <p:spPr>
          <a:xfrm>
            <a:off x="7452360" y="1600200"/>
            <a:ext cx="0" cy="434340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7790688" y="1627632"/>
            <a:ext cx="342900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ILLUSTRATIVE SCENARIO</a:t>
            </a:r>
          </a:p>
        </p:txBody>
      </p:sp>
      <p:sp>
        <p:nvSpPr>
          <p:cNvPr id="13" name="TextBox 12"/>
          <p:cNvSpPr txBox="1"/>
          <p:nvPr/>
        </p:nvSpPr>
        <p:spPr>
          <a:xfrm>
            <a:off x="7790688" y="2057400"/>
            <a:ext cx="3337560" cy="840230"/>
          </a:xfrm>
          <a:prstGeom prst="rect">
            <a:avLst/>
          </a:prstGeom>
          <a:noFill/>
        </p:spPr>
        <p:txBody>
          <a:bodyPr wrap="square" lIns="27432" tIns="27432" rIns="27432" bIns="27432" anchor="t">
            <a:spAutoFit/>
          </a:bodyPr>
          <a:lstStyle/>
          <a:p>
            <a:pPr algn="l">
              <a:spcAft>
                <a:spcPts val="0"/>
              </a:spcAft>
            </a:pPr>
            <a:r>
              <a:rPr lang="en-GB" sz="1700" b="1">
                <a:solidFill>
                  <a:srgbClr val="233A59"/>
                </a:solidFill>
              </a:rPr>
              <a:t>Student01 </a:t>
            </a:r>
            <a:r>
              <a:rPr sz="1700" b="1">
                <a:solidFill>
                  <a:srgbClr val="233A59"/>
                </a:solidFill>
              </a:rPr>
              <a:t>local </a:t>
            </a:r>
            <a:r>
              <a:rPr lang="en-GB" sz="1700" b="1">
                <a:solidFill>
                  <a:srgbClr val="233A59"/>
                </a:solidFill>
              </a:rPr>
              <a:t>10.1.10.0/24 matches Student02 </a:t>
            </a:r>
            <a:r>
              <a:rPr sz="1700" b="1">
                <a:solidFill>
                  <a:srgbClr val="233A59"/>
                </a:solidFill>
              </a:rPr>
              <a:t>remote </a:t>
            </a:r>
            <a:r>
              <a:rPr lang="en-HU" sz="1700" b="1">
                <a:solidFill>
                  <a:srgbClr val="233A59"/>
                </a:solidFill>
              </a:rPr>
              <a:t>10.1.10.0/24</a:t>
            </a:r>
            <a:r>
              <a:rPr sz="1700" b="1">
                <a:solidFill>
                  <a:srgbClr val="233A59"/>
                </a:solidFill>
              </a:rPr>
              <a:t> reciprocally</a:t>
            </a:r>
          </a:p>
        </p:txBody>
      </p:sp>
      <p:sp>
        <p:nvSpPr>
          <p:cNvPr id="14" name="TextBox 13"/>
          <p:cNvSpPr txBox="1"/>
          <p:nvPr/>
        </p:nvSpPr>
        <p:spPr>
          <a:xfrm>
            <a:off x="7790688" y="3822191"/>
            <a:ext cx="18288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EXPECTED RESULT</a:t>
            </a:r>
            <a:endParaRPr sz="1100" b="1">
              <a:solidFill>
                <a:srgbClr val="E60012"/>
              </a:solidFill>
            </a:endParaRPr>
          </a:p>
        </p:txBody>
      </p:sp>
      <p:sp>
        <p:nvSpPr>
          <p:cNvPr id="15" name="TextBox 14"/>
          <p:cNvSpPr txBox="1"/>
          <p:nvPr/>
        </p:nvSpPr>
        <p:spPr>
          <a:xfrm>
            <a:off x="7790688" y="4187952"/>
            <a:ext cx="3337560" cy="1325880"/>
          </a:xfrm>
          <a:prstGeom prst="rect">
            <a:avLst/>
          </a:prstGeom>
          <a:noFill/>
        </p:spPr>
        <p:txBody>
          <a:bodyPr wrap="square" lIns="27432" tIns="27432" rIns="27432" bIns="27432" anchor="t">
            <a:spAutoFit/>
          </a:bodyPr>
          <a:lstStyle/>
          <a:p>
            <a:pPr algn="l">
              <a:spcAft>
                <a:spcPts val="0"/>
              </a:spcAft>
            </a:pPr>
            <a:r>
              <a:rPr sz="1500" b="0">
                <a:solidFill>
                  <a:srgbClr val="1E2B40"/>
                </a:solidFill>
              </a:rPr>
              <a:t>Compare selectors on both peers and active SA packet counters.</a:t>
            </a:r>
          </a:p>
        </p:txBody>
      </p:sp>
      <p:sp>
        <p:nvSpPr>
          <p:cNvPr id="16" name="TextBox 15"/>
          <p:cNvSpPr txBox="1"/>
          <p:nvPr/>
        </p:nvSpPr>
        <p:spPr>
          <a:xfrm>
            <a:off x="7790688" y="5596128"/>
            <a:ext cx="1920240" cy="201168"/>
          </a:xfrm>
          <a:prstGeom prst="rect">
            <a:avLst/>
          </a:prstGeom>
          <a:noFill/>
        </p:spPr>
        <p:txBody>
          <a:bodyPr wrap="square" lIns="27432" tIns="27432" rIns="27432" bIns="27432" anchor="t">
            <a:spAutoFit/>
          </a:bodyPr>
          <a:lstStyle/>
          <a:p>
            <a:pPr algn="l">
              <a:spcAft>
                <a:spcPts val="0"/>
              </a:spcAft>
            </a:pPr>
            <a:r>
              <a:rPr sz="1000" b="1">
                <a:solidFill>
                  <a:srgbClr val="687385"/>
                </a:solidFill>
              </a:rPr>
              <a:t>Expected observation</a:t>
            </a:r>
          </a:p>
        </p:txBody>
      </p:sp>
      <p:sp>
        <p:nvSpPr>
          <p:cNvPr id="17" name="TextBox 16"/>
          <p:cNvSpPr txBox="1"/>
          <p:nvPr/>
        </p:nvSpPr>
        <p:spPr>
          <a:xfrm>
            <a:off x="9509760" y="5577840"/>
            <a:ext cx="1691640" cy="670953"/>
          </a:xfrm>
          <a:prstGeom prst="rect">
            <a:avLst/>
          </a:prstGeom>
          <a:noFill/>
        </p:spPr>
        <p:txBody>
          <a:bodyPr wrap="square" lIns="27432" tIns="27432" rIns="27432" bIns="27432" anchor="t">
            <a:spAutoFit/>
          </a:bodyPr>
          <a:lstStyle/>
          <a:p>
            <a:pPr algn="r">
              <a:spcAft>
                <a:spcPts val="0"/>
              </a:spcAft>
            </a:pPr>
            <a:r>
              <a:rPr lang="en-GB" sz="1000" b="0">
                <a:solidFill>
                  <a:srgbClr val="687385"/>
                </a:solidFill>
              </a:rPr>
              <a:t>IKE and IPsec SAs are up, the protected route points to </a:t>
            </a:r>
            <a:r>
              <a:rPr sz="1000" b="0">
                <a:solidFill>
                  <a:srgbClr val="687385"/>
                </a:solidFill>
              </a:rPr>
              <a:t>the </a:t>
            </a:r>
            <a:r>
              <a:rPr lang="en-GB" sz="1000" b="0">
                <a:solidFill>
                  <a:srgbClr val="687385"/>
                </a:solidFill>
              </a:rPr>
              <a:t>tunnel, </a:t>
            </a:r>
            <a:r>
              <a:rPr sz="1000" b="0">
                <a:solidFill>
                  <a:srgbClr val="687385"/>
                </a:solidFill>
              </a:rPr>
              <a:t>and </a:t>
            </a:r>
            <a:r>
              <a:rPr lang="en-GB" sz="1000" b="0">
                <a:solidFill>
                  <a:srgbClr val="687385"/>
                </a:solidFill>
              </a:rPr>
              <a:t>both tunnel counters increase</a:t>
            </a:r>
            <a:r>
              <a:rPr sz="1000" b="0">
                <a:solidFill>
                  <a:srgbClr val="687385"/>
                </a:solidFill>
              </a:rPr>
              <a:t>.</a:t>
            </a:r>
          </a:p>
        </p:txBody>
      </p:sp>
      <p:sp>
        <p:nvSpPr>
          <p:cNvPr id="18" name="TextBox 17"/>
          <p:cNvSpPr txBox="1"/>
          <p:nvPr/>
        </p:nvSpPr>
        <p:spPr>
          <a:xfrm>
            <a:off x="502920" y="420624"/>
            <a:ext cx="10744200" cy="130805"/>
          </a:xfrm>
          <a:prstGeom prst="rect">
            <a:avLst/>
          </a:prstGeom>
          <a:noFill/>
        </p:spPr>
        <p:txBody>
          <a:bodyPr wrap="square" lIns="0" tIns="0" rIns="0" bIns="0">
            <a:spAutoFit/>
          </a:bodyPr>
          <a:lstStyle/>
          <a:p>
            <a:pPr algn="l"/>
            <a:r>
              <a:rPr lang="en-HU" sz="850" b="1">
                <a:solidFill>
                  <a:srgbClr val="687385"/>
                </a:solidFill>
              </a:rPr>
              <a:t>113</a:t>
            </a:r>
            <a:r>
              <a:rPr sz="850" b="1">
                <a:solidFill>
                  <a:srgbClr val="687385"/>
                </a:solidFill>
              </a:rPr>
              <a:t> • DAY 3 • BLOCK 11 • IPsec &amp; ADVPN</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114</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VPN design begins with failure domains and scale</a:t>
            </a:r>
          </a:p>
        </p:txBody>
      </p:sp>
      <p:sp>
        <p:nvSpPr>
          <p:cNvPr id="10" name="TextBox 9"/>
          <p:cNvSpPr txBox="1">
            <a:spLocks/>
          </p:cNvSpPr>
          <p:nvPr/>
        </p:nvSpPr>
        <p:spPr>
          <a:xfrm>
            <a:off x="658368" y="1554480"/>
            <a:ext cx="6583680" cy="4389120"/>
          </a:xfrm>
          <a:prstGeom prst="rect">
            <a:avLst/>
          </a:prstGeom>
          <a:noFill/>
        </p:spPr>
        <p:txBody>
          <a:bodyPr wrap="square" lIns="109728" tIns="73152" rIns="109728" bIns="73152" anchor="t">
            <a:spAutoFit/>
          </a:bodyPr>
          <a:lstStyle/>
          <a:p>
            <a:pPr algn="l">
              <a:lnSpc>
                <a:spcPct val="105000"/>
              </a:lnSpc>
              <a:spcAft>
                <a:spcPts val="800"/>
              </a:spcAft>
              <a:defRPr sz="1700">
                <a:solidFill>
                  <a:srgbClr val="1E2B40"/>
                </a:solidFill>
              </a:defRPr>
            </a:pPr>
            <a:r>
              <a:rPr lang="en-GB"/>
              <a:t>• Define underlay resilience, addressing, routing ownership and crypto standards</a:t>
            </a:r>
          </a:p>
          <a:p>
            <a:pPr>
              <a:lnSpc>
                <a:spcPct val="105000"/>
              </a:lnSpc>
              <a:spcAft>
                <a:spcPts val="800"/>
              </a:spcAft>
              <a:defRPr sz="1700">
                <a:solidFill>
                  <a:srgbClr val="1E2B40"/>
                </a:solidFill>
              </a:defRPr>
            </a:pPr>
            <a:r>
              <a:rPr lang="en-GB"/>
              <a:t>• Choose static mesh, hub-spoke or dynamic overlay based on scale and traffic patterns</a:t>
            </a:r>
          </a:p>
          <a:p>
            <a:pPr>
              <a:lnSpc>
                <a:spcPct val="105000"/>
              </a:lnSpc>
              <a:spcAft>
                <a:spcPts val="800"/>
              </a:spcAft>
              <a:defRPr sz="1700">
                <a:solidFill>
                  <a:srgbClr val="1E2B40"/>
                </a:solidFill>
              </a:defRPr>
            </a:pPr>
            <a:r>
              <a:rPr lang="en-GB"/>
              <a:t>• Account for MTU/MSS, NAT, asymmetric paths and overlapping networks</a:t>
            </a:r>
          </a:p>
          <a:p>
            <a:pPr>
              <a:lnSpc>
                <a:spcPct val="105000"/>
              </a:lnSpc>
              <a:spcAft>
                <a:spcPts val="800"/>
              </a:spcAft>
              <a:defRPr sz="1700">
                <a:solidFill>
                  <a:srgbClr val="1E2B40"/>
                </a:solidFill>
              </a:defRPr>
            </a:pPr>
            <a:r>
              <a:rPr lang="en-GB"/>
              <a:t>• Document monitoring, certificate/PSK lifecycle and change coordination</a:t>
            </a:r>
          </a:p>
        </p:txBody>
      </p:sp>
      <p:cxnSp>
        <p:nvCxnSpPr>
          <p:cNvPr id="11" name="Connector 10"/>
          <p:cNvCxnSpPr/>
          <p:nvPr/>
        </p:nvCxnSpPr>
        <p:spPr>
          <a:xfrm>
            <a:off x="7452360" y="1600200"/>
            <a:ext cx="0" cy="434340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7790688" y="1627632"/>
            <a:ext cx="342900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ILLUSTRATIVE SCENARIO</a:t>
            </a:r>
          </a:p>
        </p:txBody>
      </p:sp>
      <p:sp>
        <p:nvSpPr>
          <p:cNvPr id="13" name="TextBox 12"/>
          <p:cNvSpPr txBox="1">
            <a:spLocks/>
          </p:cNvSpPr>
          <p:nvPr/>
        </p:nvSpPr>
        <p:spPr>
          <a:xfrm>
            <a:off x="7790688" y="2057400"/>
            <a:ext cx="3337560" cy="1417320"/>
          </a:xfrm>
          <a:prstGeom prst="rect">
            <a:avLst/>
          </a:prstGeom>
          <a:noFill/>
        </p:spPr>
        <p:txBody>
          <a:bodyPr wrap="square" lIns="27432" tIns="27432" rIns="27432" bIns="27432" anchor="t">
            <a:spAutoFit/>
          </a:bodyPr>
          <a:lstStyle/>
          <a:p>
            <a:pPr algn="l">
              <a:spcAft>
                <a:spcPts val="0"/>
              </a:spcAft>
            </a:pPr>
            <a:r>
              <a:rPr lang="en-GB" sz="1700" b="1">
                <a:solidFill>
                  <a:srgbClr val="233A59"/>
                </a:solidFill>
              </a:rPr>
              <a:t>A tunnel “up” with no traffic can still be a routing, policy or return-path failure</a:t>
            </a:r>
          </a:p>
        </p:txBody>
      </p:sp>
      <p:sp>
        <p:nvSpPr>
          <p:cNvPr id="14" name="TextBox 13"/>
          <p:cNvSpPr txBox="1">
            <a:spLocks/>
          </p:cNvSpPr>
          <p:nvPr/>
        </p:nvSpPr>
        <p:spPr>
          <a:xfrm>
            <a:off x="7790688" y="3822191"/>
            <a:ext cx="18288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EXPECTED RESULT</a:t>
            </a:r>
          </a:p>
        </p:txBody>
      </p:sp>
      <p:sp>
        <p:nvSpPr>
          <p:cNvPr id="15" name="TextBox 14"/>
          <p:cNvSpPr txBox="1">
            <a:spLocks/>
          </p:cNvSpPr>
          <p:nvPr/>
        </p:nvSpPr>
        <p:spPr>
          <a:xfrm>
            <a:off x="7790688" y="4187952"/>
            <a:ext cx="3337560" cy="1325880"/>
          </a:xfrm>
          <a:prstGeom prst="rect">
            <a:avLst/>
          </a:prstGeom>
          <a:noFill/>
        </p:spPr>
        <p:txBody>
          <a:bodyPr wrap="square" lIns="27432" tIns="27432" rIns="27432" bIns="27432" anchor="t">
            <a:spAutoFit/>
          </a:bodyPr>
          <a:lstStyle/>
          <a:p>
            <a:pPr algn="l">
              <a:spcAft>
                <a:spcPts val="0"/>
              </a:spcAft>
            </a:pPr>
            <a:r>
              <a:rPr lang="en-GB" sz="1500" b="0">
                <a:solidFill>
                  <a:srgbClr val="1E2B40"/>
                </a:solidFill>
              </a:rPr>
              <a:t>Design review must include data-plane test cases, not only IKE settings.</a:t>
            </a:r>
          </a:p>
        </p:txBody>
      </p:sp>
      <p:sp>
        <p:nvSpPr>
          <p:cNvPr id="16" name="TextBox 15"/>
          <p:cNvSpPr txBox="1">
            <a:spLocks/>
          </p:cNvSpPr>
          <p:nvPr/>
        </p:nvSpPr>
        <p:spPr>
          <a:xfrm>
            <a:off x="7790688" y="5596128"/>
            <a:ext cx="1920240" cy="201168"/>
          </a:xfrm>
          <a:prstGeom prst="rect">
            <a:avLst/>
          </a:prstGeom>
          <a:noFill/>
        </p:spPr>
        <p:txBody>
          <a:bodyPr wrap="square" lIns="27432" tIns="27432" rIns="27432" bIns="27432" anchor="t">
            <a:spAutoFit/>
          </a:bodyPr>
          <a:lstStyle/>
          <a:p>
            <a:pPr algn="l">
              <a:spcAft>
                <a:spcPts val="0"/>
              </a:spcAft>
            </a:pPr>
            <a:r>
              <a:rPr lang="en-GB" sz="1000" b="1">
                <a:solidFill>
                  <a:srgbClr val="687385"/>
                </a:solidFill>
              </a:rPr>
              <a:t>Expected observation</a:t>
            </a:r>
          </a:p>
        </p:txBody>
      </p:sp>
      <p:sp>
        <p:nvSpPr>
          <p:cNvPr id="17" name="TextBox 16"/>
          <p:cNvSpPr txBox="1">
            <a:spLocks/>
          </p:cNvSpPr>
          <p:nvPr/>
        </p:nvSpPr>
        <p:spPr>
          <a:xfrm>
            <a:off x="9509760" y="5577840"/>
            <a:ext cx="1691640" cy="670953"/>
          </a:xfrm>
          <a:prstGeom prst="rect">
            <a:avLst/>
          </a:prstGeom>
          <a:noFill/>
        </p:spPr>
        <p:txBody>
          <a:bodyPr wrap="square" lIns="27432" tIns="27432" rIns="27432" bIns="27432" anchor="t">
            <a:spAutoFit/>
          </a:bodyPr>
          <a:lstStyle/>
          <a:p>
            <a:pPr algn="r">
              <a:spcAft>
                <a:spcPts val="0"/>
              </a:spcAft>
            </a:pPr>
            <a:r>
              <a:rPr lang="en-GB" sz="1000" b="0">
                <a:solidFill>
                  <a:srgbClr val="687385"/>
                </a:solidFill>
              </a:rPr>
              <a:t>IKE and IPsec SAs are up, the protected route points to the tunnel, and both tunnel counters increase.</a:t>
            </a:r>
          </a:p>
        </p:txBody>
      </p:sp>
      <p:sp>
        <p:nvSpPr>
          <p:cNvPr id="18" name="TextBox 17"/>
          <p:cNvSpPr txBox="1">
            <a:spLocks/>
          </p:cNvSpPr>
          <p:nvPr/>
        </p:nvSpPr>
        <p:spPr>
          <a:xfrm>
            <a:off x="502920" y="420624"/>
            <a:ext cx="10744200" cy="130805"/>
          </a:xfrm>
          <a:prstGeom prst="rect">
            <a:avLst/>
          </a:prstGeom>
          <a:noFill/>
        </p:spPr>
        <p:txBody>
          <a:bodyPr wrap="square" lIns="0" tIns="0" rIns="0" bIns="0">
            <a:spAutoFit/>
          </a:bodyPr>
          <a:lstStyle/>
          <a:p>
            <a:pPr algn="l"/>
            <a:r>
              <a:rPr lang="en-GB" sz="850" b="1">
                <a:solidFill>
                  <a:srgbClr val="687385"/>
                </a:solidFill>
              </a:rPr>
              <a:t>114 • DAY 3 • BLOCK 11 • IPsec &amp; ADVPN</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p:nvPr/>
        </p:nvSpPr>
        <p:spPr>
          <a:xfrm>
            <a:off x="502920" y="411480"/>
            <a:ext cx="548640" cy="189283"/>
          </a:xfrm>
          <a:prstGeom prst="rect">
            <a:avLst/>
          </a:prstGeom>
          <a:noFill/>
        </p:spPr>
        <p:txBody>
          <a:bodyPr wrap="square" lIns="36576" tIns="36576" rIns="36576" bIns="36576" anchor="t">
            <a:spAutoFit/>
          </a:bodyPr>
          <a:lstStyle/>
          <a:p>
            <a:pPr algn="l">
              <a:spcAft>
                <a:spcPts val="0"/>
              </a:spcAft>
            </a:pPr>
            <a:r>
              <a:rPr lang="en-HU" sz="750" b="1">
                <a:solidFill>
                  <a:srgbClr val="687385"/>
                </a:solidFill>
              </a:rPr>
              <a:t>115</a:t>
            </a:r>
            <a:endParaRPr sz="750" b="1">
              <a:solidFill>
                <a:srgbClr val="687385"/>
              </a:solidFill>
            </a:endParaRPr>
          </a:p>
        </p:txBody>
      </p:sp>
      <p:sp>
        <p:nvSpPr>
          <p:cNvPr id="4" name="TextBox 3"/>
          <p:cNvSpPr txBox="1"/>
          <p:nvPr/>
        </p:nvSpPr>
        <p:spPr>
          <a:xfrm>
            <a:off x="502920" y="621792"/>
            <a:ext cx="11109960" cy="548640"/>
          </a:xfrm>
          <a:prstGeom prst="rect">
            <a:avLst/>
          </a:prstGeom>
          <a:noFill/>
        </p:spPr>
        <p:txBody>
          <a:bodyPr wrap="square" lIns="36576" tIns="36576" rIns="36576" bIns="36576" anchor="t">
            <a:spAutoFit/>
          </a:bodyPr>
          <a:lstStyle/>
          <a:p>
            <a:pPr algn="l">
              <a:spcAft>
                <a:spcPts val="0"/>
              </a:spcAft>
            </a:pPr>
            <a:r>
              <a:rPr sz="2600" b="1">
                <a:solidFill>
                  <a:srgbClr val="1E2B40"/>
                </a:solidFill>
              </a:rPr>
              <a:t>ADVPN starts through the hub, then builds a spoke shortcut</a:t>
            </a:r>
          </a:p>
        </p:txBody>
      </p:sp>
      <p:sp>
        <p:nvSpPr>
          <p:cNvPr id="5" name="TextBox 4"/>
          <p:cNvSpPr txBox="1"/>
          <p:nvPr/>
        </p:nvSpPr>
        <p:spPr>
          <a:xfrm>
            <a:off x="521207" y="1143000"/>
            <a:ext cx="10789920" cy="243143"/>
          </a:xfrm>
          <a:prstGeom prst="rect">
            <a:avLst/>
          </a:prstGeom>
          <a:noFill/>
        </p:spPr>
        <p:txBody>
          <a:bodyPr wrap="square" lIns="36576" tIns="36576" rIns="36576" bIns="36576" anchor="t">
            <a:spAutoFit/>
          </a:bodyPr>
          <a:lstStyle/>
          <a:p>
            <a:pPr algn="l">
              <a:spcAft>
                <a:spcPts val="0"/>
              </a:spcAft>
            </a:pPr>
            <a:r>
              <a:rPr lang="en-GB" sz="1100" b="0">
                <a:solidFill>
                  <a:srgbClr val="687385"/>
                </a:solidFill>
              </a:rPr>
              <a:t>Planned </a:t>
            </a:r>
            <a:r>
              <a:rPr sz="1100" b="0">
                <a:solidFill>
                  <a:srgbClr val="687385"/>
                </a:solidFill>
              </a:rPr>
              <a:t>protected </a:t>
            </a:r>
            <a:r>
              <a:rPr lang="en-GB" sz="1100" b="0">
                <a:solidFill>
                  <a:srgbClr val="687385"/>
                </a:solidFill>
              </a:rPr>
              <a:t>overlay; validate shortcut behavior before class</a:t>
            </a:r>
            <a:endParaRPr sz="1100" b="0">
              <a:solidFill>
                <a:srgbClr val="687385"/>
              </a:solidFill>
            </a:endParaRPr>
          </a:p>
        </p:txBody>
      </p:sp>
      <p:cxnSp>
        <p:nvCxnSpPr>
          <p:cNvPr id="6" name="Connector 5"/>
          <p:cNvCxnSpPr/>
          <p:nvPr/>
        </p:nvCxnSpPr>
        <p:spPr>
          <a:xfrm>
            <a:off x="502920" y="6473952"/>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7" name="TextBox 6"/>
          <p:cNvSpPr txBox="1">
            <a:spLocks/>
          </p:cNvSpPr>
          <p:nvPr/>
        </p:nvSpPr>
        <p:spPr>
          <a:xfrm>
            <a:off x="11109960" y="6537960"/>
            <a:ext cx="502920" cy="189283"/>
          </a:xfrm>
          <a:prstGeom prst="rect">
            <a:avLst/>
          </a:prstGeom>
          <a:noFill/>
        </p:spPr>
        <p:txBody>
          <a:bodyPr wrap="square" lIns="36576" tIns="36576" rIns="36576" bIns="36576" anchor="t">
            <a:spAutoFit/>
          </a:bodyPr>
          <a:lstStyle/>
          <a:p>
            <a:pPr algn="r">
              <a:spcAft>
                <a:spcPts val="0"/>
              </a:spcAft>
            </a:pPr>
            <a:r>
              <a:rPr lang="en-HU" sz="750" b="0">
                <a:solidFill>
                  <a:srgbClr val="687385"/>
                </a:solidFill>
              </a:rPr>
              <a:t>115</a:t>
            </a:r>
          </a:p>
        </p:txBody>
      </p:sp>
      <p:sp>
        <p:nvSpPr>
          <p:cNvPr id="8" name="Rectangle 7"/>
          <p:cNvSpPr>
            <a:spLocks/>
          </p:cNvSpPr>
          <p:nvPr/>
        </p:nvSpPr>
        <p:spPr>
          <a:xfrm>
            <a:off x="685800" y="1874519"/>
            <a:ext cx="1965960" cy="9144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9" name="TextBox 8"/>
          <p:cNvSpPr txBox="1">
            <a:spLocks/>
          </p:cNvSpPr>
          <p:nvPr/>
        </p:nvSpPr>
        <p:spPr>
          <a:xfrm>
            <a:off x="758952" y="1993391"/>
            <a:ext cx="1819656" cy="304699"/>
          </a:xfrm>
          <a:prstGeom prst="rect">
            <a:avLst/>
          </a:prstGeom>
          <a:noFill/>
        </p:spPr>
        <p:txBody>
          <a:bodyPr wrap="square" lIns="36576" tIns="36576" rIns="36576" bIns="36576" anchor="t">
            <a:spAutoFit/>
          </a:bodyPr>
          <a:lstStyle/>
          <a:p>
            <a:pPr algn="ctr">
              <a:spcAft>
                <a:spcPts val="0"/>
              </a:spcAft>
            </a:pPr>
            <a:r>
              <a:rPr lang="en-GB" sz="1500" b="1">
                <a:solidFill>
                  <a:srgbClr val="FFFFFF"/>
                </a:solidFill>
              </a:rPr>
              <a:t>STUDENT01</a:t>
            </a:r>
          </a:p>
        </p:txBody>
      </p:sp>
      <p:sp>
        <p:nvSpPr>
          <p:cNvPr id="10" name="TextBox 9"/>
          <p:cNvSpPr txBox="1">
            <a:spLocks/>
          </p:cNvSpPr>
          <p:nvPr/>
        </p:nvSpPr>
        <p:spPr>
          <a:xfrm>
            <a:off x="758952" y="2350008"/>
            <a:ext cx="1819656" cy="227755"/>
          </a:xfrm>
          <a:prstGeom prst="rect">
            <a:avLst/>
          </a:prstGeom>
          <a:noFill/>
        </p:spPr>
        <p:txBody>
          <a:bodyPr wrap="square" lIns="36576" tIns="36576" rIns="36576" bIns="36576" anchor="t">
            <a:spAutoFit/>
          </a:bodyPr>
          <a:lstStyle/>
          <a:p>
            <a:pPr algn="ctr">
              <a:spcAft>
                <a:spcPts val="0"/>
              </a:spcAft>
            </a:pPr>
            <a:r>
              <a:rPr lang="en-GB" sz="1000" b="0">
                <a:solidFill>
                  <a:srgbClr val="D8E0EA"/>
                </a:solidFill>
              </a:rPr>
              <a:t>LAN 10.1.10.0/24</a:t>
            </a:r>
          </a:p>
        </p:txBody>
      </p:sp>
      <p:sp>
        <p:nvSpPr>
          <p:cNvPr id="11" name="Rectangle 10"/>
          <p:cNvSpPr>
            <a:spLocks/>
          </p:cNvSpPr>
          <p:nvPr/>
        </p:nvSpPr>
        <p:spPr>
          <a:xfrm>
            <a:off x="5074920" y="1371600"/>
            <a:ext cx="2011680" cy="1143000"/>
          </a:xfrm>
          <a:prstGeom prst="rect">
            <a:avLst/>
          </a:prstGeom>
          <a:solidFill>
            <a:srgbClr val="233A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2" name="TextBox 11"/>
          <p:cNvSpPr txBox="1"/>
          <p:nvPr/>
        </p:nvSpPr>
        <p:spPr>
          <a:xfrm>
            <a:off x="5148072" y="1490472"/>
            <a:ext cx="1865376" cy="304699"/>
          </a:xfrm>
          <a:prstGeom prst="rect">
            <a:avLst/>
          </a:prstGeom>
          <a:noFill/>
        </p:spPr>
        <p:txBody>
          <a:bodyPr wrap="square" lIns="36576" tIns="36576" rIns="36576" bIns="36576" anchor="t">
            <a:spAutoFit/>
          </a:bodyPr>
          <a:lstStyle/>
          <a:p>
            <a:pPr algn="ctr">
              <a:spcAft>
                <a:spcPts val="0"/>
              </a:spcAft>
            </a:pPr>
            <a:r>
              <a:rPr lang="en-GB" sz="1500" b="1">
                <a:solidFill>
                  <a:srgbClr val="FFFFFF"/>
                </a:solidFill>
              </a:rPr>
              <a:t>INSTRUCTOR </a:t>
            </a:r>
            <a:r>
              <a:rPr sz="1500" b="1">
                <a:solidFill>
                  <a:srgbClr val="FFFFFF"/>
                </a:solidFill>
              </a:rPr>
              <a:t>HUB</a:t>
            </a:r>
          </a:p>
        </p:txBody>
      </p:sp>
      <p:sp>
        <p:nvSpPr>
          <p:cNvPr id="13" name="TextBox 12"/>
          <p:cNvSpPr txBox="1">
            <a:spLocks/>
          </p:cNvSpPr>
          <p:nvPr/>
        </p:nvSpPr>
        <p:spPr>
          <a:xfrm>
            <a:off x="5148072" y="1847088"/>
            <a:ext cx="1865376" cy="310896"/>
          </a:xfrm>
          <a:prstGeom prst="rect">
            <a:avLst/>
          </a:prstGeom>
          <a:noFill/>
        </p:spPr>
        <p:txBody>
          <a:bodyPr wrap="square" lIns="36576" tIns="36576" rIns="36576" bIns="36576" anchor="t">
            <a:spAutoFit/>
          </a:bodyPr>
          <a:lstStyle/>
          <a:p>
            <a:pPr algn="ctr">
              <a:spcAft>
                <a:spcPts val="0"/>
              </a:spcAft>
            </a:pPr>
            <a:r>
              <a:rPr lang="en-GB" sz="1000" b="0">
                <a:solidFill>
                  <a:srgbClr val="D8E0EA"/>
                </a:solidFill>
              </a:rPr>
              <a:t>control / discovery</a:t>
            </a:r>
          </a:p>
        </p:txBody>
      </p:sp>
      <p:sp>
        <p:nvSpPr>
          <p:cNvPr id="14" name="Rectangle 13"/>
          <p:cNvSpPr>
            <a:spLocks/>
          </p:cNvSpPr>
          <p:nvPr/>
        </p:nvSpPr>
        <p:spPr>
          <a:xfrm>
            <a:off x="9555480" y="1874519"/>
            <a:ext cx="1965960" cy="9144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5" name="TextBox 14"/>
          <p:cNvSpPr txBox="1"/>
          <p:nvPr/>
        </p:nvSpPr>
        <p:spPr>
          <a:xfrm>
            <a:off x="9628632" y="1993391"/>
            <a:ext cx="1819656" cy="304699"/>
          </a:xfrm>
          <a:prstGeom prst="rect">
            <a:avLst/>
          </a:prstGeom>
          <a:noFill/>
        </p:spPr>
        <p:txBody>
          <a:bodyPr wrap="square" lIns="36576" tIns="36576" rIns="36576" bIns="36576" anchor="t">
            <a:spAutoFit/>
          </a:bodyPr>
          <a:lstStyle/>
          <a:p>
            <a:pPr algn="ctr">
              <a:spcAft>
                <a:spcPts val="0"/>
              </a:spcAft>
            </a:pPr>
            <a:r>
              <a:rPr lang="en-GB" sz="1500" b="1">
                <a:solidFill>
                  <a:srgbClr val="FFFFFF"/>
                </a:solidFill>
              </a:rPr>
              <a:t>STUDENT02</a:t>
            </a:r>
            <a:endParaRPr sz="1500" b="1">
              <a:solidFill>
                <a:srgbClr val="FFFFFF"/>
              </a:solidFill>
            </a:endParaRPr>
          </a:p>
        </p:txBody>
      </p:sp>
      <p:sp>
        <p:nvSpPr>
          <p:cNvPr id="16" name="TextBox 15"/>
          <p:cNvSpPr txBox="1">
            <a:spLocks/>
          </p:cNvSpPr>
          <p:nvPr/>
        </p:nvSpPr>
        <p:spPr>
          <a:xfrm>
            <a:off x="9628632" y="2350008"/>
            <a:ext cx="1819656" cy="227755"/>
          </a:xfrm>
          <a:prstGeom prst="rect">
            <a:avLst/>
          </a:prstGeom>
          <a:noFill/>
        </p:spPr>
        <p:txBody>
          <a:bodyPr wrap="square" lIns="36576" tIns="36576" rIns="36576" bIns="36576" anchor="t">
            <a:spAutoFit/>
          </a:bodyPr>
          <a:lstStyle/>
          <a:p>
            <a:pPr algn="ctr">
              <a:spcAft>
                <a:spcPts val="0"/>
              </a:spcAft>
            </a:pPr>
            <a:r>
              <a:rPr lang="en-GB" sz="1000" b="0">
                <a:solidFill>
                  <a:srgbClr val="D8E0EA"/>
                </a:solidFill>
              </a:rPr>
              <a:t>LAN 10.2.10.0/24</a:t>
            </a:r>
          </a:p>
        </p:txBody>
      </p:sp>
      <p:sp>
        <p:nvSpPr>
          <p:cNvPr id="17" name="Right Arrow 16"/>
          <p:cNvSpPr>
            <a:spLocks/>
          </p:cNvSpPr>
          <p:nvPr/>
        </p:nvSpPr>
        <p:spPr>
          <a:xfrm>
            <a:off x="2697480" y="2011680"/>
            <a:ext cx="2240280" cy="201168"/>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8" name="TextBox 17"/>
          <p:cNvSpPr txBox="1"/>
          <p:nvPr/>
        </p:nvSpPr>
        <p:spPr>
          <a:xfrm>
            <a:off x="2697480" y="1755648"/>
            <a:ext cx="2240280" cy="228600"/>
          </a:xfrm>
          <a:prstGeom prst="rect">
            <a:avLst/>
          </a:prstGeom>
          <a:noFill/>
        </p:spPr>
        <p:txBody>
          <a:bodyPr wrap="square" lIns="36576" tIns="36576" rIns="36576" bIns="36576" anchor="t">
            <a:spAutoFit/>
          </a:bodyPr>
          <a:lstStyle/>
          <a:p>
            <a:pPr algn="ctr">
              <a:spcAft>
                <a:spcPts val="0"/>
              </a:spcAft>
            </a:pPr>
            <a:r>
              <a:rPr sz="900" b="1">
                <a:solidFill>
                  <a:srgbClr val="687385"/>
                </a:solidFill>
              </a:rPr>
              <a:t>1  initial data → hub</a:t>
            </a:r>
          </a:p>
        </p:txBody>
      </p:sp>
      <p:sp>
        <p:nvSpPr>
          <p:cNvPr id="19" name="Right Arrow 18"/>
          <p:cNvSpPr/>
          <p:nvPr/>
        </p:nvSpPr>
        <p:spPr>
          <a:xfrm>
            <a:off x="7132320" y="2011680"/>
            <a:ext cx="2240280" cy="201168"/>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20" name="TextBox 19"/>
          <p:cNvSpPr txBox="1">
            <a:spLocks/>
          </p:cNvSpPr>
          <p:nvPr/>
        </p:nvSpPr>
        <p:spPr>
          <a:xfrm>
            <a:off x="7132320" y="1755648"/>
            <a:ext cx="2240280" cy="212366"/>
          </a:xfrm>
          <a:prstGeom prst="rect">
            <a:avLst/>
          </a:prstGeom>
          <a:noFill/>
        </p:spPr>
        <p:txBody>
          <a:bodyPr wrap="square" lIns="36576" tIns="36576" rIns="36576" bIns="36576" anchor="t">
            <a:spAutoFit/>
          </a:bodyPr>
          <a:lstStyle/>
          <a:p>
            <a:pPr algn="ctr">
              <a:spcAft>
                <a:spcPts val="0"/>
              </a:spcAft>
            </a:pPr>
            <a:r>
              <a:rPr lang="en-GB" sz="900" b="1">
                <a:solidFill>
                  <a:srgbClr val="687385"/>
                </a:solidFill>
              </a:rPr>
              <a:t>1  hub → spoke B</a:t>
            </a:r>
          </a:p>
        </p:txBody>
      </p:sp>
      <p:cxnSp>
        <p:nvCxnSpPr>
          <p:cNvPr id="21" name="Connector 20"/>
          <p:cNvCxnSpPr/>
          <p:nvPr/>
        </p:nvCxnSpPr>
        <p:spPr>
          <a:xfrm>
            <a:off x="2651760" y="4069080"/>
            <a:ext cx="6903720" cy="0"/>
          </a:xfrm>
          <a:prstGeom prst="line">
            <a:avLst/>
          </a:prstGeom>
          <a:ln w="50800">
            <a:solidFill>
              <a:srgbClr val="E60012"/>
            </a:solidFill>
          </a:ln>
        </p:spPr>
        <p:style>
          <a:lnRef idx="2">
            <a:schemeClr val="accent1"/>
          </a:lnRef>
          <a:fillRef idx="0">
            <a:schemeClr val="accent1"/>
          </a:fillRef>
          <a:effectRef idx="1">
            <a:schemeClr val="accent1"/>
          </a:effectRef>
          <a:fontRef idx="minor">
            <a:schemeClr val="tx1"/>
          </a:fontRef>
        </p:style>
      </p:cxnSp>
      <p:sp>
        <p:nvSpPr>
          <p:cNvPr id="22" name="TextBox 21"/>
          <p:cNvSpPr txBox="1">
            <a:spLocks/>
          </p:cNvSpPr>
          <p:nvPr/>
        </p:nvSpPr>
        <p:spPr>
          <a:xfrm>
            <a:off x="2926080" y="4297680"/>
            <a:ext cx="6400800" cy="289310"/>
          </a:xfrm>
          <a:prstGeom prst="rect">
            <a:avLst/>
          </a:prstGeom>
          <a:noFill/>
        </p:spPr>
        <p:txBody>
          <a:bodyPr wrap="square" lIns="36576" tIns="36576" rIns="36576" bIns="36576" anchor="t">
            <a:spAutoFit/>
          </a:bodyPr>
          <a:lstStyle/>
          <a:p>
            <a:pPr algn="ctr">
              <a:spcAft>
                <a:spcPts val="0"/>
              </a:spcAft>
            </a:pPr>
            <a:r>
              <a:rPr lang="en-GB" sz="1400" b="1">
                <a:solidFill>
                  <a:srgbClr val="233A59"/>
                </a:solidFill>
              </a:rPr>
              <a:t>2  Dynamic shortcut tunnel: subsequent spoke-to-spoke application traffic</a:t>
            </a:r>
          </a:p>
        </p:txBody>
      </p:sp>
      <p:sp>
        <p:nvSpPr>
          <p:cNvPr id="23" name="TextBox 22"/>
          <p:cNvSpPr txBox="1"/>
          <p:nvPr/>
        </p:nvSpPr>
        <p:spPr>
          <a:xfrm>
            <a:off x="822960" y="4919472"/>
            <a:ext cx="1097280" cy="227755"/>
          </a:xfrm>
          <a:prstGeom prst="rect">
            <a:avLst/>
          </a:prstGeom>
          <a:noFill/>
        </p:spPr>
        <p:txBody>
          <a:bodyPr wrap="square" lIns="36576" tIns="36576" rIns="36576" bIns="36576" anchor="t">
            <a:spAutoFit/>
          </a:bodyPr>
          <a:lstStyle/>
          <a:p>
            <a:pPr algn="l">
              <a:spcAft>
                <a:spcPts val="0"/>
              </a:spcAft>
            </a:pPr>
            <a:r>
              <a:rPr lang="en-GB" sz="1000" b="1">
                <a:solidFill>
                  <a:srgbClr val="E60012"/>
                </a:solidFill>
              </a:rPr>
              <a:t>UNDERLAY</a:t>
            </a:r>
          </a:p>
        </p:txBody>
      </p:sp>
      <p:sp>
        <p:nvSpPr>
          <p:cNvPr id="24" name="TextBox 23"/>
          <p:cNvSpPr txBox="1"/>
          <p:nvPr/>
        </p:nvSpPr>
        <p:spPr>
          <a:xfrm>
            <a:off x="1828800" y="4864608"/>
            <a:ext cx="4114800" cy="473976"/>
          </a:xfrm>
          <a:prstGeom prst="rect">
            <a:avLst/>
          </a:prstGeom>
          <a:noFill/>
        </p:spPr>
        <p:txBody>
          <a:bodyPr wrap="square" lIns="36576" tIns="36576" rIns="36576" bIns="36576" anchor="t">
            <a:spAutoFit/>
          </a:bodyPr>
          <a:lstStyle/>
          <a:p>
            <a:pPr algn="l">
              <a:spcAft>
                <a:spcPts val="0"/>
              </a:spcAft>
            </a:pPr>
            <a:r>
              <a:rPr lang="en-GB" sz="1300" b="0">
                <a:solidFill>
                  <a:srgbClr val="1E2B40"/>
                </a:solidFill>
              </a:rPr>
              <a:t>Public/private transport routes reach hub and spoke tunnel endpoints.</a:t>
            </a:r>
          </a:p>
        </p:txBody>
      </p:sp>
      <p:sp>
        <p:nvSpPr>
          <p:cNvPr id="25" name="TextBox 24"/>
          <p:cNvSpPr txBox="1"/>
          <p:nvPr/>
        </p:nvSpPr>
        <p:spPr>
          <a:xfrm>
            <a:off x="6492240" y="4919472"/>
            <a:ext cx="1097280" cy="210312"/>
          </a:xfrm>
          <a:prstGeom prst="rect">
            <a:avLst/>
          </a:prstGeom>
          <a:noFill/>
        </p:spPr>
        <p:txBody>
          <a:bodyPr wrap="square" lIns="36576" tIns="36576" rIns="36576" bIns="36576" anchor="t">
            <a:spAutoFit/>
          </a:bodyPr>
          <a:lstStyle/>
          <a:p>
            <a:pPr algn="l">
              <a:spcAft>
                <a:spcPts val="0"/>
              </a:spcAft>
            </a:pPr>
            <a:r>
              <a:rPr sz="1000" b="1">
                <a:solidFill>
                  <a:srgbClr val="E60012"/>
                </a:solidFill>
              </a:rPr>
              <a:t>OVERLAY</a:t>
            </a:r>
          </a:p>
        </p:txBody>
      </p:sp>
      <p:sp>
        <p:nvSpPr>
          <p:cNvPr id="26" name="TextBox 25"/>
          <p:cNvSpPr txBox="1"/>
          <p:nvPr/>
        </p:nvSpPr>
        <p:spPr>
          <a:xfrm>
            <a:off x="7452360" y="4864608"/>
            <a:ext cx="3840480" cy="274320"/>
          </a:xfrm>
          <a:prstGeom prst="rect">
            <a:avLst/>
          </a:prstGeom>
          <a:noFill/>
        </p:spPr>
        <p:txBody>
          <a:bodyPr wrap="square" lIns="36576" tIns="36576" rIns="36576" bIns="36576" anchor="t">
            <a:spAutoFit/>
          </a:bodyPr>
          <a:lstStyle/>
          <a:p>
            <a:pPr algn="l">
              <a:spcAft>
                <a:spcPts val="0"/>
              </a:spcAft>
            </a:pPr>
            <a:r>
              <a:rPr sz="1300" b="0">
                <a:solidFill>
                  <a:srgbClr val="1E2B40"/>
                </a:solidFill>
              </a:rPr>
              <a:t>Protected prefixes and dynamic routing choose the logical tunnel path.</a:t>
            </a:r>
          </a:p>
        </p:txBody>
      </p:sp>
      <p:sp>
        <p:nvSpPr>
          <p:cNvPr id="27" name="TextBox 26"/>
          <p:cNvSpPr txBox="1"/>
          <p:nvPr/>
        </p:nvSpPr>
        <p:spPr>
          <a:xfrm>
            <a:off x="658368" y="5833872"/>
            <a:ext cx="731520" cy="182880"/>
          </a:xfrm>
          <a:prstGeom prst="rect">
            <a:avLst/>
          </a:prstGeom>
          <a:noFill/>
        </p:spPr>
        <p:txBody>
          <a:bodyPr wrap="square" lIns="36576" tIns="36576" rIns="36576" bIns="36576" anchor="t">
            <a:spAutoFit/>
          </a:bodyPr>
          <a:lstStyle/>
          <a:p>
            <a:pPr algn="l">
              <a:spcAft>
                <a:spcPts val="0"/>
              </a:spcAft>
            </a:pPr>
            <a:r>
              <a:rPr sz="1000" b="1">
                <a:solidFill>
                  <a:srgbClr val="E60012"/>
                </a:solidFill>
              </a:rPr>
              <a:t>LESSON</a:t>
            </a:r>
          </a:p>
        </p:txBody>
      </p:sp>
      <p:sp>
        <p:nvSpPr>
          <p:cNvPr id="28" name="TextBox 27"/>
          <p:cNvSpPr txBox="1"/>
          <p:nvPr/>
        </p:nvSpPr>
        <p:spPr>
          <a:xfrm>
            <a:off x="1417320" y="5769864"/>
            <a:ext cx="9875520" cy="384048"/>
          </a:xfrm>
          <a:prstGeom prst="rect">
            <a:avLst/>
          </a:prstGeom>
          <a:noFill/>
        </p:spPr>
        <p:txBody>
          <a:bodyPr wrap="square" lIns="36576" tIns="36576" rIns="36576" bIns="36576" anchor="t">
            <a:spAutoFit/>
          </a:bodyPr>
          <a:lstStyle/>
          <a:p>
            <a:pPr algn="l">
              <a:spcAft>
                <a:spcPts val="0"/>
              </a:spcAft>
            </a:pPr>
            <a:r>
              <a:rPr sz="1300" b="1">
                <a:solidFill>
                  <a:srgbClr val="233A59"/>
                </a:solidFill>
              </a:rPr>
              <a:t>Shortcut formation changes the data path; hub discovery/control activity and underlay reachability remain essential.</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116</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OSPF over ADVPN requires intentional network behavior</a:t>
            </a:r>
          </a:p>
        </p:txBody>
      </p:sp>
      <p:sp>
        <p:nvSpPr>
          <p:cNvPr id="10" name="TextBox 9"/>
          <p:cNvSpPr txBox="1">
            <a:spLocks/>
          </p:cNvSpPr>
          <p:nvPr/>
        </p:nvSpPr>
        <p:spPr>
          <a:xfrm>
            <a:off x="658368" y="1554480"/>
            <a:ext cx="6583680" cy="4389120"/>
          </a:xfrm>
          <a:prstGeom prst="rect">
            <a:avLst/>
          </a:prstGeom>
          <a:noFill/>
        </p:spPr>
        <p:txBody>
          <a:bodyPr wrap="square" lIns="109728" tIns="73152" rIns="109728" bIns="73152" anchor="t">
            <a:spAutoFit/>
          </a:bodyPr>
          <a:lstStyle/>
          <a:p>
            <a:pPr algn="l">
              <a:lnSpc>
                <a:spcPct val="105000"/>
              </a:lnSpc>
              <a:spcAft>
                <a:spcPts val="800"/>
              </a:spcAft>
              <a:defRPr sz="1700">
                <a:solidFill>
                  <a:srgbClr val="1E2B40"/>
                </a:solidFill>
              </a:defRPr>
            </a:pPr>
            <a:r>
              <a:rPr lang="en-GB"/>
              <a:t>• Neighbor model, network type and area design must fit the overlay</a:t>
            </a:r>
          </a:p>
          <a:p>
            <a:pPr>
              <a:lnSpc>
                <a:spcPct val="105000"/>
              </a:lnSpc>
              <a:spcAft>
                <a:spcPts val="800"/>
              </a:spcAft>
              <a:defRPr sz="1700">
                <a:solidFill>
                  <a:srgbClr val="1E2B40"/>
                </a:solidFill>
              </a:defRPr>
            </a:pPr>
            <a:r>
              <a:rPr lang="en-GB"/>
              <a:t>• Shortcut routing must not break next-hop resolution</a:t>
            </a:r>
          </a:p>
          <a:p>
            <a:pPr>
              <a:lnSpc>
                <a:spcPct val="105000"/>
              </a:lnSpc>
              <a:spcAft>
                <a:spcPts val="800"/>
              </a:spcAft>
              <a:defRPr sz="1700">
                <a:solidFill>
                  <a:srgbClr val="1E2B40"/>
                </a:solidFill>
              </a:defRPr>
            </a:pPr>
            <a:r>
              <a:rPr lang="en-GB"/>
              <a:t>• Hub route reflection/advertisement choices affect spoke reachability</a:t>
            </a:r>
          </a:p>
          <a:p>
            <a:pPr>
              <a:lnSpc>
                <a:spcPct val="105000"/>
              </a:lnSpc>
              <a:spcAft>
                <a:spcPts val="800"/>
              </a:spcAft>
              <a:defRPr sz="1700">
                <a:solidFill>
                  <a:srgbClr val="1E2B40"/>
                </a:solidFill>
              </a:defRPr>
            </a:pPr>
            <a:r>
              <a:rPr lang="en-GB"/>
              <a:t>• Scale testing must include neighbors, LSAs, routes, tunnels and CPU/memory</a:t>
            </a:r>
          </a:p>
        </p:txBody>
      </p:sp>
      <p:cxnSp>
        <p:nvCxnSpPr>
          <p:cNvPr id="11" name="Connector 10"/>
          <p:cNvCxnSpPr/>
          <p:nvPr/>
        </p:nvCxnSpPr>
        <p:spPr>
          <a:xfrm>
            <a:off x="7452360" y="1600200"/>
            <a:ext cx="0" cy="434340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7790688" y="1627632"/>
            <a:ext cx="342900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ILLUSTRATIVE SCENARIO</a:t>
            </a:r>
          </a:p>
        </p:txBody>
      </p:sp>
      <p:sp>
        <p:nvSpPr>
          <p:cNvPr id="13" name="TextBox 12"/>
          <p:cNvSpPr txBox="1">
            <a:spLocks/>
          </p:cNvSpPr>
          <p:nvPr/>
        </p:nvSpPr>
        <p:spPr>
          <a:xfrm>
            <a:off x="7790688" y="2057400"/>
            <a:ext cx="3337560" cy="840230"/>
          </a:xfrm>
          <a:prstGeom prst="rect">
            <a:avLst/>
          </a:prstGeom>
          <a:noFill/>
        </p:spPr>
        <p:txBody>
          <a:bodyPr wrap="square" lIns="27432" tIns="27432" rIns="27432" bIns="27432" anchor="t">
            <a:spAutoFit/>
          </a:bodyPr>
          <a:lstStyle/>
          <a:p>
            <a:pPr algn="l">
              <a:spcAft>
                <a:spcPts val="0"/>
              </a:spcAft>
            </a:pPr>
            <a:r>
              <a:rPr lang="en-GB" sz="1700" b="1">
                <a:solidFill>
                  <a:srgbClr val="233A59"/>
                </a:solidFill>
              </a:rPr>
              <a:t>Objective remains practical; exact tunnel IPs/network type are instructor preparation items</a:t>
            </a:r>
          </a:p>
        </p:txBody>
      </p:sp>
      <p:sp>
        <p:nvSpPr>
          <p:cNvPr id="14" name="TextBox 13"/>
          <p:cNvSpPr txBox="1">
            <a:spLocks/>
          </p:cNvSpPr>
          <p:nvPr/>
        </p:nvSpPr>
        <p:spPr>
          <a:xfrm>
            <a:off x="7790688" y="3822191"/>
            <a:ext cx="18288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EXPECTED RESULT</a:t>
            </a:r>
          </a:p>
        </p:txBody>
      </p:sp>
      <p:sp>
        <p:nvSpPr>
          <p:cNvPr id="15" name="TextBox 14"/>
          <p:cNvSpPr txBox="1">
            <a:spLocks/>
          </p:cNvSpPr>
          <p:nvPr/>
        </p:nvSpPr>
        <p:spPr>
          <a:xfrm>
            <a:off x="7790688" y="4187952"/>
            <a:ext cx="3337560" cy="747897"/>
          </a:xfrm>
          <a:prstGeom prst="rect">
            <a:avLst/>
          </a:prstGeom>
          <a:noFill/>
        </p:spPr>
        <p:txBody>
          <a:bodyPr wrap="square" lIns="27432" tIns="27432" rIns="27432" bIns="27432" anchor="t">
            <a:spAutoFit/>
          </a:bodyPr>
          <a:lstStyle/>
          <a:p>
            <a:pPr algn="l">
              <a:spcAft>
                <a:spcPts val="0"/>
              </a:spcAft>
            </a:pPr>
            <a:r>
              <a:rPr lang="en-GB" sz="1500" b="0">
                <a:solidFill>
                  <a:srgbClr val="1E2B40"/>
                </a:solidFill>
              </a:rPr>
              <a:t>Prevalidate FortiOS 7.6.7 behavior; use an instructor demonstration if the shortcut/OSPF build is not ready.</a:t>
            </a:r>
          </a:p>
        </p:txBody>
      </p:sp>
      <p:sp>
        <p:nvSpPr>
          <p:cNvPr id="16" name="TextBox 15"/>
          <p:cNvSpPr txBox="1">
            <a:spLocks/>
          </p:cNvSpPr>
          <p:nvPr/>
        </p:nvSpPr>
        <p:spPr>
          <a:xfrm>
            <a:off x="7790688" y="5596128"/>
            <a:ext cx="1920240" cy="201168"/>
          </a:xfrm>
          <a:prstGeom prst="rect">
            <a:avLst/>
          </a:prstGeom>
          <a:noFill/>
        </p:spPr>
        <p:txBody>
          <a:bodyPr wrap="square" lIns="27432" tIns="27432" rIns="27432" bIns="27432" anchor="t">
            <a:spAutoFit/>
          </a:bodyPr>
          <a:lstStyle/>
          <a:p>
            <a:pPr algn="l">
              <a:spcAft>
                <a:spcPts val="0"/>
              </a:spcAft>
            </a:pPr>
            <a:r>
              <a:rPr lang="en-GB" sz="1000" b="1">
                <a:solidFill>
                  <a:srgbClr val="687385"/>
                </a:solidFill>
              </a:rPr>
              <a:t>Expected observation</a:t>
            </a:r>
          </a:p>
        </p:txBody>
      </p:sp>
      <p:sp>
        <p:nvSpPr>
          <p:cNvPr id="17" name="TextBox 16"/>
          <p:cNvSpPr txBox="1">
            <a:spLocks/>
          </p:cNvSpPr>
          <p:nvPr/>
        </p:nvSpPr>
        <p:spPr>
          <a:xfrm>
            <a:off x="9509760" y="5577840"/>
            <a:ext cx="1691640" cy="670953"/>
          </a:xfrm>
          <a:prstGeom prst="rect">
            <a:avLst/>
          </a:prstGeom>
          <a:noFill/>
        </p:spPr>
        <p:txBody>
          <a:bodyPr wrap="square" lIns="27432" tIns="27432" rIns="27432" bIns="27432" anchor="t">
            <a:spAutoFit/>
          </a:bodyPr>
          <a:lstStyle/>
          <a:p>
            <a:pPr algn="r">
              <a:spcAft>
                <a:spcPts val="0"/>
              </a:spcAft>
            </a:pPr>
            <a:r>
              <a:rPr lang="en-GB" sz="1000" b="0">
                <a:solidFill>
                  <a:srgbClr val="687385"/>
                </a:solidFill>
              </a:rPr>
              <a:t>IKE and IPsec SAs are up, the protected route points to the tunnel, and both tunnel counters increase.</a:t>
            </a:r>
          </a:p>
        </p:txBody>
      </p:sp>
      <p:sp>
        <p:nvSpPr>
          <p:cNvPr id="18" name="TextBox 17"/>
          <p:cNvSpPr txBox="1">
            <a:spLocks/>
          </p:cNvSpPr>
          <p:nvPr/>
        </p:nvSpPr>
        <p:spPr>
          <a:xfrm>
            <a:off x="502920" y="420624"/>
            <a:ext cx="10744200" cy="130805"/>
          </a:xfrm>
          <a:prstGeom prst="rect">
            <a:avLst/>
          </a:prstGeom>
          <a:noFill/>
        </p:spPr>
        <p:txBody>
          <a:bodyPr wrap="square" lIns="0" tIns="0" rIns="0" bIns="0">
            <a:spAutoFit/>
          </a:bodyPr>
          <a:lstStyle/>
          <a:p>
            <a:pPr algn="l"/>
            <a:r>
              <a:rPr lang="en-GB" sz="850" b="1">
                <a:solidFill>
                  <a:srgbClr val="687385"/>
                </a:solidFill>
              </a:rPr>
              <a:t>116 • DAY 3 • BLOCK 11 • IPsec &amp; ADVPN</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117</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ADVPN sizing tracks spokes, tunnels, routes and sessions</a:t>
            </a:r>
          </a:p>
        </p:txBody>
      </p:sp>
      <p:sp>
        <p:nvSpPr>
          <p:cNvPr id="10" name="TextBox 9"/>
          <p:cNvSpPr txBox="1">
            <a:spLocks/>
          </p:cNvSpPr>
          <p:nvPr/>
        </p:nvSpPr>
        <p:spPr>
          <a:xfrm>
            <a:off x="658368" y="1554480"/>
            <a:ext cx="6583680" cy="4389120"/>
          </a:xfrm>
          <a:prstGeom prst="rect">
            <a:avLst/>
          </a:prstGeom>
          <a:noFill/>
        </p:spPr>
        <p:txBody>
          <a:bodyPr wrap="square" lIns="109728" tIns="73152" rIns="109728" bIns="73152" anchor="t">
            <a:spAutoFit/>
          </a:bodyPr>
          <a:lstStyle/>
          <a:p>
            <a:pPr algn="l">
              <a:lnSpc>
                <a:spcPct val="105000"/>
              </a:lnSpc>
              <a:spcAft>
                <a:spcPts val="800"/>
              </a:spcAft>
              <a:defRPr sz="1700">
                <a:solidFill>
                  <a:srgbClr val="1E2B40"/>
                </a:solidFill>
              </a:defRPr>
            </a:pPr>
            <a:r>
              <a:rPr lang="en-GB"/>
              <a:t>• Estimate concurrent hub-spoke and shortcut tunnels</a:t>
            </a:r>
          </a:p>
          <a:p>
            <a:pPr>
              <a:lnSpc>
                <a:spcPct val="105000"/>
              </a:lnSpc>
              <a:spcAft>
                <a:spcPts val="800"/>
              </a:spcAft>
              <a:defRPr sz="1700">
                <a:solidFill>
                  <a:srgbClr val="1E2B40"/>
                </a:solidFill>
              </a:defRPr>
            </a:pPr>
            <a:r>
              <a:rPr lang="en-GB"/>
              <a:t>• Account for route scale, neighbor scale, session count, crypto throughput and inspection</a:t>
            </a:r>
          </a:p>
          <a:p>
            <a:pPr>
              <a:lnSpc>
                <a:spcPct val="105000"/>
              </a:lnSpc>
              <a:spcAft>
                <a:spcPts val="800"/>
              </a:spcAft>
              <a:defRPr sz="1700">
                <a:solidFill>
                  <a:srgbClr val="1E2B40"/>
                </a:solidFill>
              </a:defRPr>
            </a:pPr>
            <a:r>
              <a:rPr lang="en-GB"/>
              <a:t>• Use platform data sheets and validated design guides, not slide estimates</a:t>
            </a:r>
          </a:p>
          <a:p>
            <a:pPr>
              <a:lnSpc>
                <a:spcPct val="105000"/>
              </a:lnSpc>
              <a:spcAft>
                <a:spcPts val="800"/>
              </a:spcAft>
              <a:defRPr sz="1700">
                <a:solidFill>
                  <a:srgbClr val="1E2B40"/>
                </a:solidFill>
              </a:defRPr>
            </a:pPr>
            <a:r>
              <a:rPr lang="en-GB"/>
              <a:t>• Failure/rekey storms can be more demanding than steady state</a:t>
            </a:r>
          </a:p>
        </p:txBody>
      </p:sp>
      <p:cxnSp>
        <p:nvCxnSpPr>
          <p:cNvPr id="11" name="Connector 10"/>
          <p:cNvCxnSpPr/>
          <p:nvPr/>
        </p:nvCxnSpPr>
        <p:spPr>
          <a:xfrm>
            <a:off x="7452360" y="1600200"/>
            <a:ext cx="0" cy="434340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7790688" y="1627632"/>
            <a:ext cx="342900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ILLUSTRATIVE SCENARIO</a:t>
            </a:r>
          </a:p>
        </p:txBody>
      </p:sp>
      <p:sp>
        <p:nvSpPr>
          <p:cNvPr id="13" name="TextBox 12"/>
          <p:cNvSpPr txBox="1"/>
          <p:nvPr/>
        </p:nvSpPr>
        <p:spPr>
          <a:xfrm>
            <a:off x="7790688" y="2057400"/>
            <a:ext cx="3337560" cy="1417320"/>
          </a:xfrm>
          <a:prstGeom prst="rect">
            <a:avLst/>
          </a:prstGeom>
          <a:noFill/>
        </p:spPr>
        <p:txBody>
          <a:bodyPr wrap="square" lIns="27432" tIns="27432" rIns="27432" bIns="27432" anchor="t">
            <a:spAutoFit/>
          </a:bodyPr>
          <a:lstStyle/>
          <a:p>
            <a:pPr algn="l">
              <a:spcAft>
                <a:spcPts val="0"/>
              </a:spcAft>
            </a:pPr>
            <a:r>
              <a:rPr sz="1700" b="1">
                <a:solidFill>
                  <a:srgbClr val="233A59"/>
                </a:solidFill>
              </a:rPr>
              <a:t>Sizing remains an instructor design exercise without a declared appliance/model and traffic profile</a:t>
            </a:r>
          </a:p>
        </p:txBody>
      </p:sp>
      <p:sp>
        <p:nvSpPr>
          <p:cNvPr id="14" name="TextBox 13"/>
          <p:cNvSpPr txBox="1"/>
          <p:nvPr/>
        </p:nvSpPr>
        <p:spPr>
          <a:xfrm>
            <a:off x="7790688" y="3822191"/>
            <a:ext cx="18288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EXPECTED RESULT</a:t>
            </a:r>
            <a:endParaRPr sz="1100" b="1">
              <a:solidFill>
                <a:srgbClr val="E60012"/>
              </a:solidFill>
            </a:endParaRPr>
          </a:p>
        </p:txBody>
      </p:sp>
      <p:sp>
        <p:nvSpPr>
          <p:cNvPr id="15" name="TextBox 14"/>
          <p:cNvSpPr txBox="1"/>
          <p:nvPr/>
        </p:nvSpPr>
        <p:spPr>
          <a:xfrm>
            <a:off x="7790688" y="4187952"/>
            <a:ext cx="3337560" cy="1325880"/>
          </a:xfrm>
          <a:prstGeom prst="rect">
            <a:avLst/>
          </a:prstGeom>
          <a:noFill/>
        </p:spPr>
        <p:txBody>
          <a:bodyPr wrap="square" lIns="27432" tIns="27432" rIns="27432" bIns="27432" anchor="t">
            <a:spAutoFit/>
          </a:bodyPr>
          <a:lstStyle/>
          <a:p>
            <a:pPr algn="l">
              <a:spcAft>
                <a:spcPts val="0"/>
              </a:spcAft>
            </a:pPr>
            <a:r>
              <a:rPr sz="1500" b="0">
                <a:solidFill>
                  <a:srgbClr val="1E2B40"/>
                </a:solidFill>
              </a:rPr>
              <a:t>Record assumptions and validate against current Fortinet sizing guidance.</a:t>
            </a:r>
          </a:p>
        </p:txBody>
      </p:sp>
      <p:sp>
        <p:nvSpPr>
          <p:cNvPr id="16" name="TextBox 15"/>
          <p:cNvSpPr txBox="1"/>
          <p:nvPr/>
        </p:nvSpPr>
        <p:spPr>
          <a:xfrm>
            <a:off x="7790688" y="5596128"/>
            <a:ext cx="1920240" cy="201168"/>
          </a:xfrm>
          <a:prstGeom prst="rect">
            <a:avLst/>
          </a:prstGeom>
          <a:noFill/>
        </p:spPr>
        <p:txBody>
          <a:bodyPr wrap="square" lIns="27432" tIns="27432" rIns="27432" bIns="27432" anchor="t">
            <a:spAutoFit/>
          </a:bodyPr>
          <a:lstStyle/>
          <a:p>
            <a:pPr algn="l">
              <a:spcAft>
                <a:spcPts val="0"/>
              </a:spcAft>
            </a:pPr>
            <a:r>
              <a:rPr sz="1000" b="1">
                <a:solidFill>
                  <a:srgbClr val="687385"/>
                </a:solidFill>
              </a:rPr>
              <a:t>Expected observation</a:t>
            </a:r>
          </a:p>
        </p:txBody>
      </p:sp>
      <p:sp>
        <p:nvSpPr>
          <p:cNvPr id="17" name="TextBox 16"/>
          <p:cNvSpPr txBox="1"/>
          <p:nvPr/>
        </p:nvSpPr>
        <p:spPr>
          <a:xfrm>
            <a:off x="9509760" y="5577840"/>
            <a:ext cx="1691640" cy="670953"/>
          </a:xfrm>
          <a:prstGeom prst="rect">
            <a:avLst/>
          </a:prstGeom>
          <a:noFill/>
        </p:spPr>
        <p:txBody>
          <a:bodyPr wrap="square" lIns="27432" tIns="27432" rIns="27432" bIns="27432" anchor="t">
            <a:spAutoFit/>
          </a:bodyPr>
          <a:lstStyle/>
          <a:p>
            <a:pPr algn="r">
              <a:spcAft>
                <a:spcPts val="0"/>
              </a:spcAft>
            </a:pPr>
            <a:r>
              <a:rPr lang="en-GB" sz="1000" b="0">
                <a:solidFill>
                  <a:srgbClr val="687385"/>
                </a:solidFill>
              </a:rPr>
              <a:t>IKE and IPsec SAs are up, the protected route points to </a:t>
            </a:r>
            <a:r>
              <a:rPr sz="1000" b="0">
                <a:solidFill>
                  <a:srgbClr val="687385"/>
                </a:solidFill>
              </a:rPr>
              <a:t>the </a:t>
            </a:r>
            <a:r>
              <a:rPr lang="en-GB" sz="1000" b="0">
                <a:solidFill>
                  <a:srgbClr val="687385"/>
                </a:solidFill>
              </a:rPr>
              <a:t>tunnel, </a:t>
            </a:r>
            <a:r>
              <a:rPr sz="1000" b="0">
                <a:solidFill>
                  <a:srgbClr val="687385"/>
                </a:solidFill>
              </a:rPr>
              <a:t>and </a:t>
            </a:r>
            <a:r>
              <a:rPr lang="en-GB" sz="1000" b="0">
                <a:solidFill>
                  <a:srgbClr val="687385"/>
                </a:solidFill>
              </a:rPr>
              <a:t>both tunnel counters increase</a:t>
            </a:r>
            <a:r>
              <a:rPr sz="1000" b="0">
                <a:solidFill>
                  <a:srgbClr val="687385"/>
                </a:solidFill>
              </a:rPr>
              <a:t>.</a:t>
            </a:r>
          </a:p>
        </p:txBody>
      </p:sp>
      <p:sp>
        <p:nvSpPr>
          <p:cNvPr id="18" name="TextBox 17"/>
          <p:cNvSpPr txBox="1"/>
          <p:nvPr/>
        </p:nvSpPr>
        <p:spPr>
          <a:xfrm>
            <a:off x="502920" y="420624"/>
            <a:ext cx="10744200" cy="130805"/>
          </a:xfrm>
          <a:prstGeom prst="rect">
            <a:avLst/>
          </a:prstGeom>
          <a:noFill/>
        </p:spPr>
        <p:txBody>
          <a:bodyPr wrap="square" lIns="0" tIns="0" rIns="0" bIns="0">
            <a:spAutoFit/>
          </a:bodyPr>
          <a:lstStyle/>
          <a:p>
            <a:pPr algn="l"/>
            <a:r>
              <a:rPr lang="en-HU" sz="850" b="1">
                <a:solidFill>
                  <a:srgbClr val="687385"/>
                </a:solidFill>
              </a:rPr>
              <a:t>117</a:t>
            </a:r>
            <a:r>
              <a:rPr sz="850" b="1">
                <a:solidFill>
                  <a:srgbClr val="687385"/>
                </a:solidFill>
              </a:rPr>
              <a:t> • DAY 3 • BLOCK 11 • IPsec &amp; ADVPN</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p:nvPr/>
        </p:nvSpPr>
        <p:spPr>
          <a:xfrm>
            <a:off x="502920" y="411480"/>
            <a:ext cx="548640" cy="189283"/>
          </a:xfrm>
          <a:prstGeom prst="rect">
            <a:avLst/>
          </a:prstGeom>
          <a:noFill/>
        </p:spPr>
        <p:txBody>
          <a:bodyPr wrap="square" lIns="36576" tIns="36576" rIns="36576" bIns="36576" anchor="t">
            <a:spAutoFit/>
          </a:bodyPr>
          <a:lstStyle/>
          <a:p>
            <a:pPr algn="l">
              <a:spcAft>
                <a:spcPts val="0"/>
              </a:spcAft>
            </a:pPr>
            <a:r>
              <a:rPr lang="en-HU" sz="750" b="1">
                <a:solidFill>
                  <a:srgbClr val="687385"/>
                </a:solidFill>
              </a:rPr>
              <a:t>118</a:t>
            </a:r>
            <a:endParaRPr sz="750" b="1">
              <a:solidFill>
                <a:srgbClr val="687385"/>
              </a:solidFill>
            </a:endParaRPr>
          </a:p>
        </p:txBody>
      </p:sp>
      <p:sp>
        <p:nvSpPr>
          <p:cNvPr id="4" name="TextBox 3"/>
          <p:cNvSpPr txBox="1"/>
          <p:nvPr/>
        </p:nvSpPr>
        <p:spPr>
          <a:xfrm>
            <a:off x="502920" y="621792"/>
            <a:ext cx="11109960" cy="548640"/>
          </a:xfrm>
          <a:prstGeom prst="rect">
            <a:avLst/>
          </a:prstGeom>
          <a:noFill/>
        </p:spPr>
        <p:txBody>
          <a:bodyPr wrap="square" lIns="36576" tIns="36576" rIns="36576" bIns="36576" anchor="t">
            <a:spAutoFit/>
          </a:bodyPr>
          <a:lstStyle/>
          <a:p>
            <a:pPr algn="l">
              <a:spcAft>
                <a:spcPts val="0"/>
              </a:spcAft>
            </a:pPr>
            <a:r>
              <a:rPr sz="2600" b="1">
                <a:solidFill>
                  <a:srgbClr val="1E2B40"/>
                </a:solidFill>
              </a:rPr>
              <a:t>Route-based VPN</a:t>
            </a:r>
          </a:p>
        </p:txBody>
      </p:sp>
      <p:cxnSp>
        <p:nvCxnSpPr>
          <p:cNvPr id="5" name="Connector 4"/>
          <p:cNvCxnSpPr/>
          <p:nvPr/>
        </p:nvCxnSpPr>
        <p:spPr>
          <a:xfrm>
            <a:off x="502920" y="6473952"/>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109960" y="6537960"/>
            <a:ext cx="502920" cy="189283"/>
          </a:xfrm>
          <a:prstGeom prst="rect">
            <a:avLst/>
          </a:prstGeom>
          <a:noFill/>
        </p:spPr>
        <p:txBody>
          <a:bodyPr wrap="square" lIns="36576" tIns="36576" rIns="36576" bIns="36576" anchor="t">
            <a:spAutoFit/>
          </a:bodyPr>
          <a:lstStyle/>
          <a:p>
            <a:pPr algn="r">
              <a:spcAft>
                <a:spcPts val="0"/>
              </a:spcAft>
            </a:pPr>
            <a:r>
              <a:rPr lang="en-HU" sz="750" b="0">
                <a:solidFill>
                  <a:srgbClr val="687385"/>
                </a:solidFill>
              </a:rPr>
              <a:t>118</a:t>
            </a:r>
            <a:endParaRPr sz="750" b="0">
              <a:solidFill>
                <a:srgbClr val="687385"/>
              </a:solidFill>
            </a:endParaRPr>
          </a:p>
        </p:txBody>
      </p:sp>
      <p:sp>
        <p:nvSpPr>
          <p:cNvPr id="7" name="Rectangle 6"/>
          <p:cNvSpPr>
            <a:spLocks/>
          </p:cNvSpPr>
          <p:nvPr/>
        </p:nvSpPr>
        <p:spPr>
          <a:xfrm>
            <a:off x="685800" y="1828800"/>
            <a:ext cx="2008022"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8" name="TextBox 7"/>
          <p:cNvSpPr txBox="1">
            <a:spLocks/>
          </p:cNvSpPr>
          <p:nvPr/>
        </p:nvSpPr>
        <p:spPr>
          <a:xfrm>
            <a:off x="777240" y="1938528"/>
            <a:ext cx="365760" cy="227755"/>
          </a:xfrm>
          <a:prstGeom prst="rect">
            <a:avLst/>
          </a:prstGeom>
          <a:noFill/>
        </p:spPr>
        <p:txBody>
          <a:bodyPr wrap="square" lIns="36576" tIns="36576" rIns="36576" bIns="36576" anchor="t">
            <a:spAutoFit/>
          </a:bodyPr>
          <a:lstStyle/>
          <a:p>
            <a:pPr algn="l">
              <a:spcAft>
                <a:spcPts val="0"/>
              </a:spcAft>
            </a:pPr>
            <a:r>
              <a:rPr lang="en-HU" sz="1000" b="1">
                <a:solidFill>
                  <a:srgbClr val="E60012"/>
                </a:solidFill>
              </a:rPr>
              <a:t>01</a:t>
            </a:r>
          </a:p>
        </p:txBody>
      </p:sp>
      <p:sp>
        <p:nvSpPr>
          <p:cNvPr id="9" name="TextBox 8"/>
          <p:cNvSpPr txBox="1">
            <a:spLocks/>
          </p:cNvSpPr>
          <p:nvPr/>
        </p:nvSpPr>
        <p:spPr>
          <a:xfrm>
            <a:off x="795528" y="2243935"/>
            <a:ext cx="1788566" cy="504754"/>
          </a:xfrm>
          <a:prstGeom prst="rect">
            <a:avLst/>
          </a:prstGeom>
          <a:noFill/>
        </p:spPr>
        <p:txBody>
          <a:bodyPr wrap="square" lIns="36576" tIns="36576" rIns="36576" bIns="36576" anchor="ctr">
            <a:spAutoFit/>
          </a:bodyPr>
          <a:lstStyle/>
          <a:p>
            <a:pPr algn="ctr">
              <a:spcAft>
                <a:spcPts val="0"/>
              </a:spcAft>
            </a:pPr>
            <a:r>
              <a:rPr lang="en-GB" sz="1400" b="1">
                <a:solidFill>
                  <a:srgbClr val="FFFFFF"/>
                </a:solidFill>
              </a:rPr>
              <a:t>Reach peer over underlay</a:t>
            </a:r>
          </a:p>
        </p:txBody>
      </p:sp>
      <p:sp>
        <p:nvSpPr>
          <p:cNvPr id="10" name="Right Arrow 9"/>
          <p:cNvSpPr/>
          <p:nvPr/>
        </p:nvSpPr>
        <p:spPr>
          <a:xfrm>
            <a:off x="2693822" y="2340864"/>
            <a:ext cx="164592" cy="146304"/>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1" name="Rectangle 10"/>
          <p:cNvSpPr>
            <a:spLocks/>
          </p:cNvSpPr>
          <p:nvPr/>
        </p:nvSpPr>
        <p:spPr>
          <a:xfrm>
            <a:off x="2858414" y="1828800"/>
            <a:ext cx="2008022"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2" name="TextBox 11"/>
          <p:cNvSpPr txBox="1"/>
          <p:nvPr/>
        </p:nvSpPr>
        <p:spPr>
          <a:xfrm>
            <a:off x="2949854" y="1938528"/>
            <a:ext cx="365760" cy="201168"/>
          </a:xfrm>
          <a:prstGeom prst="rect">
            <a:avLst/>
          </a:prstGeom>
          <a:noFill/>
        </p:spPr>
        <p:txBody>
          <a:bodyPr wrap="square" lIns="36576" tIns="36576" rIns="36576" bIns="36576" anchor="t">
            <a:spAutoFit/>
          </a:bodyPr>
          <a:lstStyle/>
          <a:p>
            <a:pPr algn="l">
              <a:spcAft>
                <a:spcPts val="0"/>
              </a:spcAft>
            </a:pPr>
            <a:r>
              <a:rPr sz="1000" b="1">
                <a:solidFill>
                  <a:srgbClr val="E60012"/>
                </a:solidFill>
              </a:rPr>
              <a:t>02</a:t>
            </a:r>
          </a:p>
        </p:txBody>
      </p:sp>
      <p:sp>
        <p:nvSpPr>
          <p:cNvPr id="13" name="TextBox 12"/>
          <p:cNvSpPr txBox="1">
            <a:spLocks/>
          </p:cNvSpPr>
          <p:nvPr/>
        </p:nvSpPr>
        <p:spPr>
          <a:xfrm>
            <a:off x="2968142" y="2267712"/>
            <a:ext cx="1788566" cy="457200"/>
          </a:xfrm>
          <a:prstGeom prst="rect">
            <a:avLst/>
          </a:prstGeom>
          <a:noFill/>
        </p:spPr>
        <p:txBody>
          <a:bodyPr wrap="square" lIns="36576" tIns="36576" rIns="36576" bIns="36576" anchor="ctr">
            <a:spAutoFit/>
          </a:bodyPr>
          <a:lstStyle/>
          <a:p>
            <a:pPr algn="ctr">
              <a:spcAft>
                <a:spcPts val="0"/>
              </a:spcAft>
            </a:pPr>
            <a:r>
              <a:rPr lang="en-GB" sz="1400" b="1">
                <a:solidFill>
                  <a:srgbClr val="FFFFFF"/>
                </a:solidFill>
              </a:rPr>
              <a:t>Create IKE SA</a:t>
            </a:r>
          </a:p>
        </p:txBody>
      </p:sp>
      <p:sp>
        <p:nvSpPr>
          <p:cNvPr id="14" name="Right Arrow 13"/>
          <p:cNvSpPr>
            <a:spLocks/>
          </p:cNvSpPr>
          <p:nvPr/>
        </p:nvSpPr>
        <p:spPr>
          <a:xfrm>
            <a:off x="4866436" y="2340864"/>
            <a:ext cx="164592" cy="146304"/>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5" name="Rectangle 14"/>
          <p:cNvSpPr/>
          <p:nvPr/>
        </p:nvSpPr>
        <p:spPr>
          <a:xfrm>
            <a:off x="5031028" y="1828800"/>
            <a:ext cx="2008022"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a:spLocks/>
          </p:cNvSpPr>
          <p:nvPr/>
        </p:nvSpPr>
        <p:spPr>
          <a:xfrm>
            <a:off x="5122468" y="1938528"/>
            <a:ext cx="365760" cy="201168"/>
          </a:xfrm>
          <a:prstGeom prst="rect">
            <a:avLst/>
          </a:prstGeom>
          <a:noFill/>
        </p:spPr>
        <p:txBody>
          <a:bodyPr wrap="square" lIns="36576" tIns="36576" rIns="36576" bIns="36576" anchor="t">
            <a:spAutoFit/>
          </a:bodyPr>
          <a:lstStyle/>
          <a:p>
            <a:pPr algn="l">
              <a:spcAft>
                <a:spcPts val="0"/>
              </a:spcAft>
            </a:pPr>
            <a:r>
              <a:rPr lang="en-HU" sz="1000" b="1">
                <a:solidFill>
                  <a:srgbClr val="E60012"/>
                </a:solidFill>
              </a:rPr>
              <a:t>03</a:t>
            </a:r>
          </a:p>
        </p:txBody>
      </p:sp>
      <p:sp>
        <p:nvSpPr>
          <p:cNvPr id="17" name="TextBox 16"/>
          <p:cNvSpPr txBox="1">
            <a:spLocks/>
          </p:cNvSpPr>
          <p:nvPr/>
        </p:nvSpPr>
        <p:spPr>
          <a:xfrm>
            <a:off x="5140756" y="2351657"/>
            <a:ext cx="1788566" cy="289310"/>
          </a:xfrm>
          <a:prstGeom prst="rect">
            <a:avLst/>
          </a:prstGeom>
          <a:noFill/>
        </p:spPr>
        <p:txBody>
          <a:bodyPr wrap="square" lIns="36576" tIns="36576" rIns="36576" bIns="36576" anchor="ctr">
            <a:spAutoFit/>
          </a:bodyPr>
          <a:lstStyle/>
          <a:p>
            <a:pPr algn="ctr">
              <a:spcAft>
                <a:spcPts val="0"/>
              </a:spcAft>
            </a:pPr>
            <a:r>
              <a:rPr lang="en-GB" sz="1400" b="1">
                <a:solidFill>
                  <a:srgbClr val="FFFFFF"/>
                </a:solidFill>
              </a:rPr>
              <a:t>Create CHILD SA</a:t>
            </a:r>
          </a:p>
        </p:txBody>
      </p:sp>
      <p:sp>
        <p:nvSpPr>
          <p:cNvPr id="18" name="Right Arrow 17"/>
          <p:cNvSpPr/>
          <p:nvPr/>
        </p:nvSpPr>
        <p:spPr>
          <a:xfrm>
            <a:off x="7039051" y="2340864"/>
            <a:ext cx="164592" cy="146304"/>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203643" y="1828800"/>
            <a:ext cx="2008022"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20" name="TextBox 19"/>
          <p:cNvSpPr txBox="1">
            <a:spLocks/>
          </p:cNvSpPr>
          <p:nvPr/>
        </p:nvSpPr>
        <p:spPr>
          <a:xfrm>
            <a:off x="7295083" y="1938528"/>
            <a:ext cx="365760" cy="227755"/>
          </a:xfrm>
          <a:prstGeom prst="rect">
            <a:avLst/>
          </a:prstGeom>
          <a:noFill/>
        </p:spPr>
        <p:txBody>
          <a:bodyPr wrap="square" lIns="36576" tIns="36576" rIns="36576" bIns="36576" anchor="t">
            <a:spAutoFit/>
          </a:bodyPr>
          <a:lstStyle/>
          <a:p>
            <a:pPr algn="l">
              <a:spcAft>
                <a:spcPts val="0"/>
              </a:spcAft>
            </a:pPr>
            <a:r>
              <a:rPr lang="en-HU" sz="1000" b="1">
                <a:solidFill>
                  <a:srgbClr val="E60012"/>
                </a:solidFill>
              </a:rPr>
              <a:t>04</a:t>
            </a:r>
          </a:p>
        </p:txBody>
      </p:sp>
      <p:sp>
        <p:nvSpPr>
          <p:cNvPr id="21" name="TextBox 20"/>
          <p:cNvSpPr txBox="1">
            <a:spLocks/>
          </p:cNvSpPr>
          <p:nvPr/>
        </p:nvSpPr>
        <p:spPr>
          <a:xfrm>
            <a:off x="7313371" y="2243935"/>
            <a:ext cx="1788566" cy="504754"/>
          </a:xfrm>
          <a:prstGeom prst="rect">
            <a:avLst/>
          </a:prstGeom>
          <a:noFill/>
        </p:spPr>
        <p:txBody>
          <a:bodyPr wrap="square" lIns="36576" tIns="36576" rIns="36576" bIns="36576" anchor="ctr">
            <a:spAutoFit/>
          </a:bodyPr>
          <a:lstStyle/>
          <a:p>
            <a:pPr algn="ctr">
              <a:spcAft>
                <a:spcPts val="0"/>
              </a:spcAft>
            </a:pPr>
            <a:r>
              <a:rPr lang="en-GB" sz="1400" b="1">
                <a:solidFill>
                  <a:srgbClr val="FFFFFF"/>
                </a:solidFill>
              </a:rPr>
              <a:t>Route points to tunnel</a:t>
            </a:r>
          </a:p>
        </p:txBody>
      </p:sp>
      <p:sp>
        <p:nvSpPr>
          <p:cNvPr id="22" name="Right Arrow 21"/>
          <p:cNvSpPr>
            <a:spLocks/>
          </p:cNvSpPr>
          <p:nvPr/>
        </p:nvSpPr>
        <p:spPr>
          <a:xfrm>
            <a:off x="9211665" y="2340864"/>
            <a:ext cx="164592" cy="146304"/>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23" name="Rectangle 22"/>
          <p:cNvSpPr>
            <a:spLocks/>
          </p:cNvSpPr>
          <p:nvPr/>
        </p:nvSpPr>
        <p:spPr>
          <a:xfrm>
            <a:off x="9376257" y="1828800"/>
            <a:ext cx="2008022"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24" name="TextBox 23"/>
          <p:cNvSpPr txBox="1">
            <a:spLocks/>
          </p:cNvSpPr>
          <p:nvPr/>
        </p:nvSpPr>
        <p:spPr>
          <a:xfrm>
            <a:off x="9467697" y="1938528"/>
            <a:ext cx="365760" cy="227755"/>
          </a:xfrm>
          <a:prstGeom prst="rect">
            <a:avLst/>
          </a:prstGeom>
          <a:noFill/>
        </p:spPr>
        <p:txBody>
          <a:bodyPr wrap="square" lIns="36576" tIns="36576" rIns="36576" bIns="36576" anchor="t">
            <a:spAutoFit/>
          </a:bodyPr>
          <a:lstStyle/>
          <a:p>
            <a:pPr algn="l">
              <a:spcAft>
                <a:spcPts val="0"/>
              </a:spcAft>
            </a:pPr>
            <a:r>
              <a:rPr lang="en-HU" sz="1000" b="1">
                <a:solidFill>
                  <a:srgbClr val="E60012"/>
                </a:solidFill>
              </a:rPr>
              <a:t>05</a:t>
            </a:r>
          </a:p>
        </p:txBody>
      </p:sp>
      <p:sp>
        <p:nvSpPr>
          <p:cNvPr id="25" name="TextBox 24"/>
          <p:cNvSpPr txBox="1"/>
          <p:nvPr/>
        </p:nvSpPr>
        <p:spPr>
          <a:xfrm>
            <a:off x="9485985" y="2267712"/>
            <a:ext cx="1788566" cy="457200"/>
          </a:xfrm>
          <a:prstGeom prst="rect">
            <a:avLst/>
          </a:prstGeom>
          <a:noFill/>
        </p:spPr>
        <p:txBody>
          <a:bodyPr wrap="square" lIns="36576" tIns="36576" rIns="36576" bIns="36576" anchor="ctr">
            <a:spAutoFit/>
          </a:bodyPr>
          <a:lstStyle/>
          <a:p>
            <a:pPr algn="ctr">
              <a:spcAft>
                <a:spcPts val="0"/>
              </a:spcAft>
            </a:pPr>
            <a:r>
              <a:rPr sz="1400" b="1">
                <a:solidFill>
                  <a:srgbClr val="FFFFFF"/>
                </a:solidFill>
              </a:rPr>
              <a:t>Policy permits protected flow</a:t>
            </a:r>
          </a:p>
        </p:txBody>
      </p:sp>
      <p:sp>
        <p:nvSpPr>
          <p:cNvPr id="26" name="TextBox 25"/>
          <p:cNvSpPr txBox="1"/>
          <p:nvPr/>
        </p:nvSpPr>
        <p:spPr>
          <a:xfrm>
            <a:off x="731520" y="3703320"/>
            <a:ext cx="1554480" cy="210312"/>
          </a:xfrm>
          <a:prstGeom prst="rect">
            <a:avLst/>
          </a:prstGeom>
          <a:noFill/>
        </p:spPr>
        <p:txBody>
          <a:bodyPr wrap="square" lIns="36576" tIns="36576" rIns="36576" bIns="36576" anchor="t">
            <a:spAutoFit/>
          </a:bodyPr>
          <a:lstStyle/>
          <a:p>
            <a:pPr algn="l">
              <a:spcAft>
                <a:spcPts val="0"/>
              </a:spcAft>
            </a:pPr>
            <a:r>
              <a:rPr sz="1000" b="1">
                <a:solidFill>
                  <a:srgbClr val="E60012"/>
                </a:solidFill>
              </a:rPr>
              <a:t>EXPECTED RESULT</a:t>
            </a:r>
          </a:p>
        </p:txBody>
      </p:sp>
      <p:sp>
        <p:nvSpPr>
          <p:cNvPr id="27" name="TextBox 26"/>
          <p:cNvSpPr txBox="1"/>
          <p:nvPr/>
        </p:nvSpPr>
        <p:spPr>
          <a:xfrm>
            <a:off x="731520" y="4041648"/>
            <a:ext cx="10424160" cy="335476"/>
          </a:xfrm>
          <a:prstGeom prst="rect">
            <a:avLst/>
          </a:prstGeom>
          <a:noFill/>
        </p:spPr>
        <p:txBody>
          <a:bodyPr wrap="square" lIns="36576" tIns="36576" rIns="36576" bIns="36576" anchor="t">
            <a:spAutoFit/>
          </a:bodyPr>
          <a:lstStyle/>
          <a:p>
            <a:pPr algn="ctr">
              <a:spcAft>
                <a:spcPts val="0"/>
              </a:spcAft>
            </a:pPr>
            <a:r>
              <a:rPr sz="1700" b="1">
                <a:solidFill>
                  <a:srgbClr val="233A59"/>
                </a:solidFill>
              </a:rPr>
              <a:t>IKE</a:t>
            </a:r>
            <a:r>
              <a:rPr lang="en-HU" sz="1700" b="1">
                <a:solidFill>
                  <a:srgbClr val="233A59"/>
                </a:solidFill>
              </a:rPr>
              <a:t>/</a:t>
            </a:r>
            <a:r>
              <a:rPr sz="1700" b="1">
                <a:solidFill>
                  <a:srgbClr val="233A59"/>
                </a:solidFill>
              </a:rPr>
              <a:t>IPsec SAs, protected route and counters </a:t>
            </a:r>
            <a:r>
              <a:rPr lang="en-GB" sz="1700" b="1">
                <a:solidFill>
                  <a:srgbClr val="233A59"/>
                </a:solidFill>
              </a:rPr>
              <a:t>are correct; observe shortcut/OSPF state when prevalidated</a:t>
            </a:r>
            <a:r>
              <a:rPr sz="1700" b="1">
                <a:solidFill>
                  <a:srgbClr val="233A59"/>
                </a:solidFill>
              </a:rPr>
              <a:t>.</a:t>
            </a:r>
          </a:p>
        </p:txBody>
      </p:sp>
      <p:sp>
        <p:nvSpPr>
          <p:cNvPr id="28" name="TextBox 27"/>
          <p:cNvSpPr txBox="1"/>
          <p:nvPr/>
        </p:nvSpPr>
        <p:spPr>
          <a:xfrm>
            <a:off x="658368" y="5833872"/>
            <a:ext cx="731520" cy="182880"/>
          </a:xfrm>
          <a:prstGeom prst="rect">
            <a:avLst/>
          </a:prstGeom>
          <a:noFill/>
        </p:spPr>
        <p:txBody>
          <a:bodyPr wrap="square" lIns="36576" tIns="36576" rIns="36576" bIns="36576" anchor="t">
            <a:spAutoFit/>
          </a:bodyPr>
          <a:lstStyle/>
          <a:p>
            <a:pPr algn="l">
              <a:spcAft>
                <a:spcPts val="0"/>
              </a:spcAft>
            </a:pPr>
            <a:r>
              <a:rPr sz="1000" b="1">
                <a:solidFill>
                  <a:srgbClr val="E60012"/>
                </a:solidFill>
              </a:rPr>
              <a:t>LESSON</a:t>
            </a:r>
          </a:p>
        </p:txBody>
      </p:sp>
      <p:sp>
        <p:nvSpPr>
          <p:cNvPr id="29" name="TextBox 28"/>
          <p:cNvSpPr txBox="1"/>
          <p:nvPr/>
        </p:nvSpPr>
        <p:spPr>
          <a:xfrm>
            <a:off x="1417320" y="5769864"/>
            <a:ext cx="9875520" cy="384048"/>
          </a:xfrm>
          <a:prstGeom prst="rect">
            <a:avLst/>
          </a:prstGeom>
          <a:noFill/>
        </p:spPr>
        <p:txBody>
          <a:bodyPr wrap="square" lIns="36576" tIns="36576" rIns="36576" bIns="36576" anchor="t">
            <a:spAutoFit/>
          </a:bodyPr>
          <a:lstStyle/>
          <a:p>
            <a:pPr algn="l">
              <a:spcAft>
                <a:spcPts val="0"/>
              </a:spcAft>
            </a:pPr>
            <a:r>
              <a:rPr sz="1300" b="1">
                <a:solidFill>
                  <a:srgbClr val="233A59"/>
                </a:solidFill>
              </a:rPr>
              <a:t>Each step names a FortiGate state or packet change that can be checked directly; stop when the failed step is identified.</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p:nvPr/>
        </p:nvSpPr>
        <p:spPr>
          <a:xfrm>
            <a:off x="502920" y="411480"/>
            <a:ext cx="548640" cy="189283"/>
          </a:xfrm>
          <a:prstGeom prst="rect">
            <a:avLst/>
          </a:prstGeom>
          <a:noFill/>
        </p:spPr>
        <p:txBody>
          <a:bodyPr wrap="square" lIns="36576" tIns="36576" rIns="36576" bIns="36576" anchor="t">
            <a:spAutoFit/>
          </a:bodyPr>
          <a:lstStyle/>
          <a:p>
            <a:pPr algn="l">
              <a:spcAft>
                <a:spcPts val="0"/>
              </a:spcAft>
            </a:pPr>
            <a:r>
              <a:rPr lang="en-HU" sz="750" b="1">
                <a:solidFill>
                  <a:srgbClr val="687385"/>
                </a:solidFill>
              </a:rPr>
              <a:t>119</a:t>
            </a:r>
            <a:endParaRPr sz="750" b="1">
              <a:solidFill>
                <a:srgbClr val="687385"/>
              </a:solidFill>
            </a:endParaRPr>
          </a:p>
        </p:txBody>
      </p:sp>
      <p:sp>
        <p:nvSpPr>
          <p:cNvPr id="4" name="TextBox 3"/>
          <p:cNvSpPr txBox="1"/>
          <p:nvPr/>
        </p:nvSpPr>
        <p:spPr>
          <a:xfrm>
            <a:off x="502920" y="621792"/>
            <a:ext cx="11109960" cy="548640"/>
          </a:xfrm>
          <a:prstGeom prst="rect">
            <a:avLst/>
          </a:prstGeom>
          <a:noFill/>
        </p:spPr>
        <p:txBody>
          <a:bodyPr wrap="square" lIns="36576" tIns="36576" rIns="36576" bIns="36576" anchor="t">
            <a:spAutoFit/>
          </a:bodyPr>
          <a:lstStyle/>
          <a:p>
            <a:pPr algn="l">
              <a:spcAft>
                <a:spcPts val="0"/>
              </a:spcAft>
            </a:pPr>
            <a:r>
              <a:rPr sz="2600" b="1">
                <a:solidFill>
                  <a:srgbClr val="1E2B40"/>
                </a:solidFill>
              </a:rPr>
              <a:t>Common mistakes—and how to correct them</a:t>
            </a:r>
          </a:p>
        </p:txBody>
      </p:sp>
      <p:cxnSp>
        <p:nvCxnSpPr>
          <p:cNvPr id="5" name="Connector 4"/>
          <p:cNvCxnSpPr/>
          <p:nvPr/>
        </p:nvCxnSpPr>
        <p:spPr>
          <a:xfrm>
            <a:off x="502920" y="6473952"/>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109960" y="6537960"/>
            <a:ext cx="502920" cy="189283"/>
          </a:xfrm>
          <a:prstGeom prst="rect">
            <a:avLst/>
          </a:prstGeom>
          <a:noFill/>
        </p:spPr>
        <p:txBody>
          <a:bodyPr wrap="square" lIns="36576" tIns="36576" rIns="36576" bIns="36576" anchor="t">
            <a:spAutoFit/>
          </a:bodyPr>
          <a:lstStyle/>
          <a:p>
            <a:pPr algn="r">
              <a:spcAft>
                <a:spcPts val="0"/>
              </a:spcAft>
            </a:pPr>
            <a:r>
              <a:rPr lang="en-HU" sz="750" b="0">
                <a:solidFill>
                  <a:srgbClr val="687385"/>
                </a:solidFill>
              </a:rPr>
              <a:t>119</a:t>
            </a:r>
            <a:endParaRPr sz="750" b="0">
              <a:solidFill>
                <a:srgbClr val="687385"/>
              </a:solidFill>
            </a:endParaRPr>
          </a:p>
        </p:txBody>
      </p:sp>
      <p:sp>
        <p:nvSpPr>
          <p:cNvPr id="7" name="TextBox 6"/>
          <p:cNvSpPr txBox="1">
            <a:spLocks/>
          </p:cNvSpPr>
          <p:nvPr/>
        </p:nvSpPr>
        <p:spPr>
          <a:xfrm>
            <a:off x="685800" y="1417320"/>
            <a:ext cx="3291840" cy="243143"/>
          </a:xfrm>
          <a:prstGeom prst="rect">
            <a:avLst/>
          </a:prstGeom>
          <a:noFill/>
        </p:spPr>
        <p:txBody>
          <a:bodyPr wrap="square" lIns="36576" tIns="36576" rIns="36576" bIns="36576" anchor="t">
            <a:spAutoFit/>
          </a:bodyPr>
          <a:lstStyle/>
          <a:p>
            <a:pPr algn="l">
              <a:spcAft>
                <a:spcPts val="0"/>
              </a:spcAft>
            </a:pPr>
            <a:r>
              <a:rPr lang="en-GB" sz="1100" b="1">
                <a:solidFill>
                  <a:srgbClr val="E60012"/>
                </a:solidFill>
              </a:rPr>
              <a:t>MISTAKE</a:t>
            </a:r>
          </a:p>
        </p:txBody>
      </p:sp>
      <p:sp>
        <p:nvSpPr>
          <p:cNvPr id="8" name="TextBox 7"/>
          <p:cNvSpPr txBox="1">
            <a:spLocks/>
          </p:cNvSpPr>
          <p:nvPr/>
        </p:nvSpPr>
        <p:spPr>
          <a:xfrm>
            <a:off x="4160520" y="1417320"/>
            <a:ext cx="7040880" cy="243143"/>
          </a:xfrm>
          <a:prstGeom prst="rect">
            <a:avLst/>
          </a:prstGeom>
          <a:noFill/>
        </p:spPr>
        <p:txBody>
          <a:bodyPr wrap="square" lIns="36576" tIns="36576" rIns="36576" bIns="36576" anchor="t">
            <a:spAutoFit/>
          </a:bodyPr>
          <a:lstStyle/>
          <a:p>
            <a:pPr algn="l">
              <a:spcAft>
                <a:spcPts val="0"/>
              </a:spcAft>
            </a:pPr>
            <a:r>
              <a:rPr lang="en-GB" sz="1100" b="1">
                <a:solidFill>
                  <a:srgbClr val="E60012"/>
                </a:solidFill>
              </a:rPr>
              <a:t>CORRECTION — AND WHY IT HELPS</a:t>
            </a:r>
          </a:p>
        </p:txBody>
      </p:sp>
      <p:sp>
        <p:nvSpPr>
          <p:cNvPr id="9" name="TextBox 8"/>
          <p:cNvSpPr txBox="1">
            <a:spLocks/>
          </p:cNvSpPr>
          <p:nvPr/>
        </p:nvSpPr>
        <p:spPr>
          <a:xfrm>
            <a:off x="685800" y="1783080"/>
            <a:ext cx="3108960" cy="320088"/>
          </a:xfrm>
          <a:prstGeom prst="rect">
            <a:avLst/>
          </a:prstGeom>
          <a:noFill/>
        </p:spPr>
        <p:txBody>
          <a:bodyPr wrap="square" lIns="36576" tIns="36576" rIns="36576" bIns="36576" anchor="t">
            <a:spAutoFit/>
          </a:bodyPr>
          <a:lstStyle/>
          <a:p>
            <a:pPr algn="l">
              <a:spcAft>
                <a:spcPts val="0"/>
              </a:spcAft>
            </a:pPr>
            <a:r>
              <a:rPr lang="en-GB" sz="1600" b="1">
                <a:solidFill>
                  <a:srgbClr val="1E2B40"/>
                </a:solidFill>
              </a:rPr>
              <a:t>Check only tunnel-up status</a:t>
            </a:r>
          </a:p>
        </p:txBody>
      </p:sp>
      <p:cxnSp>
        <p:nvCxnSpPr>
          <p:cNvPr id="10" name="Connector 9"/>
          <p:cNvCxnSpPr/>
          <p:nvPr/>
        </p:nvCxnSpPr>
        <p:spPr>
          <a:xfrm>
            <a:off x="3931920" y="1737360"/>
            <a:ext cx="0" cy="96012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251960" y="1783080"/>
            <a:ext cx="6903720" cy="822960"/>
          </a:xfrm>
          <a:prstGeom prst="rect">
            <a:avLst/>
          </a:prstGeom>
          <a:noFill/>
        </p:spPr>
        <p:txBody>
          <a:bodyPr wrap="square" lIns="36576" tIns="36576" rIns="36576" bIns="36576" anchor="t">
            <a:spAutoFit/>
          </a:bodyPr>
          <a:lstStyle/>
          <a:p>
            <a:pPr algn="l">
              <a:spcAft>
                <a:spcPts val="0"/>
              </a:spcAft>
            </a:pPr>
            <a:r>
              <a:rPr sz="1600" b="0">
                <a:solidFill>
                  <a:srgbClr val="233A59"/>
                </a:solidFill>
              </a:rPr>
              <a:t>Verify selectors, route, policy and bidirectional counters; IKE state alone does not carry traffic.</a:t>
            </a:r>
          </a:p>
        </p:txBody>
      </p:sp>
      <p:cxnSp>
        <p:nvCxnSpPr>
          <p:cNvPr id="12" name="Connector 11"/>
          <p:cNvCxnSpPr/>
          <p:nvPr/>
        </p:nvCxnSpPr>
        <p:spPr>
          <a:xfrm>
            <a:off x="685800" y="2834639"/>
            <a:ext cx="10469880"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13" name="TextBox 12"/>
          <p:cNvSpPr txBox="1">
            <a:spLocks/>
          </p:cNvSpPr>
          <p:nvPr/>
        </p:nvSpPr>
        <p:spPr>
          <a:xfrm>
            <a:off x="685800" y="3081528"/>
            <a:ext cx="3108960" cy="566309"/>
          </a:xfrm>
          <a:prstGeom prst="rect">
            <a:avLst/>
          </a:prstGeom>
          <a:noFill/>
        </p:spPr>
        <p:txBody>
          <a:bodyPr wrap="square" lIns="36576" tIns="36576" rIns="36576" bIns="36576" anchor="t">
            <a:spAutoFit/>
          </a:bodyPr>
          <a:lstStyle/>
          <a:p>
            <a:pPr algn="l">
              <a:spcAft>
                <a:spcPts val="0"/>
              </a:spcAft>
            </a:pPr>
            <a:r>
              <a:rPr lang="en-GB" sz="1600" b="1">
                <a:solidFill>
                  <a:srgbClr val="1E2B40"/>
                </a:solidFill>
              </a:rPr>
              <a:t>Confuse underlay and overlay routes</a:t>
            </a:r>
          </a:p>
        </p:txBody>
      </p:sp>
      <p:cxnSp>
        <p:nvCxnSpPr>
          <p:cNvPr id="14" name="Connector 13"/>
          <p:cNvCxnSpPr/>
          <p:nvPr/>
        </p:nvCxnSpPr>
        <p:spPr>
          <a:xfrm>
            <a:off x="3931920" y="3035808"/>
            <a:ext cx="0" cy="96012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5" name="TextBox 14"/>
          <p:cNvSpPr txBox="1">
            <a:spLocks/>
          </p:cNvSpPr>
          <p:nvPr/>
        </p:nvSpPr>
        <p:spPr>
          <a:xfrm>
            <a:off x="4251960" y="3081528"/>
            <a:ext cx="6903720" cy="566309"/>
          </a:xfrm>
          <a:prstGeom prst="rect">
            <a:avLst/>
          </a:prstGeom>
          <a:noFill/>
        </p:spPr>
        <p:txBody>
          <a:bodyPr wrap="square" lIns="36576" tIns="36576" rIns="36576" bIns="36576" anchor="t">
            <a:spAutoFit/>
          </a:bodyPr>
          <a:lstStyle/>
          <a:p>
            <a:pPr algn="l">
              <a:spcAft>
                <a:spcPts val="0"/>
              </a:spcAft>
            </a:pPr>
            <a:r>
              <a:rPr lang="en-GB" sz="1600" b="0">
                <a:solidFill>
                  <a:srgbClr val="233A59"/>
                </a:solidFill>
              </a:rPr>
              <a:t>Check peer reachability separately from protected-prefix routes; they solve different paths.</a:t>
            </a:r>
          </a:p>
        </p:txBody>
      </p:sp>
      <p:cxnSp>
        <p:nvCxnSpPr>
          <p:cNvPr id="16" name="Connector 15"/>
          <p:cNvCxnSpPr/>
          <p:nvPr/>
        </p:nvCxnSpPr>
        <p:spPr>
          <a:xfrm>
            <a:off x="685800" y="4133087"/>
            <a:ext cx="10469880"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17" name="TextBox 16"/>
          <p:cNvSpPr txBox="1">
            <a:spLocks/>
          </p:cNvSpPr>
          <p:nvPr/>
        </p:nvSpPr>
        <p:spPr>
          <a:xfrm>
            <a:off x="685800" y="4379976"/>
            <a:ext cx="3108960" cy="566309"/>
          </a:xfrm>
          <a:prstGeom prst="rect">
            <a:avLst/>
          </a:prstGeom>
          <a:noFill/>
        </p:spPr>
        <p:txBody>
          <a:bodyPr wrap="square" lIns="36576" tIns="36576" rIns="36576" bIns="36576" anchor="t">
            <a:spAutoFit/>
          </a:bodyPr>
          <a:lstStyle/>
          <a:p>
            <a:pPr algn="l">
              <a:spcAft>
                <a:spcPts val="0"/>
              </a:spcAft>
            </a:pPr>
            <a:r>
              <a:rPr lang="en-GB" sz="1600" b="1">
                <a:solidFill>
                  <a:srgbClr val="1E2B40"/>
                </a:solidFill>
              </a:rPr>
              <a:t>Copy one ADVPN recipe everywhere</a:t>
            </a:r>
          </a:p>
        </p:txBody>
      </p:sp>
      <p:cxnSp>
        <p:nvCxnSpPr>
          <p:cNvPr id="18" name="Connector 17"/>
          <p:cNvCxnSpPr/>
          <p:nvPr/>
        </p:nvCxnSpPr>
        <p:spPr>
          <a:xfrm>
            <a:off x="3931920" y="4334256"/>
            <a:ext cx="0" cy="96012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251960" y="4379976"/>
            <a:ext cx="6903720" cy="822960"/>
          </a:xfrm>
          <a:prstGeom prst="rect">
            <a:avLst/>
          </a:prstGeom>
          <a:noFill/>
        </p:spPr>
        <p:txBody>
          <a:bodyPr wrap="square" lIns="36576" tIns="36576" rIns="36576" bIns="36576" anchor="t">
            <a:spAutoFit/>
          </a:bodyPr>
          <a:lstStyle/>
          <a:p>
            <a:pPr algn="l">
              <a:spcAft>
                <a:spcPts val="0"/>
              </a:spcAft>
            </a:pPr>
            <a:r>
              <a:rPr sz="1600" b="0">
                <a:solidFill>
                  <a:srgbClr val="233A59"/>
                </a:solidFill>
              </a:rPr>
              <a:t>Confirm the supported 7.6.7 ADVPN generation and routing design before configuration.</a:t>
            </a:r>
          </a:p>
        </p:txBody>
      </p:sp>
      <p:cxnSp>
        <p:nvCxnSpPr>
          <p:cNvPr id="20" name="Connector 19"/>
          <p:cNvCxnSpPr/>
          <p:nvPr/>
        </p:nvCxnSpPr>
        <p:spPr>
          <a:xfrm>
            <a:off x="685800" y="5431536"/>
            <a:ext cx="10469880"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58368" y="5833872"/>
            <a:ext cx="731520" cy="182880"/>
          </a:xfrm>
          <a:prstGeom prst="rect">
            <a:avLst/>
          </a:prstGeom>
          <a:noFill/>
        </p:spPr>
        <p:txBody>
          <a:bodyPr wrap="square" lIns="36576" tIns="36576" rIns="36576" bIns="36576" anchor="t">
            <a:spAutoFit/>
          </a:bodyPr>
          <a:lstStyle/>
          <a:p>
            <a:pPr algn="l">
              <a:spcAft>
                <a:spcPts val="0"/>
              </a:spcAft>
            </a:pPr>
            <a:r>
              <a:rPr sz="1000" b="1">
                <a:solidFill>
                  <a:srgbClr val="E60012"/>
                </a:solidFill>
              </a:rPr>
              <a:t>LESSON</a:t>
            </a:r>
          </a:p>
        </p:txBody>
      </p:sp>
      <p:sp>
        <p:nvSpPr>
          <p:cNvPr id="22" name="TextBox 21"/>
          <p:cNvSpPr txBox="1"/>
          <p:nvPr/>
        </p:nvSpPr>
        <p:spPr>
          <a:xfrm>
            <a:off x="1417320" y="5769864"/>
            <a:ext cx="9875520" cy="384048"/>
          </a:xfrm>
          <a:prstGeom prst="rect">
            <a:avLst/>
          </a:prstGeom>
          <a:noFill/>
        </p:spPr>
        <p:txBody>
          <a:bodyPr wrap="square" lIns="36576" tIns="36576" rIns="36576" bIns="36576" anchor="t">
            <a:spAutoFit/>
          </a:bodyPr>
          <a:lstStyle/>
          <a:p>
            <a:pPr algn="l">
              <a:spcAft>
                <a:spcPts val="0"/>
              </a:spcAft>
            </a:pPr>
            <a:r>
              <a:rPr sz="1300" b="1">
                <a:solidFill>
                  <a:srgbClr val="233A59"/>
                </a:solidFill>
              </a:rPr>
              <a:t>A correction changes a concrete configuration, test or interpretation—not merely the wording used to describe it.</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120</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Troubleshooting workflow: narrow the failed decision</a:t>
            </a:r>
          </a:p>
        </p:txBody>
      </p:sp>
      <p:sp>
        <p:nvSpPr>
          <p:cNvPr id="10" name="Rectangle 9"/>
          <p:cNvSpPr/>
          <p:nvPr/>
        </p:nvSpPr>
        <p:spPr>
          <a:xfrm>
            <a:off x="658368"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1" name="TextBox 10"/>
          <p:cNvSpPr txBox="1">
            <a:spLocks/>
          </p:cNvSpPr>
          <p:nvPr/>
        </p:nvSpPr>
        <p:spPr>
          <a:xfrm>
            <a:off x="768096" y="2020824"/>
            <a:ext cx="411480" cy="219456"/>
          </a:xfrm>
          <a:prstGeom prst="rect">
            <a:avLst/>
          </a:prstGeom>
          <a:noFill/>
        </p:spPr>
        <p:txBody>
          <a:bodyPr wrap="square" lIns="27432" tIns="27432" rIns="27432" bIns="27432" anchor="t">
            <a:spAutoFit/>
          </a:bodyPr>
          <a:lstStyle/>
          <a:p>
            <a:pPr algn="l">
              <a:spcAft>
                <a:spcPts val="0"/>
              </a:spcAft>
            </a:pPr>
            <a:r>
              <a:rPr lang="en-HU" sz="1100" b="1">
                <a:solidFill>
                  <a:srgbClr val="E60012"/>
                </a:solidFill>
              </a:rPr>
              <a:t>01</a:t>
            </a:r>
          </a:p>
        </p:txBody>
      </p:sp>
      <p:sp>
        <p:nvSpPr>
          <p:cNvPr id="12" name="TextBox 11"/>
          <p:cNvSpPr txBox="1">
            <a:spLocks/>
          </p:cNvSpPr>
          <p:nvPr/>
        </p:nvSpPr>
        <p:spPr>
          <a:xfrm>
            <a:off x="768096" y="2340864"/>
            <a:ext cx="1830628" cy="603504"/>
          </a:xfrm>
          <a:prstGeom prst="rect">
            <a:avLst/>
          </a:prstGeom>
          <a:noFill/>
        </p:spPr>
        <p:txBody>
          <a:bodyPr wrap="square" lIns="27432" tIns="27432" rIns="27432" bIns="27432" anchor="ctr">
            <a:spAutoFit/>
          </a:bodyPr>
          <a:lstStyle/>
          <a:p>
            <a:pPr algn="ctr">
              <a:spcAft>
                <a:spcPts val="0"/>
              </a:spcAft>
            </a:pPr>
            <a:r>
              <a:rPr lang="en-GB" sz="1400" b="1">
                <a:solidFill>
                  <a:srgbClr val="1E2B40"/>
                </a:solidFill>
              </a:rPr>
              <a:t>Prove underlay route and UDP/500/4500 reachability</a:t>
            </a:r>
          </a:p>
        </p:txBody>
      </p:sp>
      <p:cxnSp>
        <p:nvCxnSpPr>
          <p:cNvPr id="13" name="Connector 12"/>
          <p:cNvCxnSpPr/>
          <p:nvPr/>
        </p:nvCxnSpPr>
        <p:spPr>
          <a:xfrm>
            <a:off x="2708452"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2854756"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5" name="TextBox 14"/>
          <p:cNvSpPr txBox="1">
            <a:spLocks/>
          </p:cNvSpPr>
          <p:nvPr/>
        </p:nvSpPr>
        <p:spPr>
          <a:xfrm>
            <a:off x="2964484" y="2020824"/>
            <a:ext cx="411480" cy="219456"/>
          </a:xfrm>
          <a:prstGeom prst="rect">
            <a:avLst/>
          </a:prstGeom>
          <a:noFill/>
        </p:spPr>
        <p:txBody>
          <a:bodyPr wrap="square" lIns="27432" tIns="27432" rIns="27432" bIns="27432" anchor="t">
            <a:spAutoFit/>
          </a:bodyPr>
          <a:lstStyle/>
          <a:p>
            <a:pPr algn="l">
              <a:spcAft>
                <a:spcPts val="0"/>
              </a:spcAft>
            </a:pPr>
            <a:r>
              <a:rPr lang="en-HU" sz="1100" b="1">
                <a:solidFill>
                  <a:srgbClr val="E60012"/>
                </a:solidFill>
              </a:rPr>
              <a:t>02</a:t>
            </a:r>
          </a:p>
        </p:txBody>
      </p:sp>
      <p:sp>
        <p:nvSpPr>
          <p:cNvPr id="16" name="TextBox 15"/>
          <p:cNvSpPr txBox="1">
            <a:spLocks/>
          </p:cNvSpPr>
          <p:nvPr/>
        </p:nvSpPr>
        <p:spPr>
          <a:xfrm>
            <a:off x="2964484" y="2340864"/>
            <a:ext cx="1830628" cy="603504"/>
          </a:xfrm>
          <a:prstGeom prst="rect">
            <a:avLst/>
          </a:prstGeom>
          <a:noFill/>
        </p:spPr>
        <p:txBody>
          <a:bodyPr wrap="square" lIns="27432" tIns="27432" rIns="27432" bIns="27432" anchor="ctr">
            <a:spAutoFit/>
          </a:bodyPr>
          <a:lstStyle/>
          <a:p>
            <a:pPr algn="ctr">
              <a:spcAft>
                <a:spcPts val="0"/>
              </a:spcAft>
            </a:pPr>
            <a:r>
              <a:rPr lang="en-GB" sz="1400" b="1">
                <a:solidFill>
                  <a:srgbClr val="1E2B40"/>
                </a:solidFill>
              </a:rPr>
              <a:t>Validate Phase 1 identity/proposal/authentication</a:t>
            </a:r>
          </a:p>
        </p:txBody>
      </p:sp>
      <p:cxnSp>
        <p:nvCxnSpPr>
          <p:cNvPr id="17" name="Connector 16"/>
          <p:cNvCxnSpPr/>
          <p:nvPr/>
        </p:nvCxnSpPr>
        <p:spPr>
          <a:xfrm>
            <a:off x="4904841"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5051145"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9" name="TextBox 18"/>
          <p:cNvSpPr txBox="1">
            <a:spLocks/>
          </p:cNvSpPr>
          <p:nvPr/>
        </p:nvSpPr>
        <p:spPr>
          <a:xfrm>
            <a:off x="5160873" y="2020824"/>
            <a:ext cx="411480" cy="219456"/>
          </a:xfrm>
          <a:prstGeom prst="rect">
            <a:avLst/>
          </a:prstGeom>
          <a:noFill/>
        </p:spPr>
        <p:txBody>
          <a:bodyPr wrap="square" lIns="27432" tIns="27432" rIns="27432" bIns="27432" anchor="t">
            <a:spAutoFit/>
          </a:bodyPr>
          <a:lstStyle/>
          <a:p>
            <a:pPr algn="l">
              <a:spcAft>
                <a:spcPts val="0"/>
              </a:spcAft>
            </a:pPr>
            <a:r>
              <a:rPr lang="en-HU" sz="1100" b="1">
                <a:solidFill>
                  <a:srgbClr val="E60012"/>
                </a:solidFill>
              </a:rPr>
              <a:t>03</a:t>
            </a:r>
          </a:p>
        </p:txBody>
      </p:sp>
      <p:sp>
        <p:nvSpPr>
          <p:cNvPr id="20" name="TextBox 19"/>
          <p:cNvSpPr txBox="1">
            <a:spLocks/>
          </p:cNvSpPr>
          <p:nvPr/>
        </p:nvSpPr>
        <p:spPr>
          <a:xfrm>
            <a:off x="5160873" y="2340864"/>
            <a:ext cx="1830628" cy="603504"/>
          </a:xfrm>
          <a:prstGeom prst="rect">
            <a:avLst/>
          </a:prstGeom>
          <a:noFill/>
        </p:spPr>
        <p:txBody>
          <a:bodyPr wrap="square" lIns="27432" tIns="27432" rIns="27432" bIns="27432" anchor="ctr">
            <a:spAutoFit/>
          </a:bodyPr>
          <a:lstStyle/>
          <a:p>
            <a:pPr algn="ctr">
              <a:spcAft>
                <a:spcPts val="0"/>
              </a:spcAft>
            </a:pPr>
            <a:r>
              <a:rPr lang="en-GB" sz="1400" b="1">
                <a:solidFill>
                  <a:srgbClr val="1E2B40"/>
                </a:solidFill>
              </a:rPr>
              <a:t>Validate Phase 2 selectors/proposals and counters</a:t>
            </a:r>
          </a:p>
        </p:txBody>
      </p:sp>
      <p:cxnSp>
        <p:nvCxnSpPr>
          <p:cNvPr id="21" name="Connector 20"/>
          <p:cNvCxnSpPr/>
          <p:nvPr/>
        </p:nvCxnSpPr>
        <p:spPr>
          <a:xfrm>
            <a:off x="7101230"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7247534"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357262" y="2020824"/>
            <a:ext cx="411480" cy="219456"/>
          </a:xfrm>
          <a:prstGeom prst="rect">
            <a:avLst/>
          </a:prstGeom>
          <a:noFill/>
        </p:spPr>
        <p:txBody>
          <a:bodyPr wrap="square" lIns="27432" tIns="27432" rIns="27432" bIns="27432" anchor="t">
            <a:spAutoFit/>
          </a:bodyPr>
          <a:lstStyle/>
          <a:p>
            <a:pPr algn="l">
              <a:spcAft>
                <a:spcPts val="0"/>
              </a:spcAft>
            </a:pPr>
            <a:r>
              <a:rPr sz="1100" b="1">
                <a:solidFill>
                  <a:srgbClr val="E60012"/>
                </a:solidFill>
              </a:rPr>
              <a:t>04</a:t>
            </a:r>
          </a:p>
        </p:txBody>
      </p:sp>
      <p:sp>
        <p:nvSpPr>
          <p:cNvPr id="24" name="TextBox 23"/>
          <p:cNvSpPr txBox="1"/>
          <p:nvPr/>
        </p:nvSpPr>
        <p:spPr>
          <a:xfrm>
            <a:off x="7357262" y="2340864"/>
            <a:ext cx="1830628" cy="603504"/>
          </a:xfrm>
          <a:prstGeom prst="rect">
            <a:avLst/>
          </a:prstGeom>
          <a:noFill/>
        </p:spPr>
        <p:txBody>
          <a:bodyPr wrap="square" lIns="27432" tIns="27432" rIns="27432" bIns="27432" anchor="ctr">
            <a:spAutoFit/>
          </a:bodyPr>
          <a:lstStyle/>
          <a:p>
            <a:pPr algn="ctr">
              <a:spcAft>
                <a:spcPts val="0"/>
              </a:spcAft>
            </a:pPr>
            <a:r>
              <a:rPr sz="1400" b="1">
                <a:solidFill>
                  <a:srgbClr val="1E2B40"/>
                </a:solidFill>
              </a:rPr>
              <a:t>Check overlay route, policies and return path</a:t>
            </a:r>
          </a:p>
        </p:txBody>
      </p:sp>
      <p:cxnSp>
        <p:nvCxnSpPr>
          <p:cNvPr id="25" name="Connector 24"/>
          <p:cNvCxnSpPr/>
          <p:nvPr/>
        </p:nvCxnSpPr>
        <p:spPr>
          <a:xfrm>
            <a:off x="9297619"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9443923"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553651" y="2020824"/>
            <a:ext cx="411480" cy="219456"/>
          </a:xfrm>
          <a:prstGeom prst="rect">
            <a:avLst/>
          </a:prstGeom>
          <a:noFill/>
        </p:spPr>
        <p:txBody>
          <a:bodyPr wrap="square" lIns="27432" tIns="27432" rIns="27432" bIns="27432" anchor="t">
            <a:spAutoFit/>
          </a:bodyPr>
          <a:lstStyle/>
          <a:p>
            <a:pPr algn="l">
              <a:spcAft>
                <a:spcPts val="0"/>
              </a:spcAft>
            </a:pPr>
            <a:r>
              <a:rPr sz="1100" b="1">
                <a:solidFill>
                  <a:srgbClr val="E60012"/>
                </a:solidFill>
              </a:rPr>
              <a:t>05</a:t>
            </a:r>
          </a:p>
        </p:txBody>
      </p:sp>
      <p:sp>
        <p:nvSpPr>
          <p:cNvPr id="28" name="TextBox 27"/>
          <p:cNvSpPr txBox="1"/>
          <p:nvPr/>
        </p:nvSpPr>
        <p:spPr>
          <a:xfrm>
            <a:off x="9553651" y="2340864"/>
            <a:ext cx="1830628" cy="603504"/>
          </a:xfrm>
          <a:prstGeom prst="rect">
            <a:avLst/>
          </a:prstGeom>
          <a:noFill/>
        </p:spPr>
        <p:txBody>
          <a:bodyPr wrap="square" lIns="27432" tIns="27432" rIns="27432" bIns="27432" anchor="ctr">
            <a:spAutoFit/>
          </a:bodyPr>
          <a:lstStyle/>
          <a:p>
            <a:pPr algn="ctr">
              <a:spcAft>
                <a:spcPts val="0"/>
              </a:spcAft>
            </a:pPr>
            <a:r>
              <a:rPr sz="1400" b="1">
                <a:solidFill>
                  <a:srgbClr val="1E2B40"/>
                </a:solidFill>
              </a:rPr>
              <a:t>Capture filtered packets/IKE diagnostics; reset debug</a:t>
            </a:r>
          </a:p>
        </p:txBody>
      </p:sp>
      <p:sp>
        <p:nvSpPr>
          <p:cNvPr id="29" name="TextBox 28"/>
          <p:cNvSpPr txBox="1"/>
          <p:nvPr/>
        </p:nvSpPr>
        <p:spPr>
          <a:xfrm>
            <a:off x="658368" y="3703320"/>
            <a:ext cx="2011680" cy="256032"/>
          </a:xfrm>
          <a:prstGeom prst="rect">
            <a:avLst/>
          </a:prstGeom>
          <a:noFill/>
        </p:spPr>
        <p:txBody>
          <a:bodyPr wrap="square" lIns="27432" tIns="27432" rIns="27432" bIns="27432" anchor="t">
            <a:spAutoFit/>
          </a:bodyPr>
          <a:lstStyle/>
          <a:p>
            <a:pPr algn="l">
              <a:spcAft>
                <a:spcPts val="0"/>
              </a:spcAft>
            </a:pPr>
            <a:r>
              <a:rPr sz="1100" b="1">
                <a:solidFill>
                  <a:srgbClr val="E60012"/>
                </a:solidFill>
              </a:rPr>
              <a:t>What to observe</a:t>
            </a:r>
          </a:p>
        </p:txBody>
      </p:sp>
      <p:sp>
        <p:nvSpPr>
          <p:cNvPr id="30" name="TextBox 29"/>
          <p:cNvSpPr txBox="1"/>
          <p:nvPr/>
        </p:nvSpPr>
        <p:spPr>
          <a:xfrm>
            <a:off x="658368" y="4050791"/>
            <a:ext cx="6446520" cy="1508760"/>
          </a:xfrm>
          <a:prstGeom prst="rect">
            <a:avLst/>
          </a:prstGeom>
          <a:noFill/>
        </p:spPr>
        <p:txBody>
          <a:bodyPr wrap="square" lIns="109728" tIns="73152" rIns="109728" bIns="73152" anchor="t">
            <a:spAutoFit/>
          </a:bodyPr>
          <a:lstStyle/>
          <a:p>
            <a:pPr algn="l">
              <a:lnSpc>
                <a:spcPct val="105000"/>
              </a:lnSpc>
              <a:spcAft>
                <a:spcPts val="700"/>
              </a:spcAft>
              <a:defRPr sz="1600">
                <a:solidFill>
                  <a:srgbClr val="1E2B40"/>
                </a:solidFill>
              </a:defRPr>
            </a:pPr>
            <a:r>
              <a:t>• Validate Phase 2 selectors/proposals and counters</a:t>
            </a:r>
          </a:p>
          <a:p>
            <a:pPr>
              <a:lnSpc>
                <a:spcPct val="105000"/>
              </a:lnSpc>
              <a:spcAft>
                <a:spcPts val="700"/>
              </a:spcAft>
              <a:defRPr sz="1600">
                <a:solidFill>
                  <a:srgbClr val="1E2B40"/>
                </a:solidFill>
              </a:defRPr>
            </a:pPr>
            <a:r>
              <a:t>• Check overlay route, policies and return path</a:t>
            </a:r>
          </a:p>
          <a:p>
            <a:pPr>
              <a:lnSpc>
                <a:spcPct val="105000"/>
              </a:lnSpc>
              <a:spcAft>
                <a:spcPts val="700"/>
              </a:spcAft>
              <a:defRPr sz="1600">
                <a:solidFill>
                  <a:srgbClr val="1E2B40"/>
                </a:solidFill>
              </a:defRPr>
            </a:pPr>
            <a:r>
              <a:t>• Capture filtered packets/IKE diagnostics; reset debug</a:t>
            </a:r>
          </a:p>
        </p:txBody>
      </p:sp>
      <p:cxnSp>
        <p:nvCxnSpPr>
          <p:cNvPr id="31" name="Connector 30"/>
          <p:cNvCxnSpPr/>
          <p:nvPr/>
        </p:nvCxnSpPr>
        <p:spPr>
          <a:xfrm>
            <a:off x="7452360" y="3703320"/>
            <a:ext cx="0" cy="2093976"/>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7772400" y="3703320"/>
            <a:ext cx="292608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INSTRUCTOR DEMONSTRATION</a:t>
            </a:r>
            <a:endParaRPr sz="1100" b="1">
              <a:solidFill>
                <a:srgbClr val="E60012"/>
              </a:solidFill>
            </a:endParaRPr>
          </a:p>
        </p:txBody>
      </p:sp>
      <p:sp>
        <p:nvSpPr>
          <p:cNvPr id="33" name="TextBox 32"/>
          <p:cNvSpPr txBox="1"/>
          <p:nvPr/>
        </p:nvSpPr>
        <p:spPr>
          <a:xfrm>
            <a:off x="7772400" y="4096512"/>
            <a:ext cx="3337560" cy="1234440"/>
          </a:xfrm>
          <a:prstGeom prst="rect">
            <a:avLst/>
          </a:prstGeom>
          <a:noFill/>
        </p:spPr>
        <p:txBody>
          <a:bodyPr wrap="square" lIns="27432" tIns="27432" rIns="27432" bIns="27432" anchor="t">
            <a:spAutoFit/>
          </a:bodyPr>
          <a:lstStyle/>
          <a:p>
            <a:pPr algn="l">
              <a:spcAft>
                <a:spcPts val="0"/>
              </a:spcAft>
            </a:pPr>
            <a:r>
              <a:rPr sz="1500" b="1">
                <a:solidFill>
                  <a:srgbClr val="233A59"/>
                </a:solidFill>
              </a:rPr>
              <a:t>Preserve timestamps and before/after state; stop/reset debug operations.</a:t>
            </a:r>
          </a:p>
        </p:txBody>
      </p:sp>
      <p:sp>
        <p:nvSpPr>
          <p:cNvPr id="34" name="TextBox 33"/>
          <p:cNvSpPr txBox="1"/>
          <p:nvPr/>
        </p:nvSpPr>
        <p:spPr>
          <a:xfrm>
            <a:off x="7772400" y="5440680"/>
            <a:ext cx="3337560" cy="363176"/>
          </a:xfrm>
          <a:prstGeom prst="rect">
            <a:avLst/>
          </a:prstGeom>
          <a:noFill/>
        </p:spPr>
        <p:txBody>
          <a:bodyPr wrap="square" lIns="27432" tIns="27432" rIns="27432" bIns="27432" anchor="t">
            <a:spAutoFit/>
          </a:bodyPr>
          <a:lstStyle/>
          <a:p>
            <a:pPr algn="l">
              <a:spcAft>
                <a:spcPts val="0"/>
              </a:spcAft>
            </a:pPr>
            <a:r>
              <a:rPr lang="en-GB" sz="1000" b="0">
                <a:solidFill>
                  <a:srgbClr val="687385"/>
                </a:solidFill>
              </a:rPr>
              <a:t>If debug is used, filter by the test tuple and disable</a:t>
            </a:r>
            <a:r>
              <a:rPr sz="1000" b="0">
                <a:solidFill>
                  <a:srgbClr val="687385"/>
                </a:solidFill>
              </a:rPr>
              <a:t>/reset </a:t>
            </a:r>
            <a:r>
              <a:rPr lang="en-GB" sz="1000" b="0">
                <a:solidFill>
                  <a:srgbClr val="687385"/>
                </a:solidFill>
              </a:rPr>
              <a:t>it immediately </a:t>
            </a:r>
            <a:r>
              <a:rPr sz="1000" b="0">
                <a:solidFill>
                  <a:srgbClr val="687385"/>
                </a:solidFill>
              </a:rPr>
              <a:t>after </a:t>
            </a:r>
            <a:r>
              <a:rPr lang="en-GB" sz="1000" b="0">
                <a:solidFill>
                  <a:srgbClr val="687385"/>
                </a:solidFill>
              </a:rPr>
              <a:t>capture</a:t>
            </a:r>
            <a:r>
              <a:rPr sz="1000" b="0">
                <a:solidFill>
                  <a:srgbClr val="687385"/>
                </a:solidFill>
              </a:rPr>
              <a:t>.</a:t>
            </a:r>
          </a:p>
        </p:txBody>
      </p:sp>
      <p:sp>
        <p:nvSpPr>
          <p:cNvPr id="35" name="TextBox 34"/>
          <p:cNvSpPr txBox="1"/>
          <p:nvPr/>
        </p:nvSpPr>
        <p:spPr>
          <a:xfrm>
            <a:off x="502920" y="420624"/>
            <a:ext cx="10744200" cy="130805"/>
          </a:xfrm>
          <a:prstGeom prst="rect">
            <a:avLst/>
          </a:prstGeom>
          <a:noFill/>
        </p:spPr>
        <p:txBody>
          <a:bodyPr wrap="square" lIns="0" tIns="0" rIns="0" bIns="0">
            <a:spAutoFit/>
          </a:bodyPr>
          <a:lstStyle/>
          <a:p>
            <a:pPr algn="l"/>
            <a:r>
              <a:rPr lang="en-HU" sz="850" b="1">
                <a:solidFill>
                  <a:srgbClr val="687385"/>
                </a:solidFill>
              </a:rPr>
              <a:t>120</a:t>
            </a:r>
            <a:r>
              <a:rPr sz="850" b="1">
                <a:solidFill>
                  <a:srgbClr val="687385"/>
                </a:solidFill>
              </a:rPr>
              <a:t> • DAY 3 • BLOCK 11 • IPsec &amp; ADVPN</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121</a:t>
            </a:r>
          </a:p>
        </p:txBody>
      </p:sp>
      <p:sp>
        <p:nvSpPr>
          <p:cNvPr id="9" name="TextBox 8"/>
          <p:cNvSpPr txBox="1">
            <a:spLocks/>
          </p:cNvSpPr>
          <p:nvPr/>
        </p:nvSpPr>
        <p:spPr>
          <a:xfrm>
            <a:off x="502920" y="621792"/>
            <a:ext cx="11109960" cy="455509"/>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Practical handoff: Build Hub-and-Spoke IPsec and Observe the Overlay</a:t>
            </a:r>
          </a:p>
        </p:txBody>
      </p:sp>
      <p:sp>
        <p:nvSpPr>
          <p:cNvPr id="10" name="TextBox 9"/>
          <p:cNvSpPr txBox="1">
            <a:spLocks/>
          </p:cNvSpPr>
          <p:nvPr/>
        </p:nvSpPr>
        <p:spPr>
          <a:xfrm>
            <a:off x="658368" y="1554480"/>
            <a:ext cx="6583680" cy="3571427"/>
          </a:xfrm>
          <a:prstGeom prst="rect">
            <a:avLst/>
          </a:prstGeom>
          <a:noFill/>
        </p:spPr>
        <p:txBody>
          <a:bodyPr wrap="square" lIns="109728" tIns="73152" rIns="109728" bIns="73152" anchor="t">
            <a:spAutoFit/>
          </a:bodyPr>
          <a:lstStyle/>
          <a:p>
            <a:pPr algn="l">
              <a:lnSpc>
                <a:spcPct val="105000"/>
              </a:lnSpc>
              <a:spcAft>
                <a:spcPts val="800"/>
              </a:spcAft>
              <a:defRPr sz="1700">
                <a:solidFill>
                  <a:srgbClr val="1E2B40"/>
                </a:solidFill>
              </a:defRPr>
            </a:pPr>
            <a:r>
              <a:rPr lang="en-GB"/>
              <a:t>• START / PREREQUISITES: Afternoon isolated baseline or separate tunnel; underlay reachability and protected prefixes confirmed.</a:t>
            </a:r>
          </a:p>
          <a:p>
            <a:pPr>
              <a:lnSpc>
                <a:spcPct val="105000"/>
              </a:lnSpc>
              <a:spcAft>
                <a:spcPts val="800"/>
              </a:spcAft>
              <a:defRPr sz="1700">
                <a:solidFill>
                  <a:srgbClr val="1E2B40"/>
                </a:solidFill>
              </a:defRPr>
            </a:pPr>
            <a:r>
              <a:rPr lang="en-GB"/>
              <a:t>• CHANGE / INVESTIGATE: Build route-based IPsec, observe hub/spoke state, then test ADVPN shortcut and OSPF-over-overlay objectives.</a:t>
            </a:r>
          </a:p>
          <a:p>
            <a:pPr>
              <a:lnSpc>
                <a:spcPct val="105000"/>
              </a:lnSpc>
              <a:spcAft>
                <a:spcPts val="800"/>
              </a:spcAft>
              <a:defRPr sz="1700">
                <a:solidFill>
                  <a:srgbClr val="1E2B40"/>
                </a:solidFill>
              </a:defRPr>
            </a:pPr>
            <a:r>
              <a:rPr lang="en-GB"/>
              <a:t>• EXPECTED RESULT: IKE/IPsec SAs, protected route and counters are correct; shortcut/OSPF state is observed when validated.</a:t>
            </a:r>
          </a:p>
          <a:p>
            <a:pPr>
              <a:lnSpc>
                <a:spcPct val="105000"/>
              </a:lnSpc>
              <a:spcAft>
                <a:spcPts val="800"/>
              </a:spcAft>
              <a:defRPr sz="1700">
                <a:solidFill>
                  <a:srgbClr val="1E2B40"/>
                </a:solidFill>
              </a:defRPr>
            </a:pPr>
            <a:r>
              <a:rPr lang="en-GB"/>
              <a:t>• CLEANUP / RESET: Restore the isolated afternoon baseline; never modify the morning tunnel or shared management access.</a:t>
            </a:r>
          </a:p>
          <a:p>
            <a:pPr>
              <a:lnSpc>
                <a:spcPct val="105000"/>
              </a:lnSpc>
              <a:spcAft>
                <a:spcPts val="800"/>
              </a:spcAft>
              <a:defRPr sz="1700">
                <a:solidFill>
                  <a:srgbClr val="1E2B40"/>
                </a:solidFill>
              </a:defRPr>
            </a:pPr>
            <a:r>
              <a:rPr lang="en-GB"/>
              <a:t>• DELIVERY: Hands-on tunnel build; instructor-demo fallback for unvalidated ADVPN shortcut or OSPF-over-overlay steps.</a:t>
            </a:r>
          </a:p>
        </p:txBody>
      </p:sp>
      <p:cxnSp>
        <p:nvCxnSpPr>
          <p:cNvPr id="11" name="Connector 10"/>
          <p:cNvCxnSpPr/>
          <p:nvPr/>
        </p:nvCxnSpPr>
        <p:spPr>
          <a:xfrm>
            <a:off x="7452360" y="1600200"/>
            <a:ext cx="0" cy="434340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7790688" y="1627632"/>
            <a:ext cx="342900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PLANNED EXERCISE</a:t>
            </a:r>
          </a:p>
        </p:txBody>
      </p:sp>
      <p:sp>
        <p:nvSpPr>
          <p:cNvPr id="13" name="TextBox 12"/>
          <p:cNvSpPr txBox="1"/>
          <p:nvPr/>
        </p:nvSpPr>
        <p:spPr>
          <a:xfrm>
            <a:off x="7790688" y="2057400"/>
            <a:ext cx="3337560" cy="1101840"/>
          </a:xfrm>
          <a:prstGeom prst="rect">
            <a:avLst/>
          </a:prstGeom>
          <a:noFill/>
        </p:spPr>
        <p:txBody>
          <a:bodyPr wrap="square" lIns="27432" tIns="27432" rIns="27432" bIns="27432" anchor="t">
            <a:spAutoFit/>
          </a:bodyPr>
          <a:lstStyle/>
          <a:p>
            <a:pPr algn="l">
              <a:spcAft>
                <a:spcPts val="0"/>
              </a:spcAft>
            </a:pPr>
            <a:r>
              <a:rPr lang="en-GB" sz="1700" b="1">
                <a:solidFill>
                  <a:srgbClr val="233A59"/>
                </a:solidFill>
              </a:rPr>
              <a:t>Build </a:t>
            </a:r>
            <a:r>
              <a:rPr sz="1700" b="1">
                <a:solidFill>
                  <a:srgbClr val="233A59"/>
                </a:solidFill>
              </a:rPr>
              <a:t>route-based </a:t>
            </a:r>
            <a:r>
              <a:rPr lang="en-GB" sz="1700" b="1">
                <a:solidFill>
                  <a:srgbClr val="233A59"/>
                </a:solidFill>
              </a:rPr>
              <a:t>IPsec, observe hub</a:t>
            </a:r>
            <a:r>
              <a:rPr sz="1700" b="1">
                <a:solidFill>
                  <a:srgbClr val="233A59"/>
                </a:solidFill>
              </a:rPr>
              <a:t>/</a:t>
            </a:r>
            <a:r>
              <a:rPr lang="en-GB" sz="1700" b="1">
                <a:solidFill>
                  <a:srgbClr val="233A59"/>
                </a:solidFill>
              </a:rPr>
              <a:t>spoke state</a:t>
            </a:r>
            <a:r>
              <a:rPr sz="1700" b="1">
                <a:solidFill>
                  <a:srgbClr val="233A59"/>
                </a:solidFill>
              </a:rPr>
              <a:t>, </a:t>
            </a:r>
            <a:r>
              <a:rPr lang="en-GB" sz="1700" b="1">
                <a:solidFill>
                  <a:srgbClr val="233A59"/>
                </a:solidFill>
              </a:rPr>
              <a:t>then test ADVPN shortcut </a:t>
            </a:r>
            <a:r>
              <a:rPr sz="1700" b="1">
                <a:solidFill>
                  <a:srgbClr val="233A59"/>
                </a:solidFill>
              </a:rPr>
              <a:t>and </a:t>
            </a:r>
            <a:r>
              <a:rPr lang="en-GB" sz="1700" b="1">
                <a:solidFill>
                  <a:srgbClr val="233A59"/>
                </a:solidFill>
              </a:rPr>
              <a:t>OSPF-over-overlay objectives</a:t>
            </a:r>
            <a:r>
              <a:rPr sz="1700" b="1">
                <a:solidFill>
                  <a:srgbClr val="233A59"/>
                </a:solidFill>
              </a:rPr>
              <a:t>.</a:t>
            </a:r>
          </a:p>
        </p:txBody>
      </p:sp>
      <p:sp>
        <p:nvSpPr>
          <p:cNvPr id="14" name="TextBox 13"/>
          <p:cNvSpPr txBox="1"/>
          <p:nvPr/>
        </p:nvSpPr>
        <p:spPr>
          <a:xfrm>
            <a:off x="7790688" y="3822191"/>
            <a:ext cx="18288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EXPECTED RESULT</a:t>
            </a:r>
            <a:endParaRPr sz="1100" b="1">
              <a:solidFill>
                <a:srgbClr val="E60012"/>
              </a:solidFill>
            </a:endParaRPr>
          </a:p>
        </p:txBody>
      </p:sp>
      <p:sp>
        <p:nvSpPr>
          <p:cNvPr id="15" name="TextBox 14"/>
          <p:cNvSpPr txBox="1"/>
          <p:nvPr/>
        </p:nvSpPr>
        <p:spPr>
          <a:xfrm>
            <a:off x="7790688" y="4187952"/>
            <a:ext cx="3337560" cy="747897"/>
          </a:xfrm>
          <a:prstGeom prst="rect">
            <a:avLst/>
          </a:prstGeom>
          <a:noFill/>
        </p:spPr>
        <p:txBody>
          <a:bodyPr wrap="square" lIns="27432" tIns="27432" rIns="27432" bIns="27432" anchor="t">
            <a:spAutoFit/>
          </a:bodyPr>
          <a:lstStyle/>
          <a:p>
            <a:pPr algn="l">
              <a:spcAft>
                <a:spcPts val="0"/>
              </a:spcAft>
            </a:pPr>
            <a:r>
              <a:rPr lang="en-GB" sz="1500" b="0">
                <a:solidFill>
                  <a:srgbClr val="1E2B40"/>
                </a:solidFill>
              </a:rPr>
              <a:t>IKE/IPsec SAs, protected route </a:t>
            </a:r>
            <a:r>
              <a:rPr sz="1500" b="0">
                <a:solidFill>
                  <a:srgbClr val="1E2B40"/>
                </a:solidFill>
              </a:rPr>
              <a:t>and </a:t>
            </a:r>
            <a:r>
              <a:rPr lang="en-GB" sz="1500" b="0">
                <a:solidFill>
                  <a:srgbClr val="1E2B40"/>
                </a:solidFill>
              </a:rPr>
              <a:t>counters are correct; shortcut/OSPF state is observed when validated</a:t>
            </a:r>
            <a:r>
              <a:rPr sz="1500" b="0">
                <a:solidFill>
                  <a:srgbClr val="1E2B40"/>
                </a:solidFill>
              </a:rPr>
              <a:t>.</a:t>
            </a:r>
          </a:p>
        </p:txBody>
      </p:sp>
      <p:sp>
        <p:nvSpPr>
          <p:cNvPr id="16" name="TextBox 15"/>
          <p:cNvSpPr txBox="1"/>
          <p:nvPr/>
        </p:nvSpPr>
        <p:spPr>
          <a:xfrm>
            <a:off x="7790688" y="5559552"/>
            <a:ext cx="1097280" cy="209288"/>
          </a:xfrm>
          <a:prstGeom prst="rect">
            <a:avLst/>
          </a:prstGeom>
          <a:noFill/>
        </p:spPr>
        <p:txBody>
          <a:bodyPr wrap="square" lIns="27432" tIns="27432" rIns="27432" bIns="27432" anchor="t">
            <a:spAutoFit/>
          </a:bodyPr>
          <a:lstStyle/>
          <a:p>
            <a:pPr algn="l">
              <a:spcAft>
                <a:spcPts val="0"/>
              </a:spcAft>
            </a:pPr>
            <a:r>
              <a:rPr lang="en-GB" sz="1000" b="1">
                <a:solidFill>
                  <a:srgbClr val="687385"/>
                </a:solidFill>
              </a:rPr>
              <a:t>DELIVERY MODE</a:t>
            </a:r>
            <a:endParaRPr sz="1000" b="1">
              <a:solidFill>
                <a:srgbClr val="687385"/>
              </a:solidFill>
            </a:endParaRPr>
          </a:p>
        </p:txBody>
      </p:sp>
      <p:sp>
        <p:nvSpPr>
          <p:cNvPr id="17" name="TextBox 16"/>
          <p:cNvSpPr txBox="1"/>
          <p:nvPr/>
        </p:nvSpPr>
        <p:spPr>
          <a:xfrm>
            <a:off x="8942832" y="5504688"/>
            <a:ext cx="2258568" cy="486287"/>
          </a:xfrm>
          <a:prstGeom prst="rect">
            <a:avLst/>
          </a:prstGeom>
          <a:noFill/>
        </p:spPr>
        <p:txBody>
          <a:bodyPr wrap="square" lIns="27432" tIns="27432" rIns="27432" bIns="27432" anchor="t">
            <a:spAutoFit/>
          </a:bodyPr>
          <a:lstStyle/>
          <a:p>
            <a:pPr algn="r">
              <a:spcAft>
                <a:spcPts val="0"/>
              </a:spcAft>
            </a:pPr>
            <a:r>
              <a:rPr lang="en-GB" sz="1400" b="0">
                <a:solidFill>
                  <a:srgbClr val="687385"/>
                </a:solidFill>
              </a:rPr>
              <a:t>Hands-on build; demo fallback</a:t>
            </a:r>
          </a:p>
        </p:txBody>
      </p:sp>
      <p:sp>
        <p:nvSpPr>
          <p:cNvPr id="18" name="TextBox 17"/>
          <p:cNvSpPr txBox="1"/>
          <p:nvPr/>
        </p:nvSpPr>
        <p:spPr>
          <a:xfrm>
            <a:off x="502920" y="420624"/>
            <a:ext cx="10744200" cy="130805"/>
          </a:xfrm>
          <a:prstGeom prst="rect">
            <a:avLst/>
          </a:prstGeom>
          <a:noFill/>
        </p:spPr>
        <p:txBody>
          <a:bodyPr wrap="square" lIns="0" tIns="0" rIns="0" bIns="0">
            <a:spAutoFit/>
          </a:bodyPr>
          <a:lstStyle/>
          <a:p>
            <a:pPr algn="l"/>
            <a:r>
              <a:rPr lang="en-HU" sz="850" b="1">
                <a:solidFill>
                  <a:srgbClr val="687385"/>
                </a:solidFill>
              </a:rPr>
              <a:t>121</a:t>
            </a:r>
            <a:r>
              <a:rPr sz="850" b="1">
                <a:solidFill>
                  <a:srgbClr val="687385"/>
                </a:solidFill>
              </a:rPr>
              <a:t> • DAY 3 • BLOCK 11 • IPsec &amp; ADVPN</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122</a:t>
            </a:r>
          </a:p>
        </p:txBody>
      </p:sp>
      <p:sp>
        <p:nvSpPr>
          <p:cNvPr id="9" name="TextBox 8"/>
          <p:cNvSpPr txBox="1">
            <a:spLocks/>
          </p:cNvSpPr>
          <p:nvPr/>
        </p:nvSpPr>
        <p:spPr>
          <a:xfrm>
            <a:off x="502920" y="621792"/>
            <a:ext cx="11109960" cy="455509"/>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Knowledge check — explain the result</a:t>
            </a:r>
          </a:p>
        </p:txBody>
      </p:sp>
      <p:sp>
        <p:nvSpPr>
          <p:cNvPr id="10" name="TextBox 9"/>
          <p:cNvSpPr txBox="1">
            <a:spLocks/>
          </p:cNvSpPr>
          <p:nvPr/>
        </p:nvSpPr>
        <p:spPr>
          <a:xfrm>
            <a:off x="658368" y="1600200"/>
            <a:ext cx="5312664" cy="292608"/>
          </a:xfrm>
          <a:prstGeom prst="rect">
            <a:avLst/>
          </a:prstGeom>
          <a:noFill/>
        </p:spPr>
        <p:txBody>
          <a:bodyPr wrap="square" lIns="27432" tIns="27432" rIns="27432" bIns="27432" anchor="t">
            <a:spAutoFit/>
          </a:bodyPr>
          <a:lstStyle/>
          <a:p>
            <a:pPr algn="l">
              <a:spcAft>
                <a:spcPts val="0"/>
              </a:spcAft>
            </a:pPr>
            <a:r>
              <a:rPr lang="en-GB" sz="1300" b="1">
                <a:solidFill>
                  <a:srgbClr val="E60012"/>
                </a:solidFill>
              </a:rPr>
              <a:t>QUESTION 1</a:t>
            </a:r>
          </a:p>
        </p:txBody>
      </p:sp>
      <p:cxnSp>
        <p:nvCxnSpPr>
          <p:cNvPr id="11" name="Connector 10"/>
          <p:cNvCxnSpPr/>
          <p:nvPr/>
        </p:nvCxnSpPr>
        <p:spPr>
          <a:xfrm>
            <a:off x="658368" y="1984248"/>
            <a:ext cx="5312664" cy="0"/>
          </a:xfrm>
          <a:prstGeom prst="line">
            <a:avLst/>
          </a:prstGeom>
          <a:ln w="22860">
            <a:solidFill>
              <a:srgbClr val="E60012"/>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658368" y="2176272"/>
            <a:ext cx="5312664" cy="3337560"/>
          </a:xfrm>
          <a:prstGeom prst="rect">
            <a:avLst/>
          </a:prstGeom>
          <a:noFill/>
        </p:spPr>
        <p:txBody>
          <a:bodyPr wrap="square" lIns="109728" tIns="73152" rIns="109728" bIns="73152" anchor="t">
            <a:spAutoFit/>
          </a:bodyPr>
          <a:lstStyle/>
          <a:p>
            <a:pPr algn="l">
              <a:lnSpc>
                <a:spcPct val="105000"/>
              </a:lnSpc>
              <a:spcAft>
                <a:spcPts val="800"/>
              </a:spcAft>
              <a:defRPr sz="1600">
                <a:solidFill>
                  <a:srgbClr val="1E2B40"/>
                </a:solidFill>
              </a:defRPr>
            </a:pPr>
            <a:r>
              <a:rPr lang="en-GB"/>
              <a:t>• What does a route-based tunnel still need after SAs are up?</a:t>
            </a:r>
          </a:p>
        </p:txBody>
      </p:sp>
      <p:sp>
        <p:nvSpPr>
          <p:cNvPr id="13" name="TextBox 12"/>
          <p:cNvSpPr txBox="1">
            <a:spLocks/>
          </p:cNvSpPr>
          <p:nvPr/>
        </p:nvSpPr>
        <p:spPr>
          <a:xfrm>
            <a:off x="6227064" y="1600200"/>
            <a:ext cx="5312664" cy="292608"/>
          </a:xfrm>
          <a:prstGeom prst="rect">
            <a:avLst/>
          </a:prstGeom>
          <a:noFill/>
        </p:spPr>
        <p:txBody>
          <a:bodyPr wrap="square" lIns="27432" tIns="27432" rIns="27432" bIns="27432" anchor="t">
            <a:spAutoFit/>
          </a:bodyPr>
          <a:lstStyle/>
          <a:p>
            <a:pPr algn="l">
              <a:spcAft>
                <a:spcPts val="0"/>
              </a:spcAft>
            </a:pPr>
            <a:r>
              <a:rPr lang="en-GB" sz="1300" b="1">
                <a:solidFill>
                  <a:srgbClr val="E60012"/>
                </a:solidFill>
              </a:rPr>
              <a:t>QUESTION 2</a:t>
            </a:r>
          </a:p>
        </p:txBody>
      </p:sp>
      <p:cxnSp>
        <p:nvCxnSpPr>
          <p:cNvPr id="14" name="Connector 13"/>
          <p:cNvCxnSpPr/>
          <p:nvPr/>
        </p:nvCxnSpPr>
        <p:spPr>
          <a:xfrm>
            <a:off x="6227064" y="1984248"/>
            <a:ext cx="5312664" cy="0"/>
          </a:xfrm>
          <a:prstGeom prst="line">
            <a:avLst/>
          </a:prstGeom>
          <a:ln w="22860">
            <a:solidFill>
              <a:srgbClr val="E60012"/>
            </a:solidFill>
          </a:ln>
        </p:spPr>
        <p:style>
          <a:lnRef idx="2">
            <a:schemeClr val="accent1"/>
          </a:lnRef>
          <a:fillRef idx="0">
            <a:schemeClr val="accent1"/>
          </a:fillRef>
          <a:effectRef idx="1">
            <a:schemeClr val="accent1"/>
          </a:effectRef>
          <a:fontRef idx="minor">
            <a:schemeClr val="tx1"/>
          </a:fontRef>
        </p:style>
      </p:cxnSp>
      <p:sp>
        <p:nvSpPr>
          <p:cNvPr id="15" name="TextBox 14"/>
          <p:cNvSpPr txBox="1">
            <a:spLocks/>
          </p:cNvSpPr>
          <p:nvPr/>
        </p:nvSpPr>
        <p:spPr>
          <a:xfrm>
            <a:off x="6227064" y="2176272"/>
            <a:ext cx="5312664" cy="3337560"/>
          </a:xfrm>
          <a:prstGeom prst="rect">
            <a:avLst/>
          </a:prstGeom>
          <a:noFill/>
        </p:spPr>
        <p:txBody>
          <a:bodyPr wrap="square" lIns="109728" tIns="73152" rIns="109728" bIns="73152" anchor="t">
            <a:spAutoFit/>
          </a:bodyPr>
          <a:lstStyle/>
          <a:p>
            <a:pPr algn="l">
              <a:lnSpc>
                <a:spcPct val="105000"/>
              </a:lnSpc>
              <a:spcAft>
                <a:spcPts val="800"/>
              </a:spcAft>
              <a:defRPr sz="1600">
                <a:solidFill>
                  <a:srgbClr val="1E2B40"/>
                </a:solidFill>
              </a:defRPr>
            </a:pPr>
            <a:r>
              <a:rPr lang="en-GB"/>
              <a:t>• What is the ADVPN shortcut for?</a:t>
            </a:r>
          </a:p>
        </p:txBody>
      </p:sp>
      <p:sp>
        <p:nvSpPr>
          <p:cNvPr id="16" name="TextBox 15"/>
          <p:cNvSpPr txBox="1">
            <a:spLocks/>
          </p:cNvSpPr>
          <p:nvPr/>
        </p:nvSpPr>
        <p:spPr>
          <a:xfrm>
            <a:off x="658368" y="5724144"/>
            <a:ext cx="1234440" cy="224677"/>
          </a:xfrm>
          <a:prstGeom prst="rect">
            <a:avLst/>
          </a:prstGeom>
          <a:noFill/>
        </p:spPr>
        <p:txBody>
          <a:bodyPr wrap="square" lIns="27432" tIns="27432" rIns="27432" bIns="27432" anchor="t">
            <a:spAutoFit/>
          </a:bodyPr>
          <a:lstStyle/>
          <a:p>
            <a:pPr algn="l">
              <a:spcAft>
                <a:spcPts val="0"/>
              </a:spcAft>
            </a:pPr>
            <a:r>
              <a:rPr lang="en-GB" sz="1100" b="1">
                <a:solidFill>
                  <a:srgbClr val="233A59"/>
                </a:solidFill>
              </a:rPr>
              <a:t>KEY DISTINCTION</a:t>
            </a:r>
          </a:p>
        </p:txBody>
      </p:sp>
      <p:sp>
        <p:nvSpPr>
          <p:cNvPr id="17" name="TextBox 16"/>
          <p:cNvSpPr txBox="1">
            <a:spLocks/>
          </p:cNvSpPr>
          <p:nvPr/>
        </p:nvSpPr>
        <p:spPr>
          <a:xfrm>
            <a:off x="1920240" y="5687568"/>
            <a:ext cx="9235440" cy="329184"/>
          </a:xfrm>
          <a:prstGeom prst="rect">
            <a:avLst/>
          </a:prstGeom>
          <a:noFill/>
        </p:spPr>
        <p:txBody>
          <a:bodyPr wrap="square" lIns="27432" tIns="27432" rIns="27432" bIns="27432" anchor="t">
            <a:spAutoFit/>
          </a:bodyPr>
          <a:lstStyle/>
          <a:p>
            <a:pPr algn="l">
              <a:spcAft>
                <a:spcPts val="0"/>
              </a:spcAft>
            </a:pPr>
            <a:r>
              <a:rPr lang="en-GB" sz="1400" b="1">
                <a:solidFill>
                  <a:srgbClr val="233A59"/>
                </a:solidFill>
              </a:rPr>
              <a:t>Answers and teaching rationale are in speaker notes.</a:t>
            </a:r>
          </a:p>
        </p:txBody>
      </p:sp>
      <p:sp>
        <p:nvSpPr>
          <p:cNvPr id="18" name="TextBox 17"/>
          <p:cNvSpPr txBox="1">
            <a:spLocks/>
          </p:cNvSpPr>
          <p:nvPr/>
        </p:nvSpPr>
        <p:spPr>
          <a:xfrm>
            <a:off x="502920" y="420624"/>
            <a:ext cx="10744200" cy="130805"/>
          </a:xfrm>
          <a:prstGeom prst="rect">
            <a:avLst/>
          </a:prstGeom>
          <a:noFill/>
        </p:spPr>
        <p:txBody>
          <a:bodyPr wrap="square" lIns="0" tIns="0" rIns="0" bIns="0">
            <a:spAutoFit/>
          </a:bodyPr>
          <a:lstStyle/>
          <a:p>
            <a:pPr algn="l"/>
            <a:r>
              <a:rPr lang="en-GB" sz="850" b="1">
                <a:solidFill>
                  <a:srgbClr val="687385"/>
                </a:solidFill>
              </a:rPr>
              <a:t>122 • DAY 3 • BLOCK 11 • IPsec &amp; ADVPN</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101827"/>
        </a:solidFill>
        <a:effectLst/>
      </p:bgPr>
    </p:bg>
    <p:spTree>
      <p:nvGrpSpPr>
        <p:cNvPr id="1" name=""/>
        <p:cNvGrpSpPr/>
        <p:nvPr/>
      </p:nvGrpSpPr>
      <p:grpSpPr>
        <a:xfrm>
          <a:off x="0" y="0"/>
          <a:ext cx="1" cy="1"/>
          <a:chOff x="0" y="0"/>
          <a:chExt cx="1" cy="1"/>
        </a:xfrm>
      </p:grpSpPr>
      <p:sp>
        <p:nvSpPr>
          <p:cNvPr id="2" name="Rectangle 1"/>
          <p:cNvSpPr/>
          <p:nvPr/>
        </p:nvSpPr>
        <p:spPr>
          <a:xfrm>
            <a:off x="0" y="0"/>
            <a:ext cx="146304" cy="6858000"/>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a:spLocks/>
          </p:cNvSpPr>
          <p:nvPr/>
        </p:nvSpPr>
        <p:spPr>
          <a:xfrm>
            <a:off x="658368" y="566928"/>
            <a:ext cx="5212080" cy="256032"/>
          </a:xfrm>
          <a:prstGeom prst="rect">
            <a:avLst/>
          </a:prstGeom>
          <a:noFill/>
        </p:spPr>
        <p:txBody>
          <a:bodyPr wrap="square" lIns="27432" tIns="27432" rIns="27432" bIns="27432" anchor="t">
            <a:spAutoFit/>
          </a:bodyPr>
          <a:lstStyle/>
          <a:p>
            <a:pPr algn="l">
              <a:spcAft>
                <a:spcPts val="0"/>
              </a:spcAft>
            </a:pPr>
            <a:r>
              <a:rPr lang="en-GB" sz="1400" b="1">
                <a:solidFill>
                  <a:srgbClr val="E60012"/>
                </a:solidFill>
              </a:rPr>
              <a:t>DAY 3  •  14:30–16:00</a:t>
            </a:r>
          </a:p>
        </p:txBody>
      </p:sp>
      <p:sp>
        <p:nvSpPr>
          <p:cNvPr id="4" name="TextBox 3"/>
          <p:cNvSpPr txBox="1">
            <a:spLocks/>
          </p:cNvSpPr>
          <p:nvPr/>
        </p:nvSpPr>
        <p:spPr>
          <a:xfrm>
            <a:off x="658368" y="1097280"/>
            <a:ext cx="10515600" cy="914400"/>
          </a:xfrm>
          <a:prstGeom prst="rect">
            <a:avLst/>
          </a:prstGeom>
          <a:noFill/>
        </p:spPr>
        <p:txBody>
          <a:bodyPr wrap="square" lIns="27432" tIns="27432" rIns="27432" bIns="27432" anchor="t">
            <a:spAutoFit/>
          </a:bodyPr>
          <a:lstStyle/>
          <a:p>
            <a:pPr algn="l">
              <a:spcAft>
                <a:spcPts val="0"/>
              </a:spcAft>
            </a:pPr>
            <a:r>
              <a:rPr lang="en-GB" sz="3400" b="1">
                <a:solidFill>
                  <a:srgbClr val="FFFFFF"/>
                </a:solidFill>
              </a:rPr>
              <a:t>VPN Troubleshooting &amp; Operational Validation</a:t>
            </a:r>
          </a:p>
        </p:txBody>
      </p:sp>
      <p:sp>
        <p:nvSpPr>
          <p:cNvPr id="5" name="TextBox 4"/>
          <p:cNvSpPr txBox="1">
            <a:spLocks/>
          </p:cNvSpPr>
          <p:nvPr/>
        </p:nvSpPr>
        <p:spPr>
          <a:xfrm>
            <a:off x="676656" y="2084831"/>
            <a:ext cx="8686800" cy="320040"/>
          </a:xfrm>
          <a:prstGeom prst="rect">
            <a:avLst/>
          </a:prstGeom>
          <a:noFill/>
        </p:spPr>
        <p:txBody>
          <a:bodyPr wrap="square" lIns="27432" tIns="27432" rIns="27432" bIns="27432" anchor="t">
            <a:spAutoFit/>
          </a:bodyPr>
          <a:lstStyle/>
          <a:p>
            <a:pPr algn="l">
              <a:spcAft>
                <a:spcPts val="0"/>
              </a:spcAft>
            </a:pPr>
            <a:r>
              <a:rPr lang="en-GB" sz="1500" b="0">
                <a:solidFill>
                  <a:srgbClr val="C9D1DD"/>
                </a:solidFill>
              </a:rPr>
              <a:t>Advanced • Day 1 of 2</a:t>
            </a:r>
          </a:p>
        </p:txBody>
      </p:sp>
      <p:cxnSp>
        <p:nvCxnSpPr>
          <p:cNvPr id="6" name="Connector 5"/>
          <p:cNvCxnSpPr/>
          <p:nvPr/>
        </p:nvCxnSpPr>
        <p:spPr>
          <a:xfrm>
            <a:off x="676656" y="2578608"/>
            <a:ext cx="10616184" cy="0"/>
          </a:xfrm>
          <a:prstGeom prst="line">
            <a:avLst/>
          </a:prstGeom>
          <a:ln w="12700">
            <a:solidFill>
              <a:srgbClr val="40516A"/>
            </a:solidFill>
          </a:ln>
        </p:spPr>
        <p:style>
          <a:lnRef idx="2">
            <a:schemeClr val="accent1"/>
          </a:lnRef>
          <a:fillRef idx="0">
            <a:schemeClr val="accent1"/>
          </a:fillRef>
          <a:effectRef idx="1">
            <a:schemeClr val="accent1"/>
          </a:effectRef>
          <a:fontRef idx="minor">
            <a:schemeClr val="tx1"/>
          </a:fontRef>
        </p:style>
      </p:cxnSp>
      <p:sp>
        <p:nvSpPr>
          <p:cNvPr id="7" name="TextBox 6"/>
          <p:cNvSpPr txBox="1">
            <a:spLocks/>
          </p:cNvSpPr>
          <p:nvPr/>
        </p:nvSpPr>
        <p:spPr>
          <a:xfrm>
            <a:off x="685800" y="2889504"/>
            <a:ext cx="27432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LEARNING OBJECTIVES</a:t>
            </a:r>
          </a:p>
        </p:txBody>
      </p:sp>
      <p:sp>
        <p:nvSpPr>
          <p:cNvPr id="8" name="TextBox 7"/>
          <p:cNvSpPr txBox="1">
            <a:spLocks/>
          </p:cNvSpPr>
          <p:nvPr/>
        </p:nvSpPr>
        <p:spPr>
          <a:xfrm>
            <a:off x="685800" y="3218688"/>
            <a:ext cx="6035040" cy="2057400"/>
          </a:xfrm>
          <a:prstGeom prst="rect">
            <a:avLst/>
          </a:prstGeom>
          <a:noFill/>
        </p:spPr>
        <p:txBody>
          <a:bodyPr wrap="square" lIns="109728" tIns="73152" rIns="109728" bIns="73152" anchor="t">
            <a:spAutoFit/>
          </a:bodyPr>
          <a:lstStyle/>
          <a:p>
            <a:pPr algn="l">
              <a:lnSpc>
                <a:spcPct val="105000"/>
              </a:lnSpc>
              <a:spcAft>
                <a:spcPts val="700"/>
              </a:spcAft>
              <a:defRPr sz="1700">
                <a:solidFill>
                  <a:srgbClr val="FFFFFF"/>
                </a:solidFill>
              </a:defRPr>
            </a:pPr>
            <a:r>
              <a:rPr lang="en-GB"/>
              <a:t>• Localize failure across underlay, IKE, IPsec, routing, policy and return path</a:t>
            </a:r>
          </a:p>
          <a:p>
            <a:pPr>
              <a:lnSpc>
                <a:spcPct val="105000"/>
              </a:lnSpc>
              <a:spcAft>
                <a:spcPts val="700"/>
              </a:spcAft>
              <a:defRPr sz="1700">
                <a:solidFill>
                  <a:srgbClr val="FFFFFF"/>
                </a:solidFill>
              </a:defRPr>
            </a:pPr>
            <a:r>
              <a:rPr lang="en-GB"/>
              <a:t>• Interpret Phase 1/2 state and selectors</a:t>
            </a:r>
          </a:p>
          <a:p>
            <a:pPr>
              <a:lnSpc>
                <a:spcPct val="105000"/>
              </a:lnSpc>
              <a:spcAft>
                <a:spcPts val="700"/>
              </a:spcAft>
              <a:defRPr sz="1700">
                <a:solidFill>
                  <a:srgbClr val="FFFFFF"/>
                </a:solidFill>
              </a:defRPr>
            </a:pPr>
            <a:r>
              <a:rPr lang="en-GB"/>
              <a:t>• Use packet capture and CLI diagnostics without uncontrolled debug</a:t>
            </a:r>
          </a:p>
        </p:txBody>
      </p:sp>
      <p:sp>
        <p:nvSpPr>
          <p:cNvPr id="9" name="TextBox 8"/>
          <p:cNvSpPr txBox="1">
            <a:spLocks/>
          </p:cNvSpPr>
          <p:nvPr/>
        </p:nvSpPr>
        <p:spPr>
          <a:xfrm>
            <a:off x="7315200" y="2889504"/>
            <a:ext cx="36576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PREREQUISITES + PRACTICE RESERVE</a:t>
            </a:r>
          </a:p>
        </p:txBody>
      </p:sp>
      <p:sp>
        <p:nvSpPr>
          <p:cNvPr id="10" name="TextBox 9"/>
          <p:cNvSpPr txBox="1">
            <a:spLocks/>
          </p:cNvSpPr>
          <p:nvPr/>
        </p:nvSpPr>
        <p:spPr>
          <a:xfrm>
            <a:off x="7315200" y="3218688"/>
            <a:ext cx="3886200" cy="1748556"/>
          </a:xfrm>
          <a:prstGeom prst="rect">
            <a:avLst/>
          </a:prstGeom>
          <a:noFill/>
        </p:spPr>
        <p:txBody>
          <a:bodyPr wrap="square" lIns="109728" tIns="73152" rIns="109728" bIns="73152" anchor="t">
            <a:spAutoFit/>
          </a:bodyPr>
          <a:lstStyle/>
          <a:p>
            <a:pPr algn="l">
              <a:lnSpc>
                <a:spcPct val="105000"/>
              </a:lnSpc>
              <a:spcAft>
                <a:spcPts val="600"/>
              </a:spcAft>
              <a:defRPr sz="1500">
                <a:solidFill>
                  <a:srgbClr val="FFFFFF"/>
                </a:solidFill>
              </a:defRPr>
            </a:pPr>
            <a:r>
              <a:rPr lang="en-GB"/>
              <a:t>• Separate afternoon exercise tunnel or isolated baseline</a:t>
            </a:r>
          </a:p>
          <a:p>
            <a:pPr>
              <a:lnSpc>
                <a:spcPct val="105000"/>
              </a:lnSpc>
              <a:spcAft>
                <a:spcPts val="600"/>
              </a:spcAft>
              <a:defRPr sz="1500">
                <a:solidFill>
                  <a:srgbClr val="FFFFFF"/>
                </a:solidFill>
              </a:defRPr>
            </a:pPr>
            <a:r>
              <a:rPr lang="en-GB"/>
              <a:t>• Known-good endpoint placeholders and snapshot</a:t>
            </a:r>
          </a:p>
          <a:p>
            <a:pPr>
              <a:lnSpc>
                <a:spcPct val="105000"/>
              </a:lnSpc>
              <a:spcAft>
                <a:spcPts val="600"/>
              </a:spcAft>
              <a:defRPr sz="1500">
                <a:solidFill>
                  <a:srgbClr val="FFFFFF"/>
                </a:solidFill>
              </a:defRPr>
            </a:pPr>
            <a:r>
              <a:rPr lang="en-GB"/>
              <a:t>• Morning training tunnel and management access protected</a:t>
            </a:r>
          </a:p>
        </p:txBody>
      </p:sp>
      <p:sp>
        <p:nvSpPr>
          <p:cNvPr id="11" name="TextBox 10"/>
          <p:cNvSpPr txBox="1">
            <a:spLocks/>
          </p:cNvSpPr>
          <p:nvPr/>
        </p:nvSpPr>
        <p:spPr>
          <a:xfrm>
            <a:off x="7315200" y="4709160"/>
            <a:ext cx="3931920" cy="685800"/>
          </a:xfrm>
          <a:prstGeom prst="rect">
            <a:avLst/>
          </a:prstGeom>
          <a:noFill/>
        </p:spPr>
        <p:txBody>
          <a:bodyPr wrap="square" lIns="27432" tIns="27432" rIns="27432" bIns="27432" anchor="t">
            <a:spAutoFit/>
          </a:bodyPr>
          <a:lstStyle/>
          <a:p>
            <a:pPr algn="l">
              <a:spcAft>
                <a:spcPts val="0"/>
              </a:spcAft>
            </a:pPr>
            <a:r>
              <a:rPr lang="en-GB" sz="1600" b="1">
                <a:solidFill>
                  <a:srgbClr val="D8E0EA"/>
                </a:solidFill>
              </a:rPr>
              <a:t>Teach ~58 min • reserve ~32 min for guided activity, discussion and debrief</a:t>
            </a:r>
          </a:p>
        </p:txBody>
      </p:sp>
      <p:sp>
        <p:nvSpPr>
          <p:cNvPr id="12" name="TextBox 11"/>
          <p:cNvSpPr txBox="1">
            <a:spLocks/>
          </p:cNvSpPr>
          <p:nvPr/>
        </p:nvSpPr>
        <p:spPr>
          <a:xfrm>
            <a:off x="10424160" y="5715000"/>
            <a:ext cx="731520" cy="363176"/>
          </a:xfrm>
          <a:prstGeom prst="rect">
            <a:avLst/>
          </a:prstGeom>
          <a:noFill/>
        </p:spPr>
        <p:txBody>
          <a:bodyPr wrap="square" lIns="27432" tIns="27432" rIns="27432" bIns="27432" anchor="t">
            <a:spAutoFit/>
          </a:bodyPr>
          <a:lstStyle/>
          <a:p>
            <a:pPr algn="r">
              <a:spcAft>
                <a:spcPts val="0"/>
              </a:spcAft>
            </a:pPr>
            <a:r>
              <a:rPr lang="en-HU" sz="2000" b="1">
                <a:solidFill>
                  <a:srgbClr val="E60012"/>
                </a:solidFill>
              </a:rPr>
              <a:t>123</a:t>
            </a: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124</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Tunnel establishment is a layered dependency chain</a:t>
            </a:r>
          </a:p>
        </p:txBody>
      </p:sp>
      <p:sp>
        <p:nvSpPr>
          <p:cNvPr id="10" name="Rectangle 9"/>
          <p:cNvSpPr/>
          <p:nvPr/>
        </p:nvSpPr>
        <p:spPr>
          <a:xfrm>
            <a:off x="658368" y="1901952"/>
            <a:ext cx="1684020"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1" name="TextBox 10"/>
          <p:cNvSpPr txBox="1">
            <a:spLocks/>
          </p:cNvSpPr>
          <p:nvPr/>
        </p:nvSpPr>
        <p:spPr>
          <a:xfrm>
            <a:off x="768096" y="2020824"/>
            <a:ext cx="411480" cy="219456"/>
          </a:xfrm>
          <a:prstGeom prst="rect">
            <a:avLst/>
          </a:prstGeom>
          <a:noFill/>
        </p:spPr>
        <p:txBody>
          <a:bodyPr wrap="square" lIns="27432" tIns="27432" rIns="27432" bIns="27432" anchor="t">
            <a:spAutoFit/>
          </a:bodyPr>
          <a:lstStyle/>
          <a:p>
            <a:pPr algn="l">
              <a:spcAft>
                <a:spcPts val="0"/>
              </a:spcAft>
            </a:pPr>
            <a:r>
              <a:rPr lang="en-HU" sz="1100" b="1">
                <a:solidFill>
                  <a:srgbClr val="E60012"/>
                </a:solidFill>
              </a:rPr>
              <a:t>01</a:t>
            </a:r>
          </a:p>
        </p:txBody>
      </p:sp>
      <p:sp>
        <p:nvSpPr>
          <p:cNvPr id="12" name="TextBox 11"/>
          <p:cNvSpPr txBox="1">
            <a:spLocks/>
          </p:cNvSpPr>
          <p:nvPr/>
        </p:nvSpPr>
        <p:spPr>
          <a:xfrm>
            <a:off x="768096" y="2340864"/>
            <a:ext cx="1464564" cy="603504"/>
          </a:xfrm>
          <a:prstGeom prst="rect">
            <a:avLst/>
          </a:prstGeom>
          <a:noFill/>
        </p:spPr>
        <p:txBody>
          <a:bodyPr wrap="square" lIns="27432" tIns="27432" rIns="27432" bIns="27432" anchor="ctr">
            <a:spAutoFit/>
          </a:bodyPr>
          <a:lstStyle/>
          <a:p>
            <a:pPr algn="ctr">
              <a:spcAft>
                <a:spcPts val="0"/>
              </a:spcAft>
            </a:pPr>
            <a:r>
              <a:rPr lang="en-GB" sz="1400" b="1">
                <a:solidFill>
                  <a:srgbClr val="1E2B40"/>
                </a:solidFill>
              </a:rPr>
              <a:t>Underlay</a:t>
            </a:r>
          </a:p>
        </p:txBody>
      </p:sp>
      <p:cxnSp>
        <p:nvCxnSpPr>
          <p:cNvPr id="13" name="Connector 12"/>
          <p:cNvCxnSpPr/>
          <p:nvPr/>
        </p:nvCxnSpPr>
        <p:spPr>
          <a:xfrm>
            <a:off x="2342388"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2488692" y="1901952"/>
            <a:ext cx="1684020"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5" name="TextBox 14"/>
          <p:cNvSpPr txBox="1">
            <a:spLocks/>
          </p:cNvSpPr>
          <p:nvPr/>
        </p:nvSpPr>
        <p:spPr>
          <a:xfrm>
            <a:off x="2598420" y="2020824"/>
            <a:ext cx="411480" cy="219456"/>
          </a:xfrm>
          <a:prstGeom prst="rect">
            <a:avLst/>
          </a:prstGeom>
          <a:noFill/>
        </p:spPr>
        <p:txBody>
          <a:bodyPr wrap="square" lIns="27432" tIns="27432" rIns="27432" bIns="27432" anchor="t">
            <a:spAutoFit/>
          </a:bodyPr>
          <a:lstStyle/>
          <a:p>
            <a:pPr algn="l">
              <a:spcAft>
                <a:spcPts val="0"/>
              </a:spcAft>
            </a:pPr>
            <a:r>
              <a:rPr lang="en-HU" sz="1100" b="1">
                <a:solidFill>
                  <a:srgbClr val="E60012"/>
                </a:solidFill>
              </a:rPr>
              <a:t>02</a:t>
            </a:r>
          </a:p>
        </p:txBody>
      </p:sp>
      <p:sp>
        <p:nvSpPr>
          <p:cNvPr id="16" name="TextBox 15"/>
          <p:cNvSpPr txBox="1">
            <a:spLocks/>
          </p:cNvSpPr>
          <p:nvPr/>
        </p:nvSpPr>
        <p:spPr>
          <a:xfrm>
            <a:off x="2598420" y="2340864"/>
            <a:ext cx="1464564" cy="603504"/>
          </a:xfrm>
          <a:prstGeom prst="rect">
            <a:avLst/>
          </a:prstGeom>
          <a:noFill/>
        </p:spPr>
        <p:txBody>
          <a:bodyPr wrap="square" lIns="27432" tIns="27432" rIns="27432" bIns="27432" anchor="ctr">
            <a:spAutoFit/>
          </a:bodyPr>
          <a:lstStyle/>
          <a:p>
            <a:pPr algn="ctr">
              <a:spcAft>
                <a:spcPts val="0"/>
              </a:spcAft>
            </a:pPr>
            <a:r>
              <a:rPr lang="en-GB" sz="1400" b="1">
                <a:solidFill>
                  <a:srgbClr val="1E2B40"/>
                </a:solidFill>
              </a:rPr>
              <a:t>IKE SA</a:t>
            </a:r>
          </a:p>
        </p:txBody>
      </p:sp>
      <p:cxnSp>
        <p:nvCxnSpPr>
          <p:cNvPr id="17" name="Connector 16"/>
          <p:cNvCxnSpPr/>
          <p:nvPr/>
        </p:nvCxnSpPr>
        <p:spPr>
          <a:xfrm>
            <a:off x="4172712"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4319015" y="1901952"/>
            <a:ext cx="1684020"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9" name="TextBox 18"/>
          <p:cNvSpPr txBox="1">
            <a:spLocks/>
          </p:cNvSpPr>
          <p:nvPr/>
        </p:nvSpPr>
        <p:spPr>
          <a:xfrm>
            <a:off x="4428744" y="2020824"/>
            <a:ext cx="411480" cy="219456"/>
          </a:xfrm>
          <a:prstGeom prst="rect">
            <a:avLst/>
          </a:prstGeom>
          <a:noFill/>
        </p:spPr>
        <p:txBody>
          <a:bodyPr wrap="square" lIns="27432" tIns="27432" rIns="27432" bIns="27432" anchor="t">
            <a:spAutoFit/>
          </a:bodyPr>
          <a:lstStyle/>
          <a:p>
            <a:pPr algn="l">
              <a:spcAft>
                <a:spcPts val="0"/>
              </a:spcAft>
            </a:pPr>
            <a:r>
              <a:rPr lang="en-HU" sz="1100" b="1">
                <a:solidFill>
                  <a:srgbClr val="E60012"/>
                </a:solidFill>
              </a:rPr>
              <a:t>03</a:t>
            </a:r>
          </a:p>
        </p:txBody>
      </p:sp>
      <p:sp>
        <p:nvSpPr>
          <p:cNvPr id="20" name="TextBox 19"/>
          <p:cNvSpPr txBox="1">
            <a:spLocks/>
          </p:cNvSpPr>
          <p:nvPr/>
        </p:nvSpPr>
        <p:spPr>
          <a:xfrm>
            <a:off x="4428744" y="2340864"/>
            <a:ext cx="1464564" cy="603504"/>
          </a:xfrm>
          <a:prstGeom prst="rect">
            <a:avLst/>
          </a:prstGeom>
          <a:noFill/>
        </p:spPr>
        <p:txBody>
          <a:bodyPr wrap="square" lIns="27432" tIns="27432" rIns="27432" bIns="27432" anchor="ctr">
            <a:spAutoFit/>
          </a:bodyPr>
          <a:lstStyle/>
          <a:p>
            <a:pPr algn="ctr">
              <a:spcAft>
                <a:spcPts val="0"/>
              </a:spcAft>
            </a:pPr>
            <a:r>
              <a:rPr lang="en-GB" sz="1400" b="1">
                <a:solidFill>
                  <a:srgbClr val="1E2B40"/>
                </a:solidFill>
              </a:rPr>
              <a:t>IPsec SA</a:t>
            </a:r>
          </a:p>
        </p:txBody>
      </p:sp>
      <p:cxnSp>
        <p:nvCxnSpPr>
          <p:cNvPr id="21" name="Connector 20"/>
          <p:cNvCxnSpPr/>
          <p:nvPr/>
        </p:nvCxnSpPr>
        <p:spPr>
          <a:xfrm>
            <a:off x="6003036"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6149339" y="1901952"/>
            <a:ext cx="1684020"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259067" y="2020824"/>
            <a:ext cx="411480" cy="219456"/>
          </a:xfrm>
          <a:prstGeom prst="rect">
            <a:avLst/>
          </a:prstGeom>
          <a:noFill/>
        </p:spPr>
        <p:txBody>
          <a:bodyPr wrap="square" lIns="27432" tIns="27432" rIns="27432" bIns="27432" anchor="t">
            <a:spAutoFit/>
          </a:bodyPr>
          <a:lstStyle/>
          <a:p>
            <a:pPr algn="l">
              <a:spcAft>
                <a:spcPts val="0"/>
              </a:spcAft>
            </a:pPr>
            <a:r>
              <a:rPr sz="1100" b="1">
                <a:solidFill>
                  <a:srgbClr val="E60012"/>
                </a:solidFill>
              </a:rPr>
              <a:t>04</a:t>
            </a:r>
          </a:p>
        </p:txBody>
      </p:sp>
      <p:sp>
        <p:nvSpPr>
          <p:cNvPr id="24" name="TextBox 23"/>
          <p:cNvSpPr txBox="1"/>
          <p:nvPr/>
        </p:nvSpPr>
        <p:spPr>
          <a:xfrm>
            <a:off x="6259067" y="2340864"/>
            <a:ext cx="1464564" cy="603504"/>
          </a:xfrm>
          <a:prstGeom prst="rect">
            <a:avLst/>
          </a:prstGeom>
          <a:noFill/>
        </p:spPr>
        <p:txBody>
          <a:bodyPr wrap="square" lIns="27432" tIns="27432" rIns="27432" bIns="27432" anchor="ctr">
            <a:spAutoFit/>
          </a:bodyPr>
          <a:lstStyle/>
          <a:p>
            <a:pPr algn="ctr">
              <a:spcAft>
                <a:spcPts val="0"/>
              </a:spcAft>
            </a:pPr>
            <a:r>
              <a:rPr sz="1400" b="1">
                <a:solidFill>
                  <a:srgbClr val="1E2B40"/>
                </a:solidFill>
              </a:rPr>
              <a:t>Route</a:t>
            </a:r>
          </a:p>
        </p:txBody>
      </p:sp>
      <p:cxnSp>
        <p:nvCxnSpPr>
          <p:cNvPr id="25" name="Connector 24"/>
          <p:cNvCxnSpPr/>
          <p:nvPr/>
        </p:nvCxnSpPr>
        <p:spPr>
          <a:xfrm>
            <a:off x="7833359"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7979664" y="1901952"/>
            <a:ext cx="1684020"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089391" y="2020824"/>
            <a:ext cx="411480" cy="219456"/>
          </a:xfrm>
          <a:prstGeom prst="rect">
            <a:avLst/>
          </a:prstGeom>
          <a:noFill/>
        </p:spPr>
        <p:txBody>
          <a:bodyPr wrap="square" lIns="27432" tIns="27432" rIns="27432" bIns="27432" anchor="t">
            <a:spAutoFit/>
          </a:bodyPr>
          <a:lstStyle/>
          <a:p>
            <a:pPr algn="l">
              <a:spcAft>
                <a:spcPts val="0"/>
              </a:spcAft>
            </a:pPr>
            <a:r>
              <a:rPr sz="1100" b="1">
                <a:solidFill>
                  <a:srgbClr val="E60012"/>
                </a:solidFill>
              </a:rPr>
              <a:t>05</a:t>
            </a:r>
          </a:p>
        </p:txBody>
      </p:sp>
      <p:sp>
        <p:nvSpPr>
          <p:cNvPr id="28" name="TextBox 27"/>
          <p:cNvSpPr txBox="1"/>
          <p:nvPr/>
        </p:nvSpPr>
        <p:spPr>
          <a:xfrm>
            <a:off x="8089391" y="2340864"/>
            <a:ext cx="1464564" cy="603504"/>
          </a:xfrm>
          <a:prstGeom prst="rect">
            <a:avLst/>
          </a:prstGeom>
          <a:noFill/>
        </p:spPr>
        <p:txBody>
          <a:bodyPr wrap="square" lIns="27432" tIns="27432" rIns="27432" bIns="27432" anchor="ctr">
            <a:spAutoFit/>
          </a:bodyPr>
          <a:lstStyle/>
          <a:p>
            <a:pPr algn="ctr">
              <a:spcAft>
                <a:spcPts val="0"/>
              </a:spcAft>
            </a:pPr>
            <a:r>
              <a:rPr sz="1400" b="1">
                <a:solidFill>
                  <a:srgbClr val="1E2B40"/>
                </a:solidFill>
              </a:rPr>
              <a:t>Policy/session</a:t>
            </a:r>
          </a:p>
        </p:txBody>
      </p:sp>
      <p:cxnSp>
        <p:nvCxnSpPr>
          <p:cNvPr id="29" name="Connector 28"/>
          <p:cNvCxnSpPr/>
          <p:nvPr/>
        </p:nvCxnSpPr>
        <p:spPr>
          <a:xfrm>
            <a:off x="9663684"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9809988" y="1901952"/>
            <a:ext cx="1684020"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919716" y="2020824"/>
            <a:ext cx="411480" cy="219456"/>
          </a:xfrm>
          <a:prstGeom prst="rect">
            <a:avLst/>
          </a:prstGeom>
          <a:noFill/>
        </p:spPr>
        <p:txBody>
          <a:bodyPr wrap="square" lIns="27432" tIns="27432" rIns="27432" bIns="27432" anchor="t">
            <a:spAutoFit/>
          </a:bodyPr>
          <a:lstStyle/>
          <a:p>
            <a:pPr algn="l">
              <a:spcAft>
                <a:spcPts val="0"/>
              </a:spcAft>
            </a:pPr>
            <a:r>
              <a:rPr sz="1100" b="1">
                <a:solidFill>
                  <a:srgbClr val="E60012"/>
                </a:solidFill>
              </a:rPr>
              <a:t>06</a:t>
            </a:r>
          </a:p>
        </p:txBody>
      </p:sp>
      <p:sp>
        <p:nvSpPr>
          <p:cNvPr id="32" name="TextBox 31"/>
          <p:cNvSpPr txBox="1"/>
          <p:nvPr/>
        </p:nvSpPr>
        <p:spPr>
          <a:xfrm>
            <a:off x="9919716" y="2340864"/>
            <a:ext cx="1464564" cy="603504"/>
          </a:xfrm>
          <a:prstGeom prst="rect">
            <a:avLst/>
          </a:prstGeom>
          <a:noFill/>
        </p:spPr>
        <p:txBody>
          <a:bodyPr wrap="square" lIns="27432" tIns="27432" rIns="27432" bIns="27432" anchor="ctr">
            <a:spAutoFit/>
          </a:bodyPr>
          <a:lstStyle/>
          <a:p>
            <a:pPr algn="ctr">
              <a:spcAft>
                <a:spcPts val="0"/>
              </a:spcAft>
            </a:pPr>
            <a:r>
              <a:rPr sz="1400" b="1">
                <a:solidFill>
                  <a:srgbClr val="1E2B40"/>
                </a:solidFill>
              </a:rPr>
              <a:t>Return path</a:t>
            </a:r>
          </a:p>
        </p:txBody>
      </p:sp>
      <p:sp>
        <p:nvSpPr>
          <p:cNvPr id="33" name="TextBox 32"/>
          <p:cNvSpPr txBox="1"/>
          <p:nvPr/>
        </p:nvSpPr>
        <p:spPr>
          <a:xfrm>
            <a:off x="658368" y="3703320"/>
            <a:ext cx="2011680" cy="256032"/>
          </a:xfrm>
          <a:prstGeom prst="rect">
            <a:avLst/>
          </a:prstGeom>
          <a:noFill/>
        </p:spPr>
        <p:txBody>
          <a:bodyPr wrap="square" lIns="27432" tIns="27432" rIns="27432" bIns="27432" anchor="t">
            <a:spAutoFit/>
          </a:bodyPr>
          <a:lstStyle/>
          <a:p>
            <a:pPr algn="l">
              <a:spcAft>
                <a:spcPts val="0"/>
              </a:spcAft>
            </a:pPr>
            <a:r>
              <a:rPr sz="1100" b="1">
                <a:solidFill>
                  <a:srgbClr val="E60012"/>
                </a:solidFill>
              </a:rPr>
              <a:t>What to observe</a:t>
            </a:r>
          </a:p>
        </p:txBody>
      </p:sp>
      <p:sp>
        <p:nvSpPr>
          <p:cNvPr id="34" name="TextBox 33"/>
          <p:cNvSpPr txBox="1"/>
          <p:nvPr/>
        </p:nvSpPr>
        <p:spPr>
          <a:xfrm>
            <a:off x="658368" y="4050791"/>
            <a:ext cx="6446520" cy="1508760"/>
          </a:xfrm>
          <a:prstGeom prst="rect">
            <a:avLst/>
          </a:prstGeom>
          <a:noFill/>
        </p:spPr>
        <p:txBody>
          <a:bodyPr wrap="square" lIns="109728" tIns="73152" rIns="109728" bIns="73152" anchor="t">
            <a:spAutoFit/>
          </a:bodyPr>
          <a:lstStyle/>
          <a:p>
            <a:pPr algn="l">
              <a:lnSpc>
                <a:spcPct val="105000"/>
              </a:lnSpc>
              <a:spcAft>
                <a:spcPts val="700"/>
              </a:spcAft>
              <a:defRPr sz="1600">
                <a:solidFill>
                  <a:srgbClr val="1E2B40"/>
                </a:solidFill>
              </a:defRPr>
            </a:pPr>
            <a:r>
              <a:t>• IKE SA precedes CHILD/IPsec SA</a:t>
            </a:r>
          </a:p>
          <a:p>
            <a:pPr>
              <a:lnSpc>
                <a:spcPct val="105000"/>
              </a:lnSpc>
              <a:spcAft>
                <a:spcPts val="700"/>
              </a:spcAft>
              <a:defRPr sz="1600">
                <a:solidFill>
                  <a:srgbClr val="1E2B40"/>
                </a:solidFill>
              </a:defRPr>
            </a:pPr>
            <a:r>
              <a:t>• Selectors and traffic triggers affect Phase 2</a:t>
            </a:r>
          </a:p>
          <a:p>
            <a:pPr>
              <a:lnSpc>
                <a:spcPct val="105000"/>
              </a:lnSpc>
              <a:spcAft>
                <a:spcPts val="700"/>
              </a:spcAft>
              <a:defRPr sz="1600">
                <a:solidFill>
                  <a:srgbClr val="1E2B40"/>
                </a:solidFill>
              </a:defRPr>
            </a:pPr>
            <a:r>
              <a:t>• Routes, policies and return path determine usable data flow</a:t>
            </a:r>
          </a:p>
        </p:txBody>
      </p:sp>
      <p:cxnSp>
        <p:nvCxnSpPr>
          <p:cNvPr id="35" name="Connector 34"/>
          <p:cNvCxnSpPr/>
          <p:nvPr/>
        </p:nvCxnSpPr>
        <p:spPr>
          <a:xfrm>
            <a:off x="7452360" y="3703320"/>
            <a:ext cx="0" cy="2093976"/>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7772400" y="3703320"/>
            <a:ext cx="292608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INSTRUCTOR DEMONSTRATION</a:t>
            </a:r>
            <a:endParaRPr sz="1100" b="1">
              <a:solidFill>
                <a:srgbClr val="E60012"/>
              </a:solidFill>
            </a:endParaRPr>
          </a:p>
        </p:txBody>
      </p:sp>
      <p:sp>
        <p:nvSpPr>
          <p:cNvPr id="37" name="TextBox 36"/>
          <p:cNvSpPr txBox="1"/>
          <p:nvPr/>
        </p:nvSpPr>
        <p:spPr>
          <a:xfrm>
            <a:off x="7772400" y="4096512"/>
            <a:ext cx="3337560" cy="1234440"/>
          </a:xfrm>
          <a:prstGeom prst="rect">
            <a:avLst/>
          </a:prstGeom>
          <a:noFill/>
        </p:spPr>
        <p:txBody>
          <a:bodyPr wrap="square" lIns="27432" tIns="27432" rIns="27432" bIns="27432" anchor="t">
            <a:spAutoFit/>
          </a:bodyPr>
          <a:lstStyle/>
          <a:p>
            <a:pPr algn="l">
              <a:spcAft>
                <a:spcPts val="0"/>
              </a:spcAft>
            </a:pPr>
            <a:r>
              <a:rPr sz="1500" b="1">
                <a:solidFill>
                  <a:srgbClr val="233A59"/>
                </a:solidFill>
              </a:rPr>
              <a:t>Record state and timestamps before remediation.</a:t>
            </a:r>
          </a:p>
        </p:txBody>
      </p:sp>
      <p:sp>
        <p:nvSpPr>
          <p:cNvPr id="38" name="TextBox 37"/>
          <p:cNvSpPr txBox="1"/>
          <p:nvPr/>
        </p:nvSpPr>
        <p:spPr>
          <a:xfrm>
            <a:off x="7772400" y="5440680"/>
            <a:ext cx="3337560" cy="363176"/>
          </a:xfrm>
          <a:prstGeom prst="rect">
            <a:avLst/>
          </a:prstGeom>
          <a:noFill/>
        </p:spPr>
        <p:txBody>
          <a:bodyPr wrap="square" lIns="27432" tIns="27432" rIns="27432" bIns="27432" anchor="t">
            <a:spAutoFit/>
          </a:bodyPr>
          <a:lstStyle/>
          <a:p>
            <a:pPr algn="l">
              <a:spcAft>
                <a:spcPts val="0"/>
              </a:spcAft>
            </a:pPr>
            <a:r>
              <a:rPr lang="en-GB" sz="1000" b="0">
                <a:solidFill>
                  <a:srgbClr val="687385"/>
                </a:solidFill>
              </a:rPr>
              <a:t>If debug is used, filter by the test tuple and disable</a:t>
            </a:r>
            <a:r>
              <a:rPr sz="1000" b="0">
                <a:solidFill>
                  <a:srgbClr val="687385"/>
                </a:solidFill>
              </a:rPr>
              <a:t>/reset </a:t>
            </a:r>
            <a:r>
              <a:rPr lang="en-GB" sz="1000" b="0">
                <a:solidFill>
                  <a:srgbClr val="687385"/>
                </a:solidFill>
              </a:rPr>
              <a:t>it immediately </a:t>
            </a:r>
            <a:r>
              <a:rPr sz="1000" b="0">
                <a:solidFill>
                  <a:srgbClr val="687385"/>
                </a:solidFill>
              </a:rPr>
              <a:t>after </a:t>
            </a:r>
            <a:r>
              <a:rPr lang="en-GB" sz="1000" b="0">
                <a:solidFill>
                  <a:srgbClr val="687385"/>
                </a:solidFill>
              </a:rPr>
              <a:t>capture</a:t>
            </a:r>
            <a:r>
              <a:rPr sz="1000" b="0">
                <a:solidFill>
                  <a:srgbClr val="687385"/>
                </a:solidFill>
              </a:rPr>
              <a:t>.</a:t>
            </a:r>
          </a:p>
        </p:txBody>
      </p:sp>
      <p:sp>
        <p:nvSpPr>
          <p:cNvPr id="39" name="TextBox 38"/>
          <p:cNvSpPr txBox="1"/>
          <p:nvPr/>
        </p:nvSpPr>
        <p:spPr>
          <a:xfrm>
            <a:off x="502920" y="420624"/>
            <a:ext cx="10744200" cy="130805"/>
          </a:xfrm>
          <a:prstGeom prst="rect">
            <a:avLst/>
          </a:prstGeom>
          <a:noFill/>
        </p:spPr>
        <p:txBody>
          <a:bodyPr wrap="square" lIns="0" tIns="0" rIns="0" bIns="0">
            <a:spAutoFit/>
          </a:bodyPr>
          <a:lstStyle/>
          <a:p>
            <a:pPr algn="l"/>
            <a:r>
              <a:rPr lang="en-HU" sz="850" b="1">
                <a:solidFill>
                  <a:srgbClr val="687385"/>
                </a:solidFill>
              </a:rPr>
              <a:t>124</a:t>
            </a:r>
            <a:r>
              <a:rPr sz="850" b="1">
                <a:solidFill>
                  <a:srgbClr val="687385"/>
                </a:solidFill>
              </a:rPr>
              <a:t> • DAY 3 • BLOCK 12 • VPN Troubleshooting</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125</a:t>
            </a:r>
          </a:p>
        </p:txBody>
      </p:sp>
      <p:sp>
        <p:nvSpPr>
          <p:cNvPr id="9" name="TextBox 8"/>
          <p:cNvSpPr txBox="1">
            <a:spLocks/>
          </p:cNvSpPr>
          <p:nvPr/>
        </p:nvSpPr>
        <p:spPr>
          <a:xfrm>
            <a:off x="502920" y="621792"/>
            <a:ext cx="11109960" cy="455509"/>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Phase 1 state isolates reachability, identity and proposal faults</a:t>
            </a:r>
          </a:p>
        </p:txBody>
      </p:sp>
      <p:sp>
        <p:nvSpPr>
          <p:cNvPr id="10" name="TextBox 9"/>
          <p:cNvSpPr txBox="1">
            <a:spLocks/>
          </p:cNvSpPr>
          <p:nvPr/>
        </p:nvSpPr>
        <p:spPr>
          <a:xfrm>
            <a:off x="658368" y="1554480"/>
            <a:ext cx="6583680" cy="4389120"/>
          </a:xfrm>
          <a:prstGeom prst="rect">
            <a:avLst/>
          </a:prstGeom>
          <a:noFill/>
        </p:spPr>
        <p:txBody>
          <a:bodyPr wrap="square" lIns="109728" tIns="73152" rIns="109728" bIns="73152" anchor="t">
            <a:spAutoFit/>
          </a:bodyPr>
          <a:lstStyle/>
          <a:p>
            <a:pPr algn="l">
              <a:lnSpc>
                <a:spcPct val="105000"/>
              </a:lnSpc>
              <a:spcAft>
                <a:spcPts val="800"/>
              </a:spcAft>
              <a:defRPr sz="1700">
                <a:solidFill>
                  <a:srgbClr val="1E2B40"/>
                </a:solidFill>
              </a:defRPr>
            </a:pPr>
            <a:r>
              <a:rPr lang="en-GB"/>
              <a:t>• No response suggests path, NAT or peer availability</a:t>
            </a:r>
          </a:p>
          <a:p>
            <a:pPr>
              <a:lnSpc>
                <a:spcPct val="105000"/>
              </a:lnSpc>
              <a:spcAft>
                <a:spcPts val="800"/>
              </a:spcAft>
              <a:defRPr sz="1700">
                <a:solidFill>
                  <a:srgbClr val="1E2B40"/>
                </a:solidFill>
              </a:defRPr>
            </a:pPr>
            <a:r>
              <a:rPr lang="en-GB"/>
              <a:t>• Proposal mismatch prevents cryptographic agreement</a:t>
            </a:r>
          </a:p>
          <a:p>
            <a:pPr>
              <a:lnSpc>
                <a:spcPct val="105000"/>
              </a:lnSpc>
              <a:spcAft>
                <a:spcPts val="800"/>
              </a:spcAft>
              <a:defRPr sz="1700">
                <a:solidFill>
                  <a:srgbClr val="1E2B40"/>
                </a:solidFill>
              </a:defRPr>
            </a:pPr>
            <a:r>
              <a:rPr lang="en-GB"/>
              <a:t>• Authentication/ID mismatch fails after initial exchange</a:t>
            </a:r>
          </a:p>
          <a:p>
            <a:pPr>
              <a:lnSpc>
                <a:spcPct val="105000"/>
              </a:lnSpc>
              <a:spcAft>
                <a:spcPts val="800"/>
              </a:spcAft>
              <a:defRPr sz="1700">
                <a:solidFill>
                  <a:srgbClr val="1E2B40"/>
                </a:solidFill>
              </a:defRPr>
            </a:pPr>
            <a:r>
              <a:rPr lang="en-GB"/>
              <a:t>• Certificate failures require time, chain and identity checks</a:t>
            </a:r>
          </a:p>
        </p:txBody>
      </p:sp>
      <p:cxnSp>
        <p:nvCxnSpPr>
          <p:cNvPr id="11" name="Connector 10"/>
          <p:cNvCxnSpPr/>
          <p:nvPr/>
        </p:nvCxnSpPr>
        <p:spPr>
          <a:xfrm>
            <a:off x="7452360" y="1600200"/>
            <a:ext cx="0" cy="434340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7790688" y="1627632"/>
            <a:ext cx="342900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ILLUSTRATIVE SCENARIO</a:t>
            </a:r>
          </a:p>
        </p:txBody>
      </p:sp>
      <p:sp>
        <p:nvSpPr>
          <p:cNvPr id="13" name="TextBox 12"/>
          <p:cNvSpPr txBox="1"/>
          <p:nvPr/>
        </p:nvSpPr>
        <p:spPr>
          <a:xfrm>
            <a:off x="7790688" y="2057400"/>
            <a:ext cx="3337560" cy="1417320"/>
          </a:xfrm>
          <a:prstGeom prst="rect">
            <a:avLst/>
          </a:prstGeom>
          <a:noFill/>
        </p:spPr>
        <p:txBody>
          <a:bodyPr wrap="square" lIns="27432" tIns="27432" rIns="27432" bIns="27432" anchor="t">
            <a:spAutoFit/>
          </a:bodyPr>
          <a:lstStyle/>
          <a:p>
            <a:pPr algn="l">
              <a:spcAft>
                <a:spcPts val="0"/>
              </a:spcAft>
            </a:pPr>
            <a:r>
              <a:rPr sz="1700" b="1">
                <a:solidFill>
                  <a:srgbClr val="233A59"/>
                </a:solidFill>
              </a:rPr>
              <a:t>Filter IKE diagnostics to the peer; avoid broad debug on production</a:t>
            </a:r>
          </a:p>
        </p:txBody>
      </p:sp>
      <p:sp>
        <p:nvSpPr>
          <p:cNvPr id="14" name="TextBox 13"/>
          <p:cNvSpPr txBox="1"/>
          <p:nvPr/>
        </p:nvSpPr>
        <p:spPr>
          <a:xfrm>
            <a:off x="7790688" y="3822191"/>
            <a:ext cx="18288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EXPECTED RESULT</a:t>
            </a:r>
            <a:endParaRPr sz="1100" b="1">
              <a:solidFill>
                <a:srgbClr val="E60012"/>
              </a:solidFill>
            </a:endParaRPr>
          </a:p>
        </p:txBody>
      </p:sp>
      <p:sp>
        <p:nvSpPr>
          <p:cNvPr id="15" name="TextBox 14"/>
          <p:cNvSpPr txBox="1"/>
          <p:nvPr/>
        </p:nvSpPr>
        <p:spPr>
          <a:xfrm>
            <a:off x="7790688" y="4187952"/>
            <a:ext cx="3337560" cy="1325880"/>
          </a:xfrm>
          <a:prstGeom prst="rect">
            <a:avLst/>
          </a:prstGeom>
          <a:noFill/>
        </p:spPr>
        <p:txBody>
          <a:bodyPr wrap="square" lIns="27432" tIns="27432" rIns="27432" bIns="27432" anchor="t">
            <a:spAutoFit/>
          </a:bodyPr>
          <a:lstStyle/>
          <a:p>
            <a:pPr algn="l">
              <a:spcAft>
                <a:spcPts val="0"/>
              </a:spcAft>
            </a:pPr>
            <a:r>
              <a:rPr sz="1500" b="0">
                <a:solidFill>
                  <a:srgbClr val="1E2B40"/>
                </a:solidFill>
              </a:rPr>
              <a:t>Compare both peers’ timestamps and stated failure reason.</a:t>
            </a:r>
          </a:p>
        </p:txBody>
      </p:sp>
      <p:sp>
        <p:nvSpPr>
          <p:cNvPr id="16" name="TextBox 15"/>
          <p:cNvSpPr txBox="1"/>
          <p:nvPr/>
        </p:nvSpPr>
        <p:spPr>
          <a:xfrm>
            <a:off x="7790688" y="5596128"/>
            <a:ext cx="1920240" cy="201168"/>
          </a:xfrm>
          <a:prstGeom prst="rect">
            <a:avLst/>
          </a:prstGeom>
          <a:noFill/>
        </p:spPr>
        <p:txBody>
          <a:bodyPr wrap="square" lIns="27432" tIns="27432" rIns="27432" bIns="27432" anchor="t">
            <a:spAutoFit/>
          </a:bodyPr>
          <a:lstStyle/>
          <a:p>
            <a:pPr algn="l">
              <a:spcAft>
                <a:spcPts val="0"/>
              </a:spcAft>
            </a:pPr>
            <a:r>
              <a:rPr sz="1000" b="1">
                <a:solidFill>
                  <a:srgbClr val="687385"/>
                </a:solidFill>
              </a:rPr>
              <a:t>Expected observation</a:t>
            </a:r>
          </a:p>
        </p:txBody>
      </p:sp>
      <p:sp>
        <p:nvSpPr>
          <p:cNvPr id="17" name="TextBox 16"/>
          <p:cNvSpPr txBox="1"/>
          <p:nvPr/>
        </p:nvSpPr>
        <p:spPr>
          <a:xfrm>
            <a:off x="9509760" y="5577840"/>
            <a:ext cx="1691640" cy="670953"/>
          </a:xfrm>
          <a:prstGeom prst="rect">
            <a:avLst/>
          </a:prstGeom>
          <a:noFill/>
        </p:spPr>
        <p:txBody>
          <a:bodyPr wrap="square" lIns="27432" tIns="27432" rIns="27432" bIns="27432" anchor="t">
            <a:spAutoFit/>
          </a:bodyPr>
          <a:lstStyle/>
          <a:p>
            <a:pPr algn="r">
              <a:spcAft>
                <a:spcPts val="0"/>
              </a:spcAft>
            </a:pPr>
            <a:r>
              <a:rPr lang="en-GB" sz="1000" b="0">
                <a:solidFill>
                  <a:srgbClr val="687385"/>
                </a:solidFill>
              </a:rPr>
              <a:t>The failed VPN layer is identified by peer state, selectors, route, policy </a:t>
            </a:r>
            <a:r>
              <a:rPr sz="1000" b="0">
                <a:solidFill>
                  <a:srgbClr val="687385"/>
                </a:solidFill>
              </a:rPr>
              <a:t>and </a:t>
            </a:r>
            <a:r>
              <a:rPr lang="en-GB" sz="1000" b="0">
                <a:solidFill>
                  <a:srgbClr val="687385"/>
                </a:solidFill>
              </a:rPr>
              <a:t>directional counters</a:t>
            </a:r>
            <a:r>
              <a:rPr sz="1000" b="0">
                <a:solidFill>
                  <a:srgbClr val="687385"/>
                </a:solidFill>
              </a:rPr>
              <a:t>.</a:t>
            </a:r>
          </a:p>
        </p:txBody>
      </p:sp>
      <p:sp>
        <p:nvSpPr>
          <p:cNvPr id="18" name="TextBox 17"/>
          <p:cNvSpPr txBox="1"/>
          <p:nvPr/>
        </p:nvSpPr>
        <p:spPr>
          <a:xfrm>
            <a:off x="502920" y="420624"/>
            <a:ext cx="10744200" cy="130805"/>
          </a:xfrm>
          <a:prstGeom prst="rect">
            <a:avLst/>
          </a:prstGeom>
          <a:noFill/>
        </p:spPr>
        <p:txBody>
          <a:bodyPr wrap="square" lIns="0" tIns="0" rIns="0" bIns="0">
            <a:spAutoFit/>
          </a:bodyPr>
          <a:lstStyle/>
          <a:p>
            <a:pPr algn="l"/>
            <a:r>
              <a:rPr lang="en-HU" sz="850" b="1">
                <a:solidFill>
                  <a:srgbClr val="687385"/>
                </a:solidFill>
              </a:rPr>
              <a:t>125</a:t>
            </a:r>
            <a:r>
              <a:rPr sz="850" b="1">
                <a:solidFill>
                  <a:srgbClr val="687385"/>
                </a:solidFill>
              </a:rPr>
              <a:t> • DAY 3 • BLOCK 12 • VPN Troubleshooting</a:t>
            </a: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126</a:t>
            </a:r>
          </a:p>
        </p:txBody>
      </p:sp>
      <p:sp>
        <p:nvSpPr>
          <p:cNvPr id="9" name="TextBox 8"/>
          <p:cNvSpPr txBox="1">
            <a:spLocks/>
          </p:cNvSpPr>
          <p:nvPr/>
        </p:nvSpPr>
        <p:spPr>
          <a:xfrm>
            <a:off x="502920" y="621792"/>
            <a:ext cx="11109960" cy="455509"/>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Phase 2 state links selectors to directional packet counters</a:t>
            </a:r>
          </a:p>
        </p:txBody>
      </p:sp>
      <p:sp>
        <p:nvSpPr>
          <p:cNvPr id="10" name="TextBox 9"/>
          <p:cNvSpPr txBox="1">
            <a:spLocks/>
          </p:cNvSpPr>
          <p:nvPr/>
        </p:nvSpPr>
        <p:spPr>
          <a:xfrm>
            <a:off x="658368" y="1554480"/>
            <a:ext cx="6583680" cy="4389120"/>
          </a:xfrm>
          <a:prstGeom prst="rect">
            <a:avLst/>
          </a:prstGeom>
          <a:noFill/>
        </p:spPr>
        <p:txBody>
          <a:bodyPr wrap="square" lIns="109728" tIns="73152" rIns="109728" bIns="73152" anchor="t">
            <a:spAutoFit/>
          </a:bodyPr>
          <a:lstStyle/>
          <a:p>
            <a:pPr algn="l">
              <a:lnSpc>
                <a:spcPct val="105000"/>
              </a:lnSpc>
              <a:spcAft>
                <a:spcPts val="800"/>
              </a:spcAft>
              <a:defRPr sz="1700">
                <a:solidFill>
                  <a:srgbClr val="1E2B40"/>
                </a:solidFill>
              </a:defRPr>
            </a:pPr>
            <a:r>
              <a:rPr lang="en-GB"/>
              <a:t>• An IKE SA can be healthy while no CHILD SA exists</a:t>
            </a:r>
          </a:p>
          <a:p>
            <a:pPr>
              <a:lnSpc>
                <a:spcPct val="105000"/>
              </a:lnSpc>
              <a:spcAft>
                <a:spcPts val="800"/>
              </a:spcAft>
              <a:defRPr sz="1700">
                <a:solidFill>
                  <a:srgbClr val="1E2B40"/>
                </a:solidFill>
              </a:defRPr>
            </a:pPr>
            <a:r>
              <a:rPr lang="en-GB"/>
              <a:t>• Selector mismatch or proposal mismatch prevents data SA</a:t>
            </a:r>
          </a:p>
          <a:p>
            <a:pPr>
              <a:lnSpc>
                <a:spcPct val="105000"/>
              </a:lnSpc>
              <a:spcAft>
                <a:spcPts val="800"/>
              </a:spcAft>
              <a:defRPr sz="1700">
                <a:solidFill>
                  <a:srgbClr val="1E2B40"/>
                </a:solidFill>
              </a:defRPr>
            </a:pPr>
            <a:r>
              <a:rPr lang="en-GB"/>
              <a:t>• Encaps/decaps counters show directionality</a:t>
            </a:r>
          </a:p>
          <a:p>
            <a:pPr>
              <a:lnSpc>
                <a:spcPct val="105000"/>
              </a:lnSpc>
              <a:spcAft>
                <a:spcPts val="800"/>
              </a:spcAft>
              <a:defRPr sz="1700">
                <a:solidFill>
                  <a:srgbClr val="1E2B40"/>
                </a:solidFill>
              </a:defRPr>
            </a:pPr>
            <a:r>
              <a:rPr lang="en-GB"/>
              <a:t>• Rekey failures may preserve old state briefly, causing intermittent symptoms</a:t>
            </a:r>
          </a:p>
        </p:txBody>
      </p:sp>
      <p:cxnSp>
        <p:nvCxnSpPr>
          <p:cNvPr id="11" name="Connector 10"/>
          <p:cNvCxnSpPr/>
          <p:nvPr/>
        </p:nvCxnSpPr>
        <p:spPr>
          <a:xfrm>
            <a:off x="7452360" y="1600200"/>
            <a:ext cx="0" cy="434340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7790688" y="1627632"/>
            <a:ext cx="342900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ILLUSTRATIVE SCENARIO</a:t>
            </a:r>
          </a:p>
        </p:txBody>
      </p:sp>
      <p:sp>
        <p:nvSpPr>
          <p:cNvPr id="13" name="TextBox 12"/>
          <p:cNvSpPr txBox="1">
            <a:spLocks/>
          </p:cNvSpPr>
          <p:nvPr/>
        </p:nvSpPr>
        <p:spPr>
          <a:xfrm>
            <a:off x="7790688" y="2057400"/>
            <a:ext cx="3337560" cy="840230"/>
          </a:xfrm>
          <a:prstGeom prst="rect">
            <a:avLst/>
          </a:prstGeom>
          <a:noFill/>
        </p:spPr>
        <p:txBody>
          <a:bodyPr wrap="square" lIns="27432" tIns="27432" rIns="27432" bIns="27432" anchor="t">
            <a:spAutoFit/>
          </a:bodyPr>
          <a:lstStyle/>
          <a:p>
            <a:pPr algn="l">
              <a:spcAft>
                <a:spcPts val="0"/>
              </a:spcAft>
            </a:pPr>
            <a:r>
              <a:rPr lang="en-GB" sz="1700" b="1">
                <a:solidFill>
                  <a:srgbClr val="233A59"/>
                </a:solidFill>
              </a:rPr>
              <a:t>Encaps increasing with zero decaps points toward the remote policy, path or return route</a:t>
            </a:r>
          </a:p>
        </p:txBody>
      </p:sp>
      <p:sp>
        <p:nvSpPr>
          <p:cNvPr id="14" name="TextBox 13"/>
          <p:cNvSpPr txBox="1">
            <a:spLocks/>
          </p:cNvSpPr>
          <p:nvPr/>
        </p:nvSpPr>
        <p:spPr>
          <a:xfrm>
            <a:off x="7790688" y="3822191"/>
            <a:ext cx="18288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EXPECTED RESULT</a:t>
            </a:r>
          </a:p>
        </p:txBody>
      </p:sp>
      <p:sp>
        <p:nvSpPr>
          <p:cNvPr id="15" name="TextBox 14"/>
          <p:cNvSpPr txBox="1">
            <a:spLocks/>
          </p:cNvSpPr>
          <p:nvPr/>
        </p:nvSpPr>
        <p:spPr>
          <a:xfrm>
            <a:off x="7790688" y="4187952"/>
            <a:ext cx="3337560" cy="1325880"/>
          </a:xfrm>
          <a:prstGeom prst="rect">
            <a:avLst/>
          </a:prstGeom>
          <a:noFill/>
        </p:spPr>
        <p:txBody>
          <a:bodyPr wrap="square" lIns="27432" tIns="27432" rIns="27432" bIns="27432" anchor="t">
            <a:spAutoFit/>
          </a:bodyPr>
          <a:lstStyle/>
          <a:p>
            <a:pPr algn="l">
              <a:spcAft>
                <a:spcPts val="0"/>
              </a:spcAft>
            </a:pPr>
            <a:r>
              <a:rPr lang="en-GB" sz="1500" b="0">
                <a:solidFill>
                  <a:srgbClr val="1E2B40"/>
                </a:solidFill>
              </a:rPr>
              <a:t>Compare both endpoints’ SA and packet counters.</a:t>
            </a:r>
          </a:p>
        </p:txBody>
      </p:sp>
      <p:sp>
        <p:nvSpPr>
          <p:cNvPr id="16" name="TextBox 15"/>
          <p:cNvSpPr txBox="1">
            <a:spLocks/>
          </p:cNvSpPr>
          <p:nvPr/>
        </p:nvSpPr>
        <p:spPr>
          <a:xfrm>
            <a:off x="7790688" y="5596128"/>
            <a:ext cx="1920240" cy="201168"/>
          </a:xfrm>
          <a:prstGeom prst="rect">
            <a:avLst/>
          </a:prstGeom>
          <a:noFill/>
        </p:spPr>
        <p:txBody>
          <a:bodyPr wrap="square" lIns="27432" tIns="27432" rIns="27432" bIns="27432" anchor="t">
            <a:spAutoFit/>
          </a:bodyPr>
          <a:lstStyle/>
          <a:p>
            <a:pPr algn="l">
              <a:spcAft>
                <a:spcPts val="0"/>
              </a:spcAft>
            </a:pPr>
            <a:r>
              <a:rPr lang="en-GB" sz="1000" b="1">
                <a:solidFill>
                  <a:srgbClr val="687385"/>
                </a:solidFill>
              </a:rPr>
              <a:t>Expected observation</a:t>
            </a:r>
          </a:p>
        </p:txBody>
      </p:sp>
      <p:sp>
        <p:nvSpPr>
          <p:cNvPr id="17" name="TextBox 16"/>
          <p:cNvSpPr txBox="1">
            <a:spLocks/>
          </p:cNvSpPr>
          <p:nvPr/>
        </p:nvSpPr>
        <p:spPr>
          <a:xfrm>
            <a:off x="9509760" y="5577840"/>
            <a:ext cx="1691640" cy="670953"/>
          </a:xfrm>
          <a:prstGeom prst="rect">
            <a:avLst/>
          </a:prstGeom>
          <a:noFill/>
        </p:spPr>
        <p:txBody>
          <a:bodyPr wrap="square" lIns="27432" tIns="27432" rIns="27432" bIns="27432" anchor="t">
            <a:spAutoFit/>
          </a:bodyPr>
          <a:lstStyle/>
          <a:p>
            <a:pPr algn="r">
              <a:spcAft>
                <a:spcPts val="0"/>
              </a:spcAft>
            </a:pPr>
            <a:r>
              <a:rPr lang="en-GB" sz="1000" b="0">
                <a:solidFill>
                  <a:srgbClr val="687385"/>
                </a:solidFill>
              </a:rPr>
              <a:t>The failed VPN layer is identified by peer state, selectors, route, policy and directional counters.</a:t>
            </a:r>
          </a:p>
        </p:txBody>
      </p:sp>
      <p:sp>
        <p:nvSpPr>
          <p:cNvPr id="18" name="TextBox 17"/>
          <p:cNvSpPr txBox="1">
            <a:spLocks/>
          </p:cNvSpPr>
          <p:nvPr/>
        </p:nvSpPr>
        <p:spPr>
          <a:xfrm>
            <a:off x="502920" y="420624"/>
            <a:ext cx="10744200" cy="130805"/>
          </a:xfrm>
          <a:prstGeom prst="rect">
            <a:avLst/>
          </a:prstGeom>
          <a:noFill/>
        </p:spPr>
        <p:txBody>
          <a:bodyPr wrap="square" lIns="0" tIns="0" rIns="0" bIns="0">
            <a:spAutoFit/>
          </a:bodyPr>
          <a:lstStyle/>
          <a:p>
            <a:pPr algn="l"/>
            <a:r>
              <a:rPr lang="en-GB" sz="850" b="1">
                <a:solidFill>
                  <a:srgbClr val="687385"/>
                </a:solidFill>
              </a:rPr>
              <a:t>126 • DAY 3 • BLOCK 12 • VPN Troubleshooting</a:t>
            </a: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127</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Routing chooses the tunnel; policy permits the chosen path</a:t>
            </a:r>
          </a:p>
        </p:txBody>
      </p:sp>
      <p:sp>
        <p:nvSpPr>
          <p:cNvPr id="10" name="TextBox 9"/>
          <p:cNvSpPr txBox="1">
            <a:spLocks/>
          </p:cNvSpPr>
          <p:nvPr/>
        </p:nvSpPr>
        <p:spPr>
          <a:xfrm>
            <a:off x="658368" y="1554480"/>
            <a:ext cx="6583680" cy="4389120"/>
          </a:xfrm>
          <a:prstGeom prst="rect">
            <a:avLst/>
          </a:prstGeom>
          <a:noFill/>
        </p:spPr>
        <p:txBody>
          <a:bodyPr wrap="square" lIns="109728" tIns="73152" rIns="109728" bIns="73152" anchor="t">
            <a:spAutoFit/>
          </a:bodyPr>
          <a:lstStyle/>
          <a:p>
            <a:pPr algn="l">
              <a:lnSpc>
                <a:spcPct val="105000"/>
              </a:lnSpc>
              <a:spcAft>
                <a:spcPts val="800"/>
              </a:spcAft>
              <a:defRPr sz="1700">
                <a:solidFill>
                  <a:srgbClr val="1E2B40"/>
                </a:solidFill>
              </a:defRPr>
            </a:pPr>
            <a:r>
              <a:rPr lang="en-GB"/>
              <a:t>• Route lookup must select the tunnel for the protected destination</a:t>
            </a:r>
          </a:p>
          <a:p>
            <a:pPr>
              <a:lnSpc>
                <a:spcPct val="105000"/>
              </a:lnSpc>
              <a:spcAft>
                <a:spcPts val="800"/>
              </a:spcAft>
              <a:defRPr sz="1700">
                <a:solidFill>
                  <a:srgbClr val="1E2B40"/>
                </a:solidFill>
              </a:defRPr>
            </a:pPr>
            <a:r>
              <a:rPr lang="en-GB"/>
              <a:t>• Policy ingress/egress pair must match actual interfaces</a:t>
            </a:r>
          </a:p>
          <a:p>
            <a:pPr>
              <a:lnSpc>
                <a:spcPct val="105000"/>
              </a:lnSpc>
              <a:spcAft>
                <a:spcPts val="800"/>
              </a:spcAft>
              <a:defRPr sz="1700">
                <a:solidFill>
                  <a:srgbClr val="1E2B40"/>
                </a:solidFill>
              </a:defRPr>
            </a:pPr>
            <a:r>
              <a:rPr lang="en-GB"/>
              <a:t>• A broader WAN route can steal traffic if overlay route is absent</a:t>
            </a:r>
          </a:p>
          <a:p>
            <a:pPr>
              <a:lnSpc>
                <a:spcPct val="105000"/>
              </a:lnSpc>
              <a:spcAft>
                <a:spcPts val="800"/>
              </a:spcAft>
              <a:defRPr sz="1700">
                <a:solidFill>
                  <a:srgbClr val="1E2B40"/>
                </a:solidFill>
              </a:defRPr>
            </a:pPr>
            <a:r>
              <a:rPr lang="en-GB"/>
              <a:t>• Return path must choose the reciprocal tunnel or valid symmetric design</a:t>
            </a:r>
          </a:p>
        </p:txBody>
      </p:sp>
      <p:cxnSp>
        <p:nvCxnSpPr>
          <p:cNvPr id="11" name="Connector 10"/>
          <p:cNvCxnSpPr/>
          <p:nvPr/>
        </p:nvCxnSpPr>
        <p:spPr>
          <a:xfrm>
            <a:off x="7452360" y="1600200"/>
            <a:ext cx="0" cy="434340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7790688" y="1627632"/>
            <a:ext cx="342900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ILLUSTRATIVE SCENARIO</a:t>
            </a:r>
          </a:p>
        </p:txBody>
      </p:sp>
      <p:sp>
        <p:nvSpPr>
          <p:cNvPr id="13" name="TextBox 12"/>
          <p:cNvSpPr txBox="1">
            <a:spLocks/>
          </p:cNvSpPr>
          <p:nvPr/>
        </p:nvSpPr>
        <p:spPr>
          <a:xfrm>
            <a:off x="7790688" y="2057400"/>
            <a:ext cx="3337560" cy="1417320"/>
          </a:xfrm>
          <a:prstGeom prst="rect">
            <a:avLst/>
          </a:prstGeom>
          <a:noFill/>
        </p:spPr>
        <p:txBody>
          <a:bodyPr wrap="square" lIns="27432" tIns="27432" rIns="27432" bIns="27432" anchor="t">
            <a:spAutoFit/>
          </a:bodyPr>
          <a:lstStyle/>
          <a:p>
            <a:pPr algn="l">
              <a:spcAft>
                <a:spcPts val="0"/>
              </a:spcAft>
            </a:pPr>
            <a:r>
              <a:rPr lang="en-GB" sz="1700" b="1">
                <a:solidFill>
                  <a:srgbClr val="233A59"/>
                </a:solidFill>
              </a:rPr>
              <a:t>Tunnel-up does not override a more-specific route to another interface</a:t>
            </a:r>
          </a:p>
        </p:txBody>
      </p:sp>
      <p:sp>
        <p:nvSpPr>
          <p:cNvPr id="14" name="TextBox 13"/>
          <p:cNvSpPr txBox="1">
            <a:spLocks/>
          </p:cNvSpPr>
          <p:nvPr/>
        </p:nvSpPr>
        <p:spPr>
          <a:xfrm>
            <a:off x="7790688" y="3822191"/>
            <a:ext cx="18288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EXPECTED RESULT</a:t>
            </a:r>
          </a:p>
        </p:txBody>
      </p:sp>
      <p:sp>
        <p:nvSpPr>
          <p:cNvPr id="15" name="TextBox 14"/>
          <p:cNvSpPr txBox="1">
            <a:spLocks/>
          </p:cNvSpPr>
          <p:nvPr/>
        </p:nvSpPr>
        <p:spPr>
          <a:xfrm>
            <a:off x="7790688" y="4187952"/>
            <a:ext cx="3337560" cy="1325880"/>
          </a:xfrm>
          <a:prstGeom prst="rect">
            <a:avLst/>
          </a:prstGeom>
          <a:noFill/>
        </p:spPr>
        <p:txBody>
          <a:bodyPr wrap="square" lIns="27432" tIns="27432" rIns="27432" bIns="27432" anchor="t">
            <a:spAutoFit/>
          </a:bodyPr>
          <a:lstStyle/>
          <a:p>
            <a:pPr algn="l">
              <a:spcAft>
                <a:spcPts val="0"/>
              </a:spcAft>
            </a:pPr>
            <a:r>
              <a:rPr lang="en-GB" sz="1500" b="0">
                <a:solidFill>
                  <a:srgbClr val="1E2B40"/>
                </a:solidFill>
              </a:rPr>
              <a:t>Run route lookup for both destination directions.</a:t>
            </a:r>
          </a:p>
        </p:txBody>
      </p:sp>
      <p:sp>
        <p:nvSpPr>
          <p:cNvPr id="16" name="TextBox 15"/>
          <p:cNvSpPr txBox="1">
            <a:spLocks/>
          </p:cNvSpPr>
          <p:nvPr/>
        </p:nvSpPr>
        <p:spPr>
          <a:xfrm>
            <a:off x="7790688" y="5596128"/>
            <a:ext cx="1920240" cy="201168"/>
          </a:xfrm>
          <a:prstGeom prst="rect">
            <a:avLst/>
          </a:prstGeom>
          <a:noFill/>
        </p:spPr>
        <p:txBody>
          <a:bodyPr wrap="square" lIns="27432" tIns="27432" rIns="27432" bIns="27432" anchor="t">
            <a:spAutoFit/>
          </a:bodyPr>
          <a:lstStyle/>
          <a:p>
            <a:pPr algn="l">
              <a:spcAft>
                <a:spcPts val="0"/>
              </a:spcAft>
            </a:pPr>
            <a:r>
              <a:rPr lang="en-GB" sz="1000" b="1">
                <a:solidFill>
                  <a:srgbClr val="687385"/>
                </a:solidFill>
              </a:rPr>
              <a:t>Expected observation</a:t>
            </a:r>
          </a:p>
        </p:txBody>
      </p:sp>
      <p:sp>
        <p:nvSpPr>
          <p:cNvPr id="17" name="TextBox 16"/>
          <p:cNvSpPr txBox="1">
            <a:spLocks/>
          </p:cNvSpPr>
          <p:nvPr/>
        </p:nvSpPr>
        <p:spPr>
          <a:xfrm>
            <a:off x="9509760" y="5577840"/>
            <a:ext cx="1691640" cy="670953"/>
          </a:xfrm>
          <a:prstGeom prst="rect">
            <a:avLst/>
          </a:prstGeom>
          <a:noFill/>
        </p:spPr>
        <p:txBody>
          <a:bodyPr wrap="square" lIns="27432" tIns="27432" rIns="27432" bIns="27432" anchor="t">
            <a:spAutoFit/>
          </a:bodyPr>
          <a:lstStyle/>
          <a:p>
            <a:pPr algn="r">
              <a:spcAft>
                <a:spcPts val="0"/>
              </a:spcAft>
            </a:pPr>
            <a:r>
              <a:rPr lang="en-GB" sz="1000" b="0">
                <a:solidFill>
                  <a:srgbClr val="687385"/>
                </a:solidFill>
              </a:rPr>
              <a:t>The failed VPN layer is identified by peer state, selectors, route, policy and directional counters.</a:t>
            </a:r>
          </a:p>
        </p:txBody>
      </p:sp>
      <p:sp>
        <p:nvSpPr>
          <p:cNvPr id="18" name="TextBox 17"/>
          <p:cNvSpPr txBox="1">
            <a:spLocks/>
          </p:cNvSpPr>
          <p:nvPr/>
        </p:nvSpPr>
        <p:spPr>
          <a:xfrm>
            <a:off x="502920" y="420624"/>
            <a:ext cx="10744200" cy="130805"/>
          </a:xfrm>
          <a:prstGeom prst="rect">
            <a:avLst/>
          </a:prstGeom>
          <a:noFill/>
        </p:spPr>
        <p:txBody>
          <a:bodyPr wrap="square" lIns="0" tIns="0" rIns="0" bIns="0">
            <a:spAutoFit/>
          </a:bodyPr>
          <a:lstStyle/>
          <a:p>
            <a:pPr algn="l"/>
            <a:r>
              <a:rPr lang="en-GB" sz="850" b="1">
                <a:solidFill>
                  <a:srgbClr val="687385"/>
                </a:solidFill>
              </a:rPr>
              <a:t>127 • DAY 3 • BLOCK 12 • VPN Troubleshooting</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128</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Sessions preserve the chosen VPN and NAT state</a:t>
            </a:r>
          </a:p>
        </p:txBody>
      </p:sp>
      <p:sp>
        <p:nvSpPr>
          <p:cNvPr id="10" name="Rectangle 9"/>
          <p:cNvSpPr/>
          <p:nvPr/>
        </p:nvSpPr>
        <p:spPr>
          <a:xfrm>
            <a:off x="658368" y="1572768"/>
            <a:ext cx="6583680" cy="425196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1" name="TextBox 10"/>
          <p:cNvSpPr txBox="1">
            <a:spLocks/>
          </p:cNvSpPr>
          <p:nvPr/>
        </p:nvSpPr>
        <p:spPr>
          <a:xfrm>
            <a:off x="877824" y="1783080"/>
            <a:ext cx="6126480" cy="209288"/>
          </a:xfrm>
          <a:prstGeom prst="rect">
            <a:avLst/>
          </a:prstGeom>
          <a:noFill/>
        </p:spPr>
        <p:txBody>
          <a:bodyPr wrap="square" lIns="27432" tIns="27432" rIns="27432" bIns="27432" anchor="t">
            <a:spAutoFit/>
          </a:bodyPr>
          <a:lstStyle/>
          <a:p>
            <a:pPr algn="l">
              <a:spcAft>
                <a:spcPts val="0"/>
              </a:spcAft>
            </a:pPr>
            <a:r>
              <a:rPr lang="en-GB" sz="1000" b="1">
                <a:solidFill>
                  <a:srgbClr val="E60012"/>
                </a:solidFill>
              </a:rPr>
              <a:t>ILLUSTRATIVE CLI — validate on FortiOS 7.6.7 / Azure FortiGate-VM</a:t>
            </a:r>
          </a:p>
        </p:txBody>
      </p:sp>
      <p:sp>
        <p:nvSpPr>
          <p:cNvPr id="12" name="TextBox 11"/>
          <p:cNvSpPr txBox="1">
            <a:spLocks/>
          </p:cNvSpPr>
          <p:nvPr/>
        </p:nvSpPr>
        <p:spPr>
          <a:xfrm>
            <a:off x="877824" y="2212848"/>
            <a:ext cx="6080760" cy="3154680"/>
          </a:xfrm>
          <a:prstGeom prst="rect">
            <a:avLst/>
          </a:prstGeom>
          <a:noFill/>
        </p:spPr>
        <p:txBody>
          <a:bodyPr wrap="square" lIns="27432" tIns="27432" rIns="27432" bIns="27432" anchor="t">
            <a:spAutoFit/>
          </a:bodyPr>
          <a:lstStyle/>
          <a:p>
            <a:pPr algn="l">
              <a:spcAft>
                <a:spcPts val="0"/>
              </a:spcAft>
            </a:pPr>
            <a:r>
              <a:rPr lang="en-GB" sz="1400" b="0">
                <a:solidFill>
                  <a:srgbClr val="E6ECF4"/>
                </a:solidFill>
                <a:latin typeface="Consolas"/>
              </a:rPr>
              <a:t>get vpn ipsec tunnel summary
diagnose vpn tunnel list
get router info routing-table details &lt;protected-ip&gt;
diagnose sys session filter dst &lt;protected-ip&gt;
diagnose sys session list</a:t>
            </a:r>
          </a:p>
        </p:txBody>
      </p:sp>
      <p:sp>
        <p:nvSpPr>
          <p:cNvPr id="13" name="TextBox 12"/>
          <p:cNvSpPr txBox="1">
            <a:spLocks/>
          </p:cNvSpPr>
          <p:nvPr/>
        </p:nvSpPr>
        <p:spPr>
          <a:xfrm>
            <a:off x="7754112" y="1719072"/>
            <a:ext cx="3154680" cy="256032"/>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READ THE OUTPUT</a:t>
            </a:r>
          </a:p>
        </p:txBody>
      </p:sp>
      <p:sp>
        <p:nvSpPr>
          <p:cNvPr id="14" name="TextBox 13"/>
          <p:cNvSpPr txBox="1">
            <a:spLocks/>
          </p:cNvSpPr>
          <p:nvPr/>
        </p:nvSpPr>
        <p:spPr>
          <a:xfrm>
            <a:off x="7754112" y="2121408"/>
            <a:ext cx="3383280" cy="2148840"/>
          </a:xfrm>
          <a:prstGeom prst="rect">
            <a:avLst/>
          </a:prstGeom>
          <a:noFill/>
        </p:spPr>
        <p:txBody>
          <a:bodyPr wrap="square" lIns="109728" tIns="73152" rIns="109728" bIns="73152" anchor="t">
            <a:spAutoFit/>
          </a:bodyPr>
          <a:lstStyle/>
          <a:p>
            <a:pPr algn="l">
              <a:lnSpc>
                <a:spcPct val="105000"/>
              </a:lnSpc>
              <a:spcAft>
                <a:spcPts val="700"/>
              </a:spcAft>
              <a:defRPr sz="1500">
                <a:solidFill>
                  <a:srgbClr val="1E2B40"/>
                </a:solidFill>
              </a:defRPr>
            </a:pPr>
            <a:r>
              <a:rPr lang="en-GB"/>
              <a:t>• Existing sessions can continue using old routing/policy decisions</a:t>
            </a:r>
          </a:p>
          <a:p>
            <a:pPr>
              <a:lnSpc>
                <a:spcPct val="105000"/>
              </a:lnSpc>
              <a:spcAft>
                <a:spcPts val="700"/>
              </a:spcAft>
              <a:defRPr sz="1500">
                <a:solidFill>
                  <a:srgbClr val="1E2B40"/>
                </a:solidFill>
              </a:defRPr>
            </a:pPr>
            <a:r>
              <a:rPr lang="en-GB"/>
              <a:t>• A configuration fix may require a new test tuple or authorized session clear</a:t>
            </a:r>
          </a:p>
          <a:p>
            <a:pPr>
              <a:lnSpc>
                <a:spcPct val="105000"/>
              </a:lnSpc>
              <a:spcAft>
                <a:spcPts val="700"/>
              </a:spcAft>
              <a:defRPr sz="1500">
                <a:solidFill>
                  <a:srgbClr val="1E2B40"/>
                </a:solidFill>
              </a:defRPr>
            </a:pPr>
            <a:r>
              <a:rPr lang="en-GB"/>
              <a:t>• NAT is usually unintended for site-to-site protected traffic unless designed</a:t>
            </a:r>
          </a:p>
          <a:p>
            <a:pPr>
              <a:lnSpc>
                <a:spcPct val="105000"/>
              </a:lnSpc>
              <a:spcAft>
                <a:spcPts val="700"/>
              </a:spcAft>
              <a:defRPr sz="1500">
                <a:solidFill>
                  <a:srgbClr val="1E2B40"/>
                </a:solidFill>
              </a:defRPr>
            </a:pPr>
            <a:r>
              <a:rPr lang="en-GB"/>
              <a:t>• Asymmetric return creates one-sided counters and incomplete sessions</a:t>
            </a:r>
          </a:p>
        </p:txBody>
      </p:sp>
      <p:sp>
        <p:nvSpPr>
          <p:cNvPr id="15" name="TextBox 14"/>
          <p:cNvSpPr txBox="1">
            <a:spLocks/>
          </p:cNvSpPr>
          <p:nvPr/>
        </p:nvSpPr>
        <p:spPr>
          <a:xfrm>
            <a:off x="7754112" y="4553712"/>
            <a:ext cx="201168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Safe operation</a:t>
            </a:r>
          </a:p>
        </p:txBody>
      </p:sp>
      <p:sp>
        <p:nvSpPr>
          <p:cNvPr id="16" name="TextBox 15"/>
          <p:cNvSpPr txBox="1">
            <a:spLocks/>
          </p:cNvSpPr>
          <p:nvPr/>
        </p:nvSpPr>
        <p:spPr>
          <a:xfrm>
            <a:off x="7754112" y="4882896"/>
            <a:ext cx="3401568" cy="822960"/>
          </a:xfrm>
          <a:prstGeom prst="rect">
            <a:avLst/>
          </a:prstGeom>
          <a:noFill/>
        </p:spPr>
        <p:txBody>
          <a:bodyPr wrap="square" lIns="27432" tIns="27432" rIns="27432" bIns="27432" anchor="t">
            <a:spAutoFit/>
          </a:bodyPr>
          <a:lstStyle/>
          <a:p>
            <a:pPr algn="l">
              <a:spcAft>
                <a:spcPts val="0"/>
              </a:spcAft>
            </a:pPr>
            <a:r>
              <a:rPr lang="en-GB" sz="1400" b="1">
                <a:solidFill>
                  <a:srgbClr val="233A59"/>
                </a:solidFill>
              </a:rPr>
              <a:t>Use a new source port before disruptive session clearing</a:t>
            </a:r>
          </a:p>
        </p:txBody>
      </p:sp>
      <p:sp>
        <p:nvSpPr>
          <p:cNvPr id="17" name="TextBox 16"/>
          <p:cNvSpPr txBox="1">
            <a:spLocks/>
          </p:cNvSpPr>
          <p:nvPr/>
        </p:nvSpPr>
        <p:spPr>
          <a:xfrm>
            <a:off x="502920" y="420624"/>
            <a:ext cx="10744200" cy="130805"/>
          </a:xfrm>
          <a:prstGeom prst="rect">
            <a:avLst/>
          </a:prstGeom>
          <a:noFill/>
        </p:spPr>
        <p:txBody>
          <a:bodyPr wrap="square" lIns="0" tIns="0" rIns="0" bIns="0">
            <a:spAutoFit/>
          </a:bodyPr>
          <a:lstStyle/>
          <a:p>
            <a:pPr algn="l"/>
            <a:r>
              <a:rPr lang="en-GB" sz="850" b="1">
                <a:solidFill>
                  <a:srgbClr val="687385"/>
                </a:solidFill>
              </a:rPr>
              <a:t>128 • DAY 3 • BLOCK 12 • VPN Troubleshooting</a:t>
            </a: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129</a:t>
            </a:r>
          </a:p>
        </p:txBody>
      </p:sp>
      <p:sp>
        <p:nvSpPr>
          <p:cNvPr id="9" name="TextBox 8"/>
          <p:cNvSpPr txBox="1">
            <a:spLocks/>
          </p:cNvSpPr>
          <p:nvPr/>
        </p:nvSpPr>
        <p:spPr>
          <a:xfrm>
            <a:off x="502920" y="621792"/>
            <a:ext cx="11109960" cy="455509"/>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Packet capture shows where protected traffic stops</a:t>
            </a:r>
          </a:p>
        </p:txBody>
      </p:sp>
      <p:sp>
        <p:nvSpPr>
          <p:cNvPr id="10" name="TextBox 9"/>
          <p:cNvSpPr txBox="1">
            <a:spLocks/>
          </p:cNvSpPr>
          <p:nvPr/>
        </p:nvSpPr>
        <p:spPr>
          <a:xfrm>
            <a:off x="658368" y="1554480"/>
            <a:ext cx="6583680" cy="4389120"/>
          </a:xfrm>
          <a:prstGeom prst="rect">
            <a:avLst/>
          </a:prstGeom>
          <a:noFill/>
        </p:spPr>
        <p:txBody>
          <a:bodyPr wrap="square" lIns="109728" tIns="73152" rIns="109728" bIns="73152" anchor="t">
            <a:spAutoFit/>
          </a:bodyPr>
          <a:lstStyle/>
          <a:p>
            <a:pPr algn="l">
              <a:lnSpc>
                <a:spcPct val="105000"/>
              </a:lnSpc>
              <a:spcAft>
                <a:spcPts val="800"/>
              </a:spcAft>
              <a:defRPr sz="1700">
                <a:solidFill>
                  <a:srgbClr val="1E2B40"/>
                </a:solidFill>
              </a:defRPr>
            </a:pPr>
            <a:r>
              <a:rPr lang="en-GB"/>
              <a:t>• Capture IKE on the underlay and protected traffic on LAN/tunnel-relevant interfaces</a:t>
            </a:r>
          </a:p>
          <a:p>
            <a:pPr>
              <a:lnSpc>
                <a:spcPct val="105000"/>
              </a:lnSpc>
              <a:spcAft>
                <a:spcPts val="800"/>
              </a:spcAft>
              <a:defRPr sz="1700">
                <a:solidFill>
                  <a:srgbClr val="1E2B40"/>
                </a:solidFill>
              </a:defRPr>
            </a:pPr>
            <a:r>
              <a:rPr lang="en-GB"/>
              <a:t>• One-sided protected packets reveal where forwarding stops</a:t>
            </a:r>
          </a:p>
          <a:p>
            <a:pPr>
              <a:lnSpc>
                <a:spcPct val="105000"/>
              </a:lnSpc>
              <a:spcAft>
                <a:spcPts val="800"/>
              </a:spcAft>
              <a:defRPr sz="1700">
                <a:solidFill>
                  <a:srgbClr val="1E2B40"/>
                </a:solidFill>
              </a:defRPr>
            </a:pPr>
            <a:r>
              <a:rPr lang="en-GB"/>
              <a:t>• ESP versus UDP/4500 depends on NAT traversal/path</a:t>
            </a:r>
          </a:p>
          <a:p>
            <a:pPr>
              <a:lnSpc>
                <a:spcPct val="105000"/>
              </a:lnSpc>
              <a:spcAft>
                <a:spcPts val="800"/>
              </a:spcAft>
              <a:defRPr sz="1700">
                <a:solidFill>
                  <a:srgbClr val="1E2B40"/>
                </a:solidFill>
              </a:defRPr>
            </a:pPr>
            <a:r>
              <a:rPr lang="en-GB"/>
              <a:t>• Schematic output must be labelled illustrative unless captured in the declared lab</a:t>
            </a:r>
          </a:p>
        </p:txBody>
      </p:sp>
      <p:cxnSp>
        <p:nvCxnSpPr>
          <p:cNvPr id="11" name="Connector 10"/>
          <p:cNvCxnSpPr/>
          <p:nvPr/>
        </p:nvCxnSpPr>
        <p:spPr>
          <a:xfrm>
            <a:off x="7452360" y="1600200"/>
            <a:ext cx="0" cy="434340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7790688" y="1627632"/>
            <a:ext cx="342900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ILLUSTRATIVE SCENARIO</a:t>
            </a:r>
          </a:p>
        </p:txBody>
      </p:sp>
      <p:sp>
        <p:nvSpPr>
          <p:cNvPr id="13" name="TextBox 12"/>
          <p:cNvSpPr txBox="1"/>
          <p:nvPr/>
        </p:nvSpPr>
        <p:spPr>
          <a:xfrm>
            <a:off x="7790688" y="2057400"/>
            <a:ext cx="3337560" cy="1417320"/>
          </a:xfrm>
          <a:prstGeom prst="rect">
            <a:avLst/>
          </a:prstGeom>
          <a:noFill/>
        </p:spPr>
        <p:txBody>
          <a:bodyPr wrap="square" lIns="27432" tIns="27432" rIns="27432" bIns="27432" anchor="t">
            <a:spAutoFit/>
          </a:bodyPr>
          <a:lstStyle/>
          <a:p>
            <a:pPr algn="l">
              <a:spcAft>
                <a:spcPts val="0"/>
              </a:spcAft>
            </a:pPr>
            <a:r>
              <a:rPr sz="1700" b="1">
                <a:solidFill>
                  <a:srgbClr val="233A59"/>
                </a:solidFill>
              </a:rPr>
              <a:t>Use host/port filters and bounded packet counts</a:t>
            </a:r>
          </a:p>
        </p:txBody>
      </p:sp>
      <p:sp>
        <p:nvSpPr>
          <p:cNvPr id="14" name="TextBox 13"/>
          <p:cNvSpPr txBox="1"/>
          <p:nvPr/>
        </p:nvSpPr>
        <p:spPr>
          <a:xfrm>
            <a:off x="7790688" y="3822191"/>
            <a:ext cx="18288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EXPECTED RESULT</a:t>
            </a:r>
            <a:endParaRPr sz="1100" b="1">
              <a:solidFill>
                <a:srgbClr val="E60012"/>
              </a:solidFill>
            </a:endParaRPr>
          </a:p>
        </p:txBody>
      </p:sp>
      <p:sp>
        <p:nvSpPr>
          <p:cNvPr id="15" name="TextBox 14"/>
          <p:cNvSpPr txBox="1"/>
          <p:nvPr/>
        </p:nvSpPr>
        <p:spPr>
          <a:xfrm>
            <a:off x="7790688" y="4187952"/>
            <a:ext cx="3337560" cy="1325880"/>
          </a:xfrm>
          <a:prstGeom prst="rect">
            <a:avLst/>
          </a:prstGeom>
          <a:noFill/>
        </p:spPr>
        <p:txBody>
          <a:bodyPr wrap="square" lIns="27432" tIns="27432" rIns="27432" bIns="27432" anchor="t">
            <a:spAutoFit/>
          </a:bodyPr>
          <a:lstStyle/>
          <a:p>
            <a:pPr algn="l">
              <a:spcAft>
                <a:spcPts val="0"/>
              </a:spcAft>
            </a:pPr>
            <a:r>
              <a:rPr sz="1500" b="0">
                <a:solidFill>
                  <a:srgbClr val="1E2B40"/>
                </a:solidFill>
              </a:rPr>
              <a:t>Stop capture/debug and sanitize addresses before sharing.</a:t>
            </a:r>
          </a:p>
        </p:txBody>
      </p:sp>
      <p:sp>
        <p:nvSpPr>
          <p:cNvPr id="16" name="TextBox 15"/>
          <p:cNvSpPr txBox="1"/>
          <p:nvPr/>
        </p:nvSpPr>
        <p:spPr>
          <a:xfrm>
            <a:off x="7790688" y="5596128"/>
            <a:ext cx="1920240" cy="201168"/>
          </a:xfrm>
          <a:prstGeom prst="rect">
            <a:avLst/>
          </a:prstGeom>
          <a:noFill/>
        </p:spPr>
        <p:txBody>
          <a:bodyPr wrap="square" lIns="27432" tIns="27432" rIns="27432" bIns="27432" anchor="t">
            <a:spAutoFit/>
          </a:bodyPr>
          <a:lstStyle/>
          <a:p>
            <a:pPr algn="l">
              <a:spcAft>
                <a:spcPts val="0"/>
              </a:spcAft>
            </a:pPr>
            <a:r>
              <a:rPr sz="1000" b="1">
                <a:solidFill>
                  <a:srgbClr val="687385"/>
                </a:solidFill>
              </a:rPr>
              <a:t>Expected observation</a:t>
            </a:r>
          </a:p>
        </p:txBody>
      </p:sp>
      <p:sp>
        <p:nvSpPr>
          <p:cNvPr id="17" name="TextBox 16"/>
          <p:cNvSpPr txBox="1"/>
          <p:nvPr/>
        </p:nvSpPr>
        <p:spPr>
          <a:xfrm>
            <a:off x="9509760" y="5577840"/>
            <a:ext cx="1691640" cy="670953"/>
          </a:xfrm>
          <a:prstGeom prst="rect">
            <a:avLst/>
          </a:prstGeom>
          <a:noFill/>
        </p:spPr>
        <p:txBody>
          <a:bodyPr wrap="square" lIns="27432" tIns="27432" rIns="27432" bIns="27432" anchor="t">
            <a:spAutoFit/>
          </a:bodyPr>
          <a:lstStyle/>
          <a:p>
            <a:pPr algn="r">
              <a:spcAft>
                <a:spcPts val="0"/>
              </a:spcAft>
            </a:pPr>
            <a:r>
              <a:rPr lang="en-GB" sz="1000" b="0">
                <a:solidFill>
                  <a:srgbClr val="687385"/>
                </a:solidFill>
              </a:rPr>
              <a:t>The failed VPN layer is identified by peer state, selectors, route, policy </a:t>
            </a:r>
            <a:r>
              <a:rPr sz="1000" b="0">
                <a:solidFill>
                  <a:srgbClr val="687385"/>
                </a:solidFill>
              </a:rPr>
              <a:t>and </a:t>
            </a:r>
            <a:r>
              <a:rPr lang="en-GB" sz="1000" b="0">
                <a:solidFill>
                  <a:srgbClr val="687385"/>
                </a:solidFill>
              </a:rPr>
              <a:t>directional counters</a:t>
            </a:r>
            <a:r>
              <a:rPr sz="1000" b="0">
                <a:solidFill>
                  <a:srgbClr val="687385"/>
                </a:solidFill>
              </a:rPr>
              <a:t>.</a:t>
            </a:r>
          </a:p>
        </p:txBody>
      </p:sp>
      <p:sp>
        <p:nvSpPr>
          <p:cNvPr id="18" name="TextBox 17"/>
          <p:cNvSpPr txBox="1"/>
          <p:nvPr/>
        </p:nvSpPr>
        <p:spPr>
          <a:xfrm>
            <a:off x="502920" y="420624"/>
            <a:ext cx="10744200" cy="130805"/>
          </a:xfrm>
          <a:prstGeom prst="rect">
            <a:avLst/>
          </a:prstGeom>
          <a:noFill/>
        </p:spPr>
        <p:txBody>
          <a:bodyPr wrap="square" lIns="0" tIns="0" rIns="0" bIns="0">
            <a:spAutoFit/>
          </a:bodyPr>
          <a:lstStyle/>
          <a:p>
            <a:pPr algn="l"/>
            <a:r>
              <a:rPr lang="en-HU" sz="850" b="1">
                <a:solidFill>
                  <a:srgbClr val="687385"/>
                </a:solidFill>
              </a:rPr>
              <a:t>129</a:t>
            </a:r>
            <a:r>
              <a:rPr sz="850" b="1">
                <a:solidFill>
                  <a:srgbClr val="687385"/>
                </a:solidFill>
              </a:rPr>
              <a:t> • DAY 3 • BLOCK 12 • VPN Troubleshooting</a:t>
            </a: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130</a:t>
            </a:r>
          </a:p>
        </p:txBody>
      </p:sp>
      <p:sp>
        <p:nvSpPr>
          <p:cNvPr id="9" name="TextBox 8"/>
          <p:cNvSpPr txBox="1">
            <a:spLocks/>
          </p:cNvSpPr>
          <p:nvPr/>
        </p:nvSpPr>
        <p:spPr>
          <a:xfrm>
            <a:off x="502920" y="621792"/>
            <a:ext cx="11109960" cy="455509"/>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TLS inspection reminder for VPN troubleshooting</a:t>
            </a:r>
          </a:p>
        </p:txBody>
      </p:sp>
      <p:sp>
        <p:nvSpPr>
          <p:cNvPr id="10" name="TextBox 9"/>
          <p:cNvSpPr txBox="1">
            <a:spLocks/>
          </p:cNvSpPr>
          <p:nvPr/>
        </p:nvSpPr>
        <p:spPr>
          <a:xfrm>
            <a:off x="658368" y="1600200"/>
            <a:ext cx="5312664" cy="292608"/>
          </a:xfrm>
          <a:prstGeom prst="rect">
            <a:avLst/>
          </a:prstGeom>
          <a:noFill/>
        </p:spPr>
        <p:txBody>
          <a:bodyPr wrap="square" lIns="27432" tIns="27432" rIns="27432" bIns="27432" anchor="t">
            <a:spAutoFit/>
          </a:bodyPr>
          <a:lstStyle/>
          <a:p>
            <a:pPr algn="l">
              <a:spcAft>
                <a:spcPts val="0"/>
              </a:spcAft>
            </a:pPr>
            <a:r>
              <a:rPr lang="en-GB" sz="1300" b="1">
                <a:solidFill>
                  <a:srgbClr val="E60012"/>
                </a:solidFill>
              </a:rPr>
              <a:t>OPTION A</a:t>
            </a:r>
          </a:p>
        </p:txBody>
      </p:sp>
      <p:cxnSp>
        <p:nvCxnSpPr>
          <p:cNvPr id="11" name="Connector 10"/>
          <p:cNvCxnSpPr/>
          <p:nvPr/>
        </p:nvCxnSpPr>
        <p:spPr>
          <a:xfrm>
            <a:off x="658368" y="1984248"/>
            <a:ext cx="5312664" cy="0"/>
          </a:xfrm>
          <a:prstGeom prst="line">
            <a:avLst/>
          </a:prstGeom>
          <a:ln w="22860">
            <a:solidFill>
              <a:srgbClr val="E60012"/>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658368" y="2176272"/>
            <a:ext cx="5312664" cy="759632"/>
          </a:xfrm>
          <a:prstGeom prst="rect">
            <a:avLst/>
          </a:prstGeom>
          <a:noFill/>
        </p:spPr>
        <p:txBody>
          <a:bodyPr wrap="square" lIns="109728" tIns="73152" rIns="109728" bIns="73152" anchor="t">
            <a:spAutoFit/>
          </a:bodyPr>
          <a:lstStyle/>
          <a:p>
            <a:pPr algn="l">
              <a:lnSpc>
                <a:spcPct val="105000"/>
              </a:lnSpc>
              <a:spcAft>
                <a:spcPts val="800"/>
              </a:spcAft>
              <a:defRPr sz="1600">
                <a:solidFill>
                  <a:srgbClr val="1E2B40"/>
                </a:solidFill>
              </a:defRPr>
            </a:pPr>
            <a:r>
              <a:rPr lang="en-GB"/>
              <a:t>• Certificate inspection: TLS/certificate metadata only</a:t>
            </a:r>
          </a:p>
          <a:p>
            <a:pPr>
              <a:lnSpc>
                <a:spcPct val="105000"/>
              </a:lnSpc>
              <a:spcAft>
                <a:spcPts val="800"/>
              </a:spcAft>
              <a:defRPr sz="1600">
                <a:solidFill>
                  <a:srgbClr val="1E2B40"/>
                </a:solidFill>
              </a:defRPr>
            </a:pPr>
            <a:r>
              <a:rPr lang="en-GB"/>
              <a:t>• Deep inspection: decrypts and re-signs application TLS</a:t>
            </a:r>
          </a:p>
        </p:txBody>
      </p:sp>
      <p:sp>
        <p:nvSpPr>
          <p:cNvPr id="13" name="TextBox 12"/>
          <p:cNvSpPr txBox="1">
            <a:spLocks/>
          </p:cNvSpPr>
          <p:nvPr/>
        </p:nvSpPr>
        <p:spPr>
          <a:xfrm>
            <a:off x="6227064" y="1600200"/>
            <a:ext cx="5312664" cy="292608"/>
          </a:xfrm>
          <a:prstGeom prst="rect">
            <a:avLst/>
          </a:prstGeom>
          <a:noFill/>
        </p:spPr>
        <p:txBody>
          <a:bodyPr wrap="square" lIns="27432" tIns="27432" rIns="27432" bIns="27432" anchor="t">
            <a:spAutoFit/>
          </a:bodyPr>
          <a:lstStyle/>
          <a:p>
            <a:pPr algn="l">
              <a:spcAft>
                <a:spcPts val="0"/>
              </a:spcAft>
            </a:pPr>
            <a:r>
              <a:rPr lang="en-GB" sz="1300" b="1">
                <a:solidFill>
                  <a:srgbClr val="E60012"/>
                </a:solidFill>
              </a:rPr>
              <a:t>OPTION B</a:t>
            </a:r>
          </a:p>
        </p:txBody>
      </p:sp>
      <p:cxnSp>
        <p:nvCxnSpPr>
          <p:cNvPr id="14" name="Connector 13"/>
          <p:cNvCxnSpPr/>
          <p:nvPr/>
        </p:nvCxnSpPr>
        <p:spPr>
          <a:xfrm>
            <a:off x="6227064" y="1984248"/>
            <a:ext cx="5312664" cy="0"/>
          </a:xfrm>
          <a:prstGeom prst="line">
            <a:avLst/>
          </a:prstGeom>
          <a:ln w="22860">
            <a:solidFill>
              <a:srgbClr val="E60012"/>
            </a:solidFill>
          </a:ln>
        </p:spPr>
        <p:style>
          <a:lnRef idx="2">
            <a:schemeClr val="accent1"/>
          </a:lnRef>
          <a:fillRef idx="0">
            <a:schemeClr val="accent1"/>
          </a:fillRef>
          <a:effectRef idx="1">
            <a:schemeClr val="accent1"/>
          </a:effectRef>
          <a:fontRef idx="minor">
            <a:schemeClr val="tx1"/>
          </a:fontRef>
        </p:style>
      </p:cxnSp>
      <p:sp>
        <p:nvSpPr>
          <p:cNvPr id="15" name="TextBox 14"/>
          <p:cNvSpPr txBox="1">
            <a:spLocks/>
          </p:cNvSpPr>
          <p:nvPr/>
        </p:nvSpPr>
        <p:spPr>
          <a:xfrm>
            <a:off x="6227064" y="2176272"/>
            <a:ext cx="5312664" cy="1018164"/>
          </a:xfrm>
          <a:prstGeom prst="rect">
            <a:avLst/>
          </a:prstGeom>
          <a:noFill/>
        </p:spPr>
        <p:txBody>
          <a:bodyPr wrap="square" lIns="109728" tIns="73152" rIns="109728" bIns="73152" anchor="t">
            <a:spAutoFit/>
          </a:bodyPr>
          <a:lstStyle/>
          <a:p>
            <a:pPr algn="l">
              <a:lnSpc>
                <a:spcPct val="105000"/>
              </a:lnSpc>
              <a:spcAft>
                <a:spcPts val="800"/>
              </a:spcAft>
              <a:defRPr sz="1600">
                <a:solidFill>
                  <a:srgbClr val="1E2B40"/>
                </a:solidFill>
              </a:defRPr>
            </a:pPr>
            <a:r>
              <a:rPr lang="en-GB"/>
              <a:t>• Deep inspection needs endpoint trust in the FortiGate inspection CA</a:t>
            </a:r>
          </a:p>
          <a:p>
            <a:pPr>
              <a:lnSpc>
                <a:spcPct val="105000"/>
              </a:lnSpc>
              <a:spcAft>
                <a:spcPts val="800"/>
              </a:spcAft>
              <a:defRPr sz="1600">
                <a:solidFill>
                  <a:srgbClr val="1E2B40"/>
                </a:solidFill>
              </a:defRPr>
            </a:pPr>
            <a:r>
              <a:rPr lang="en-GB"/>
              <a:t>• Full security-services treatment is in Day 2</a:t>
            </a:r>
          </a:p>
        </p:txBody>
      </p:sp>
      <p:sp>
        <p:nvSpPr>
          <p:cNvPr id="16" name="TextBox 15"/>
          <p:cNvSpPr txBox="1">
            <a:spLocks/>
          </p:cNvSpPr>
          <p:nvPr/>
        </p:nvSpPr>
        <p:spPr>
          <a:xfrm>
            <a:off x="658368" y="5724144"/>
            <a:ext cx="1234440" cy="224677"/>
          </a:xfrm>
          <a:prstGeom prst="rect">
            <a:avLst/>
          </a:prstGeom>
          <a:noFill/>
        </p:spPr>
        <p:txBody>
          <a:bodyPr wrap="square" lIns="27432" tIns="27432" rIns="27432" bIns="27432" anchor="t">
            <a:spAutoFit/>
          </a:bodyPr>
          <a:lstStyle/>
          <a:p>
            <a:pPr algn="l">
              <a:spcAft>
                <a:spcPts val="0"/>
              </a:spcAft>
            </a:pPr>
            <a:r>
              <a:rPr lang="en-GB" sz="1100" b="1">
                <a:solidFill>
                  <a:srgbClr val="233A59"/>
                </a:solidFill>
              </a:rPr>
              <a:t>KEY DISTINCTION</a:t>
            </a:r>
          </a:p>
        </p:txBody>
      </p:sp>
      <p:sp>
        <p:nvSpPr>
          <p:cNvPr id="17" name="TextBox 16"/>
          <p:cNvSpPr txBox="1">
            <a:spLocks/>
          </p:cNvSpPr>
          <p:nvPr/>
        </p:nvSpPr>
        <p:spPr>
          <a:xfrm>
            <a:off x="1920240" y="5687568"/>
            <a:ext cx="9235440" cy="270843"/>
          </a:xfrm>
          <a:prstGeom prst="rect">
            <a:avLst/>
          </a:prstGeom>
          <a:noFill/>
        </p:spPr>
        <p:txBody>
          <a:bodyPr wrap="square" lIns="27432" tIns="27432" rIns="27432" bIns="27432" anchor="t">
            <a:spAutoFit/>
          </a:bodyPr>
          <a:lstStyle/>
          <a:p>
            <a:pPr algn="l">
              <a:spcAft>
                <a:spcPts val="0"/>
              </a:spcAft>
            </a:pPr>
            <a:r>
              <a:rPr lang="en-GB" sz="1400" b="1">
                <a:solidFill>
                  <a:srgbClr val="233A59"/>
                </a:solidFill>
              </a:rPr>
              <a:t>If VPN is up but HTTPS fails, check the policy SSL profile and client CA trust before changing the tunnel.</a:t>
            </a:r>
          </a:p>
        </p:txBody>
      </p:sp>
      <p:sp>
        <p:nvSpPr>
          <p:cNvPr id="18" name="TextBox 17"/>
          <p:cNvSpPr txBox="1">
            <a:spLocks/>
          </p:cNvSpPr>
          <p:nvPr/>
        </p:nvSpPr>
        <p:spPr>
          <a:xfrm>
            <a:off x="502920" y="420624"/>
            <a:ext cx="10744200" cy="130805"/>
          </a:xfrm>
          <a:prstGeom prst="rect">
            <a:avLst/>
          </a:prstGeom>
          <a:noFill/>
        </p:spPr>
        <p:txBody>
          <a:bodyPr wrap="square" lIns="0" tIns="0" rIns="0" bIns="0">
            <a:spAutoFit/>
          </a:bodyPr>
          <a:lstStyle/>
          <a:p>
            <a:pPr algn="l"/>
            <a:r>
              <a:rPr lang="en-GB" sz="850" b="1">
                <a:solidFill>
                  <a:srgbClr val="687385"/>
                </a:solidFill>
              </a:rPr>
              <a:t>130 • DAY 3 • BLOCK 12 • VPN Troubleshooting</a:t>
            </a: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p:nvPr/>
        </p:nvSpPr>
        <p:spPr>
          <a:xfrm>
            <a:off x="502920" y="411480"/>
            <a:ext cx="548640" cy="189283"/>
          </a:xfrm>
          <a:prstGeom prst="rect">
            <a:avLst/>
          </a:prstGeom>
          <a:noFill/>
        </p:spPr>
        <p:txBody>
          <a:bodyPr wrap="square" lIns="36576" tIns="36576" rIns="36576" bIns="36576" anchor="t">
            <a:spAutoFit/>
          </a:bodyPr>
          <a:lstStyle/>
          <a:p>
            <a:pPr algn="l">
              <a:spcAft>
                <a:spcPts val="0"/>
              </a:spcAft>
            </a:pPr>
            <a:r>
              <a:rPr lang="en-HU" sz="750" b="1">
                <a:solidFill>
                  <a:srgbClr val="687385"/>
                </a:solidFill>
              </a:rPr>
              <a:t>131</a:t>
            </a:r>
            <a:endParaRPr sz="750" b="1">
              <a:solidFill>
                <a:srgbClr val="687385"/>
              </a:solidFill>
            </a:endParaRPr>
          </a:p>
        </p:txBody>
      </p:sp>
      <p:sp>
        <p:nvSpPr>
          <p:cNvPr id="4" name="TextBox 3"/>
          <p:cNvSpPr txBox="1"/>
          <p:nvPr/>
        </p:nvSpPr>
        <p:spPr>
          <a:xfrm>
            <a:off x="502920" y="621792"/>
            <a:ext cx="11109960" cy="548640"/>
          </a:xfrm>
          <a:prstGeom prst="rect">
            <a:avLst/>
          </a:prstGeom>
          <a:noFill/>
        </p:spPr>
        <p:txBody>
          <a:bodyPr wrap="square" lIns="36576" tIns="36576" rIns="36576" bIns="36576" anchor="t">
            <a:spAutoFit/>
          </a:bodyPr>
          <a:lstStyle/>
          <a:p>
            <a:pPr algn="l">
              <a:spcAft>
                <a:spcPts val="0"/>
              </a:spcAft>
            </a:pPr>
            <a:r>
              <a:rPr sz="2600" b="1">
                <a:solidFill>
                  <a:srgbClr val="1E2B40"/>
                </a:solidFill>
              </a:rPr>
              <a:t>VPN fault isolation</a:t>
            </a:r>
          </a:p>
        </p:txBody>
      </p:sp>
      <p:cxnSp>
        <p:nvCxnSpPr>
          <p:cNvPr id="5" name="Connector 4"/>
          <p:cNvCxnSpPr/>
          <p:nvPr/>
        </p:nvCxnSpPr>
        <p:spPr>
          <a:xfrm>
            <a:off x="502920" y="6473952"/>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109960" y="6537960"/>
            <a:ext cx="502920" cy="189283"/>
          </a:xfrm>
          <a:prstGeom prst="rect">
            <a:avLst/>
          </a:prstGeom>
          <a:noFill/>
        </p:spPr>
        <p:txBody>
          <a:bodyPr wrap="square" lIns="36576" tIns="36576" rIns="36576" bIns="36576" anchor="t">
            <a:spAutoFit/>
          </a:bodyPr>
          <a:lstStyle/>
          <a:p>
            <a:pPr algn="r">
              <a:spcAft>
                <a:spcPts val="0"/>
              </a:spcAft>
            </a:pPr>
            <a:r>
              <a:rPr lang="en-HU" sz="750" b="0">
                <a:solidFill>
                  <a:srgbClr val="687385"/>
                </a:solidFill>
              </a:rPr>
              <a:t>131</a:t>
            </a:r>
            <a:endParaRPr sz="750" b="0">
              <a:solidFill>
                <a:srgbClr val="687385"/>
              </a:solidFill>
            </a:endParaRPr>
          </a:p>
        </p:txBody>
      </p:sp>
      <p:sp>
        <p:nvSpPr>
          <p:cNvPr id="7" name="Rectangle 6"/>
          <p:cNvSpPr>
            <a:spLocks/>
          </p:cNvSpPr>
          <p:nvPr/>
        </p:nvSpPr>
        <p:spPr>
          <a:xfrm>
            <a:off x="685800" y="1828800"/>
            <a:ext cx="2008022"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8" name="TextBox 7"/>
          <p:cNvSpPr txBox="1">
            <a:spLocks/>
          </p:cNvSpPr>
          <p:nvPr/>
        </p:nvSpPr>
        <p:spPr>
          <a:xfrm>
            <a:off x="777240" y="1938528"/>
            <a:ext cx="365760" cy="227755"/>
          </a:xfrm>
          <a:prstGeom prst="rect">
            <a:avLst/>
          </a:prstGeom>
          <a:noFill/>
        </p:spPr>
        <p:txBody>
          <a:bodyPr wrap="square" lIns="36576" tIns="36576" rIns="36576" bIns="36576" anchor="t">
            <a:spAutoFit/>
          </a:bodyPr>
          <a:lstStyle/>
          <a:p>
            <a:pPr algn="l">
              <a:spcAft>
                <a:spcPts val="0"/>
              </a:spcAft>
            </a:pPr>
            <a:r>
              <a:rPr lang="en-HU" sz="1000" b="1">
                <a:solidFill>
                  <a:srgbClr val="E60012"/>
                </a:solidFill>
              </a:rPr>
              <a:t>01</a:t>
            </a:r>
          </a:p>
        </p:txBody>
      </p:sp>
      <p:sp>
        <p:nvSpPr>
          <p:cNvPr id="9" name="TextBox 8"/>
          <p:cNvSpPr txBox="1">
            <a:spLocks/>
          </p:cNvSpPr>
          <p:nvPr/>
        </p:nvSpPr>
        <p:spPr>
          <a:xfrm>
            <a:off x="795528" y="2243935"/>
            <a:ext cx="1788566" cy="504754"/>
          </a:xfrm>
          <a:prstGeom prst="rect">
            <a:avLst/>
          </a:prstGeom>
          <a:noFill/>
        </p:spPr>
        <p:txBody>
          <a:bodyPr wrap="square" lIns="36576" tIns="36576" rIns="36576" bIns="36576" anchor="ctr">
            <a:spAutoFit/>
          </a:bodyPr>
          <a:lstStyle/>
          <a:p>
            <a:pPr algn="ctr">
              <a:spcAft>
                <a:spcPts val="0"/>
              </a:spcAft>
            </a:pPr>
            <a:r>
              <a:rPr lang="en-GB" sz="1400" b="1">
                <a:solidFill>
                  <a:srgbClr val="FFFFFF"/>
                </a:solidFill>
              </a:rPr>
              <a:t>Underlay reachability</a:t>
            </a:r>
          </a:p>
        </p:txBody>
      </p:sp>
      <p:sp>
        <p:nvSpPr>
          <p:cNvPr id="10" name="Right Arrow 9"/>
          <p:cNvSpPr/>
          <p:nvPr/>
        </p:nvSpPr>
        <p:spPr>
          <a:xfrm>
            <a:off x="2693822" y="2340864"/>
            <a:ext cx="164592" cy="146304"/>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1" name="Rectangle 10"/>
          <p:cNvSpPr>
            <a:spLocks/>
          </p:cNvSpPr>
          <p:nvPr/>
        </p:nvSpPr>
        <p:spPr>
          <a:xfrm>
            <a:off x="2858414" y="1828800"/>
            <a:ext cx="2008022"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2" name="TextBox 11"/>
          <p:cNvSpPr txBox="1"/>
          <p:nvPr/>
        </p:nvSpPr>
        <p:spPr>
          <a:xfrm>
            <a:off x="2949854" y="1938528"/>
            <a:ext cx="365760" cy="201168"/>
          </a:xfrm>
          <a:prstGeom prst="rect">
            <a:avLst/>
          </a:prstGeom>
          <a:noFill/>
        </p:spPr>
        <p:txBody>
          <a:bodyPr wrap="square" lIns="36576" tIns="36576" rIns="36576" bIns="36576" anchor="t">
            <a:spAutoFit/>
          </a:bodyPr>
          <a:lstStyle/>
          <a:p>
            <a:pPr algn="l">
              <a:spcAft>
                <a:spcPts val="0"/>
              </a:spcAft>
            </a:pPr>
            <a:r>
              <a:rPr sz="1000" b="1">
                <a:solidFill>
                  <a:srgbClr val="E60012"/>
                </a:solidFill>
              </a:rPr>
              <a:t>02</a:t>
            </a:r>
          </a:p>
        </p:txBody>
      </p:sp>
      <p:sp>
        <p:nvSpPr>
          <p:cNvPr id="13" name="TextBox 12"/>
          <p:cNvSpPr txBox="1">
            <a:spLocks/>
          </p:cNvSpPr>
          <p:nvPr/>
        </p:nvSpPr>
        <p:spPr>
          <a:xfrm>
            <a:off x="2968142" y="2267712"/>
            <a:ext cx="1788566" cy="457200"/>
          </a:xfrm>
          <a:prstGeom prst="rect">
            <a:avLst/>
          </a:prstGeom>
          <a:noFill/>
        </p:spPr>
        <p:txBody>
          <a:bodyPr wrap="square" lIns="36576" tIns="36576" rIns="36576" bIns="36576" anchor="ctr">
            <a:spAutoFit/>
          </a:bodyPr>
          <a:lstStyle/>
          <a:p>
            <a:pPr algn="ctr">
              <a:spcAft>
                <a:spcPts val="0"/>
              </a:spcAft>
            </a:pPr>
            <a:r>
              <a:rPr lang="en-GB" sz="1400" b="1">
                <a:solidFill>
                  <a:srgbClr val="FFFFFF"/>
                </a:solidFill>
              </a:rPr>
              <a:t>Phase 1 state</a:t>
            </a:r>
          </a:p>
        </p:txBody>
      </p:sp>
      <p:sp>
        <p:nvSpPr>
          <p:cNvPr id="14" name="Right Arrow 13"/>
          <p:cNvSpPr>
            <a:spLocks/>
          </p:cNvSpPr>
          <p:nvPr/>
        </p:nvSpPr>
        <p:spPr>
          <a:xfrm>
            <a:off x="4866436" y="2340864"/>
            <a:ext cx="164592" cy="146304"/>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5" name="Rectangle 14"/>
          <p:cNvSpPr/>
          <p:nvPr/>
        </p:nvSpPr>
        <p:spPr>
          <a:xfrm>
            <a:off x="5031028" y="1828800"/>
            <a:ext cx="2008022"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a:spLocks/>
          </p:cNvSpPr>
          <p:nvPr/>
        </p:nvSpPr>
        <p:spPr>
          <a:xfrm>
            <a:off x="5122468" y="1938528"/>
            <a:ext cx="365760" cy="201168"/>
          </a:xfrm>
          <a:prstGeom prst="rect">
            <a:avLst/>
          </a:prstGeom>
          <a:noFill/>
        </p:spPr>
        <p:txBody>
          <a:bodyPr wrap="square" lIns="36576" tIns="36576" rIns="36576" bIns="36576" anchor="t">
            <a:spAutoFit/>
          </a:bodyPr>
          <a:lstStyle/>
          <a:p>
            <a:pPr algn="l">
              <a:spcAft>
                <a:spcPts val="0"/>
              </a:spcAft>
            </a:pPr>
            <a:r>
              <a:rPr lang="en-HU" sz="1000" b="1">
                <a:solidFill>
                  <a:srgbClr val="E60012"/>
                </a:solidFill>
              </a:rPr>
              <a:t>03</a:t>
            </a:r>
          </a:p>
        </p:txBody>
      </p:sp>
      <p:sp>
        <p:nvSpPr>
          <p:cNvPr id="17" name="TextBox 16"/>
          <p:cNvSpPr txBox="1">
            <a:spLocks/>
          </p:cNvSpPr>
          <p:nvPr/>
        </p:nvSpPr>
        <p:spPr>
          <a:xfrm>
            <a:off x="5140756" y="2243935"/>
            <a:ext cx="1788566" cy="504754"/>
          </a:xfrm>
          <a:prstGeom prst="rect">
            <a:avLst/>
          </a:prstGeom>
          <a:noFill/>
        </p:spPr>
        <p:txBody>
          <a:bodyPr wrap="square" lIns="36576" tIns="36576" rIns="36576" bIns="36576" anchor="ctr">
            <a:spAutoFit/>
          </a:bodyPr>
          <a:lstStyle/>
          <a:p>
            <a:pPr algn="ctr">
              <a:spcAft>
                <a:spcPts val="0"/>
              </a:spcAft>
            </a:pPr>
            <a:r>
              <a:rPr lang="en-GB" sz="1400" b="1">
                <a:solidFill>
                  <a:srgbClr val="FFFFFF"/>
                </a:solidFill>
              </a:rPr>
              <a:t>Phase 2 selectors/counters</a:t>
            </a:r>
          </a:p>
        </p:txBody>
      </p:sp>
      <p:sp>
        <p:nvSpPr>
          <p:cNvPr id="18" name="Right Arrow 17"/>
          <p:cNvSpPr/>
          <p:nvPr/>
        </p:nvSpPr>
        <p:spPr>
          <a:xfrm>
            <a:off x="7039051" y="2340864"/>
            <a:ext cx="164592" cy="146304"/>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203643" y="1828800"/>
            <a:ext cx="2008022"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20" name="TextBox 19"/>
          <p:cNvSpPr txBox="1">
            <a:spLocks/>
          </p:cNvSpPr>
          <p:nvPr/>
        </p:nvSpPr>
        <p:spPr>
          <a:xfrm>
            <a:off x="7295083" y="1938528"/>
            <a:ext cx="365760" cy="227755"/>
          </a:xfrm>
          <a:prstGeom prst="rect">
            <a:avLst/>
          </a:prstGeom>
          <a:noFill/>
        </p:spPr>
        <p:txBody>
          <a:bodyPr wrap="square" lIns="36576" tIns="36576" rIns="36576" bIns="36576" anchor="t">
            <a:spAutoFit/>
          </a:bodyPr>
          <a:lstStyle/>
          <a:p>
            <a:pPr algn="l">
              <a:spcAft>
                <a:spcPts val="0"/>
              </a:spcAft>
            </a:pPr>
            <a:r>
              <a:rPr lang="en-HU" sz="1000" b="1">
                <a:solidFill>
                  <a:srgbClr val="E60012"/>
                </a:solidFill>
              </a:rPr>
              <a:t>04</a:t>
            </a:r>
          </a:p>
        </p:txBody>
      </p:sp>
      <p:sp>
        <p:nvSpPr>
          <p:cNvPr id="21" name="TextBox 20"/>
          <p:cNvSpPr txBox="1">
            <a:spLocks/>
          </p:cNvSpPr>
          <p:nvPr/>
        </p:nvSpPr>
        <p:spPr>
          <a:xfrm>
            <a:off x="7313371" y="2351657"/>
            <a:ext cx="1788566" cy="289310"/>
          </a:xfrm>
          <a:prstGeom prst="rect">
            <a:avLst/>
          </a:prstGeom>
          <a:noFill/>
        </p:spPr>
        <p:txBody>
          <a:bodyPr wrap="square" lIns="36576" tIns="36576" rIns="36576" bIns="36576" anchor="ctr">
            <a:spAutoFit/>
          </a:bodyPr>
          <a:lstStyle/>
          <a:p>
            <a:pPr algn="ctr">
              <a:spcAft>
                <a:spcPts val="0"/>
              </a:spcAft>
            </a:pPr>
            <a:r>
              <a:rPr lang="en-GB" sz="1400" b="1">
                <a:solidFill>
                  <a:srgbClr val="FFFFFF"/>
                </a:solidFill>
              </a:rPr>
              <a:t>Overlay route/policy</a:t>
            </a:r>
          </a:p>
        </p:txBody>
      </p:sp>
      <p:sp>
        <p:nvSpPr>
          <p:cNvPr id="22" name="Right Arrow 21"/>
          <p:cNvSpPr>
            <a:spLocks/>
          </p:cNvSpPr>
          <p:nvPr/>
        </p:nvSpPr>
        <p:spPr>
          <a:xfrm>
            <a:off x="9211665" y="2340864"/>
            <a:ext cx="164592" cy="146304"/>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23" name="Rectangle 22"/>
          <p:cNvSpPr>
            <a:spLocks/>
          </p:cNvSpPr>
          <p:nvPr/>
        </p:nvSpPr>
        <p:spPr>
          <a:xfrm>
            <a:off x="9376257" y="1828800"/>
            <a:ext cx="2008022"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24" name="TextBox 23"/>
          <p:cNvSpPr txBox="1"/>
          <p:nvPr/>
        </p:nvSpPr>
        <p:spPr>
          <a:xfrm>
            <a:off x="9467697" y="1938528"/>
            <a:ext cx="365760" cy="227755"/>
          </a:xfrm>
          <a:prstGeom prst="rect">
            <a:avLst/>
          </a:prstGeom>
          <a:noFill/>
        </p:spPr>
        <p:txBody>
          <a:bodyPr wrap="square" lIns="36576" tIns="36576" rIns="36576" bIns="36576" anchor="t">
            <a:spAutoFit/>
          </a:bodyPr>
          <a:lstStyle/>
          <a:p>
            <a:pPr algn="l">
              <a:spcAft>
                <a:spcPts val="0"/>
              </a:spcAft>
            </a:pPr>
            <a:r>
              <a:rPr lang="en-HU" sz="1000" b="1">
                <a:solidFill>
                  <a:srgbClr val="E60012"/>
                </a:solidFill>
              </a:rPr>
              <a:t>05</a:t>
            </a:r>
          </a:p>
        </p:txBody>
      </p:sp>
      <p:sp>
        <p:nvSpPr>
          <p:cNvPr id="25" name="TextBox 24"/>
          <p:cNvSpPr txBox="1"/>
          <p:nvPr/>
        </p:nvSpPr>
        <p:spPr>
          <a:xfrm>
            <a:off x="9485985" y="2267712"/>
            <a:ext cx="1788566" cy="457200"/>
          </a:xfrm>
          <a:prstGeom prst="rect">
            <a:avLst/>
          </a:prstGeom>
          <a:noFill/>
        </p:spPr>
        <p:txBody>
          <a:bodyPr wrap="square" lIns="36576" tIns="36576" rIns="36576" bIns="36576" anchor="ctr">
            <a:spAutoFit/>
          </a:bodyPr>
          <a:lstStyle/>
          <a:p>
            <a:pPr algn="ctr">
              <a:spcAft>
                <a:spcPts val="0"/>
              </a:spcAft>
            </a:pPr>
            <a:r>
              <a:rPr sz="1400" b="1">
                <a:solidFill>
                  <a:srgbClr val="FFFFFF"/>
                </a:solidFill>
              </a:rPr>
              <a:t>Return traffic</a:t>
            </a:r>
          </a:p>
        </p:txBody>
      </p:sp>
      <p:sp>
        <p:nvSpPr>
          <p:cNvPr id="26" name="TextBox 25"/>
          <p:cNvSpPr txBox="1"/>
          <p:nvPr/>
        </p:nvSpPr>
        <p:spPr>
          <a:xfrm>
            <a:off x="731520" y="3703320"/>
            <a:ext cx="1554480" cy="210312"/>
          </a:xfrm>
          <a:prstGeom prst="rect">
            <a:avLst/>
          </a:prstGeom>
          <a:noFill/>
        </p:spPr>
        <p:txBody>
          <a:bodyPr wrap="square" lIns="36576" tIns="36576" rIns="36576" bIns="36576" anchor="t">
            <a:spAutoFit/>
          </a:bodyPr>
          <a:lstStyle/>
          <a:p>
            <a:pPr algn="l">
              <a:spcAft>
                <a:spcPts val="0"/>
              </a:spcAft>
            </a:pPr>
            <a:r>
              <a:rPr sz="1000" b="1">
                <a:solidFill>
                  <a:srgbClr val="E60012"/>
                </a:solidFill>
              </a:rPr>
              <a:t>EXPECTED RESULT</a:t>
            </a:r>
          </a:p>
        </p:txBody>
      </p:sp>
      <p:sp>
        <p:nvSpPr>
          <p:cNvPr id="27" name="TextBox 26"/>
          <p:cNvSpPr txBox="1"/>
          <p:nvPr/>
        </p:nvSpPr>
        <p:spPr>
          <a:xfrm>
            <a:off x="731520" y="4041648"/>
            <a:ext cx="10424160" cy="335476"/>
          </a:xfrm>
          <a:prstGeom prst="rect">
            <a:avLst/>
          </a:prstGeom>
          <a:noFill/>
        </p:spPr>
        <p:txBody>
          <a:bodyPr wrap="square" lIns="36576" tIns="36576" rIns="36576" bIns="36576" anchor="t">
            <a:spAutoFit/>
          </a:bodyPr>
          <a:lstStyle/>
          <a:p>
            <a:pPr algn="ctr">
              <a:spcAft>
                <a:spcPts val="0"/>
              </a:spcAft>
            </a:pPr>
            <a:r>
              <a:rPr sz="1700" b="1">
                <a:solidFill>
                  <a:srgbClr val="233A59"/>
                </a:solidFill>
              </a:rPr>
              <a:t>The failed layer is identified </a:t>
            </a:r>
            <a:r>
              <a:rPr lang="en-GB" sz="1700" b="1">
                <a:solidFill>
                  <a:srgbClr val="233A59"/>
                </a:solidFill>
              </a:rPr>
              <a:t>without changing the morning tunnel or shared management path</a:t>
            </a:r>
            <a:r>
              <a:rPr sz="1700" b="1">
                <a:solidFill>
                  <a:srgbClr val="233A59"/>
                </a:solidFill>
              </a:rPr>
              <a:t>.</a:t>
            </a:r>
          </a:p>
        </p:txBody>
      </p:sp>
      <p:sp>
        <p:nvSpPr>
          <p:cNvPr id="28" name="TextBox 27"/>
          <p:cNvSpPr txBox="1"/>
          <p:nvPr/>
        </p:nvSpPr>
        <p:spPr>
          <a:xfrm>
            <a:off x="658368" y="5833872"/>
            <a:ext cx="731520" cy="182880"/>
          </a:xfrm>
          <a:prstGeom prst="rect">
            <a:avLst/>
          </a:prstGeom>
          <a:noFill/>
        </p:spPr>
        <p:txBody>
          <a:bodyPr wrap="square" lIns="36576" tIns="36576" rIns="36576" bIns="36576" anchor="t">
            <a:spAutoFit/>
          </a:bodyPr>
          <a:lstStyle/>
          <a:p>
            <a:pPr algn="l">
              <a:spcAft>
                <a:spcPts val="0"/>
              </a:spcAft>
            </a:pPr>
            <a:r>
              <a:rPr sz="1000" b="1">
                <a:solidFill>
                  <a:srgbClr val="E60012"/>
                </a:solidFill>
              </a:rPr>
              <a:t>LESSON</a:t>
            </a:r>
          </a:p>
        </p:txBody>
      </p:sp>
      <p:sp>
        <p:nvSpPr>
          <p:cNvPr id="29" name="TextBox 28"/>
          <p:cNvSpPr txBox="1"/>
          <p:nvPr/>
        </p:nvSpPr>
        <p:spPr>
          <a:xfrm>
            <a:off x="1417320" y="5769864"/>
            <a:ext cx="9875520" cy="384048"/>
          </a:xfrm>
          <a:prstGeom prst="rect">
            <a:avLst/>
          </a:prstGeom>
          <a:noFill/>
        </p:spPr>
        <p:txBody>
          <a:bodyPr wrap="square" lIns="36576" tIns="36576" rIns="36576" bIns="36576" anchor="t">
            <a:spAutoFit/>
          </a:bodyPr>
          <a:lstStyle/>
          <a:p>
            <a:pPr algn="l">
              <a:spcAft>
                <a:spcPts val="0"/>
              </a:spcAft>
            </a:pPr>
            <a:r>
              <a:rPr sz="1300" b="1">
                <a:solidFill>
                  <a:srgbClr val="233A59"/>
                </a:solidFill>
              </a:rPr>
              <a:t>Each step names a FortiGate state or packet change that can be checked directly; stop when the failed step is identified.</a:t>
            </a: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p:nvPr/>
        </p:nvSpPr>
        <p:spPr>
          <a:xfrm>
            <a:off x="502920" y="411480"/>
            <a:ext cx="548640" cy="189283"/>
          </a:xfrm>
          <a:prstGeom prst="rect">
            <a:avLst/>
          </a:prstGeom>
          <a:noFill/>
        </p:spPr>
        <p:txBody>
          <a:bodyPr wrap="square" lIns="36576" tIns="36576" rIns="36576" bIns="36576" anchor="t">
            <a:spAutoFit/>
          </a:bodyPr>
          <a:lstStyle/>
          <a:p>
            <a:pPr algn="l">
              <a:spcAft>
                <a:spcPts val="0"/>
              </a:spcAft>
            </a:pPr>
            <a:r>
              <a:rPr lang="en-HU" sz="750" b="1">
                <a:solidFill>
                  <a:srgbClr val="687385"/>
                </a:solidFill>
              </a:rPr>
              <a:t>132</a:t>
            </a:r>
            <a:endParaRPr sz="750" b="1">
              <a:solidFill>
                <a:srgbClr val="687385"/>
              </a:solidFill>
            </a:endParaRPr>
          </a:p>
        </p:txBody>
      </p:sp>
      <p:sp>
        <p:nvSpPr>
          <p:cNvPr id="4" name="TextBox 3"/>
          <p:cNvSpPr txBox="1"/>
          <p:nvPr/>
        </p:nvSpPr>
        <p:spPr>
          <a:xfrm>
            <a:off x="502920" y="621792"/>
            <a:ext cx="11109960" cy="548640"/>
          </a:xfrm>
          <a:prstGeom prst="rect">
            <a:avLst/>
          </a:prstGeom>
          <a:noFill/>
        </p:spPr>
        <p:txBody>
          <a:bodyPr wrap="square" lIns="36576" tIns="36576" rIns="36576" bIns="36576" anchor="t">
            <a:spAutoFit/>
          </a:bodyPr>
          <a:lstStyle/>
          <a:p>
            <a:pPr algn="l">
              <a:spcAft>
                <a:spcPts val="0"/>
              </a:spcAft>
            </a:pPr>
            <a:r>
              <a:rPr sz="2600" b="1">
                <a:solidFill>
                  <a:srgbClr val="1E2B40"/>
                </a:solidFill>
              </a:rPr>
              <a:t>Common mistakes—and how to correct them</a:t>
            </a:r>
          </a:p>
        </p:txBody>
      </p:sp>
      <p:cxnSp>
        <p:nvCxnSpPr>
          <p:cNvPr id="5" name="Connector 4"/>
          <p:cNvCxnSpPr/>
          <p:nvPr/>
        </p:nvCxnSpPr>
        <p:spPr>
          <a:xfrm>
            <a:off x="502920" y="6473952"/>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109960" y="6537960"/>
            <a:ext cx="502920" cy="189283"/>
          </a:xfrm>
          <a:prstGeom prst="rect">
            <a:avLst/>
          </a:prstGeom>
          <a:noFill/>
        </p:spPr>
        <p:txBody>
          <a:bodyPr wrap="square" lIns="36576" tIns="36576" rIns="36576" bIns="36576" anchor="t">
            <a:spAutoFit/>
          </a:bodyPr>
          <a:lstStyle/>
          <a:p>
            <a:pPr algn="r">
              <a:spcAft>
                <a:spcPts val="0"/>
              </a:spcAft>
            </a:pPr>
            <a:r>
              <a:rPr lang="en-HU" sz="750" b="0">
                <a:solidFill>
                  <a:srgbClr val="687385"/>
                </a:solidFill>
              </a:rPr>
              <a:t>132</a:t>
            </a:r>
            <a:endParaRPr sz="750" b="0">
              <a:solidFill>
                <a:srgbClr val="687385"/>
              </a:solidFill>
            </a:endParaRPr>
          </a:p>
        </p:txBody>
      </p:sp>
      <p:sp>
        <p:nvSpPr>
          <p:cNvPr id="7" name="TextBox 6"/>
          <p:cNvSpPr txBox="1">
            <a:spLocks/>
          </p:cNvSpPr>
          <p:nvPr/>
        </p:nvSpPr>
        <p:spPr>
          <a:xfrm>
            <a:off x="685800" y="1417320"/>
            <a:ext cx="3291840" cy="243143"/>
          </a:xfrm>
          <a:prstGeom prst="rect">
            <a:avLst/>
          </a:prstGeom>
          <a:noFill/>
        </p:spPr>
        <p:txBody>
          <a:bodyPr wrap="square" lIns="36576" tIns="36576" rIns="36576" bIns="36576" anchor="t">
            <a:spAutoFit/>
          </a:bodyPr>
          <a:lstStyle/>
          <a:p>
            <a:pPr algn="l">
              <a:spcAft>
                <a:spcPts val="0"/>
              </a:spcAft>
            </a:pPr>
            <a:r>
              <a:rPr lang="en-GB" sz="1100" b="1">
                <a:solidFill>
                  <a:srgbClr val="E60012"/>
                </a:solidFill>
              </a:rPr>
              <a:t>MISTAKE</a:t>
            </a:r>
          </a:p>
        </p:txBody>
      </p:sp>
      <p:sp>
        <p:nvSpPr>
          <p:cNvPr id="8" name="TextBox 7"/>
          <p:cNvSpPr txBox="1">
            <a:spLocks/>
          </p:cNvSpPr>
          <p:nvPr/>
        </p:nvSpPr>
        <p:spPr>
          <a:xfrm>
            <a:off x="4160520" y="1417320"/>
            <a:ext cx="7040880" cy="243143"/>
          </a:xfrm>
          <a:prstGeom prst="rect">
            <a:avLst/>
          </a:prstGeom>
          <a:noFill/>
        </p:spPr>
        <p:txBody>
          <a:bodyPr wrap="square" lIns="36576" tIns="36576" rIns="36576" bIns="36576" anchor="t">
            <a:spAutoFit/>
          </a:bodyPr>
          <a:lstStyle/>
          <a:p>
            <a:pPr algn="l">
              <a:spcAft>
                <a:spcPts val="0"/>
              </a:spcAft>
            </a:pPr>
            <a:r>
              <a:rPr lang="en-GB" sz="1100" b="1">
                <a:solidFill>
                  <a:srgbClr val="E60012"/>
                </a:solidFill>
              </a:rPr>
              <a:t>CORRECTION — AND WHY IT HELPS</a:t>
            </a:r>
          </a:p>
        </p:txBody>
      </p:sp>
      <p:sp>
        <p:nvSpPr>
          <p:cNvPr id="9" name="TextBox 8"/>
          <p:cNvSpPr txBox="1">
            <a:spLocks/>
          </p:cNvSpPr>
          <p:nvPr/>
        </p:nvSpPr>
        <p:spPr>
          <a:xfrm>
            <a:off x="685800" y="1783080"/>
            <a:ext cx="3108960" cy="566309"/>
          </a:xfrm>
          <a:prstGeom prst="rect">
            <a:avLst/>
          </a:prstGeom>
          <a:noFill/>
        </p:spPr>
        <p:txBody>
          <a:bodyPr wrap="square" lIns="36576" tIns="36576" rIns="36576" bIns="36576" anchor="t">
            <a:spAutoFit/>
          </a:bodyPr>
          <a:lstStyle/>
          <a:p>
            <a:pPr algn="l">
              <a:spcAft>
                <a:spcPts val="0"/>
              </a:spcAft>
            </a:pPr>
            <a:r>
              <a:rPr lang="en-GB" sz="1600" b="1">
                <a:solidFill>
                  <a:srgbClr val="1E2B40"/>
                </a:solidFill>
              </a:rPr>
              <a:t>Restart IKE before collecting state</a:t>
            </a:r>
          </a:p>
        </p:txBody>
      </p:sp>
      <p:cxnSp>
        <p:nvCxnSpPr>
          <p:cNvPr id="10" name="Connector 9"/>
          <p:cNvCxnSpPr/>
          <p:nvPr/>
        </p:nvCxnSpPr>
        <p:spPr>
          <a:xfrm>
            <a:off x="3931920" y="1737360"/>
            <a:ext cx="0" cy="96012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251960" y="1783080"/>
            <a:ext cx="6903720" cy="822960"/>
          </a:xfrm>
          <a:prstGeom prst="rect">
            <a:avLst/>
          </a:prstGeom>
          <a:noFill/>
        </p:spPr>
        <p:txBody>
          <a:bodyPr wrap="square" lIns="36576" tIns="36576" rIns="36576" bIns="36576" anchor="t">
            <a:spAutoFit/>
          </a:bodyPr>
          <a:lstStyle/>
          <a:p>
            <a:pPr algn="l">
              <a:spcAft>
                <a:spcPts val="0"/>
              </a:spcAft>
            </a:pPr>
            <a:r>
              <a:rPr sz="1600" b="0">
                <a:solidFill>
                  <a:srgbClr val="233A59"/>
                </a:solidFill>
              </a:rPr>
              <a:t>Record peer/SA error and counters first; restart removes the failing condition.</a:t>
            </a:r>
          </a:p>
        </p:txBody>
      </p:sp>
      <p:cxnSp>
        <p:nvCxnSpPr>
          <p:cNvPr id="12" name="Connector 11"/>
          <p:cNvCxnSpPr/>
          <p:nvPr/>
        </p:nvCxnSpPr>
        <p:spPr>
          <a:xfrm>
            <a:off x="685800" y="2834639"/>
            <a:ext cx="10469880"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13" name="TextBox 12"/>
          <p:cNvSpPr txBox="1">
            <a:spLocks/>
          </p:cNvSpPr>
          <p:nvPr/>
        </p:nvSpPr>
        <p:spPr>
          <a:xfrm>
            <a:off x="685800" y="3081528"/>
            <a:ext cx="3108960" cy="320088"/>
          </a:xfrm>
          <a:prstGeom prst="rect">
            <a:avLst/>
          </a:prstGeom>
          <a:noFill/>
        </p:spPr>
        <p:txBody>
          <a:bodyPr wrap="square" lIns="36576" tIns="36576" rIns="36576" bIns="36576" anchor="t">
            <a:spAutoFit/>
          </a:bodyPr>
          <a:lstStyle/>
          <a:p>
            <a:pPr algn="l">
              <a:spcAft>
                <a:spcPts val="0"/>
              </a:spcAft>
            </a:pPr>
            <a:r>
              <a:rPr lang="en-GB" sz="1600" b="1">
                <a:solidFill>
                  <a:srgbClr val="1E2B40"/>
                </a:solidFill>
              </a:rPr>
              <a:t>Clear every session</a:t>
            </a:r>
          </a:p>
        </p:txBody>
      </p:sp>
      <p:cxnSp>
        <p:nvCxnSpPr>
          <p:cNvPr id="14" name="Connector 13"/>
          <p:cNvCxnSpPr/>
          <p:nvPr/>
        </p:nvCxnSpPr>
        <p:spPr>
          <a:xfrm>
            <a:off x="3931920" y="3035808"/>
            <a:ext cx="0" cy="96012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5" name="TextBox 14"/>
          <p:cNvSpPr txBox="1">
            <a:spLocks/>
          </p:cNvSpPr>
          <p:nvPr/>
        </p:nvSpPr>
        <p:spPr>
          <a:xfrm>
            <a:off x="4251960" y="3081528"/>
            <a:ext cx="6903720" cy="566309"/>
          </a:xfrm>
          <a:prstGeom prst="rect">
            <a:avLst/>
          </a:prstGeom>
          <a:noFill/>
        </p:spPr>
        <p:txBody>
          <a:bodyPr wrap="square" lIns="36576" tIns="36576" rIns="36576" bIns="36576" anchor="t">
            <a:spAutoFit/>
          </a:bodyPr>
          <a:lstStyle/>
          <a:p>
            <a:pPr algn="l">
              <a:spcAft>
                <a:spcPts val="0"/>
              </a:spcAft>
            </a:pPr>
            <a:r>
              <a:rPr lang="en-GB" sz="1600" b="0">
                <a:solidFill>
                  <a:srgbClr val="233A59"/>
                </a:solidFill>
              </a:rPr>
              <a:t>Use a fresh test flow or narrow filter; broad clearing hides scope and disrupts service.</a:t>
            </a:r>
          </a:p>
        </p:txBody>
      </p:sp>
      <p:cxnSp>
        <p:nvCxnSpPr>
          <p:cNvPr id="16" name="Connector 15"/>
          <p:cNvCxnSpPr/>
          <p:nvPr/>
        </p:nvCxnSpPr>
        <p:spPr>
          <a:xfrm>
            <a:off x="685800" y="4133087"/>
            <a:ext cx="10469880"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17" name="TextBox 16"/>
          <p:cNvSpPr txBox="1">
            <a:spLocks/>
          </p:cNvSpPr>
          <p:nvPr/>
        </p:nvSpPr>
        <p:spPr>
          <a:xfrm>
            <a:off x="685800" y="4379976"/>
            <a:ext cx="3108960" cy="320088"/>
          </a:xfrm>
          <a:prstGeom prst="rect">
            <a:avLst/>
          </a:prstGeom>
          <a:noFill/>
        </p:spPr>
        <p:txBody>
          <a:bodyPr wrap="square" lIns="36576" tIns="36576" rIns="36576" bIns="36576" anchor="t">
            <a:spAutoFit/>
          </a:bodyPr>
          <a:lstStyle/>
          <a:p>
            <a:pPr algn="l">
              <a:spcAft>
                <a:spcPts val="0"/>
              </a:spcAft>
            </a:pPr>
            <a:r>
              <a:rPr lang="en-GB" sz="1600" b="1">
                <a:solidFill>
                  <a:srgbClr val="1E2B40"/>
                </a:solidFill>
              </a:rPr>
              <a:t>Declare success from Phase 1</a:t>
            </a:r>
          </a:p>
        </p:txBody>
      </p:sp>
      <p:cxnSp>
        <p:nvCxnSpPr>
          <p:cNvPr id="18" name="Connector 17"/>
          <p:cNvCxnSpPr/>
          <p:nvPr/>
        </p:nvCxnSpPr>
        <p:spPr>
          <a:xfrm>
            <a:off x="3931920" y="4334256"/>
            <a:ext cx="0" cy="96012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251960" y="4379976"/>
            <a:ext cx="6903720" cy="822960"/>
          </a:xfrm>
          <a:prstGeom prst="rect">
            <a:avLst/>
          </a:prstGeom>
          <a:noFill/>
        </p:spPr>
        <p:txBody>
          <a:bodyPr wrap="square" lIns="36576" tIns="36576" rIns="36576" bIns="36576" anchor="t">
            <a:spAutoFit/>
          </a:bodyPr>
          <a:lstStyle/>
          <a:p>
            <a:pPr algn="l">
              <a:spcAft>
                <a:spcPts val="0"/>
              </a:spcAft>
            </a:pPr>
            <a:r>
              <a:rPr sz="1600" b="0">
                <a:solidFill>
                  <a:srgbClr val="233A59"/>
                </a:solidFill>
              </a:rPr>
              <a:t>Require route, policy and increasing encap/decap counters; Phase 1 authenticates only the peers.</a:t>
            </a:r>
          </a:p>
        </p:txBody>
      </p:sp>
      <p:cxnSp>
        <p:nvCxnSpPr>
          <p:cNvPr id="20" name="Connector 19"/>
          <p:cNvCxnSpPr/>
          <p:nvPr/>
        </p:nvCxnSpPr>
        <p:spPr>
          <a:xfrm>
            <a:off x="685800" y="5431536"/>
            <a:ext cx="10469880"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58368" y="5833872"/>
            <a:ext cx="731520" cy="182880"/>
          </a:xfrm>
          <a:prstGeom prst="rect">
            <a:avLst/>
          </a:prstGeom>
          <a:noFill/>
        </p:spPr>
        <p:txBody>
          <a:bodyPr wrap="square" lIns="36576" tIns="36576" rIns="36576" bIns="36576" anchor="t">
            <a:spAutoFit/>
          </a:bodyPr>
          <a:lstStyle/>
          <a:p>
            <a:pPr algn="l">
              <a:spcAft>
                <a:spcPts val="0"/>
              </a:spcAft>
            </a:pPr>
            <a:r>
              <a:rPr sz="1000" b="1">
                <a:solidFill>
                  <a:srgbClr val="E60012"/>
                </a:solidFill>
              </a:rPr>
              <a:t>LESSON</a:t>
            </a:r>
          </a:p>
        </p:txBody>
      </p:sp>
      <p:sp>
        <p:nvSpPr>
          <p:cNvPr id="22" name="TextBox 21"/>
          <p:cNvSpPr txBox="1"/>
          <p:nvPr/>
        </p:nvSpPr>
        <p:spPr>
          <a:xfrm>
            <a:off x="1417320" y="5769864"/>
            <a:ext cx="9875520" cy="384048"/>
          </a:xfrm>
          <a:prstGeom prst="rect">
            <a:avLst/>
          </a:prstGeom>
          <a:noFill/>
        </p:spPr>
        <p:txBody>
          <a:bodyPr wrap="square" lIns="36576" tIns="36576" rIns="36576" bIns="36576" anchor="t">
            <a:spAutoFit/>
          </a:bodyPr>
          <a:lstStyle/>
          <a:p>
            <a:pPr algn="l">
              <a:spcAft>
                <a:spcPts val="0"/>
              </a:spcAft>
            </a:pPr>
            <a:r>
              <a:rPr sz="1300" b="1">
                <a:solidFill>
                  <a:srgbClr val="233A59"/>
                </a:solidFill>
              </a:rPr>
              <a:t>A correction changes a concrete configuration, test or interpretation—not merely the wording used to describe it.</a:t>
            </a: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133</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Troubleshooting workflow: narrow the failed decision</a:t>
            </a:r>
          </a:p>
        </p:txBody>
      </p:sp>
      <p:sp>
        <p:nvSpPr>
          <p:cNvPr id="10" name="Rectangle 9"/>
          <p:cNvSpPr/>
          <p:nvPr/>
        </p:nvSpPr>
        <p:spPr>
          <a:xfrm>
            <a:off x="658368"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1" name="TextBox 10"/>
          <p:cNvSpPr txBox="1">
            <a:spLocks/>
          </p:cNvSpPr>
          <p:nvPr/>
        </p:nvSpPr>
        <p:spPr>
          <a:xfrm>
            <a:off x="768096" y="2020824"/>
            <a:ext cx="411480" cy="219456"/>
          </a:xfrm>
          <a:prstGeom prst="rect">
            <a:avLst/>
          </a:prstGeom>
          <a:noFill/>
        </p:spPr>
        <p:txBody>
          <a:bodyPr wrap="square" lIns="27432" tIns="27432" rIns="27432" bIns="27432" anchor="t">
            <a:spAutoFit/>
          </a:bodyPr>
          <a:lstStyle/>
          <a:p>
            <a:pPr algn="l">
              <a:spcAft>
                <a:spcPts val="0"/>
              </a:spcAft>
            </a:pPr>
            <a:r>
              <a:rPr lang="en-HU" sz="1100" b="1">
                <a:solidFill>
                  <a:srgbClr val="E60012"/>
                </a:solidFill>
              </a:rPr>
              <a:t>01</a:t>
            </a:r>
          </a:p>
        </p:txBody>
      </p:sp>
      <p:sp>
        <p:nvSpPr>
          <p:cNvPr id="12" name="TextBox 11"/>
          <p:cNvSpPr txBox="1">
            <a:spLocks/>
          </p:cNvSpPr>
          <p:nvPr/>
        </p:nvSpPr>
        <p:spPr>
          <a:xfrm>
            <a:off x="768096" y="2340864"/>
            <a:ext cx="1830628" cy="603504"/>
          </a:xfrm>
          <a:prstGeom prst="rect">
            <a:avLst/>
          </a:prstGeom>
          <a:noFill/>
        </p:spPr>
        <p:txBody>
          <a:bodyPr wrap="square" lIns="27432" tIns="27432" rIns="27432" bIns="27432" anchor="ctr">
            <a:spAutoFit/>
          </a:bodyPr>
          <a:lstStyle/>
          <a:p>
            <a:pPr algn="ctr">
              <a:spcAft>
                <a:spcPts val="0"/>
              </a:spcAft>
            </a:pPr>
            <a:r>
              <a:rPr lang="en-GB" sz="1400" b="1">
                <a:solidFill>
                  <a:srgbClr val="1E2B40"/>
                </a:solidFill>
              </a:rPr>
              <a:t>Underlay route/capture</a:t>
            </a:r>
          </a:p>
        </p:txBody>
      </p:sp>
      <p:cxnSp>
        <p:nvCxnSpPr>
          <p:cNvPr id="13" name="Connector 12"/>
          <p:cNvCxnSpPr/>
          <p:nvPr/>
        </p:nvCxnSpPr>
        <p:spPr>
          <a:xfrm>
            <a:off x="2708452"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2854756"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964484" y="2020824"/>
            <a:ext cx="411480" cy="219456"/>
          </a:xfrm>
          <a:prstGeom prst="rect">
            <a:avLst/>
          </a:prstGeom>
          <a:noFill/>
        </p:spPr>
        <p:txBody>
          <a:bodyPr wrap="square" lIns="27432" tIns="27432" rIns="27432" bIns="27432" anchor="t">
            <a:spAutoFit/>
          </a:bodyPr>
          <a:lstStyle/>
          <a:p>
            <a:pPr algn="l">
              <a:spcAft>
                <a:spcPts val="0"/>
              </a:spcAft>
            </a:pPr>
            <a:r>
              <a:rPr sz="1100" b="1">
                <a:solidFill>
                  <a:srgbClr val="E60012"/>
                </a:solidFill>
              </a:rPr>
              <a:t>02</a:t>
            </a:r>
          </a:p>
        </p:txBody>
      </p:sp>
      <p:sp>
        <p:nvSpPr>
          <p:cNvPr id="16" name="TextBox 15"/>
          <p:cNvSpPr txBox="1"/>
          <p:nvPr/>
        </p:nvSpPr>
        <p:spPr>
          <a:xfrm>
            <a:off x="2964484" y="2340864"/>
            <a:ext cx="1830628" cy="603504"/>
          </a:xfrm>
          <a:prstGeom prst="rect">
            <a:avLst/>
          </a:prstGeom>
          <a:noFill/>
        </p:spPr>
        <p:txBody>
          <a:bodyPr wrap="square" lIns="27432" tIns="27432" rIns="27432" bIns="27432" anchor="ctr">
            <a:spAutoFit/>
          </a:bodyPr>
          <a:lstStyle/>
          <a:p>
            <a:pPr algn="ctr">
              <a:spcAft>
                <a:spcPts val="0"/>
              </a:spcAft>
            </a:pPr>
            <a:r>
              <a:rPr sz="1400" b="1">
                <a:solidFill>
                  <a:srgbClr val="1E2B40"/>
                </a:solidFill>
              </a:rPr>
              <a:t>Phase 1 peer/proposal/identity</a:t>
            </a:r>
          </a:p>
        </p:txBody>
      </p:sp>
      <p:cxnSp>
        <p:nvCxnSpPr>
          <p:cNvPr id="17" name="Connector 16"/>
          <p:cNvCxnSpPr/>
          <p:nvPr/>
        </p:nvCxnSpPr>
        <p:spPr>
          <a:xfrm>
            <a:off x="4904841"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5051145"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60873" y="2020824"/>
            <a:ext cx="411480" cy="219456"/>
          </a:xfrm>
          <a:prstGeom prst="rect">
            <a:avLst/>
          </a:prstGeom>
          <a:noFill/>
        </p:spPr>
        <p:txBody>
          <a:bodyPr wrap="square" lIns="27432" tIns="27432" rIns="27432" bIns="27432" anchor="t">
            <a:spAutoFit/>
          </a:bodyPr>
          <a:lstStyle/>
          <a:p>
            <a:pPr algn="l">
              <a:spcAft>
                <a:spcPts val="0"/>
              </a:spcAft>
            </a:pPr>
            <a:r>
              <a:rPr sz="1100" b="1">
                <a:solidFill>
                  <a:srgbClr val="E60012"/>
                </a:solidFill>
              </a:rPr>
              <a:t>03</a:t>
            </a:r>
          </a:p>
        </p:txBody>
      </p:sp>
      <p:sp>
        <p:nvSpPr>
          <p:cNvPr id="20" name="TextBox 19"/>
          <p:cNvSpPr txBox="1"/>
          <p:nvPr/>
        </p:nvSpPr>
        <p:spPr>
          <a:xfrm>
            <a:off x="5160873" y="2340864"/>
            <a:ext cx="1830628" cy="603504"/>
          </a:xfrm>
          <a:prstGeom prst="rect">
            <a:avLst/>
          </a:prstGeom>
          <a:noFill/>
        </p:spPr>
        <p:txBody>
          <a:bodyPr wrap="square" lIns="27432" tIns="27432" rIns="27432" bIns="27432" anchor="ctr">
            <a:spAutoFit/>
          </a:bodyPr>
          <a:lstStyle/>
          <a:p>
            <a:pPr algn="ctr">
              <a:spcAft>
                <a:spcPts val="0"/>
              </a:spcAft>
            </a:pPr>
            <a:r>
              <a:rPr sz="1400" b="1">
                <a:solidFill>
                  <a:srgbClr val="1E2B40"/>
                </a:solidFill>
              </a:rPr>
              <a:t>Phase 2 selectors/proposal/counters</a:t>
            </a:r>
          </a:p>
        </p:txBody>
      </p:sp>
      <p:cxnSp>
        <p:nvCxnSpPr>
          <p:cNvPr id="21" name="Connector 20"/>
          <p:cNvCxnSpPr/>
          <p:nvPr/>
        </p:nvCxnSpPr>
        <p:spPr>
          <a:xfrm>
            <a:off x="7101230"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7247534"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357262" y="2020824"/>
            <a:ext cx="411480" cy="219456"/>
          </a:xfrm>
          <a:prstGeom prst="rect">
            <a:avLst/>
          </a:prstGeom>
          <a:noFill/>
        </p:spPr>
        <p:txBody>
          <a:bodyPr wrap="square" lIns="27432" tIns="27432" rIns="27432" bIns="27432" anchor="t">
            <a:spAutoFit/>
          </a:bodyPr>
          <a:lstStyle/>
          <a:p>
            <a:pPr algn="l">
              <a:spcAft>
                <a:spcPts val="0"/>
              </a:spcAft>
            </a:pPr>
            <a:r>
              <a:rPr sz="1100" b="1">
                <a:solidFill>
                  <a:srgbClr val="E60012"/>
                </a:solidFill>
              </a:rPr>
              <a:t>04</a:t>
            </a:r>
          </a:p>
        </p:txBody>
      </p:sp>
      <p:sp>
        <p:nvSpPr>
          <p:cNvPr id="24" name="TextBox 23"/>
          <p:cNvSpPr txBox="1"/>
          <p:nvPr/>
        </p:nvSpPr>
        <p:spPr>
          <a:xfrm>
            <a:off x="7357262" y="2340864"/>
            <a:ext cx="1830628" cy="603504"/>
          </a:xfrm>
          <a:prstGeom prst="rect">
            <a:avLst/>
          </a:prstGeom>
          <a:noFill/>
        </p:spPr>
        <p:txBody>
          <a:bodyPr wrap="square" lIns="27432" tIns="27432" rIns="27432" bIns="27432" anchor="ctr">
            <a:spAutoFit/>
          </a:bodyPr>
          <a:lstStyle/>
          <a:p>
            <a:pPr algn="ctr">
              <a:spcAft>
                <a:spcPts val="0"/>
              </a:spcAft>
            </a:pPr>
            <a:r>
              <a:rPr sz="1400" b="1">
                <a:solidFill>
                  <a:srgbClr val="1E2B40"/>
                </a:solidFill>
              </a:rPr>
              <a:t>Overlay route and policies</a:t>
            </a:r>
          </a:p>
        </p:txBody>
      </p:sp>
      <p:cxnSp>
        <p:nvCxnSpPr>
          <p:cNvPr id="25" name="Connector 24"/>
          <p:cNvCxnSpPr/>
          <p:nvPr/>
        </p:nvCxnSpPr>
        <p:spPr>
          <a:xfrm>
            <a:off x="9297619"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9443923"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553651" y="2020824"/>
            <a:ext cx="411480" cy="219456"/>
          </a:xfrm>
          <a:prstGeom prst="rect">
            <a:avLst/>
          </a:prstGeom>
          <a:noFill/>
        </p:spPr>
        <p:txBody>
          <a:bodyPr wrap="square" lIns="27432" tIns="27432" rIns="27432" bIns="27432" anchor="t">
            <a:spAutoFit/>
          </a:bodyPr>
          <a:lstStyle/>
          <a:p>
            <a:pPr algn="l">
              <a:spcAft>
                <a:spcPts val="0"/>
              </a:spcAft>
            </a:pPr>
            <a:r>
              <a:rPr sz="1100" b="1">
                <a:solidFill>
                  <a:srgbClr val="E60012"/>
                </a:solidFill>
              </a:rPr>
              <a:t>05</a:t>
            </a:r>
          </a:p>
        </p:txBody>
      </p:sp>
      <p:sp>
        <p:nvSpPr>
          <p:cNvPr id="28" name="TextBox 27"/>
          <p:cNvSpPr txBox="1"/>
          <p:nvPr/>
        </p:nvSpPr>
        <p:spPr>
          <a:xfrm>
            <a:off x="9553651" y="2340864"/>
            <a:ext cx="1830628" cy="603504"/>
          </a:xfrm>
          <a:prstGeom prst="rect">
            <a:avLst/>
          </a:prstGeom>
          <a:noFill/>
        </p:spPr>
        <p:txBody>
          <a:bodyPr wrap="square" lIns="27432" tIns="27432" rIns="27432" bIns="27432" anchor="ctr">
            <a:spAutoFit/>
          </a:bodyPr>
          <a:lstStyle/>
          <a:p>
            <a:pPr algn="ctr">
              <a:spcAft>
                <a:spcPts val="0"/>
              </a:spcAft>
            </a:pPr>
            <a:r>
              <a:rPr sz="1400" b="1">
                <a:solidFill>
                  <a:srgbClr val="1E2B40"/>
                </a:solidFill>
              </a:rPr>
              <a:t>Session, NAT and return-path capture</a:t>
            </a:r>
          </a:p>
        </p:txBody>
      </p:sp>
      <p:sp>
        <p:nvSpPr>
          <p:cNvPr id="29" name="TextBox 28"/>
          <p:cNvSpPr txBox="1"/>
          <p:nvPr/>
        </p:nvSpPr>
        <p:spPr>
          <a:xfrm>
            <a:off x="658368" y="3703320"/>
            <a:ext cx="2011680" cy="256032"/>
          </a:xfrm>
          <a:prstGeom prst="rect">
            <a:avLst/>
          </a:prstGeom>
          <a:noFill/>
        </p:spPr>
        <p:txBody>
          <a:bodyPr wrap="square" lIns="27432" tIns="27432" rIns="27432" bIns="27432" anchor="t">
            <a:spAutoFit/>
          </a:bodyPr>
          <a:lstStyle/>
          <a:p>
            <a:pPr algn="l">
              <a:spcAft>
                <a:spcPts val="0"/>
              </a:spcAft>
            </a:pPr>
            <a:r>
              <a:rPr sz="1100" b="1">
                <a:solidFill>
                  <a:srgbClr val="E60012"/>
                </a:solidFill>
              </a:rPr>
              <a:t>What to observe</a:t>
            </a:r>
          </a:p>
        </p:txBody>
      </p:sp>
      <p:sp>
        <p:nvSpPr>
          <p:cNvPr id="30" name="TextBox 29"/>
          <p:cNvSpPr txBox="1"/>
          <p:nvPr/>
        </p:nvSpPr>
        <p:spPr>
          <a:xfrm>
            <a:off x="658368" y="4050791"/>
            <a:ext cx="6446520" cy="1508760"/>
          </a:xfrm>
          <a:prstGeom prst="rect">
            <a:avLst/>
          </a:prstGeom>
          <a:noFill/>
        </p:spPr>
        <p:txBody>
          <a:bodyPr wrap="square" lIns="109728" tIns="73152" rIns="109728" bIns="73152" anchor="t">
            <a:spAutoFit/>
          </a:bodyPr>
          <a:lstStyle/>
          <a:p>
            <a:pPr algn="l">
              <a:lnSpc>
                <a:spcPct val="105000"/>
              </a:lnSpc>
              <a:spcAft>
                <a:spcPts val="700"/>
              </a:spcAft>
              <a:defRPr sz="1600">
                <a:solidFill>
                  <a:srgbClr val="1E2B40"/>
                </a:solidFill>
              </a:defRPr>
            </a:pPr>
            <a:r>
              <a:t>• Phase 2 selectors/proposal/counters</a:t>
            </a:r>
          </a:p>
          <a:p>
            <a:pPr>
              <a:lnSpc>
                <a:spcPct val="105000"/>
              </a:lnSpc>
              <a:spcAft>
                <a:spcPts val="700"/>
              </a:spcAft>
              <a:defRPr sz="1600">
                <a:solidFill>
                  <a:srgbClr val="1E2B40"/>
                </a:solidFill>
              </a:defRPr>
            </a:pPr>
            <a:r>
              <a:t>• Overlay route and policies</a:t>
            </a:r>
          </a:p>
          <a:p>
            <a:pPr>
              <a:lnSpc>
                <a:spcPct val="105000"/>
              </a:lnSpc>
              <a:spcAft>
                <a:spcPts val="700"/>
              </a:spcAft>
              <a:defRPr sz="1600">
                <a:solidFill>
                  <a:srgbClr val="1E2B40"/>
                </a:solidFill>
              </a:defRPr>
            </a:pPr>
            <a:r>
              <a:t>• Session, NAT and return-path capture</a:t>
            </a:r>
          </a:p>
        </p:txBody>
      </p:sp>
      <p:cxnSp>
        <p:nvCxnSpPr>
          <p:cNvPr id="31" name="Connector 30"/>
          <p:cNvCxnSpPr/>
          <p:nvPr/>
        </p:nvCxnSpPr>
        <p:spPr>
          <a:xfrm>
            <a:off x="7452360" y="3703320"/>
            <a:ext cx="0" cy="2093976"/>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7772400" y="3703320"/>
            <a:ext cx="292608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INSTRUCTOR DEMONSTRATION</a:t>
            </a:r>
            <a:endParaRPr sz="1100" b="1">
              <a:solidFill>
                <a:srgbClr val="E60012"/>
              </a:solidFill>
            </a:endParaRPr>
          </a:p>
        </p:txBody>
      </p:sp>
      <p:sp>
        <p:nvSpPr>
          <p:cNvPr id="33" name="TextBox 32"/>
          <p:cNvSpPr txBox="1"/>
          <p:nvPr/>
        </p:nvSpPr>
        <p:spPr>
          <a:xfrm>
            <a:off x="7772400" y="4096512"/>
            <a:ext cx="3337560" cy="1234440"/>
          </a:xfrm>
          <a:prstGeom prst="rect">
            <a:avLst/>
          </a:prstGeom>
          <a:noFill/>
        </p:spPr>
        <p:txBody>
          <a:bodyPr wrap="square" lIns="27432" tIns="27432" rIns="27432" bIns="27432" anchor="t">
            <a:spAutoFit/>
          </a:bodyPr>
          <a:lstStyle/>
          <a:p>
            <a:pPr algn="l">
              <a:spcAft>
                <a:spcPts val="0"/>
              </a:spcAft>
            </a:pPr>
            <a:r>
              <a:rPr sz="1500" b="1">
                <a:solidFill>
                  <a:srgbClr val="233A59"/>
                </a:solidFill>
              </a:rPr>
              <a:t>Preserve timestamps and before/after state; stop/reset debug operations.</a:t>
            </a:r>
          </a:p>
        </p:txBody>
      </p:sp>
      <p:sp>
        <p:nvSpPr>
          <p:cNvPr id="34" name="TextBox 33"/>
          <p:cNvSpPr txBox="1"/>
          <p:nvPr/>
        </p:nvSpPr>
        <p:spPr>
          <a:xfrm>
            <a:off x="7772400" y="5440680"/>
            <a:ext cx="3337560" cy="363176"/>
          </a:xfrm>
          <a:prstGeom prst="rect">
            <a:avLst/>
          </a:prstGeom>
          <a:noFill/>
        </p:spPr>
        <p:txBody>
          <a:bodyPr wrap="square" lIns="27432" tIns="27432" rIns="27432" bIns="27432" anchor="t">
            <a:spAutoFit/>
          </a:bodyPr>
          <a:lstStyle/>
          <a:p>
            <a:pPr algn="l">
              <a:spcAft>
                <a:spcPts val="0"/>
              </a:spcAft>
            </a:pPr>
            <a:r>
              <a:rPr lang="en-GB" sz="1000" b="0">
                <a:solidFill>
                  <a:srgbClr val="687385"/>
                </a:solidFill>
              </a:rPr>
              <a:t>If debug is used, filter by the test tuple and disable</a:t>
            </a:r>
            <a:r>
              <a:rPr sz="1000" b="0">
                <a:solidFill>
                  <a:srgbClr val="687385"/>
                </a:solidFill>
              </a:rPr>
              <a:t>/reset </a:t>
            </a:r>
            <a:r>
              <a:rPr lang="en-GB" sz="1000" b="0">
                <a:solidFill>
                  <a:srgbClr val="687385"/>
                </a:solidFill>
              </a:rPr>
              <a:t>it immediately </a:t>
            </a:r>
            <a:r>
              <a:rPr sz="1000" b="0">
                <a:solidFill>
                  <a:srgbClr val="687385"/>
                </a:solidFill>
              </a:rPr>
              <a:t>after </a:t>
            </a:r>
            <a:r>
              <a:rPr lang="en-GB" sz="1000" b="0">
                <a:solidFill>
                  <a:srgbClr val="687385"/>
                </a:solidFill>
              </a:rPr>
              <a:t>capture</a:t>
            </a:r>
            <a:r>
              <a:rPr sz="1000" b="0">
                <a:solidFill>
                  <a:srgbClr val="687385"/>
                </a:solidFill>
              </a:rPr>
              <a:t>.</a:t>
            </a:r>
          </a:p>
        </p:txBody>
      </p:sp>
      <p:sp>
        <p:nvSpPr>
          <p:cNvPr id="35" name="TextBox 34"/>
          <p:cNvSpPr txBox="1"/>
          <p:nvPr/>
        </p:nvSpPr>
        <p:spPr>
          <a:xfrm>
            <a:off x="502920" y="420624"/>
            <a:ext cx="10744200" cy="130805"/>
          </a:xfrm>
          <a:prstGeom prst="rect">
            <a:avLst/>
          </a:prstGeom>
          <a:noFill/>
        </p:spPr>
        <p:txBody>
          <a:bodyPr wrap="square" lIns="0" tIns="0" rIns="0" bIns="0">
            <a:spAutoFit/>
          </a:bodyPr>
          <a:lstStyle/>
          <a:p>
            <a:pPr algn="l"/>
            <a:r>
              <a:rPr lang="en-HU" sz="850" b="1">
                <a:solidFill>
                  <a:srgbClr val="687385"/>
                </a:solidFill>
              </a:rPr>
              <a:t>133</a:t>
            </a:r>
            <a:r>
              <a:rPr sz="850" b="1">
                <a:solidFill>
                  <a:srgbClr val="687385"/>
                </a:solidFill>
              </a:rPr>
              <a:t> • DAY 3 • BLOCK 12 • VPN Troubleshooting</a:t>
            </a: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134</a:t>
            </a:r>
          </a:p>
        </p:txBody>
      </p:sp>
      <p:sp>
        <p:nvSpPr>
          <p:cNvPr id="9" name="TextBox 8"/>
          <p:cNvSpPr txBox="1">
            <a:spLocks/>
          </p:cNvSpPr>
          <p:nvPr/>
        </p:nvSpPr>
        <p:spPr>
          <a:xfrm>
            <a:off x="502920" y="621792"/>
            <a:ext cx="11109960" cy="455509"/>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Practical handoff: Broken VPN Ticket</a:t>
            </a:r>
          </a:p>
        </p:txBody>
      </p:sp>
      <p:sp>
        <p:nvSpPr>
          <p:cNvPr id="10" name="TextBox 9"/>
          <p:cNvSpPr txBox="1">
            <a:spLocks/>
          </p:cNvSpPr>
          <p:nvPr/>
        </p:nvSpPr>
        <p:spPr>
          <a:xfrm>
            <a:off x="658368" y="1554480"/>
            <a:ext cx="6583680" cy="3571427"/>
          </a:xfrm>
          <a:prstGeom prst="rect">
            <a:avLst/>
          </a:prstGeom>
          <a:noFill/>
        </p:spPr>
        <p:txBody>
          <a:bodyPr wrap="square" lIns="109728" tIns="73152" rIns="109728" bIns="73152" anchor="t">
            <a:spAutoFit/>
          </a:bodyPr>
          <a:lstStyle/>
          <a:p>
            <a:pPr algn="l">
              <a:lnSpc>
                <a:spcPct val="105000"/>
              </a:lnSpc>
              <a:spcAft>
                <a:spcPts val="800"/>
              </a:spcAft>
              <a:defRPr sz="1700">
                <a:solidFill>
                  <a:srgbClr val="1E2B40"/>
                </a:solidFill>
              </a:defRPr>
            </a:pPr>
            <a:r>
              <a:rPr lang="en-GB"/>
              <a:t>• START / PREREQUISITES: Separate afternoon exercise tunnel with known-good snapshot and one instructor-injected safe fault.</a:t>
            </a:r>
          </a:p>
          <a:p>
            <a:pPr>
              <a:lnSpc>
                <a:spcPct val="105000"/>
              </a:lnSpc>
              <a:spcAft>
                <a:spcPts val="800"/>
              </a:spcAft>
              <a:defRPr sz="1700">
                <a:solidFill>
                  <a:srgbClr val="1E2B40"/>
                </a:solidFill>
              </a:defRPr>
            </a:pPr>
            <a:r>
              <a:rPr lang="en-GB"/>
              <a:t>• CHANGE / INVESTIGATE: Diagnose underlay, IKE, selectors, route, policy and directional counters without broad debug.</a:t>
            </a:r>
          </a:p>
          <a:p>
            <a:pPr>
              <a:lnSpc>
                <a:spcPct val="105000"/>
              </a:lnSpc>
              <a:spcAft>
                <a:spcPts val="800"/>
              </a:spcAft>
              <a:defRPr sz="1700">
                <a:solidFill>
                  <a:srgbClr val="1E2B40"/>
                </a:solidFill>
              </a:defRPr>
            </a:pPr>
            <a:r>
              <a:rPr lang="en-GB"/>
              <a:t>• EXPECTED RESULT: The failed layer is named, one reversible fix restores bidirectional protected traffic, and the ticket records before/after state.</a:t>
            </a:r>
          </a:p>
          <a:p>
            <a:pPr>
              <a:lnSpc>
                <a:spcPct val="105000"/>
              </a:lnSpc>
              <a:spcAft>
                <a:spcPts val="800"/>
              </a:spcAft>
              <a:defRPr sz="1700">
                <a:solidFill>
                  <a:srgbClr val="1E2B40"/>
                </a:solidFill>
              </a:defRPr>
            </a:pPr>
            <a:r>
              <a:rPr lang="en-GB"/>
              <a:t>• CLEANUP / RESET: Remove the intentional fault, stop debug/capture and restore the isolated snapshot.</a:t>
            </a:r>
          </a:p>
          <a:p>
            <a:pPr>
              <a:lnSpc>
                <a:spcPct val="105000"/>
              </a:lnSpc>
              <a:spcAft>
                <a:spcPts val="800"/>
              </a:spcAft>
              <a:defRPr sz="1700">
                <a:solidFill>
                  <a:srgbClr val="1E2B40"/>
                </a:solidFill>
              </a:defRPr>
            </a:pPr>
            <a:r>
              <a:rPr lang="en-GB"/>
              <a:t>• DELIVERY: Hands-on ticket; instructor trace demonstration if the exercise tunnel is unavailable.</a:t>
            </a:r>
          </a:p>
        </p:txBody>
      </p:sp>
      <p:cxnSp>
        <p:nvCxnSpPr>
          <p:cNvPr id="11" name="Connector 10"/>
          <p:cNvCxnSpPr/>
          <p:nvPr/>
        </p:nvCxnSpPr>
        <p:spPr>
          <a:xfrm>
            <a:off x="7452360" y="1600200"/>
            <a:ext cx="0" cy="434340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7790688" y="1627632"/>
            <a:ext cx="342900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PLANNED EXERCISE</a:t>
            </a:r>
          </a:p>
        </p:txBody>
      </p:sp>
      <p:sp>
        <p:nvSpPr>
          <p:cNvPr id="13" name="TextBox 12"/>
          <p:cNvSpPr txBox="1">
            <a:spLocks/>
          </p:cNvSpPr>
          <p:nvPr/>
        </p:nvSpPr>
        <p:spPr>
          <a:xfrm>
            <a:off x="7790688" y="2057400"/>
            <a:ext cx="3337560" cy="1101840"/>
          </a:xfrm>
          <a:prstGeom prst="rect">
            <a:avLst/>
          </a:prstGeom>
          <a:noFill/>
        </p:spPr>
        <p:txBody>
          <a:bodyPr wrap="square" lIns="27432" tIns="27432" rIns="27432" bIns="27432" anchor="t">
            <a:spAutoFit/>
          </a:bodyPr>
          <a:lstStyle/>
          <a:p>
            <a:pPr algn="l">
              <a:spcAft>
                <a:spcPts val="0"/>
              </a:spcAft>
            </a:pPr>
            <a:r>
              <a:rPr lang="en-GB" sz="1700" b="1">
                <a:solidFill>
                  <a:srgbClr val="233A59"/>
                </a:solidFill>
              </a:rPr>
              <a:t>Diagnose underlay, IKE, selectors, route, policy and directional counters without broad debug.</a:t>
            </a:r>
          </a:p>
        </p:txBody>
      </p:sp>
      <p:sp>
        <p:nvSpPr>
          <p:cNvPr id="14" name="TextBox 13"/>
          <p:cNvSpPr txBox="1">
            <a:spLocks/>
          </p:cNvSpPr>
          <p:nvPr/>
        </p:nvSpPr>
        <p:spPr>
          <a:xfrm>
            <a:off x="7790688" y="3822191"/>
            <a:ext cx="18288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EXPECTED RESULT</a:t>
            </a:r>
          </a:p>
        </p:txBody>
      </p:sp>
      <p:sp>
        <p:nvSpPr>
          <p:cNvPr id="15" name="TextBox 14"/>
          <p:cNvSpPr txBox="1">
            <a:spLocks/>
          </p:cNvSpPr>
          <p:nvPr/>
        </p:nvSpPr>
        <p:spPr>
          <a:xfrm>
            <a:off x="7790688" y="4187952"/>
            <a:ext cx="3337560" cy="978729"/>
          </a:xfrm>
          <a:prstGeom prst="rect">
            <a:avLst/>
          </a:prstGeom>
          <a:noFill/>
        </p:spPr>
        <p:txBody>
          <a:bodyPr wrap="square" lIns="27432" tIns="27432" rIns="27432" bIns="27432" anchor="t">
            <a:spAutoFit/>
          </a:bodyPr>
          <a:lstStyle/>
          <a:p>
            <a:pPr algn="l">
              <a:spcAft>
                <a:spcPts val="0"/>
              </a:spcAft>
            </a:pPr>
            <a:r>
              <a:rPr lang="en-GB" sz="1500" b="0">
                <a:solidFill>
                  <a:srgbClr val="1E2B40"/>
                </a:solidFill>
              </a:rPr>
              <a:t>The failed layer is named, one reversible fix restores bidirectional protected traffic, and the ticket records before/after state.</a:t>
            </a:r>
          </a:p>
        </p:txBody>
      </p:sp>
      <p:sp>
        <p:nvSpPr>
          <p:cNvPr id="16" name="TextBox 15"/>
          <p:cNvSpPr txBox="1">
            <a:spLocks/>
          </p:cNvSpPr>
          <p:nvPr/>
        </p:nvSpPr>
        <p:spPr>
          <a:xfrm>
            <a:off x="7790688" y="5559552"/>
            <a:ext cx="1097280" cy="209288"/>
          </a:xfrm>
          <a:prstGeom prst="rect">
            <a:avLst/>
          </a:prstGeom>
          <a:noFill/>
        </p:spPr>
        <p:txBody>
          <a:bodyPr wrap="square" lIns="27432" tIns="27432" rIns="27432" bIns="27432" anchor="t">
            <a:spAutoFit/>
          </a:bodyPr>
          <a:lstStyle/>
          <a:p>
            <a:pPr algn="l">
              <a:spcAft>
                <a:spcPts val="0"/>
              </a:spcAft>
            </a:pPr>
            <a:r>
              <a:rPr lang="en-GB" sz="1000" b="1">
                <a:solidFill>
                  <a:srgbClr val="687385"/>
                </a:solidFill>
              </a:rPr>
              <a:t>DELIVERY MODE</a:t>
            </a:r>
          </a:p>
        </p:txBody>
      </p:sp>
      <p:sp>
        <p:nvSpPr>
          <p:cNvPr id="17" name="TextBox 16"/>
          <p:cNvSpPr txBox="1">
            <a:spLocks/>
          </p:cNvSpPr>
          <p:nvPr/>
        </p:nvSpPr>
        <p:spPr>
          <a:xfrm>
            <a:off x="8942832" y="5504688"/>
            <a:ext cx="2258568" cy="486287"/>
          </a:xfrm>
          <a:prstGeom prst="rect">
            <a:avLst/>
          </a:prstGeom>
          <a:noFill/>
        </p:spPr>
        <p:txBody>
          <a:bodyPr wrap="square" lIns="27432" tIns="27432" rIns="27432" bIns="27432" anchor="t">
            <a:spAutoFit/>
          </a:bodyPr>
          <a:lstStyle/>
          <a:p>
            <a:pPr algn="r">
              <a:spcAft>
                <a:spcPts val="0"/>
              </a:spcAft>
            </a:pPr>
            <a:r>
              <a:rPr lang="en-GB" sz="1400" b="0">
                <a:solidFill>
                  <a:srgbClr val="687385"/>
                </a:solidFill>
              </a:rPr>
              <a:t>Hands-on ticket; trace fallback</a:t>
            </a:r>
          </a:p>
        </p:txBody>
      </p:sp>
      <p:sp>
        <p:nvSpPr>
          <p:cNvPr id="18" name="TextBox 17"/>
          <p:cNvSpPr txBox="1">
            <a:spLocks/>
          </p:cNvSpPr>
          <p:nvPr/>
        </p:nvSpPr>
        <p:spPr>
          <a:xfrm>
            <a:off x="502920" y="420624"/>
            <a:ext cx="10744200" cy="130805"/>
          </a:xfrm>
          <a:prstGeom prst="rect">
            <a:avLst/>
          </a:prstGeom>
          <a:noFill/>
        </p:spPr>
        <p:txBody>
          <a:bodyPr wrap="square" lIns="0" tIns="0" rIns="0" bIns="0">
            <a:spAutoFit/>
          </a:bodyPr>
          <a:lstStyle/>
          <a:p>
            <a:pPr algn="l"/>
            <a:r>
              <a:rPr lang="en-GB" sz="850" b="1">
                <a:solidFill>
                  <a:srgbClr val="687385"/>
                </a:solidFill>
              </a:rPr>
              <a:t>134 • DAY 3 • BLOCK 12 • VPN Troubleshooting</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135</a:t>
            </a:r>
          </a:p>
        </p:txBody>
      </p:sp>
      <p:sp>
        <p:nvSpPr>
          <p:cNvPr id="9" name="TextBox 8"/>
          <p:cNvSpPr txBox="1">
            <a:spLocks/>
          </p:cNvSpPr>
          <p:nvPr/>
        </p:nvSpPr>
        <p:spPr>
          <a:xfrm>
            <a:off x="502920" y="621792"/>
            <a:ext cx="11109960" cy="455509"/>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Knowledge check — explain the result</a:t>
            </a:r>
          </a:p>
        </p:txBody>
      </p:sp>
      <p:sp>
        <p:nvSpPr>
          <p:cNvPr id="10" name="TextBox 9"/>
          <p:cNvSpPr txBox="1">
            <a:spLocks/>
          </p:cNvSpPr>
          <p:nvPr/>
        </p:nvSpPr>
        <p:spPr>
          <a:xfrm>
            <a:off x="658368" y="1600200"/>
            <a:ext cx="5312664" cy="292608"/>
          </a:xfrm>
          <a:prstGeom prst="rect">
            <a:avLst/>
          </a:prstGeom>
          <a:noFill/>
        </p:spPr>
        <p:txBody>
          <a:bodyPr wrap="square" lIns="27432" tIns="27432" rIns="27432" bIns="27432" anchor="t">
            <a:spAutoFit/>
          </a:bodyPr>
          <a:lstStyle/>
          <a:p>
            <a:pPr algn="l">
              <a:spcAft>
                <a:spcPts val="0"/>
              </a:spcAft>
            </a:pPr>
            <a:r>
              <a:rPr lang="en-GB" sz="1300" b="1">
                <a:solidFill>
                  <a:srgbClr val="E60012"/>
                </a:solidFill>
              </a:rPr>
              <a:t>QUESTION 1</a:t>
            </a:r>
          </a:p>
        </p:txBody>
      </p:sp>
      <p:cxnSp>
        <p:nvCxnSpPr>
          <p:cNvPr id="11" name="Connector 10"/>
          <p:cNvCxnSpPr/>
          <p:nvPr/>
        </p:nvCxnSpPr>
        <p:spPr>
          <a:xfrm>
            <a:off x="658368" y="1984248"/>
            <a:ext cx="5312664" cy="0"/>
          </a:xfrm>
          <a:prstGeom prst="line">
            <a:avLst/>
          </a:prstGeom>
          <a:ln w="22860">
            <a:solidFill>
              <a:srgbClr val="E60012"/>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658368" y="2176272"/>
            <a:ext cx="5312664" cy="3337560"/>
          </a:xfrm>
          <a:prstGeom prst="rect">
            <a:avLst/>
          </a:prstGeom>
          <a:noFill/>
        </p:spPr>
        <p:txBody>
          <a:bodyPr wrap="square" lIns="109728" tIns="73152" rIns="109728" bIns="73152" anchor="t">
            <a:spAutoFit/>
          </a:bodyPr>
          <a:lstStyle/>
          <a:p>
            <a:pPr algn="l">
              <a:lnSpc>
                <a:spcPct val="105000"/>
              </a:lnSpc>
              <a:spcAft>
                <a:spcPts val="800"/>
              </a:spcAft>
              <a:defRPr sz="1600">
                <a:solidFill>
                  <a:srgbClr val="1E2B40"/>
                </a:solidFill>
              </a:defRPr>
            </a:pPr>
            <a:r>
              <a:rPr lang="en-GB"/>
              <a:t>• If encaps increases but decaps stays zero, what does it suggest?</a:t>
            </a:r>
          </a:p>
        </p:txBody>
      </p:sp>
      <p:sp>
        <p:nvSpPr>
          <p:cNvPr id="13" name="TextBox 12"/>
          <p:cNvSpPr txBox="1">
            <a:spLocks/>
          </p:cNvSpPr>
          <p:nvPr/>
        </p:nvSpPr>
        <p:spPr>
          <a:xfrm>
            <a:off x="6227064" y="1600200"/>
            <a:ext cx="5312664" cy="292608"/>
          </a:xfrm>
          <a:prstGeom prst="rect">
            <a:avLst/>
          </a:prstGeom>
          <a:noFill/>
        </p:spPr>
        <p:txBody>
          <a:bodyPr wrap="square" lIns="27432" tIns="27432" rIns="27432" bIns="27432" anchor="t">
            <a:spAutoFit/>
          </a:bodyPr>
          <a:lstStyle/>
          <a:p>
            <a:pPr algn="l">
              <a:spcAft>
                <a:spcPts val="0"/>
              </a:spcAft>
            </a:pPr>
            <a:r>
              <a:rPr lang="en-GB" sz="1300" b="1">
                <a:solidFill>
                  <a:srgbClr val="E60012"/>
                </a:solidFill>
              </a:rPr>
              <a:t>QUESTION 2</a:t>
            </a:r>
          </a:p>
        </p:txBody>
      </p:sp>
      <p:cxnSp>
        <p:nvCxnSpPr>
          <p:cNvPr id="14" name="Connector 13"/>
          <p:cNvCxnSpPr/>
          <p:nvPr/>
        </p:nvCxnSpPr>
        <p:spPr>
          <a:xfrm>
            <a:off x="6227064" y="1984248"/>
            <a:ext cx="5312664" cy="0"/>
          </a:xfrm>
          <a:prstGeom prst="line">
            <a:avLst/>
          </a:prstGeom>
          <a:ln w="22860">
            <a:solidFill>
              <a:srgbClr val="E60012"/>
            </a:solidFill>
          </a:ln>
        </p:spPr>
        <p:style>
          <a:lnRef idx="2">
            <a:schemeClr val="accent1"/>
          </a:lnRef>
          <a:fillRef idx="0">
            <a:schemeClr val="accent1"/>
          </a:fillRef>
          <a:effectRef idx="1">
            <a:schemeClr val="accent1"/>
          </a:effectRef>
          <a:fontRef idx="minor">
            <a:schemeClr val="tx1"/>
          </a:fontRef>
        </p:style>
      </p:cxnSp>
      <p:sp>
        <p:nvSpPr>
          <p:cNvPr id="15" name="TextBox 14"/>
          <p:cNvSpPr txBox="1">
            <a:spLocks/>
          </p:cNvSpPr>
          <p:nvPr/>
        </p:nvSpPr>
        <p:spPr>
          <a:xfrm>
            <a:off x="6227064" y="2176272"/>
            <a:ext cx="5312664" cy="3337560"/>
          </a:xfrm>
          <a:prstGeom prst="rect">
            <a:avLst/>
          </a:prstGeom>
          <a:noFill/>
        </p:spPr>
        <p:txBody>
          <a:bodyPr wrap="square" lIns="109728" tIns="73152" rIns="109728" bIns="73152" anchor="t">
            <a:spAutoFit/>
          </a:bodyPr>
          <a:lstStyle/>
          <a:p>
            <a:pPr algn="l">
              <a:lnSpc>
                <a:spcPct val="105000"/>
              </a:lnSpc>
              <a:spcAft>
                <a:spcPts val="800"/>
              </a:spcAft>
              <a:defRPr sz="1600">
                <a:solidFill>
                  <a:srgbClr val="1E2B40"/>
                </a:solidFill>
              </a:defRPr>
            </a:pPr>
            <a:r>
              <a:rPr lang="en-GB"/>
              <a:t>• Why use a new five-tuple after a route change?</a:t>
            </a:r>
          </a:p>
        </p:txBody>
      </p:sp>
      <p:sp>
        <p:nvSpPr>
          <p:cNvPr id="16" name="TextBox 15"/>
          <p:cNvSpPr txBox="1">
            <a:spLocks/>
          </p:cNvSpPr>
          <p:nvPr/>
        </p:nvSpPr>
        <p:spPr>
          <a:xfrm>
            <a:off x="658368" y="5724144"/>
            <a:ext cx="1234440" cy="224677"/>
          </a:xfrm>
          <a:prstGeom prst="rect">
            <a:avLst/>
          </a:prstGeom>
          <a:noFill/>
        </p:spPr>
        <p:txBody>
          <a:bodyPr wrap="square" lIns="27432" tIns="27432" rIns="27432" bIns="27432" anchor="t">
            <a:spAutoFit/>
          </a:bodyPr>
          <a:lstStyle/>
          <a:p>
            <a:pPr algn="l">
              <a:spcAft>
                <a:spcPts val="0"/>
              </a:spcAft>
            </a:pPr>
            <a:r>
              <a:rPr lang="en-GB" sz="1100" b="1">
                <a:solidFill>
                  <a:srgbClr val="233A59"/>
                </a:solidFill>
              </a:rPr>
              <a:t>KEY DISTINCTION</a:t>
            </a:r>
          </a:p>
        </p:txBody>
      </p:sp>
      <p:sp>
        <p:nvSpPr>
          <p:cNvPr id="17" name="TextBox 16"/>
          <p:cNvSpPr txBox="1">
            <a:spLocks/>
          </p:cNvSpPr>
          <p:nvPr/>
        </p:nvSpPr>
        <p:spPr>
          <a:xfrm>
            <a:off x="1920240" y="5687568"/>
            <a:ext cx="9235440" cy="329184"/>
          </a:xfrm>
          <a:prstGeom prst="rect">
            <a:avLst/>
          </a:prstGeom>
          <a:noFill/>
        </p:spPr>
        <p:txBody>
          <a:bodyPr wrap="square" lIns="27432" tIns="27432" rIns="27432" bIns="27432" anchor="t">
            <a:spAutoFit/>
          </a:bodyPr>
          <a:lstStyle/>
          <a:p>
            <a:pPr algn="l">
              <a:spcAft>
                <a:spcPts val="0"/>
              </a:spcAft>
            </a:pPr>
            <a:r>
              <a:rPr lang="en-GB" sz="1400" b="1">
                <a:solidFill>
                  <a:srgbClr val="233A59"/>
                </a:solidFill>
              </a:rPr>
              <a:t>Answers and teaching rationale are in speaker notes.</a:t>
            </a:r>
          </a:p>
        </p:txBody>
      </p:sp>
      <p:sp>
        <p:nvSpPr>
          <p:cNvPr id="18" name="TextBox 17"/>
          <p:cNvSpPr txBox="1">
            <a:spLocks/>
          </p:cNvSpPr>
          <p:nvPr/>
        </p:nvSpPr>
        <p:spPr>
          <a:xfrm>
            <a:off x="502920" y="420624"/>
            <a:ext cx="10744200" cy="130805"/>
          </a:xfrm>
          <a:prstGeom prst="rect">
            <a:avLst/>
          </a:prstGeom>
          <a:noFill/>
        </p:spPr>
        <p:txBody>
          <a:bodyPr wrap="square" lIns="0" tIns="0" rIns="0" bIns="0">
            <a:spAutoFit/>
          </a:bodyPr>
          <a:lstStyle/>
          <a:p>
            <a:pPr algn="l"/>
            <a:r>
              <a:rPr lang="en-GB" sz="850" b="1">
                <a:solidFill>
                  <a:srgbClr val="687385"/>
                </a:solidFill>
              </a:rPr>
              <a:t>135 • DAY 3 • BLOCK 12 • VPN Troubleshooting</a:t>
            </a: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bg>
      <p:bgPr>
        <a:solidFill>
          <a:srgbClr val="101827"/>
        </a:solidFill>
        <a:effectLst/>
      </p:bgPr>
    </p:bg>
    <p:spTree>
      <p:nvGrpSpPr>
        <p:cNvPr id="1" name=""/>
        <p:cNvGrpSpPr/>
        <p:nvPr/>
      </p:nvGrpSpPr>
      <p:grpSpPr>
        <a:xfrm>
          <a:off x="0" y="0"/>
          <a:ext cx="1" cy="1"/>
          <a:chOff x="0" y="0"/>
          <a:chExt cx="1" cy="1"/>
        </a:xfrm>
      </p:grpSpPr>
      <p:sp>
        <p:nvSpPr>
          <p:cNvPr id="2" name="Rectangle 1"/>
          <p:cNvSpPr/>
          <p:nvPr/>
        </p:nvSpPr>
        <p:spPr>
          <a:xfrm>
            <a:off x="0" y="0"/>
            <a:ext cx="146304" cy="6858000"/>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a:spLocks/>
          </p:cNvSpPr>
          <p:nvPr/>
        </p:nvSpPr>
        <p:spPr>
          <a:xfrm>
            <a:off x="658368" y="566928"/>
            <a:ext cx="5212080" cy="256032"/>
          </a:xfrm>
          <a:prstGeom prst="rect">
            <a:avLst/>
          </a:prstGeom>
          <a:noFill/>
        </p:spPr>
        <p:txBody>
          <a:bodyPr wrap="square" lIns="27432" tIns="27432" rIns="27432" bIns="27432" anchor="t">
            <a:spAutoFit/>
          </a:bodyPr>
          <a:lstStyle/>
          <a:p>
            <a:pPr algn="l">
              <a:spcAft>
                <a:spcPts val="0"/>
              </a:spcAft>
            </a:pPr>
            <a:r>
              <a:rPr lang="en-GB" sz="1400" b="1">
                <a:solidFill>
                  <a:srgbClr val="E60012"/>
                </a:solidFill>
              </a:rPr>
              <a:t>DAY 4  •  09:00–10:30</a:t>
            </a:r>
          </a:p>
        </p:txBody>
      </p:sp>
      <p:sp>
        <p:nvSpPr>
          <p:cNvPr id="4" name="TextBox 3"/>
          <p:cNvSpPr txBox="1">
            <a:spLocks/>
          </p:cNvSpPr>
          <p:nvPr/>
        </p:nvSpPr>
        <p:spPr>
          <a:xfrm>
            <a:off x="658368" y="1097280"/>
            <a:ext cx="10515600" cy="914400"/>
          </a:xfrm>
          <a:prstGeom prst="rect">
            <a:avLst/>
          </a:prstGeom>
          <a:noFill/>
        </p:spPr>
        <p:txBody>
          <a:bodyPr wrap="square" lIns="27432" tIns="27432" rIns="27432" bIns="27432" anchor="t">
            <a:spAutoFit/>
          </a:bodyPr>
          <a:lstStyle/>
          <a:p>
            <a:pPr algn="l">
              <a:spcAft>
                <a:spcPts val="0"/>
              </a:spcAft>
            </a:pPr>
            <a:r>
              <a:rPr lang="en-GB" sz="3400" b="1">
                <a:solidFill>
                  <a:srgbClr val="FFFFFF"/>
                </a:solidFill>
              </a:rPr>
              <a:t>FortiClient Architecture &amp; EMS Awareness</a:t>
            </a:r>
          </a:p>
        </p:txBody>
      </p:sp>
      <p:sp>
        <p:nvSpPr>
          <p:cNvPr id="5" name="TextBox 4"/>
          <p:cNvSpPr txBox="1">
            <a:spLocks/>
          </p:cNvSpPr>
          <p:nvPr/>
        </p:nvSpPr>
        <p:spPr>
          <a:xfrm>
            <a:off x="676656" y="2084831"/>
            <a:ext cx="8686800" cy="320040"/>
          </a:xfrm>
          <a:prstGeom prst="rect">
            <a:avLst/>
          </a:prstGeom>
          <a:noFill/>
        </p:spPr>
        <p:txBody>
          <a:bodyPr wrap="square" lIns="27432" tIns="27432" rIns="27432" bIns="27432" anchor="t">
            <a:spAutoFit/>
          </a:bodyPr>
          <a:lstStyle/>
          <a:p>
            <a:pPr algn="l">
              <a:spcAft>
                <a:spcPts val="0"/>
              </a:spcAft>
            </a:pPr>
            <a:r>
              <a:rPr lang="en-GB" sz="1500" b="0">
                <a:solidFill>
                  <a:srgbClr val="C9D1DD"/>
                </a:solidFill>
              </a:rPr>
              <a:t>Advanced • Day 2 of 2</a:t>
            </a:r>
          </a:p>
        </p:txBody>
      </p:sp>
      <p:cxnSp>
        <p:nvCxnSpPr>
          <p:cNvPr id="6" name="Connector 5"/>
          <p:cNvCxnSpPr/>
          <p:nvPr/>
        </p:nvCxnSpPr>
        <p:spPr>
          <a:xfrm>
            <a:off x="676656" y="2578608"/>
            <a:ext cx="10616184" cy="0"/>
          </a:xfrm>
          <a:prstGeom prst="line">
            <a:avLst/>
          </a:prstGeom>
          <a:ln w="12700">
            <a:solidFill>
              <a:srgbClr val="40516A"/>
            </a:solidFill>
          </a:ln>
        </p:spPr>
        <p:style>
          <a:lnRef idx="2">
            <a:schemeClr val="accent1"/>
          </a:lnRef>
          <a:fillRef idx="0">
            <a:schemeClr val="accent1"/>
          </a:fillRef>
          <a:effectRef idx="1">
            <a:schemeClr val="accent1"/>
          </a:effectRef>
          <a:fontRef idx="minor">
            <a:schemeClr val="tx1"/>
          </a:fontRef>
        </p:style>
      </p:cxnSp>
      <p:sp>
        <p:nvSpPr>
          <p:cNvPr id="7" name="TextBox 6"/>
          <p:cNvSpPr txBox="1">
            <a:spLocks/>
          </p:cNvSpPr>
          <p:nvPr/>
        </p:nvSpPr>
        <p:spPr>
          <a:xfrm>
            <a:off x="685800" y="2889504"/>
            <a:ext cx="27432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LEARNING OBJECTIVES</a:t>
            </a:r>
          </a:p>
        </p:txBody>
      </p:sp>
      <p:sp>
        <p:nvSpPr>
          <p:cNvPr id="8" name="TextBox 7"/>
          <p:cNvSpPr txBox="1">
            <a:spLocks/>
          </p:cNvSpPr>
          <p:nvPr/>
        </p:nvSpPr>
        <p:spPr>
          <a:xfrm>
            <a:off x="685800" y="3218688"/>
            <a:ext cx="6035040" cy="2057400"/>
          </a:xfrm>
          <a:prstGeom prst="rect">
            <a:avLst/>
          </a:prstGeom>
          <a:noFill/>
        </p:spPr>
        <p:txBody>
          <a:bodyPr wrap="square" lIns="109728" tIns="73152" rIns="109728" bIns="73152" anchor="t">
            <a:spAutoFit/>
          </a:bodyPr>
          <a:lstStyle/>
          <a:p>
            <a:pPr algn="l">
              <a:lnSpc>
                <a:spcPct val="105000"/>
              </a:lnSpc>
              <a:spcAft>
                <a:spcPts val="700"/>
              </a:spcAft>
              <a:defRPr sz="1700">
                <a:solidFill>
                  <a:srgbClr val="FFFFFF"/>
                </a:solidFill>
              </a:defRPr>
            </a:pPr>
            <a:r>
              <a:rPr lang="en-GB"/>
              <a:t>• Describe FortiClient components, VPN profiles and endpoint integration</a:t>
            </a:r>
          </a:p>
          <a:p>
            <a:pPr>
              <a:lnSpc>
                <a:spcPct val="105000"/>
              </a:lnSpc>
              <a:spcAft>
                <a:spcPts val="700"/>
              </a:spcAft>
              <a:defRPr sz="1700">
                <a:solidFill>
                  <a:srgbClr val="FFFFFF"/>
                </a:solidFill>
              </a:defRPr>
            </a:pPr>
            <a:r>
              <a:rPr lang="en-GB"/>
              <a:t>• Explain EMS telemetry and centralized profile management</a:t>
            </a:r>
          </a:p>
          <a:p>
            <a:pPr>
              <a:lnSpc>
                <a:spcPct val="105000"/>
              </a:lnSpc>
              <a:spcAft>
                <a:spcPts val="700"/>
              </a:spcAft>
              <a:defRPr sz="1700">
                <a:solidFill>
                  <a:srgbClr val="FFFFFF"/>
                </a:solidFill>
              </a:defRPr>
            </a:pPr>
            <a:r>
              <a:rPr lang="en-GB"/>
              <a:t>• Compare EMS and Intune by use case without claiming equivalence</a:t>
            </a:r>
          </a:p>
        </p:txBody>
      </p:sp>
      <p:sp>
        <p:nvSpPr>
          <p:cNvPr id="9" name="TextBox 8"/>
          <p:cNvSpPr txBox="1">
            <a:spLocks/>
          </p:cNvSpPr>
          <p:nvPr/>
        </p:nvSpPr>
        <p:spPr>
          <a:xfrm>
            <a:off x="7315200" y="2889504"/>
            <a:ext cx="36576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PREREQUISITES + PRACTICE RESERVE</a:t>
            </a:r>
          </a:p>
        </p:txBody>
      </p:sp>
      <p:sp>
        <p:nvSpPr>
          <p:cNvPr id="10" name="TextBox 9"/>
          <p:cNvSpPr txBox="1">
            <a:spLocks/>
          </p:cNvSpPr>
          <p:nvPr/>
        </p:nvSpPr>
        <p:spPr>
          <a:xfrm>
            <a:off x="7315200" y="3218688"/>
            <a:ext cx="3886200" cy="1506182"/>
          </a:xfrm>
          <a:prstGeom prst="rect">
            <a:avLst/>
          </a:prstGeom>
          <a:noFill/>
        </p:spPr>
        <p:txBody>
          <a:bodyPr wrap="square" lIns="109728" tIns="73152" rIns="109728" bIns="73152" anchor="t">
            <a:spAutoFit/>
          </a:bodyPr>
          <a:lstStyle/>
          <a:p>
            <a:pPr algn="l">
              <a:lnSpc>
                <a:spcPct val="105000"/>
              </a:lnSpc>
              <a:spcAft>
                <a:spcPts val="600"/>
              </a:spcAft>
              <a:defRPr sz="1500">
                <a:solidFill>
                  <a:srgbClr val="FFFFFF"/>
                </a:solidFill>
              </a:defRPr>
            </a:pPr>
            <a:r>
              <a:rPr lang="en-GB"/>
              <a:t>• No FortiClient/EMS infrastructure in the base lab</a:t>
            </a:r>
          </a:p>
          <a:p>
            <a:pPr>
              <a:lnSpc>
                <a:spcPct val="105000"/>
              </a:lnSpc>
              <a:spcAft>
                <a:spcPts val="600"/>
              </a:spcAft>
              <a:defRPr sz="1500">
                <a:solidFill>
                  <a:srgbClr val="FFFFFF"/>
                </a:solidFill>
              </a:defRPr>
            </a:pPr>
            <a:r>
              <a:rPr lang="en-GB"/>
              <a:t>• Theory materials prepared</a:t>
            </a:r>
          </a:p>
          <a:p>
            <a:pPr>
              <a:lnSpc>
                <a:spcPct val="105000"/>
              </a:lnSpc>
              <a:spcAft>
                <a:spcPts val="600"/>
              </a:spcAft>
              <a:defRPr sz="1500">
                <a:solidFill>
                  <a:srgbClr val="FFFFFF"/>
                </a:solidFill>
              </a:defRPr>
            </a:pPr>
            <a:r>
              <a:rPr lang="en-GB"/>
              <a:t>• Optional demo requires supported versions, license and a managed endpoint</a:t>
            </a:r>
          </a:p>
        </p:txBody>
      </p:sp>
      <p:sp>
        <p:nvSpPr>
          <p:cNvPr id="11" name="TextBox 10"/>
          <p:cNvSpPr txBox="1">
            <a:spLocks/>
          </p:cNvSpPr>
          <p:nvPr/>
        </p:nvSpPr>
        <p:spPr>
          <a:xfrm>
            <a:off x="7315200" y="4709160"/>
            <a:ext cx="3931920" cy="685800"/>
          </a:xfrm>
          <a:prstGeom prst="rect">
            <a:avLst/>
          </a:prstGeom>
          <a:noFill/>
        </p:spPr>
        <p:txBody>
          <a:bodyPr wrap="square" lIns="27432" tIns="27432" rIns="27432" bIns="27432" anchor="t">
            <a:spAutoFit/>
          </a:bodyPr>
          <a:lstStyle/>
          <a:p>
            <a:pPr algn="l">
              <a:spcAft>
                <a:spcPts val="0"/>
              </a:spcAft>
            </a:pPr>
            <a:r>
              <a:rPr lang="en-GB" sz="1600" b="1">
                <a:solidFill>
                  <a:srgbClr val="D8E0EA"/>
                </a:solidFill>
              </a:rPr>
              <a:t>Teach ~58 min • reserve ~32 min for guided activity, discussion and debrief</a:t>
            </a:r>
          </a:p>
        </p:txBody>
      </p:sp>
      <p:sp>
        <p:nvSpPr>
          <p:cNvPr id="12" name="TextBox 11"/>
          <p:cNvSpPr txBox="1">
            <a:spLocks/>
          </p:cNvSpPr>
          <p:nvPr/>
        </p:nvSpPr>
        <p:spPr>
          <a:xfrm>
            <a:off x="10424160" y="5715000"/>
            <a:ext cx="731520" cy="363176"/>
          </a:xfrm>
          <a:prstGeom prst="rect">
            <a:avLst/>
          </a:prstGeom>
          <a:noFill/>
        </p:spPr>
        <p:txBody>
          <a:bodyPr wrap="square" lIns="27432" tIns="27432" rIns="27432" bIns="27432" anchor="t">
            <a:spAutoFit/>
          </a:bodyPr>
          <a:lstStyle/>
          <a:p>
            <a:pPr algn="r">
              <a:spcAft>
                <a:spcPts val="0"/>
              </a:spcAft>
            </a:pPr>
            <a:r>
              <a:rPr lang="en-HU" sz="2000" b="1">
                <a:solidFill>
                  <a:srgbClr val="E60012"/>
                </a:solidFill>
              </a:rPr>
              <a:t>136</a:t>
            </a: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137</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FortiClient is an endpoint platform with modular capabilities</a:t>
            </a:r>
          </a:p>
        </p:txBody>
      </p:sp>
      <p:sp>
        <p:nvSpPr>
          <p:cNvPr id="10" name="Rectangle 9"/>
          <p:cNvSpPr/>
          <p:nvPr/>
        </p:nvSpPr>
        <p:spPr>
          <a:xfrm>
            <a:off x="960120" y="1965960"/>
            <a:ext cx="3108960" cy="105156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1" name="TextBox 10"/>
          <p:cNvSpPr txBox="1">
            <a:spLocks/>
          </p:cNvSpPr>
          <p:nvPr/>
        </p:nvSpPr>
        <p:spPr>
          <a:xfrm>
            <a:off x="1051560" y="2130552"/>
            <a:ext cx="2926079" cy="502920"/>
          </a:xfrm>
          <a:prstGeom prst="rect">
            <a:avLst/>
          </a:prstGeom>
          <a:noFill/>
        </p:spPr>
        <p:txBody>
          <a:bodyPr wrap="square" lIns="27432" tIns="27432" rIns="27432" bIns="27432" anchor="ctr">
            <a:spAutoFit/>
          </a:bodyPr>
          <a:lstStyle/>
          <a:p>
            <a:pPr algn="ctr">
              <a:spcAft>
                <a:spcPts val="0"/>
              </a:spcAft>
            </a:pPr>
            <a:r>
              <a:rPr lang="en-GB" sz="1600" b="1">
                <a:solidFill>
                  <a:srgbClr val="FFFFFF"/>
                </a:solidFill>
              </a:rPr>
              <a:t>ENDPOINT</a:t>
            </a:r>
          </a:p>
        </p:txBody>
      </p:sp>
      <p:cxnSp>
        <p:nvCxnSpPr>
          <p:cNvPr id="12" name="Connector 11"/>
          <p:cNvCxnSpPr/>
          <p:nvPr/>
        </p:nvCxnSpPr>
        <p:spPr>
          <a:xfrm>
            <a:off x="4069080" y="2496312"/>
            <a:ext cx="457200" cy="0"/>
          </a:xfrm>
          <a:prstGeom prst="line">
            <a:avLst/>
          </a:prstGeom>
          <a:ln w="31750">
            <a:solidFill>
              <a:srgbClr val="E60012"/>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4526280" y="1965960"/>
            <a:ext cx="3108960" cy="105156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17720" y="2130552"/>
            <a:ext cx="2926079" cy="502920"/>
          </a:xfrm>
          <a:prstGeom prst="rect">
            <a:avLst/>
          </a:prstGeom>
          <a:noFill/>
        </p:spPr>
        <p:txBody>
          <a:bodyPr wrap="square" lIns="27432" tIns="27432" rIns="27432" bIns="27432" anchor="ctr">
            <a:spAutoFit/>
          </a:bodyPr>
          <a:lstStyle/>
          <a:p>
            <a:pPr algn="ctr">
              <a:spcAft>
                <a:spcPts val="0"/>
              </a:spcAft>
            </a:pPr>
            <a:r>
              <a:rPr sz="1600" b="1">
                <a:solidFill>
                  <a:srgbClr val="FFFFFF"/>
                </a:solidFill>
              </a:rPr>
              <a:t>FORTICLIENT
MODULES</a:t>
            </a:r>
          </a:p>
        </p:txBody>
      </p:sp>
      <p:cxnSp>
        <p:nvCxnSpPr>
          <p:cNvPr id="15" name="Connector 14"/>
          <p:cNvCxnSpPr/>
          <p:nvPr/>
        </p:nvCxnSpPr>
        <p:spPr>
          <a:xfrm>
            <a:off x="7635240" y="2496312"/>
            <a:ext cx="457200" cy="0"/>
          </a:xfrm>
          <a:prstGeom prst="line">
            <a:avLst/>
          </a:prstGeom>
          <a:ln w="31750">
            <a:solidFill>
              <a:srgbClr val="E60012"/>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8092440" y="1965960"/>
            <a:ext cx="3108960" cy="105156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183879" y="2130552"/>
            <a:ext cx="2926079" cy="502920"/>
          </a:xfrm>
          <a:prstGeom prst="rect">
            <a:avLst/>
          </a:prstGeom>
          <a:noFill/>
        </p:spPr>
        <p:txBody>
          <a:bodyPr wrap="square" lIns="27432" tIns="27432" rIns="27432" bIns="27432" anchor="ctr">
            <a:spAutoFit/>
          </a:bodyPr>
          <a:lstStyle/>
          <a:p>
            <a:pPr algn="ctr">
              <a:spcAft>
                <a:spcPts val="0"/>
              </a:spcAft>
            </a:pPr>
            <a:r>
              <a:rPr sz="1600" b="1">
                <a:solidFill>
                  <a:srgbClr val="FFFFFF"/>
                </a:solidFill>
              </a:rPr>
              <a:t>FORTIGATE / EMS</a:t>
            </a:r>
          </a:p>
        </p:txBody>
      </p:sp>
      <p:sp>
        <p:nvSpPr>
          <p:cNvPr id="18" name="TextBox 17"/>
          <p:cNvSpPr txBox="1"/>
          <p:nvPr/>
        </p:nvSpPr>
        <p:spPr>
          <a:xfrm>
            <a:off x="822960" y="3383280"/>
            <a:ext cx="10515600" cy="411480"/>
          </a:xfrm>
          <a:prstGeom prst="rect">
            <a:avLst/>
          </a:prstGeom>
          <a:noFill/>
        </p:spPr>
        <p:txBody>
          <a:bodyPr wrap="square" lIns="27432" tIns="27432" rIns="27432" bIns="27432" anchor="t">
            <a:spAutoFit/>
          </a:bodyPr>
          <a:lstStyle/>
          <a:p>
            <a:pPr algn="ctr">
              <a:spcAft>
                <a:spcPts val="0"/>
              </a:spcAft>
            </a:pPr>
            <a:r>
              <a:rPr sz="1700" b="1">
                <a:solidFill>
                  <a:srgbClr val="233A59"/>
                </a:solidFill>
              </a:rPr>
              <a:t>Treat “FortiClient installed” as insufficient scope; state the module and management mode</a:t>
            </a:r>
          </a:p>
        </p:txBody>
      </p:sp>
      <p:sp>
        <p:nvSpPr>
          <p:cNvPr id="19" name="TextBox 18"/>
          <p:cNvSpPr txBox="1"/>
          <p:nvPr/>
        </p:nvSpPr>
        <p:spPr>
          <a:xfrm>
            <a:off x="960120" y="4069080"/>
            <a:ext cx="10241280" cy="1340752"/>
          </a:xfrm>
          <a:prstGeom prst="rect">
            <a:avLst/>
          </a:prstGeom>
          <a:noFill/>
        </p:spPr>
        <p:txBody>
          <a:bodyPr wrap="square" lIns="109728" tIns="73152" rIns="109728" bIns="73152" anchor="t">
            <a:spAutoFit/>
          </a:bodyPr>
          <a:lstStyle/>
          <a:p>
            <a:pPr algn="l">
              <a:lnSpc>
                <a:spcPct val="105000"/>
              </a:lnSpc>
              <a:spcAft>
                <a:spcPts val="600"/>
              </a:spcAft>
              <a:defRPr sz="1500">
                <a:solidFill>
                  <a:srgbClr val="1E2B40"/>
                </a:solidFill>
              </a:defRPr>
            </a:pPr>
            <a:r>
              <a:t>• Available modules depend on edition, platform, license and EMS policy</a:t>
            </a:r>
          </a:p>
          <a:p>
            <a:pPr>
              <a:lnSpc>
                <a:spcPct val="105000"/>
              </a:lnSpc>
              <a:spcAft>
                <a:spcPts val="600"/>
              </a:spcAft>
              <a:defRPr sz="1500">
                <a:solidFill>
                  <a:srgbClr val="1E2B40"/>
                </a:solidFill>
              </a:defRPr>
            </a:pPr>
            <a:r>
              <a:t>• VPN, endpoint telemetry, ZTNA and security features have separate prerequisites</a:t>
            </a:r>
          </a:p>
          <a:p>
            <a:pPr>
              <a:lnSpc>
                <a:spcPct val="105000"/>
              </a:lnSpc>
              <a:spcAft>
                <a:spcPts val="600"/>
              </a:spcAft>
              <a:defRPr sz="1500">
                <a:solidFill>
                  <a:srgbClr val="1E2B40"/>
                </a:solidFill>
              </a:defRPr>
            </a:pPr>
            <a:r>
              <a:t>• FortiGate remote-access settings and FortiClient profile must align</a:t>
            </a:r>
          </a:p>
          <a:p>
            <a:pPr>
              <a:lnSpc>
                <a:spcPct val="105000"/>
              </a:lnSpc>
              <a:spcAft>
                <a:spcPts val="600"/>
              </a:spcAft>
              <a:defRPr sz="1500">
                <a:solidFill>
                  <a:srgbClr val="1E2B40"/>
                </a:solidFill>
              </a:defRPr>
            </a:pPr>
            <a:r>
              <a:t>• Client logs </a:t>
            </a:r>
            <a:r>
              <a:rPr lang="en-GB"/>
              <a:t>show failures that the </a:t>
            </a:r>
            <a:r>
              <a:t>status </a:t>
            </a:r>
            <a:r>
              <a:rPr lang="en-GB"/>
              <a:t>icon does not explain</a:t>
            </a:r>
            <a:endParaRPr/>
          </a:p>
        </p:txBody>
      </p:sp>
      <p:sp>
        <p:nvSpPr>
          <p:cNvPr id="20" name="TextBox 19"/>
          <p:cNvSpPr txBox="1"/>
          <p:nvPr/>
        </p:nvSpPr>
        <p:spPr>
          <a:xfrm>
            <a:off x="960120" y="5650992"/>
            <a:ext cx="10241280" cy="320040"/>
          </a:xfrm>
          <a:prstGeom prst="rect">
            <a:avLst/>
          </a:prstGeom>
          <a:noFill/>
        </p:spPr>
        <p:txBody>
          <a:bodyPr wrap="square" lIns="27432" tIns="27432" rIns="27432" bIns="27432" anchor="t">
            <a:spAutoFit/>
          </a:bodyPr>
          <a:lstStyle/>
          <a:p>
            <a:pPr algn="ctr">
              <a:spcAft>
                <a:spcPts val="0"/>
              </a:spcAft>
            </a:pPr>
            <a:r>
              <a:rPr sz="1300" b="1">
                <a:solidFill>
                  <a:srgbClr val="E60012"/>
                </a:solidFill>
              </a:rPr>
              <a:t>Record client version, OS, enabled features and profile source.</a:t>
            </a:r>
          </a:p>
        </p:txBody>
      </p:sp>
      <p:sp>
        <p:nvSpPr>
          <p:cNvPr id="21" name="TextBox 20"/>
          <p:cNvSpPr txBox="1"/>
          <p:nvPr/>
        </p:nvSpPr>
        <p:spPr>
          <a:xfrm>
            <a:off x="502920" y="420624"/>
            <a:ext cx="10744200" cy="130805"/>
          </a:xfrm>
          <a:prstGeom prst="rect">
            <a:avLst/>
          </a:prstGeom>
          <a:noFill/>
        </p:spPr>
        <p:txBody>
          <a:bodyPr wrap="square" lIns="0" tIns="0" rIns="0" bIns="0">
            <a:spAutoFit/>
          </a:bodyPr>
          <a:lstStyle/>
          <a:p>
            <a:pPr algn="l"/>
            <a:r>
              <a:rPr lang="en-HU" sz="850" b="1">
                <a:solidFill>
                  <a:srgbClr val="687385"/>
                </a:solidFill>
              </a:rPr>
              <a:t>137</a:t>
            </a:r>
            <a:r>
              <a:rPr sz="850" b="1">
                <a:solidFill>
                  <a:srgbClr val="687385"/>
                </a:solidFill>
              </a:rPr>
              <a:t> • DAY 4 • BLOCK 13 • FortiClient &amp; EMS</a:t>
            </a: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138</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VPN profiles encode gateway and authentication intent</a:t>
            </a:r>
          </a:p>
        </p:txBody>
      </p:sp>
      <p:sp>
        <p:nvSpPr>
          <p:cNvPr id="10" name="TextBox 9"/>
          <p:cNvSpPr txBox="1">
            <a:spLocks/>
          </p:cNvSpPr>
          <p:nvPr/>
        </p:nvSpPr>
        <p:spPr>
          <a:xfrm>
            <a:off x="658368" y="1554480"/>
            <a:ext cx="6583680" cy="4389120"/>
          </a:xfrm>
          <a:prstGeom prst="rect">
            <a:avLst/>
          </a:prstGeom>
          <a:noFill/>
        </p:spPr>
        <p:txBody>
          <a:bodyPr wrap="square" lIns="109728" tIns="73152" rIns="109728" bIns="73152" anchor="t">
            <a:spAutoFit/>
          </a:bodyPr>
          <a:lstStyle/>
          <a:p>
            <a:pPr algn="l">
              <a:lnSpc>
                <a:spcPct val="105000"/>
              </a:lnSpc>
              <a:spcAft>
                <a:spcPts val="800"/>
              </a:spcAft>
              <a:defRPr sz="1700">
                <a:solidFill>
                  <a:srgbClr val="1E2B40"/>
                </a:solidFill>
              </a:defRPr>
            </a:pPr>
            <a:r>
              <a:rPr lang="en-GB"/>
              <a:t>• Profile defines gateway, tunnel type and user/certificate parameters as supported</a:t>
            </a:r>
          </a:p>
          <a:p>
            <a:pPr>
              <a:lnSpc>
                <a:spcPct val="105000"/>
              </a:lnSpc>
              <a:spcAft>
                <a:spcPts val="800"/>
              </a:spcAft>
              <a:defRPr sz="1700">
                <a:solidFill>
                  <a:srgbClr val="1E2B40"/>
                </a:solidFill>
              </a:defRPr>
            </a:pPr>
            <a:r>
              <a:rPr lang="en-GB"/>
              <a:t>• Split/full tunnel and DNS behavior affect traffic path</a:t>
            </a:r>
          </a:p>
          <a:p>
            <a:pPr>
              <a:lnSpc>
                <a:spcPct val="105000"/>
              </a:lnSpc>
              <a:spcAft>
                <a:spcPts val="800"/>
              </a:spcAft>
              <a:defRPr sz="1700">
                <a:solidFill>
                  <a:srgbClr val="1E2B40"/>
                </a:solidFill>
              </a:defRPr>
            </a:pPr>
            <a:r>
              <a:rPr lang="en-GB"/>
              <a:t>• MFA/SSO/certificate methods require matching FortiGate identity design</a:t>
            </a:r>
          </a:p>
          <a:p>
            <a:pPr>
              <a:lnSpc>
                <a:spcPct val="105000"/>
              </a:lnSpc>
              <a:spcAft>
                <a:spcPts val="800"/>
              </a:spcAft>
              <a:defRPr sz="1700">
                <a:solidFill>
                  <a:srgbClr val="1E2B40"/>
                </a:solidFill>
              </a:defRPr>
            </a:pPr>
            <a:r>
              <a:rPr lang="en-GB"/>
              <a:t>• Remote-access option support must be checked for exact FortiOS/FortiClient release</a:t>
            </a:r>
          </a:p>
        </p:txBody>
      </p:sp>
      <p:cxnSp>
        <p:nvCxnSpPr>
          <p:cNvPr id="11" name="Connector 10"/>
          <p:cNvCxnSpPr/>
          <p:nvPr/>
        </p:nvCxnSpPr>
        <p:spPr>
          <a:xfrm>
            <a:off x="7452360" y="1600200"/>
            <a:ext cx="0" cy="434340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7790688" y="1627632"/>
            <a:ext cx="342900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ILLUSTRATIVE SCENARIO</a:t>
            </a:r>
          </a:p>
        </p:txBody>
      </p:sp>
      <p:sp>
        <p:nvSpPr>
          <p:cNvPr id="13" name="TextBox 12"/>
          <p:cNvSpPr txBox="1">
            <a:spLocks/>
          </p:cNvSpPr>
          <p:nvPr/>
        </p:nvSpPr>
        <p:spPr>
          <a:xfrm>
            <a:off x="7790688" y="2057400"/>
            <a:ext cx="3337560" cy="1417320"/>
          </a:xfrm>
          <a:prstGeom prst="rect">
            <a:avLst/>
          </a:prstGeom>
          <a:noFill/>
        </p:spPr>
        <p:txBody>
          <a:bodyPr wrap="square" lIns="27432" tIns="27432" rIns="27432" bIns="27432" anchor="t">
            <a:spAutoFit/>
          </a:bodyPr>
          <a:lstStyle/>
          <a:p>
            <a:pPr algn="l">
              <a:spcAft>
                <a:spcPts val="0"/>
              </a:spcAft>
            </a:pPr>
            <a:r>
              <a:rPr lang="en-GB" sz="1700" b="1">
                <a:solidFill>
                  <a:srgbClr val="233A59"/>
                </a:solidFill>
              </a:rPr>
              <a:t>Use placeholders &lt;vpn-gateway&gt; and &lt;auth-method&gt;; do not invent tenant values</a:t>
            </a:r>
          </a:p>
        </p:txBody>
      </p:sp>
      <p:sp>
        <p:nvSpPr>
          <p:cNvPr id="14" name="TextBox 13"/>
          <p:cNvSpPr txBox="1">
            <a:spLocks/>
          </p:cNvSpPr>
          <p:nvPr/>
        </p:nvSpPr>
        <p:spPr>
          <a:xfrm>
            <a:off x="7790688" y="3822191"/>
            <a:ext cx="18288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EXPECTED RESULT</a:t>
            </a:r>
          </a:p>
        </p:txBody>
      </p:sp>
      <p:sp>
        <p:nvSpPr>
          <p:cNvPr id="15" name="TextBox 14"/>
          <p:cNvSpPr txBox="1">
            <a:spLocks/>
          </p:cNvSpPr>
          <p:nvPr/>
        </p:nvSpPr>
        <p:spPr>
          <a:xfrm>
            <a:off x="7790688" y="4187952"/>
            <a:ext cx="3337560" cy="747897"/>
          </a:xfrm>
          <a:prstGeom prst="rect">
            <a:avLst/>
          </a:prstGeom>
          <a:noFill/>
        </p:spPr>
        <p:txBody>
          <a:bodyPr wrap="square" lIns="27432" tIns="27432" rIns="27432" bIns="27432" anchor="t">
            <a:spAutoFit/>
          </a:bodyPr>
          <a:lstStyle/>
          <a:p>
            <a:pPr algn="l">
              <a:spcAft>
                <a:spcPts val="0"/>
              </a:spcAft>
            </a:pPr>
            <a:r>
              <a:rPr lang="en-GB" sz="1500" b="0">
                <a:solidFill>
                  <a:srgbClr val="1E2B40"/>
                </a:solidFill>
              </a:rPr>
              <a:t>Check client log, assigned address/routes/DNS and the FortiGate session.</a:t>
            </a:r>
          </a:p>
        </p:txBody>
      </p:sp>
      <p:sp>
        <p:nvSpPr>
          <p:cNvPr id="16" name="TextBox 15"/>
          <p:cNvSpPr txBox="1">
            <a:spLocks/>
          </p:cNvSpPr>
          <p:nvPr/>
        </p:nvSpPr>
        <p:spPr>
          <a:xfrm>
            <a:off x="7790688" y="5596128"/>
            <a:ext cx="1920240" cy="201168"/>
          </a:xfrm>
          <a:prstGeom prst="rect">
            <a:avLst/>
          </a:prstGeom>
          <a:noFill/>
        </p:spPr>
        <p:txBody>
          <a:bodyPr wrap="square" lIns="27432" tIns="27432" rIns="27432" bIns="27432" anchor="t">
            <a:spAutoFit/>
          </a:bodyPr>
          <a:lstStyle/>
          <a:p>
            <a:pPr algn="l">
              <a:spcAft>
                <a:spcPts val="0"/>
              </a:spcAft>
            </a:pPr>
            <a:r>
              <a:rPr lang="en-GB" sz="1000" b="1">
                <a:solidFill>
                  <a:srgbClr val="687385"/>
                </a:solidFill>
              </a:rPr>
              <a:t>Expected observation</a:t>
            </a:r>
          </a:p>
        </p:txBody>
      </p:sp>
      <p:sp>
        <p:nvSpPr>
          <p:cNvPr id="17" name="TextBox 16"/>
          <p:cNvSpPr txBox="1">
            <a:spLocks/>
          </p:cNvSpPr>
          <p:nvPr/>
        </p:nvSpPr>
        <p:spPr>
          <a:xfrm>
            <a:off x="9509760" y="5577840"/>
            <a:ext cx="1691640" cy="824841"/>
          </a:xfrm>
          <a:prstGeom prst="rect">
            <a:avLst/>
          </a:prstGeom>
          <a:noFill/>
        </p:spPr>
        <p:txBody>
          <a:bodyPr wrap="square" lIns="27432" tIns="27432" rIns="27432" bIns="27432" anchor="t">
            <a:spAutoFit/>
          </a:bodyPr>
          <a:lstStyle/>
          <a:p>
            <a:pPr algn="r">
              <a:spcAft>
                <a:spcPts val="0"/>
              </a:spcAft>
            </a:pPr>
            <a:r>
              <a:rPr lang="en-GB" sz="1000" b="0">
                <a:solidFill>
                  <a:srgbClr val="687385"/>
                </a:solidFill>
              </a:rPr>
              <a:t>The endpoint shows its assigned FortiClient profile and EMS connection; FortiGate logs the resulting access session.</a:t>
            </a:r>
          </a:p>
        </p:txBody>
      </p:sp>
      <p:sp>
        <p:nvSpPr>
          <p:cNvPr id="18" name="TextBox 17"/>
          <p:cNvSpPr txBox="1">
            <a:spLocks/>
          </p:cNvSpPr>
          <p:nvPr/>
        </p:nvSpPr>
        <p:spPr>
          <a:xfrm>
            <a:off x="502920" y="420624"/>
            <a:ext cx="10744200" cy="130805"/>
          </a:xfrm>
          <a:prstGeom prst="rect">
            <a:avLst/>
          </a:prstGeom>
          <a:noFill/>
        </p:spPr>
        <p:txBody>
          <a:bodyPr wrap="square" lIns="0" tIns="0" rIns="0" bIns="0">
            <a:spAutoFit/>
          </a:bodyPr>
          <a:lstStyle/>
          <a:p>
            <a:pPr algn="l"/>
            <a:r>
              <a:rPr lang="en-GB" sz="850" b="1">
                <a:solidFill>
                  <a:srgbClr val="687385"/>
                </a:solidFill>
              </a:rPr>
              <a:t>138 • DAY 4 • BLOCK 13 • FortiClient &amp; EMS</a:t>
            </a: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p:nvPr/>
        </p:nvSpPr>
        <p:spPr>
          <a:xfrm>
            <a:off x="502920" y="411480"/>
            <a:ext cx="548640" cy="189283"/>
          </a:xfrm>
          <a:prstGeom prst="rect">
            <a:avLst/>
          </a:prstGeom>
          <a:noFill/>
        </p:spPr>
        <p:txBody>
          <a:bodyPr wrap="square" lIns="36576" tIns="36576" rIns="36576" bIns="36576" anchor="t">
            <a:spAutoFit/>
          </a:bodyPr>
          <a:lstStyle/>
          <a:p>
            <a:pPr algn="l">
              <a:spcAft>
                <a:spcPts val="0"/>
              </a:spcAft>
            </a:pPr>
            <a:r>
              <a:rPr lang="en-HU" sz="750" b="1">
                <a:solidFill>
                  <a:srgbClr val="687385"/>
                </a:solidFill>
              </a:rPr>
              <a:t>139</a:t>
            </a:r>
            <a:endParaRPr sz="750" b="1">
              <a:solidFill>
                <a:srgbClr val="687385"/>
              </a:solidFill>
            </a:endParaRPr>
          </a:p>
        </p:txBody>
      </p:sp>
      <p:sp>
        <p:nvSpPr>
          <p:cNvPr id="4" name="TextBox 3"/>
          <p:cNvSpPr txBox="1"/>
          <p:nvPr/>
        </p:nvSpPr>
        <p:spPr>
          <a:xfrm>
            <a:off x="502920" y="621792"/>
            <a:ext cx="11109960" cy="548640"/>
          </a:xfrm>
          <a:prstGeom prst="rect">
            <a:avLst/>
          </a:prstGeom>
          <a:noFill/>
        </p:spPr>
        <p:txBody>
          <a:bodyPr wrap="square" lIns="36576" tIns="36576" rIns="36576" bIns="36576" anchor="t">
            <a:spAutoFit/>
          </a:bodyPr>
          <a:lstStyle/>
          <a:p>
            <a:pPr algn="l">
              <a:spcAft>
                <a:spcPts val="0"/>
              </a:spcAft>
            </a:pPr>
            <a:r>
              <a:rPr sz="2600" b="1">
                <a:solidFill>
                  <a:srgbClr val="1E2B40"/>
                </a:solidFill>
              </a:rPr>
              <a:t>EMS distributes FortiClient policy and receives endpoint telemetry</a:t>
            </a:r>
          </a:p>
        </p:txBody>
      </p:sp>
      <p:sp>
        <p:nvSpPr>
          <p:cNvPr id="5" name="TextBox 4"/>
          <p:cNvSpPr txBox="1"/>
          <p:nvPr/>
        </p:nvSpPr>
        <p:spPr>
          <a:xfrm>
            <a:off x="521207" y="1143000"/>
            <a:ext cx="10789920" cy="274320"/>
          </a:xfrm>
          <a:prstGeom prst="rect">
            <a:avLst/>
          </a:prstGeom>
          <a:noFill/>
        </p:spPr>
        <p:txBody>
          <a:bodyPr wrap="square" lIns="36576" tIns="36576" rIns="36576" bIns="36576" anchor="t">
            <a:spAutoFit/>
          </a:bodyPr>
          <a:lstStyle/>
          <a:p>
            <a:pPr algn="l">
              <a:spcAft>
                <a:spcPts val="0"/>
              </a:spcAft>
            </a:pPr>
            <a:r>
              <a:rPr sz="1100" b="0">
                <a:solidFill>
                  <a:srgbClr val="687385"/>
                </a:solidFill>
              </a:rPr>
              <a:t>FortiGate still makes network/VPN access decisions from its configured policy</a:t>
            </a:r>
          </a:p>
        </p:txBody>
      </p:sp>
      <p:cxnSp>
        <p:nvCxnSpPr>
          <p:cNvPr id="6" name="Connector 5"/>
          <p:cNvCxnSpPr/>
          <p:nvPr/>
        </p:nvCxnSpPr>
        <p:spPr>
          <a:xfrm>
            <a:off x="502920" y="6473952"/>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7" name="TextBox 6"/>
          <p:cNvSpPr txBox="1">
            <a:spLocks/>
          </p:cNvSpPr>
          <p:nvPr/>
        </p:nvSpPr>
        <p:spPr>
          <a:xfrm>
            <a:off x="11109960" y="6537960"/>
            <a:ext cx="502920" cy="189283"/>
          </a:xfrm>
          <a:prstGeom prst="rect">
            <a:avLst/>
          </a:prstGeom>
          <a:noFill/>
        </p:spPr>
        <p:txBody>
          <a:bodyPr wrap="square" lIns="36576" tIns="36576" rIns="36576" bIns="36576" anchor="t">
            <a:spAutoFit/>
          </a:bodyPr>
          <a:lstStyle/>
          <a:p>
            <a:pPr algn="r">
              <a:spcAft>
                <a:spcPts val="0"/>
              </a:spcAft>
            </a:pPr>
            <a:r>
              <a:rPr lang="en-HU" sz="750" b="0">
                <a:solidFill>
                  <a:srgbClr val="687385"/>
                </a:solidFill>
              </a:rPr>
              <a:t>139</a:t>
            </a:r>
          </a:p>
        </p:txBody>
      </p:sp>
      <p:sp>
        <p:nvSpPr>
          <p:cNvPr id="8" name="Rectangle 7"/>
          <p:cNvSpPr>
            <a:spLocks/>
          </p:cNvSpPr>
          <p:nvPr/>
        </p:nvSpPr>
        <p:spPr>
          <a:xfrm>
            <a:off x="594360" y="1737360"/>
            <a:ext cx="2148840" cy="1234440"/>
          </a:xfrm>
          <a:prstGeom prst="rect">
            <a:avLst/>
          </a:prstGeom>
          <a:solidFill>
            <a:srgbClr val="233A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9" name="TextBox 8"/>
          <p:cNvSpPr txBox="1">
            <a:spLocks/>
          </p:cNvSpPr>
          <p:nvPr/>
        </p:nvSpPr>
        <p:spPr>
          <a:xfrm>
            <a:off x="667512" y="1856231"/>
            <a:ext cx="2002536" cy="304699"/>
          </a:xfrm>
          <a:prstGeom prst="rect">
            <a:avLst/>
          </a:prstGeom>
          <a:noFill/>
        </p:spPr>
        <p:txBody>
          <a:bodyPr wrap="square" lIns="36576" tIns="36576" rIns="36576" bIns="36576" anchor="t">
            <a:spAutoFit/>
          </a:bodyPr>
          <a:lstStyle/>
          <a:p>
            <a:pPr algn="ctr">
              <a:spcAft>
                <a:spcPts val="0"/>
              </a:spcAft>
            </a:pPr>
            <a:r>
              <a:rPr lang="en-GB" sz="1500" b="1">
                <a:solidFill>
                  <a:srgbClr val="FFFFFF"/>
                </a:solidFill>
              </a:rPr>
              <a:t>EMS</a:t>
            </a:r>
          </a:p>
        </p:txBody>
      </p:sp>
      <p:sp>
        <p:nvSpPr>
          <p:cNvPr id="10" name="TextBox 9"/>
          <p:cNvSpPr txBox="1">
            <a:spLocks/>
          </p:cNvSpPr>
          <p:nvPr/>
        </p:nvSpPr>
        <p:spPr>
          <a:xfrm>
            <a:off x="667512" y="2212848"/>
            <a:ext cx="2002536" cy="310896"/>
          </a:xfrm>
          <a:prstGeom prst="rect">
            <a:avLst/>
          </a:prstGeom>
          <a:noFill/>
        </p:spPr>
        <p:txBody>
          <a:bodyPr wrap="square" lIns="36576" tIns="36576" rIns="36576" bIns="36576" anchor="t">
            <a:spAutoFit/>
          </a:bodyPr>
          <a:lstStyle/>
          <a:p>
            <a:pPr algn="ctr">
              <a:spcAft>
                <a:spcPts val="0"/>
              </a:spcAft>
            </a:pPr>
            <a:r>
              <a:rPr lang="en-GB" sz="1000" b="0">
                <a:solidFill>
                  <a:srgbClr val="D8E0EA"/>
                </a:solidFill>
              </a:rPr>
              <a:t>profiles • inventory
telemetry • endpoint tags</a:t>
            </a:r>
          </a:p>
        </p:txBody>
      </p:sp>
      <p:sp>
        <p:nvSpPr>
          <p:cNvPr id="11" name="Right Arrow 10"/>
          <p:cNvSpPr>
            <a:spLocks/>
          </p:cNvSpPr>
          <p:nvPr/>
        </p:nvSpPr>
        <p:spPr>
          <a:xfrm>
            <a:off x="2788920" y="2194560"/>
            <a:ext cx="1005840" cy="201168"/>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2" name="TextBox 11"/>
          <p:cNvSpPr txBox="1">
            <a:spLocks/>
          </p:cNvSpPr>
          <p:nvPr/>
        </p:nvSpPr>
        <p:spPr>
          <a:xfrm>
            <a:off x="2788920" y="1938528"/>
            <a:ext cx="1005840" cy="212366"/>
          </a:xfrm>
          <a:prstGeom prst="rect">
            <a:avLst/>
          </a:prstGeom>
          <a:noFill/>
        </p:spPr>
        <p:txBody>
          <a:bodyPr wrap="square" lIns="36576" tIns="36576" rIns="36576" bIns="36576" anchor="t">
            <a:spAutoFit/>
          </a:bodyPr>
          <a:lstStyle/>
          <a:p>
            <a:pPr algn="ctr">
              <a:spcAft>
                <a:spcPts val="0"/>
              </a:spcAft>
            </a:pPr>
            <a:r>
              <a:rPr lang="en-GB" sz="900" b="1">
                <a:solidFill>
                  <a:srgbClr val="687385"/>
                </a:solidFill>
              </a:rPr>
              <a:t>policy / telemetry</a:t>
            </a:r>
          </a:p>
        </p:txBody>
      </p:sp>
      <p:sp>
        <p:nvSpPr>
          <p:cNvPr id="13" name="Rectangle 12"/>
          <p:cNvSpPr/>
          <p:nvPr/>
        </p:nvSpPr>
        <p:spPr>
          <a:xfrm>
            <a:off x="3840480" y="1737360"/>
            <a:ext cx="2148840" cy="123444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a:spLocks/>
          </p:cNvSpPr>
          <p:nvPr/>
        </p:nvSpPr>
        <p:spPr>
          <a:xfrm>
            <a:off x="3913632" y="1856231"/>
            <a:ext cx="2002536" cy="274320"/>
          </a:xfrm>
          <a:prstGeom prst="rect">
            <a:avLst/>
          </a:prstGeom>
          <a:noFill/>
        </p:spPr>
        <p:txBody>
          <a:bodyPr wrap="square" lIns="36576" tIns="36576" rIns="36576" bIns="36576" anchor="t">
            <a:spAutoFit/>
          </a:bodyPr>
          <a:lstStyle/>
          <a:p>
            <a:pPr algn="ctr">
              <a:spcAft>
                <a:spcPts val="0"/>
              </a:spcAft>
            </a:pPr>
            <a:r>
              <a:rPr lang="en-GB" sz="1500" b="1">
                <a:solidFill>
                  <a:srgbClr val="FFFFFF"/>
                </a:solidFill>
              </a:rPr>
              <a:t>FORTICLIENT</a:t>
            </a:r>
          </a:p>
        </p:txBody>
      </p:sp>
      <p:sp>
        <p:nvSpPr>
          <p:cNvPr id="15" name="TextBox 14"/>
          <p:cNvSpPr txBox="1">
            <a:spLocks/>
          </p:cNvSpPr>
          <p:nvPr/>
        </p:nvSpPr>
        <p:spPr>
          <a:xfrm>
            <a:off x="3913632" y="2212848"/>
            <a:ext cx="2002536" cy="381643"/>
          </a:xfrm>
          <a:prstGeom prst="rect">
            <a:avLst/>
          </a:prstGeom>
          <a:noFill/>
        </p:spPr>
        <p:txBody>
          <a:bodyPr wrap="square" lIns="36576" tIns="36576" rIns="36576" bIns="36576" anchor="t">
            <a:spAutoFit/>
          </a:bodyPr>
          <a:lstStyle/>
          <a:p>
            <a:pPr algn="ctr">
              <a:spcAft>
                <a:spcPts val="0"/>
              </a:spcAft>
            </a:pPr>
            <a:r>
              <a:rPr lang="en-GB" sz="1000" b="0">
                <a:solidFill>
                  <a:srgbClr val="D8E0EA"/>
                </a:solidFill>
              </a:rPr>
              <a:t>VPN • certificates
posture / logs</a:t>
            </a:r>
          </a:p>
        </p:txBody>
      </p:sp>
      <p:sp>
        <p:nvSpPr>
          <p:cNvPr id="16" name="Right Arrow 15"/>
          <p:cNvSpPr>
            <a:spLocks/>
          </p:cNvSpPr>
          <p:nvPr/>
        </p:nvSpPr>
        <p:spPr>
          <a:xfrm>
            <a:off x="6035040" y="2194560"/>
            <a:ext cx="1005840" cy="201168"/>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7" name="TextBox 16"/>
          <p:cNvSpPr txBox="1"/>
          <p:nvPr/>
        </p:nvSpPr>
        <p:spPr>
          <a:xfrm>
            <a:off x="6035040" y="1938528"/>
            <a:ext cx="1005840" cy="228600"/>
          </a:xfrm>
          <a:prstGeom prst="rect">
            <a:avLst/>
          </a:prstGeom>
          <a:noFill/>
        </p:spPr>
        <p:txBody>
          <a:bodyPr wrap="square" lIns="36576" tIns="36576" rIns="36576" bIns="36576" anchor="t">
            <a:spAutoFit/>
          </a:bodyPr>
          <a:lstStyle/>
          <a:p>
            <a:pPr algn="ctr">
              <a:spcAft>
                <a:spcPts val="0"/>
              </a:spcAft>
            </a:pPr>
            <a:r>
              <a:rPr sz="900" b="1">
                <a:solidFill>
                  <a:srgbClr val="687385"/>
                </a:solidFill>
              </a:rPr>
              <a:t>VPN / ZTNA</a:t>
            </a:r>
          </a:p>
        </p:txBody>
      </p:sp>
      <p:sp>
        <p:nvSpPr>
          <p:cNvPr id="18" name="Rectangle 17"/>
          <p:cNvSpPr/>
          <p:nvPr/>
        </p:nvSpPr>
        <p:spPr>
          <a:xfrm>
            <a:off x="7086600" y="1737360"/>
            <a:ext cx="2148840" cy="123444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9" name="TextBox 18"/>
          <p:cNvSpPr txBox="1">
            <a:spLocks/>
          </p:cNvSpPr>
          <p:nvPr/>
        </p:nvSpPr>
        <p:spPr>
          <a:xfrm>
            <a:off x="7159752" y="1856231"/>
            <a:ext cx="2002536" cy="304699"/>
          </a:xfrm>
          <a:prstGeom prst="rect">
            <a:avLst/>
          </a:prstGeom>
          <a:noFill/>
        </p:spPr>
        <p:txBody>
          <a:bodyPr wrap="square" lIns="36576" tIns="36576" rIns="36576" bIns="36576" anchor="t">
            <a:spAutoFit/>
          </a:bodyPr>
          <a:lstStyle/>
          <a:p>
            <a:pPr algn="ctr">
              <a:spcAft>
                <a:spcPts val="0"/>
              </a:spcAft>
            </a:pPr>
            <a:r>
              <a:rPr lang="en-GB" sz="1500" b="1">
                <a:solidFill>
                  <a:srgbClr val="FFFFFF"/>
                </a:solidFill>
              </a:rPr>
              <a:t>FORTIGATE</a:t>
            </a:r>
          </a:p>
        </p:txBody>
      </p:sp>
      <p:sp>
        <p:nvSpPr>
          <p:cNvPr id="20" name="TextBox 19"/>
          <p:cNvSpPr txBox="1">
            <a:spLocks/>
          </p:cNvSpPr>
          <p:nvPr/>
        </p:nvSpPr>
        <p:spPr>
          <a:xfrm>
            <a:off x="7159752" y="2212848"/>
            <a:ext cx="2002536" cy="227755"/>
          </a:xfrm>
          <a:prstGeom prst="rect">
            <a:avLst/>
          </a:prstGeom>
          <a:noFill/>
        </p:spPr>
        <p:txBody>
          <a:bodyPr wrap="square" lIns="36576" tIns="36576" rIns="36576" bIns="36576" anchor="t">
            <a:spAutoFit/>
          </a:bodyPr>
          <a:lstStyle/>
          <a:p>
            <a:pPr algn="ctr">
              <a:spcAft>
                <a:spcPts val="0"/>
              </a:spcAft>
            </a:pPr>
            <a:r>
              <a:rPr lang="en-GB" sz="1000" b="0">
                <a:solidFill>
                  <a:srgbClr val="D8E0EA"/>
                </a:solidFill>
              </a:rPr>
              <a:t>auth • policy • session</a:t>
            </a:r>
          </a:p>
        </p:txBody>
      </p:sp>
      <p:sp>
        <p:nvSpPr>
          <p:cNvPr id="21" name="Right Arrow 20"/>
          <p:cNvSpPr/>
          <p:nvPr/>
        </p:nvSpPr>
        <p:spPr>
          <a:xfrm>
            <a:off x="9281160" y="2194560"/>
            <a:ext cx="1005840" cy="201168"/>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a:spLocks/>
          </p:cNvSpPr>
          <p:nvPr/>
        </p:nvSpPr>
        <p:spPr>
          <a:xfrm>
            <a:off x="9281160" y="1938528"/>
            <a:ext cx="1005840" cy="228600"/>
          </a:xfrm>
          <a:prstGeom prst="rect">
            <a:avLst/>
          </a:prstGeom>
          <a:noFill/>
        </p:spPr>
        <p:txBody>
          <a:bodyPr wrap="square" lIns="36576" tIns="36576" rIns="36576" bIns="36576" anchor="t">
            <a:spAutoFit/>
          </a:bodyPr>
          <a:lstStyle/>
          <a:p>
            <a:pPr algn="ctr">
              <a:spcAft>
                <a:spcPts val="0"/>
              </a:spcAft>
            </a:pPr>
            <a:r>
              <a:rPr lang="en-GB" sz="900" b="1">
                <a:solidFill>
                  <a:srgbClr val="687385"/>
                </a:solidFill>
              </a:rPr>
              <a:t>application</a:t>
            </a:r>
          </a:p>
        </p:txBody>
      </p:sp>
      <p:sp>
        <p:nvSpPr>
          <p:cNvPr id="23" name="Rectangle 22"/>
          <p:cNvSpPr>
            <a:spLocks/>
          </p:cNvSpPr>
          <p:nvPr/>
        </p:nvSpPr>
        <p:spPr>
          <a:xfrm>
            <a:off x="10332720" y="1874519"/>
            <a:ext cx="1325880" cy="96012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24" name="TextBox 23"/>
          <p:cNvSpPr txBox="1"/>
          <p:nvPr/>
        </p:nvSpPr>
        <p:spPr>
          <a:xfrm>
            <a:off x="10405872" y="1993391"/>
            <a:ext cx="1179576" cy="304699"/>
          </a:xfrm>
          <a:prstGeom prst="rect">
            <a:avLst/>
          </a:prstGeom>
          <a:noFill/>
        </p:spPr>
        <p:txBody>
          <a:bodyPr wrap="square" lIns="36576" tIns="36576" rIns="36576" bIns="36576" anchor="t">
            <a:spAutoFit/>
          </a:bodyPr>
          <a:lstStyle/>
          <a:p>
            <a:pPr algn="ctr">
              <a:spcAft>
                <a:spcPts val="0"/>
              </a:spcAft>
            </a:pPr>
            <a:r>
              <a:rPr lang="en-GB" sz="1500" b="1">
                <a:solidFill>
                  <a:srgbClr val="FFFFFF"/>
                </a:solidFill>
              </a:rPr>
              <a:t>PRIVATE APP</a:t>
            </a:r>
          </a:p>
        </p:txBody>
      </p:sp>
      <p:sp>
        <p:nvSpPr>
          <p:cNvPr id="25" name="TextBox 24"/>
          <p:cNvSpPr txBox="1"/>
          <p:nvPr/>
        </p:nvSpPr>
        <p:spPr>
          <a:xfrm>
            <a:off x="10405872" y="2350008"/>
            <a:ext cx="1179576" cy="227755"/>
          </a:xfrm>
          <a:prstGeom prst="rect">
            <a:avLst/>
          </a:prstGeom>
          <a:noFill/>
        </p:spPr>
        <p:txBody>
          <a:bodyPr wrap="square" lIns="36576" tIns="36576" rIns="36576" bIns="36576" anchor="t">
            <a:spAutoFit/>
          </a:bodyPr>
          <a:lstStyle/>
          <a:p>
            <a:pPr algn="ctr">
              <a:spcAft>
                <a:spcPts val="0"/>
              </a:spcAft>
            </a:pPr>
            <a:r>
              <a:rPr lang="en-GB" sz="1000" b="0">
                <a:solidFill>
                  <a:srgbClr val="D8E0EA"/>
                </a:solidFill>
              </a:rPr>
              <a:t>10.2.20.10</a:t>
            </a:r>
            <a:endParaRPr sz="1000" b="0">
              <a:solidFill>
                <a:srgbClr val="D8E0EA"/>
              </a:solidFill>
            </a:endParaRPr>
          </a:p>
        </p:txBody>
      </p:sp>
      <p:sp>
        <p:nvSpPr>
          <p:cNvPr id="26" name="TextBox 25"/>
          <p:cNvSpPr txBox="1">
            <a:spLocks/>
          </p:cNvSpPr>
          <p:nvPr/>
        </p:nvSpPr>
        <p:spPr>
          <a:xfrm>
            <a:off x="731520" y="3520440"/>
            <a:ext cx="1828800" cy="210312"/>
          </a:xfrm>
          <a:prstGeom prst="rect">
            <a:avLst/>
          </a:prstGeom>
          <a:noFill/>
        </p:spPr>
        <p:txBody>
          <a:bodyPr wrap="square" lIns="36576" tIns="36576" rIns="36576" bIns="36576" anchor="t">
            <a:spAutoFit/>
          </a:bodyPr>
          <a:lstStyle/>
          <a:p>
            <a:pPr algn="l">
              <a:spcAft>
                <a:spcPts val="0"/>
              </a:spcAft>
            </a:pPr>
            <a:r>
              <a:rPr lang="en-GB" sz="1000" b="1">
                <a:solidFill>
                  <a:srgbClr val="E60012"/>
                </a:solidFill>
              </a:rPr>
              <a:t>MANAGEMENT PLANE</a:t>
            </a:r>
          </a:p>
        </p:txBody>
      </p:sp>
      <p:sp>
        <p:nvSpPr>
          <p:cNvPr id="27" name="TextBox 26"/>
          <p:cNvSpPr txBox="1"/>
          <p:nvPr/>
        </p:nvSpPr>
        <p:spPr>
          <a:xfrm>
            <a:off x="2423160" y="3474720"/>
            <a:ext cx="3657600" cy="473976"/>
          </a:xfrm>
          <a:prstGeom prst="rect">
            <a:avLst/>
          </a:prstGeom>
          <a:noFill/>
        </p:spPr>
        <p:txBody>
          <a:bodyPr wrap="square" lIns="36576" tIns="36576" rIns="36576" bIns="36576" anchor="t">
            <a:spAutoFit/>
          </a:bodyPr>
          <a:lstStyle/>
          <a:p>
            <a:pPr algn="l">
              <a:spcAft>
                <a:spcPts val="0"/>
              </a:spcAft>
            </a:pPr>
            <a:r>
              <a:rPr lang="en-GB" sz="1300" b="1">
                <a:solidFill>
                  <a:srgbClr val="1E2B40"/>
                </a:solidFill>
              </a:rPr>
              <a:t>EMS → assigned profile; endpoint → telemetry/status</a:t>
            </a:r>
          </a:p>
        </p:txBody>
      </p:sp>
      <p:sp>
        <p:nvSpPr>
          <p:cNvPr id="28" name="TextBox 27"/>
          <p:cNvSpPr txBox="1"/>
          <p:nvPr/>
        </p:nvSpPr>
        <p:spPr>
          <a:xfrm>
            <a:off x="6400800" y="3520440"/>
            <a:ext cx="1280160" cy="227755"/>
          </a:xfrm>
          <a:prstGeom prst="rect">
            <a:avLst/>
          </a:prstGeom>
          <a:noFill/>
        </p:spPr>
        <p:txBody>
          <a:bodyPr wrap="square" lIns="36576" tIns="36576" rIns="36576" bIns="36576" anchor="t">
            <a:spAutoFit/>
          </a:bodyPr>
          <a:lstStyle/>
          <a:p>
            <a:pPr algn="l">
              <a:spcAft>
                <a:spcPts val="0"/>
              </a:spcAft>
            </a:pPr>
            <a:r>
              <a:rPr lang="en-GB" sz="1000" b="1">
                <a:solidFill>
                  <a:srgbClr val="E60012"/>
                </a:solidFill>
              </a:rPr>
              <a:t>ACCESS PATH</a:t>
            </a:r>
          </a:p>
        </p:txBody>
      </p:sp>
      <p:sp>
        <p:nvSpPr>
          <p:cNvPr id="29" name="TextBox 28"/>
          <p:cNvSpPr txBox="1"/>
          <p:nvPr/>
        </p:nvSpPr>
        <p:spPr>
          <a:xfrm>
            <a:off x="7543800" y="3474720"/>
            <a:ext cx="3657600" cy="473976"/>
          </a:xfrm>
          <a:prstGeom prst="rect">
            <a:avLst/>
          </a:prstGeom>
          <a:noFill/>
        </p:spPr>
        <p:txBody>
          <a:bodyPr wrap="square" lIns="36576" tIns="36576" rIns="36576" bIns="36576" anchor="t">
            <a:spAutoFit/>
          </a:bodyPr>
          <a:lstStyle/>
          <a:p>
            <a:pPr algn="l">
              <a:spcAft>
                <a:spcPts val="0"/>
              </a:spcAft>
            </a:pPr>
            <a:r>
              <a:rPr lang="en-GB" sz="1300" b="1">
                <a:solidFill>
                  <a:srgbClr val="1E2B40"/>
                </a:solidFill>
              </a:rPr>
              <a:t>Endpoint traffic → FortiGate VPN/policy → application</a:t>
            </a:r>
          </a:p>
        </p:txBody>
      </p:sp>
      <p:sp>
        <p:nvSpPr>
          <p:cNvPr id="30" name="TextBox 29"/>
          <p:cNvSpPr txBox="1"/>
          <p:nvPr/>
        </p:nvSpPr>
        <p:spPr>
          <a:xfrm>
            <a:off x="914400" y="4343400"/>
            <a:ext cx="10332720" cy="320088"/>
          </a:xfrm>
          <a:prstGeom prst="rect">
            <a:avLst/>
          </a:prstGeom>
          <a:noFill/>
        </p:spPr>
        <p:txBody>
          <a:bodyPr wrap="square" lIns="36576" tIns="36576" rIns="36576" bIns="36576" anchor="t">
            <a:spAutoFit/>
          </a:bodyPr>
          <a:lstStyle/>
          <a:p>
            <a:pPr algn="ctr">
              <a:spcAft>
                <a:spcPts val="0"/>
              </a:spcAft>
            </a:pPr>
            <a:r>
              <a:rPr lang="en-GB" sz="1600" b="1">
                <a:solidFill>
                  <a:srgbClr val="233A59"/>
                </a:solidFill>
              </a:rPr>
              <a:t>EMS is not implied by installing FortiClient. Check the endpoint’s EMS connection and assigned profile.</a:t>
            </a:r>
          </a:p>
        </p:txBody>
      </p:sp>
      <p:sp>
        <p:nvSpPr>
          <p:cNvPr id="31" name="TextBox 30"/>
          <p:cNvSpPr txBox="1"/>
          <p:nvPr/>
        </p:nvSpPr>
        <p:spPr>
          <a:xfrm>
            <a:off x="658368" y="5833872"/>
            <a:ext cx="731520" cy="182880"/>
          </a:xfrm>
          <a:prstGeom prst="rect">
            <a:avLst/>
          </a:prstGeom>
          <a:noFill/>
        </p:spPr>
        <p:txBody>
          <a:bodyPr wrap="square" lIns="36576" tIns="36576" rIns="36576" bIns="36576" anchor="t">
            <a:spAutoFit/>
          </a:bodyPr>
          <a:lstStyle/>
          <a:p>
            <a:pPr algn="l">
              <a:spcAft>
                <a:spcPts val="0"/>
              </a:spcAft>
            </a:pPr>
            <a:r>
              <a:rPr sz="1000" b="1">
                <a:solidFill>
                  <a:srgbClr val="E60012"/>
                </a:solidFill>
              </a:rPr>
              <a:t>LESSON</a:t>
            </a:r>
          </a:p>
        </p:txBody>
      </p:sp>
      <p:sp>
        <p:nvSpPr>
          <p:cNvPr id="32" name="TextBox 31"/>
          <p:cNvSpPr txBox="1"/>
          <p:nvPr/>
        </p:nvSpPr>
        <p:spPr>
          <a:xfrm>
            <a:off x="1417320" y="5769864"/>
            <a:ext cx="9875520" cy="273921"/>
          </a:xfrm>
          <a:prstGeom prst="rect">
            <a:avLst/>
          </a:prstGeom>
          <a:noFill/>
        </p:spPr>
        <p:txBody>
          <a:bodyPr wrap="square" lIns="36576" tIns="36576" rIns="36576" bIns="36576" anchor="t">
            <a:spAutoFit/>
          </a:bodyPr>
          <a:lstStyle/>
          <a:p>
            <a:pPr algn="l">
              <a:spcAft>
                <a:spcPts val="0"/>
              </a:spcAft>
            </a:pPr>
            <a:r>
              <a:rPr lang="en-GB" sz="1300" b="1">
                <a:solidFill>
                  <a:srgbClr val="233A59"/>
                </a:solidFill>
              </a:rPr>
              <a:t>Correlate endpoint profile, client logs, EMS status and the FortiGate session rather than treating one console as the whole path.</a:t>
            </a: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140</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Endpoint integration connects identity, posture and network policy</a:t>
            </a:r>
          </a:p>
        </p:txBody>
      </p:sp>
      <p:sp>
        <p:nvSpPr>
          <p:cNvPr id="10" name="TextBox 9"/>
          <p:cNvSpPr txBox="1">
            <a:spLocks/>
          </p:cNvSpPr>
          <p:nvPr/>
        </p:nvSpPr>
        <p:spPr>
          <a:xfrm>
            <a:off x="658368" y="1554480"/>
            <a:ext cx="6583680" cy="4389120"/>
          </a:xfrm>
          <a:prstGeom prst="rect">
            <a:avLst/>
          </a:prstGeom>
          <a:noFill/>
        </p:spPr>
        <p:txBody>
          <a:bodyPr wrap="square" lIns="109728" tIns="73152" rIns="109728" bIns="73152" anchor="t">
            <a:spAutoFit/>
          </a:bodyPr>
          <a:lstStyle/>
          <a:p>
            <a:pPr algn="l">
              <a:lnSpc>
                <a:spcPct val="105000"/>
              </a:lnSpc>
              <a:spcAft>
                <a:spcPts val="800"/>
              </a:spcAft>
              <a:defRPr sz="1700">
                <a:solidFill>
                  <a:srgbClr val="1E2B40"/>
                </a:solidFill>
              </a:defRPr>
            </a:pPr>
            <a:r>
              <a:rPr lang="en-GB"/>
              <a:t>• Endpoint tags/posture can inform access policy where supported</a:t>
            </a:r>
          </a:p>
          <a:p>
            <a:pPr>
              <a:lnSpc>
                <a:spcPct val="105000"/>
              </a:lnSpc>
              <a:spcAft>
                <a:spcPts val="800"/>
              </a:spcAft>
              <a:defRPr sz="1700">
                <a:solidFill>
                  <a:srgbClr val="1E2B40"/>
                </a:solidFill>
              </a:defRPr>
            </a:pPr>
            <a:r>
              <a:rPr lang="en-GB"/>
              <a:t>• Certificate deployment and trust stores can enable deep inspection or VPN authentication</a:t>
            </a:r>
          </a:p>
          <a:p>
            <a:pPr>
              <a:lnSpc>
                <a:spcPct val="105000"/>
              </a:lnSpc>
              <a:spcAft>
                <a:spcPts val="800"/>
              </a:spcAft>
              <a:defRPr sz="1700">
                <a:solidFill>
                  <a:srgbClr val="1E2B40"/>
                </a:solidFill>
              </a:defRPr>
            </a:pPr>
            <a:r>
              <a:rPr lang="en-GB"/>
              <a:t>• Client upgrades/profile changes need staged rollout and rollback</a:t>
            </a:r>
          </a:p>
          <a:p>
            <a:pPr>
              <a:lnSpc>
                <a:spcPct val="105000"/>
              </a:lnSpc>
              <a:spcAft>
                <a:spcPts val="800"/>
              </a:spcAft>
              <a:defRPr sz="1700">
                <a:solidFill>
                  <a:srgbClr val="1E2B40"/>
                </a:solidFill>
              </a:defRPr>
            </a:pPr>
            <a:r>
              <a:rPr lang="en-GB"/>
              <a:t>• Privacy and endpoint-ownership boundaries must be documented</a:t>
            </a:r>
          </a:p>
        </p:txBody>
      </p:sp>
      <p:cxnSp>
        <p:nvCxnSpPr>
          <p:cNvPr id="11" name="Connector 10"/>
          <p:cNvCxnSpPr/>
          <p:nvPr/>
        </p:nvCxnSpPr>
        <p:spPr>
          <a:xfrm>
            <a:off x="7452360" y="1600200"/>
            <a:ext cx="0" cy="434340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7790688" y="1627632"/>
            <a:ext cx="342900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ILLUSTRATIVE SCENARIO</a:t>
            </a:r>
          </a:p>
        </p:txBody>
      </p:sp>
      <p:sp>
        <p:nvSpPr>
          <p:cNvPr id="13" name="TextBox 12"/>
          <p:cNvSpPr txBox="1">
            <a:spLocks/>
          </p:cNvSpPr>
          <p:nvPr/>
        </p:nvSpPr>
        <p:spPr>
          <a:xfrm>
            <a:off x="7790688" y="2057400"/>
            <a:ext cx="3337560" cy="1417320"/>
          </a:xfrm>
          <a:prstGeom prst="rect">
            <a:avLst/>
          </a:prstGeom>
          <a:noFill/>
        </p:spPr>
        <p:txBody>
          <a:bodyPr wrap="square" lIns="27432" tIns="27432" rIns="27432" bIns="27432" anchor="t">
            <a:spAutoFit/>
          </a:bodyPr>
          <a:lstStyle/>
          <a:p>
            <a:pPr algn="l">
              <a:spcAft>
                <a:spcPts val="0"/>
              </a:spcAft>
            </a:pPr>
            <a:r>
              <a:rPr lang="en-GB" sz="1700" b="1">
                <a:solidFill>
                  <a:srgbClr val="233A59"/>
                </a:solidFill>
              </a:rPr>
              <a:t>A managed device may receive VPN profile and inspection CA through different management systems</a:t>
            </a:r>
          </a:p>
        </p:txBody>
      </p:sp>
      <p:sp>
        <p:nvSpPr>
          <p:cNvPr id="14" name="TextBox 13"/>
          <p:cNvSpPr txBox="1">
            <a:spLocks/>
          </p:cNvSpPr>
          <p:nvPr/>
        </p:nvSpPr>
        <p:spPr>
          <a:xfrm>
            <a:off x="7790688" y="3822191"/>
            <a:ext cx="18288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EXPECTED RESULT</a:t>
            </a:r>
          </a:p>
        </p:txBody>
      </p:sp>
      <p:sp>
        <p:nvSpPr>
          <p:cNvPr id="15" name="TextBox 14"/>
          <p:cNvSpPr txBox="1">
            <a:spLocks/>
          </p:cNvSpPr>
          <p:nvPr/>
        </p:nvSpPr>
        <p:spPr>
          <a:xfrm>
            <a:off x="7790688" y="4187952"/>
            <a:ext cx="3337560" cy="1325880"/>
          </a:xfrm>
          <a:prstGeom prst="rect">
            <a:avLst/>
          </a:prstGeom>
          <a:noFill/>
        </p:spPr>
        <p:txBody>
          <a:bodyPr wrap="square" lIns="27432" tIns="27432" rIns="27432" bIns="27432" anchor="t">
            <a:spAutoFit/>
          </a:bodyPr>
          <a:lstStyle/>
          <a:p>
            <a:pPr algn="l">
              <a:spcAft>
                <a:spcPts val="0"/>
              </a:spcAft>
            </a:pPr>
            <a:r>
              <a:rPr lang="en-GB" sz="1500" b="0">
                <a:solidFill>
                  <a:srgbClr val="1E2B40"/>
                </a:solidFill>
              </a:rPr>
              <a:t>Prove which system owns each control.</a:t>
            </a:r>
          </a:p>
        </p:txBody>
      </p:sp>
      <p:sp>
        <p:nvSpPr>
          <p:cNvPr id="16" name="TextBox 15"/>
          <p:cNvSpPr txBox="1">
            <a:spLocks/>
          </p:cNvSpPr>
          <p:nvPr/>
        </p:nvSpPr>
        <p:spPr>
          <a:xfrm>
            <a:off x="7790688" y="5596128"/>
            <a:ext cx="1920240" cy="201168"/>
          </a:xfrm>
          <a:prstGeom prst="rect">
            <a:avLst/>
          </a:prstGeom>
          <a:noFill/>
        </p:spPr>
        <p:txBody>
          <a:bodyPr wrap="square" lIns="27432" tIns="27432" rIns="27432" bIns="27432" anchor="t">
            <a:spAutoFit/>
          </a:bodyPr>
          <a:lstStyle/>
          <a:p>
            <a:pPr algn="l">
              <a:spcAft>
                <a:spcPts val="0"/>
              </a:spcAft>
            </a:pPr>
            <a:r>
              <a:rPr lang="en-GB" sz="1000" b="1">
                <a:solidFill>
                  <a:srgbClr val="687385"/>
                </a:solidFill>
              </a:rPr>
              <a:t>Expected observation</a:t>
            </a:r>
          </a:p>
        </p:txBody>
      </p:sp>
      <p:sp>
        <p:nvSpPr>
          <p:cNvPr id="17" name="TextBox 16"/>
          <p:cNvSpPr txBox="1">
            <a:spLocks/>
          </p:cNvSpPr>
          <p:nvPr/>
        </p:nvSpPr>
        <p:spPr>
          <a:xfrm>
            <a:off x="9509760" y="5577840"/>
            <a:ext cx="1691640" cy="824841"/>
          </a:xfrm>
          <a:prstGeom prst="rect">
            <a:avLst/>
          </a:prstGeom>
          <a:noFill/>
        </p:spPr>
        <p:txBody>
          <a:bodyPr wrap="square" lIns="27432" tIns="27432" rIns="27432" bIns="27432" anchor="t">
            <a:spAutoFit/>
          </a:bodyPr>
          <a:lstStyle/>
          <a:p>
            <a:pPr algn="r">
              <a:spcAft>
                <a:spcPts val="0"/>
              </a:spcAft>
            </a:pPr>
            <a:r>
              <a:rPr lang="en-GB" sz="1000" b="0">
                <a:solidFill>
                  <a:srgbClr val="687385"/>
                </a:solidFill>
              </a:rPr>
              <a:t>The endpoint shows its assigned FortiClient profile and EMS connection; FortiGate logs the resulting access session.</a:t>
            </a:r>
          </a:p>
        </p:txBody>
      </p:sp>
      <p:sp>
        <p:nvSpPr>
          <p:cNvPr id="18" name="TextBox 17"/>
          <p:cNvSpPr txBox="1">
            <a:spLocks/>
          </p:cNvSpPr>
          <p:nvPr/>
        </p:nvSpPr>
        <p:spPr>
          <a:xfrm>
            <a:off x="502920" y="420624"/>
            <a:ext cx="10744200" cy="130805"/>
          </a:xfrm>
          <a:prstGeom prst="rect">
            <a:avLst/>
          </a:prstGeom>
          <a:noFill/>
        </p:spPr>
        <p:txBody>
          <a:bodyPr wrap="square" lIns="0" tIns="0" rIns="0" bIns="0">
            <a:spAutoFit/>
          </a:bodyPr>
          <a:lstStyle/>
          <a:p>
            <a:pPr algn="l"/>
            <a:r>
              <a:rPr lang="en-GB" sz="850" b="1">
                <a:solidFill>
                  <a:srgbClr val="687385"/>
                </a:solidFill>
              </a:rPr>
              <a:t>140 • DAY 4 • BLOCK 13 • FortiClient &amp; EMS</a:t>
            </a: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141</a:t>
            </a:r>
          </a:p>
        </p:txBody>
      </p:sp>
      <p:sp>
        <p:nvSpPr>
          <p:cNvPr id="9" name="TextBox 8"/>
          <p:cNvSpPr txBox="1">
            <a:spLocks/>
          </p:cNvSpPr>
          <p:nvPr/>
        </p:nvSpPr>
        <p:spPr>
          <a:xfrm>
            <a:off x="502920" y="621792"/>
            <a:ext cx="11109960" cy="455509"/>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Managed endpoint trust: EMS-specific context</a:t>
            </a:r>
          </a:p>
        </p:txBody>
      </p:sp>
      <p:sp>
        <p:nvSpPr>
          <p:cNvPr id="10" name="TextBox 9"/>
          <p:cNvSpPr txBox="1">
            <a:spLocks/>
          </p:cNvSpPr>
          <p:nvPr/>
        </p:nvSpPr>
        <p:spPr>
          <a:xfrm>
            <a:off x="658368" y="1600200"/>
            <a:ext cx="5312664" cy="292608"/>
          </a:xfrm>
          <a:prstGeom prst="rect">
            <a:avLst/>
          </a:prstGeom>
          <a:noFill/>
        </p:spPr>
        <p:txBody>
          <a:bodyPr wrap="square" lIns="27432" tIns="27432" rIns="27432" bIns="27432" anchor="t">
            <a:spAutoFit/>
          </a:bodyPr>
          <a:lstStyle/>
          <a:p>
            <a:pPr algn="l">
              <a:spcAft>
                <a:spcPts val="0"/>
              </a:spcAft>
            </a:pPr>
            <a:r>
              <a:rPr lang="en-GB" sz="1300" b="1">
                <a:solidFill>
                  <a:srgbClr val="E60012"/>
                </a:solidFill>
              </a:rPr>
              <a:t>CERTIFICATE INSPECTION</a:t>
            </a:r>
          </a:p>
        </p:txBody>
      </p:sp>
      <p:cxnSp>
        <p:nvCxnSpPr>
          <p:cNvPr id="11" name="Connector 10"/>
          <p:cNvCxnSpPr/>
          <p:nvPr/>
        </p:nvCxnSpPr>
        <p:spPr>
          <a:xfrm>
            <a:off x="658368" y="1984248"/>
            <a:ext cx="5312664" cy="0"/>
          </a:xfrm>
          <a:prstGeom prst="line">
            <a:avLst/>
          </a:prstGeom>
          <a:ln w="22860">
            <a:solidFill>
              <a:srgbClr val="E60012"/>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658368" y="2176272"/>
            <a:ext cx="5312664" cy="1481881"/>
          </a:xfrm>
          <a:prstGeom prst="rect">
            <a:avLst/>
          </a:prstGeom>
          <a:noFill/>
        </p:spPr>
        <p:txBody>
          <a:bodyPr wrap="square" lIns="109728" tIns="73152" rIns="109728" bIns="73152" anchor="t">
            <a:spAutoFit/>
          </a:bodyPr>
          <a:lstStyle/>
          <a:p>
            <a:pPr algn="l">
              <a:lnSpc>
                <a:spcPct val="105000"/>
              </a:lnSpc>
              <a:spcAft>
                <a:spcPts val="800"/>
              </a:spcAft>
              <a:defRPr sz="1600">
                <a:solidFill>
                  <a:srgbClr val="1E2B40"/>
                </a:solidFill>
              </a:defRPr>
            </a:pPr>
            <a:r>
              <a:rPr lang="en-GB"/>
              <a:t>• EMS can distribute a supported certificate/profile</a:t>
            </a:r>
          </a:p>
          <a:p>
            <a:pPr>
              <a:lnSpc>
                <a:spcPct val="105000"/>
              </a:lnSpc>
              <a:spcAft>
                <a:spcPts val="800"/>
              </a:spcAft>
              <a:defRPr sz="1600">
                <a:solidFill>
                  <a:srgbClr val="1E2B40"/>
                </a:solidFill>
              </a:defRPr>
            </a:pPr>
            <a:r>
              <a:rPr lang="en-GB"/>
              <a:t>• FortiGate—not EMS—performs TLS inspection</a:t>
            </a:r>
          </a:p>
          <a:p>
            <a:pPr>
              <a:lnSpc>
                <a:spcPct val="105000"/>
              </a:lnSpc>
              <a:spcAft>
                <a:spcPts val="800"/>
              </a:spcAft>
              <a:defRPr sz="1600">
                <a:solidFill>
                  <a:srgbClr val="1E2B40"/>
                </a:solidFill>
              </a:defRPr>
            </a:pPr>
            <a:endParaRPr lang="en-GB"/>
          </a:p>
          <a:p>
            <a:pPr>
              <a:lnSpc>
                <a:spcPct val="105000"/>
              </a:lnSpc>
              <a:spcAft>
                <a:spcPts val="800"/>
              </a:spcAft>
              <a:defRPr sz="1600">
                <a:solidFill>
                  <a:srgbClr val="1E2B40"/>
                </a:solidFill>
              </a:defRPr>
            </a:pPr>
            <a:endParaRPr lang="en-GB"/>
          </a:p>
        </p:txBody>
      </p:sp>
      <p:sp>
        <p:nvSpPr>
          <p:cNvPr id="13" name="TextBox 12"/>
          <p:cNvSpPr txBox="1"/>
          <p:nvPr/>
        </p:nvSpPr>
        <p:spPr>
          <a:xfrm>
            <a:off x="6227064" y="1600200"/>
            <a:ext cx="5312664" cy="292608"/>
          </a:xfrm>
          <a:prstGeom prst="rect">
            <a:avLst/>
          </a:prstGeom>
          <a:noFill/>
        </p:spPr>
        <p:txBody>
          <a:bodyPr wrap="square" lIns="27432" tIns="27432" rIns="27432" bIns="27432" anchor="t">
            <a:spAutoFit/>
          </a:bodyPr>
          <a:lstStyle/>
          <a:p>
            <a:pPr algn="l">
              <a:spcAft>
                <a:spcPts val="0"/>
              </a:spcAft>
            </a:pPr>
            <a:r>
              <a:rPr sz="1300" b="1">
                <a:solidFill>
                  <a:srgbClr val="E60012"/>
                </a:solidFill>
              </a:rPr>
              <a:t>DEEP INSPECTION</a:t>
            </a:r>
          </a:p>
        </p:txBody>
      </p:sp>
      <p:cxnSp>
        <p:nvCxnSpPr>
          <p:cNvPr id="14" name="Connector 13"/>
          <p:cNvCxnSpPr/>
          <p:nvPr/>
        </p:nvCxnSpPr>
        <p:spPr>
          <a:xfrm>
            <a:off x="6227064" y="1984248"/>
            <a:ext cx="5312664" cy="0"/>
          </a:xfrm>
          <a:prstGeom prst="line">
            <a:avLst/>
          </a:prstGeom>
          <a:ln w="22860">
            <a:solidFill>
              <a:srgbClr val="E60012"/>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227064" y="2176272"/>
            <a:ext cx="5312664" cy="1740413"/>
          </a:xfrm>
          <a:prstGeom prst="rect">
            <a:avLst/>
          </a:prstGeom>
          <a:noFill/>
        </p:spPr>
        <p:txBody>
          <a:bodyPr wrap="square" lIns="109728" tIns="73152" rIns="109728" bIns="73152" anchor="t">
            <a:spAutoFit/>
          </a:bodyPr>
          <a:lstStyle/>
          <a:p>
            <a:pPr algn="l">
              <a:lnSpc>
                <a:spcPct val="105000"/>
              </a:lnSpc>
              <a:spcAft>
                <a:spcPts val="800"/>
              </a:spcAft>
              <a:defRPr sz="1600">
                <a:solidFill>
                  <a:srgbClr val="1E2B40"/>
                </a:solidFill>
              </a:defRPr>
            </a:pPr>
            <a:r>
              <a:t>• </a:t>
            </a:r>
            <a:r>
              <a:rPr lang="en-GB"/>
              <a:t>Diagnose profile assignment </a:t>
            </a:r>
            <a:r>
              <a:t>and </a:t>
            </a:r>
            <a:r>
              <a:rPr lang="en-GB"/>
              <a:t>endpoint </a:t>
            </a:r>
            <a:r>
              <a:t>trust </a:t>
            </a:r>
            <a:r>
              <a:rPr lang="en-GB"/>
              <a:t>separately</a:t>
            </a:r>
          </a:p>
          <a:p>
            <a:pPr>
              <a:lnSpc>
                <a:spcPct val="105000"/>
              </a:lnSpc>
              <a:spcAft>
                <a:spcPts val="800"/>
              </a:spcAft>
              <a:defRPr sz="1600">
                <a:solidFill>
                  <a:srgbClr val="1E2B40"/>
                </a:solidFill>
              </a:defRPr>
            </a:pPr>
            <a:r>
              <a:t>• </a:t>
            </a:r>
            <a:r>
              <a:rPr lang="en-GB"/>
              <a:t>Inspection behavior was established in Day 2</a:t>
            </a:r>
          </a:p>
          <a:p>
            <a:pPr>
              <a:lnSpc>
                <a:spcPct val="105000"/>
              </a:lnSpc>
              <a:spcAft>
                <a:spcPts val="800"/>
              </a:spcAft>
              <a:defRPr sz="1600">
                <a:solidFill>
                  <a:srgbClr val="1E2B40"/>
                </a:solidFill>
              </a:defRPr>
            </a:pPr>
            <a:endParaRPr/>
          </a:p>
          <a:p>
            <a:pPr>
              <a:lnSpc>
                <a:spcPct val="105000"/>
              </a:lnSpc>
              <a:spcAft>
                <a:spcPts val="800"/>
              </a:spcAft>
              <a:defRPr sz="1600">
                <a:solidFill>
                  <a:srgbClr val="1E2B40"/>
                </a:solidFill>
              </a:defRPr>
            </a:pPr>
            <a:endParaRPr/>
          </a:p>
        </p:txBody>
      </p:sp>
      <p:sp>
        <p:nvSpPr>
          <p:cNvPr id="16" name="TextBox 15"/>
          <p:cNvSpPr txBox="1"/>
          <p:nvPr/>
        </p:nvSpPr>
        <p:spPr>
          <a:xfrm>
            <a:off x="658368" y="5724144"/>
            <a:ext cx="1234440" cy="224677"/>
          </a:xfrm>
          <a:prstGeom prst="rect">
            <a:avLst/>
          </a:prstGeom>
          <a:noFill/>
        </p:spPr>
        <p:txBody>
          <a:bodyPr wrap="square" lIns="27432" tIns="27432" rIns="27432" bIns="27432" anchor="t">
            <a:spAutoFit/>
          </a:bodyPr>
          <a:lstStyle/>
          <a:p>
            <a:pPr algn="l">
              <a:spcAft>
                <a:spcPts val="0"/>
              </a:spcAft>
            </a:pPr>
            <a:r>
              <a:rPr lang="en-GB" sz="1100" b="1">
                <a:solidFill>
                  <a:srgbClr val="233A59"/>
                </a:solidFill>
              </a:rPr>
              <a:t>KEY DISTINCTION</a:t>
            </a:r>
            <a:endParaRPr sz="1100" b="1">
              <a:solidFill>
                <a:srgbClr val="233A59"/>
              </a:solidFill>
            </a:endParaRPr>
          </a:p>
        </p:txBody>
      </p:sp>
      <p:sp>
        <p:nvSpPr>
          <p:cNvPr id="17" name="TextBox 16"/>
          <p:cNvSpPr txBox="1"/>
          <p:nvPr/>
        </p:nvSpPr>
        <p:spPr>
          <a:xfrm>
            <a:off x="1920240" y="5687568"/>
            <a:ext cx="9235440" cy="486287"/>
          </a:xfrm>
          <a:prstGeom prst="rect">
            <a:avLst/>
          </a:prstGeom>
          <a:noFill/>
        </p:spPr>
        <p:txBody>
          <a:bodyPr wrap="square" lIns="27432" tIns="27432" rIns="27432" bIns="27432" anchor="t">
            <a:spAutoFit/>
          </a:bodyPr>
          <a:lstStyle/>
          <a:p>
            <a:pPr algn="l">
              <a:spcAft>
                <a:spcPts val="0"/>
              </a:spcAft>
            </a:pPr>
            <a:r>
              <a:rPr lang="en-GB" sz="1400" b="1">
                <a:solidFill>
                  <a:srgbClr val="233A59"/>
                </a:solidFill>
              </a:rPr>
              <a:t>Default delivery is architecture analysis; use a live </a:t>
            </a:r>
            <a:r>
              <a:rPr sz="1400" b="1">
                <a:solidFill>
                  <a:srgbClr val="233A59"/>
                </a:solidFill>
              </a:rPr>
              <a:t>EMS </a:t>
            </a:r>
            <a:r>
              <a:rPr lang="en-GB" sz="1400" b="1">
                <a:solidFill>
                  <a:srgbClr val="233A59"/>
                </a:solidFill>
              </a:rPr>
              <a:t>demonstration only when </a:t>
            </a:r>
            <a:r>
              <a:rPr sz="1400" b="1">
                <a:solidFill>
                  <a:srgbClr val="233A59"/>
                </a:solidFill>
              </a:rPr>
              <a:t>the </a:t>
            </a:r>
            <a:r>
              <a:rPr lang="en-GB" sz="1400" b="1">
                <a:solidFill>
                  <a:srgbClr val="233A59"/>
                </a:solidFill>
              </a:rPr>
              <a:t>optional environment is built</a:t>
            </a:r>
            <a:r>
              <a:rPr sz="1400" b="1">
                <a:solidFill>
                  <a:srgbClr val="233A59"/>
                </a:solidFill>
              </a:rPr>
              <a:t>.</a:t>
            </a:r>
          </a:p>
        </p:txBody>
      </p:sp>
      <p:sp>
        <p:nvSpPr>
          <p:cNvPr id="18" name="TextBox 17"/>
          <p:cNvSpPr txBox="1"/>
          <p:nvPr/>
        </p:nvSpPr>
        <p:spPr>
          <a:xfrm>
            <a:off x="502920" y="420624"/>
            <a:ext cx="10744200" cy="130805"/>
          </a:xfrm>
          <a:prstGeom prst="rect">
            <a:avLst/>
          </a:prstGeom>
          <a:noFill/>
        </p:spPr>
        <p:txBody>
          <a:bodyPr wrap="square" lIns="0" tIns="0" rIns="0" bIns="0">
            <a:spAutoFit/>
          </a:bodyPr>
          <a:lstStyle/>
          <a:p>
            <a:pPr algn="l"/>
            <a:r>
              <a:rPr lang="en-HU" sz="850" b="1">
                <a:solidFill>
                  <a:srgbClr val="687385"/>
                </a:solidFill>
              </a:rPr>
              <a:t>141</a:t>
            </a:r>
            <a:r>
              <a:rPr sz="850" b="1">
                <a:solidFill>
                  <a:srgbClr val="687385"/>
                </a:solidFill>
              </a:rPr>
              <a:t> • DAY 4 • BLOCK 13 • FortiClient &amp; EMS</a:t>
            </a: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142</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EMS and Intune overlap only in selected endpoint-management tasks</a:t>
            </a:r>
          </a:p>
        </p:txBody>
      </p:sp>
      <p:sp>
        <p:nvSpPr>
          <p:cNvPr id="10" name="TextBox 9"/>
          <p:cNvSpPr txBox="1">
            <a:spLocks/>
          </p:cNvSpPr>
          <p:nvPr/>
        </p:nvSpPr>
        <p:spPr>
          <a:xfrm>
            <a:off x="658368" y="1600200"/>
            <a:ext cx="3456432" cy="292608"/>
          </a:xfrm>
          <a:prstGeom prst="rect">
            <a:avLst/>
          </a:prstGeom>
          <a:noFill/>
        </p:spPr>
        <p:txBody>
          <a:bodyPr wrap="square" lIns="27432" tIns="27432" rIns="27432" bIns="27432" anchor="t">
            <a:spAutoFit/>
          </a:bodyPr>
          <a:lstStyle/>
          <a:p>
            <a:pPr algn="l">
              <a:spcAft>
                <a:spcPts val="0"/>
              </a:spcAft>
            </a:pPr>
            <a:r>
              <a:rPr lang="en-GB" sz="1300" b="1">
                <a:solidFill>
                  <a:srgbClr val="E60012"/>
                </a:solidFill>
              </a:rPr>
              <a:t>EMS FIT</a:t>
            </a:r>
          </a:p>
        </p:txBody>
      </p:sp>
      <p:cxnSp>
        <p:nvCxnSpPr>
          <p:cNvPr id="11" name="Connector 10"/>
          <p:cNvCxnSpPr/>
          <p:nvPr/>
        </p:nvCxnSpPr>
        <p:spPr>
          <a:xfrm>
            <a:off x="658368" y="1984248"/>
            <a:ext cx="3456432" cy="0"/>
          </a:xfrm>
          <a:prstGeom prst="line">
            <a:avLst/>
          </a:prstGeom>
          <a:ln w="22860">
            <a:solidFill>
              <a:srgbClr val="E60012"/>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658368" y="2176272"/>
            <a:ext cx="3456432" cy="3337560"/>
          </a:xfrm>
          <a:prstGeom prst="rect">
            <a:avLst/>
          </a:prstGeom>
          <a:noFill/>
        </p:spPr>
        <p:txBody>
          <a:bodyPr wrap="square" lIns="109728" tIns="73152" rIns="109728" bIns="73152" anchor="t">
            <a:spAutoFit/>
          </a:bodyPr>
          <a:lstStyle/>
          <a:p>
            <a:pPr algn="l">
              <a:lnSpc>
                <a:spcPct val="105000"/>
              </a:lnSpc>
              <a:spcAft>
                <a:spcPts val="800"/>
              </a:spcAft>
              <a:defRPr sz="1600">
                <a:solidFill>
                  <a:srgbClr val="1E2B40"/>
                </a:solidFill>
              </a:defRPr>
            </a:pPr>
            <a:r>
              <a:rPr lang="en-GB"/>
              <a:t>• FortiClient profiles</a:t>
            </a:r>
          </a:p>
          <a:p>
            <a:pPr>
              <a:lnSpc>
                <a:spcPct val="105000"/>
              </a:lnSpc>
              <a:spcAft>
                <a:spcPts val="800"/>
              </a:spcAft>
              <a:defRPr sz="1600">
                <a:solidFill>
                  <a:srgbClr val="1E2B40"/>
                </a:solidFill>
              </a:defRPr>
            </a:pPr>
            <a:r>
              <a:rPr lang="en-GB"/>
              <a:t>• FortiClient telemetry</a:t>
            </a:r>
          </a:p>
          <a:p>
            <a:pPr>
              <a:lnSpc>
                <a:spcPct val="105000"/>
              </a:lnSpc>
              <a:spcAft>
                <a:spcPts val="800"/>
              </a:spcAft>
              <a:defRPr sz="1600">
                <a:solidFill>
                  <a:srgbClr val="1E2B40"/>
                </a:solidFill>
              </a:defRPr>
            </a:pPr>
            <a:r>
              <a:rPr lang="en-GB"/>
              <a:t>• ZTNA/network integration</a:t>
            </a:r>
          </a:p>
        </p:txBody>
      </p:sp>
      <p:sp>
        <p:nvSpPr>
          <p:cNvPr id="13" name="TextBox 12"/>
          <p:cNvSpPr txBox="1">
            <a:spLocks/>
          </p:cNvSpPr>
          <p:nvPr/>
        </p:nvSpPr>
        <p:spPr>
          <a:xfrm>
            <a:off x="4370831" y="1600200"/>
            <a:ext cx="3456432" cy="292608"/>
          </a:xfrm>
          <a:prstGeom prst="rect">
            <a:avLst/>
          </a:prstGeom>
          <a:noFill/>
        </p:spPr>
        <p:txBody>
          <a:bodyPr wrap="square" lIns="27432" tIns="27432" rIns="27432" bIns="27432" anchor="t">
            <a:spAutoFit/>
          </a:bodyPr>
          <a:lstStyle/>
          <a:p>
            <a:pPr algn="l">
              <a:spcAft>
                <a:spcPts val="0"/>
              </a:spcAft>
            </a:pPr>
            <a:r>
              <a:rPr lang="en-GB" sz="1300" b="1">
                <a:solidFill>
                  <a:srgbClr val="E60012"/>
                </a:solidFill>
              </a:rPr>
              <a:t>INTUNE FIT</a:t>
            </a:r>
          </a:p>
        </p:txBody>
      </p:sp>
      <p:cxnSp>
        <p:nvCxnSpPr>
          <p:cNvPr id="14" name="Connector 13"/>
          <p:cNvCxnSpPr/>
          <p:nvPr/>
        </p:nvCxnSpPr>
        <p:spPr>
          <a:xfrm>
            <a:off x="4370831" y="1984248"/>
            <a:ext cx="3456432" cy="0"/>
          </a:xfrm>
          <a:prstGeom prst="line">
            <a:avLst/>
          </a:prstGeom>
          <a:ln w="22860">
            <a:solidFill>
              <a:srgbClr val="E60012"/>
            </a:solidFill>
          </a:ln>
        </p:spPr>
        <p:style>
          <a:lnRef idx="2">
            <a:schemeClr val="accent1"/>
          </a:lnRef>
          <a:fillRef idx="0">
            <a:schemeClr val="accent1"/>
          </a:fillRef>
          <a:effectRef idx="1">
            <a:schemeClr val="accent1"/>
          </a:effectRef>
          <a:fontRef idx="minor">
            <a:schemeClr val="tx1"/>
          </a:fontRef>
        </p:style>
      </p:cxnSp>
      <p:sp>
        <p:nvSpPr>
          <p:cNvPr id="15" name="TextBox 14"/>
          <p:cNvSpPr txBox="1">
            <a:spLocks/>
          </p:cNvSpPr>
          <p:nvPr/>
        </p:nvSpPr>
        <p:spPr>
          <a:xfrm>
            <a:off x="4370831" y="2176272"/>
            <a:ext cx="3456432" cy="3337560"/>
          </a:xfrm>
          <a:prstGeom prst="rect">
            <a:avLst/>
          </a:prstGeom>
          <a:noFill/>
        </p:spPr>
        <p:txBody>
          <a:bodyPr wrap="square" lIns="109728" tIns="73152" rIns="109728" bIns="73152" anchor="t">
            <a:spAutoFit/>
          </a:bodyPr>
          <a:lstStyle/>
          <a:p>
            <a:pPr algn="l">
              <a:lnSpc>
                <a:spcPct val="105000"/>
              </a:lnSpc>
              <a:spcAft>
                <a:spcPts val="800"/>
              </a:spcAft>
              <a:defRPr sz="1600">
                <a:solidFill>
                  <a:srgbClr val="1E2B40"/>
                </a:solidFill>
              </a:defRPr>
            </a:pPr>
            <a:r>
              <a:rPr lang="en-GB"/>
              <a:t>• Device enrollment</a:t>
            </a:r>
          </a:p>
          <a:p>
            <a:pPr>
              <a:lnSpc>
                <a:spcPct val="105000"/>
              </a:lnSpc>
              <a:spcAft>
                <a:spcPts val="800"/>
              </a:spcAft>
              <a:defRPr sz="1600">
                <a:solidFill>
                  <a:srgbClr val="1E2B40"/>
                </a:solidFill>
              </a:defRPr>
            </a:pPr>
            <a:r>
              <a:rPr lang="en-GB"/>
              <a:t>• Broad configuration/app policy</a:t>
            </a:r>
          </a:p>
          <a:p>
            <a:pPr>
              <a:lnSpc>
                <a:spcPct val="105000"/>
              </a:lnSpc>
              <a:spcAft>
                <a:spcPts val="800"/>
              </a:spcAft>
              <a:defRPr sz="1600">
                <a:solidFill>
                  <a:srgbClr val="1E2B40"/>
                </a:solidFill>
              </a:defRPr>
            </a:pPr>
            <a:r>
              <a:rPr lang="en-GB"/>
              <a:t>• Microsoft compliance ecosystem</a:t>
            </a:r>
          </a:p>
        </p:txBody>
      </p:sp>
      <p:sp>
        <p:nvSpPr>
          <p:cNvPr id="16" name="TextBox 15"/>
          <p:cNvSpPr txBox="1">
            <a:spLocks/>
          </p:cNvSpPr>
          <p:nvPr/>
        </p:nvSpPr>
        <p:spPr>
          <a:xfrm>
            <a:off x="8083296" y="1600200"/>
            <a:ext cx="3456432" cy="292608"/>
          </a:xfrm>
          <a:prstGeom prst="rect">
            <a:avLst/>
          </a:prstGeom>
          <a:noFill/>
        </p:spPr>
        <p:txBody>
          <a:bodyPr wrap="square" lIns="27432" tIns="27432" rIns="27432" bIns="27432" anchor="t">
            <a:spAutoFit/>
          </a:bodyPr>
          <a:lstStyle/>
          <a:p>
            <a:pPr algn="l">
              <a:spcAft>
                <a:spcPts val="0"/>
              </a:spcAft>
            </a:pPr>
            <a:r>
              <a:rPr lang="en-GB" sz="1300" b="1">
                <a:solidFill>
                  <a:srgbClr val="E60012"/>
                </a:solidFill>
              </a:rPr>
              <a:t>COEXISTENCE</a:t>
            </a:r>
          </a:p>
        </p:txBody>
      </p:sp>
      <p:cxnSp>
        <p:nvCxnSpPr>
          <p:cNvPr id="17" name="Connector 16"/>
          <p:cNvCxnSpPr/>
          <p:nvPr/>
        </p:nvCxnSpPr>
        <p:spPr>
          <a:xfrm>
            <a:off x="8083296" y="1984248"/>
            <a:ext cx="3456432" cy="0"/>
          </a:xfrm>
          <a:prstGeom prst="line">
            <a:avLst/>
          </a:prstGeom>
          <a:ln w="22860">
            <a:solidFill>
              <a:srgbClr val="E60012"/>
            </a:solidFill>
          </a:ln>
        </p:spPr>
        <p:style>
          <a:lnRef idx="2">
            <a:schemeClr val="accent1"/>
          </a:lnRef>
          <a:fillRef idx="0">
            <a:schemeClr val="accent1"/>
          </a:fillRef>
          <a:effectRef idx="1">
            <a:schemeClr val="accent1"/>
          </a:effectRef>
          <a:fontRef idx="minor">
            <a:schemeClr val="tx1"/>
          </a:fontRef>
        </p:style>
      </p:cxnSp>
      <p:sp>
        <p:nvSpPr>
          <p:cNvPr id="18" name="TextBox 17"/>
          <p:cNvSpPr txBox="1">
            <a:spLocks/>
          </p:cNvSpPr>
          <p:nvPr/>
        </p:nvSpPr>
        <p:spPr>
          <a:xfrm>
            <a:off x="8083296" y="2176272"/>
            <a:ext cx="3456432" cy="3337560"/>
          </a:xfrm>
          <a:prstGeom prst="rect">
            <a:avLst/>
          </a:prstGeom>
          <a:noFill/>
        </p:spPr>
        <p:txBody>
          <a:bodyPr wrap="square" lIns="109728" tIns="73152" rIns="109728" bIns="73152" anchor="t">
            <a:spAutoFit/>
          </a:bodyPr>
          <a:lstStyle/>
          <a:p>
            <a:pPr algn="l">
              <a:lnSpc>
                <a:spcPct val="105000"/>
              </a:lnSpc>
              <a:spcAft>
                <a:spcPts val="800"/>
              </a:spcAft>
              <a:defRPr sz="1600">
                <a:solidFill>
                  <a:srgbClr val="1E2B40"/>
                </a:solidFill>
              </a:defRPr>
            </a:pPr>
            <a:r>
              <a:rPr lang="en-GB"/>
              <a:t>• Clear ownership</a:t>
            </a:r>
          </a:p>
          <a:p>
            <a:pPr>
              <a:lnSpc>
                <a:spcPct val="105000"/>
              </a:lnSpc>
              <a:spcAft>
                <a:spcPts val="800"/>
              </a:spcAft>
              <a:defRPr sz="1600">
                <a:solidFill>
                  <a:srgbClr val="1E2B40"/>
                </a:solidFill>
              </a:defRPr>
            </a:pPr>
            <a:r>
              <a:rPr lang="en-GB"/>
              <a:t>• Avoid duplicate settings</a:t>
            </a:r>
          </a:p>
          <a:p>
            <a:pPr>
              <a:lnSpc>
                <a:spcPct val="105000"/>
              </a:lnSpc>
              <a:spcAft>
                <a:spcPts val="800"/>
              </a:spcAft>
              <a:defRPr sz="1600">
                <a:solidFill>
                  <a:srgbClr val="1E2B40"/>
                </a:solidFill>
              </a:defRPr>
            </a:pPr>
            <a:r>
              <a:rPr lang="en-GB"/>
              <a:t>• Test precedence/rollback</a:t>
            </a:r>
          </a:p>
        </p:txBody>
      </p:sp>
      <p:sp>
        <p:nvSpPr>
          <p:cNvPr id="19" name="TextBox 18"/>
          <p:cNvSpPr txBox="1">
            <a:spLocks/>
          </p:cNvSpPr>
          <p:nvPr/>
        </p:nvSpPr>
        <p:spPr>
          <a:xfrm>
            <a:off x="658368" y="5724144"/>
            <a:ext cx="1234440" cy="224677"/>
          </a:xfrm>
          <a:prstGeom prst="rect">
            <a:avLst/>
          </a:prstGeom>
          <a:noFill/>
        </p:spPr>
        <p:txBody>
          <a:bodyPr wrap="square" lIns="27432" tIns="27432" rIns="27432" bIns="27432" anchor="t">
            <a:spAutoFit/>
          </a:bodyPr>
          <a:lstStyle/>
          <a:p>
            <a:pPr algn="l">
              <a:spcAft>
                <a:spcPts val="0"/>
              </a:spcAft>
            </a:pPr>
            <a:r>
              <a:rPr lang="en-GB" sz="1100" b="1">
                <a:solidFill>
                  <a:srgbClr val="233A59"/>
                </a:solidFill>
              </a:rPr>
              <a:t>KEY DISTINCTION</a:t>
            </a:r>
          </a:p>
        </p:txBody>
      </p:sp>
      <p:sp>
        <p:nvSpPr>
          <p:cNvPr id="20" name="TextBox 19"/>
          <p:cNvSpPr txBox="1">
            <a:spLocks/>
          </p:cNvSpPr>
          <p:nvPr/>
        </p:nvSpPr>
        <p:spPr>
          <a:xfrm>
            <a:off x="1920240" y="5687568"/>
            <a:ext cx="9235440" cy="329184"/>
          </a:xfrm>
          <a:prstGeom prst="rect">
            <a:avLst/>
          </a:prstGeom>
          <a:noFill/>
        </p:spPr>
        <p:txBody>
          <a:bodyPr wrap="square" lIns="27432" tIns="27432" rIns="27432" bIns="27432" anchor="t">
            <a:spAutoFit/>
          </a:bodyPr>
          <a:lstStyle/>
          <a:p>
            <a:pPr algn="l">
              <a:spcAft>
                <a:spcPts val="0"/>
              </a:spcAft>
            </a:pPr>
            <a:r>
              <a:rPr lang="en-GB" sz="1400" b="1">
                <a:solidFill>
                  <a:srgbClr val="233A59"/>
                </a:solidFill>
              </a:rPr>
              <a:t>Map each requirement—VPN profile, CA, app compliance, FortiClient telemetry—to an accountable system</a:t>
            </a:r>
          </a:p>
        </p:txBody>
      </p:sp>
      <p:sp>
        <p:nvSpPr>
          <p:cNvPr id="21" name="TextBox 20"/>
          <p:cNvSpPr txBox="1">
            <a:spLocks/>
          </p:cNvSpPr>
          <p:nvPr/>
        </p:nvSpPr>
        <p:spPr>
          <a:xfrm>
            <a:off x="502920" y="420624"/>
            <a:ext cx="10744200" cy="130805"/>
          </a:xfrm>
          <a:prstGeom prst="rect">
            <a:avLst/>
          </a:prstGeom>
          <a:noFill/>
        </p:spPr>
        <p:txBody>
          <a:bodyPr wrap="square" lIns="0" tIns="0" rIns="0" bIns="0">
            <a:spAutoFit/>
          </a:bodyPr>
          <a:lstStyle/>
          <a:p>
            <a:pPr algn="l"/>
            <a:r>
              <a:rPr lang="en-GB" sz="850" b="1">
                <a:solidFill>
                  <a:srgbClr val="687385"/>
                </a:solidFill>
              </a:rPr>
              <a:t>142 • DAY 4 • BLOCK 13 • FortiClient &amp; EMS</a:t>
            </a: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143</a:t>
            </a:r>
          </a:p>
        </p:txBody>
      </p:sp>
      <p:sp>
        <p:nvSpPr>
          <p:cNvPr id="9" name="TextBox 8"/>
          <p:cNvSpPr txBox="1">
            <a:spLocks/>
          </p:cNvSpPr>
          <p:nvPr/>
        </p:nvSpPr>
        <p:spPr>
          <a:xfrm>
            <a:off x="502920" y="621792"/>
            <a:ext cx="11109960" cy="455509"/>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Client troubleshooting correlates endpoint, EMS and FortiGate state</a:t>
            </a:r>
          </a:p>
        </p:txBody>
      </p:sp>
      <p:sp>
        <p:nvSpPr>
          <p:cNvPr id="10" name="Rectangle 9"/>
          <p:cNvSpPr/>
          <p:nvPr/>
        </p:nvSpPr>
        <p:spPr>
          <a:xfrm>
            <a:off x="658368" y="1572768"/>
            <a:ext cx="6583680" cy="425196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1" name="TextBox 10"/>
          <p:cNvSpPr txBox="1">
            <a:spLocks/>
          </p:cNvSpPr>
          <p:nvPr/>
        </p:nvSpPr>
        <p:spPr>
          <a:xfrm>
            <a:off x="877824" y="1783080"/>
            <a:ext cx="6126480" cy="209288"/>
          </a:xfrm>
          <a:prstGeom prst="rect">
            <a:avLst/>
          </a:prstGeom>
          <a:noFill/>
        </p:spPr>
        <p:txBody>
          <a:bodyPr wrap="square" lIns="27432" tIns="27432" rIns="27432" bIns="27432" anchor="t">
            <a:spAutoFit/>
          </a:bodyPr>
          <a:lstStyle/>
          <a:p>
            <a:pPr algn="l">
              <a:spcAft>
                <a:spcPts val="0"/>
              </a:spcAft>
            </a:pPr>
            <a:r>
              <a:rPr lang="en-GB" sz="1000" b="1">
                <a:solidFill>
                  <a:srgbClr val="E60012"/>
                </a:solidFill>
              </a:rPr>
              <a:t>ILLUSTRATIVE CLI — validate on FortiOS 7.6.7 / Azure FortiGate-VM</a:t>
            </a:r>
          </a:p>
        </p:txBody>
      </p:sp>
      <p:sp>
        <p:nvSpPr>
          <p:cNvPr id="12" name="TextBox 11"/>
          <p:cNvSpPr txBox="1">
            <a:spLocks/>
          </p:cNvSpPr>
          <p:nvPr/>
        </p:nvSpPr>
        <p:spPr>
          <a:xfrm>
            <a:off x="877824" y="2212848"/>
            <a:ext cx="6080760" cy="3154680"/>
          </a:xfrm>
          <a:prstGeom prst="rect">
            <a:avLst/>
          </a:prstGeom>
          <a:noFill/>
        </p:spPr>
        <p:txBody>
          <a:bodyPr wrap="square" lIns="27432" tIns="27432" rIns="27432" bIns="27432" anchor="t">
            <a:spAutoFit/>
          </a:bodyPr>
          <a:lstStyle/>
          <a:p>
            <a:pPr algn="l">
              <a:spcAft>
                <a:spcPts val="0"/>
              </a:spcAft>
            </a:pPr>
            <a:r>
              <a:rPr lang="en-GB" sz="1400" b="0">
                <a:solidFill>
                  <a:srgbClr val="E6ECF4"/>
                </a:solidFill>
                <a:latin typeface="Consolas"/>
              </a:rPr>
              <a:t>Endpoint: record FortiClient version/profile, route table and DNS
EMS: confirm endpoint registration and assigned profile (if deployed)
FortiGate: correlate auth/VPN/traffic session logs
Use exact product documentation for log locations</a:t>
            </a:r>
          </a:p>
        </p:txBody>
      </p:sp>
      <p:sp>
        <p:nvSpPr>
          <p:cNvPr id="13" name="TextBox 12"/>
          <p:cNvSpPr txBox="1">
            <a:spLocks/>
          </p:cNvSpPr>
          <p:nvPr/>
        </p:nvSpPr>
        <p:spPr>
          <a:xfrm>
            <a:off x="7754112" y="1719072"/>
            <a:ext cx="3154680" cy="256032"/>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READ THE OUTPUT</a:t>
            </a:r>
          </a:p>
        </p:txBody>
      </p:sp>
      <p:sp>
        <p:nvSpPr>
          <p:cNvPr id="14" name="TextBox 13"/>
          <p:cNvSpPr txBox="1">
            <a:spLocks/>
          </p:cNvSpPr>
          <p:nvPr/>
        </p:nvSpPr>
        <p:spPr>
          <a:xfrm>
            <a:off x="7754112" y="2121408"/>
            <a:ext cx="3383280" cy="2148840"/>
          </a:xfrm>
          <a:prstGeom prst="rect">
            <a:avLst/>
          </a:prstGeom>
          <a:noFill/>
        </p:spPr>
        <p:txBody>
          <a:bodyPr wrap="square" lIns="109728" tIns="73152" rIns="109728" bIns="73152" anchor="t">
            <a:spAutoFit/>
          </a:bodyPr>
          <a:lstStyle/>
          <a:p>
            <a:pPr algn="l">
              <a:lnSpc>
                <a:spcPct val="105000"/>
              </a:lnSpc>
              <a:spcAft>
                <a:spcPts val="700"/>
              </a:spcAft>
              <a:defRPr sz="1500">
                <a:solidFill>
                  <a:srgbClr val="1E2B40"/>
                </a:solidFill>
              </a:defRPr>
            </a:pPr>
            <a:r>
              <a:rPr lang="en-GB"/>
              <a:t>• Endpoint network state and routes/DNS</a:t>
            </a:r>
          </a:p>
          <a:p>
            <a:pPr>
              <a:lnSpc>
                <a:spcPct val="105000"/>
              </a:lnSpc>
              <a:spcAft>
                <a:spcPts val="700"/>
              </a:spcAft>
              <a:defRPr sz="1500">
                <a:solidFill>
                  <a:srgbClr val="1E2B40"/>
                </a:solidFill>
              </a:defRPr>
            </a:pPr>
            <a:r>
              <a:rPr lang="en-GB"/>
              <a:t>• FortiClient event/VPN logs</a:t>
            </a:r>
          </a:p>
          <a:p>
            <a:pPr>
              <a:lnSpc>
                <a:spcPct val="105000"/>
              </a:lnSpc>
              <a:spcAft>
                <a:spcPts val="700"/>
              </a:spcAft>
              <a:defRPr sz="1500">
                <a:solidFill>
                  <a:srgbClr val="1E2B40"/>
                </a:solidFill>
              </a:defRPr>
            </a:pPr>
            <a:r>
              <a:rPr lang="en-GB"/>
              <a:t>• EMS profile/telemetry status if used</a:t>
            </a:r>
          </a:p>
          <a:p>
            <a:pPr>
              <a:lnSpc>
                <a:spcPct val="105000"/>
              </a:lnSpc>
              <a:spcAft>
                <a:spcPts val="700"/>
              </a:spcAft>
              <a:defRPr sz="1500">
                <a:solidFill>
                  <a:srgbClr val="1E2B40"/>
                </a:solidFill>
              </a:defRPr>
            </a:pPr>
            <a:r>
              <a:rPr lang="en-GB"/>
              <a:t>• FortiGate authentication, VPN, policy and session logs</a:t>
            </a:r>
          </a:p>
        </p:txBody>
      </p:sp>
      <p:sp>
        <p:nvSpPr>
          <p:cNvPr id="15" name="TextBox 14"/>
          <p:cNvSpPr txBox="1">
            <a:spLocks/>
          </p:cNvSpPr>
          <p:nvPr/>
        </p:nvSpPr>
        <p:spPr>
          <a:xfrm>
            <a:off x="7754112" y="4553712"/>
            <a:ext cx="201168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Safe operation</a:t>
            </a:r>
          </a:p>
        </p:txBody>
      </p:sp>
      <p:sp>
        <p:nvSpPr>
          <p:cNvPr id="16" name="TextBox 15"/>
          <p:cNvSpPr txBox="1">
            <a:spLocks/>
          </p:cNvSpPr>
          <p:nvPr/>
        </p:nvSpPr>
        <p:spPr>
          <a:xfrm>
            <a:off x="7754112" y="4882896"/>
            <a:ext cx="3401568" cy="822960"/>
          </a:xfrm>
          <a:prstGeom prst="rect">
            <a:avLst/>
          </a:prstGeom>
          <a:noFill/>
        </p:spPr>
        <p:txBody>
          <a:bodyPr wrap="square" lIns="27432" tIns="27432" rIns="27432" bIns="27432" anchor="t">
            <a:spAutoFit/>
          </a:bodyPr>
          <a:lstStyle/>
          <a:p>
            <a:pPr algn="l">
              <a:spcAft>
                <a:spcPts val="0"/>
              </a:spcAft>
            </a:pPr>
            <a:r>
              <a:rPr lang="en-GB" sz="1400" b="1">
                <a:solidFill>
                  <a:srgbClr val="233A59"/>
                </a:solidFill>
              </a:rPr>
              <a:t>A client-side “connected” icon does not prove protected application reachability</a:t>
            </a:r>
          </a:p>
        </p:txBody>
      </p:sp>
      <p:sp>
        <p:nvSpPr>
          <p:cNvPr id="17" name="TextBox 16"/>
          <p:cNvSpPr txBox="1">
            <a:spLocks/>
          </p:cNvSpPr>
          <p:nvPr/>
        </p:nvSpPr>
        <p:spPr>
          <a:xfrm>
            <a:off x="502920" y="420624"/>
            <a:ext cx="10744200" cy="130805"/>
          </a:xfrm>
          <a:prstGeom prst="rect">
            <a:avLst/>
          </a:prstGeom>
          <a:noFill/>
        </p:spPr>
        <p:txBody>
          <a:bodyPr wrap="square" lIns="0" tIns="0" rIns="0" bIns="0">
            <a:spAutoFit/>
          </a:bodyPr>
          <a:lstStyle/>
          <a:p>
            <a:pPr algn="l"/>
            <a:r>
              <a:rPr lang="en-GB" sz="850" b="1">
                <a:solidFill>
                  <a:srgbClr val="687385"/>
                </a:solidFill>
              </a:rPr>
              <a:t>143 • DAY 4 • BLOCK 13 • FortiClient &amp; EMS</a:t>
            </a: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p:nvPr/>
        </p:nvSpPr>
        <p:spPr>
          <a:xfrm>
            <a:off x="502920" y="411480"/>
            <a:ext cx="548640" cy="189283"/>
          </a:xfrm>
          <a:prstGeom prst="rect">
            <a:avLst/>
          </a:prstGeom>
          <a:noFill/>
        </p:spPr>
        <p:txBody>
          <a:bodyPr wrap="square" lIns="36576" tIns="36576" rIns="36576" bIns="36576" anchor="t">
            <a:spAutoFit/>
          </a:bodyPr>
          <a:lstStyle/>
          <a:p>
            <a:pPr algn="l">
              <a:spcAft>
                <a:spcPts val="0"/>
              </a:spcAft>
            </a:pPr>
            <a:r>
              <a:rPr lang="en-HU" sz="750" b="1">
                <a:solidFill>
                  <a:srgbClr val="687385"/>
                </a:solidFill>
              </a:rPr>
              <a:t>144</a:t>
            </a:r>
            <a:endParaRPr sz="750" b="1">
              <a:solidFill>
                <a:srgbClr val="687385"/>
              </a:solidFill>
            </a:endParaRPr>
          </a:p>
        </p:txBody>
      </p:sp>
      <p:sp>
        <p:nvSpPr>
          <p:cNvPr id="4" name="TextBox 3"/>
          <p:cNvSpPr txBox="1"/>
          <p:nvPr/>
        </p:nvSpPr>
        <p:spPr>
          <a:xfrm>
            <a:off x="502920" y="621792"/>
            <a:ext cx="11109960" cy="548640"/>
          </a:xfrm>
          <a:prstGeom prst="rect">
            <a:avLst/>
          </a:prstGeom>
          <a:noFill/>
        </p:spPr>
        <p:txBody>
          <a:bodyPr wrap="square" lIns="36576" tIns="36576" rIns="36576" bIns="36576" anchor="t">
            <a:spAutoFit/>
          </a:bodyPr>
          <a:lstStyle/>
          <a:p>
            <a:pPr algn="l">
              <a:spcAft>
                <a:spcPts val="0"/>
              </a:spcAft>
            </a:pPr>
            <a:r>
              <a:rPr sz="2600" b="1">
                <a:solidFill>
                  <a:srgbClr val="1E2B40"/>
                </a:solidFill>
              </a:rPr>
              <a:t>Managed VPN profile</a:t>
            </a:r>
          </a:p>
        </p:txBody>
      </p:sp>
      <p:cxnSp>
        <p:nvCxnSpPr>
          <p:cNvPr id="5" name="Connector 4"/>
          <p:cNvCxnSpPr/>
          <p:nvPr/>
        </p:nvCxnSpPr>
        <p:spPr>
          <a:xfrm>
            <a:off x="502920" y="6473952"/>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109960" y="6537960"/>
            <a:ext cx="502920" cy="189283"/>
          </a:xfrm>
          <a:prstGeom prst="rect">
            <a:avLst/>
          </a:prstGeom>
          <a:noFill/>
        </p:spPr>
        <p:txBody>
          <a:bodyPr wrap="square" lIns="36576" tIns="36576" rIns="36576" bIns="36576" anchor="t">
            <a:spAutoFit/>
          </a:bodyPr>
          <a:lstStyle/>
          <a:p>
            <a:pPr algn="r">
              <a:spcAft>
                <a:spcPts val="0"/>
              </a:spcAft>
            </a:pPr>
            <a:r>
              <a:rPr lang="en-HU" sz="750" b="0">
                <a:solidFill>
                  <a:srgbClr val="687385"/>
                </a:solidFill>
              </a:rPr>
              <a:t>144</a:t>
            </a:r>
            <a:endParaRPr sz="750" b="0">
              <a:solidFill>
                <a:srgbClr val="687385"/>
              </a:solidFill>
            </a:endParaRPr>
          </a:p>
        </p:txBody>
      </p:sp>
      <p:sp>
        <p:nvSpPr>
          <p:cNvPr id="7" name="Rectangle 6"/>
          <p:cNvSpPr>
            <a:spLocks/>
          </p:cNvSpPr>
          <p:nvPr/>
        </p:nvSpPr>
        <p:spPr>
          <a:xfrm>
            <a:off x="685800" y="1828800"/>
            <a:ext cx="2008022"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8" name="TextBox 7"/>
          <p:cNvSpPr txBox="1">
            <a:spLocks/>
          </p:cNvSpPr>
          <p:nvPr/>
        </p:nvSpPr>
        <p:spPr>
          <a:xfrm>
            <a:off x="777240" y="1938528"/>
            <a:ext cx="365760" cy="227755"/>
          </a:xfrm>
          <a:prstGeom prst="rect">
            <a:avLst/>
          </a:prstGeom>
          <a:noFill/>
        </p:spPr>
        <p:txBody>
          <a:bodyPr wrap="square" lIns="36576" tIns="36576" rIns="36576" bIns="36576" anchor="t">
            <a:spAutoFit/>
          </a:bodyPr>
          <a:lstStyle/>
          <a:p>
            <a:pPr algn="l">
              <a:spcAft>
                <a:spcPts val="0"/>
              </a:spcAft>
            </a:pPr>
            <a:r>
              <a:rPr lang="en-HU" sz="1000" b="1">
                <a:solidFill>
                  <a:srgbClr val="E60012"/>
                </a:solidFill>
              </a:rPr>
              <a:t>01</a:t>
            </a:r>
          </a:p>
        </p:txBody>
      </p:sp>
      <p:sp>
        <p:nvSpPr>
          <p:cNvPr id="9" name="TextBox 8"/>
          <p:cNvSpPr txBox="1">
            <a:spLocks/>
          </p:cNvSpPr>
          <p:nvPr/>
        </p:nvSpPr>
        <p:spPr>
          <a:xfrm>
            <a:off x="795528" y="2243935"/>
            <a:ext cx="1788566" cy="504754"/>
          </a:xfrm>
          <a:prstGeom prst="rect">
            <a:avLst/>
          </a:prstGeom>
          <a:noFill/>
        </p:spPr>
        <p:txBody>
          <a:bodyPr wrap="square" lIns="36576" tIns="36576" rIns="36576" bIns="36576" anchor="ctr">
            <a:spAutoFit/>
          </a:bodyPr>
          <a:lstStyle/>
          <a:p>
            <a:pPr algn="ctr">
              <a:spcAft>
                <a:spcPts val="0"/>
              </a:spcAft>
            </a:pPr>
            <a:r>
              <a:rPr lang="en-GB" sz="1400" b="1">
                <a:solidFill>
                  <a:srgbClr val="FFFFFF"/>
                </a:solidFill>
              </a:rPr>
              <a:t>Endpoint registers to EMS</a:t>
            </a:r>
          </a:p>
        </p:txBody>
      </p:sp>
      <p:sp>
        <p:nvSpPr>
          <p:cNvPr id="10" name="Right Arrow 9"/>
          <p:cNvSpPr/>
          <p:nvPr/>
        </p:nvSpPr>
        <p:spPr>
          <a:xfrm>
            <a:off x="2693822" y="2340864"/>
            <a:ext cx="164592" cy="146304"/>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1" name="Rectangle 10"/>
          <p:cNvSpPr>
            <a:spLocks/>
          </p:cNvSpPr>
          <p:nvPr/>
        </p:nvSpPr>
        <p:spPr>
          <a:xfrm>
            <a:off x="2858414" y="1828800"/>
            <a:ext cx="2008022"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2" name="TextBox 11"/>
          <p:cNvSpPr txBox="1"/>
          <p:nvPr/>
        </p:nvSpPr>
        <p:spPr>
          <a:xfrm>
            <a:off x="2949854" y="1938528"/>
            <a:ext cx="365760" cy="201168"/>
          </a:xfrm>
          <a:prstGeom prst="rect">
            <a:avLst/>
          </a:prstGeom>
          <a:noFill/>
        </p:spPr>
        <p:txBody>
          <a:bodyPr wrap="square" lIns="36576" tIns="36576" rIns="36576" bIns="36576" anchor="t">
            <a:spAutoFit/>
          </a:bodyPr>
          <a:lstStyle/>
          <a:p>
            <a:pPr algn="l">
              <a:spcAft>
                <a:spcPts val="0"/>
              </a:spcAft>
            </a:pPr>
            <a:r>
              <a:rPr sz="1000" b="1">
                <a:solidFill>
                  <a:srgbClr val="E60012"/>
                </a:solidFill>
              </a:rPr>
              <a:t>02</a:t>
            </a:r>
          </a:p>
        </p:txBody>
      </p:sp>
      <p:sp>
        <p:nvSpPr>
          <p:cNvPr id="13" name="TextBox 12"/>
          <p:cNvSpPr txBox="1">
            <a:spLocks/>
          </p:cNvSpPr>
          <p:nvPr/>
        </p:nvSpPr>
        <p:spPr>
          <a:xfrm>
            <a:off x="2968142" y="2267712"/>
            <a:ext cx="1788566" cy="457200"/>
          </a:xfrm>
          <a:prstGeom prst="rect">
            <a:avLst/>
          </a:prstGeom>
          <a:noFill/>
        </p:spPr>
        <p:txBody>
          <a:bodyPr wrap="square" lIns="36576" tIns="36576" rIns="36576" bIns="36576" anchor="ctr">
            <a:spAutoFit/>
          </a:bodyPr>
          <a:lstStyle/>
          <a:p>
            <a:pPr algn="ctr">
              <a:spcAft>
                <a:spcPts val="0"/>
              </a:spcAft>
            </a:pPr>
            <a:r>
              <a:rPr lang="en-GB" sz="1400" b="1">
                <a:solidFill>
                  <a:srgbClr val="FFFFFF"/>
                </a:solidFill>
              </a:rPr>
              <a:t>EMS assigns profile</a:t>
            </a:r>
          </a:p>
        </p:txBody>
      </p:sp>
      <p:sp>
        <p:nvSpPr>
          <p:cNvPr id="14" name="Right Arrow 13"/>
          <p:cNvSpPr>
            <a:spLocks/>
          </p:cNvSpPr>
          <p:nvPr/>
        </p:nvSpPr>
        <p:spPr>
          <a:xfrm>
            <a:off x="4866436" y="2340864"/>
            <a:ext cx="164592" cy="146304"/>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5" name="Rectangle 14"/>
          <p:cNvSpPr/>
          <p:nvPr/>
        </p:nvSpPr>
        <p:spPr>
          <a:xfrm>
            <a:off x="5031028" y="1828800"/>
            <a:ext cx="2008022"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a:spLocks/>
          </p:cNvSpPr>
          <p:nvPr/>
        </p:nvSpPr>
        <p:spPr>
          <a:xfrm>
            <a:off x="5122468" y="1938528"/>
            <a:ext cx="365760" cy="201168"/>
          </a:xfrm>
          <a:prstGeom prst="rect">
            <a:avLst/>
          </a:prstGeom>
          <a:noFill/>
        </p:spPr>
        <p:txBody>
          <a:bodyPr wrap="square" lIns="36576" tIns="36576" rIns="36576" bIns="36576" anchor="t">
            <a:spAutoFit/>
          </a:bodyPr>
          <a:lstStyle/>
          <a:p>
            <a:pPr algn="l">
              <a:spcAft>
                <a:spcPts val="0"/>
              </a:spcAft>
            </a:pPr>
            <a:r>
              <a:rPr lang="en-HU" sz="1000" b="1">
                <a:solidFill>
                  <a:srgbClr val="E60012"/>
                </a:solidFill>
              </a:rPr>
              <a:t>03</a:t>
            </a:r>
          </a:p>
        </p:txBody>
      </p:sp>
      <p:sp>
        <p:nvSpPr>
          <p:cNvPr id="17" name="TextBox 16"/>
          <p:cNvSpPr txBox="1">
            <a:spLocks/>
          </p:cNvSpPr>
          <p:nvPr/>
        </p:nvSpPr>
        <p:spPr>
          <a:xfrm>
            <a:off x="5140756" y="2243935"/>
            <a:ext cx="1788566" cy="504754"/>
          </a:xfrm>
          <a:prstGeom prst="rect">
            <a:avLst/>
          </a:prstGeom>
          <a:noFill/>
        </p:spPr>
        <p:txBody>
          <a:bodyPr wrap="square" lIns="36576" tIns="36576" rIns="36576" bIns="36576" anchor="ctr">
            <a:spAutoFit/>
          </a:bodyPr>
          <a:lstStyle/>
          <a:p>
            <a:pPr algn="ctr">
              <a:spcAft>
                <a:spcPts val="0"/>
              </a:spcAft>
            </a:pPr>
            <a:r>
              <a:rPr lang="en-GB" sz="1400" b="1">
                <a:solidFill>
                  <a:srgbClr val="FFFFFF"/>
                </a:solidFill>
              </a:rPr>
              <a:t>FortiClient applies gateway/auth</a:t>
            </a:r>
          </a:p>
        </p:txBody>
      </p:sp>
      <p:sp>
        <p:nvSpPr>
          <p:cNvPr id="18" name="Right Arrow 17"/>
          <p:cNvSpPr/>
          <p:nvPr/>
        </p:nvSpPr>
        <p:spPr>
          <a:xfrm>
            <a:off x="7039051" y="2340864"/>
            <a:ext cx="164592" cy="146304"/>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203643" y="1828800"/>
            <a:ext cx="2008022"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20" name="TextBox 19"/>
          <p:cNvSpPr txBox="1">
            <a:spLocks/>
          </p:cNvSpPr>
          <p:nvPr/>
        </p:nvSpPr>
        <p:spPr>
          <a:xfrm>
            <a:off x="7295083" y="1938528"/>
            <a:ext cx="365760" cy="227755"/>
          </a:xfrm>
          <a:prstGeom prst="rect">
            <a:avLst/>
          </a:prstGeom>
          <a:noFill/>
        </p:spPr>
        <p:txBody>
          <a:bodyPr wrap="square" lIns="36576" tIns="36576" rIns="36576" bIns="36576" anchor="t">
            <a:spAutoFit/>
          </a:bodyPr>
          <a:lstStyle/>
          <a:p>
            <a:pPr algn="l">
              <a:spcAft>
                <a:spcPts val="0"/>
              </a:spcAft>
            </a:pPr>
            <a:r>
              <a:rPr lang="en-HU" sz="1000" b="1">
                <a:solidFill>
                  <a:srgbClr val="E60012"/>
                </a:solidFill>
              </a:rPr>
              <a:t>04</a:t>
            </a:r>
          </a:p>
        </p:txBody>
      </p:sp>
      <p:sp>
        <p:nvSpPr>
          <p:cNvPr id="21" name="TextBox 20"/>
          <p:cNvSpPr txBox="1"/>
          <p:nvPr/>
        </p:nvSpPr>
        <p:spPr>
          <a:xfrm>
            <a:off x="7313371" y="2243935"/>
            <a:ext cx="1788566" cy="504754"/>
          </a:xfrm>
          <a:prstGeom prst="rect">
            <a:avLst/>
          </a:prstGeom>
          <a:noFill/>
        </p:spPr>
        <p:txBody>
          <a:bodyPr wrap="square" lIns="36576" tIns="36576" rIns="36576" bIns="36576" anchor="ctr">
            <a:spAutoFit/>
          </a:bodyPr>
          <a:lstStyle/>
          <a:p>
            <a:pPr algn="ctr">
              <a:spcAft>
                <a:spcPts val="0"/>
              </a:spcAft>
            </a:pPr>
            <a:r>
              <a:rPr lang="en-GB" sz="1400" b="1">
                <a:solidFill>
                  <a:srgbClr val="FFFFFF"/>
                </a:solidFill>
              </a:rPr>
              <a:t>FortiGate authenticates</a:t>
            </a:r>
          </a:p>
        </p:txBody>
      </p:sp>
      <p:sp>
        <p:nvSpPr>
          <p:cNvPr id="22" name="Right Arrow 21"/>
          <p:cNvSpPr>
            <a:spLocks/>
          </p:cNvSpPr>
          <p:nvPr/>
        </p:nvSpPr>
        <p:spPr>
          <a:xfrm>
            <a:off x="9211665" y="2340864"/>
            <a:ext cx="164592" cy="146304"/>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23" name="Rectangle 22"/>
          <p:cNvSpPr>
            <a:spLocks/>
          </p:cNvSpPr>
          <p:nvPr/>
        </p:nvSpPr>
        <p:spPr>
          <a:xfrm>
            <a:off x="9376257" y="1828800"/>
            <a:ext cx="2008022"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24" name="TextBox 23"/>
          <p:cNvSpPr txBox="1"/>
          <p:nvPr/>
        </p:nvSpPr>
        <p:spPr>
          <a:xfrm>
            <a:off x="9467697" y="1938528"/>
            <a:ext cx="365760" cy="227755"/>
          </a:xfrm>
          <a:prstGeom prst="rect">
            <a:avLst/>
          </a:prstGeom>
          <a:noFill/>
        </p:spPr>
        <p:txBody>
          <a:bodyPr wrap="square" lIns="36576" tIns="36576" rIns="36576" bIns="36576" anchor="t">
            <a:spAutoFit/>
          </a:bodyPr>
          <a:lstStyle/>
          <a:p>
            <a:pPr algn="l">
              <a:spcAft>
                <a:spcPts val="0"/>
              </a:spcAft>
            </a:pPr>
            <a:r>
              <a:rPr lang="en-HU" sz="1000" b="1">
                <a:solidFill>
                  <a:srgbClr val="E60012"/>
                </a:solidFill>
              </a:rPr>
              <a:t>05</a:t>
            </a:r>
          </a:p>
        </p:txBody>
      </p:sp>
      <p:sp>
        <p:nvSpPr>
          <p:cNvPr id="25" name="TextBox 24"/>
          <p:cNvSpPr txBox="1"/>
          <p:nvPr/>
        </p:nvSpPr>
        <p:spPr>
          <a:xfrm>
            <a:off x="9485985" y="2267712"/>
            <a:ext cx="1788566" cy="457200"/>
          </a:xfrm>
          <a:prstGeom prst="rect">
            <a:avLst/>
          </a:prstGeom>
          <a:noFill/>
        </p:spPr>
        <p:txBody>
          <a:bodyPr wrap="square" lIns="36576" tIns="36576" rIns="36576" bIns="36576" anchor="ctr">
            <a:spAutoFit/>
          </a:bodyPr>
          <a:lstStyle/>
          <a:p>
            <a:pPr algn="ctr">
              <a:spcAft>
                <a:spcPts val="0"/>
              </a:spcAft>
            </a:pPr>
            <a:r>
              <a:rPr sz="1400" b="1">
                <a:solidFill>
                  <a:srgbClr val="FFFFFF"/>
                </a:solidFill>
              </a:rPr>
              <a:t>Session reaches application</a:t>
            </a:r>
          </a:p>
        </p:txBody>
      </p:sp>
      <p:sp>
        <p:nvSpPr>
          <p:cNvPr id="26" name="TextBox 25"/>
          <p:cNvSpPr txBox="1"/>
          <p:nvPr/>
        </p:nvSpPr>
        <p:spPr>
          <a:xfrm>
            <a:off x="731520" y="3703320"/>
            <a:ext cx="1554480" cy="210312"/>
          </a:xfrm>
          <a:prstGeom prst="rect">
            <a:avLst/>
          </a:prstGeom>
          <a:noFill/>
        </p:spPr>
        <p:txBody>
          <a:bodyPr wrap="square" lIns="36576" tIns="36576" rIns="36576" bIns="36576" anchor="t">
            <a:spAutoFit/>
          </a:bodyPr>
          <a:lstStyle/>
          <a:p>
            <a:pPr algn="l">
              <a:spcAft>
                <a:spcPts val="0"/>
              </a:spcAft>
            </a:pPr>
            <a:r>
              <a:rPr sz="1000" b="1">
                <a:solidFill>
                  <a:srgbClr val="E60012"/>
                </a:solidFill>
              </a:rPr>
              <a:t>EXPECTED RESULT</a:t>
            </a:r>
          </a:p>
        </p:txBody>
      </p:sp>
      <p:sp>
        <p:nvSpPr>
          <p:cNvPr id="27" name="TextBox 26"/>
          <p:cNvSpPr txBox="1"/>
          <p:nvPr/>
        </p:nvSpPr>
        <p:spPr>
          <a:xfrm>
            <a:off x="731520" y="4041648"/>
            <a:ext cx="10424160" cy="335476"/>
          </a:xfrm>
          <a:prstGeom prst="rect">
            <a:avLst/>
          </a:prstGeom>
          <a:noFill/>
        </p:spPr>
        <p:txBody>
          <a:bodyPr wrap="square" lIns="36576" tIns="36576" rIns="36576" bIns="36576" anchor="t">
            <a:spAutoFit/>
          </a:bodyPr>
          <a:lstStyle/>
          <a:p>
            <a:pPr algn="ctr">
              <a:spcAft>
                <a:spcPts val="0"/>
              </a:spcAft>
            </a:pPr>
            <a:r>
              <a:rPr lang="en-GB" sz="1700" b="1">
                <a:solidFill>
                  <a:srgbClr val="233A59"/>
                </a:solidFill>
              </a:rPr>
              <a:t>Learners place gateway, </a:t>
            </a:r>
            <a:r>
              <a:rPr sz="1700" b="1">
                <a:solidFill>
                  <a:srgbClr val="233A59"/>
                </a:solidFill>
              </a:rPr>
              <a:t>profile</a:t>
            </a:r>
            <a:r>
              <a:rPr lang="en-GB" sz="1700" b="1">
                <a:solidFill>
                  <a:srgbClr val="233A59"/>
                </a:solidFill>
              </a:rPr>
              <a:t>, telemetry</a:t>
            </a:r>
            <a:r>
              <a:rPr sz="1700" b="1">
                <a:solidFill>
                  <a:srgbClr val="233A59"/>
                </a:solidFill>
              </a:rPr>
              <a:t> and </a:t>
            </a:r>
            <a:r>
              <a:rPr lang="en-GB" sz="1700" b="1">
                <a:solidFill>
                  <a:srgbClr val="233A59"/>
                </a:solidFill>
              </a:rPr>
              <a:t>CA-trust decisions correctly</a:t>
            </a:r>
            <a:r>
              <a:rPr sz="1700" b="1">
                <a:solidFill>
                  <a:srgbClr val="233A59"/>
                </a:solidFill>
              </a:rPr>
              <a:t>; </a:t>
            </a:r>
            <a:r>
              <a:rPr lang="en-GB" sz="1700" b="1">
                <a:solidFill>
                  <a:srgbClr val="233A59"/>
                </a:solidFill>
              </a:rPr>
              <a:t>live state is optional</a:t>
            </a:r>
            <a:r>
              <a:rPr sz="1700" b="1">
                <a:solidFill>
                  <a:srgbClr val="233A59"/>
                </a:solidFill>
              </a:rPr>
              <a:t>.</a:t>
            </a:r>
          </a:p>
        </p:txBody>
      </p:sp>
      <p:sp>
        <p:nvSpPr>
          <p:cNvPr id="28" name="TextBox 27"/>
          <p:cNvSpPr txBox="1"/>
          <p:nvPr/>
        </p:nvSpPr>
        <p:spPr>
          <a:xfrm>
            <a:off x="658368" y="5833872"/>
            <a:ext cx="731520" cy="182880"/>
          </a:xfrm>
          <a:prstGeom prst="rect">
            <a:avLst/>
          </a:prstGeom>
          <a:noFill/>
        </p:spPr>
        <p:txBody>
          <a:bodyPr wrap="square" lIns="36576" tIns="36576" rIns="36576" bIns="36576" anchor="t">
            <a:spAutoFit/>
          </a:bodyPr>
          <a:lstStyle/>
          <a:p>
            <a:pPr algn="l">
              <a:spcAft>
                <a:spcPts val="0"/>
              </a:spcAft>
            </a:pPr>
            <a:r>
              <a:rPr sz="1000" b="1">
                <a:solidFill>
                  <a:srgbClr val="E60012"/>
                </a:solidFill>
              </a:rPr>
              <a:t>LESSON</a:t>
            </a:r>
          </a:p>
        </p:txBody>
      </p:sp>
      <p:sp>
        <p:nvSpPr>
          <p:cNvPr id="29" name="TextBox 28"/>
          <p:cNvSpPr txBox="1"/>
          <p:nvPr/>
        </p:nvSpPr>
        <p:spPr>
          <a:xfrm>
            <a:off x="1417320" y="5769864"/>
            <a:ext cx="9875520" cy="384048"/>
          </a:xfrm>
          <a:prstGeom prst="rect">
            <a:avLst/>
          </a:prstGeom>
          <a:noFill/>
        </p:spPr>
        <p:txBody>
          <a:bodyPr wrap="square" lIns="36576" tIns="36576" rIns="36576" bIns="36576" anchor="t">
            <a:spAutoFit/>
          </a:bodyPr>
          <a:lstStyle/>
          <a:p>
            <a:pPr algn="l">
              <a:spcAft>
                <a:spcPts val="0"/>
              </a:spcAft>
            </a:pPr>
            <a:r>
              <a:rPr sz="1300" b="1">
                <a:solidFill>
                  <a:srgbClr val="233A59"/>
                </a:solidFill>
              </a:rPr>
              <a:t>Each step names a FortiGate state or packet change that can be checked directly; stop when the failed step is identified.</a:t>
            </a: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p:nvPr/>
        </p:nvSpPr>
        <p:spPr>
          <a:xfrm>
            <a:off x="502920" y="411480"/>
            <a:ext cx="548640" cy="189283"/>
          </a:xfrm>
          <a:prstGeom prst="rect">
            <a:avLst/>
          </a:prstGeom>
          <a:noFill/>
        </p:spPr>
        <p:txBody>
          <a:bodyPr wrap="square" lIns="36576" tIns="36576" rIns="36576" bIns="36576" anchor="t">
            <a:spAutoFit/>
          </a:bodyPr>
          <a:lstStyle/>
          <a:p>
            <a:pPr algn="l">
              <a:spcAft>
                <a:spcPts val="0"/>
              </a:spcAft>
            </a:pPr>
            <a:r>
              <a:rPr lang="en-HU" sz="750" b="1">
                <a:solidFill>
                  <a:srgbClr val="687385"/>
                </a:solidFill>
              </a:rPr>
              <a:t>145</a:t>
            </a:r>
            <a:endParaRPr sz="750" b="1">
              <a:solidFill>
                <a:srgbClr val="687385"/>
              </a:solidFill>
            </a:endParaRPr>
          </a:p>
        </p:txBody>
      </p:sp>
      <p:sp>
        <p:nvSpPr>
          <p:cNvPr id="4" name="TextBox 3"/>
          <p:cNvSpPr txBox="1"/>
          <p:nvPr/>
        </p:nvSpPr>
        <p:spPr>
          <a:xfrm>
            <a:off x="502920" y="621792"/>
            <a:ext cx="11109960" cy="548640"/>
          </a:xfrm>
          <a:prstGeom prst="rect">
            <a:avLst/>
          </a:prstGeom>
          <a:noFill/>
        </p:spPr>
        <p:txBody>
          <a:bodyPr wrap="square" lIns="36576" tIns="36576" rIns="36576" bIns="36576" anchor="t">
            <a:spAutoFit/>
          </a:bodyPr>
          <a:lstStyle/>
          <a:p>
            <a:pPr algn="l">
              <a:spcAft>
                <a:spcPts val="0"/>
              </a:spcAft>
            </a:pPr>
            <a:r>
              <a:rPr sz="2600" b="1">
                <a:solidFill>
                  <a:srgbClr val="1E2B40"/>
                </a:solidFill>
              </a:rPr>
              <a:t>Common mistakes—and how to correct them</a:t>
            </a:r>
          </a:p>
        </p:txBody>
      </p:sp>
      <p:cxnSp>
        <p:nvCxnSpPr>
          <p:cNvPr id="5" name="Connector 4"/>
          <p:cNvCxnSpPr/>
          <p:nvPr/>
        </p:nvCxnSpPr>
        <p:spPr>
          <a:xfrm>
            <a:off x="502920" y="6473952"/>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109960" y="6537960"/>
            <a:ext cx="502920" cy="189283"/>
          </a:xfrm>
          <a:prstGeom prst="rect">
            <a:avLst/>
          </a:prstGeom>
          <a:noFill/>
        </p:spPr>
        <p:txBody>
          <a:bodyPr wrap="square" lIns="36576" tIns="36576" rIns="36576" bIns="36576" anchor="t">
            <a:spAutoFit/>
          </a:bodyPr>
          <a:lstStyle/>
          <a:p>
            <a:pPr algn="r">
              <a:spcAft>
                <a:spcPts val="0"/>
              </a:spcAft>
            </a:pPr>
            <a:r>
              <a:rPr lang="en-HU" sz="750" b="0">
                <a:solidFill>
                  <a:srgbClr val="687385"/>
                </a:solidFill>
              </a:rPr>
              <a:t>145</a:t>
            </a:r>
            <a:endParaRPr sz="750" b="0">
              <a:solidFill>
                <a:srgbClr val="687385"/>
              </a:solidFill>
            </a:endParaRPr>
          </a:p>
        </p:txBody>
      </p:sp>
      <p:sp>
        <p:nvSpPr>
          <p:cNvPr id="7" name="TextBox 6"/>
          <p:cNvSpPr txBox="1">
            <a:spLocks/>
          </p:cNvSpPr>
          <p:nvPr/>
        </p:nvSpPr>
        <p:spPr>
          <a:xfrm>
            <a:off x="685800" y="1417320"/>
            <a:ext cx="3291840" cy="243143"/>
          </a:xfrm>
          <a:prstGeom prst="rect">
            <a:avLst/>
          </a:prstGeom>
          <a:noFill/>
        </p:spPr>
        <p:txBody>
          <a:bodyPr wrap="square" lIns="36576" tIns="36576" rIns="36576" bIns="36576" anchor="t">
            <a:spAutoFit/>
          </a:bodyPr>
          <a:lstStyle/>
          <a:p>
            <a:pPr algn="l">
              <a:spcAft>
                <a:spcPts val="0"/>
              </a:spcAft>
            </a:pPr>
            <a:r>
              <a:rPr lang="en-GB" sz="1100" b="1">
                <a:solidFill>
                  <a:srgbClr val="E60012"/>
                </a:solidFill>
              </a:rPr>
              <a:t>MISTAKE</a:t>
            </a:r>
          </a:p>
        </p:txBody>
      </p:sp>
      <p:sp>
        <p:nvSpPr>
          <p:cNvPr id="8" name="TextBox 7"/>
          <p:cNvSpPr txBox="1">
            <a:spLocks/>
          </p:cNvSpPr>
          <p:nvPr/>
        </p:nvSpPr>
        <p:spPr>
          <a:xfrm>
            <a:off x="4160520" y="1417320"/>
            <a:ext cx="7040880" cy="243143"/>
          </a:xfrm>
          <a:prstGeom prst="rect">
            <a:avLst/>
          </a:prstGeom>
          <a:noFill/>
        </p:spPr>
        <p:txBody>
          <a:bodyPr wrap="square" lIns="36576" tIns="36576" rIns="36576" bIns="36576" anchor="t">
            <a:spAutoFit/>
          </a:bodyPr>
          <a:lstStyle/>
          <a:p>
            <a:pPr algn="l">
              <a:spcAft>
                <a:spcPts val="0"/>
              </a:spcAft>
            </a:pPr>
            <a:r>
              <a:rPr lang="en-GB" sz="1100" b="1">
                <a:solidFill>
                  <a:srgbClr val="E60012"/>
                </a:solidFill>
              </a:rPr>
              <a:t>CORRECTION — AND WHY IT HELPS</a:t>
            </a:r>
          </a:p>
        </p:txBody>
      </p:sp>
      <p:sp>
        <p:nvSpPr>
          <p:cNvPr id="9" name="TextBox 8"/>
          <p:cNvSpPr txBox="1">
            <a:spLocks/>
          </p:cNvSpPr>
          <p:nvPr/>
        </p:nvSpPr>
        <p:spPr>
          <a:xfrm>
            <a:off x="685800" y="1783080"/>
            <a:ext cx="3108960" cy="566309"/>
          </a:xfrm>
          <a:prstGeom prst="rect">
            <a:avLst/>
          </a:prstGeom>
          <a:noFill/>
        </p:spPr>
        <p:txBody>
          <a:bodyPr wrap="square" lIns="36576" tIns="36576" rIns="36576" bIns="36576" anchor="t">
            <a:spAutoFit/>
          </a:bodyPr>
          <a:lstStyle/>
          <a:p>
            <a:pPr algn="l">
              <a:spcAft>
                <a:spcPts val="0"/>
              </a:spcAft>
            </a:pPr>
            <a:r>
              <a:rPr lang="en-GB" sz="1600" b="1">
                <a:solidFill>
                  <a:srgbClr val="1E2B40"/>
                </a:solidFill>
              </a:rPr>
              <a:t>Assume installed FortiClient is EMS-managed</a:t>
            </a:r>
          </a:p>
        </p:txBody>
      </p:sp>
      <p:cxnSp>
        <p:nvCxnSpPr>
          <p:cNvPr id="10" name="Connector 9"/>
          <p:cNvCxnSpPr/>
          <p:nvPr/>
        </p:nvCxnSpPr>
        <p:spPr>
          <a:xfrm>
            <a:off x="3931920" y="1737360"/>
            <a:ext cx="0" cy="96012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251960" y="1783080"/>
            <a:ext cx="6903720" cy="822960"/>
          </a:xfrm>
          <a:prstGeom prst="rect">
            <a:avLst/>
          </a:prstGeom>
          <a:noFill/>
        </p:spPr>
        <p:txBody>
          <a:bodyPr wrap="square" lIns="36576" tIns="36576" rIns="36576" bIns="36576" anchor="t">
            <a:spAutoFit/>
          </a:bodyPr>
          <a:lstStyle/>
          <a:p>
            <a:pPr algn="l">
              <a:spcAft>
                <a:spcPts val="0"/>
              </a:spcAft>
            </a:pPr>
            <a:r>
              <a:rPr sz="1600" b="0">
                <a:solidFill>
                  <a:srgbClr val="233A59"/>
                </a:solidFill>
              </a:rPr>
              <a:t>Check the EMS connection and assigned profile; installation alone is not centralized management.</a:t>
            </a:r>
          </a:p>
        </p:txBody>
      </p:sp>
      <p:cxnSp>
        <p:nvCxnSpPr>
          <p:cNvPr id="12" name="Connector 11"/>
          <p:cNvCxnSpPr/>
          <p:nvPr/>
        </p:nvCxnSpPr>
        <p:spPr>
          <a:xfrm>
            <a:off x="685800" y="2834639"/>
            <a:ext cx="10469880"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85800" y="3081528"/>
            <a:ext cx="3108960" cy="566309"/>
          </a:xfrm>
          <a:prstGeom prst="rect">
            <a:avLst/>
          </a:prstGeom>
          <a:noFill/>
        </p:spPr>
        <p:txBody>
          <a:bodyPr wrap="square" lIns="36576" tIns="36576" rIns="36576" bIns="36576" anchor="t">
            <a:spAutoFit/>
          </a:bodyPr>
          <a:lstStyle/>
          <a:p>
            <a:pPr algn="l">
              <a:spcAft>
                <a:spcPts val="0"/>
              </a:spcAft>
            </a:pPr>
            <a:r>
              <a:rPr lang="en-GB" sz="1600" b="1">
                <a:solidFill>
                  <a:srgbClr val="1E2B40"/>
                </a:solidFill>
              </a:rPr>
              <a:t>Treat EMS and Intune as equivalent</a:t>
            </a:r>
          </a:p>
        </p:txBody>
      </p:sp>
      <p:cxnSp>
        <p:nvCxnSpPr>
          <p:cNvPr id="14" name="Connector 13"/>
          <p:cNvCxnSpPr/>
          <p:nvPr/>
        </p:nvCxnSpPr>
        <p:spPr>
          <a:xfrm>
            <a:off x="3931920" y="3035808"/>
            <a:ext cx="0" cy="96012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251960" y="3081528"/>
            <a:ext cx="6903720" cy="566309"/>
          </a:xfrm>
          <a:prstGeom prst="rect">
            <a:avLst/>
          </a:prstGeom>
          <a:noFill/>
        </p:spPr>
        <p:txBody>
          <a:bodyPr wrap="square" lIns="36576" tIns="36576" rIns="36576" bIns="36576" anchor="t">
            <a:spAutoFit/>
          </a:bodyPr>
          <a:lstStyle/>
          <a:p>
            <a:pPr algn="l">
              <a:spcAft>
                <a:spcPts val="0"/>
              </a:spcAft>
            </a:pPr>
            <a:r>
              <a:rPr lang="en-GB" sz="1600" b="0">
                <a:solidFill>
                  <a:srgbClr val="233A59"/>
                </a:solidFill>
              </a:rPr>
              <a:t>Assign each requirement to the product that supports it; they overlap only for selected endpoint tasks.</a:t>
            </a:r>
          </a:p>
        </p:txBody>
      </p:sp>
      <p:cxnSp>
        <p:nvCxnSpPr>
          <p:cNvPr id="16" name="Connector 15"/>
          <p:cNvCxnSpPr/>
          <p:nvPr/>
        </p:nvCxnSpPr>
        <p:spPr>
          <a:xfrm>
            <a:off x="685800" y="4133087"/>
            <a:ext cx="10469880"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85800" y="4379976"/>
            <a:ext cx="3108960" cy="320088"/>
          </a:xfrm>
          <a:prstGeom prst="rect">
            <a:avLst/>
          </a:prstGeom>
          <a:noFill/>
        </p:spPr>
        <p:txBody>
          <a:bodyPr wrap="square" lIns="36576" tIns="36576" rIns="36576" bIns="36576" anchor="t">
            <a:spAutoFit/>
          </a:bodyPr>
          <a:lstStyle/>
          <a:p>
            <a:pPr algn="l">
              <a:spcAft>
                <a:spcPts val="0"/>
              </a:spcAft>
            </a:pPr>
            <a:r>
              <a:rPr lang="en-GB" sz="1600" b="1">
                <a:solidFill>
                  <a:srgbClr val="1E2B40"/>
                </a:solidFill>
              </a:rPr>
              <a:t>Troubleshoot only FortiGate</a:t>
            </a:r>
          </a:p>
        </p:txBody>
      </p:sp>
      <p:cxnSp>
        <p:nvCxnSpPr>
          <p:cNvPr id="18" name="Connector 17"/>
          <p:cNvCxnSpPr/>
          <p:nvPr/>
        </p:nvCxnSpPr>
        <p:spPr>
          <a:xfrm>
            <a:off x="3931920" y="4334256"/>
            <a:ext cx="0" cy="96012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251960" y="4379976"/>
            <a:ext cx="6903720" cy="822960"/>
          </a:xfrm>
          <a:prstGeom prst="rect">
            <a:avLst/>
          </a:prstGeom>
          <a:noFill/>
        </p:spPr>
        <p:txBody>
          <a:bodyPr wrap="square" lIns="36576" tIns="36576" rIns="36576" bIns="36576" anchor="t">
            <a:spAutoFit/>
          </a:bodyPr>
          <a:lstStyle/>
          <a:p>
            <a:pPr algn="l">
              <a:spcAft>
                <a:spcPts val="0"/>
              </a:spcAft>
            </a:pPr>
            <a:r>
              <a:rPr sz="1600" b="0">
                <a:solidFill>
                  <a:srgbClr val="233A59"/>
                </a:solidFill>
              </a:rPr>
              <a:t>Correlate client logs, endpoint routes/DNS, EMS profile and FortiGate session state.</a:t>
            </a:r>
          </a:p>
        </p:txBody>
      </p:sp>
      <p:cxnSp>
        <p:nvCxnSpPr>
          <p:cNvPr id="20" name="Connector 19"/>
          <p:cNvCxnSpPr/>
          <p:nvPr/>
        </p:nvCxnSpPr>
        <p:spPr>
          <a:xfrm>
            <a:off x="685800" y="5431536"/>
            <a:ext cx="10469880"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58368" y="5833872"/>
            <a:ext cx="731520" cy="182880"/>
          </a:xfrm>
          <a:prstGeom prst="rect">
            <a:avLst/>
          </a:prstGeom>
          <a:noFill/>
        </p:spPr>
        <p:txBody>
          <a:bodyPr wrap="square" lIns="36576" tIns="36576" rIns="36576" bIns="36576" anchor="t">
            <a:spAutoFit/>
          </a:bodyPr>
          <a:lstStyle/>
          <a:p>
            <a:pPr algn="l">
              <a:spcAft>
                <a:spcPts val="0"/>
              </a:spcAft>
            </a:pPr>
            <a:r>
              <a:rPr sz="1000" b="1">
                <a:solidFill>
                  <a:srgbClr val="E60012"/>
                </a:solidFill>
              </a:rPr>
              <a:t>LESSON</a:t>
            </a:r>
          </a:p>
        </p:txBody>
      </p:sp>
      <p:sp>
        <p:nvSpPr>
          <p:cNvPr id="22" name="TextBox 21"/>
          <p:cNvSpPr txBox="1"/>
          <p:nvPr/>
        </p:nvSpPr>
        <p:spPr>
          <a:xfrm>
            <a:off x="1417320" y="5769864"/>
            <a:ext cx="9875520" cy="384048"/>
          </a:xfrm>
          <a:prstGeom prst="rect">
            <a:avLst/>
          </a:prstGeom>
          <a:noFill/>
        </p:spPr>
        <p:txBody>
          <a:bodyPr wrap="square" lIns="36576" tIns="36576" rIns="36576" bIns="36576" anchor="t">
            <a:spAutoFit/>
          </a:bodyPr>
          <a:lstStyle/>
          <a:p>
            <a:pPr algn="l">
              <a:spcAft>
                <a:spcPts val="0"/>
              </a:spcAft>
            </a:pPr>
            <a:r>
              <a:rPr sz="1300" b="1">
                <a:solidFill>
                  <a:srgbClr val="233A59"/>
                </a:solidFill>
              </a:rPr>
              <a:t>A correction changes a concrete configuration, test or interpretation—not merely the wording used to describe it.</a:t>
            </a: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146</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Troubleshooting workflow: narrow the failed decision</a:t>
            </a:r>
          </a:p>
        </p:txBody>
      </p:sp>
      <p:sp>
        <p:nvSpPr>
          <p:cNvPr id="10" name="Rectangle 9"/>
          <p:cNvSpPr/>
          <p:nvPr/>
        </p:nvSpPr>
        <p:spPr>
          <a:xfrm>
            <a:off x="658368"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1" name="TextBox 10"/>
          <p:cNvSpPr txBox="1">
            <a:spLocks/>
          </p:cNvSpPr>
          <p:nvPr/>
        </p:nvSpPr>
        <p:spPr>
          <a:xfrm>
            <a:off x="768096" y="2020824"/>
            <a:ext cx="411480" cy="219456"/>
          </a:xfrm>
          <a:prstGeom prst="rect">
            <a:avLst/>
          </a:prstGeom>
          <a:noFill/>
        </p:spPr>
        <p:txBody>
          <a:bodyPr wrap="square" lIns="27432" tIns="27432" rIns="27432" bIns="27432" anchor="t">
            <a:spAutoFit/>
          </a:bodyPr>
          <a:lstStyle/>
          <a:p>
            <a:pPr algn="l">
              <a:spcAft>
                <a:spcPts val="0"/>
              </a:spcAft>
            </a:pPr>
            <a:r>
              <a:rPr lang="en-HU" sz="1100" b="1">
                <a:solidFill>
                  <a:srgbClr val="E60012"/>
                </a:solidFill>
              </a:rPr>
              <a:t>01</a:t>
            </a:r>
          </a:p>
        </p:txBody>
      </p:sp>
      <p:sp>
        <p:nvSpPr>
          <p:cNvPr id="12" name="TextBox 11"/>
          <p:cNvSpPr txBox="1">
            <a:spLocks/>
          </p:cNvSpPr>
          <p:nvPr/>
        </p:nvSpPr>
        <p:spPr>
          <a:xfrm>
            <a:off x="768096" y="2340864"/>
            <a:ext cx="1830628" cy="603504"/>
          </a:xfrm>
          <a:prstGeom prst="rect">
            <a:avLst/>
          </a:prstGeom>
          <a:noFill/>
        </p:spPr>
        <p:txBody>
          <a:bodyPr wrap="square" lIns="27432" tIns="27432" rIns="27432" bIns="27432" anchor="ctr">
            <a:spAutoFit/>
          </a:bodyPr>
          <a:lstStyle/>
          <a:p>
            <a:pPr algn="ctr">
              <a:spcAft>
                <a:spcPts val="0"/>
              </a:spcAft>
            </a:pPr>
            <a:r>
              <a:rPr lang="en-GB" sz="1400" b="1">
                <a:solidFill>
                  <a:srgbClr val="1E2B40"/>
                </a:solidFill>
              </a:rPr>
              <a:t>Confirm endpoint OS/client/version/license</a:t>
            </a:r>
          </a:p>
        </p:txBody>
      </p:sp>
      <p:cxnSp>
        <p:nvCxnSpPr>
          <p:cNvPr id="13" name="Connector 12"/>
          <p:cNvCxnSpPr/>
          <p:nvPr/>
        </p:nvCxnSpPr>
        <p:spPr>
          <a:xfrm>
            <a:off x="2708452"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2854756"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5" name="TextBox 14"/>
          <p:cNvSpPr txBox="1">
            <a:spLocks/>
          </p:cNvSpPr>
          <p:nvPr/>
        </p:nvSpPr>
        <p:spPr>
          <a:xfrm>
            <a:off x="2964484" y="2020824"/>
            <a:ext cx="411480" cy="219456"/>
          </a:xfrm>
          <a:prstGeom prst="rect">
            <a:avLst/>
          </a:prstGeom>
          <a:noFill/>
        </p:spPr>
        <p:txBody>
          <a:bodyPr wrap="square" lIns="27432" tIns="27432" rIns="27432" bIns="27432" anchor="t">
            <a:spAutoFit/>
          </a:bodyPr>
          <a:lstStyle/>
          <a:p>
            <a:pPr algn="l">
              <a:spcAft>
                <a:spcPts val="0"/>
              </a:spcAft>
            </a:pPr>
            <a:r>
              <a:rPr lang="en-HU" sz="1100" b="1">
                <a:solidFill>
                  <a:srgbClr val="E60012"/>
                </a:solidFill>
              </a:rPr>
              <a:t>02</a:t>
            </a:r>
          </a:p>
        </p:txBody>
      </p:sp>
      <p:sp>
        <p:nvSpPr>
          <p:cNvPr id="16" name="TextBox 15"/>
          <p:cNvSpPr txBox="1">
            <a:spLocks/>
          </p:cNvSpPr>
          <p:nvPr/>
        </p:nvSpPr>
        <p:spPr>
          <a:xfrm>
            <a:off x="2964484" y="2340864"/>
            <a:ext cx="1830628" cy="603504"/>
          </a:xfrm>
          <a:prstGeom prst="rect">
            <a:avLst/>
          </a:prstGeom>
          <a:noFill/>
        </p:spPr>
        <p:txBody>
          <a:bodyPr wrap="square" lIns="27432" tIns="27432" rIns="27432" bIns="27432" anchor="ctr">
            <a:spAutoFit/>
          </a:bodyPr>
          <a:lstStyle/>
          <a:p>
            <a:pPr algn="ctr">
              <a:spcAft>
                <a:spcPts val="0"/>
              </a:spcAft>
            </a:pPr>
            <a:r>
              <a:rPr lang="en-GB" sz="1400" b="1">
                <a:solidFill>
                  <a:srgbClr val="1E2B40"/>
                </a:solidFill>
              </a:rPr>
              <a:t>Verify assigned profile and gateway reachability</a:t>
            </a:r>
          </a:p>
        </p:txBody>
      </p:sp>
      <p:cxnSp>
        <p:nvCxnSpPr>
          <p:cNvPr id="17" name="Connector 16"/>
          <p:cNvCxnSpPr/>
          <p:nvPr/>
        </p:nvCxnSpPr>
        <p:spPr>
          <a:xfrm>
            <a:off x="4904841"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5051145"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9" name="TextBox 18"/>
          <p:cNvSpPr txBox="1">
            <a:spLocks/>
          </p:cNvSpPr>
          <p:nvPr/>
        </p:nvSpPr>
        <p:spPr>
          <a:xfrm>
            <a:off x="5160873" y="2020824"/>
            <a:ext cx="411480" cy="219456"/>
          </a:xfrm>
          <a:prstGeom prst="rect">
            <a:avLst/>
          </a:prstGeom>
          <a:noFill/>
        </p:spPr>
        <p:txBody>
          <a:bodyPr wrap="square" lIns="27432" tIns="27432" rIns="27432" bIns="27432" anchor="t">
            <a:spAutoFit/>
          </a:bodyPr>
          <a:lstStyle/>
          <a:p>
            <a:pPr algn="l">
              <a:spcAft>
                <a:spcPts val="0"/>
              </a:spcAft>
            </a:pPr>
            <a:r>
              <a:rPr lang="en-HU" sz="1100" b="1">
                <a:solidFill>
                  <a:srgbClr val="E60012"/>
                </a:solidFill>
              </a:rPr>
              <a:t>03</a:t>
            </a:r>
          </a:p>
        </p:txBody>
      </p:sp>
      <p:sp>
        <p:nvSpPr>
          <p:cNvPr id="20" name="TextBox 19"/>
          <p:cNvSpPr txBox="1">
            <a:spLocks/>
          </p:cNvSpPr>
          <p:nvPr/>
        </p:nvSpPr>
        <p:spPr>
          <a:xfrm>
            <a:off x="5160873" y="2340864"/>
            <a:ext cx="1830628" cy="603504"/>
          </a:xfrm>
          <a:prstGeom prst="rect">
            <a:avLst/>
          </a:prstGeom>
          <a:noFill/>
        </p:spPr>
        <p:txBody>
          <a:bodyPr wrap="square" lIns="27432" tIns="27432" rIns="27432" bIns="27432" anchor="ctr">
            <a:spAutoFit/>
          </a:bodyPr>
          <a:lstStyle/>
          <a:p>
            <a:pPr algn="ctr">
              <a:spcAft>
                <a:spcPts val="0"/>
              </a:spcAft>
            </a:pPr>
            <a:r>
              <a:rPr lang="en-GB" sz="1400" b="1">
                <a:solidFill>
                  <a:srgbClr val="1E2B40"/>
                </a:solidFill>
              </a:rPr>
              <a:t>Check authentication/certificate trust</a:t>
            </a:r>
          </a:p>
        </p:txBody>
      </p:sp>
      <p:cxnSp>
        <p:nvCxnSpPr>
          <p:cNvPr id="21" name="Connector 20"/>
          <p:cNvCxnSpPr/>
          <p:nvPr/>
        </p:nvCxnSpPr>
        <p:spPr>
          <a:xfrm>
            <a:off x="7101230"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7247534"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23" name="TextBox 22"/>
          <p:cNvSpPr txBox="1">
            <a:spLocks/>
          </p:cNvSpPr>
          <p:nvPr/>
        </p:nvSpPr>
        <p:spPr>
          <a:xfrm>
            <a:off x="7357262" y="2020824"/>
            <a:ext cx="411480" cy="219456"/>
          </a:xfrm>
          <a:prstGeom prst="rect">
            <a:avLst/>
          </a:prstGeom>
          <a:noFill/>
        </p:spPr>
        <p:txBody>
          <a:bodyPr wrap="square" lIns="27432" tIns="27432" rIns="27432" bIns="27432" anchor="t">
            <a:spAutoFit/>
          </a:bodyPr>
          <a:lstStyle/>
          <a:p>
            <a:pPr algn="l">
              <a:spcAft>
                <a:spcPts val="0"/>
              </a:spcAft>
            </a:pPr>
            <a:r>
              <a:rPr lang="en-HU" sz="1100" b="1">
                <a:solidFill>
                  <a:srgbClr val="E60012"/>
                </a:solidFill>
              </a:rPr>
              <a:t>04</a:t>
            </a:r>
          </a:p>
        </p:txBody>
      </p:sp>
      <p:sp>
        <p:nvSpPr>
          <p:cNvPr id="24" name="TextBox 23"/>
          <p:cNvSpPr txBox="1">
            <a:spLocks/>
          </p:cNvSpPr>
          <p:nvPr/>
        </p:nvSpPr>
        <p:spPr>
          <a:xfrm>
            <a:off x="7357262" y="2340864"/>
            <a:ext cx="1830628" cy="603504"/>
          </a:xfrm>
          <a:prstGeom prst="rect">
            <a:avLst/>
          </a:prstGeom>
          <a:noFill/>
        </p:spPr>
        <p:txBody>
          <a:bodyPr wrap="square" lIns="27432" tIns="27432" rIns="27432" bIns="27432" anchor="ctr">
            <a:spAutoFit/>
          </a:bodyPr>
          <a:lstStyle/>
          <a:p>
            <a:pPr algn="ctr">
              <a:spcAft>
                <a:spcPts val="0"/>
              </a:spcAft>
            </a:pPr>
            <a:r>
              <a:rPr lang="en-GB" sz="1400" b="1">
                <a:solidFill>
                  <a:srgbClr val="1E2B40"/>
                </a:solidFill>
              </a:rPr>
              <a:t>Inspect client and EMS logs</a:t>
            </a:r>
          </a:p>
        </p:txBody>
      </p:sp>
      <p:cxnSp>
        <p:nvCxnSpPr>
          <p:cNvPr id="25" name="Connector 24"/>
          <p:cNvCxnSpPr/>
          <p:nvPr/>
        </p:nvCxnSpPr>
        <p:spPr>
          <a:xfrm>
            <a:off x="9297619"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9443923"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553651" y="2020824"/>
            <a:ext cx="411480" cy="219456"/>
          </a:xfrm>
          <a:prstGeom prst="rect">
            <a:avLst/>
          </a:prstGeom>
          <a:noFill/>
        </p:spPr>
        <p:txBody>
          <a:bodyPr wrap="square" lIns="27432" tIns="27432" rIns="27432" bIns="27432" anchor="t">
            <a:spAutoFit/>
          </a:bodyPr>
          <a:lstStyle/>
          <a:p>
            <a:pPr algn="l">
              <a:spcAft>
                <a:spcPts val="0"/>
              </a:spcAft>
            </a:pPr>
            <a:r>
              <a:rPr sz="1100" b="1">
                <a:solidFill>
                  <a:srgbClr val="E60012"/>
                </a:solidFill>
              </a:rPr>
              <a:t>05</a:t>
            </a:r>
          </a:p>
        </p:txBody>
      </p:sp>
      <p:sp>
        <p:nvSpPr>
          <p:cNvPr id="28" name="TextBox 27"/>
          <p:cNvSpPr txBox="1"/>
          <p:nvPr/>
        </p:nvSpPr>
        <p:spPr>
          <a:xfrm>
            <a:off x="9553651" y="2291751"/>
            <a:ext cx="1830628" cy="701731"/>
          </a:xfrm>
          <a:prstGeom prst="rect">
            <a:avLst/>
          </a:prstGeom>
          <a:noFill/>
        </p:spPr>
        <p:txBody>
          <a:bodyPr wrap="square" lIns="27432" tIns="27432" rIns="27432" bIns="27432" anchor="ctr">
            <a:spAutoFit/>
          </a:bodyPr>
          <a:lstStyle/>
          <a:p>
            <a:pPr algn="ctr">
              <a:spcAft>
                <a:spcPts val="0"/>
              </a:spcAft>
            </a:pPr>
            <a:r>
              <a:rPr sz="1400" b="1">
                <a:solidFill>
                  <a:srgbClr val="1E2B40"/>
                </a:solidFill>
              </a:rPr>
              <a:t>Correlate FortiGate VPN</a:t>
            </a:r>
            <a:r>
              <a:rPr lang="en-HU" sz="1400" b="1">
                <a:solidFill>
                  <a:srgbClr val="1E2B40"/>
                </a:solidFill>
              </a:rPr>
              <a:t>, </a:t>
            </a:r>
            <a:r>
              <a:rPr sz="1400" b="1">
                <a:solidFill>
                  <a:srgbClr val="1E2B40"/>
                </a:solidFill>
              </a:rPr>
              <a:t>policy</a:t>
            </a:r>
            <a:r>
              <a:rPr lang="en-GB" sz="1400" b="1">
                <a:solidFill>
                  <a:srgbClr val="1E2B40"/>
                </a:solidFill>
              </a:rPr>
              <a:t> and </a:t>
            </a:r>
            <a:r>
              <a:rPr sz="1400" b="1">
                <a:solidFill>
                  <a:srgbClr val="1E2B40"/>
                </a:solidFill>
              </a:rPr>
              <a:t>session </a:t>
            </a:r>
            <a:r>
              <a:rPr lang="en-GB" sz="1400" b="1">
                <a:solidFill>
                  <a:srgbClr val="1E2B40"/>
                </a:solidFill>
              </a:rPr>
              <a:t>state</a:t>
            </a:r>
            <a:endParaRPr sz="1400" b="1">
              <a:solidFill>
                <a:srgbClr val="1E2B40"/>
              </a:solidFill>
            </a:endParaRPr>
          </a:p>
        </p:txBody>
      </p:sp>
      <p:sp>
        <p:nvSpPr>
          <p:cNvPr id="29" name="TextBox 28"/>
          <p:cNvSpPr txBox="1"/>
          <p:nvPr/>
        </p:nvSpPr>
        <p:spPr>
          <a:xfrm>
            <a:off x="658368" y="3703320"/>
            <a:ext cx="2011680" cy="256032"/>
          </a:xfrm>
          <a:prstGeom prst="rect">
            <a:avLst/>
          </a:prstGeom>
          <a:noFill/>
        </p:spPr>
        <p:txBody>
          <a:bodyPr wrap="square" lIns="27432" tIns="27432" rIns="27432" bIns="27432" anchor="t">
            <a:spAutoFit/>
          </a:bodyPr>
          <a:lstStyle/>
          <a:p>
            <a:pPr algn="l">
              <a:spcAft>
                <a:spcPts val="0"/>
              </a:spcAft>
            </a:pPr>
            <a:r>
              <a:rPr sz="1100" b="1">
                <a:solidFill>
                  <a:srgbClr val="E60012"/>
                </a:solidFill>
              </a:rPr>
              <a:t>What to observe</a:t>
            </a:r>
          </a:p>
        </p:txBody>
      </p:sp>
      <p:sp>
        <p:nvSpPr>
          <p:cNvPr id="30" name="TextBox 29"/>
          <p:cNvSpPr txBox="1"/>
          <p:nvPr/>
        </p:nvSpPr>
        <p:spPr>
          <a:xfrm>
            <a:off x="658368" y="4050791"/>
            <a:ext cx="6446520" cy="1095108"/>
          </a:xfrm>
          <a:prstGeom prst="rect">
            <a:avLst/>
          </a:prstGeom>
          <a:noFill/>
        </p:spPr>
        <p:txBody>
          <a:bodyPr wrap="square" lIns="109728" tIns="73152" rIns="109728" bIns="73152" anchor="t">
            <a:spAutoFit/>
          </a:bodyPr>
          <a:lstStyle/>
          <a:p>
            <a:pPr algn="l">
              <a:lnSpc>
                <a:spcPct val="105000"/>
              </a:lnSpc>
              <a:spcAft>
                <a:spcPts val="700"/>
              </a:spcAft>
              <a:defRPr sz="1600">
                <a:solidFill>
                  <a:srgbClr val="1E2B40"/>
                </a:solidFill>
              </a:defRPr>
            </a:pPr>
            <a:r>
              <a:t>• Check authentication/certificate trust</a:t>
            </a:r>
          </a:p>
          <a:p>
            <a:pPr>
              <a:lnSpc>
                <a:spcPct val="105000"/>
              </a:lnSpc>
              <a:spcAft>
                <a:spcPts val="700"/>
              </a:spcAft>
              <a:defRPr sz="1600">
                <a:solidFill>
                  <a:srgbClr val="1E2B40"/>
                </a:solidFill>
              </a:defRPr>
            </a:pPr>
            <a:r>
              <a:t>• Inspect client and EMS logs</a:t>
            </a:r>
          </a:p>
          <a:p>
            <a:pPr>
              <a:lnSpc>
                <a:spcPct val="105000"/>
              </a:lnSpc>
              <a:spcAft>
                <a:spcPts val="700"/>
              </a:spcAft>
              <a:defRPr sz="1600">
                <a:solidFill>
                  <a:srgbClr val="1E2B40"/>
                </a:solidFill>
              </a:defRPr>
            </a:pPr>
            <a:r>
              <a:t>• Correlate FortiGate VPN</a:t>
            </a:r>
            <a:r>
              <a:rPr lang="en-HU"/>
              <a:t>, </a:t>
            </a:r>
            <a:r>
              <a:t>policy</a:t>
            </a:r>
            <a:r>
              <a:rPr lang="en-GB"/>
              <a:t> and </a:t>
            </a:r>
            <a:r>
              <a:t>session </a:t>
            </a:r>
            <a:r>
              <a:rPr lang="en-GB"/>
              <a:t>state</a:t>
            </a:r>
            <a:endParaRPr/>
          </a:p>
        </p:txBody>
      </p:sp>
      <p:cxnSp>
        <p:nvCxnSpPr>
          <p:cNvPr id="31" name="Connector 30"/>
          <p:cNvCxnSpPr/>
          <p:nvPr/>
        </p:nvCxnSpPr>
        <p:spPr>
          <a:xfrm>
            <a:off x="7452360" y="3703320"/>
            <a:ext cx="0" cy="2093976"/>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7772400" y="3703320"/>
            <a:ext cx="292608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INSTRUCTOR DEMONSTRATION</a:t>
            </a:r>
            <a:endParaRPr sz="1100" b="1">
              <a:solidFill>
                <a:srgbClr val="E60012"/>
              </a:solidFill>
            </a:endParaRPr>
          </a:p>
        </p:txBody>
      </p:sp>
      <p:sp>
        <p:nvSpPr>
          <p:cNvPr id="33" name="TextBox 32"/>
          <p:cNvSpPr txBox="1"/>
          <p:nvPr/>
        </p:nvSpPr>
        <p:spPr>
          <a:xfrm>
            <a:off x="7772400" y="4096512"/>
            <a:ext cx="3337560" cy="1234440"/>
          </a:xfrm>
          <a:prstGeom prst="rect">
            <a:avLst/>
          </a:prstGeom>
          <a:noFill/>
        </p:spPr>
        <p:txBody>
          <a:bodyPr wrap="square" lIns="27432" tIns="27432" rIns="27432" bIns="27432" anchor="t">
            <a:spAutoFit/>
          </a:bodyPr>
          <a:lstStyle/>
          <a:p>
            <a:pPr algn="l">
              <a:spcAft>
                <a:spcPts val="0"/>
              </a:spcAft>
            </a:pPr>
            <a:r>
              <a:rPr sz="1500" b="1">
                <a:solidFill>
                  <a:srgbClr val="233A59"/>
                </a:solidFill>
              </a:rPr>
              <a:t>Preserve timestamps and before/after state; stop/reset debug operations.</a:t>
            </a:r>
          </a:p>
        </p:txBody>
      </p:sp>
      <p:sp>
        <p:nvSpPr>
          <p:cNvPr id="34" name="TextBox 33"/>
          <p:cNvSpPr txBox="1"/>
          <p:nvPr/>
        </p:nvSpPr>
        <p:spPr>
          <a:xfrm>
            <a:off x="7772400" y="5440680"/>
            <a:ext cx="3337560" cy="363176"/>
          </a:xfrm>
          <a:prstGeom prst="rect">
            <a:avLst/>
          </a:prstGeom>
          <a:noFill/>
        </p:spPr>
        <p:txBody>
          <a:bodyPr wrap="square" lIns="27432" tIns="27432" rIns="27432" bIns="27432" anchor="t">
            <a:spAutoFit/>
          </a:bodyPr>
          <a:lstStyle/>
          <a:p>
            <a:pPr algn="l">
              <a:spcAft>
                <a:spcPts val="0"/>
              </a:spcAft>
            </a:pPr>
            <a:r>
              <a:rPr lang="en-GB" sz="1000" b="0">
                <a:solidFill>
                  <a:srgbClr val="687385"/>
                </a:solidFill>
              </a:rPr>
              <a:t>If debug is used, filter by the test tuple and disable</a:t>
            </a:r>
            <a:r>
              <a:rPr sz="1000" b="0">
                <a:solidFill>
                  <a:srgbClr val="687385"/>
                </a:solidFill>
              </a:rPr>
              <a:t>/reset </a:t>
            </a:r>
            <a:r>
              <a:rPr lang="en-GB" sz="1000" b="0">
                <a:solidFill>
                  <a:srgbClr val="687385"/>
                </a:solidFill>
              </a:rPr>
              <a:t>it immediately </a:t>
            </a:r>
            <a:r>
              <a:rPr sz="1000" b="0">
                <a:solidFill>
                  <a:srgbClr val="687385"/>
                </a:solidFill>
              </a:rPr>
              <a:t>after </a:t>
            </a:r>
            <a:r>
              <a:rPr lang="en-GB" sz="1000" b="0">
                <a:solidFill>
                  <a:srgbClr val="687385"/>
                </a:solidFill>
              </a:rPr>
              <a:t>capture</a:t>
            </a:r>
            <a:r>
              <a:rPr sz="1000" b="0">
                <a:solidFill>
                  <a:srgbClr val="687385"/>
                </a:solidFill>
              </a:rPr>
              <a:t>.</a:t>
            </a:r>
          </a:p>
        </p:txBody>
      </p:sp>
      <p:sp>
        <p:nvSpPr>
          <p:cNvPr id="35" name="TextBox 34"/>
          <p:cNvSpPr txBox="1"/>
          <p:nvPr/>
        </p:nvSpPr>
        <p:spPr>
          <a:xfrm>
            <a:off x="502920" y="420624"/>
            <a:ext cx="10744200" cy="130805"/>
          </a:xfrm>
          <a:prstGeom prst="rect">
            <a:avLst/>
          </a:prstGeom>
          <a:noFill/>
        </p:spPr>
        <p:txBody>
          <a:bodyPr wrap="square" lIns="0" tIns="0" rIns="0" bIns="0">
            <a:spAutoFit/>
          </a:bodyPr>
          <a:lstStyle/>
          <a:p>
            <a:pPr algn="l"/>
            <a:r>
              <a:rPr lang="en-HU" sz="850" b="1">
                <a:solidFill>
                  <a:srgbClr val="687385"/>
                </a:solidFill>
              </a:rPr>
              <a:t>146</a:t>
            </a:r>
            <a:r>
              <a:rPr sz="850" b="1">
                <a:solidFill>
                  <a:srgbClr val="687385"/>
                </a:solidFill>
              </a:rPr>
              <a:t> • DAY 4 • BLOCK 13 • FortiClient &amp; EMS</a:t>
            </a: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147</a:t>
            </a:r>
          </a:p>
        </p:txBody>
      </p:sp>
      <p:sp>
        <p:nvSpPr>
          <p:cNvPr id="9" name="TextBox 8"/>
          <p:cNvSpPr txBox="1">
            <a:spLocks/>
          </p:cNvSpPr>
          <p:nvPr/>
        </p:nvSpPr>
        <p:spPr>
          <a:xfrm>
            <a:off x="502920" y="621792"/>
            <a:ext cx="11109960" cy="455509"/>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Practical handoff: FortiClient / EMS Architecture Exercise</a:t>
            </a:r>
          </a:p>
        </p:txBody>
      </p:sp>
      <p:sp>
        <p:nvSpPr>
          <p:cNvPr id="10" name="TextBox 9"/>
          <p:cNvSpPr txBox="1">
            <a:spLocks/>
          </p:cNvSpPr>
          <p:nvPr/>
        </p:nvSpPr>
        <p:spPr>
          <a:xfrm>
            <a:off x="658368" y="1554480"/>
            <a:ext cx="6583680" cy="3571427"/>
          </a:xfrm>
          <a:prstGeom prst="rect">
            <a:avLst/>
          </a:prstGeom>
          <a:noFill/>
        </p:spPr>
        <p:txBody>
          <a:bodyPr wrap="square" lIns="109728" tIns="73152" rIns="109728" bIns="73152" anchor="t">
            <a:spAutoFit/>
          </a:bodyPr>
          <a:lstStyle/>
          <a:p>
            <a:pPr algn="l">
              <a:lnSpc>
                <a:spcPct val="105000"/>
              </a:lnSpc>
              <a:spcAft>
                <a:spcPts val="800"/>
              </a:spcAft>
              <a:defRPr sz="1700">
                <a:solidFill>
                  <a:srgbClr val="1E2B40"/>
                </a:solidFill>
              </a:defRPr>
            </a:pPr>
            <a:r>
              <a:rPr lang="en-GB"/>
              <a:t>• START / PREREQUISITES: No EMS is assumed. Instructor provides architecture artefacts; live tenant/client only if built and licensed.</a:t>
            </a:r>
          </a:p>
          <a:p>
            <a:pPr>
              <a:lnSpc>
                <a:spcPct val="105000"/>
              </a:lnSpc>
              <a:spcAft>
                <a:spcPts val="800"/>
              </a:spcAft>
              <a:defRPr sz="1700">
                <a:solidFill>
                  <a:srgbClr val="1E2B40"/>
                </a:solidFill>
              </a:defRPr>
            </a:pPr>
            <a:r>
              <a:rPr lang="en-GB"/>
              <a:t>• CHANGE / INVESTIGATE: Map endpoint, FortiClient, EMS and FortiGate responsibilities; optionally observe profile assignment and logs.</a:t>
            </a:r>
          </a:p>
          <a:p>
            <a:pPr>
              <a:lnSpc>
                <a:spcPct val="105000"/>
              </a:lnSpc>
              <a:spcAft>
                <a:spcPts val="800"/>
              </a:spcAft>
              <a:defRPr sz="1700">
                <a:solidFill>
                  <a:srgbClr val="1E2B40"/>
                </a:solidFill>
              </a:defRPr>
            </a:pPr>
            <a:r>
              <a:rPr lang="en-GB"/>
              <a:t>• EXPECTED RESULT: Learners locate policy, telemetry, VPN and certificate-trust decisions in the correct component.</a:t>
            </a:r>
          </a:p>
          <a:p>
            <a:pPr>
              <a:lnSpc>
                <a:spcPct val="105000"/>
              </a:lnSpc>
              <a:spcAft>
                <a:spcPts val="800"/>
              </a:spcAft>
              <a:defRPr sz="1700">
                <a:solidFill>
                  <a:srgbClr val="1E2B40"/>
                </a:solidFill>
              </a:defRPr>
            </a:pPr>
            <a:r>
              <a:rPr lang="en-GB"/>
              <a:t>• CLEANUP / RESET: Remove demo profile/client artefacts only; no student pod change is required.</a:t>
            </a:r>
          </a:p>
          <a:p>
            <a:pPr>
              <a:lnSpc>
                <a:spcPct val="105000"/>
              </a:lnSpc>
              <a:spcAft>
                <a:spcPts val="800"/>
              </a:spcAft>
              <a:defRPr sz="1700">
                <a:solidFill>
                  <a:srgbClr val="1E2B40"/>
                </a:solidFill>
              </a:defRPr>
            </a:pPr>
            <a:r>
              <a:rPr lang="en-GB"/>
              <a:t>• DELIVERY: Theory plus optional instructor demonstration; conceptual architecture exercise by default.</a:t>
            </a:r>
          </a:p>
        </p:txBody>
      </p:sp>
      <p:cxnSp>
        <p:nvCxnSpPr>
          <p:cNvPr id="11" name="Connector 10"/>
          <p:cNvCxnSpPr/>
          <p:nvPr/>
        </p:nvCxnSpPr>
        <p:spPr>
          <a:xfrm>
            <a:off x="7452360" y="1600200"/>
            <a:ext cx="0" cy="434340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7790688" y="1627632"/>
            <a:ext cx="342900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PLANNED EXERCISE</a:t>
            </a:r>
          </a:p>
        </p:txBody>
      </p:sp>
      <p:sp>
        <p:nvSpPr>
          <p:cNvPr id="13" name="TextBox 12"/>
          <p:cNvSpPr txBox="1">
            <a:spLocks/>
          </p:cNvSpPr>
          <p:nvPr/>
        </p:nvSpPr>
        <p:spPr>
          <a:xfrm>
            <a:off x="7790688" y="2057400"/>
            <a:ext cx="3337560" cy="1101840"/>
          </a:xfrm>
          <a:prstGeom prst="rect">
            <a:avLst/>
          </a:prstGeom>
          <a:noFill/>
        </p:spPr>
        <p:txBody>
          <a:bodyPr wrap="square" lIns="27432" tIns="27432" rIns="27432" bIns="27432" anchor="t">
            <a:spAutoFit/>
          </a:bodyPr>
          <a:lstStyle/>
          <a:p>
            <a:pPr algn="l">
              <a:spcAft>
                <a:spcPts val="0"/>
              </a:spcAft>
            </a:pPr>
            <a:r>
              <a:rPr lang="en-GB" sz="1700" b="1">
                <a:solidFill>
                  <a:srgbClr val="233A59"/>
                </a:solidFill>
              </a:rPr>
              <a:t>Map endpoint, FortiClient, EMS and FortiGate responsibilities; optionally observe profile assignment and logs.</a:t>
            </a:r>
          </a:p>
        </p:txBody>
      </p:sp>
      <p:sp>
        <p:nvSpPr>
          <p:cNvPr id="14" name="TextBox 13"/>
          <p:cNvSpPr txBox="1">
            <a:spLocks/>
          </p:cNvSpPr>
          <p:nvPr/>
        </p:nvSpPr>
        <p:spPr>
          <a:xfrm>
            <a:off x="7790688" y="3822191"/>
            <a:ext cx="18288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EXPECTED RESULT</a:t>
            </a:r>
          </a:p>
        </p:txBody>
      </p:sp>
      <p:sp>
        <p:nvSpPr>
          <p:cNvPr id="15" name="TextBox 14"/>
          <p:cNvSpPr txBox="1">
            <a:spLocks/>
          </p:cNvSpPr>
          <p:nvPr/>
        </p:nvSpPr>
        <p:spPr>
          <a:xfrm>
            <a:off x="7790688" y="4187952"/>
            <a:ext cx="3337560" cy="747897"/>
          </a:xfrm>
          <a:prstGeom prst="rect">
            <a:avLst/>
          </a:prstGeom>
          <a:noFill/>
        </p:spPr>
        <p:txBody>
          <a:bodyPr wrap="square" lIns="27432" tIns="27432" rIns="27432" bIns="27432" anchor="t">
            <a:spAutoFit/>
          </a:bodyPr>
          <a:lstStyle/>
          <a:p>
            <a:pPr algn="l">
              <a:spcAft>
                <a:spcPts val="0"/>
              </a:spcAft>
            </a:pPr>
            <a:r>
              <a:rPr lang="en-GB" sz="1500" b="0">
                <a:solidFill>
                  <a:srgbClr val="1E2B40"/>
                </a:solidFill>
              </a:rPr>
              <a:t>Learners locate policy, telemetry, VPN and certificate-trust decisions in the correct component.</a:t>
            </a:r>
          </a:p>
        </p:txBody>
      </p:sp>
      <p:sp>
        <p:nvSpPr>
          <p:cNvPr id="16" name="TextBox 15"/>
          <p:cNvSpPr txBox="1">
            <a:spLocks/>
          </p:cNvSpPr>
          <p:nvPr/>
        </p:nvSpPr>
        <p:spPr>
          <a:xfrm>
            <a:off x="7790688" y="5559552"/>
            <a:ext cx="1097280" cy="209288"/>
          </a:xfrm>
          <a:prstGeom prst="rect">
            <a:avLst/>
          </a:prstGeom>
          <a:noFill/>
        </p:spPr>
        <p:txBody>
          <a:bodyPr wrap="square" lIns="27432" tIns="27432" rIns="27432" bIns="27432" anchor="t">
            <a:spAutoFit/>
          </a:bodyPr>
          <a:lstStyle/>
          <a:p>
            <a:pPr algn="l">
              <a:spcAft>
                <a:spcPts val="0"/>
              </a:spcAft>
            </a:pPr>
            <a:r>
              <a:rPr lang="en-GB" sz="1000" b="1">
                <a:solidFill>
                  <a:srgbClr val="687385"/>
                </a:solidFill>
              </a:rPr>
              <a:t>DELIVERY MODE</a:t>
            </a:r>
          </a:p>
        </p:txBody>
      </p:sp>
      <p:sp>
        <p:nvSpPr>
          <p:cNvPr id="17" name="TextBox 16"/>
          <p:cNvSpPr txBox="1">
            <a:spLocks/>
          </p:cNvSpPr>
          <p:nvPr/>
        </p:nvSpPr>
        <p:spPr>
          <a:xfrm>
            <a:off x="8942832" y="5504688"/>
            <a:ext cx="2258568" cy="270843"/>
          </a:xfrm>
          <a:prstGeom prst="rect">
            <a:avLst/>
          </a:prstGeom>
          <a:noFill/>
        </p:spPr>
        <p:txBody>
          <a:bodyPr wrap="square" lIns="27432" tIns="27432" rIns="27432" bIns="27432" anchor="t">
            <a:spAutoFit/>
          </a:bodyPr>
          <a:lstStyle/>
          <a:p>
            <a:pPr algn="r">
              <a:spcAft>
                <a:spcPts val="0"/>
              </a:spcAft>
            </a:pPr>
            <a:r>
              <a:rPr lang="en-GB" sz="1400" b="0">
                <a:solidFill>
                  <a:srgbClr val="687385"/>
                </a:solidFill>
              </a:rPr>
              <a:t>Theory plus optional demo</a:t>
            </a:r>
          </a:p>
        </p:txBody>
      </p:sp>
      <p:sp>
        <p:nvSpPr>
          <p:cNvPr id="18" name="TextBox 17"/>
          <p:cNvSpPr txBox="1">
            <a:spLocks/>
          </p:cNvSpPr>
          <p:nvPr/>
        </p:nvSpPr>
        <p:spPr>
          <a:xfrm>
            <a:off x="502920" y="420624"/>
            <a:ext cx="10744200" cy="130805"/>
          </a:xfrm>
          <a:prstGeom prst="rect">
            <a:avLst/>
          </a:prstGeom>
          <a:noFill/>
        </p:spPr>
        <p:txBody>
          <a:bodyPr wrap="square" lIns="0" tIns="0" rIns="0" bIns="0">
            <a:spAutoFit/>
          </a:bodyPr>
          <a:lstStyle/>
          <a:p>
            <a:pPr algn="l"/>
            <a:r>
              <a:rPr lang="en-GB" sz="850" b="1">
                <a:solidFill>
                  <a:srgbClr val="687385"/>
                </a:solidFill>
              </a:rPr>
              <a:t>147 • DAY 4 • BLOCK 13 • FortiClient &amp; EMS</a:t>
            </a: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148</a:t>
            </a:r>
          </a:p>
        </p:txBody>
      </p:sp>
      <p:sp>
        <p:nvSpPr>
          <p:cNvPr id="9" name="TextBox 8"/>
          <p:cNvSpPr txBox="1">
            <a:spLocks/>
          </p:cNvSpPr>
          <p:nvPr/>
        </p:nvSpPr>
        <p:spPr>
          <a:xfrm>
            <a:off x="502920" y="621792"/>
            <a:ext cx="11109960" cy="455509"/>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Knowledge check — explain the result</a:t>
            </a:r>
          </a:p>
        </p:txBody>
      </p:sp>
      <p:sp>
        <p:nvSpPr>
          <p:cNvPr id="10" name="TextBox 9"/>
          <p:cNvSpPr txBox="1">
            <a:spLocks/>
          </p:cNvSpPr>
          <p:nvPr/>
        </p:nvSpPr>
        <p:spPr>
          <a:xfrm>
            <a:off x="658368" y="1600200"/>
            <a:ext cx="5312664" cy="292608"/>
          </a:xfrm>
          <a:prstGeom prst="rect">
            <a:avLst/>
          </a:prstGeom>
          <a:noFill/>
        </p:spPr>
        <p:txBody>
          <a:bodyPr wrap="square" lIns="27432" tIns="27432" rIns="27432" bIns="27432" anchor="t">
            <a:spAutoFit/>
          </a:bodyPr>
          <a:lstStyle/>
          <a:p>
            <a:pPr algn="l">
              <a:spcAft>
                <a:spcPts val="0"/>
              </a:spcAft>
            </a:pPr>
            <a:r>
              <a:rPr lang="en-GB" sz="1300" b="1">
                <a:solidFill>
                  <a:srgbClr val="E60012"/>
                </a:solidFill>
              </a:rPr>
              <a:t>QUESTION 1</a:t>
            </a:r>
          </a:p>
        </p:txBody>
      </p:sp>
      <p:cxnSp>
        <p:nvCxnSpPr>
          <p:cNvPr id="11" name="Connector 10"/>
          <p:cNvCxnSpPr/>
          <p:nvPr/>
        </p:nvCxnSpPr>
        <p:spPr>
          <a:xfrm>
            <a:off x="658368" y="1984248"/>
            <a:ext cx="5312664" cy="0"/>
          </a:xfrm>
          <a:prstGeom prst="line">
            <a:avLst/>
          </a:prstGeom>
          <a:ln w="22860">
            <a:solidFill>
              <a:srgbClr val="E60012"/>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658368" y="2176272"/>
            <a:ext cx="5312664" cy="3337560"/>
          </a:xfrm>
          <a:prstGeom prst="rect">
            <a:avLst/>
          </a:prstGeom>
          <a:noFill/>
        </p:spPr>
        <p:txBody>
          <a:bodyPr wrap="square" lIns="109728" tIns="73152" rIns="109728" bIns="73152" anchor="t">
            <a:spAutoFit/>
          </a:bodyPr>
          <a:lstStyle/>
          <a:p>
            <a:pPr algn="l">
              <a:lnSpc>
                <a:spcPct val="105000"/>
              </a:lnSpc>
              <a:spcAft>
                <a:spcPts val="800"/>
              </a:spcAft>
              <a:defRPr sz="1600">
                <a:solidFill>
                  <a:srgbClr val="1E2B40"/>
                </a:solidFill>
              </a:defRPr>
            </a:pPr>
            <a:r>
              <a:rPr lang="en-GB"/>
              <a:t>• When can EMS and Intune coexist?</a:t>
            </a:r>
          </a:p>
        </p:txBody>
      </p:sp>
      <p:sp>
        <p:nvSpPr>
          <p:cNvPr id="13" name="TextBox 12"/>
          <p:cNvSpPr txBox="1">
            <a:spLocks/>
          </p:cNvSpPr>
          <p:nvPr/>
        </p:nvSpPr>
        <p:spPr>
          <a:xfrm>
            <a:off x="6227064" y="1600200"/>
            <a:ext cx="5312664" cy="292608"/>
          </a:xfrm>
          <a:prstGeom prst="rect">
            <a:avLst/>
          </a:prstGeom>
          <a:noFill/>
        </p:spPr>
        <p:txBody>
          <a:bodyPr wrap="square" lIns="27432" tIns="27432" rIns="27432" bIns="27432" anchor="t">
            <a:spAutoFit/>
          </a:bodyPr>
          <a:lstStyle/>
          <a:p>
            <a:pPr algn="l">
              <a:spcAft>
                <a:spcPts val="0"/>
              </a:spcAft>
            </a:pPr>
            <a:r>
              <a:rPr lang="en-GB" sz="1300" b="1">
                <a:solidFill>
                  <a:srgbClr val="E60012"/>
                </a:solidFill>
              </a:rPr>
              <a:t>QUESTION 2</a:t>
            </a:r>
          </a:p>
        </p:txBody>
      </p:sp>
      <p:cxnSp>
        <p:nvCxnSpPr>
          <p:cNvPr id="14" name="Connector 13"/>
          <p:cNvCxnSpPr/>
          <p:nvPr/>
        </p:nvCxnSpPr>
        <p:spPr>
          <a:xfrm>
            <a:off x="6227064" y="1984248"/>
            <a:ext cx="5312664" cy="0"/>
          </a:xfrm>
          <a:prstGeom prst="line">
            <a:avLst/>
          </a:prstGeom>
          <a:ln w="22860">
            <a:solidFill>
              <a:srgbClr val="E60012"/>
            </a:solidFill>
          </a:ln>
        </p:spPr>
        <p:style>
          <a:lnRef idx="2">
            <a:schemeClr val="accent1"/>
          </a:lnRef>
          <a:fillRef idx="0">
            <a:schemeClr val="accent1"/>
          </a:fillRef>
          <a:effectRef idx="1">
            <a:schemeClr val="accent1"/>
          </a:effectRef>
          <a:fontRef idx="minor">
            <a:schemeClr val="tx1"/>
          </a:fontRef>
        </p:style>
      </p:cxnSp>
      <p:sp>
        <p:nvSpPr>
          <p:cNvPr id="15" name="TextBox 14"/>
          <p:cNvSpPr txBox="1">
            <a:spLocks/>
          </p:cNvSpPr>
          <p:nvPr/>
        </p:nvSpPr>
        <p:spPr>
          <a:xfrm>
            <a:off x="6227064" y="2176272"/>
            <a:ext cx="5312664" cy="3337560"/>
          </a:xfrm>
          <a:prstGeom prst="rect">
            <a:avLst/>
          </a:prstGeom>
          <a:noFill/>
        </p:spPr>
        <p:txBody>
          <a:bodyPr wrap="square" lIns="109728" tIns="73152" rIns="109728" bIns="73152" anchor="t">
            <a:spAutoFit/>
          </a:bodyPr>
          <a:lstStyle/>
          <a:p>
            <a:pPr algn="l">
              <a:lnSpc>
                <a:spcPct val="105000"/>
              </a:lnSpc>
              <a:spcAft>
                <a:spcPts val="800"/>
              </a:spcAft>
              <a:defRPr sz="1600">
                <a:solidFill>
                  <a:srgbClr val="1E2B40"/>
                </a:solidFill>
              </a:defRPr>
            </a:pPr>
            <a:r>
              <a:rPr lang="en-GB"/>
              <a:t>• What does FortiClient “connected” fail to prove?</a:t>
            </a:r>
          </a:p>
        </p:txBody>
      </p:sp>
      <p:sp>
        <p:nvSpPr>
          <p:cNvPr id="16" name="TextBox 15"/>
          <p:cNvSpPr txBox="1">
            <a:spLocks/>
          </p:cNvSpPr>
          <p:nvPr/>
        </p:nvSpPr>
        <p:spPr>
          <a:xfrm>
            <a:off x="658368" y="5724144"/>
            <a:ext cx="1234440" cy="224677"/>
          </a:xfrm>
          <a:prstGeom prst="rect">
            <a:avLst/>
          </a:prstGeom>
          <a:noFill/>
        </p:spPr>
        <p:txBody>
          <a:bodyPr wrap="square" lIns="27432" tIns="27432" rIns="27432" bIns="27432" anchor="t">
            <a:spAutoFit/>
          </a:bodyPr>
          <a:lstStyle/>
          <a:p>
            <a:pPr algn="l">
              <a:spcAft>
                <a:spcPts val="0"/>
              </a:spcAft>
            </a:pPr>
            <a:r>
              <a:rPr lang="en-GB" sz="1100" b="1">
                <a:solidFill>
                  <a:srgbClr val="233A59"/>
                </a:solidFill>
              </a:rPr>
              <a:t>KEY DISTINCTION</a:t>
            </a:r>
          </a:p>
        </p:txBody>
      </p:sp>
      <p:sp>
        <p:nvSpPr>
          <p:cNvPr id="17" name="TextBox 16"/>
          <p:cNvSpPr txBox="1">
            <a:spLocks/>
          </p:cNvSpPr>
          <p:nvPr/>
        </p:nvSpPr>
        <p:spPr>
          <a:xfrm>
            <a:off x="1920240" y="5687568"/>
            <a:ext cx="9235440" cy="329184"/>
          </a:xfrm>
          <a:prstGeom prst="rect">
            <a:avLst/>
          </a:prstGeom>
          <a:noFill/>
        </p:spPr>
        <p:txBody>
          <a:bodyPr wrap="square" lIns="27432" tIns="27432" rIns="27432" bIns="27432" anchor="t">
            <a:spAutoFit/>
          </a:bodyPr>
          <a:lstStyle/>
          <a:p>
            <a:pPr algn="l">
              <a:spcAft>
                <a:spcPts val="0"/>
              </a:spcAft>
            </a:pPr>
            <a:r>
              <a:rPr lang="en-GB" sz="1400" b="1">
                <a:solidFill>
                  <a:srgbClr val="233A59"/>
                </a:solidFill>
              </a:rPr>
              <a:t>Answers and teaching rationale are in speaker notes.</a:t>
            </a:r>
          </a:p>
        </p:txBody>
      </p:sp>
      <p:sp>
        <p:nvSpPr>
          <p:cNvPr id="18" name="TextBox 17"/>
          <p:cNvSpPr txBox="1">
            <a:spLocks/>
          </p:cNvSpPr>
          <p:nvPr/>
        </p:nvSpPr>
        <p:spPr>
          <a:xfrm>
            <a:off x="502920" y="420624"/>
            <a:ext cx="10744200" cy="130805"/>
          </a:xfrm>
          <a:prstGeom prst="rect">
            <a:avLst/>
          </a:prstGeom>
          <a:noFill/>
        </p:spPr>
        <p:txBody>
          <a:bodyPr wrap="square" lIns="0" tIns="0" rIns="0" bIns="0">
            <a:spAutoFit/>
          </a:bodyPr>
          <a:lstStyle/>
          <a:p>
            <a:pPr algn="l"/>
            <a:r>
              <a:rPr lang="en-GB" sz="850" b="1">
                <a:solidFill>
                  <a:srgbClr val="687385"/>
                </a:solidFill>
              </a:rPr>
              <a:t>148 • DAY 4 • BLOCK 13 • FortiClient &amp; EMS</a:t>
            </a: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bg>
      <p:bgPr>
        <a:solidFill>
          <a:srgbClr val="101827"/>
        </a:solidFill>
        <a:effectLst/>
      </p:bgPr>
    </p:bg>
    <p:spTree>
      <p:nvGrpSpPr>
        <p:cNvPr id="1" name=""/>
        <p:cNvGrpSpPr/>
        <p:nvPr/>
      </p:nvGrpSpPr>
      <p:grpSpPr>
        <a:xfrm>
          <a:off x="0" y="0"/>
          <a:ext cx="1" cy="1"/>
          <a:chOff x="0" y="0"/>
          <a:chExt cx="1" cy="1"/>
        </a:xfrm>
      </p:grpSpPr>
      <p:sp>
        <p:nvSpPr>
          <p:cNvPr id="2" name="Rectangle 1"/>
          <p:cNvSpPr/>
          <p:nvPr/>
        </p:nvSpPr>
        <p:spPr>
          <a:xfrm>
            <a:off x="0" y="0"/>
            <a:ext cx="146304" cy="6858000"/>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a:spLocks/>
          </p:cNvSpPr>
          <p:nvPr/>
        </p:nvSpPr>
        <p:spPr>
          <a:xfrm>
            <a:off x="658368" y="566928"/>
            <a:ext cx="5212080" cy="256032"/>
          </a:xfrm>
          <a:prstGeom prst="rect">
            <a:avLst/>
          </a:prstGeom>
          <a:noFill/>
        </p:spPr>
        <p:txBody>
          <a:bodyPr wrap="square" lIns="27432" tIns="27432" rIns="27432" bIns="27432" anchor="t">
            <a:spAutoFit/>
          </a:bodyPr>
          <a:lstStyle/>
          <a:p>
            <a:pPr algn="l">
              <a:spcAft>
                <a:spcPts val="0"/>
              </a:spcAft>
            </a:pPr>
            <a:r>
              <a:rPr lang="en-GB" sz="1400" b="1">
                <a:solidFill>
                  <a:srgbClr val="E60012"/>
                </a:solidFill>
              </a:rPr>
              <a:t>DAY 4  •  10:30–12:00</a:t>
            </a:r>
          </a:p>
        </p:txBody>
      </p:sp>
      <p:sp>
        <p:nvSpPr>
          <p:cNvPr id="4" name="TextBox 3"/>
          <p:cNvSpPr txBox="1">
            <a:spLocks/>
          </p:cNvSpPr>
          <p:nvPr/>
        </p:nvSpPr>
        <p:spPr>
          <a:xfrm>
            <a:off x="658368" y="1097280"/>
            <a:ext cx="10515600" cy="914400"/>
          </a:xfrm>
          <a:prstGeom prst="rect">
            <a:avLst/>
          </a:prstGeom>
          <a:noFill/>
        </p:spPr>
        <p:txBody>
          <a:bodyPr wrap="square" lIns="27432" tIns="27432" rIns="27432" bIns="27432" anchor="t">
            <a:spAutoFit/>
          </a:bodyPr>
          <a:lstStyle/>
          <a:p>
            <a:pPr algn="l">
              <a:spcAft>
                <a:spcPts val="0"/>
              </a:spcAft>
            </a:pPr>
            <a:r>
              <a:rPr lang="en-GB" sz="3400" b="1">
                <a:solidFill>
                  <a:srgbClr val="FFFFFF"/>
                </a:solidFill>
              </a:rPr>
              <a:t>FortiGate High Availability Fundamentals</a:t>
            </a:r>
          </a:p>
        </p:txBody>
      </p:sp>
      <p:sp>
        <p:nvSpPr>
          <p:cNvPr id="5" name="TextBox 4"/>
          <p:cNvSpPr txBox="1">
            <a:spLocks/>
          </p:cNvSpPr>
          <p:nvPr/>
        </p:nvSpPr>
        <p:spPr>
          <a:xfrm>
            <a:off x="676656" y="2084831"/>
            <a:ext cx="8686800" cy="320040"/>
          </a:xfrm>
          <a:prstGeom prst="rect">
            <a:avLst/>
          </a:prstGeom>
          <a:noFill/>
        </p:spPr>
        <p:txBody>
          <a:bodyPr wrap="square" lIns="27432" tIns="27432" rIns="27432" bIns="27432" anchor="t">
            <a:spAutoFit/>
          </a:bodyPr>
          <a:lstStyle/>
          <a:p>
            <a:pPr algn="l">
              <a:spcAft>
                <a:spcPts val="0"/>
              </a:spcAft>
            </a:pPr>
            <a:r>
              <a:rPr lang="en-GB" sz="1500" b="0">
                <a:solidFill>
                  <a:srgbClr val="C9D1DD"/>
                </a:solidFill>
              </a:rPr>
              <a:t>Advanced • Day 2 of 2</a:t>
            </a:r>
          </a:p>
        </p:txBody>
      </p:sp>
      <p:cxnSp>
        <p:nvCxnSpPr>
          <p:cNvPr id="6" name="Connector 5"/>
          <p:cNvCxnSpPr/>
          <p:nvPr/>
        </p:nvCxnSpPr>
        <p:spPr>
          <a:xfrm>
            <a:off x="676656" y="2578608"/>
            <a:ext cx="10616184" cy="0"/>
          </a:xfrm>
          <a:prstGeom prst="line">
            <a:avLst/>
          </a:prstGeom>
          <a:ln w="12700">
            <a:solidFill>
              <a:srgbClr val="40516A"/>
            </a:solidFill>
          </a:ln>
        </p:spPr>
        <p:style>
          <a:lnRef idx="2">
            <a:schemeClr val="accent1"/>
          </a:lnRef>
          <a:fillRef idx="0">
            <a:schemeClr val="accent1"/>
          </a:fillRef>
          <a:effectRef idx="1">
            <a:schemeClr val="accent1"/>
          </a:effectRef>
          <a:fontRef idx="minor">
            <a:schemeClr val="tx1"/>
          </a:fontRef>
        </p:style>
      </p:cxnSp>
      <p:sp>
        <p:nvSpPr>
          <p:cNvPr id="7" name="TextBox 6"/>
          <p:cNvSpPr txBox="1">
            <a:spLocks/>
          </p:cNvSpPr>
          <p:nvPr/>
        </p:nvSpPr>
        <p:spPr>
          <a:xfrm>
            <a:off x="685800" y="2889504"/>
            <a:ext cx="27432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LEARNING OBJECTIVES</a:t>
            </a:r>
          </a:p>
        </p:txBody>
      </p:sp>
      <p:sp>
        <p:nvSpPr>
          <p:cNvPr id="8" name="TextBox 7"/>
          <p:cNvSpPr txBox="1">
            <a:spLocks/>
          </p:cNvSpPr>
          <p:nvPr/>
        </p:nvSpPr>
        <p:spPr>
          <a:xfrm>
            <a:off x="685800" y="3218688"/>
            <a:ext cx="6035040" cy="2057400"/>
          </a:xfrm>
          <a:prstGeom prst="rect">
            <a:avLst/>
          </a:prstGeom>
          <a:noFill/>
        </p:spPr>
        <p:txBody>
          <a:bodyPr wrap="square" lIns="109728" tIns="73152" rIns="109728" bIns="73152" anchor="t">
            <a:spAutoFit/>
          </a:bodyPr>
          <a:lstStyle/>
          <a:p>
            <a:pPr algn="l">
              <a:lnSpc>
                <a:spcPct val="105000"/>
              </a:lnSpc>
              <a:spcAft>
                <a:spcPts val="700"/>
              </a:spcAft>
              <a:defRPr sz="1700">
                <a:solidFill>
                  <a:srgbClr val="FFFFFF"/>
                </a:solidFill>
              </a:defRPr>
            </a:pPr>
            <a:r>
              <a:rPr lang="en-GB"/>
              <a:t>• Explain FGCP prerequisites, heartbeat, election and synchronization</a:t>
            </a:r>
          </a:p>
          <a:p>
            <a:pPr>
              <a:lnSpc>
                <a:spcPct val="105000"/>
              </a:lnSpc>
              <a:spcAft>
                <a:spcPts val="700"/>
              </a:spcAft>
              <a:defRPr sz="1700">
                <a:solidFill>
                  <a:srgbClr val="FFFFFF"/>
                </a:solidFill>
              </a:defRPr>
            </a:pPr>
            <a:r>
              <a:rPr lang="en-GB"/>
              <a:t>• Trace Active-Passive failover and session impact</a:t>
            </a:r>
          </a:p>
          <a:p>
            <a:pPr>
              <a:lnSpc>
                <a:spcPct val="105000"/>
              </a:lnSpc>
              <a:spcAft>
                <a:spcPts val="700"/>
              </a:spcAft>
              <a:defRPr sz="1700">
                <a:solidFill>
                  <a:srgbClr val="FFFFFF"/>
                </a:solidFill>
              </a:defRPr>
            </a:pPr>
            <a:r>
              <a:rPr lang="en-GB"/>
              <a:t>• Separate appliance HA demonstration from cloud HA designs</a:t>
            </a:r>
          </a:p>
        </p:txBody>
      </p:sp>
      <p:sp>
        <p:nvSpPr>
          <p:cNvPr id="9" name="TextBox 8"/>
          <p:cNvSpPr txBox="1">
            <a:spLocks/>
          </p:cNvSpPr>
          <p:nvPr/>
        </p:nvSpPr>
        <p:spPr>
          <a:xfrm>
            <a:off x="7315200" y="2889504"/>
            <a:ext cx="36576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PREREQUISITES + PRACTICE RESERVE</a:t>
            </a:r>
          </a:p>
        </p:txBody>
      </p:sp>
      <p:sp>
        <p:nvSpPr>
          <p:cNvPr id="10" name="TextBox 9"/>
          <p:cNvSpPr txBox="1">
            <a:spLocks/>
          </p:cNvSpPr>
          <p:nvPr/>
        </p:nvSpPr>
        <p:spPr>
          <a:xfrm>
            <a:off x="7315200" y="3218688"/>
            <a:ext cx="3886200" cy="1263808"/>
          </a:xfrm>
          <a:prstGeom prst="rect">
            <a:avLst/>
          </a:prstGeom>
          <a:noFill/>
        </p:spPr>
        <p:txBody>
          <a:bodyPr wrap="square" lIns="109728" tIns="73152" rIns="109728" bIns="73152" anchor="t">
            <a:spAutoFit/>
          </a:bodyPr>
          <a:lstStyle/>
          <a:p>
            <a:pPr algn="l">
              <a:lnSpc>
                <a:spcPct val="105000"/>
              </a:lnSpc>
              <a:spcAft>
                <a:spcPts val="600"/>
              </a:spcAft>
              <a:defRPr sz="1500">
                <a:solidFill>
                  <a:srgbClr val="FFFFFF"/>
                </a:solidFill>
              </a:defRPr>
            </a:pPr>
            <a:r>
              <a:rPr lang="en-GB"/>
              <a:t>• Base lab: one FortiGate per student</a:t>
            </a:r>
          </a:p>
          <a:p>
            <a:pPr>
              <a:lnSpc>
                <a:spcPct val="105000"/>
              </a:lnSpc>
              <a:spcAft>
                <a:spcPts val="600"/>
              </a:spcAft>
              <a:defRPr sz="1500">
                <a:solidFill>
                  <a:srgbClr val="FFFFFF"/>
                </a:solidFill>
              </a:defRPr>
            </a:pPr>
            <a:r>
              <a:rPr lang="en-GB"/>
              <a:t>• Dedicated instructor HA pair only if built</a:t>
            </a:r>
          </a:p>
          <a:p>
            <a:pPr>
              <a:lnSpc>
                <a:spcPct val="105000"/>
              </a:lnSpc>
              <a:spcAft>
                <a:spcPts val="600"/>
              </a:spcAft>
              <a:defRPr sz="1500">
                <a:solidFill>
                  <a:srgbClr val="FFFFFF"/>
                </a:solidFill>
              </a:defRPr>
            </a:pPr>
            <a:r>
              <a:rPr lang="en-GB"/>
              <a:t>• Otherwise use the supplied event/configuration analysis</a:t>
            </a:r>
          </a:p>
        </p:txBody>
      </p:sp>
      <p:sp>
        <p:nvSpPr>
          <p:cNvPr id="11" name="TextBox 10"/>
          <p:cNvSpPr txBox="1">
            <a:spLocks/>
          </p:cNvSpPr>
          <p:nvPr/>
        </p:nvSpPr>
        <p:spPr>
          <a:xfrm>
            <a:off x="7315200" y="5074920"/>
            <a:ext cx="3931920" cy="502920"/>
          </a:xfrm>
          <a:prstGeom prst="rect">
            <a:avLst/>
          </a:prstGeom>
          <a:noFill/>
        </p:spPr>
        <p:txBody>
          <a:bodyPr wrap="square" lIns="27432" tIns="27432" rIns="27432" bIns="27432" anchor="t">
            <a:spAutoFit/>
          </a:bodyPr>
          <a:lstStyle/>
          <a:p>
            <a:pPr algn="l">
              <a:spcAft>
                <a:spcPts val="0"/>
              </a:spcAft>
            </a:pPr>
            <a:r>
              <a:rPr lang="en-GB" sz="1400" b="1">
                <a:solidFill>
                  <a:srgbClr val="D8E0EA"/>
                </a:solidFill>
              </a:rPr>
              <a:t>Teach ~58 min • reserve ~32 min for guided activity, discussion and debrief</a:t>
            </a:r>
          </a:p>
        </p:txBody>
      </p:sp>
      <p:sp>
        <p:nvSpPr>
          <p:cNvPr id="12" name="TextBox 11"/>
          <p:cNvSpPr txBox="1">
            <a:spLocks/>
          </p:cNvSpPr>
          <p:nvPr/>
        </p:nvSpPr>
        <p:spPr>
          <a:xfrm>
            <a:off x="10424160" y="5715000"/>
            <a:ext cx="731520" cy="363176"/>
          </a:xfrm>
          <a:prstGeom prst="rect">
            <a:avLst/>
          </a:prstGeom>
          <a:noFill/>
        </p:spPr>
        <p:txBody>
          <a:bodyPr wrap="square" lIns="27432" tIns="27432" rIns="27432" bIns="27432" anchor="t">
            <a:spAutoFit/>
          </a:bodyPr>
          <a:lstStyle/>
          <a:p>
            <a:pPr algn="r">
              <a:spcAft>
                <a:spcPts val="0"/>
              </a:spcAft>
            </a:pPr>
            <a:r>
              <a:rPr lang="en-HU" sz="2000" b="1">
                <a:solidFill>
                  <a:srgbClr val="E60012"/>
                </a:solidFill>
              </a:rPr>
              <a:t>149</a:t>
            </a: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p:nvPr/>
        </p:nvSpPr>
        <p:spPr>
          <a:xfrm>
            <a:off x="502920" y="411480"/>
            <a:ext cx="548640" cy="189283"/>
          </a:xfrm>
          <a:prstGeom prst="rect">
            <a:avLst/>
          </a:prstGeom>
          <a:noFill/>
        </p:spPr>
        <p:txBody>
          <a:bodyPr wrap="square" lIns="36576" tIns="36576" rIns="36576" bIns="36576" anchor="t">
            <a:spAutoFit/>
          </a:bodyPr>
          <a:lstStyle/>
          <a:p>
            <a:pPr algn="l">
              <a:spcAft>
                <a:spcPts val="0"/>
              </a:spcAft>
            </a:pPr>
            <a:r>
              <a:rPr lang="en-HU" sz="750" b="1">
                <a:solidFill>
                  <a:srgbClr val="687385"/>
                </a:solidFill>
              </a:rPr>
              <a:t>150</a:t>
            </a:r>
            <a:endParaRPr sz="750" b="1">
              <a:solidFill>
                <a:srgbClr val="687385"/>
              </a:solidFill>
            </a:endParaRPr>
          </a:p>
        </p:txBody>
      </p:sp>
      <p:sp>
        <p:nvSpPr>
          <p:cNvPr id="4" name="TextBox 3"/>
          <p:cNvSpPr txBox="1"/>
          <p:nvPr/>
        </p:nvSpPr>
        <p:spPr>
          <a:xfrm>
            <a:off x="502920" y="621792"/>
            <a:ext cx="11109960" cy="548640"/>
          </a:xfrm>
          <a:prstGeom prst="rect">
            <a:avLst/>
          </a:prstGeom>
          <a:noFill/>
        </p:spPr>
        <p:txBody>
          <a:bodyPr wrap="square" lIns="36576" tIns="36576" rIns="36576" bIns="36576" anchor="t">
            <a:spAutoFit/>
          </a:bodyPr>
          <a:lstStyle/>
          <a:p>
            <a:pPr algn="l">
              <a:spcAft>
                <a:spcPts val="0"/>
              </a:spcAft>
            </a:pPr>
            <a:r>
              <a:rPr sz="2600" b="1">
                <a:solidFill>
                  <a:srgbClr val="1E2B40"/>
                </a:solidFill>
              </a:rPr>
              <a:t>Active/passive HA synchronizes state before a controlled failover</a:t>
            </a:r>
          </a:p>
        </p:txBody>
      </p:sp>
      <p:sp>
        <p:nvSpPr>
          <p:cNvPr id="5" name="TextBox 4"/>
          <p:cNvSpPr txBox="1"/>
          <p:nvPr/>
        </p:nvSpPr>
        <p:spPr>
          <a:xfrm>
            <a:off x="521207" y="1143000"/>
            <a:ext cx="10789920" cy="274320"/>
          </a:xfrm>
          <a:prstGeom prst="rect">
            <a:avLst/>
          </a:prstGeom>
          <a:noFill/>
        </p:spPr>
        <p:txBody>
          <a:bodyPr wrap="square" lIns="36576" tIns="36576" rIns="36576" bIns="36576" anchor="t">
            <a:spAutoFit/>
          </a:bodyPr>
          <a:lstStyle/>
          <a:p>
            <a:pPr algn="l">
              <a:spcAft>
                <a:spcPts val="0"/>
              </a:spcAft>
            </a:pPr>
            <a:r>
              <a:rPr sz="1100" b="0">
                <a:solidFill>
                  <a:srgbClr val="687385"/>
                </a:solidFill>
              </a:rPr>
              <a:t>Physical appliance concepts shown; Azure deployment mechanics require the Fortinet Azure design</a:t>
            </a:r>
          </a:p>
        </p:txBody>
      </p:sp>
      <p:cxnSp>
        <p:nvCxnSpPr>
          <p:cNvPr id="6" name="Connector 5"/>
          <p:cNvCxnSpPr/>
          <p:nvPr/>
        </p:nvCxnSpPr>
        <p:spPr>
          <a:xfrm>
            <a:off x="502920" y="6473952"/>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7" name="TextBox 6"/>
          <p:cNvSpPr txBox="1">
            <a:spLocks/>
          </p:cNvSpPr>
          <p:nvPr/>
        </p:nvSpPr>
        <p:spPr>
          <a:xfrm>
            <a:off x="11109960" y="6537960"/>
            <a:ext cx="502920" cy="189283"/>
          </a:xfrm>
          <a:prstGeom prst="rect">
            <a:avLst/>
          </a:prstGeom>
          <a:noFill/>
        </p:spPr>
        <p:txBody>
          <a:bodyPr wrap="square" lIns="36576" tIns="36576" rIns="36576" bIns="36576" anchor="t">
            <a:spAutoFit/>
          </a:bodyPr>
          <a:lstStyle/>
          <a:p>
            <a:pPr algn="r">
              <a:spcAft>
                <a:spcPts val="0"/>
              </a:spcAft>
            </a:pPr>
            <a:r>
              <a:rPr lang="en-HU" sz="750" b="0">
                <a:solidFill>
                  <a:srgbClr val="687385"/>
                </a:solidFill>
              </a:rPr>
              <a:t>150</a:t>
            </a:r>
          </a:p>
        </p:txBody>
      </p:sp>
      <p:sp>
        <p:nvSpPr>
          <p:cNvPr id="8" name="Rectangle 7"/>
          <p:cNvSpPr>
            <a:spLocks/>
          </p:cNvSpPr>
          <p:nvPr/>
        </p:nvSpPr>
        <p:spPr>
          <a:xfrm>
            <a:off x="685800" y="1828800"/>
            <a:ext cx="2057400"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9" name="TextBox 8"/>
          <p:cNvSpPr txBox="1">
            <a:spLocks/>
          </p:cNvSpPr>
          <p:nvPr/>
        </p:nvSpPr>
        <p:spPr>
          <a:xfrm>
            <a:off x="758952" y="1947672"/>
            <a:ext cx="1911095" cy="304699"/>
          </a:xfrm>
          <a:prstGeom prst="rect">
            <a:avLst/>
          </a:prstGeom>
          <a:noFill/>
        </p:spPr>
        <p:txBody>
          <a:bodyPr wrap="square" lIns="36576" tIns="36576" rIns="36576" bIns="36576" anchor="t">
            <a:spAutoFit/>
          </a:bodyPr>
          <a:lstStyle/>
          <a:p>
            <a:pPr algn="ctr">
              <a:spcAft>
                <a:spcPts val="0"/>
              </a:spcAft>
            </a:pPr>
            <a:r>
              <a:rPr lang="en-GB" sz="1500" b="1">
                <a:solidFill>
                  <a:srgbClr val="FFFFFF"/>
                </a:solidFill>
              </a:rPr>
              <a:t>PRIMARY</a:t>
            </a:r>
          </a:p>
        </p:txBody>
      </p:sp>
      <p:sp>
        <p:nvSpPr>
          <p:cNvPr id="10" name="TextBox 9"/>
          <p:cNvSpPr txBox="1">
            <a:spLocks/>
          </p:cNvSpPr>
          <p:nvPr/>
        </p:nvSpPr>
        <p:spPr>
          <a:xfrm>
            <a:off x="758952" y="2304288"/>
            <a:ext cx="1911095" cy="310896"/>
          </a:xfrm>
          <a:prstGeom prst="rect">
            <a:avLst/>
          </a:prstGeom>
          <a:noFill/>
        </p:spPr>
        <p:txBody>
          <a:bodyPr wrap="square" lIns="36576" tIns="36576" rIns="36576" bIns="36576" anchor="t">
            <a:spAutoFit/>
          </a:bodyPr>
          <a:lstStyle/>
          <a:p>
            <a:pPr algn="ctr">
              <a:spcAft>
                <a:spcPts val="0"/>
              </a:spcAft>
            </a:pPr>
            <a:r>
              <a:rPr lang="en-GB" sz="1000" b="0">
                <a:solidFill>
                  <a:srgbClr val="D8E0EA"/>
                </a:solidFill>
              </a:rPr>
              <a:t>forwarding traffic</a:t>
            </a:r>
          </a:p>
        </p:txBody>
      </p:sp>
      <p:sp>
        <p:nvSpPr>
          <p:cNvPr id="11" name="Rectangle 10"/>
          <p:cNvSpPr>
            <a:spLocks/>
          </p:cNvSpPr>
          <p:nvPr/>
        </p:nvSpPr>
        <p:spPr>
          <a:xfrm>
            <a:off x="685800" y="3977639"/>
            <a:ext cx="2057400"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2" name="TextBox 11"/>
          <p:cNvSpPr txBox="1"/>
          <p:nvPr/>
        </p:nvSpPr>
        <p:spPr>
          <a:xfrm>
            <a:off x="758952" y="4096511"/>
            <a:ext cx="1911095" cy="274320"/>
          </a:xfrm>
          <a:prstGeom prst="rect">
            <a:avLst/>
          </a:prstGeom>
          <a:noFill/>
        </p:spPr>
        <p:txBody>
          <a:bodyPr wrap="square" lIns="36576" tIns="36576" rIns="36576" bIns="36576" anchor="t">
            <a:spAutoFit/>
          </a:bodyPr>
          <a:lstStyle/>
          <a:p>
            <a:pPr algn="ctr">
              <a:spcAft>
                <a:spcPts val="0"/>
              </a:spcAft>
            </a:pPr>
            <a:r>
              <a:rPr sz="1500" b="1">
                <a:solidFill>
                  <a:srgbClr val="FFFFFF"/>
                </a:solidFill>
              </a:rPr>
              <a:t>SECONDARY</a:t>
            </a:r>
          </a:p>
        </p:txBody>
      </p:sp>
      <p:sp>
        <p:nvSpPr>
          <p:cNvPr id="13" name="TextBox 12"/>
          <p:cNvSpPr txBox="1">
            <a:spLocks/>
          </p:cNvSpPr>
          <p:nvPr/>
        </p:nvSpPr>
        <p:spPr>
          <a:xfrm>
            <a:off x="758952" y="4453127"/>
            <a:ext cx="1911095" cy="310896"/>
          </a:xfrm>
          <a:prstGeom prst="rect">
            <a:avLst/>
          </a:prstGeom>
          <a:noFill/>
        </p:spPr>
        <p:txBody>
          <a:bodyPr wrap="square" lIns="36576" tIns="36576" rIns="36576" bIns="36576" anchor="t">
            <a:spAutoFit/>
          </a:bodyPr>
          <a:lstStyle/>
          <a:p>
            <a:pPr algn="ctr">
              <a:spcAft>
                <a:spcPts val="0"/>
              </a:spcAft>
            </a:pPr>
            <a:r>
              <a:rPr lang="en-GB" sz="1000" b="0">
                <a:solidFill>
                  <a:srgbClr val="D8E0EA"/>
                </a:solidFill>
              </a:rPr>
              <a:t>standby / synchronized</a:t>
            </a:r>
          </a:p>
        </p:txBody>
      </p:sp>
      <p:cxnSp>
        <p:nvCxnSpPr>
          <p:cNvPr id="14" name="Connector 13"/>
          <p:cNvCxnSpPr/>
          <p:nvPr/>
        </p:nvCxnSpPr>
        <p:spPr>
          <a:xfrm>
            <a:off x="2743200" y="2395728"/>
            <a:ext cx="1828800" cy="0"/>
          </a:xfrm>
          <a:prstGeom prst="line">
            <a:avLst/>
          </a:prstGeom>
          <a:ln w="38100">
            <a:solidFill>
              <a:srgbClr val="E60012"/>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743200" y="4553712"/>
            <a:ext cx="1828800" cy="0"/>
          </a:xfrm>
          <a:prstGeom prst="line">
            <a:avLst/>
          </a:prstGeom>
          <a:ln w="38100">
            <a:solidFill>
              <a:srgbClr val="1676A3"/>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4617720" y="2834640"/>
            <a:ext cx="2148840" cy="1188720"/>
          </a:xfrm>
          <a:prstGeom prst="rect">
            <a:avLst/>
          </a:prstGeom>
          <a:solidFill>
            <a:srgbClr val="233A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7" name="TextBox 16"/>
          <p:cNvSpPr txBox="1">
            <a:spLocks/>
          </p:cNvSpPr>
          <p:nvPr/>
        </p:nvSpPr>
        <p:spPr>
          <a:xfrm>
            <a:off x="4690872" y="2953512"/>
            <a:ext cx="2002536" cy="304699"/>
          </a:xfrm>
          <a:prstGeom prst="rect">
            <a:avLst/>
          </a:prstGeom>
          <a:noFill/>
        </p:spPr>
        <p:txBody>
          <a:bodyPr wrap="square" lIns="36576" tIns="36576" rIns="36576" bIns="36576" anchor="t">
            <a:spAutoFit/>
          </a:bodyPr>
          <a:lstStyle/>
          <a:p>
            <a:pPr algn="ctr">
              <a:spcAft>
                <a:spcPts val="0"/>
              </a:spcAft>
            </a:pPr>
            <a:r>
              <a:rPr lang="en-GB" sz="1500" b="1">
                <a:solidFill>
                  <a:srgbClr val="FFFFFF"/>
                </a:solidFill>
              </a:rPr>
              <a:t>HEARTBEAT</a:t>
            </a:r>
          </a:p>
        </p:txBody>
      </p:sp>
      <p:sp>
        <p:nvSpPr>
          <p:cNvPr id="18" name="TextBox 17"/>
          <p:cNvSpPr txBox="1">
            <a:spLocks/>
          </p:cNvSpPr>
          <p:nvPr/>
        </p:nvSpPr>
        <p:spPr>
          <a:xfrm>
            <a:off x="4690872" y="3310128"/>
            <a:ext cx="2002536" cy="381643"/>
          </a:xfrm>
          <a:prstGeom prst="rect">
            <a:avLst/>
          </a:prstGeom>
          <a:noFill/>
        </p:spPr>
        <p:txBody>
          <a:bodyPr wrap="square" lIns="36576" tIns="36576" rIns="36576" bIns="36576" anchor="t">
            <a:spAutoFit/>
          </a:bodyPr>
          <a:lstStyle/>
          <a:p>
            <a:pPr algn="ctr">
              <a:spcAft>
                <a:spcPts val="0"/>
              </a:spcAft>
            </a:pPr>
            <a:r>
              <a:rPr lang="en-GB" sz="1000" b="0">
                <a:solidFill>
                  <a:srgbClr val="D8E0EA"/>
                </a:solidFill>
              </a:rPr>
              <a:t>health • election
config/session sync</a:t>
            </a:r>
          </a:p>
        </p:txBody>
      </p:sp>
      <p:sp>
        <p:nvSpPr>
          <p:cNvPr id="19" name="Right Arrow 18"/>
          <p:cNvSpPr>
            <a:spLocks/>
          </p:cNvSpPr>
          <p:nvPr/>
        </p:nvSpPr>
        <p:spPr>
          <a:xfrm>
            <a:off x="6812280" y="2331720"/>
            <a:ext cx="914400" cy="201168"/>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20" name="TextBox 19"/>
          <p:cNvSpPr txBox="1">
            <a:spLocks/>
          </p:cNvSpPr>
          <p:nvPr/>
        </p:nvSpPr>
        <p:spPr>
          <a:xfrm>
            <a:off x="6812280" y="2075687"/>
            <a:ext cx="914400" cy="212366"/>
          </a:xfrm>
          <a:prstGeom prst="rect">
            <a:avLst/>
          </a:prstGeom>
          <a:noFill/>
        </p:spPr>
        <p:txBody>
          <a:bodyPr wrap="square" lIns="36576" tIns="36576" rIns="36576" bIns="36576" anchor="t">
            <a:spAutoFit/>
          </a:bodyPr>
          <a:lstStyle/>
          <a:p>
            <a:pPr algn="ctr">
              <a:spcAft>
                <a:spcPts val="0"/>
              </a:spcAft>
            </a:pPr>
            <a:r>
              <a:rPr lang="en-GB" sz="900" b="1">
                <a:solidFill>
                  <a:srgbClr val="687385"/>
                </a:solidFill>
              </a:rPr>
              <a:t>before</a:t>
            </a:r>
          </a:p>
        </p:txBody>
      </p:sp>
      <p:sp>
        <p:nvSpPr>
          <p:cNvPr id="21" name="Rectangle 20"/>
          <p:cNvSpPr>
            <a:spLocks/>
          </p:cNvSpPr>
          <p:nvPr/>
        </p:nvSpPr>
        <p:spPr>
          <a:xfrm>
            <a:off x="7772400" y="1874519"/>
            <a:ext cx="2743200"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22" name="TextBox 21"/>
          <p:cNvSpPr txBox="1"/>
          <p:nvPr/>
        </p:nvSpPr>
        <p:spPr>
          <a:xfrm>
            <a:off x="7845552" y="1993391"/>
            <a:ext cx="2596896" cy="274320"/>
          </a:xfrm>
          <a:prstGeom prst="rect">
            <a:avLst/>
          </a:prstGeom>
          <a:noFill/>
        </p:spPr>
        <p:txBody>
          <a:bodyPr wrap="square" lIns="36576" tIns="36576" rIns="36576" bIns="36576" anchor="t">
            <a:spAutoFit/>
          </a:bodyPr>
          <a:lstStyle/>
          <a:p>
            <a:pPr algn="ctr">
              <a:spcAft>
                <a:spcPts val="0"/>
              </a:spcAft>
            </a:pPr>
            <a:r>
              <a:rPr sz="1500" b="1">
                <a:solidFill>
                  <a:srgbClr val="FFFFFF"/>
                </a:solidFill>
              </a:rPr>
              <a:t>UPSTREAM / DOWNSTREAM</a:t>
            </a:r>
          </a:p>
        </p:txBody>
      </p:sp>
      <p:sp>
        <p:nvSpPr>
          <p:cNvPr id="23" name="TextBox 22"/>
          <p:cNvSpPr txBox="1"/>
          <p:nvPr/>
        </p:nvSpPr>
        <p:spPr>
          <a:xfrm>
            <a:off x="7845552" y="2350008"/>
            <a:ext cx="2596896" cy="310896"/>
          </a:xfrm>
          <a:prstGeom prst="rect">
            <a:avLst/>
          </a:prstGeom>
          <a:noFill/>
        </p:spPr>
        <p:txBody>
          <a:bodyPr wrap="square" lIns="36576" tIns="36576" rIns="36576" bIns="36576" anchor="t">
            <a:spAutoFit/>
          </a:bodyPr>
          <a:lstStyle/>
          <a:p>
            <a:pPr algn="ctr">
              <a:spcAft>
                <a:spcPts val="0"/>
              </a:spcAft>
            </a:pPr>
            <a:r>
              <a:rPr sz="1000" b="0">
                <a:solidFill>
                  <a:srgbClr val="D8E0EA"/>
                </a:solidFill>
              </a:rPr>
              <a:t>traffic via primary</a:t>
            </a:r>
          </a:p>
        </p:txBody>
      </p:sp>
      <p:sp>
        <p:nvSpPr>
          <p:cNvPr id="24" name="Right Arrow 23"/>
          <p:cNvSpPr/>
          <p:nvPr/>
        </p:nvSpPr>
        <p:spPr>
          <a:xfrm>
            <a:off x="6812280" y="4434840"/>
            <a:ext cx="914400" cy="201168"/>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812280" y="4178807"/>
            <a:ext cx="914400" cy="228600"/>
          </a:xfrm>
          <a:prstGeom prst="rect">
            <a:avLst/>
          </a:prstGeom>
          <a:noFill/>
        </p:spPr>
        <p:txBody>
          <a:bodyPr wrap="square" lIns="36576" tIns="36576" rIns="36576" bIns="36576" anchor="t">
            <a:spAutoFit/>
          </a:bodyPr>
          <a:lstStyle/>
          <a:p>
            <a:pPr algn="ctr">
              <a:spcAft>
                <a:spcPts val="0"/>
              </a:spcAft>
            </a:pPr>
            <a:r>
              <a:rPr sz="900" b="1">
                <a:solidFill>
                  <a:srgbClr val="687385"/>
                </a:solidFill>
              </a:rPr>
              <a:t>after</a:t>
            </a:r>
          </a:p>
        </p:txBody>
      </p:sp>
      <p:sp>
        <p:nvSpPr>
          <p:cNvPr id="26" name="Rectangle 25"/>
          <p:cNvSpPr/>
          <p:nvPr/>
        </p:nvSpPr>
        <p:spPr>
          <a:xfrm>
            <a:off x="7772400" y="3977639"/>
            <a:ext cx="2743200"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845552" y="4096511"/>
            <a:ext cx="2596896" cy="274320"/>
          </a:xfrm>
          <a:prstGeom prst="rect">
            <a:avLst/>
          </a:prstGeom>
          <a:noFill/>
        </p:spPr>
        <p:txBody>
          <a:bodyPr wrap="square" lIns="36576" tIns="36576" rIns="36576" bIns="36576" anchor="t">
            <a:spAutoFit/>
          </a:bodyPr>
          <a:lstStyle/>
          <a:p>
            <a:pPr algn="ctr">
              <a:spcAft>
                <a:spcPts val="0"/>
              </a:spcAft>
            </a:pPr>
            <a:r>
              <a:rPr sz="1500" b="1">
                <a:solidFill>
                  <a:srgbClr val="FFFFFF"/>
                </a:solidFill>
              </a:rPr>
              <a:t>UPSTREAM / DOWNSTREAM</a:t>
            </a:r>
          </a:p>
        </p:txBody>
      </p:sp>
      <p:sp>
        <p:nvSpPr>
          <p:cNvPr id="28" name="TextBox 27"/>
          <p:cNvSpPr txBox="1"/>
          <p:nvPr/>
        </p:nvSpPr>
        <p:spPr>
          <a:xfrm>
            <a:off x="7845552" y="4453127"/>
            <a:ext cx="2596896" cy="310896"/>
          </a:xfrm>
          <a:prstGeom prst="rect">
            <a:avLst/>
          </a:prstGeom>
          <a:noFill/>
        </p:spPr>
        <p:txBody>
          <a:bodyPr wrap="square" lIns="36576" tIns="36576" rIns="36576" bIns="36576" anchor="t">
            <a:spAutoFit/>
          </a:bodyPr>
          <a:lstStyle/>
          <a:p>
            <a:pPr algn="ctr">
              <a:spcAft>
                <a:spcPts val="0"/>
              </a:spcAft>
            </a:pPr>
            <a:r>
              <a:rPr sz="1000" b="0">
                <a:solidFill>
                  <a:srgbClr val="D8E0EA"/>
                </a:solidFill>
              </a:rPr>
              <a:t>traffic via new primary</a:t>
            </a:r>
          </a:p>
        </p:txBody>
      </p:sp>
      <p:sp>
        <p:nvSpPr>
          <p:cNvPr id="29" name="TextBox 28"/>
          <p:cNvSpPr txBox="1"/>
          <p:nvPr/>
        </p:nvSpPr>
        <p:spPr>
          <a:xfrm>
            <a:off x="713232" y="5440680"/>
            <a:ext cx="1828800" cy="210312"/>
          </a:xfrm>
          <a:prstGeom prst="rect">
            <a:avLst/>
          </a:prstGeom>
          <a:noFill/>
        </p:spPr>
        <p:txBody>
          <a:bodyPr wrap="square" lIns="36576" tIns="36576" rIns="36576" bIns="36576" anchor="t">
            <a:spAutoFit/>
          </a:bodyPr>
          <a:lstStyle/>
          <a:p>
            <a:pPr algn="l">
              <a:spcAft>
                <a:spcPts val="0"/>
              </a:spcAft>
            </a:pPr>
            <a:r>
              <a:rPr sz="1000" b="1">
                <a:solidFill>
                  <a:srgbClr val="E60012"/>
                </a:solidFill>
              </a:rPr>
              <a:t>FAILOVER TRIGGER</a:t>
            </a:r>
          </a:p>
        </p:txBody>
      </p:sp>
      <p:sp>
        <p:nvSpPr>
          <p:cNvPr id="30" name="TextBox 29"/>
          <p:cNvSpPr txBox="1"/>
          <p:nvPr/>
        </p:nvSpPr>
        <p:spPr>
          <a:xfrm>
            <a:off x="2148840" y="5385816"/>
            <a:ext cx="7132320" cy="310896"/>
          </a:xfrm>
          <a:prstGeom prst="rect">
            <a:avLst/>
          </a:prstGeom>
          <a:noFill/>
        </p:spPr>
        <p:txBody>
          <a:bodyPr wrap="square" lIns="36576" tIns="36576" rIns="36576" bIns="36576" anchor="t">
            <a:spAutoFit/>
          </a:bodyPr>
          <a:lstStyle/>
          <a:p>
            <a:pPr algn="l">
              <a:spcAft>
                <a:spcPts val="0"/>
              </a:spcAft>
            </a:pPr>
            <a:r>
              <a:rPr sz="1300" b="1">
                <a:solidFill>
                  <a:srgbClr val="1E2B40"/>
                </a:solidFill>
              </a:rPr>
              <a:t>monitored failure → election → role change → adjacent-network convergence</a:t>
            </a:r>
          </a:p>
        </p:txBody>
      </p:sp>
      <p:sp>
        <p:nvSpPr>
          <p:cNvPr id="31" name="TextBox 30"/>
          <p:cNvSpPr txBox="1"/>
          <p:nvPr/>
        </p:nvSpPr>
        <p:spPr>
          <a:xfrm>
            <a:off x="658368" y="5833872"/>
            <a:ext cx="731520" cy="182880"/>
          </a:xfrm>
          <a:prstGeom prst="rect">
            <a:avLst/>
          </a:prstGeom>
          <a:noFill/>
        </p:spPr>
        <p:txBody>
          <a:bodyPr wrap="square" lIns="36576" tIns="36576" rIns="36576" bIns="36576" anchor="t">
            <a:spAutoFit/>
          </a:bodyPr>
          <a:lstStyle/>
          <a:p>
            <a:pPr algn="l">
              <a:spcAft>
                <a:spcPts val="0"/>
              </a:spcAft>
            </a:pPr>
            <a:r>
              <a:rPr sz="1000" b="1">
                <a:solidFill>
                  <a:srgbClr val="E60012"/>
                </a:solidFill>
              </a:rPr>
              <a:t>LESSON</a:t>
            </a:r>
          </a:p>
        </p:txBody>
      </p:sp>
      <p:sp>
        <p:nvSpPr>
          <p:cNvPr id="32" name="TextBox 31"/>
          <p:cNvSpPr txBox="1"/>
          <p:nvPr/>
        </p:nvSpPr>
        <p:spPr>
          <a:xfrm>
            <a:off x="1417320" y="5769864"/>
            <a:ext cx="9875520" cy="384048"/>
          </a:xfrm>
          <a:prstGeom prst="rect">
            <a:avLst/>
          </a:prstGeom>
          <a:noFill/>
        </p:spPr>
        <p:txBody>
          <a:bodyPr wrap="square" lIns="36576" tIns="36576" rIns="36576" bIns="36576" anchor="t">
            <a:spAutoFit/>
          </a:bodyPr>
          <a:lstStyle/>
          <a:p>
            <a:pPr algn="l">
              <a:spcAft>
                <a:spcPts val="0"/>
              </a:spcAft>
            </a:pPr>
            <a:r>
              <a:rPr sz="1300" b="1">
                <a:solidFill>
                  <a:srgbClr val="233A59"/>
                </a:solidFill>
              </a:rPr>
              <a:t>Session continuity depends on synchronized eligible state; role change alone does not guarantee zero application interruption.</a:t>
            </a:r>
          </a:p>
        </p:txBody>
      </p:sp>
      <p:cxnSp>
        <p:nvCxnSpPr>
          <p:cNvPr id="33" name="Connector 32"/>
          <p:cNvCxnSpPr/>
          <p:nvPr/>
        </p:nvCxnSpPr>
        <p:spPr>
          <a:xfrm>
            <a:off x="4572000" y="2395728"/>
            <a:ext cx="45720" cy="438912"/>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4572000" y="4023360"/>
            <a:ext cx="45720" cy="530352"/>
          </a:xfrm>
          <a:prstGeom prst="line">
            <a:avLst/>
          </a:prstGeom>
          <a:ln w="25400">
            <a:solidFill>
              <a:srgbClr val="1676A3"/>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51">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151</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Election selects the current primary using ordered criteria</a:t>
            </a:r>
          </a:p>
        </p:txBody>
      </p:sp>
      <p:sp>
        <p:nvSpPr>
          <p:cNvPr id="10" name="TextBox 9"/>
          <p:cNvSpPr txBox="1">
            <a:spLocks/>
          </p:cNvSpPr>
          <p:nvPr/>
        </p:nvSpPr>
        <p:spPr>
          <a:xfrm>
            <a:off x="658368" y="1554480"/>
            <a:ext cx="6583680" cy="4389120"/>
          </a:xfrm>
          <a:prstGeom prst="rect">
            <a:avLst/>
          </a:prstGeom>
          <a:noFill/>
        </p:spPr>
        <p:txBody>
          <a:bodyPr wrap="square" lIns="109728" tIns="73152" rIns="109728" bIns="73152" anchor="t">
            <a:spAutoFit/>
          </a:bodyPr>
          <a:lstStyle/>
          <a:p>
            <a:pPr algn="l">
              <a:lnSpc>
                <a:spcPct val="105000"/>
              </a:lnSpc>
              <a:spcAft>
                <a:spcPts val="800"/>
              </a:spcAft>
              <a:defRPr sz="1700">
                <a:solidFill>
                  <a:srgbClr val="1E2B40"/>
                </a:solidFill>
              </a:defRPr>
            </a:pPr>
            <a:r>
              <a:rPr lang="en-GB"/>
              <a:t>• Priority, override behavior, monitored interfaces and uptime/state influence election according to configuration</a:t>
            </a:r>
          </a:p>
          <a:p>
            <a:pPr>
              <a:lnSpc>
                <a:spcPct val="105000"/>
              </a:lnSpc>
              <a:spcAft>
                <a:spcPts val="800"/>
              </a:spcAft>
              <a:defRPr sz="1700">
                <a:solidFill>
                  <a:srgbClr val="1E2B40"/>
                </a:solidFill>
              </a:defRPr>
            </a:pPr>
            <a:r>
              <a:rPr lang="en-GB"/>
              <a:t>• Preemption/override choices affect whether the preferred unit reclaims primary</a:t>
            </a:r>
          </a:p>
          <a:p>
            <a:pPr>
              <a:lnSpc>
                <a:spcPct val="105000"/>
              </a:lnSpc>
              <a:spcAft>
                <a:spcPts val="800"/>
              </a:spcAft>
              <a:defRPr sz="1700">
                <a:solidFill>
                  <a:srgbClr val="1E2B40"/>
                </a:solidFill>
              </a:defRPr>
            </a:pPr>
            <a:r>
              <a:rPr lang="en-GB"/>
              <a:t>• A stable cluster is more important than repeatedly forcing preferred ownership</a:t>
            </a:r>
          </a:p>
          <a:p>
            <a:pPr>
              <a:lnSpc>
                <a:spcPct val="105000"/>
              </a:lnSpc>
              <a:spcAft>
                <a:spcPts val="800"/>
              </a:spcAft>
              <a:defRPr sz="1700">
                <a:solidFill>
                  <a:srgbClr val="1E2B40"/>
                </a:solidFill>
              </a:defRPr>
            </a:pPr>
            <a:r>
              <a:rPr lang="en-GB"/>
              <a:t>• Document expected primary and the exact trigger for change</a:t>
            </a:r>
          </a:p>
        </p:txBody>
      </p:sp>
      <p:cxnSp>
        <p:nvCxnSpPr>
          <p:cNvPr id="11" name="Connector 10"/>
          <p:cNvCxnSpPr/>
          <p:nvPr/>
        </p:nvCxnSpPr>
        <p:spPr>
          <a:xfrm>
            <a:off x="7452360" y="1600200"/>
            <a:ext cx="0" cy="434340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7790688" y="1627632"/>
            <a:ext cx="342900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ILLUSTRATIVE SCENARIO</a:t>
            </a:r>
          </a:p>
        </p:txBody>
      </p:sp>
      <p:sp>
        <p:nvSpPr>
          <p:cNvPr id="13" name="TextBox 12"/>
          <p:cNvSpPr txBox="1">
            <a:spLocks/>
          </p:cNvSpPr>
          <p:nvPr/>
        </p:nvSpPr>
        <p:spPr>
          <a:xfrm>
            <a:off x="7790688" y="2057400"/>
            <a:ext cx="3337560" cy="1417320"/>
          </a:xfrm>
          <a:prstGeom prst="rect">
            <a:avLst/>
          </a:prstGeom>
          <a:noFill/>
        </p:spPr>
        <p:txBody>
          <a:bodyPr wrap="square" lIns="27432" tIns="27432" rIns="27432" bIns="27432" anchor="t">
            <a:spAutoFit/>
          </a:bodyPr>
          <a:lstStyle/>
          <a:p>
            <a:pPr algn="l">
              <a:spcAft>
                <a:spcPts val="0"/>
              </a:spcAft>
            </a:pPr>
            <a:r>
              <a:rPr lang="en-GB" sz="1700" b="1">
                <a:solidFill>
                  <a:srgbClr val="233A59"/>
                </a:solidFill>
              </a:rPr>
              <a:t>Predict election before disconnecting anything</a:t>
            </a:r>
          </a:p>
        </p:txBody>
      </p:sp>
      <p:sp>
        <p:nvSpPr>
          <p:cNvPr id="14" name="TextBox 13"/>
          <p:cNvSpPr txBox="1">
            <a:spLocks/>
          </p:cNvSpPr>
          <p:nvPr/>
        </p:nvSpPr>
        <p:spPr>
          <a:xfrm>
            <a:off x="7790688" y="3822191"/>
            <a:ext cx="18288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EXPECTED RESULT</a:t>
            </a:r>
          </a:p>
        </p:txBody>
      </p:sp>
      <p:sp>
        <p:nvSpPr>
          <p:cNvPr id="15" name="TextBox 14"/>
          <p:cNvSpPr txBox="1">
            <a:spLocks/>
          </p:cNvSpPr>
          <p:nvPr/>
        </p:nvSpPr>
        <p:spPr>
          <a:xfrm>
            <a:off x="7790688" y="4187952"/>
            <a:ext cx="3337560" cy="1325880"/>
          </a:xfrm>
          <a:prstGeom prst="rect">
            <a:avLst/>
          </a:prstGeom>
          <a:noFill/>
        </p:spPr>
        <p:txBody>
          <a:bodyPr wrap="square" lIns="27432" tIns="27432" rIns="27432" bIns="27432" anchor="t">
            <a:spAutoFit/>
          </a:bodyPr>
          <a:lstStyle/>
          <a:p>
            <a:pPr algn="l">
              <a:spcAft>
                <a:spcPts val="0"/>
              </a:spcAft>
            </a:pPr>
            <a:r>
              <a:rPr lang="en-GB" sz="1500" b="0">
                <a:solidFill>
                  <a:srgbClr val="1E2B40"/>
                </a:solidFill>
              </a:rPr>
              <a:t>Show member state and election-relevant values on both units.</a:t>
            </a:r>
          </a:p>
        </p:txBody>
      </p:sp>
      <p:sp>
        <p:nvSpPr>
          <p:cNvPr id="16" name="TextBox 15"/>
          <p:cNvSpPr txBox="1">
            <a:spLocks/>
          </p:cNvSpPr>
          <p:nvPr/>
        </p:nvSpPr>
        <p:spPr>
          <a:xfrm>
            <a:off x="7790688" y="5596128"/>
            <a:ext cx="1920240" cy="201168"/>
          </a:xfrm>
          <a:prstGeom prst="rect">
            <a:avLst/>
          </a:prstGeom>
          <a:noFill/>
        </p:spPr>
        <p:txBody>
          <a:bodyPr wrap="square" lIns="27432" tIns="27432" rIns="27432" bIns="27432" anchor="t">
            <a:spAutoFit/>
          </a:bodyPr>
          <a:lstStyle/>
          <a:p>
            <a:pPr algn="l">
              <a:spcAft>
                <a:spcPts val="0"/>
              </a:spcAft>
            </a:pPr>
            <a:r>
              <a:rPr lang="en-GB" sz="1000" b="1">
                <a:solidFill>
                  <a:srgbClr val="687385"/>
                </a:solidFill>
              </a:rPr>
              <a:t>Expected observation</a:t>
            </a:r>
          </a:p>
        </p:txBody>
      </p:sp>
      <p:sp>
        <p:nvSpPr>
          <p:cNvPr id="17" name="TextBox 16"/>
          <p:cNvSpPr txBox="1">
            <a:spLocks/>
          </p:cNvSpPr>
          <p:nvPr/>
        </p:nvSpPr>
        <p:spPr>
          <a:xfrm>
            <a:off x="9509760" y="5577840"/>
            <a:ext cx="1691640" cy="824841"/>
          </a:xfrm>
          <a:prstGeom prst="rect">
            <a:avLst/>
          </a:prstGeom>
          <a:noFill/>
        </p:spPr>
        <p:txBody>
          <a:bodyPr wrap="square" lIns="27432" tIns="27432" rIns="27432" bIns="27432" anchor="t">
            <a:spAutoFit/>
          </a:bodyPr>
          <a:lstStyle/>
          <a:p>
            <a:pPr algn="r">
              <a:spcAft>
                <a:spcPts val="0"/>
              </a:spcAft>
            </a:pPr>
            <a:r>
              <a:rPr lang="en-GB" sz="1000" b="0">
                <a:solidFill>
                  <a:srgbClr val="687385"/>
                </a:solidFill>
              </a:rPr>
              <a:t>The secondary is synchronized before failover; after failover, the new primary forwards eligible test sessions.</a:t>
            </a:r>
          </a:p>
        </p:txBody>
      </p:sp>
      <p:sp>
        <p:nvSpPr>
          <p:cNvPr id="18" name="TextBox 17"/>
          <p:cNvSpPr txBox="1">
            <a:spLocks/>
          </p:cNvSpPr>
          <p:nvPr/>
        </p:nvSpPr>
        <p:spPr>
          <a:xfrm>
            <a:off x="502920" y="420624"/>
            <a:ext cx="10744200" cy="130805"/>
          </a:xfrm>
          <a:prstGeom prst="rect">
            <a:avLst/>
          </a:prstGeom>
          <a:noFill/>
        </p:spPr>
        <p:txBody>
          <a:bodyPr wrap="square" lIns="0" tIns="0" rIns="0" bIns="0">
            <a:spAutoFit/>
          </a:bodyPr>
          <a:lstStyle/>
          <a:p>
            <a:pPr algn="l"/>
            <a:r>
              <a:rPr lang="en-GB" sz="850" b="1">
                <a:solidFill>
                  <a:srgbClr val="687385"/>
                </a:solidFill>
              </a:rPr>
              <a:t>151 • DAY 4 • BLOCK 14 • High Availability</a:t>
            </a: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52">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152</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Synchronization preserves cluster configuration and selected runtime state</a:t>
            </a:r>
          </a:p>
        </p:txBody>
      </p:sp>
      <p:sp>
        <p:nvSpPr>
          <p:cNvPr id="10" name="TextBox 9"/>
          <p:cNvSpPr txBox="1">
            <a:spLocks/>
          </p:cNvSpPr>
          <p:nvPr/>
        </p:nvSpPr>
        <p:spPr>
          <a:xfrm>
            <a:off x="658368" y="1554480"/>
            <a:ext cx="6583680" cy="4389120"/>
          </a:xfrm>
          <a:prstGeom prst="rect">
            <a:avLst/>
          </a:prstGeom>
          <a:noFill/>
        </p:spPr>
        <p:txBody>
          <a:bodyPr wrap="square" lIns="109728" tIns="73152" rIns="109728" bIns="73152" anchor="t">
            <a:spAutoFit/>
          </a:bodyPr>
          <a:lstStyle/>
          <a:p>
            <a:pPr algn="l">
              <a:lnSpc>
                <a:spcPct val="105000"/>
              </a:lnSpc>
              <a:spcAft>
                <a:spcPts val="800"/>
              </a:spcAft>
              <a:defRPr sz="1700">
                <a:solidFill>
                  <a:srgbClr val="1E2B40"/>
                </a:solidFill>
              </a:defRPr>
            </a:pPr>
            <a:r>
              <a:rPr lang="en-GB"/>
              <a:t>• Most configuration is synchronized; some member-specific settings remain local</a:t>
            </a:r>
          </a:p>
          <a:p>
            <a:pPr>
              <a:lnSpc>
                <a:spcPct val="105000"/>
              </a:lnSpc>
              <a:spcAft>
                <a:spcPts val="800"/>
              </a:spcAft>
              <a:defRPr sz="1700">
                <a:solidFill>
                  <a:srgbClr val="1E2B40"/>
                </a:solidFill>
              </a:defRPr>
            </a:pPr>
            <a:r>
              <a:rPr lang="en-GB"/>
              <a:t>• Session pickup/session synchronization must be configured and supported for desired protocols/features</a:t>
            </a:r>
          </a:p>
          <a:p>
            <a:pPr>
              <a:lnSpc>
                <a:spcPct val="105000"/>
              </a:lnSpc>
              <a:spcAft>
                <a:spcPts val="800"/>
              </a:spcAft>
              <a:defRPr sz="1700">
                <a:solidFill>
                  <a:srgbClr val="1E2B40"/>
                </a:solidFill>
              </a:defRPr>
            </a:pPr>
            <a:r>
              <a:rPr lang="en-GB"/>
              <a:t>• Security engine and dynamic state behavior may vary during failover</a:t>
            </a:r>
          </a:p>
          <a:p>
            <a:pPr>
              <a:lnSpc>
                <a:spcPct val="105000"/>
              </a:lnSpc>
              <a:spcAft>
                <a:spcPts val="800"/>
              </a:spcAft>
              <a:defRPr sz="1700">
                <a:solidFill>
                  <a:srgbClr val="1E2B40"/>
                </a:solidFill>
              </a:defRPr>
            </a:pPr>
            <a:r>
              <a:rPr lang="en-GB"/>
              <a:t>• Checksum mismatch requires investigation before relying on redundancy</a:t>
            </a:r>
          </a:p>
        </p:txBody>
      </p:sp>
      <p:cxnSp>
        <p:nvCxnSpPr>
          <p:cNvPr id="11" name="Connector 10"/>
          <p:cNvCxnSpPr/>
          <p:nvPr/>
        </p:nvCxnSpPr>
        <p:spPr>
          <a:xfrm>
            <a:off x="7452360" y="1600200"/>
            <a:ext cx="0" cy="434340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7790688" y="1627632"/>
            <a:ext cx="342900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ILLUSTRATIVE SCENARIO</a:t>
            </a:r>
          </a:p>
        </p:txBody>
      </p:sp>
      <p:sp>
        <p:nvSpPr>
          <p:cNvPr id="13" name="TextBox 12"/>
          <p:cNvSpPr txBox="1">
            <a:spLocks/>
          </p:cNvSpPr>
          <p:nvPr/>
        </p:nvSpPr>
        <p:spPr>
          <a:xfrm>
            <a:off x="7790688" y="2057400"/>
            <a:ext cx="3337560" cy="1417320"/>
          </a:xfrm>
          <a:prstGeom prst="rect">
            <a:avLst/>
          </a:prstGeom>
          <a:noFill/>
        </p:spPr>
        <p:txBody>
          <a:bodyPr wrap="square" lIns="27432" tIns="27432" rIns="27432" bIns="27432" anchor="t">
            <a:spAutoFit/>
          </a:bodyPr>
          <a:lstStyle/>
          <a:p>
            <a:pPr algn="l">
              <a:spcAft>
                <a:spcPts val="0"/>
              </a:spcAft>
            </a:pPr>
            <a:r>
              <a:rPr lang="en-GB" sz="1700" b="1">
                <a:solidFill>
                  <a:srgbClr val="233A59"/>
                </a:solidFill>
              </a:rPr>
              <a:t>Configuration sync does not guarantee every session survives</a:t>
            </a:r>
          </a:p>
        </p:txBody>
      </p:sp>
      <p:sp>
        <p:nvSpPr>
          <p:cNvPr id="14" name="TextBox 13"/>
          <p:cNvSpPr txBox="1">
            <a:spLocks/>
          </p:cNvSpPr>
          <p:nvPr/>
        </p:nvSpPr>
        <p:spPr>
          <a:xfrm>
            <a:off x="7790688" y="3822191"/>
            <a:ext cx="18288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EXPECTED RESULT</a:t>
            </a:r>
          </a:p>
        </p:txBody>
      </p:sp>
      <p:sp>
        <p:nvSpPr>
          <p:cNvPr id="15" name="TextBox 14"/>
          <p:cNvSpPr txBox="1">
            <a:spLocks/>
          </p:cNvSpPr>
          <p:nvPr/>
        </p:nvSpPr>
        <p:spPr>
          <a:xfrm>
            <a:off x="7790688" y="4187952"/>
            <a:ext cx="3337560" cy="1325880"/>
          </a:xfrm>
          <a:prstGeom prst="rect">
            <a:avLst/>
          </a:prstGeom>
          <a:noFill/>
        </p:spPr>
        <p:txBody>
          <a:bodyPr wrap="square" lIns="27432" tIns="27432" rIns="27432" bIns="27432" anchor="t">
            <a:spAutoFit/>
          </a:bodyPr>
          <a:lstStyle/>
          <a:p>
            <a:pPr algn="l">
              <a:spcAft>
                <a:spcPts val="0"/>
              </a:spcAft>
            </a:pPr>
            <a:r>
              <a:rPr lang="en-GB" sz="1500" b="0">
                <a:solidFill>
                  <a:srgbClr val="1E2B40"/>
                </a:solidFill>
              </a:rPr>
              <a:t>Compare cluster checksums and one test session before/after controlled failover.</a:t>
            </a:r>
          </a:p>
        </p:txBody>
      </p:sp>
      <p:sp>
        <p:nvSpPr>
          <p:cNvPr id="16" name="TextBox 15"/>
          <p:cNvSpPr txBox="1">
            <a:spLocks/>
          </p:cNvSpPr>
          <p:nvPr/>
        </p:nvSpPr>
        <p:spPr>
          <a:xfrm>
            <a:off x="7790688" y="5596128"/>
            <a:ext cx="1920240" cy="201168"/>
          </a:xfrm>
          <a:prstGeom prst="rect">
            <a:avLst/>
          </a:prstGeom>
          <a:noFill/>
        </p:spPr>
        <p:txBody>
          <a:bodyPr wrap="square" lIns="27432" tIns="27432" rIns="27432" bIns="27432" anchor="t">
            <a:spAutoFit/>
          </a:bodyPr>
          <a:lstStyle/>
          <a:p>
            <a:pPr algn="l">
              <a:spcAft>
                <a:spcPts val="0"/>
              </a:spcAft>
            </a:pPr>
            <a:r>
              <a:rPr lang="en-GB" sz="1000" b="1">
                <a:solidFill>
                  <a:srgbClr val="687385"/>
                </a:solidFill>
              </a:rPr>
              <a:t>Expected observation</a:t>
            </a:r>
          </a:p>
        </p:txBody>
      </p:sp>
      <p:sp>
        <p:nvSpPr>
          <p:cNvPr id="17" name="TextBox 16"/>
          <p:cNvSpPr txBox="1">
            <a:spLocks/>
          </p:cNvSpPr>
          <p:nvPr/>
        </p:nvSpPr>
        <p:spPr>
          <a:xfrm>
            <a:off x="9509760" y="5577840"/>
            <a:ext cx="1691640" cy="824841"/>
          </a:xfrm>
          <a:prstGeom prst="rect">
            <a:avLst/>
          </a:prstGeom>
          <a:noFill/>
        </p:spPr>
        <p:txBody>
          <a:bodyPr wrap="square" lIns="27432" tIns="27432" rIns="27432" bIns="27432" anchor="t">
            <a:spAutoFit/>
          </a:bodyPr>
          <a:lstStyle/>
          <a:p>
            <a:pPr algn="r">
              <a:spcAft>
                <a:spcPts val="0"/>
              </a:spcAft>
            </a:pPr>
            <a:r>
              <a:rPr lang="en-GB" sz="1000" b="0">
                <a:solidFill>
                  <a:srgbClr val="687385"/>
                </a:solidFill>
              </a:rPr>
              <a:t>The secondary is synchronized before failover; after failover, the new primary forwards eligible test sessions.</a:t>
            </a:r>
          </a:p>
        </p:txBody>
      </p:sp>
      <p:sp>
        <p:nvSpPr>
          <p:cNvPr id="18" name="TextBox 17"/>
          <p:cNvSpPr txBox="1">
            <a:spLocks/>
          </p:cNvSpPr>
          <p:nvPr/>
        </p:nvSpPr>
        <p:spPr>
          <a:xfrm>
            <a:off x="502920" y="420624"/>
            <a:ext cx="10744200" cy="130805"/>
          </a:xfrm>
          <a:prstGeom prst="rect">
            <a:avLst/>
          </a:prstGeom>
          <a:noFill/>
        </p:spPr>
        <p:txBody>
          <a:bodyPr wrap="square" lIns="0" tIns="0" rIns="0" bIns="0">
            <a:spAutoFit/>
          </a:bodyPr>
          <a:lstStyle/>
          <a:p>
            <a:pPr algn="l"/>
            <a:r>
              <a:rPr lang="en-GB" sz="850" b="1">
                <a:solidFill>
                  <a:srgbClr val="687385"/>
                </a:solidFill>
              </a:rPr>
              <a:t>152 • DAY 4 • BLOCK 14 • High Availability</a:t>
            </a: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53">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153</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Monitored failures trigger role change only when configured</a:t>
            </a:r>
          </a:p>
        </p:txBody>
      </p:sp>
      <p:sp>
        <p:nvSpPr>
          <p:cNvPr id="10" name="Rectangle 9"/>
          <p:cNvSpPr/>
          <p:nvPr/>
        </p:nvSpPr>
        <p:spPr>
          <a:xfrm>
            <a:off x="658368"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1" name="TextBox 10"/>
          <p:cNvSpPr txBox="1">
            <a:spLocks/>
          </p:cNvSpPr>
          <p:nvPr/>
        </p:nvSpPr>
        <p:spPr>
          <a:xfrm>
            <a:off x="768096" y="2020824"/>
            <a:ext cx="411480" cy="219456"/>
          </a:xfrm>
          <a:prstGeom prst="rect">
            <a:avLst/>
          </a:prstGeom>
          <a:noFill/>
        </p:spPr>
        <p:txBody>
          <a:bodyPr wrap="square" lIns="27432" tIns="27432" rIns="27432" bIns="27432" anchor="t">
            <a:spAutoFit/>
          </a:bodyPr>
          <a:lstStyle/>
          <a:p>
            <a:pPr algn="l">
              <a:spcAft>
                <a:spcPts val="0"/>
              </a:spcAft>
            </a:pPr>
            <a:r>
              <a:rPr lang="en-HU" sz="1100" b="1">
                <a:solidFill>
                  <a:srgbClr val="E60012"/>
                </a:solidFill>
              </a:rPr>
              <a:t>01</a:t>
            </a:r>
          </a:p>
        </p:txBody>
      </p:sp>
      <p:sp>
        <p:nvSpPr>
          <p:cNvPr id="12" name="TextBox 11"/>
          <p:cNvSpPr txBox="1">
            <a:spLocks/>
          </p:cNvSpPr>
          <p:nvPr/>
        </p:nvSpPr>
        <p:spPr>
          <a:xfrm>
            <a:off x="768096" y="2340864"/>
            <a:ext cx="1830628" cy="603504"/>
          </a:xfrm>
          <a:prstGeom prst="rect">
            <a:avLst/>
          </a:prstGeom>
          <a:noFill/>
        </p:spPr>
        <p:txBody>
          <a:bodyPr wrap="square" lIns="27432" tIns="27432" rIns="27432" bIns="27432" anchor="ctr">
            <a:spAutoFit/>
          </a:bodyPr>
          <a:lstStyle/>
          <a:p>
            <a:pPr algn="ctr">
              <a:spcAft>
                <a:spcPts val="0"/>
              </a:spcAft>
            </a:pPr>
            <a:r>
              <a:rPr lang="en-GB" sz="1400" b="1">
                <a:solidFill>
                  <a:srgbClr val="1E2B40"/>
                </a:solidFill>
              </a:rPr>
              <a:t>Failure detected</a:t>
            </a:r>
          </a:p>
        </p:txBody>
      </p:sp>
      <p:cxnSp>
        <p:nvCxnSpPr>
          <p:cNvPr id="13" name="Connector 12"/>
          <p:cNvCxnSpPr/>
          <p:nvPr/>
        </p:nvCxnSpPr>
        <p:spPr>
          <a:xfrm>
            <a:off x="2708452"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2854756"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964484" y="2020824"/>
            <a:ext cx="411480" cy="219456"/>
          </a:xfrm>
          <a:prstGeom prst="rect">
            <a:avLst/>
          </a:prstGeom>
          <a:noFill/>
        </p:spPr>
        <p:txBody>
          <a:bodyPr wrap="square" lIns="27432" tIns="27432" rIns="27432" bIns="27432" anchor="t">
            <a:spAutoFit/>
          </a:bodyPr>
          <a:lstStyle/>
          <a:p>
            <a:pPr algn="l">
              <a:spcAft>
                <a:spcPts val="0"/>
              </a:spcAft>
            </a:pPr>
            <a:r>
              <a:rPr sz="1100" b="1">
                <a:solidFill>
                  <a:srgbClr val="E60012"/>
                </a:solidFill>
              </a:rPr>
              <a:t>02</a:t>
            </a:r>
          </a:p>
        </p:txBody>
      </p:sp>
      <p:sp>
        <p:nvSpPr>
          <p:cNvPr id="16" name="TextBox 15"/>
          <p:cNvSpPr txBox="1"/>
          <p:nvPr/>
        </p:nvSpPr>
        <p:spPr>
          <a:xfrm>
            <a:off x="2964484" y="2340864"/>
            <a:ext cx="1830628" cy="603504"/>
          </a:xfrm>
          <a:prstGeom prst="rect">
            <a:avLst/>
          </a:prstGeom>
          <a:noFill/>
        </p:spPr>
        <p:txBody>
          <a:bodyPr wrap="square" lIns="27432" tIns="27432" rIns="27432" bIns="27432" anchor="ctr">
            <a:spAutoFit/>
          </a:bodyPr>
          <a:lstStyle/>
          <a:p>
            <a:pPr algn="ctr">
              <a:spcAft>
                <a:spcPts val="0"/>
              </a:spcAft>
            </a:pPr>
            <a:r>
              <a:rPr sz="1400" b="1">
                <a:solidFill>
                  <a:srgbClr val="1E2B40"/>
                </a:solidFill>
              </a:rPr>
              <a:t>Heartbeat/election</a:t>
            </a:r>
          </a:p>
        </p:txBody>
      </p:sp>
      <p:cxnSp>
        <p:nvCxnSpPr>
          <p:cNvPr id="17" name="Connector 16"/>
          <p:cNvCxnSpPr/>
          <p:nvPr/>
        </p:nvCxnSpPr>
        <p:spPr>
          <a:xfrm>
            <a:off x="4904841"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5051145"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60873" y="2020824"/>
            <a:ext cx="411480" cy="219456"/>
          </a:xfrm>
          <a:prstGeom prst="rect">
            <a:avLst/>
          </a:prstGeom>
          <a:noFill/>
        </p:spPr>
        <p:txBody>
          <a:bodyPr wrap="square" lIns="27432" tIns="27432" rIns="27432" bIns="27432" anchor="t">
            <a:spAutoFit/>
          </a:bodyPr>
          <a:lstStyle/>
          <a:p>
            <a:pPr algn="l">
              <a:spcAft>
                <a:spcPts val="0"/>
              </a:spcAft>
            </a:pPr>
            <a:r>
              <a:rPr sz="1100" b="1">
                <a:solidFill>
                  <a:srgbClr val="E60012"/>
                </a:solidFill>
              </a:rPr>
              <a:t>03</a:t>
            </a:r>
          </a:p>
        </p:txBody>
      </p:sp>
      <p:sp>
        <p:nvSpPr>
          <p:cNvPr id="20" name="TextBox 19"/>
          <p:cNvSpPr txBox="1"/>
          <p:nvPr/>
        </p:nvSpPr>
        <p:spPr>
          <a:xfrm>
            <a:off x="5160873" y="2340864"/>
            <a:ext cx="1830628" cy="603504"/>
          </a:xfrm>
          <a:prstGeom prst="rect">
            <a:avLst/>
          </a:prstGeom>
          <a:noFill/>
        </p:spPr>
        <p:txBody>
          <a:bodyPr wrap="square" lIns="27432" tIns="27432" rIns="27432" bIns="27432" anchor="ctr">
            <a:spAutoFit/>
          </a:bodyPr>
          <a:lstStyle/>
          <a:p>
            <a:pPr algn="ctr">
              <a:spcAft>
                <a:spcPts val="0"/>
              </a:spcAft>
            </a:pPr>
            <a:r>
              <a:rPr sz="1400" b="1">
                <a:solidFill>
                  <a:srgbClr val="1E2B40"/>
                </a:solidFill>
              </a:rPr>
              <a:t>New primary</a:t>
            </a:r>
          </a:p>
        </p:txBody>
      </p:sp>
      <p:cxnSp>
        <p:nvCxnSpPr>
          <p:cNvPr id="21" name="Connector 20"/>
          <p:cNvCxnSpPr/>
          <p:nvPr/>
        </p:nvCxnSpPr>
        <p:spPr>
          <a:xfrm>
            <a:off x="7101230"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7247534"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357262" y="2020824"/>
            <a:ext cx="411480" cy="219456"/>
          </a:xfrm>
          <a:prstGeom prst="rect">
            <a:avLst/>
          </a:prstGeom>
          <a:noFill/>
        </p:spPr>
        <p:txBody>
          <a:bodyPr wrap="square" lIns="27432" tIns="27432" rIns="27432" bIns="27432" anchor="t">
            <a:spAutoFit/>
          </a:bodyPr>
          <a:lstStyle/>
          <a:p>
            <a:pPr algn="l">
              <a:spcAft>
                <a:spcPts val="0"/>
              </a:spcAft>
            </a:pPr>
            <a:r>
              <a:rPr sz="1100" b="1">
                <a:solidFill>
                  <a:srgbClr val="E60012"/>
                </a:solidFill>
              </a:rPr>
              <a:t>04</a:t>
            </a:r>
          </a:p>
        </p:txBody>
      </p:sp>
      <p:sp>
        <p:nvSpPr>
          <p:cNvPr id="24" name="TextBox 23"/>
          <p:cNvSpPr txBox="1"/>
          <p:nvPr/>
        </p:nvSpPr>
        <p:spPr>
          <a:xfrm>
            <a:off x="7357262" y="2340864"/>
            <a:ext cx="1830628" cy="603504"/>
          </a:xfrm>
          <a:prstGeom prst="rect">
            <a:avLst/>
          </a:prstGeom>
          <a:noFill/>
        </p:spPr>
        <p:txBody>
          <a:bodyPr wrap="square" lIns="27432" tIns="27432" rIns="27432" bIns="27432" anchor="ctr">
            <a:spAutoFit/>
          </a:bodyPr>
          <a:lstStyle/>
          <a:p>
            <a:pPr algn="ctr">
              <a:spcAft>
                <a:spcPts val="0"/>
              </a:spcAft>
            </a:pPr>
            <a:r>
              <a:rPr sz="1400" b="1">
                <a:solidFill>
                  <a:srgbClr val="1E2B40"/>
                </a:solidFill>
              </a:rPr>
              <a:t>L2/L3 convergence</a:t>
            </a:r>
          </a:p>
        </p:txBody>
      </p:sp>
      <p:cxnSp>
        <p:nvCxnSpPr>
          <p:cNvPr id="25" name="Connector 24"/>
          <p:cNvCxnSpPr/>
          <p:nvPr/>
        </p:nvCxnSpPr>
        <p:spPr>
          <a:xfrm>
            <a:off x="9297619"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9443923"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553651" y="2020824"/>
            <a:ext cx="411480" cy="219456"/>
          </a:xfrm>
          <a:prstGeom prst="rect">
            <a:avLst/>
          </a:prstGeom>
          <a:noFill/>
        </p:spPr>
        <p:txBody>
          <a:bodyPr wrap="square" lIns="27432" tIns="27432" rIns="27432" bIns="27432" anchor="t">
            <a:spAutoFit/>
          </a:bodyPr>
          <a:lstStyle/>
          <a:p>
            <a:pPr algn="l">
              <a:spcAft>
                <a:spcPts val="0"/>
              </a:spcAft>
            </a:pPr>
            <a:r>
              <a:rPr sz="1100" b="1">
                <a:solidFill>
                  <a:srgbClr val="E60012"/>
                </a:solidFill>
              </a:rPr>
              <a:t>05</a:t>
            </a:r>
          </a:p>
        </p:txBody>
      </p:sp>
      <p:sp>
        <p:nvSpPr>
          <p:cNvPr id="28" name="TextBox 27"/>
          <p:cNvSpPr txBox="1"/>
          <p:nvPr/>
        </p:nvSpPr>
        <p:spPr>
          <a:xfrm>
            <a:off x="9553651" y="2340864"/>
            <a:ext cx="1830628" cy="603504"/>
          </a:xfrm>
          <a:prstGeom prst="rect">
            <a:avLst/>
          </a:prstGeom>
          <a:noFill/>
        </p:spPr>
        <p:txBody>
          <a:bodyPr wrap="square" lIns="27432" tIns="27432" rIns="27432" bIns="27432" anchor="ctr">
            <a:spAutoFit/>
          </a:bodyPr>
          <a:lstStyle/>
          <a:p>
            <a:pPr algn="ctr">
              <a:spcAft>
                <a:spcPts val="0"/>
              </a:spcAft>
            </a:pPr>
            <a:r>
              <a:rPr sz="1400" b="1">
                <a:solidFill>
                  <a:srgbClr val="1E2B40"/>
                </a:solidFill>
              </a:rPr>
              <a:t>Session recovery</a:t>
            </a:r>
          </a:p>
        </p:txBody>
      </p:sp>
      <p:sp>
        <p:nvSpPr>
          <p:cNvPr id="29" name="TextBox 28"/>
          <p:cNvSpPr txBox="1"/>
          <p:nvPr/>
        </p:nvSpPr>
        <p:spPr>
          <a:xfrm>
            <a:off x="658368" y="3703320"/>
            <a:ext cx="2011680" cy="256032"/>
          </a:xfrm>
          <a:prstGeom prst="rect">
            <a:avLst/>
          </a:prstGeom>
          <a:noFill/>
        </p:spPr>
        <p:txBody>
          <a:bodyPr wrap="square" lIns="27432" tIns="27432" rIns="27432" bIns="27432" anchor="t">
            <a:spAutoFit/>
          </a:bodyPr>
          <a:lstStyle/>
          <a:p>
            <a:pPr algn="l">
              <a:spcAft>
                <a:spcPts val="0"/>
              </a:spcAft>
            </a:pPr>
            <a:r>
              <a:rPr sz="1100" b="1">
                <a:solidFill>
                  <a:srgbClr val="E60012"/>
                </a:solidFill>
              </a:rPr>
              <a:t>What to observe</a:t>
            </a:r>
          </a:p>
        </p:txBody>
      </p:sp>
      <p:sp>
        <p:nvSpPr>
          <p:cNvPr id="30" name="TextBox 29"/>
          <p:cNvSpPr txBox="1"/>
          <p:nvPr/>
        </p:nvSpPr>
        <p:spPr>
          <a:xfrm>
            <a:off x="658368" y="4050791"/>
            <a:ext cx="6446520" cy="1508760"/>
          </a:xfrm>
          <a:prstGeom prst="rect">
            <a:avLst/>
          </a:prstGeom>
          <a:noFill/>
        </p:spPr>
        <p:txBody>
          <a:bodyPr wrap="square" lIns="109728" tIns="73152" rIns="109728" bIns="73152" anchor="t">
            <a:spAutoFit/>
          </a:bodyPr>
          <a:lstStyle/>
          <a:p>
            <a:pPr algn="l">
              <a:lnSpc>
                <a:spcPct val="105000"/>
              </a:lnSpc>
              <a:spcAft>
                <a:spcPts val="700"/>
              </a:spcAft>
              <a:defRPr sz="1600">
                <a:solidFill>
                  <a:srgbClr val="1E2B40"/>
                </a:solidFill>
              </a:defRPr>
            </a:pPr>
            <a:r>
              <a:t>• Link-monitor/path health mechanisms may be needed beyond physical interface state</a:t>
            </a:r>
          </a:p>
          <a:p>
            <a:pPr>
              <a:lnSpc>
                <a:spcPct val="105000"/>
              </a:lnSpc>
              <a:spcAft>
                <a:spcPts val="700"/>
              </a:spcAft>
              <a:defRPr sz="1600">
                <a:solidFill>
                  <a:srgbClr val="1E2B40"/>
                </a:solidFill>
              </a:defRPr>
            </a:pPr>
            <a:r>
              <a:t>• Failover time includes detection, election, forwarding convergence and upstream learning</a:t>
            </a:r>
          </a:p>
          <a:p>
            <a:pPr>
              <a:lnSpc>
                <a:spcPct val="105000"/>
              </a:lnSpc>
              <a:spcAft>
                <a:spcPts val="700"/>
              </a:spcAft>
              <a:defRPr sz="1600">
                <a:solidFill>
                  <a:srgbClr val="1E2B40"/>
                </a:solidFill>
              </a:defRPr>
            </a:pPr>
            <a:r>
              <a:t>• Flapping monitored links can cause repeated disruption</a:t>
            </a:r>
          </a:p>
        </p:txBody>
      </p:sp>
      <p:cxnSp>
        <p:nvCxnSpPr>
          <p:cNvPr id="31" name="Connector 30"/>
          <p:cNvCxnSpPr/>
          <p:nvPr/>
        </p:nvCxnSpPr>
        <p:spPr>
          <a:xfrm>
            <a:off x="7452360" y="3703320"/>
            <a:ext cx="0" cy="2093976"/>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7772400" y="3703320"/>
            <a:ext cx="292608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INSTRUCTOR DEMONSTRATION</a:t>
            </a:r>
            <a:endParaRPr sz="1100" b="1">
              <a:solidFill>
                <a:srgbClr val="E60012"/>
              </a:solidFill>
            </a:endParaRPr>
          </a:p>
        </p:txBody>
      </p:sp>
      <p:sp>
        <p:nvSpPr>
          <p:cNvPr id="33" name="TextBox 32"/>
          <p:cNvSpPr txBox="1"/>
          <p:nvPr/>
        </p:nvSpPr>
        <p:spPr>
          <a:xfrm>
            <a:off x="7772400" y="4096512"/>
            <a:ext cx="3337560" cy="747897"/>
          </a:xfrm>
          <a:prstGeom prst="rect">
            <a:avLst/>
          </a:prstGeom>
          <a:noFill/>
        </p:spPr>
        <p:txBody>
          <a:bodyPr wrap="square" lIns="27432" tIns="27432" rIns="27432" bIns="27432" anchor="t">
            <a:spAutoFit/>
          </a:bodyPr>
          <a:lstStyle/>
          <a:p>
            <a:pPr algn="l">
              <a:spcAft>
                <a:spcPts val="0"/>
              </a:spcAft>
            </a:pPr>
            <a:r>
              <a:rPr sz="1500" b="1">
                <a:solidFill>
                  <a:srgbClr val="233A59"/>
                </a:solidFill>
              </a:rPr>
              <a:t>Declare </a:t>
            </a:r>
            <a:r>
              <a:rPr lang="en-GB" sz="1500" b="1">
                <a:solidFill>
                  <a:srgbClr val="233A59"/>
                </a:solidFill>
              </a:rPr>
              <a:t>the </a:t>
            </a:r>
            <a:r>
              <a:rPr sz="1500" b="1">
                <a:solidFill>
                  <a:srgbClr val="233A59"/>
                </a:solidFill>
              </a:rPr>
              <a:t>trigger, </a:t>
            </a:r>
            <a:r>
              <a:rPr lang="en-GB" sz="1500" b="1">
                <a:solidFill>
                  <a:srgbClr val="233A59"/>
                </a:solidFill>
              </a:rPr>
              <a:t>expected </a:t>
            </a:r>
            <a:r>
              <a:rPr sz="1500" b="1">
                <a:solidFill>
                  <a:srgbClr val="233A59"/>
                </a:solidFill>
              </a:rPr>
              <a:t>timer and convergence </a:t>
            </a:r>
            <a:r>
              <a:rPr lang="en-GB" sz="1500" b="1">
                <a:solidFill>
                  <a:srgbClr val="233A59"/>
                </a:solidFill>
              </a:rPr>
              <a:t>checkpoints </a:t>
            </a:r>
            <a:r>
              <a:rPr sz="1500" b="1">
                <a:solidFill>
                  <a:srgbClr val="233A59"/>
                </a:solidFill>
              </a:rPr>
              <a:t>before</a:t>
            </a:r>
            <a:r>
              <a:rPr lang="en-GB" sz="1500" b="1">
                <a:solidFill>
                  <a:srgbClr val="233A59"/>
                </a:solidFill>
              </a:rPr>
              <a:t> the</a:t>
            </a:r>
            <a:r>
              <a:rPr sz="1500" b="1">
                <a:solidFill>
                  <a:srgbClr val="233A59"/>
                </a:solidFill>
              </a:rPr>
              <a:t> test.</a:t>
            </a:r>
          </a:p>
        </p:txBody>
      </p:sp>
      <p:sp>
        <p:nvSpPr>
          <p:cNvPr id="34" name="TextBox 33"/>
          <p:cNvSpPr txBox="1"/>
          <p:nvPr/>
        </p:nvSpPr>
        <p:spPr>
          <a:xfrm>
            <a:off x="7772400" y="5440680"/>
            <a:ext cx="3337560" cy="363176"/>
          </a:xfrm>
          <a:prstGeom prst="rect">
            <a:avLst/>
          </a:prstGeom>
          <a:noFill/>
        </p:spPr>
        <p:txBody>
          <a:bodyPr wrap="square" lIns="27432" tIns="27432" rIns="27432" bIns="27432" anchor="t">
            <a:spAutoFit/>
          </a:bodyPr>
          <a:lstStyle/>
          <a:p>
            <a:pPr algn="l">
              <a:spcAft>
                <a:spcPts val="0"/>
              </a:spcAft>
            </a:pPr>
            <a:r>
              <a:rPr lang="en-GB" sz="1000" b="0">
                <a:solidFill>
                  <a:srgbClr val="687385"/>
                </a:solidFill>
              </a:rPr>
              <a:t>If debug is used, filter by the test tuple and disable</a:t>
            </a:r>
            <a:r>
              <a:rPr sz="1000" b="0">
                <a:solidFill>
                  <a:srgbClr val="687385"/>
                </a:solidFill>
              </a:rPr>
              <a:t>/reset </a:t>
            </a:r>
            <a:r>
              <a:rPr lang="en-GB" sz="1000" b="0">
                <a:solidFill>
                  <a:srgbClr val="687385"/>
                </a:solidFill>
              </a:rPr>
              <a:t>it immediately </a:t>
            </a:r>
            <a:r>
              <a:rPr sz="1000" b="0">
                <a:solidFill>
                  <a:srgbClr val="687385"/>
                </a:solidFill>
              </a:rPr>
              <a:t>after </a:t>
            </a:r>
            <a:r>
              <a:rPr lang="en-GB" sz="1000" b="0">
                <a:solidFill>
                  <a:srgbClr val="687385"/>
                </a:solidFill>
              </a:rPr>
              <a:t>capture</a:t>
            </a:r>
            <a:r>
              <a:rPr sz="1000" b="0">
                <a:solidFill>
                  <a:srgbClr val="687385"/>
                </a:solidFill>
              </a:rPr>
              <a:t>.</a:t>
            </a:r>
          </a:p>
        </p:txBody>
      </p:sp>
      <p:sp>
        <p:nvSpPr>
          <p:cNvPr id="35" name="TextBox 34"/>
          <p:cNvSpPr txBox="1"/>
          <p:nvPr/>
        </p:nvSpPr>
        <p:spPr>
          <a:xfrm>
            <a:off x="502920" y="420624"/>
            <a:ext cx="10744200" cy="130805"/>
          </a:xfrm>
          <a:prstGeom prst="rect">
            <a:avLst/>
          </a:prstGeom>
          <a:noFill/>
        </p:spPr>
        <p:txBody>
          <a:bodyPr wrap="square" lIns="0" tIns="0" rIns="0" bIns="0">
            <a:spAutoFit/>
          </a:bodyPr>
          <a:lstStyle/>
          <a:p>
            <a:pPr algn="l"/>
            <a:r>
              <a:rPr lang="en-HU" sz="850" b="1">
                <a:solidFill>
                  <a:srgbClr val="687385"/>
                </a:solidFill>
              </a:rPr>
              <a:t>153</a:t>
            </a:r>
            <a:r>
              <a:rPr sz="850" b="1">
                <a:solidFill>
                  <a:srgbClr val="687385"/>
                </a:solidFill>
              </a:rPr>
              <a:t> • DAY 4 • BLOCK 14 • High Availability</a:t>
            </a: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54">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154</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Session behavior depends on synchronization and traffic type</a:t>
            </a:r>
          </a:p>
        </p:txBody>
      </p:sp>
      <p:sp>
        <p:nvSpPr>
          <p:cNvPr id="10" name="TextBox 9"/>
          <p:cNvSpPr txBox="1">
            <a:spLocks/>
          </p:cNvSpPr>
          <p:nvPr/>
        </p:nvSpPr>
        <p:spPr>
          <a:xfrm>
            <a:off x="658368" y="1554480"/>
            <a:ext cx="6583680" cy="4389120"/>
          </a:xfrm>
          <a:prstGeom prst="rect">
            <a:avLst/>
          </a:prstGeom>
          <a:noFill/>
        </p:spPr>
        <p:txBody>
          <a:bodyPr wrap="square" lIns="109728" tIns="73152" rIns="109728" bIns="73152" anchor="t">
            <a:spAutoFit/>
          </a:bodyPr>
          <a:lstStyle/>
          <a:p>
            <a:pPr algn="l">
              <a:lnSpc>
                <a:spcPct val="105000"/>
              </a:lnSpc>
              <a:spcAft>
                <a:spcPts val="800"/>
              </a:spcAft>
              <a:defRPr sz="1700">
                <a:solidFill>
                  <a:srgbClr val="1E2B40"/>
                </a:solidFill>
              </a:defRPr>
            </a:pPr>
            <a:r>
              <a:rPr lang="en-GB"/>
              <a:t>• Synced eligible sessions can continue with limited interruption</a:t>
            </a:r>
          </a:p>
          <a:p>
            <a:pPr>
              <a:lnSpc>
                <a:spcPct val="105000"/>
              </a:lnSpc>
              <a:spcAft>
                <a:spcPts val="800"/>
              </a:spcAft>
              <a:defRPr sz="1700">
                <a:solidFill>
                  <a:srgbClr val="1E2B40"/>
                </a:solidFill>
              </a:defRPr>
            </a:pPr>
            <a:r>
              <a:rPr lang="en-GB"/>
              <a:t>• Unsynchronized or unsupported sessions must be re-established</a:t>
            </a:r>
          </a:p>
          <a:p>
            <a:pPr>
              <a:lnSpc>
                <a:spcPct val="105000"/>
              </a:lnSpc>
              <a:spcAft>
                <a:spcPts val="800"/>
              </a:spcAft>
              <a:defRPr sz="1700">
                <a:solidFill>
                  <a:srgbClr val="1E2B40"/>
                </a:solidFill>
              </a:defRPr>
            </a:pPr>
            <a:r>
              <a:rPr lang="en-GB"/>
              <a:t>• NAT, IPsec, routing and authentication state have specific HA considerations</a:t>
            </a:r>
          </a:p>
          <a:p>
            <a:pPr>
              <a:lnSpc>
                <a:spcPct val="105000"/>
              </a:lnSpc>
              <a:spcAft>
                <a:spcPts val="800"/>
              </a:spcAft>
              <a:defRPr sz="1700">
                <a:solidFill>
                  <a:srgbClr val="1E2B40"/>
                </a:solidFill>
              </a:defRPr>
            </a:pPr>
            <a:r>
              <a:rPr lang="en-GB"/>
              <a:t>• Measure user impact, not only role change</a:t>
            </a:r>
          </a:p>
        </p:txBody>
      </p:sp>
      <p:cxnSp>
        <p:nvCxnSpPr>
          <p:cNvPr id="11" name="Connector 10"/>
          <p:cNvCxnSpPr/>
          <p:nvPr/>
        </p:nvCxnSpPr>
        <p:spPr>
          <a:xfrm>
            <a:off x="7452360" y="1600200"/>
            <a:ext cx="0" cy="434340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7790688" y="1627632"/>
            <a:ext cx="342900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ILLUSTRATIVE SCENARIO</a:t>
            </a:r>
          </a:p>
        </p:txBody>
      </p:sp>
      <p:sp>
        <p:nvSpPr>
          <p:cNvPr id="13" name="TextBox 12"/>
          <p:cNvSpPr txBox="1">
            <a:spLocks/>
          </p:cNvSpPr>
          <p:nvPr/>
        </p:nvSpPr>
        <p:spPr>
          <a:xfrm>
            <a:off x="7790688" y="2057400"/>
            <a:ext cx="3337560" cy="1417320"/>
          </a:xfrm>
          <a:prstGeom prst="rect">
            <a:avLst/>
          </a:prstGeom>
          <a:noFill/>
        </p:spPr>
        <p:txBody>
          <a:bodyPr wrap="square" lIns="27432" tIns="27432" rIns="27432" bIns="27432" anchor="t">
            <a:spAutoFit/>
          </a:bodyPr>
          <a:lstStyle/>
          <a:p>
            <a:pPr algn="l">
              <a:spcAft>
                <a:spcPts val="0"/>
              </a:spcAft>
            </a:pPr>
            <a:r>
              <a:rPr lang="en-GB" sz="1700" b="1">
                <a:solidFill>
                  <a:srgbClr val="233A59"/>
                </a:solidFill>
              </a:rPr>
              <a:t>A long-lived TCP stream and a new connection reveal different effects</a:t>
            </a:r>
          </a:p>
        </p:txBody>
      </p:sp>
      <p:sp>
        <p:nvSpPr>
          <p:cNvPr id="14" name="TextBox 13"/>
          <p:cNvSpPr txBox="1">
            <a:spLocks/>
          </p:cNvSpPr>
          <p:nvPr/>
        </p:nvSpPr>
        <p:spPr>
          <a:xfrm>
            <a:off x="7790688" y="3822191"/>
            <a:ext cx="18288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EXPECTED RESULT</a:t>
            </a:r>
          </a:p>
        </p:txBody>
      </p:sp>
      <p:sp>
        <p:nvSpPr>
          <p:cNvPr id="15" name="TextBox 14"/>
          <p:cNvSpPr txBox="1">
            <a:spLocks/>
          </p:cNvSpPr>
          <p:nvPr/>
        </p:nvSpPr>
        <p:spPr>
          <a:xfrm>
            <a:off x="7790688" y="4187952"/>
            <a:ext cx="3337560" cy="1325880"/>
          </a:xfrm>
          <a:prstGeom prst="rect">
            <a:avLst/>
          </a:prstGeom>
          <a:noFill/>
        </p:spPr>
        <p:txBody>
          <a:bodyPr wrap="square" lIns="27432" tIns="27432" rIns="27432" bIns="27432" anchor="t">
            <a:spAutoFit/>
          </a:bodyPr>
          <a:lstStyle/>
          <a:p>
            <a:pPr algn="l">
              <a:spcAft>
                <a:spcPts val="0"/>
              </a:spcAft>
            </a:pPr>
            <a:r>
              <a:rPr lang="en-GB" sz="1500" b="0">
                <a:solidFill>
                  <a:srgbClr val="1E2B40"/>
                </a:solidFill>
              </a:rPr>
              <a:t>Track session on both members and packet loss during failover.</a:t>
            </a:r>
          </a:p>
        </p:txBody>
      </p:sp>
      <p:sp>
        <p:nvSpPr>
          <p:cNvPr id="16" name="TextBox 15"/>
          <p:cNvSpPr txBox="1">
            <a:spLocks/>
          </p:cNvSpPr>
          <p:nvPr/>
        </p:nvSpPr>
        <p:spPr>
          <a:xfrm>
            <a:off x="7790688" y="5596128"/>
            <a:ext cx="1920240" cy="201168"/>
          </a:xfrm>
          <a:prstGeom prst="rect">
            <a:avLst/>
          </a:prstGeom>
          <a:noFill/>
        </p:spPr>
        <p:txBody>
          <a:bodyPr wrap="square" lIns="27432" tIns="27432" rIns="27432" bIns="27432" anchor="t">
            <a:spAutoFit/>
          </a:bodyPr>
          <a:lstStyle/>
          <a:p>
            <a:pPr algn="l">
              <a:spcAft>
                <a:spcPts val="0"/>
              </a:spcAft>
            </a:pPr>
            <a:r>
              <a:rPr lang="en-GB" sz="1000" b="1">
                <a:solidFill>
                  <a:srgbClr val="687385"/>
                </a:solidFill>
              </a:rPr>
              <a:t>Expected observation</a:t>
            </a:r>
          </a:p>
        </p:txBody>
      </p:sp>
      <p:sp>
        <p:nvSpPr>
          <p:cNvPr id="17" name="TextBox 16"/>
          <p:cNvSpPr txBox="1">
            <a:spLocks/>
          </p:cNvSpPr>
          <p:nvPr/>
        </p:nvSpPr>
        <p:spPr>
          <a:xfrm>
            <a:off x="9509760" y="5577840"/>
            <a:ext cx="1691640" cy="824841"/>
          </a:xfrm>
          <a:prstGeom prst="rect">
            <a:avLst/>
          </a:prstGeom>
          <a:noFill/>
        </p:spPr>
        <p:txBody>
          <a:bodyPr wrap="square" lIns="27432" tIns="27432" rIns="27432" bIns="27432" anchor="t">
            <a:spAutoFit/>
          </a:bodyPr>
          <a:lstStyle/>
          <a:p>
            <a:pPr algn="r">
              <a:spcAft>
                <a:spcPts val="0"/>
              </a:spcAft>
            </a:pPr>
            <a:r>
              <a:rPr lang="en-GB" sz="1000" b="0">
                <a:solidFill>
                  <a:srgbClr val="687385"/>
                </a:solidFill>
              </a:rPr>
              <a:t>The secondary is synchronized before failover; after failover, the new primary forwards eligible test sessions.</a:t>
            </a:r>
          </a:p>
        </p:txBody>
      </p:sp>
      <p:sp>
        <p:nvSpPr>
          <p:cNvPr id="18" name="TextBox 17"/>
          <p:cNvSpPr txBox="1">
            <a:spLocks/>
          </p:cNvSpPr>
          <p:nvPr/>
        </p:nvSpPr>
        <p:spPr>
          <a:xfrm>
            <a:off x="502920" y="420624"/>
            <a:ext cx="10744200" cy="130805"/>
          </a:xfrm>
          <a:prstGeom prst="rect">
            <a:avLst/>
          </a:prstGeom>
          <a:noFill/>
        </p:spPr>
        <p:txBody>
          <a:bodyPr wrap="square" lIns="0" tIns="0" rIns="0" bIns="0">
            <a:spAutoFit/>
          </a:bodyPr>
          <a:lstStyle/>
          <a:p>
            <a:pPr algn="l"/>
            <a:r>
              <a:rPr lang="en-GB" sz="850" b="1">
                <a:solidFill>
                  <a:srgbClr val="687385"/>
                </a:solidFill>
              </a:rPr>
              <a:t>154 • DAY 4 • BLOCK 14 • High Availability</a:t>
            </a: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55">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155</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Common HA faults cluster around prerequisites and Layer 2</a:t>
            </a:r>
          </a:p>
        </p:txBody>
      </p:sp>
      <p:sp>
        <p:nvSpPr>
          <p:cNvPr id="10" name="TextBox 9"/>
          <p:cNvSpPr txBox="1">
            <a:spLocks/>
          </p:cNvSpPr>
          <p:nvPr/>
        </p:nvSpPr>
        <p:spPr>
          <a:xfrm>
            <a:off x="658368" y="1554480"/>
            <a:ext cx="6583680" cy="4389120"/>
          </a:xfrm>
          <a:prstGeom prst="rect">
            <a:avLst/>
          </a:prstGeom>
          <a:noFill/>
        </p:spPr>
        <p:txBody>
          <a:bodyPr wrap="square" lIns="109728" tIns="73152" rIns="109728" bIns="73152" anchor="t">
            <a:spAutoFit/>
          </a:bodyPr>
          <a:lstStyle/>
          <a:p>
            <a:pPr algn="l">
              <a:lnSpc>
                <a:spcPct val="105000"/>
              </a:lnSpc>
              <a:spcAft>
                <a:spcPts val="800"/>
              </a:spcAft>
              <a:defRPr sz="1700">
                <a:solidFill>
                  <a:srgbClr val="1E2B40"/>
                </a:solidFill>
              </a:defRPr>
            </a:pPr>
            <a:r>
              <a:rPr lang="en-GB"/>
              <a:t>• Firmware/model mismatch prevents expected formation</a:t>
            </a:r>
          </a:p>
          <a:p>
            <a:pPr>
              <a:lnSpc>
                <a:spcPct val="105000"/>
              </a:lnSpc>
              <a:spcAft>
                <a:spcPts val="800"/>
              </a:spcAft>
              <a:defRPr sz="1700">
                <a:solidFill>
                  <a:srgbClr val="1E2B40"/>
                </a:solidFill>
              </a:defRPr>
            </a:pPr>
            <a:r>
              <a:rPr lang="en-GB"/>
              <a:t>• Heartbeat VLAN/switch behavior can introduce loss or loops</a:t>
            </a:r>
          </a:p>
          <a:p>
            <a:pPr>
              <a:lnSpc>
                <a:spcPct val="105000"/>
              </a:lnSpc>
              <a:spcAft>
                <a:spcPts val="800"/>
              </a:spcAft>
              <a:defRPr sz="1700">
                <a:solidFill>
                  <a:srgbClr val="1E2B40"/>
                </a:solidFill>
              </a:defRPr>
            </a:pPr>
            <a:r>
              <a:rPr lang="en-GB"/>
              <a:t>• Duplicate management/IP design can make a healthy cluster appear unreachable</a:t>
            </a:r>
          </a:p>
          <a:p>
            <a:pPr>
              <a:lnSpc>
                <a:spcPct val="105000"/>
              </a:lnSpc>
              <a:spcAft>
                <a:spcPts val="800"/>
              </a:spcAft>
              <a:defRPr sz="1700">
                <a:solidFill>
                  <a:srgbClr val="1E2B40"/>
                </a:solidFill>
              </a:defRPr>
            </a:pPr>
            <a:r>
              <a:rPr lang="en-GB"/>
              <a:t>• Upstream/downstream MAC/ARP convergence can dominate outage time</a:t>
            </a:r>
          </a:p>
        </p:txBody>
      </p:sp>
      <p:cxnSp>
        <p:nvCxnSpPr>
          <p:cNvPr id="11" name="Connector 10"/>
          <p:cNvCxnSpPr/>
          <p:nvPr/>
        </p:nvCxnSpPr>
        <p:spPr>
          <a:xfrm>
            <a:off x="7452360" y="1600200"/>
            <a:ext cx="0" cy="434340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7790688" y="1627632"/>
            <a:ext cx="342900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ILLUSTRATIVE SCENARIO</a:t>
            </a:r>
          </a:p>
        </p:txBody>
      </p:sp>
      <p:sp>
        <p:nvSpPr>
          <p:cNvPr id="13" name="TextBox 12"/>
          <p:cNvSpPr txBox="1">
            <a:spLocks/>
          </p:cNvSpPr>
          <p:nvPr/>
        </p:nvSpPr>
        <p:spPr>
          <a:xfrm>
            <a:off x="7790688" y="2057400"/>
            <a:ext cx="3337560" cy="1417320"/>
          </a:xfrm>
          <a:prstGeom prst="rect">
            <a:avLst/>
          </a:prstGeom>
          <a:noFill/>
        </p:spPr>
        <p:txBody>
          <a:bodyPr wrap="square" lIns="27432" tIns="27432" rIns="27432" bIns="27432" anchor="t">
            <a:spAutoFit/>
          </a:bodyPr>
          <a:lstStyle/>
          <a:p>
            <a:pPr algn="l">
              <a:spcAft>
                <a:spcPts val="0"/>
              </a:spcAft>
            </a:pPr>
            <a:r>
              <a:rPr lang="en-GB" sz="1700" b="1">
                <a:solidFill>
                  <a:srgbClr val="233A59"/>
                </a:solidFill>
              </a:rPr>
              <a:t>Separate cluster health from surrounding-network convergence</a:t>
            </a:r>
          </a:p>
        </p:txBody>
      </p:sp>
      <p:sp>
        <p:nvSpPr>
          <p:cNvPr id="14" name="TextBox 13"/>
          <p:cNvSpPr txBox="1">
            <a:spLocks/>
          </p:cNvSpPr>
          <p:nvPr/>
        </p:nvSpPr>
        <p:spPr>
          <a:xfrm>
            <a:off x="7790688" y="3822191"/>
            <a:ext cx="18288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EXPECTED RESULT</a:t>
            </a:r>
          </a:p>
        </p:txBody>
      </p:sp>
      <p:sp>
        <p:nvSpPr>
          <p:cNvPr id="15" name="TextBox 14"/>
          <p:cNvSpPr txBox="1">
            <a:spLocks/>
          </p:cNvSpPr>
          <p:nvPr/>
        </p:nvSpPr>
        <p:spPr>
          <a:xfrm>
            <a:off x="7790688" y="4187952"/>
            <a:ext cx="3337560" cy="517065"/>
          </a:xfrm>
          <a:prstGeom prst="rect">
            <a:avLst/>
          </a:prstGeom>
          <a:noFill/>
        </p:spPr>
        <p:txBody>
          <a:bodyPr wrap="square" lIns="27432" tIns="27432" rIns="27432" bIns="27432" anchor="t">
            <a:spAutoFit/>
          </a:bodyPr>
          <a:lstStyle/>
          <a:p>
            <a:pPr algn="l">
              <a:spcAft>
                <a:spcPts val="0"/>
              </a:spcAft>
            </a:pPr>
            <a:r>
              <a:rPr lang="en-GB" sz="1500" b="0">
                <a:solidFill>
                  <a:srgbClr val="1E2B40"/>
                </a:solidFill>
              </a:rPr>
              <a:t>Capture heartbeat/role events plus adjacent switch/router state.</a:t>
            </a:r>
          </a:p>
        </p:txBody>
      </p:sp>
      <p:sp>
        <p:nvSpPr>
          <p:cNvPr id="16" name="TextBox 15"/>
          <p:cNvSpPr txBox="1">
            <a:spLocks/>
          </p:cNvSpPr>
          <p:nvPr/>
        </p:nvSpPr>
        <p:spPr>
          <a:xfrm>
            <a:off x="7790688" y="5596128"/>
            <a:ext cx="1920240" cy="201168"/>
          </a:xfrm>
          <a:prstGeom prst="rect">
            <a:avLst/>
          </a:prstGeom>
          <a:noFill/>
        </p:spPr>
        <p:txBody>
          <a:bodyPr wrap="square" lIns="27432" tIns="27432" rIns="27432" bIns="27432" anchor="t">
            <a:spAutoFit/>
          </a:bodyPr>
          <a:lstStyle/>
          <a:p>
            <a:pPr algn="l">
              <a:spcAft>
                <a:spcPts val="0"/>
              </a:spcAft>
            </a:pPr>
            <a:r>
              <a:rPr lang="en-GB" sz="1000" b="1">
                <a:solidFill>
                  <a:srgbClr val="687385"/>
                </a:solidFill>
              </a:rPr>
              <a:t>Expected observation</a:t>
            </a:r>
          </a:p>
        </p:txBody>
      </p:sp>
      <p:sp>
        <p:nvSpPr>
          <p:cNvPr id="17" name="TextBox 16"/>
          <p:cNvSpPr txBox="1">
            <a:spLocks/>
          </p:cNvSpPr>
          <p:nvPr/>
        </p:nvSpPr>
        <p:spPr>
          <a:xfrm>
            <a:off x="9509760" y="5577840"/>
            <a:ext cx="1691640" cy="824841"/>
          </a:xfrm>
          <a:prstGeom prst="rect">
            <a:avLst/>
          </a:prstGeom>
          <a:noFill/>
        </p:spPr>
        <p:txBody>
          <a:bodyPr wrap="square" lIns="27432" tIns="27432" rIns="27432" bIns="27432" anchor="t">
            <a:spAutoFit/>
          </a:bodyPr>
          <a:lstStyle/>
          <a:p>
            <a:pPr algn="r">
              <a:spcAft>
                <a:spcPts val="0"/>
              </a:spcAft>
            </a:pPr>
            <a:r>
              <a:rPr lang="en-GB" sz="1000" b="0">
                <a:solidFill>
                  <a:srgbClr val="687385"/>
                </a:solidFill>
              </a:rPr>
              <a:t>The secondary is synchronized before failover; after failover, the new primary forwards eligible test sessions.</a:t>
            </a:r>
          </a:p>
        </p:txBody>
      </p:sp>
      <p:sp>
        <p:nvSpPr>
          <p:cNvPr id="18" name="TextBox 17"/>
          <p:cNvSpPr txBox="1">
            <a:spLocks/>
          </p:cNvSpPr>
          <p:nvPr/>
        </p:nvSpPr>
        <p:spPr>
          <a:xfrm>
            <a:off x="502920" y="420624"/>
            <a:ext cx="10744200" cy="130805"/>
          </a:xfrm>
          <a:prstGeom prst="rect">
            <a:avLst/>
          </a:prstGeom>
          <a:noFill/>
        </p:spPr>
        <p:txBody>
          <a:bodyPr wrap="square" lIns="0" tIns="0" rIns="0" bIns="0">
            <a:spAutoFit/>
          </a:bodyPr>
          <a:lstStyle/>
          <a:p>
            <a:pPr algn="l"/>
            <a:r>
              <a:rPr lang="en-GB" sz="850" b="1">
                <a:solidFill>
                  <a:srgbClr val="687385"/>
                </a:solidFill>
              </a:rPr>
              <a:t>155 • DAY 4 • BLOCK 14 • High Availability</a:t>
            </a: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56">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156</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Cloud HA is a provider-integrated design, not an appliance clone</a:t>
            </a:r>
          </a:p>
        </p:txBody>
      </p:sp>
      <p:sp>
        <p:nvSpPr>
          <p:cNvPr id="10" name="TextBox 9"/>
          <p:cNvSpPr txBox="1">
            <a:spLocks/>
          </p:cNvSpPr>
          <p:nvPr/>
        </p:nvSpPr>
        <p:spPr>
          <a:xfrm>
            <a:off x="658368" y="1554480"/>
            <a:ext cx="6583680" cy="4389120"/>
          </a:xfrm>
          <a:prstGeom prst="rect">
            <a:avLst/>
          </a:prstGeom>
          <a:noFill/>
        </p:spPr>
        <p:txBody>
          <a:bodyPr wrap="square" lIns="109728" tIns="73152" rIns="109728" bIns="73152" anchor="t">
            <a:spAutoFit/>
          </a:bodyPr>
          <a:lstStyle/>
          <a:p>
            <a:pPr algn="l">
              <a:lnSpc>
                <a:spcPct val="105000"/>
              </a:lnSpc>
              <a:spcAft>
                <a:spcPts val="800"/>
              </a:spcAft>
              <a:defRPr sz="1700">
                <a:solidFill>
                  <a:srgbClr val="1E2B40"/>
                </a:solidFill>
              </a:defRPr>
            </a:pPr>
            <a:r>
              <a:rPr lang="en-GB"/>
              <a:t>• Cloud instances lack physical heartbeat/transparent L2 assumptions in many designs</a:t>
            </a:r>
          </a:p>
          <a:p>
            <a:pPr>
              <a:lnSpc>
                <a:spcPct val="105000"/>
              </a:lnSpc>
              <a:spcAft>
                <a:spcPts val="800"/>
              </a:spcAft>
              <a:defRPr sz="1700">
                <a:solidFill>
                  <a:srgbClr val="1E2B40"/>
                </a:solidFill>
              </a:defRPr>
            </a:pPr>
            <a:r>
              <a:rPr lang="en-GB"/>
              <a:t>• Routing, load balancers, APIs and provider failover mechanisms may be required</a:t>
            </a:r>
          </a:p>
          <a:p>
            <a:pPr>
              <a:lnSpc>
                <a:spcPct val="105000"/>
              </a:lnSpc>
              <a:spcAft>
                <a:spcPts val="800"/>
              </a:spcAft>
              <a:defRPr sz="1700">
                <a:solidFill>
                  <a:srgbClr val="1E2B40"/>
                </a:solidFill>
              </a:defRPr>
            </a:pPr>
            <a:r>
              <a:rPr lang="en-GB"/>
              <a:t>• Licensing and bootstrap/state synchronization depend on marketplace/deployment model</a:t>
            </a:r>
          </a:p>
          <a:p>
            <a:pPr>
              <a:lnSpc>
                <a:spcPct val="105000"/>
              </a:lnSpc>
              <a:spcAft>
                <a:spcPts val="800"/>
              </a:spcAft>
              <a:defRPr sz="1700">
                <a:solidFill>
                  <a:srgbClr val="1E2B40"/>
                </a:solidFill>
              </a:defRPr>
            </a:pPr>
            <a:r>
              <a:rPr lang="en-GB"/>
              <a:t>• Use the exact Fortinet cloud deployment guide for the platform</a:t>
            </a:r>
          </a:p>
        </p:txBody>
      </p:sp>
      <p:cxnSp>
        <p:nvCxnSpPr>
          <p:cNvPr id="11" name="Connector 10"/>
          <p:cNvCxnSpPr/>
          <p:nvPr/>
        </p:nvCxnSpPr>
        <p:spPr>
          <a:xfrm>
            <a:off x="7452360" y="1600200"/>
            <a:ext cx="0" cy="434340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7790688" y="1627632"/>
            <a:ext cx="342900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ILLUSTRATIVE SCENARIO</a:t>
            </a:r>
          </a:p>
        </p:txBody>
      </p:sp>
      <p:sp>
        <p:nvSpPr>
          <p:cNvPr id="13" name="TextBox 12"/>
          <p:cNvSpPr txBox="1">
            <a:spLocks/>
          </p:cNvSpPr>
          <p:nvPr/>
        </p:nvSpPr>
        <p:spPr>
          <a:xfrm>
            <a:off x="7790688" y="2057400"/>
            <a:ext cx="3337560" cy="840230"/>
          </a:xfrm>
          <a:prstGeom prst="rect">
            <a:avLst/>
          </a:prstGeom>
          <a:noFill/>
        </p:spPr>
        <p:txBody>
          <a:bodyPr wrap="square" lIns="27432" tIns="27432" rIns="27432" bIns="27432" anchor="t">
            <a:spAutoFit/>
          </a:bodyPr>
          <a:lstStyle/>
          <a:p>
            <a:pPr algn="l">
              <a:spcAft>
                <a:spcPts val="0"/>
              </a:spcAft>
            </a:pPr>
            <a:r>
              <a:rPr lang="en-GB" sz="1700" b="1">
                <a:solidFill>
                  <a:srgbClr val="233A59"/>
                </a:solidFill>
              </a:rPr>
              <a:t>A physical-appliance cable-pull does not validate Azure FGVM failover</a:t>
            </a:r>
          </a:p>
        </p:txBody>
      </p:sp>
      <p:sp>
        <p:nvSpPr>
          <p:cNvPr id="14" name="TextBox 13"/>
          <p:cNvSpPr txBox="1">
            <a:spLocks/>
          </p:cNvSpPr>
          <p:nvPr/>
        </p:nvSpPr>
        <p:spPr>
          <a:xfrm>
            <a:off x="7790688" y="3822191"/>
            <a:ext cx="18288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EXPECTED RESULT</a:t>
            </a:r>
          </a:p>
        </p:txBody>
      </p:sp>
      <p:sp>
        <p:nvSpPr>
          <p:cNvPr id="15" name="TextBox 14"/>
          <p:cNvSpPr txBox="1">
            <a:spLocks/>
          </p:cNvSpPr>
          <p:nvPr/>
        </p:nvSpPr>
        <p:spPr>
          <a:xfrm>
            <a:off x="7790688" y="4187952"/>
            <a:ext cx="3337560" cy="747897"/>
          </a:xfrm>
          <a:prstGeom prst="rect">
            <a:avLst/>
          </a:prstGeom>
          <a:noFill/>
        </p:spPr>
        <p:txBody>
          <a:bodyPr wrap="square" lIns="27432" tIns="27432" rIns="27432" bIns="27432" anchor="t">
            <a:spAutoFit/>
          </a:bodyPr>
          <a:lstStyle/>
          <a:p>
            <a:pPr algn="l">
              <a:spcAft>
                <a:spcPts val="0"/>
              </a:spcAft>
            </a:pPr>
            <a:r>
              <a:rPr lang="en-GB" sz="1500" b="0">
                <a:solidFill>
                  <a:srgbClr val="1E2B40"/>
                </a:solidFill>
              </a:rPr>
              <a:t>Cloud HA stays theory unless a dedicated instructor demo design, permissions and pair are provided.</a:t>
            </a:r>
          </a:p>
        </p:txBody>
      </p:sp>
      <p:sp>
        <p:nvSpPr>
          <p:cNvPr id="16" name="TextBox 15"/>
          <p:cNvSpPr txBox="1">
            <a:spLocks/>
          </p:cNvSpPr>
          <p:nvPr/>
        </p:nvSpPr>
        <p:spPr>
          <a:xfrm>
            <a:off x="7790688" y="5596128"/>
            <a:ext cx="1920240" cy="201168"/>
          </a:xfrm>
          <a:prstGeom prst="rect">
            <a:avLst/>
          </a:prstGeom>
          <a:noFill/>
        </p:spPr>
        <p:txBody>
          <a:bodyPr wrap="square" lIns="27432" tIns="27432" rIns="27432" bIns="27432" anchor="t">
            <a:spAutoFit/>
          </a:bodyPr>
          <a:lstStyle/>
          <a:p>
            <a:pPr algn="l">
              <a:spcAft>
                <a:spcPts val="0"/>
              </a:spcAft>
            </a:pPr>
            <a:r>
              <a:rPr lang="en-GB" sz="1000" b="1">
                <a:solidFill>
                  <a:srgbClr val="687385"/>
                </a:solidFill>
              </a:rPr>
              <a:t>Expected observation</a:t>
            </a:r>
          </a:p>
        </p:txBody>
      </p:sp>
      <p:sp>
        <p:nvSpPr>
          <p:cNvPr id="17" name="TextBox 16"/>
          <p:cNvSpPr txBox="1">
            <a:spLocks/>
          </p:cNvSpPr>
          <p:nvPr/>
        </p:nvSpPr>
        <p:spPr>
          <a:xfrm>
            <a:off x="9509760" y="5577840"/>
            <a:ext cx="1691640" cy="824841"/>
          </a:xfrm>
          <a:prstGeom prst="rect">
            <a:avLst/>
          </a:prstGeom>
          <a:noFill/>
        </p:spPr>
        <p:txBody>
          <a:bodyPr wrap="square" lIns="27432" tIns="27432" rIns="27432" bIns="27432" anchor="t">
            <a:spAutoFit/>
          </a:bodyPr>
          <a:lstStyle/>
          <a:p>
            <a:pPr algn="r">
              <a:spcAft>
                <a:spcPts val="0"/>
              </a:spcAft>
            </a:pPr>
            <a:r>
              <a:rPr lang="en-GB" sz="1000" b="0">
                <a:solidFill>
                  <a:srgbClr val="687385"/>
                </a:solidFill>
              </a:rPr>
              <a:t>The secondary is synchronized before failover; after failover, the new primary forwards eligible test sessions.</a:t>
            </a:r>
          </a:p>
        </p:txBody>
      </p:sp>
      <p:sp>
        <p:nvSpPr>
          <p:cNvPr id="18" name="TextBox 17"/>
          <p:cNvSpPr txBox="1">
            <a:spLocks/>
          </p:cNvSpPr>
          <p:nvPr/>
        </p:nvSpPr>
        <p:spPr>
          <a:xfrm>
            <a:off x="502920" y="420624"/>
            <a:ext cx="10744200" cy="130805"/>
          </a:xfrm>
          <a:prstGeom prst="rect">
            <a:avLst/>
          </a:prstGeom>
          <a:noFill/>
        </p:spPr>
        <p:txBody>
          <a:bodyPr wrap="square" lIns="0" tIns="0" rIns="0" bIns="0">
            <a:spAutoFit/>
          </a:bodyPr>
          <a:lstStyle/>
          <a:p>
            <a:pPr algn="l"/>
            <a:r>
              <a:rPr lang="en-GB" sz="850" b="1">
                <a:solidFill>
                  <a:srgbClr val="687385"/>
                </a:solidFill>
              </a:rPr>
              <a:t>156 • DAY 4 • BLOCK 14 • High Availability</a:t>
            </a: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57">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p:nvPr/>
        </p:nvSpPr>
        <p:spPr>
          <a:xfrm>
            <a:off x="502920" y="411480"/>
            <a:ext cx="548640" cy="189283"/>
          </a:xfrm>
          <a:prstGeom prst="rect">
            <a:avLst/>
          </a:prstGeom>
          <a:noFill/>
        </p:spPr>
        <p:txBody>
          <a:bodyPr wrap="square" lIns="36576" tIns="36576" rIns="36576" bIns="36576" anchor="t">
            <a:spAutoFit/>
          </a:bodyPr>
          <a:lstStyle/>
          <a:p>
            <a:pPr algn="l">
              <a:spcAft>
                <a:spcPts val="0"/>
              </a:spcAft>
            </a:pPr>
            <a:r>
              <a:rPr lang="en-HU" sz="750" b="1">
                <a:solidFill>
                  <a:srgbClr val="687385"/>
                </a:solidFill>
              </a:rPr>
              <a:t>157</a:t>
            </a:r>
            <a:endParaRPr sz="750" b="1">
              <a:solidFill>
                <a:srgbClr val="687385"/>
              </a:solidFill>
            </a:endParaRPr>
          </a:p>
        </p:txBody>
      </p:sp>
      <p:sp>
        <p:nvSpPr>
          <p:cNvPr id="4" name="TextBox 3"/>
          <p:cNvSpPr txBox="1"/>
          <p:nvPr/>
        </p:nvSpPr>
        <p:spPr>
          <a:xfrm>
            <a:off x="502920" y="621792"/>
            <a:ext cx="11109960" cy="548640"/>
          </a:xfrm>
          <a:prstGeom prst="rect">
            <a:avLst/>
          </a:prstGeom>
          <a:noFill/>
        </p:spPr>
        <p:txBody>
          <a:bodyPr wrap="square" lIns="36576" tIns="36576" rIns="36576" bIns="36576" anchor="t">
            <a:spAutoFit/>
          </a:bodyPr>
          <a:lstStyle/>
          <a:p>
            <a:pPr algn="l">
              <a:spcAft>
                <a:spcPts val="0"/>
              </a:spcAft>
            </a:pPr>
            <a:r>
              <a:rPr sz="2600" b="1">
                <a:solidFill>
                  <a:srgbClr val="1E2B40"/>
                </a:solidFill>
              </a:rPr>
              <a:t>Controlled HA failover</a:t>
            </a:r>
          </a:p>
        </p:txBody>
      </p:sp>
      <p:cxnSp>
        <p:nvCxnSpPr>
          <p:cNvPr id="5" name="Connector 4"/>
          <p:cNvCxnSpPr/>
          <p:nvPr/>
        </p:nvCxnSpPr>
        <p:spPr>
          <a:xfrm>
            <a:off x="502920" y="6473952"/>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109960" y="6537960"/>
            <a:ext cx="502920" cy="189283"/>
          </a:xfrm>
          <a:prstGeom prst="rect">
            <a:avLst/>
          </a:prstGeom>
          <a:noFill/>
        </p:spPr>
        <p:txBody>
          <a:bodyPr wrap="square" lIns="36576" tIns="36576" rIns="36576" bIns="36576" anchor="t">
            <a:spAutoFit/>
          </a:bodyPr>
          <a:lstStyle/>
          <a:p>
            <a:pPr algn="r">
              <a:spcAft>
                <a:spcPts val="0"/>
              </a:spcAft>
            </a:pPr>
            <a:r>
              <a:rPr lang="en-HU" sz="750" b="0">
                <a:solidFill>
                  <a:srgbClr val="687385"/>
                </a:solidFill>
              </a:rPr>
              <a:t>157</a:t>
            </a:r>
            <a:endParaRPr sz="750" b="0">
              <a:solidFill>
                <a:srgbClr val="687385"/>
              </a:solidFill>
            </a:endParaRPr>
          </a:p>
        </p:txBody>
      </p:sp>
      <p:sp>
        <p:nvSpPr>
          <p:cNvPr id="7" name="Rectangle 6"/>
          <p:cNvSpPr>
            <a:spLocks/>
          </p:cNvSpPr>
          <p:nvPr/>
        </p:nvSpPr>
        <p:spPr>
          <a:xfrm>
            <a:off x="685800" y="1828800"/>
            <a:ext cx="2008022"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8" name="TextBox 7"/>
          <p:cNvSpPr txBox="1">
            <a:spLocks/>
          </p:cNvSpPr>
          <p:nvPr/>
        </p:nvSpPr>
        <p:spPr>
          <a:xfrm>
            <a:off x="777240" y="1938528"/>
            <a:ext cx="365760" cy="227755"/>
          </a:xfrm>
          <a:prstGeom prst="rect">
            <a:avLst/>
          </a:prstGeom>
          <a:noFill/>
        </p:spPr>
        <p:txBody>
          <a:bodyPr wrap="square" lIns="36576" tIns="36576" rIns="36576" bIns="36576" anchor="t">
            <a:spAutoFit/>
          </a:bodyPr>
          <a:lstStyle/>
          <a:p>
            <a:pPr algn="l">
              <a:spcAft>
                <a:spcPts val="0"/>
              </a:spcAft>
            </a:pPr>
            <a:r>
              <a:rPr lang="en-HU" sz="1000" b="1">
                <a:solidFill>
                  <a:srgbClr val="E60012"/>
                </a:solidFill>
              </a:rPr>
              <a:t>01</a:t>
            </a:r>
          </a:p>
        </p:txBody>
      </p:sp>
      <p:sp>
        <p:nvSpPr>
          <p:cNvPr id="9" name="TextBox 8"/>
          <p:cNvSpPr txBox="1">
            <a:spLocks/>
          </p:cNvSpPr>
          <p:nvPr/>
        </p:nvSpPr>
        <p:spPr>
          <a:xfrm>
            <a:off x="795528" y="2243935"/>
            <a:ext cx="1788566" cy="504754"/>
          </a:xfrm>
          <a:prstGeom prst="rect">
            <a:avLst/>
          </a:prstGeom>
          <a:noFill/>
        </p:spPr>
        <p:txBody>
          <a:bodyPr wrap="square" lIns="36576" tIns="36576" rIns="36576" bIns="36576" anchor="ctr">
            <a:spAutoFit/>
          </a:bodyPr>
          <a:lstStyle/>
          <a:p>
            <a:pPr algn="ctr">
              <a:spcAft>
                <a:spcPts val="0"/>
              </a:spcAft>
            </a:pPr>
            <a:r>
              <a:rPr lang="en-GB" sz="1400" b="1">
                <a:solidFill>
                  <a:srgbClr val="FFFFFF"/>
                </a:solidFill>
              </a:rPr>
              <a:t>Confirm sync/primary</a:t>
            </a:r>
          </a:p>
        </p:txBody>
      </p:sp>
      <p:sp>
        <p:nvSpPr>
          <p:cNvPr id="10" name="Right Arrow 9"/>
          <p:cNvSpPr/>
          <p:nvPr/>
        </p:nvSpPr>
        <p:spPr>
          <a:xfrm>
            <a:off x="2693822" y="2340864"/>
            <a:ext cx="164592" cy="146304"/>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1" name="Rectangle 10"/>
          <p:cNvSpPr>
            <a:spLocks/>
          </p:cNvSpPr>
          <p:nvPr/>
        </p:nvSpPr>
        <p:spPr>
          <a:xfrm>
            <a:off x="2858414" y="1828800"/>
            <a:ext cx="2008022"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2" name="TextBox 11"/>
          <p:cNvSpPr txBox="1"/>
          <p:nvPr/>
        </p:nvSpPr>
        <p:spPr>
          <a:xfrm>
            <a:off x="2949854" y="1938528"/>
            <a:ext cx="365760" cy="201168"/>
          </a:xfrm>
          <a:prstGeom prst="rect">
            <a:avLst/>
          </a:prstGeom>
          <a:noFill/>
        </p:spPr>
        <p:txBody>
          <a:bodyPr wrap="square" lIns="36576" tIns="36576" rIns="36576" bIns="36576" anchor="t">
            <a:spAutoFit/>
          </a:bodyPr>
          <a:lstStyle/>
          <a:p>
            <a:pPr algn="l">
              <a:spcAft>
                <a:spcPts val="0"/>
              </a:spcAft>
            </a:pPr>
            <a:r>
              <a:rPr sz="1000" b="1">
                <a:solidFill>
                  <a:srgbClr val="E60012"/>
                </a:solidFill>
              </a:rPr>
              <a:t>02</a:t>
            </a:r>
          </a:p>
        </p:txBody>
      </p:sp>
      <p:sp>
        <p:nvSpPr>
          <p:cNvPr id="13" name="TextBox 12"/>
          <p:cNvSpPr txBox="1">
            <a:spLocks/>
          </p:cNvSpPr>
          <p:nvPr/>
        </p:nvSpPr>
        <p:spPr>
          <a:xfrm>
            <a:off x="2968142" y="2267712"/>
            <a:ext cx="1788566" cy="457200"/>
          </a:xfrm>
          <a:prstGeom prst="rect">
            <a:avLst/>
          </a:prstGeom>
          <a:noFill/>
        </p:spPr>
        <p:txBody>
          <a:bodyPr wrap="square" lIns="36576" tIns="36576" rIns="36576" bIns="36576" anchor="ctr">
            <a:spAutoFit/>
          </a:bodyPr>
          <a:lstStyle/>
          <a:p>
            <a:pPr algn="ctr">
              <a:spcAft>
                <a:spcPts val="0"/>
              </a:spcAft>
            </a:pPr>
            <a:r>
              <a:rPr lang="en-GB" sz="1400" b="1">
                <a:solidFill>
                  <a:srgbClr val="FFFFFF"/>
                </a:solidFill>
              </a:rPr>
              <a:t>Start eligible test session</a:t>
            </a:r>
          </a:p>
        </p:txBody>
      </p:sp>
      <p:sp>
        <p:nvSpPr>
          <p:cNvPr id="14" name="Right Arrow 13"/>
          <p:cNvSpPr>
            <a:spLocks/>
          </p:cNvSpPr>
          <p:nvPr/>
        </p:nvSpPr>
        <p:spPr>
          <a:xfrm>
            <a:off x="4866436" y="2340864"/>
            <a:ext cx="164592" cy="146304"/>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5" name="Rectangle 14"/>
          <p:cNvSpPr/>
          <p:nvPr/>
        </p:nvSpPr>
        <p:spPr>
          <a:xfrm>
            <a:off x="5031028" y="1828800"/>
            <a:ext cx="2008022"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a:spLocks/>
          </p:cNvSpPr>
          <p:nvPr/>
        </p:nvSpPr>
        <p:spPr>
          <a:xfrm>
            <a:off x="5122468" y="1938528"/>
            <a:ext cx="365760" cy="201168"/>
          </a:xfrm>
          <a:prstGeom prst="rect">
            <a:avLst/>
          </a:prstGeom>
          <a:noFill/>
        </p:spPr>
        <p:txBody>
          <a:bodyPr wrap="square" lIns="36576" tIns="36576" rIns="36576" bIns="36576" anchor="t">
            <a:spAutoFit/>
          </a:bodyPr>
          <a:lstStyle/>
          <a:p>
            <a:pPr algn="l">
              <a:spcAft>
                <a:spcPts val="0"/>
              </a:spcAft>
            </a:pPr>
            <a:r>
              <a:rPr lang="en-HU" sz="1000" b="1">
                <a:solidFill>
                  <a:srgbClr val="E60012"/>
                </a:solidFill>
              </a:rPr>
              <a:t>03</a:t>
            </a:r>
          </a:p>
        </p:txBody>
      </p:sp>
      <p:sp>
        <p:nvSpPr>
          <p:cNvPr id="17" name="TextBox 16"/>
          <p:cNvSpPr txBox="1"/>
          <p:nvPr/>
        </p:nvSpPr>
        <p:spPr>
          <a:xfrm>
            <a:off x="5140756" y="2243935"/>
            <a:ext cx="1788566" cy="504754"/>
          </a:xfrm>
          <a:prstGeom prst="rect">
            <a:avLst/>
          </a:prstGeom>
          <a:noFill/>
        </p:spPr>
        <p:txBody>
          <a:bodyPr wrap="square" lIns="36576" tIns="36576" rIns="36576" bIns="36576" anchor="ctr">
            <a:spAutoFit/>
          </a:bodyPr>
          <a:lstStyle/>
          <a:p>
            <a:pPr algn="ctr">
              <a:spcAft>
                <a:spcPts val="0"/>
              </a:spcAft>
            </a:pPr>
            <a:r>
              <a:rPr lang="en-GB" sz="1400" b="1">
                <a:solidFill>
                  <a:srgbClr val="FFFFFF"/>
                </a:solidFill>
              </a:rPr>
              <a:t>Trigger monitored failure</a:t>
            </a:r>
          </a:p>
        </p:txBody>
      </p:sp>
      <p:sp>
        <p:nvSpPr>
          <p:cNvPr id="18" name="Right Arrow 17"/>
          <p:cNvSpPr/>
          <p:nvPr/>
        </p:nvSpPr>
        <p:spPr>
          <a:xfrm>
            <a:off x="7039051" y="2340864"/>
            <a:ext cx="164592" cy="146304"/>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203643" y="1828800"/>
            <a:ext cx="2008022"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295083" y="1938528"/>
            <a:ext cx="365760" cy="227755"/>
          </a:xfrm>
          <a:prstGeom prst="rect">
            <a:avLst/>
          </a:prstGeom>
          <a:noFill/>
        </p:spPr>
        <p:txBody>
          <a:bodyPr wrap="square" lIns="36576" tIns="36576" rIns="36576" bIns="36576" anchor="t">
            <a:spAutoFit/>
          </a:bodyPr>
          <a:lstStyle/>
          <a:p>
            <a:pPr algn="l">
              <a:spcAft>
                <a:spcPts val="0"/>
              </a:spcAft>
            </a:pPr>
            <a:r>
              <a:rPr lang="en-HU" sz="1000" b="1">
                <a:solidFill>
                  <a:srgbClr val="E60012"/>
                </a:solidFill>
              </a:rPr>
              <a:t>04</a:t>
            </a:r>
          </a:p>
        </p:txBody>
      </p:sp>
      <p:sp>
        <p:nvSpPr>
          <p:cNvPr id="21" name="TextBox 20"/>
          <p:cNvSpPr txBox="1"/>
          <p:nvPr/>
        </p:nvSpPr>
        <p:spPr>
          <a:xfrm>
            <a:off x="7313371" y="2243935"/>
            <a:ext cx="1788566" cy="504754"/>
          </a:xfrm>
          <a:prstGeom prst="rect">
            <a:avLst/>
          </a:prstGeom>
          <a:noFill/>
        </p:spPr>
        <p:txBody>
          <a:bodyPr wrap="square" lIns="36576" tIns="36576" rIns="36576" bIns="36576" anchor="ctr">
            <a:spAutoFit/>
          </a:bodyPr>
          <a:lstStyle/>
          <a:p>
            <a:pPr algn="ctr">
              <a:spcAft>
                <a:spcPts val="0"/>
              </a:spcAft>
            </a:pPr>
            <a:r>
              <a:rPr lang="en-GB" sz="1400" b="1">
                <a:solidFill>
                  <a:srgbClr val="FFFFFF"/>
                </a:solidFill>
              </a:rPr>
              <a:t>Secondary becomes primary</a:t>
            </a:r>
          </a:p>
        </p:txBody>
      </p:sp>
      <p:sp>
        <p:nvSpPr>
          <p:cNvPr id="22" name="Right Arrow 21"/>
          <p:cNvSpPr>
            <a:spLocks/>
          </p:cNvSpPr>
          <p:nvPr/>
        </p:nvSpPr>
        <p:spPr>
          <a:xfrm>
            <a:off x="9211665" y="2340864"/>
            <a:ext cx="164592" cy="146304"/>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23" name="Rectangle 22"/>
          <p:cNvSpPr>
            <a:spLocks/>
          </p:cNvSpPr>
          <p:nvPr/>
        </p:nvSpPr>
        <p:spPr>
          <a:xfrm>
            <a:off x="9376257" y="1828800"/>
            <a:ext cx="2008022"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24" name="TextBox 23"/>
          <p:cNvSpPr txBox="1"/>
          <p:nvPr/>
        </p:nvSpPr>
        <p:spPr>
          <a:xfrm>
            <a:off x="9467697" y="1938528"/>
            <a:ext cx="365760" cy="227755"/>
          </a:xfrm>
          <a:prstGeom prst="rect">
            <a:avLst/>
          </a:prstGeom>
          <a:noFill/>
        </p:spPr>
        <p:txBody>
          <a:bodyPr wrap="square" lIns="36576" tIns="36576" rIns="36576" bIns="36576" anchor="t">
            <a:spAutoFit/>
          </a:bodyPr>
          <a:lstStyle/>
          <a:p>
            <a:pPr algn="l">
              <a:spcAft>
                <a:spcPts val="0"/>
              </a:spcAft>
            </a:pPr>
            <a:r>
              <a:rPr lang="en-HU" sz="1000" b="1">
                <a:solidFill>
                  <a:srgbClr val="E60012"/>
                </a:solidFill>
              </a:rPr>
              <a:t>05</a:t>
            </a:r>
          </a:p>
        </p:txBody>
      </p:sp>
      <p:sp>
        <p:nvSpPr>
          <p:cNvPr id="25" name="TextBox 24"/>
          <p:cNvSpPr txBox="1"/>
          <p:nvPr/>
        </p:nvSpPr>
        <p:spPr>
          <a:xfrm>
            <a:off x="9485985" y="2267712"/>
            <a:ext cx="1788566" cy="457200"/>
          </a:xfrm>
          <a:prstGeom prst="rect">
            <a:avLst/>
          </a:prstGeom>
          <a:noFill/>
        </p:spPr>
        <p:txBody>
          <a:bodyPr wrap="square" lIns="36576" tIns="36576" rIns="36576" bIns="36576" anchor="ctr">
            <a:spAutoFit/>
          </a:bodyPr>
          <a:lstStyle/>
          <a:p>
            <a:pPr algn="ctr">
              <a:spcAft>
                <a:spcPts val="0"/>
              </a:spcAft>
            </a:pPr>
            <a:r>
              <a:rPr sz="1400" b="1">
                <a:solidFill>
                  <a:srgbClr val="FFFFFF"/>
                </a:solidFill>
              </a:rPr>
              <a:t>Measure application recovery</a:t>
            </a:r>
          </a:p>
        </p:txBody>
      </p:sp>
      <p:sp>
        <p:nvSpPr>
          <p:cNvPr id="26" name="TextBox 25"/>
          <p:cNvSpPr txBox="1"/>
          <p:nvPr/>
        </p:nvSpPr>
        <p:spPr>
          <a:xfrm>
            <a:off x="731520" y="3703320"/>
            <a:ext cx="1554480" cy="210312"/>
          </a:xfrm>
          <a:prstGeom prst="rect">
            <a:avLst/>
          </a:prstGeom>
          <a:noFill/>
        </p:spPr>
        <p:txBody>
          <a:bodyPr wrap="square" lIns="36576" tIns="36576" rIns="36576" bIns="36576" anchor="t">
            <a:spAutoFit/>
          </a:bodyPr>
          <a:lstStyle/>
          <a:p>
            <a:pPr algn="l">
              <a:spcAft>
                <a:spcPts val="0"/>
              </a:spcAft>
            </a:pPr>
            <a:r>
              <a:rPr sz="1000" b="1">
                <a:solidFill>
                  <a:srgbClr val="E60012"/>
                </a:solidFill>
              </a:rPr>
              <a:t>EXPECTED RESULT</a:t>
            </a:r>
          </a:p>
        </p:txBody>
      </p:sp>
      <p:sp>
        <p:nvSpPr>
          <p:cNvPr id="27" name="TextBox 26"/>
          <p:cNvSpPr txBox="1"/>
          <p:nvPr/>
        </p:nvSpPr>
        <p:spPr>
          <a:xfrm>
            <a:off x="731520" y="4041648"/>
            <a:ext cx="10424160" cy="594360"/>
          </a:xfrm>
          <a:prstGeom prst="rect">
            <a:avLst/>
          </a:prstGeom>
          <a:noFill/>
        </p:spPr>
        <p:txBody>
          <a:bodyPr wrap="square" lIns="36576" tIns="36576" rIns="36576" bIns="36576" anchor="t">
            <a:spAutoFit/>
          </a:bodyPr>
          <a:lstStyle/>
          <a:p>
            <a:pPr algn="ctr">
              <a:spcAft>
                <a:spcPts val="0"/>
              </a:spcAft>
            </a:pPr>
            <a:r>
              <a:rPr lang="en-GB" sz="1700" b="1">
                <a:solidFill>
                  <a:srgbClr val="233A59"/>
                </a:solidFill>
              </a:rPr>
              <a:t>With a demo pair: sync and </a:t>
            </a:r>
            <a:r>
              <a:rPr sz="1700" b="1">
                <a:solidFill>
                  <a:srgbClr val="233A59"/>
                </a:solidFill>
              </a:rPr>
              <a:t>failover</a:t>
            </a:r>
            <a:r>
              <a:rPr lang="en-GB" sz="1700" b="1">
                <a:solidFill>
                  <a:srgbClr val="233A59"/>
                </a:solidFill>
              </a:rPr>
              <a:t> state match prediction. Without it: learners diagnose </a:t>
            </a:r>
            <a:r>
              <a:rPr sz="1700" b="1">
                <a:solidFill>
                  <a:srgbClr val="233A59"/>
                </a:solidFill>
              </a:rPr>
              <a:t>the </a:t>
            </a:r>
            <a:r>
              <a:rPr lang="en-GB" sz="1700" b="1">
                <a:solidFill>
                  <a:srgbClr val="233A59"/>
                </a:solidFill>
              </a:rPr>
              <a:t>supplied event/configuration record</a:t>
            </a:r>
            <a:r>
              <a:rPr sz="1700" b="1">
                <a:solidFill>
                  <a:srgbClr val="233A59"/>
                </a:solidFill>
              </a:rPr>
              <a:t>.</a:t>
            </a:r>
          </a:p>
        </p:txBody>
      </p:sp>
      <p:sp>
        <p:nvSpPr>
          <p:cNvPr id="28" name="TextBox 27"/>
          <p:cNvSpPr txBox="1"/>
          <p:nvPr/>
        </p:nvSpPr>
        <p:spPr>
          <a:xfrm>
            <a:off x="658368" y="5833872"/>
            <a:ext cx="731520" cy="182880"/>
          </a:xfrm>
          <a:prstGeom prst="rect">
            <a:avLst/>
          </a:prstGeom>
          <a:noFill/>
        </p:spPr>
        <p:txBody>
          <a:bodyPr wrap="square" lIns="36576" tIns="36576" rIns="36576" bIns="36576" anchor="t">
            <a:spAutoFit/>
          </a:bodyPr>
          <a:lstStyle/>
          <a:p>
            <a:pPr algn="l">
              <a:spcAft>
                <a:spcPts val="0"/>
              </a:spcAft>
            </a:pPr>
            <a:r>
              <a:rPr sz="1000" b="1">
                <a:solidFill>
                  <a:srgbClr val="E60012"/>
                </a:solidFill>
              </a:rPr>
              <a:t>LESSON</a:t>
            </a:r>
          </a:p>
        </p:txBody>
      </p:sp>
      <p:sp>
        <p:nvSpPr>
          <p:cNvPr id="29" name="TextBox 28"/>
          <p:cNvSpPr txBox="1"/>
          <p:nvPr/>
        </p:nvSpPr>
        <p:spPr>
          <a:xfrm>
            <a:off x="1417320" y="5769864"/>
            <a:ext cx="9875520" cy="384048"/>
          </a:xfrm>
          <a:prstGeom prst="rect">
            <a:avLst/>
          </a:prstGeom>
          <a:noFill/>
        </p:spPr>
        <p:txBody>
          <a:bodyPr wrap="square" lIns="36576" tIns="36576" rIns="36576" bIns="36576" anchor="t">
            <a:spAutoFit/>
          </a:bodyPr>
          <a:lstStyle/>
          <a:p>
            <a:pPr algn="l">
              <a:spcAft>
                <a:spcPts val="0"/>
              </a:spcAft>
            </a:pPr>
            <a:r>
              <a:rPr sz="1300" b="1">
                <a:solidFill>
                  <a:srgbClr val="233A59"/>
                </a:solidFill>
              </a:rPr>
              <a:t>Each step names a FortiGate state or packet change that can be checked directly; stop when the failed step is identified.</a:t>
            </a: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58">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p:nvPr/>
        </p:nvSpPr>
        <p:spPr>
          <a:xfrm>
            <a:off x="502920" y="411480"/>
            <a:ext cx="548640" cy="189283"/>
          </a:xfrm>
          <a:prstGeom prst="rect">
            <a:avLst/>
          </a:prstGeom>
          <a:noFill/>
        </p:spPr>
        <p:txBody>
          <a:bodyPr wrap="square" lIns="36576" tIns="36576" rIns="36576" bIns="36576" anchor="t">
            <a:spAutoFit/>
          </a:bodyPr>
          <a:lstStyle/>
          <a:p>
            <a:pPr algn="l">
              <a:spcAft>
                <a:spcPts val="0"/>
              </a:spcAft>
            </a:pPr>
            <a:r>
              <a:rPr lang="en-HU" sz="750" b="1">
                <a:solidFill>
                  <a:srgbClr val="687385"/>
                </a:solidFill>
              </a:rPr>
              <a:t>158</a:t>
            </a:r>
            <a:endParaRPr sz="750" b="1">
              <a:solidFill>
                <a:srgbClr val="687385"/>
              </a:solidFill>
            </a:endParaRPr>
          </a:p>
        </p:txBody>
      </p:sp>
      <p:sp>
        <p:nvSpPr>
          <p:cNvPr id="4" name="TextBox 3"/>
          <p:cNvSpPr txBox="1"/>
          <p:nvPr/>
        </p:nvSpPr>
        <p:spPr>
          <a:xfrm>
            <a:off x="502920" y="621792"/>
            <a:ext cx="11109960" cy="548640"/>
          </a:xfrm>
          <a:prstGeom prst="rect">
            <a:avLst/>
          </a:prstGeom>
          <a:noFill/>
        </p:spPr>
        <p:txBody>
          <a:bodyPr wrap="square" lIns="36576" tIns="36576" rIns="36576" bIns="36576" anchor="t">
            <a:spAutoFit/>
          </a:bodyPr>
          <a:lstStyle/>
          <a:p>
            <a:pPr algn="l">
              <a:spcAft>
                <a:spcPts val="0"/>
              </a:spcAft>
            </a:pPr>
            <a:r>
              <a:rPr sz="2600" b="1">
                <a:solidFill>
                  <a:srgbClr val="1E2B40"/>
                </a:solidFill>
              </a:rPr>
              <a:t>Common mistakes—and how to correct them</a:t>
            </a:r>
          </a:p>
        </p:txBody>
      </p:sp>
      <p:cxnSp>
        <p:nvCxnSpPr>
          <p:cNvPr id="5" name="Connector 4"/>
          <p:cNvCxnSpPr/>
          <p:nvPr/>
        </p:nvCxnSpPr>
        <p:spPr>
          <a:xfrm>
            <a:off x="502920" y="6473952"/>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109960" y="6537960"/>
            <a:ext cx="502920" cy="189283"/>
          </a:xfrm>
          <a:prstGeom prst="rect">
            <a:avLst/>
          </a:prstGeom>
          <a:noFill/>
        </p:spPr>
        <p:txBody>
          <a:bodyPr wrap="square" lIns="36576" tIns="36576" rIns="36576" bIns="36576" anchor="t">
            <a:spAutoFit/>
          </a:bodyPr>
          <a:lstStyle/>
          <a:p>
            <a:pPr algn="r">
              <a:spcAft>
                <a:spcPts val="0"/>
              </a:spcAft>
            </a:pPr>
            <a:r>
              <a:rPr lang="en-HU" sz="750" b="0">
                <a:solidFill>
                  <a:srgbClr val="687385"/>
                </a:solidFill>
              </a:rPr>
              <a:t>158</a:t>
            </a:r>
            <a:endParaRPr sz="750" b="0">
              <a:solidFill>
                <a:srgbClr val="687385"/>
              </a:solidFill>
            </a:endParaRPr>
          </a:p>
        </p:txBody>
      </p:sp>
      <p:sp>
        <p:nvSpPr>
          <p:cNvPr id="7" name="TextBox 6"/>
          <p:cNvSpPr txBox="1">
            <a:spLocks/>
          </p:cNvSpPr>
          <p:nvPr/>
        </p:nvSpPr>
        <p:spPr>
          <a:xfrm>
            <a:off x="685800" y="1417320"/>
            <a:ext cx="3291840" cy="243143"/>
          </a:xfrm>
          <a:prstGeom prst="rect">
            <a:avLst/>
          </a:prstGeom>
          <a:noFill/>
        </p:spPr>
        <p:txBody>
          <a:bodyPr wrap="square" lIns="36576" tIns="36576" rIns="36576" bIns="36576" anchor="t">
            <a:spAutoFit/>
          </a:bodyPr>
          <a:lstStyle/>
          <a:p>
            <a:pPr algn="l">
              <a:spcAft>
                <a:spcPts val="0"/>
              </a:spcAft>
            </a:pPr>
            <a:r>
              <a:rPr lang="en-GB" sz="1100" b="1">
                <a:solidFill>
                  <a:srgbClr val="E60012"/>
                </a:solidFill>
              </a:rPr>
              <a:t>MISTAKE</a:t>
            </a:r>
          </a:p>
        </p:txBody>
      </p:sp>
      <p:sp>
        <p:nvSpPr>
          <p:cNvPr id="8" name="TextBox 7"/>
          <p:cNvSpPr txBox="1">
            <a:spLocks/>
          </p:cNvSpPr>
          <p:nvPr/>
        </p:nvSpPr>
        <p:spPr>
          <a:xfrm>
            <a:off x="4160520" y="1417320"/>
            <a:ext cx="7040880" cy="243143"/>
          </a:xfrm>
          <a:prstGeom prst="rect">
            <a:avLst/>
          </a:prstGeom>
          <a:noFill/>
        </p:spPr>
        <p:txBody>
          <a:bodyPr wrap="square" lIns="36576" tIns="36576" rIns="36576" bIns="36576" anchor="t">
            <a:spAutoFit/>
          </a:bodyPr>
          <a:lstStyle/>
          <a:p>
            <a:pPr algn="l">
              <a:spcAft>
                <a:spcPts val="0"/>
              </a:spcAft>
            </a:pPr>
            <a:r>
              <a:rPr lang="en-GB" sz="1100" b="1">
                <a:solidFill>
                  <a:srgbClr val="E60012"/>
                </a:solidFill>
              </a:rPr>
              <a:t>CORRECTION — AND WHY IT HELPS</a:t>
            </a:r>
          </a:p>
        </p:txBody>
      </p:sp>
      <p:sp>
        <p:nvSpPr>
          <p:cNvPr id="9" name="TextBox 8"/>
          <p:cNvSpPr txBox="1">
            <a:spLocks/>
          </p:cNvSpPr>
          <p:nvPr/>
        </p:nvSpPr>
        <p:spPr>
          <a:xfrm>
            <a:off x="685800" y="1783080"/>
            <a:ext cx="3108960" cy="566309"/>
          </a:xfrm>
          <a:prstGeom prst="rect">
            <a:avLst/>
          </a:prstGeom>
          <a:noFill/>
        </p:spPr>
        <p:txBody>
          <a:bodyPr wrap="square" lIns="36576" tIns="36576" rIns="36576" bIns="36576" anchor="t">
            <a:spAutoFit/>
          </a:bodyPr>
          <a:lstStyle/>
          <a:p>
            <a:pPr algn="l">
              <a:spcAft>
                <a:spcPts val="0"/>
              </a:spcAft>
            </a:pPr>
            <a:r>
              <a:rPr lang="en-GB" sz="1600" b="1">
                <a:solidFill>
                  <a:srgbClr val="1E2B40"/>
                </a:solidFill>
              </a:rPr>
              <a:t>Build HA from mismatched members</a:t>
            </a:r>
          </a:p>
        </p:txBody>
      </p:sp>
      <p:cxnSp>
        <p:nvCxnSpPr>
          <p:cNvPr id="10" name="Connector 9"/>
          <p:cNvCxnSpPr/>
          <p:nvPr/>
        </p:nvCxnSpPr>
        <p:spPr>
          <a:xfrm>
            <a:off x="3931920" y="1737360"/>
            <a:ext cx="0" cy="96012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251960" y="1783080"/>
            <a:ext cx="6903720" cy="822960"/>
          </a:xfrm>
          <a:prstGeom prst="rect">
            <a:avLst/>
          </a:prstGeom>
          <a:noFill/>
        </p:spPr>
        <p:txBody>
          <a:bodyPr wrap="square" lIns="36576" tIns="36576" rIns="36576" bIns="36576" anchor="t">
            <a:spAutoFit/>
          </a:bodyPr>
          <a:lstStyle/>
          <a:p>
            <a:pPr algn="l">
              <a:spcAft>
                <a:spcPts val="0"/>
              </a:spcAft>
            </a:pPr>
            <a:r>
              <a:rPr sz="1600" b="0">
                <a:solidFill>
                  <a:srgbClr val="233A59"/>
                </a:solidFill>
              </a:rPr>
              <a:t>Match supported model/build/mode and HA settings before joining; compatibility is prerequisite.</a:t>
            </a:r>
          </a:p>
        </p:txBody>
      </p:sp>
      <p:cxnSp>
        <p:nvCxnSpPr>
          <p:cNvPr id="12" name="Connector 11"/>
          <p:cNvCxnSpPr/>
          <p:nvPr/>
        </p:nvCxnSpPr>
        <p:spPr>
          <a:xfrm>
            <a:off x="685800" y="2834639"/>
            <a:ext cx="10469880"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13" name="TextBox 12"/>
          <p:cNvSpPr txBox="1">
            <a:spLocks/>
          </p:cNvSpPr>
          <p:nvPr/>
        </p:nvSpPr>
        <p:spPr>
          <a:xfrm>
            <a:off x="685800" y="3081528"/>
            <a:ext cx="3108960" cy="566309"/>
          </a:xfrm>
          <a:prstGeom prst="rect">
            <a:avLst/>
          </a:prstGeom>
          <a:noFill/>
        </p:spPr>
        <p:txBody>
          <a:bodyPr wrap="square" lIns="36576" tIns="36576" rIns="36576" bIns="36576" anchor="t">
            <a:spAutoFit/>
          </a:bodyPr>
          <a:lstStyle/>
          <a:p>
            <a:pPr algn="l">
              <a:spcAft>
                <a:spcPts val="0"/>
              </a:spcAft>
            </a:pPr>
            <a:r>
              <a:rPr lang="en-GB" sz="1600" b="1">
                <a:solidFill>
                  <a:srgbClr val="1E2B40"/>
                </a:solidFill>
              </a:rPr>
              <a:t>Assume config sync means every session survives</a:t>
            </a:r>
          </a:p>
        </p:txBody>
      </p:sp>
      <p:cxnSp>
        <p:nvCxnSpPr>
          <p:cNvPr id="14" name="Connector 13"/>
          <p:cNvCxnSpPr/>
          <p:nvPr/>
        </p:nvCxnSpPr>
        <p:spPr>
          <a:xfrm>
            <a:off x="3931920" y="3035808"/>
            <a:ext cx="0" cy="96012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5" name="TextBox 14"/>
          <p:cNvSpPr txBox="1">
            <a:spLocks/>
          </p:cNvSpPr>
          <p:nvPr/>
        </p:nvSpPr>
        <p:spPr>
          <a:xfrm>
            <a:off x="4251960" y="3081528"/>
            <a:ext cx="6903720" cy="566309"/>
          </a:xfrm>
          <a:prstGeom prst="rect">
            <a:avLst/>
          </a:prstGeom>
          <a:noFill/>
        </p:spPr>
        <p:txBody>
          <a:bodyPr wrap="square" lIns="36576" tIns="36576" rIns="36576" bIns="36576" anchor="t">
            <a:spAutoFit/>
          </a:bodyPr>
          <a:lstStyle/>
          <a:p>
            <a:pPr algn="l">
              <a:spcAft>
                <a:spcPts val="0"/>
              </a:spcAft>
            </a:pPr>
            <a:r>
              <a:rPr lang="en-GB" sz="1600" b="0">
                <a:solidFill>
                  <a:srgbClr val="233A59"/>
                </a:solidFill>
              </a:rPr>
              <a:t>Enable/verify supported session pickup and test the traffic type; runtime state varies.</a:t>
            </a:r>
          </a:p>
        </p:txBody>
      </p:sp>
      <p:cxnSp>
        <p:nvCxnSpPr>
          <p:cNvPr id="16" name="Connector 15"/>
          <p:cNvCxnSpPr/>
          <p:nvPr/>
        </p:nvCxnSpPr>
        <p:spPr>
          <a:xfrm>
            <a:off x="685800" y="4133087"/>
            <a:ext cx="10469880"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17" name="TextBox 16"/>
          <p:cNvSpPr txBox="1">
            <a:spLocks/>
          </p:cNvSpPr>
          <p:nvPr/>
        </p:nvSpPr>
        <p:spPr>
          <a:xfrm>
            <a:off x="685800" y="4379976"/>
            <a:ext cx="3108960" cy="566309"/>
          </a:xfrm>
          <a:prstGeom prst="rect">
            <a:avLst/>
          </a:prstGeom>
          <a:noFill/>
        </p:spPr>
        <p:txBody>
          <a:bodyPr wrap="square" lIns="36576" tIns="36576" rIns="36576" bIns="36576" anchor="t">
            <a:spAutoFit/>
          </a:bodyPr>
          <a:lstStyle/>
          <a:p>
            <a:pPr algn="l">
              <a:spcAft>
                <a:spcPts val="0"/>
              </a:spcAft>
            </a:pPr>
            <a:r>
              <a:rPr lang="en-GB" sz="1600" b="1">
                <a:solidFill>
                  <a:srgbClr val="1E2B40"/>
                </a:solidFill>
              </a:rPr>
              <a:t>Use appliance failover assumptions in Azure</a:t>
            </a:r>
          </a:p>
        </p:txBody>
      </p:sp>
      <p:cxnSp>
        <p:nvCxnSpPr>
          <p:cNvPr id="18" name="Connector 17"/>
          <p:cNvCxnSpPr/>
          <p:nvPr/>
        </p:nvCxnSpPr>
        <p:spPr>
          <a:xfrm>
            <a:off x="3931920" y="4334256"/>
            <a:ext cx="0" cy="96012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251960" y="4379976"/>
            <a:ext cx="6903720" cy="822960"/>
          </a:xfrm>
          <a:prstGeom prst="rect">
            <a:avLst/>
          </a:prstGeom>
          <a:noFill/>
        </p:spPr>
        <p:txBody>
          <a:bodyPr wrap="square" lIns="36576" tIns="36576" rIns="36576" bIns="36576" anchor="t">
            <a:spAutoFit/>
          </a:bodyPr>
          <a:lstStyle/>
          <a:p>
            <a:pPr algn="l">
              <a:spcAft>
                <a:spcPts val="0"/>
              </a:spcAft>
            </a:pPr>
            <a:r>
              <a:rPr sz="1600" b="0">
                <a:solidFill>
                  <a:srgbClr val="233A59"/>
                </a:solidFill>
              </a:rPr>
              <a:t>Follow the Fortinet Azure HA architecture; cloud routing/load-balancing changes the mechanism.</a:t>
            </a:r>
          </a:p>
        </p:txBody>
      </p:sp>
      <p:cxnSp>
        <p:nvCxnSpPr>
          <p:cNvPr id="20" name="Connector 19"/>
          <p:cNvCxnSpPr/>
          <p:nvPr/>
        </p:nvCxnSpPr>
        <p:spPr>
          <a:xfrm>
            <a:off x="685800" y="5431536"/>
            <a:ext cx="10469880"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58368" y="5833872"/>
            <a:ext cx="731520" cy="182880"/>
          </a:xfrm>
          <a:prstGeom prst="rect">
            <a:avLst/>
          </a:prstGeom>
          <a:noFill/>
        </p:spPr>
        <p:txBody>
          <a:bodyPr wrap="square" lIns="36576" tIns="36576" rIns="36576" bIns="36576" anchor="t">
            <a:spAutoFit/>
          </a:bodyPr>
          <a:lstStyle/>
          <a:p>
            <a:pPr algn="l">
              <a:spcAft>
                <a:spcPts val="0"/>
              </a:spcAft>
            </a:pPr>
            <a:r>
              <a:rPr sz="1000" b="1">
                <a:solidFill>
                  <a:srgbClr val="E60012"/>
                </a:solidFill>
              </a:rPr>
              <a:t>LESSON</a:t>
            </a:r>
          </a:p>
        </p:txBody>
      </p:sp>
      <p:sp>
        <p:nvSpPr>
          <p:cNvPr id="22" name="TextBox 21"/>
          <p:cNvSpPr txBox="1"/>
          <p:nvPr/>
        </p:nvSpPr>
        <p:spPr>
          <a:xfrm>
            <a:off x="1417320" y="5769864"/>
            <a:ext cx="9875520" cy="384048"/>
          </a:xfrm>
          <a:prstGeom prst="rect">
            <a:avLst/>
          </a:prstGeom>
          <a:noFill/>
        </p:spPr>
        <p:txBody>
          <a:bodyPr wrap="square" lIns="36576" tIns="36576" rIns="36576" bIns="36576" anchor="t">
            <a:spAutoFit/>
          </a:bodyPr>
          <a:lstStyle/>
          <a:p>
            <a:pPr algn="l">
              <a:spcAft>
                <a:spcPts val="0"/>
              </a:spcAft>
            </a:pPr>
            <a:r>
              <a:rPr sz="1300" b="1">
                <a:solidFill>
                  <a:srgbClr val="233A59"/>
                </a:solidFill>
              </a:rPr>
              <a:t>A correction changes a concrete configuration, test or interpretation—not merely the wording used to describe it.</a:t>
            </a: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159">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159</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Troubleshooting workflow: narrow the failed decision</a:t>
            </a:r>
          </a:p>
        </p:txBody>
      </p:sp>
      <p:sp>
        <p:nvSpPr>
          <p:cNvPr id="10" name="Rectangle 9"/>
          <p:cNvSpPr/>
          <p:nvPr/>
        </p:nvSpPr>
        <p:spPr>
          <a:xfrm>
            <a:off x="658368"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1" name="TextBox 10"/>
          <p:cNvSpPr txBox="1">
            <a:spLocks/>
          </p:cNvSpPr>
          <p:nvPr/>
        </p:nvSpPr>
        <p:spPr>
          <a:xfrm>
            <a:off x="768096" y="2020824"/>
            <a:ext cx="411480" cy="219456"/>
          </a:xfrm>
          <a:prstGeom prst="rect">
            <a:avLst/>
          </a:prstGeom>
          <a:noFill/>
        </p:spPr>
        <p:txBody>
          <a:bodyPr wrap="square" lIns="27432" tIns="27432" rIns="27432" bIns="27432" anchor="t">
            <a:spAutoFit/>
          </a:bodyPr>
          <a:lstStyle/>
          <a:p>
            <a:pPr algn="l">
              <a:spcAft>
                <a:spcPts val="0"/>
              </a:spcAft>
            </a:pPr>
            <a:r>
              <a:rPr lang="en-HU" sz="1100" b="1">
                <a:solidFill>
                  <a:srgbClr val="E60012"/>
                </a:solidFill>
              </a:rPr>
              <a:t>01</a:t>
            </a:r>
          </a:p>
        </p:txBody>
      </p:sp>
      <p:sp>
        <p:nvSpPr>
          <p:cNvPr id="12" name="TextBox 11"/>
          <p:cNvSpPr txBox="1">
            <a:spLocks/>
          </p:cNvSpPr>
          <p:nvPr/>
        </p:nvSpPr>
        <p:spPr>
          <a:xfrm>
            <a:off x="768096" y="2340864"/>
            <a:ext cx="1830628" cy="603504"/>
          </a:xfrm>
          <a:prstGeom prst="rect">
            <a:avLst/>
          </a:prstGeom>
          <a:noFill/>
        </p:spPr>
        <p:txBody>
          <a:bodyPr wrap="square" lIns="27432" tIns="27432" rIns="27432" bIns="27432" anchor="ctr">
            <a:spAutoFit/>
          </a:bodyPr>
          <a:lstStyle/>
          <a:p>
            <a:pPr algn="ctr">
              <a:spcAft>
                <a:spcPts val="0"/>
              </a:spcAft>
            </a:pPr>
            <a:r>
              <a:rPr lang="en-GB" sz="1400" b="1">
                <a:solidFill>
                  <a:srgbClr val="1E2B40"/>
                </a:solidFill>
              </a:rPr>
              <a:t>Check member compatibility and heartbeat</a:t>
            </a:r>
          </a:p>
        </p:txBody>
      </p:sp>
      <p:cxnSp>
        <p:nvCxnSpPr>
          <p:cNvPr id="13" name="Connector 12"/>
          <p:cNvCxnSpPr/>
          <p:nvPr/>
        </p:nvCxnSpPr>
        <p:spPr>
          <a:xfrm>
            <a:off x="2708452"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2854756"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5" name="TextBox 14"/>
          <p:cNvSpPr txBox="1">
            <a:spLocks/>
          </p:cNvSpPr>
          <p:nvPr/>
        </p:nvSpPr>
        <p:spPr>
          <a:xfrm>
            <a:off x="2964484" y="2020824"/>
            <a:ext cx="411480" cy="219456"/>
          </a:xfrm>
          <a:prstGeom prst="rect">
            <a:avLst/>
          </a:prstGeom>
          <a:noFill/>
        </p:spPr>
        <p:txBody>
          <a:bodyPr wrap="square" lIns="27432" tIns="27432" rIns="27432" bIns="27432" anchor="t">
            <a:spAutoFit/>
          </a:bodyPr>
          <a:lstStyle/>
          <a:p>
            <a:pPr algn="l">
              <a:spcAft>
                <a:spcPts val="0"/>
              </a:spcAft>
            </a:pPr>
            <a:r>
              <a:rPr lang="en-HU" sz="1100" b="1">
                <a:solidFill>
                  <a:srgbClr val="E60012"/>
                </a:solidFill>
              </a:rPr>
              <a:t>02</a:t>
            </a:r>
          </a:p>
        </p:txBody>
      </p:sp>
      <p:sp>
        <p:nvSpPr>
          <p:cNvPr id="16" name="TextBox 15"/>
          <p:cNvSpPr txBox="1">
            <a:spLocks/>
          </p:cNvSpPr>
          <p:nvPr/>
        </p:nvSpPr>
        <p:spPr>
          <a:xfrm>
            <a:off x="2964484" y="2340864"/>
            <a:ext cx="1830628" cy="603504"/>
          </a:xfrm>
          <a:prstGeom prst="rect">
            <a:avLst/>
          </a:prstGeom>
          <a:noFill/>
        </p:spPr>
        <p:txBody>
          <a:bodyPr wrap="square" lIns="27432" tIns="27432" rIns="27432" bIns="27432" anchor="ctr">
            <a:spAutoFit/>
          </a:bodyPr>
          <a:lstStyle/>
          <a:p>
            <a:pPr algn="ctr">
              <a:spcAft>
                <a:spcPts val="0"/>
              </a:spcAft>
            </a:pPr>
            <a:r>
              <a:rPr lang="en-GB" sz="1400" b="1">
                <a:solidFill>
                  <a:srgbClr val="1E2B40"/>
                </a:solidFill>
              </a:rPr>
              <a:t>Confirm role/election and sync checksums</a:t>
            </a:r>
          </a:p>
        </p:txBody>
      </p:sp>
      <p:cxnSp>
        <p:nvCxnSpPr>
          <p:cNvPr id="17" name="Connector 16"/>
          <p:cNvCxnSpPr/>
          <p:nvPr/>
        </p:nvCxnSpPr>
        <p:spPr>
          <a:xfrm>
            <a:off x="4904841"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5051145"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9" name="TextBox 18"/>
          <p:cNvSpPr txBox="1">
            <a:spLocks/>
          </p:cNvSpPr>
          <p:nvPr/>
        </p:nvSpPr>
        <p:spPr>
          <a:xfrm>
            <a:off x="5160873" y="2020824"/>
            <a:ext cx="411480" cy="219456"/>
          </a:xfrm>
          <a:prstGeom prst="rect">
            <a:avLst/>
          </a:prstGeom>
          <a:noFill/>
        </p:spPr>
        <p:txBody>
          <a:bodyPr wrap="square" lIns="27432" tIns="27432" rIns="27432" bIns="27432" anchor="t">
            <a:spAutoFit/>
          </a:bodyPr>
          <a:lstStyle/>
          <a:p>
            <a:pPr algn="l">
              <a:spcAft>
                <a:spcPts val="0"/>
              </a:spcAft>
            </a:pPr>
            <a:r>
              <a:rPr lang="en-HU" sz="1100" b="1">
                <a:solidFill>
                  <a:srgbClr val="E60012"/>
                </a:solidFill>
              </a:rPr>
              <a:t>03</a:t>
            </a:r>
          </a:p>
        </p:txBody>
      </p:sp>
      <p:sp>
        <p:nvSpPr>
          <p:cNvPr id="20" name="TextBox 19"/>
          <p:cNvSpPr txBox="1">
            <a:spLocks/>
          </p:cNvSpPr>
          <p:nvPr/>
        </p:nvSpPr>
        <p:spPr>
          <a:xfrm>
            <a:off x="5160873" y="2340864"/>
            <a:ext cx="1830628" cy="603504"/>
          </a:xfrm>
          <a:prstGeom prst="rect">
            <a:avLst/>
          </a:prstGeom>
          <a:noFill/>
        </p:spPr>
        <p:txBody>
          <a:bodyPr wrap="square" lIns="27432" tIns="27432" rIns="27432" bIns="27432" anchor="ctr">
            <a:spAutoFit/>
          </a:bodyPr>
          <a:lstStyle/>
          <a:p>
            <a:pPr algn="ctr">
              <a:spcAft>
                <a:spcPts val="0"/>
              </a:spcAft>
            </a:pPr>
            <a:r>
              <a:rPr lang="en-GB" sz="1400" b="1">
                <a:solidFill>
                  <a:srgbClr val="1E2B40"/>
                </a:solidFill>
              </a:rPr>
              <a:t>Inspect monitored failure event</a:t>
            </a:r>
          </a:p>
        </p:txBody>
      </p:sp>
      <p:cxnSp>
        <p:nvCxnSpPr>
          <p:cNvPr id="21" name="Connector 20"/>
          <p:cNvCxnSpPr/>
          <p:nvPr/>
        </p:nvCxnSpPr>
        <p:spPr>
          <a:xfrm>
            <a:off x="7101230"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7247534"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23" name="TextBox 22"/>
          <p:cNvSpPr txBox="1"/>
          <p:nvPr/>
        </p:nvSpPr>
        <p:spPr>
          <a:xfrm>
            <a:off x="7357262" y="2020824"/>
            <a:ext cx="411480" cy="219456"/>
          </a:xfrm>
          <a:prstGeom prst="rect">
            <a:avLst/>
          </a:prstGeom>
          <a:noFill/>
        </p:spPr>
        <p:txBody>
          <a:bodyPr wrap="square" lIns="27432" tIns="27432" rIns="27432" bIns="27432" anchor="t">
            <a:spAutoFit/>
          </a:bodyPr>
          <a:lstStyle/>
          <a:p>
            <a:pPr algn="l">
              <a:spcAft>
                <a:spcPts val="0"/>
              </a:spcAft>
            </a:pPr>
            <a:r>
              <a:rPr sz="1100" b="1">
                <a:solidFill>
                  <a:srgbClr val="E60012"/>
                </a:solidFill>
              </a:rPr>
              <a:t>04</a:t>
            </a:r>
          </a:p>
        </p:txBody>
      </p:sp>
      <p:sp>
        <p:nvSpPr>
          <p:cNvPr id="24" name="TextBox 23"/>
          <p:cNvSpPr txBox="1"/>
          <p:nvPr/>
        </p:nvSpPr>
        <p:spPr>
          <a:xfrm>
            <a:off x="7357262" y="2340864"/>
            <a:ext cx="1830628" cy="603504"/>
          </a:xfrm>
          <a:prstGeom prst="rect">
            <a:avLst/>
          </a:prstGeom>
          <a:noFill/>
        </p:spPr>
        <p:txBody>
          <a:bodyPr wrap="square" lIns="27432" tIns="27432" rIns="27432" bIns="27432" anchor="ctr">
            <a:spAutoFit/>
          </a:bodyPr>
          <a:lstStyle/>
          <a:p>
            <a:pPr algn="ctr">
              <a:spcAft>
                <a:spcPts val="0"/>
              </a:spcAft>
            </a:pPr>
            <a:r>
              <a:rPr sz="1400" b="1">
                <a:solidFill>
                  <a:srgbClr val="1E2B40"/>
                </a:solidFill>
              </a:rPr>
              <a:t>Separate role change from network convergence</a:t>
            </a:r>
          </a:p>
        </p:txBody>
      </p:sp>
      <p:cxnSp>
        <p:nvCxnSpPr>
          <p:cNvPr id="25" name="Connector 24"/>
          <p:cNvCxnSpPr/>
          <p:nvPr/>
        </p:nvCxnSpPr>
        <p:spPr>
          <a:xfrm>
            <a:off x="9297619"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9443923"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553651" y="2020824"/>
            <a:ext cx="411480" cy="219456"/>
          </a:xfrm>
          <a:prstGeom prst="rect">
            <a:avLst/>
          </a:prstGeom>
          <a:noFill/>
        </p:spPr>
        <p:txBody>
          <a:bodyPr wrap="square" lIns="27432" tIns="27432" rIns="27432" bIns="27432" anchor="t">
            <a:spAutoFit/>
          </a:bodyPr>
          <a:lstStyle/>
          <a:p>
            <a:pPr algn="l">
              <a:spcAft>
                <a:spcPts val="0"/>
              </a:spcAft>
            </a:pPr>
            <a:r>
              <a:rPr sz="1100" b="1">
                <a:solidFill>
                  <a:srgbClr val="E60012"/>
                </a:solidFill>
              </a:rPr>
              <a:t>05</a:t>
            </a:r>
          </a:p>
        </p:txBody>
      </p:sp>
      <p:sp>
        <p:nvSpPr>
          <p:cNvPr id="28" name="TextBox 27"/>
          <p:cNvSpPr txBox="1"/>
          <p:nvPr/>
        </p:nvSpPr>
        <p:spPr>
          <a:xfrm>
            <a:off x="9553651" y="2340864"/>
            <a:ext cx="1830628" cy="603504"/>
          </a:xfrm>
          <a:prstGeom prst="rect">
            <a:avLst/>
          </a:prstGeom>
          <a:noFill/>
        </p:spPr>
        <p:txBody>
          <a:bodyPr wrap="square" lIns="27432" tIns="27432" rIns="27432" bIns="27432" anchor="ctr">
            <a:spAutoFit/>
          </a:bodyPr>
          <a:lstStyle/>
          <a:p>
            <a:pPr algn="ctr">
              <a:spcAft>
                <a:spcPts val="0"/>
              </a:spcAft>
            </a:pPr>
            <a:r>
              <a:rPr sz="1400" b="1">
                <a:solidFill>
                  <a:srgbClr val="1E2B40"/>
                </a:solidFill>
              </a:rPr>
              <a:t>Validate session/application recovery and resync</a:t>
            </a:r>
          </a:p>
        </p:txBody>
      </p:sp>
      <p:sp>
        <p:nvSpPr>
          <p:cNvPr id="29" name="TextBox 28"/>
          <p:cNvSpPr txBox="1"/>
          <p:nvPr/>
        </p:nvSpPr>
        <p:spPr>
          <a:xfrm>
            <a:off x="658368" y="3703320"/>
            <a:ext cx="2011680" cy="256032"/>
          </a:xfrm>
          <a:prstGeom prst="rect">
            <a:avLst/>
          </a:prstGeom>
          <a:noFill/>
        </p:spPr>
        <p:txBody>
          <a:bodyPr wrap="square" lIns="27432" tIns="27432" rIns="27432" bIns="27432" anchor="t">
            <a:spAutoFit/>
          </a:bodyPr>
          <a:lstStyle/>
          <a:p>
            <a:pPr algn="l">
              <a:spcAft>
                <a:spcPts val="0"/>
              </a:spcAft>
            </a:pPr>
            <a:r>
              <a:rPr sz="1100" b="1">
                <a:solidFill>
                  <a:srgbClr val="E60012"/>
                </a:solidFill>
              </a:rPr>
              <a:t>What to observe</a:t>
            </a:r>
          </a:p>
        </p:txBody>
      </p:sp>
      <p:sp>
        <p:nvSpPr>
          <p:cNvPr id="30" name="TextBox 29"/>
          <p:cNvSpPr txBox="1"/>
          <p:nvPr/>
        </p:nvSpPr>
        <p:spPr>
          <a:xfrm>
            <a:off x="658368" y="4050791"/>
            <a:ext cx="6446520" cy="1508760"/>
          </a:xfrm>
          <a:prstGeom prst="rect">
            <a:avLst/>
          </a:prstGeom>
          <a:noFill/>
        </p:spPr>
        <p:txBody>
          <a:bodyPr wrap="square" lIns="109728" tIns="73152" rIns="109728" bIns="73152" anchor="t">
            <a:spAutoFit/>
          </a:bodyPr>
          <a:lstStyle/>
          <a:p>
            <a:pPr algn="l">
              <a:lnSpc>
                <a:spcPct val="105000"/>
              </a:lnSpc>
              <a:spcAft>
                <a:spcPts val="700"/>
              </a:spcAft>
              <a:defRPr sz="1600">
                <a:solidFill>
                  <a:srgbClr val="1E2B40"/>
                </a:solidFill>
              </a:defRPr>
            </a:pPr>
            <a:r>
              <a:t>• Inspect monitored failure event</a:t>
            </a:r>
          </a:p>
          <a:p>
            <a:pPr>
              <a:lnSpc>
                <a:spcPct val="105000"/>
              </a:lnSpc>
              <a:spcAft>
                <a:spcPts val="700"/>
              </a:spcAft>
              <a:defRPr sz="1600">
                <a:solidFill>
                  <a:srgbClr val="1E2B40"/>
                </a:solidFill>
              </a:defRPr>
            </a:pPr>
            <a:r>
              <a:t>• Separate role change from network convergence</a:t>
            </a:r>
          </a:p>
          <a:p>
            <a:pPr>
              <a:lnSpc>
                <a:spcPct val="105000"/>
              </a:lnSpc>
              <a:spcAft>
                <a:spcPts val="700"/>
              </a:spcAft>
              <a:defRPr sz="1600">
                <a:solidFill>
                  <a:srgbClr val="1E2B40"/>
                </a:solidFill>
              </a:defRPr>
            </a:pPr>
            <a:r>
              <a:t>• Validate session/application recovery and resync</a:t>
            </a:r>
          </a:p>
        </p:txBody>
      </p:sp>
      <p:cxnSp>
        <p:nvCxnSpPr>
          <p:cNvPr id="31" name="Connector 30"/>
          <p:cNvCxnSpPr/>
          <p:nvPr/>
        </p:nvCxnSpPr>
        <p:spPr>
          <a:xfrm>
            <a:off x="7452360" y="3703320"/>
            <a:ext cx="0" cy="2093976"/>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7772400" y="3703320"/>
            <a:ext cx="292608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INSTRUCTOR DEMONSTRATION</a:t>
            </a:r>
            <a:endParaRPr sz="1100" b="1">
              <a:solidFill>
                <a:srgbClr val="E60012"/>
              </a:solidFill>
            </a:endParaRPr>
          </a:p>
        </p:txBody>
      </p:sp>
      <p:sp>
        <p:nvSpPr>
          <p:cNvPr id="33" name="TextBox 32"/>
          <p:cNvSpPr txBox="1"/>
          <p:nvPr/>
        </p:nvSpPr>
        <p:spPr>
          <a:xfrm>
            <a:off x="7772400" y="4096512"/>
            <a:ext cx="3337560" cy="1234440"/>
          </a:xfrm>
          <a:prstGeom prst="rect">
            <a:avLst/>
          </a:prstGeom>
          <a:noFill/>
        </p:spPr>
        <p:txBody>
          <a:bodyPr wrap="square" lIns="27432" tIns="27432" rIns="27432" bIns="27432" anchor="t">
            <a:spAutoFit/>
          </a:bodyPr>
          <a:lstStyle/>
          <a:p>
            <a:pPr algn="l">
              <a:spcAft>
                <a:spcPts val="0"/>
              </a:spcAft>
            </a:pPr>
            <a:r>
              <a:rPr sz="1500" b="1">
                <a:solidFill>
                  <a:srgbClr val="233A59"/>
                </a:solidFill>
              </a:rPr>
              <a:t>Preserve timestamps and before/after state; stop/reset debug operations.</a:t>
            </a:r>
          </a:p>
        </p:txBody>
      </p:sp>
      <p:sp>
        <p:nvSpPr>
          <p:cNvPr id="34" name="TextBox 33"/>
          <p:cNvSpPr txBox="1"/>
          <p:nvPr/>
        </p:nvSpPr>
        <p:spPr>
          <a:xfrm>
            <a:off x="7772400" y="5440680"/>
            <a:ext cx="3337560" cy="363176"/>
          </a:xfrm>
          <a:prstGeom prst="rect">
            <a:avLst/>
          </a:prstGeom>
          <a:noFill/>
        </p:spPr>
        <p:txBody>
          <a:bodyPr wrap="square" lIns="27432" tIns="27432" rIns="27432" bIns="27432" anchor="t">
            <a:spAutoFit/>
          </a:bodyPr>
          <a:lstStyle/>
          <a:p>
            <a:pPr algn="l">
              <a:spcAft>
                <a:spcPts val="0"/>
              </a:spcAft>
            </a:pPr>
            <a:r>
              <a:rPr lang="en-GB" sz="1000" b="0">
                <a:solidFill>
                  <a:srgbClr val="687385"/>
                </a:solidFill>
              </a:rPr>
              <a:t>If debug is used, filter by the test tuple and disable</a:t>
            </a:r>
            <a:r>
              <a:rPr sz="1000" b="0">
                <a:solidFill>
                  <a:srgbClr val="687385"/>
                </a:solidFill>
              </a:rPr>
              <a:t>/reset </a:t>
            </a:r>
            <a:r>
              <a:rPr lang="en-GB" sz="1000" b="0">
                <a:solidFill>
                  <a:srgbClr val="687385"/>
                </a:solidFill>
              </a:rPr>
              <a:t>it immediately </a:t>
            </a:r>
            <a:r>
              <a:rPr sz="1000" b="0">
                <a:solidFill>
                  <a:srgbClr val="687385"/>
                </a:solidFill>
              </a:rPr>
              <a:t>after </a:t>
            </a:r>
            <a:r>
              <a:rPr lang="en-GB" sz="1000" b="0">
                <a:solidFill>
                  <a:srgbClr val="687385"/>
                </a:solidFill>
              </a:rPr>
              <a:t>capture</a:t>
            </a:r>
            <a:r>
              <a:rPr sz="1000" b="0">
                <a:solidFill>
                  <a:srgbClr val="687385"/>
                </a:solidFill>
              </a:rPr>
              <a:t>.</a:t>
            </a:r>
          </a:p>
        </p:txBody>
      </p:sp>
      <p:sp>
        <p:nvSpPr>
          <p:cNvPr id="35" name="TextBox 34"/>
          <p:cNvSpPr txBox="1"/>
          <p:nvPr/>
        </p:nvSpPr>
        <p:spPr>
          <a:xfrm>
            <a:off x="502920" y="420624"/>
            <a:ext cx="10744200" cy="130805"/>
          </a:xfrm>
          <a:prstGeom prst="rect">
            <a:avLst/>
          </a:prstGeom>
          <a:noFill/>
        </p:spPr>
        <p:txBody>
          <a:bodyPr wrap="square" lIns="0" tIns="0" rIns="0" bIns="0">
            <a:spAutoFit/>
          </a:bodyPr>
          <a:lstStyle/>
          <a:p>
            <a:pPr algn="l"/>
            <a:r>
              <a:rPr lang="en-HU" sz="850" b="1">
                <a:solidFill>
                  <a:srgbClr val="687385"/>
                </a:solidFill>
              </a:rPr>
              <a:t>159</a:t>
            </a:r>
            <a:r>
              <a:rPr sz="850" b="1">
                <a:solidFill>
                  <a:srgbClr val="687385"/>
                </a:solidFill>
              </a:rPr>
              <a:t> • DAY 4 • BLOCK 14 • High Availability</a:t>
            </a: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160">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160</a:t>
            </a:r>
          </a:p>
        </p:txBody>
      </p:sp>
      <p:sp>
        <p:nvSpPr>
          <p:cNvPr id="9" name="TextBox 8"/>
          <p:cNvSpPr txBox="1">
            <a:spLocks/>
          </p:cNvSpPr>
          <p:nvPr/>
        </p:nvSpPr>
        <p:spPr>
          <a:xfrm>
            <a:off x="502920" y="621792"/>
            <a:ext cx="11109960" cy="455509"/>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Practical handoff: HA Demonstration or Event Analysis</a:t>
            </a:r>
          </a:p>
        </p:txBody>
      </p:sp>
      <p:sp>
        <p:nvSpPr>
          <p:cNvPr id="10" name="TextBox 9"/>
          <p:cNvSpPr txBox="1">
            <a:spLocks/>
          </p:cNvSpPr>
          <p:nvPr/>
        </p:nvSpPr>
        <p:spPr>
          <a:xfrm>
            <a:off x="658368" y="1554480"/>
            <a:ext cx="6583680" cy="3571427"/>
          </a:xfrm>
          <a:prstGeom prst="rect">
            <a:avLst/>
          </a:prstGeom>
          <a:noFill/>
        </p:spPr>
        <p:txBody>
          <a:bodyPr wrap="square" lIns="109728" tIns="73152" rIns="109728" bIns="73152" anchor="t">
            <a:spAutoFit/>
          </a:bodyPr>
          <a:lstStyle/>
          <a:p>
            <a:pPr algn="l">
              <a:lnSpc>
                <a:spcPct val="105000"/>
              </a:lnSpc>
              <a:spcAft>
                <a:spcPts val="800"/>
              </a:spcAft>
              <a:defRPr sz="1700">
                <a:solidFill>
                  <a:srgbClr val="1E2B40"/>
                </a:solidFill>
              </a:defRPr>
            </a:pPr>
            <a:r>
              <a:rPr lang="en-GB"/>
              <a:t>• START / PREREQUISITES: Base lab has one FortiGate per student; dedicated instructor HA pair is optional.</a:t>
            </a:r>
          </a:p>
          <a:p>
            <a:pPr>
              <a:lnSpc>
                <a:spcPct val="105000"/>
              </a:lnSpc>
              <a:spcAft>
                <a:spcPts val="800"/>
              </a:spcAft>
              <a:defRPr sz="1700">
                <a:solidFill>
                  <a:srgbClr val="1E2B40"/>
                </a:solidFill>
              </a:defRPr>
            </a:pPr>
            <a:r>
              <a:rPr lang="en-GB"/>
              <a:t>• CHANGE / INVESTIGATE: Predict election, sync and session outcome; observe controlled failover if the pair exists, otherwise analyze events/config.</a:t>
            </a:r>
          </a:p>
          <a:p>
            <a:pPr>
              <a:lnSpc>
                <a:spcPct val="105000"/>
              </a:lnSpc>
              <a:spcAft>
                <a:spcPts val="800"/>
              </a:spcAft>
              <a:defRPr sz="1700">
                <a:solidFill>
                  <a:srgbClr val="1E2B40"/>
                </a:solidFill>
              </a:defRPr>
            </a:pPr>
            <a:r>
              <a:rPr lang="en-GB"/>
              <a:t>• EXPECTED RESULT: Learners identify primary/secondary state, failover trigger, synchronization status and expected session impact.</a:t>
            </a:r>
          </a:p>
          <a:p>
            <a:pPr>
              <a:lnSpc>
                <a:spcPct val="105000"/>
              </a:lnSpc>
              <a:spcAft>
                <a:spcPts val="800"/>
              </a:spcAft>
              <a:defRPr sz="1700">
                <a:solidFill>
                  <a:srgbClr val="1E2B40"/>
                </a:solidFill>
              </a:defRPr>
            </a:pPr>
            <a:r>
              <a:rPr lang="en-GB"/>
              <a:t>• CLEANUP / RESET: Return the demo pair to healthy synchronized state, or reset the analysis worksheet.</a:t>
            </a:r>
          </a:p>
          <a:p>
            <a:pPr>
              <a:lnSpc>
                <a:spcPct val="105000"/>
              </a:lnSpc>
              <a:spcAft>
                <a:spcPts val="800"/>
              </a:spcAft>
              <a:defRPr sz="1700">
                <a:solidFill>
                  <a:srgbClr val="1E2B40"/>
                </a:solidFill>
              </a:defRPr>
            </a:pPr>
            <a:r>
              <a:rPr lang="en-GB"/>
              <a:t>• DELIVERY: Instructor demonstration with a dedicated pair; event/configuration analysis by default.</a:t>
            </a:r>
          </a:p>
        </p:txBody>
      </p:sp>
      <p:cxnSp>
        <p:nvCxnSpPr>
          <p:cNvPr id="11" name="Connector 10"/>
          <p:cNvCxnSpPr/>
          <p:nvPr/>
        </p:nvCxnSpPr>
        <p:spPr>
          <a:xfrm>
            <a:off x="7452360" y="1600200"/>
            <a:ext cx="0" cy="434340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7790688" y="1627632"/>
            <a:ext cx="342900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PLANNED EXERCISE</a:t>
            </a:r>
          </a:p>
        </p:txBody>
      </p:sp>
      <p:sp>
        <p:nvSpPr>
          <p:cNvPr id="13" name="TextBox 12"/>
          <p:cNvSpPr txBox="1">
            <a:spLocks/>
          </p:cNvSpPr>
          <p:nvPr/>
        </p:nvSpPr>
        <p:spPr>
          <a:xfrm>
            <a:off x="7790688" y="2057400"/>
            <a:ext cx="3337560" cy="1417320"/>
          </a:xfrm>
          <a:prstGeom prst="rect">
            <a:avLst/>
          </a:prstGeom>
          <a:noFill/>
        </p:spPr>
        <p:txBody>
          <a:bodyPr wrap="square" lIns="27432" tIns="27432" rIns="27432" bIns="27432" anchor="t">
            <a:spAutoFit/>
          </a:bodyPr>
          <a:lstStyle/>
          <a:p>
            <a:pPr algn="l">
              <a:spcAft>
                <a:spcPts val="0"/>
              </a:spcAft>
            </a:pPr>
            <a:r>
              <a:rPr lang="en-GB" sz="1700" b="1">
                <a:solidFill>
                  <a:srgbClr val="233A59"/>
                </a:solidFill>
              </a:rPr>
              <a:t>Predict election, sync and session outcome; observe controlled failover if the pair exists, otherwise analyze events/config.</a:t>
            </a:r>
          </a:p>
        </p:txBody>
      </p:sp>
      <p:sp>
        <p:nvSpPr>
          <p:cNvPr id="14" name="TextBox 13"/>
          <p:cNvSpPr txBox="1">
            <a:spLocks/>
          </p:cNvSpPr>
          <p:nvPr/>
        </p:nvSpPr>
        <p:spPr>
          <a:xfrm>
            <a:off x="7790688" y="3822191"/>
            <a:ext cx="18288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EXPECTED RESULT</a:t>
            </a:r>
          </a:p>
        </p:txBody>
      </p:sp>
      <p:sp>
        <p:nvSpPr>
          <p:cNvPr id="15" name="TextBox 14"/>
          <p:cNvSpPr txBox="1">
            <a:spLocks/>
          </p:cNvSpPr>
          <p:nvPr/>
        </p:nvSpPr>
        <p:spPr>
          <a:xfrm>
            <a:off x="7790688" y="4187952"/>
            <a:ext cx="3337560" cy="747897"/>
          </a:xfrm>
          <a:prstGeom prst="rect">
            <a:avLst/>
          </a:prstGeom>
          <a:noFill/>
        </p:spPr>
        <p:txBody>
          <a:bodyPr wrap="square" lIns="27432" tIns="27432" rIns="27432" bIns="27432" anchor="t">
            <a:spAutoFit/>
          </a:bodyPr>
          <a:lstStyle/>
          <a:p>
            <a:pPr algn="l">
              <a:spcAft>
                <a:spcPts val="0"/>
              </a:spcAft>
            </a:pPr>
            <a:r>
              <a:rPr lang="en-GB" sz="1500" b="0">
                <a:solidFill>
                  <a:srgbClr val="1E2B40"/>
                </a:solidFill>
              </a:rPr>
              <a:t>Learners identify primary/secondary state, failover trigger, synchronization status and expected session impact.</a:t>
            </a:r>
          </a:p>
        </p:txBody>
      </p:sp>
      <p:sp>
        <p:nvSpPr>
          <p:cNvPr id="16" name="TextBox 15"/>
          <p:cNvSpPr txBox="1">
            <a:spLocks/>
          </p:cNvSpPr>
          <p:nvPr/>
        </p:nvSpPr>
        <p:spPr>
          <a:xfrm>
            <a:off x="7790688" y="5559552"/>
            <a:ext cx="1097280" cy="209288"/>
          </a:xfrm>
          <a:prstGeom prst="rect">
            <a:avLst/>
          </a:prstGeom>
          <a:noFill/>
        </p:spPr>
        <p:txBody>
          <a:bodyPr wrap="square" lIns="27432" tIns="27432" rIns="27432" bIns="27432" anchor="t">
            <a:spAutoFit/>
          </a:bodyPr>
          <a:lstStyle/>
          <a:p>
            <a:pPr algn="l">
              <a:spcAft>
                <a:spcPts val="0"/>
              </a:spcAft>
            </a:pPr>
            <a:r>
              <a:rPr lang="en-GB" sz="1000" b="1">
                <a:solidFill>
                  <a:srgbClr val="687385"/>
                </a:solidFill>
              </a:rPr>
              <a:t>DELIVERY MODE</a:t>
            </a:r>
          </a:p>
        </p:txBody>
      </p:sp>
      <p:sp>
        <p:nvSpPr>
          <p:cNvPr id="17" name="TextBox 16"/>
          <p:cNvSpPr txBox="1">
            <a:spLocks/>
          </p:cNvSpPr>
          <p:nvPr/>
        </p:nvSpPr>
        <p:spPr>
          <a:xfrm>
            <a:off x="8942832" y="5504688"/>
            <a:ext cx="2258568" cy="270843"/>
          </a:xfrm>
          <a:prstGeom prst="rect">
            <a:avLst/>
          </a:prstGeom>
          <a:noFill/>
        </p:spPr>
        <p:txBody>
          <a:bodyPr wrap="square" lIns="27432" tIns="27432" rIns="27432" bIns="27432" anchor="t">
            <a:spAutoFit/>
          </a:bodyPr>
          <a:lstStyle/>
          <a:p>
            <a:pPr algn="r">
              <a:spcAft>
                <a:spcPts val="0"/>
              </a:spcAft>
            </a:pPr>
            <a:r>
              <a:rPr lang="en-GB" sz="1400" b="0">
                <a:solidFill>
                  <a:srgbClr val="687385"/>
                </a:solidFill>
              </a:rPr>
              <a:t>Demo pair or event analysis</a:t>
            </a:r>
          </a:p>
        </p:txBody>
      </p:sp>
      <p:sp>
        <p:nvSpPr>
          <p:cNvPr id="18" name="TextBox 17"/>
          <p:cNvSpPr txBox="1">
            <a:spLocks/>
          </p:cNvSpPr>
          <p:nvPr/>
        </p:nvSpPr>
        <p:spPr>
          <a:xfrm>
            <a:off x="502920" y="420624"/>
            <a:ext cx="10744200" cy="130805"/>
          </a:xfrm>
          <a:prstGeom prst="rect">
            <a:avLst/>
          </a:prstGeom>
          <a:noFill/>
        </p:spPr>
        <p:txBody>
          <a:bodyPr wrap="square" lIns="0" tIns="0" rIns="0" bIns="0">
            <a:spAutoFit/>
          </a:bodyPr>
          <a:lstStyle/>
          <a:p>
            <a:pPr algn="l"/>
            <a:r>
              <a:rPr lang="en-GB" sz="850" b="1">
                <a:solidFill>
                  <a:srgbClr val="687385"/>
                </a:solidFill>
              </a:rPr>
              <a:t>160 • DAY 4 • BLOCK 14 • High Availability</a:t>
            </a: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161">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161</a:t>
            </a:r>
          </a:p>
        </p:txBody>
      </p:sp>
      <p:sp>
        <p:nvSpPr>
          <p:cNvPr id="9" name="TextBox 8"/>
          <p:cNvSpPr txBox="1">
            <a:spLocks/>
          </p:cNvSpPr>
          <p:nvPr/>
        </p:nvSpPr>
        <p:spPr>
          <a:xfrm>
            <a:off x="502920" y="621792"/>
            <a:ext cx="11109960" cy="455509"/>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Knowledge check — explain the result</a:t>
            </a:r>
          </a:p>
        </p:txBody>
      </p:sp>
      <p:sp>
        <p:nvSpPr>
          <p:cNvPr id="10" name="TextBox 9"/>
          <p:cNvSpPr txBox="1">
            <a:spLocks/>
          </p:cNvSpPr>
          <p:nvPr/>
        </p:nvSpPr>
        <p:spPr>
          <a:xfrm>
            <a:off x="658368" y="1600200"/>
            <a:ext cx="5312664" cy="292608"/>
          </a:xfrm>
          <a:prstGeom prst="rect">
            <a:avLst/>
          </a:prstGeom>
          <a:noFill/>
        </p:spPr>
        <p:txBody>
          <a:bodyPr wrap="square" lIns="27432" tIns="27432" rIns="27432" bIns="27432" anchor="t">
            <a:spAutoFit/>
          </a:bodyPr>
          <a:lstStyle/>
          <a:p>
            <a:pPr algn="l">
              <a:spcAft>
                <a:spcPts val="0"/>
              </a:spcAft>
            </a:pPr>
            <a:r>
              <a:rPr lang="en-GB" sz="1300" b="1">
                <a:solidFill>
                  <a:srgbClr val="E60012"/>
                </a:solidFill>
              </a:rPr>
              <a:t>QUESTION 1</a:t>
            </a:r>
          </a:p>
        </p:txBody>
      </p:sp>
      <p:cxnSp>
        <p:nvCxnSpPr>
          <p:cNvPr id="11" name="Connector 10"/>
          <p:cNvCxnSpPr/>
          <p:nvPr/>
        </p:nvCxnSpPr>
        <p:spPr>
          <a:xfrm>
            <a:off x="658368" y="1984248"/>
            <a:ext cx="5312664" cy="0"/>
          </a:xfrm>
          <a:prstGeom prst="line">
            <a:avLst/>
          </a:prstGeom>
          <a:ln w="22860">
            <a:solidFill>
              <a:srgbClr val="E60012"/>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658368" y="2176272"/>
            <a:ext cx="5312664" cy="3337560"/>
          </a:xfrm>
          <a:prstGeom prst="rect">
            <a:avLst/>
          </a:prstGeom>
          <a:noFill/>
        </p:spPr>
        <p:txBody>
          <a:bodyPr wrap="square" lIns="109728" tIns="73152" rIns="109728" bIns="73152" anchor="t">
            <a:spAutoFit/>
          </a:bodyPr>
          <a:lstStyle/>
          <a:p>
            <a:pPr algn="l">
              <a:lnSpc>
                <a:spcPct val="105000"/>
              </a:lnSpc>
              <a:spcAft>
                <a:spcPts val="800"/>
              </a:spcAft>
              <a:defRPr sz="1600">
                <a:solidFill>
                  <a:srgbClr val="1E2B40"/>
                </a:solidFill>
              </a:defRPr>
            </a:pPr>
            <a:r>
              <a:rPr lang="en-GB"/>
              <a:t>• What is the heartbeat used for?</a:t>
            </a:r>
          </a:p>
        </p:txBody>
      </p:sp>
      <p:sp>
        <p:nvSpPr>
          <p:cNvPr id="13" name="TextBox 12"/>
          <p:cNvSpPr txBox="1"/>
          <p:nvPr/>
        </p:nvSpPr>
        <p:spPr>
          <a:xfrm>
            <a:off x="6227064" y="1600200"/>
            <a:ext cx="5312664" cy="292608"/>
          </a:xfrm>
          <a:prstGeom prst="rect">
            <a:avLst/>
          </a:prstGeom>
          <a:noFill/>
        </p:spPr>
        <p:txBody>
          <a:bodyPr wrap="square" lIns="27432" tIns="27432" rIns="27432" bIns="27432" anchor="t">
            <a:spAutoFit/>
          </a:bodyPr>
          <a:lstStyle/>
          <a:p>
            <a:pPr algn="l">
              <a:spcAft>
                <a:spcPts val="0"/>
              </a:spcAft>
            </a:pPr>
            <a:r>
              <a:rPr sz="1300" b="1">
                <a:solidFill>
                  <a:srgbClr val="E60012"/>
                </a:solidFill>
              </a:rPr>
              <a:t>QUESTION 2</a:t>
            </a:r>
          </a:p>
        </p:txBody>
      </p:sp>
      <p:cxnSp>
        <p:nvCxnSpPr>
          <p:cNvPr id="14" name="Connector 13"/>
          <p:cNvCxnSpPr/>
          <p:nvPr/>
        </p:nvCxnSpPr>
        <p:spPr>
          <a:xfrm>
            <a:off x="6227064" y="1984248"/>
            <a:ext cx="5312664" cy="0"/>
          </a:xfrm>
          <a:prstGeom prst="line">
            <a:avLst/>
          </a:prstGeom>
          <a:ln w="22860">
            <a:solidFill>
              <a:srgbClr val="E60012"/>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227064" y="2176272"/>
            <a:ext cx="5312664" cy="3337560"/>
          </a:xfrm>
          <a:prstGeom prst="rect">
            <a:avLst/>
          </a:prstGeom>
          <a:noFill/>
        </p:spPr>
        <p:txBody>
          <a:bodyPr wrap="square" lIns="109728" tIns="73152" rIns="109728" bIns="73152" anchor="t">
            <a:spAutoFit/>
          </a:bodyPr>
          <a:lstStyle/>
          <a:p>
            <a:pPr algn="l">
              <a:lnSpc>
                <a:spcPct val="105000"/>
              </a:lnSpc>
              <a:spcAft>
                <a:spcPts val="800"/>
              </a:spcAft>
              <a:defRPr sz="1600">
                <a:solidFill>
                  <a:srgbClr val="1E2B40"/>
                </a:solidFill>
              </a:defRPr>
            </a:pPr>
            <a:r>
              <a:t>• Why can traffic remain interrupted after the secondary becomes primary?</a:t>
            </a:r>
          </a:p>
        </p:txBody>
      </p:sp>
      <p:sp>
        <p:nvSpPr>
          <p:cNvPr id="16" name="TextBox 15"/>
          <p:cNvSpPr txBox="1"/>
          <p:nvPr/>
        </p:nvSpPr>
        <p:spPr>
          <a:xfrm>
            <a:off x="658368" y="5724144"/>
            <a:ext cx="1234440" cy="224677"/>
          </a:xfrm>
          <a:prstGeom prst="rect">
            <a:avLst/>
          </a:prstGeom>
          <a:noFill/>
        </p:spPr>
        <p:txBody>
          <a:bodyPr wrap="square" lIns="27432" tIns="27432" rIns="27432" bIns="27432" anchor="t">
            <a:spAutoFit/>
          </a:bodyPr>
          <a:lstStyle/>
          <a:p>
            <a:pPr algn="l">
              <a:spcAft>
                <a:spcPts val="0"/>
              </a:spcAft>
            </a:pPr>
            <a:r>
              <a:rPr lang="en-GB" sz="1100" b="1">
                <a:solidFill>
                  <a:srgbClr val="233A59"/>
                </a:solidFill>
              </a:rPr>
              <a:t>KEY DISTINCTION</a:t>
            </a:r>
            <a:endParaRPr sz="1100" b="1">
              <a:solidFill>
                <a:srgbClr val="233A59"/>
              </a:solidFill>
            </a:endParaRPr>
          </a:p>
        </p:txBody>
      </p:sp>
      <p:sp>
        <p:nvSpPr>
          <p:cNvPr id="17" name="TextBox 16"/>
          <p:cNvSpPr txBox="1"/>
          <p:nvPr/>
        </p:nvSpPr>
        <p:spPr>
          <a:xfrm>
            <a:off x="1920240" y="5687568"/>
            <a:ext cx="9235440" cy="329184"/>
          </a:xfrm>
          <a:prstGeom prst="rect">
            <a:avLst/>
          </a:prstGeom>
          <a:noFill/>
        </p:spPr>
        <p:txBody>
          <a:bodyPr wrap="square" lIns="27432" tIns="27432" rIns="27432" bIns="27432" anchor="t">
            <a:spAutoFit/>
          </a:bodyPr>
          <a:lstStyle/>
          <a:p>
            <a:pPr algn="l">
              <a:spcAft>
                <a:spcPts val="0"/>
              </a:spcAft>
            </a:pPr>
            <a:r>
              <a:rPr sz="1400" b="1">
                <a:solidFill>
                  <a:srgbClr val="233A59"/>
                </a:solidFill>
              </a:rPr>
              <a:t>Answers and teaching rationale are in speaker notes.</a:t>
            </a:r>
          </a:p>
        </p:txBody>
      </p:sp>
      <p:sp>
        <p:nvSpPr>
          <p:cNvPr id="18" name="TextBox 17"/>
          <p:cNvSpPr txBox="1"/>
          <p:nvPr/>
        </p:nvSpPr>
        <p:spPr>
          <a:xfrm>
            <a:off x="502920" y="420624"/>
            <a:ext cx="10744200" cy="130805"/>
          </a:xfrm>
          <a:prstGeom prst="rect">
            <a:avLst/>
          </a:prstGeom>
          <a:noFill/>
        </p:spPr>
        <p:txBody>
          <a:bodyPr wrap="square" lIns="0" tIns="0" rIns="0" bIns="0">
            <a:spAutoFit/>
          </a:bodyPr>
          <a:lstStyle/>
          <a:p>
            <a:pPr algn="l"/>
            <a:r>
              <a:rPr lang="en-HU" sz="850" b="1">
                <a:solidFill>
                  <a:srgbClr val="687385"/>
                </a:solidFill>
              </a:rPr>
              <a:t>161</a:t>
            </a:r>
            <a:r>
              <a:rPr sz="850" b="1">
                <a:solidFill>
                  <a:srgbClr val="687385"/>
                </a:solidFill>
              </a:rPr>
              <a:t> • DAY 4 • BLOCK 14 • High Availability</a:t>
            </a: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lide 162">
    <p:bg>
      <p:bgPr>
        <a:solidFill>
          <a:srgbClr val="101827"/>
        </a:solidFill>
        <a:effectLst/>
      </p:bgPr>
    </p:bg>
    <p:spTree>
      <p:nvGrpSpPr>
        <p:cNvPr id="1" name=""/>
        <p:cNvGrpSpPr/>
        <p:nvPr/>
      </p:nvGrpSpPr>
      <p:grpSpPr>
        <a:xfrm>
          <a:off x="0" y="0"/>
          <a:ext cx="1" cy="1"/>
          <a:chOff x="0" y="0"/>
          <a:chExt cx="1" cy="1"/>
        </a:xfrm>
      </p:grpSpPr>
      <p:sp>
        <p:nvSpPr>
          <p:cNvPr id="2" name="Rectangle 1"/>
          <p:cNvSpPr/>
          <p:nvPr/>
        </p:nvSpPr>
        <p:spPr>
          <a:xfrm>
            <a:off x="0" y="0"/>
            <a:ext cx="146304" cy="6858000"/>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a:spLocks/>
          </p:cNvSpPr>
          <p:nvPr/>
        </p:nvSpPr>
        <p:spPr>
          <a:xfrm>
            <a:off x="658368" y="566928"/>
            <a:ext cx="5212080" cy="256032"/>
          </a:xfrm>
          <a:prstGeom prst="rect">
            <a:avLst/>
          </a:prstGeom>
          <a:noFill/>
        </p:spPr>
        <p:txBody>
          <a:bodyPr wrap="square" lIns="27432" tIns="27432" rIns="27432" bIns="27432" anchor="t">
            <a:spAutoFit/>
          </a:bodyPr>
          <a:lstStyle/>
          <a:p>
            <a:pPr algn="l">
              <a:spcAft>
                <a:spcPts val="0"/>
              </a:spcAft>
            </a:pPr>
            <a:r>
              <a:rPr lang="en-GB" sz="1400" b="1">
                <a:solidFill>
                  <a:srgbClr val="E60012"/>
                </a:solidFill>
              </a:rPr>
              <a:t>DAY 4  •  13:00–14:30</a:t>
            </a:r>
          </a:p>
        </p:txBody>
      </p:sp>
      <p:sp>
        <p:nvSpPr>
          <p:cNvPr id="4" name="TextBox 3"/>
          <p:cNvSpPr txBox="1">
            <a:spLocks/>
          </p:cNvSpPr>
          <p:nvPr/>
        </p:nvSpPr>
        <p:spPr>
          <a:xfrm>
            <a:off x="658368" y="1097280"/>
            <a:ext cx="10515600" cy="914400"/>
          </a:xfrm>
          <a:prstGeom prst="rect">
            <a:avLst/>
          </a:prstGeom>
          <a:noFill/>
        </p:spPr>
        <p:txBody>
          <a:bodyPr wrap="square" lIns="27432" tIns="27432" rIns="27432" bIns="27432" anchor="t">
            <a:spAutoFit/>
          </a:bodyPr>
          <a:lstStyle/>
          <a:p>
            <a:pPr algn="l">
              <a:spcAft>
                <a:spcPts val="0"/>
              </a:spcAft>
            </a:pPr>
            <a:r>
              <a:rPr lang="en-GB" sz="3400" b="1">
                <a:solidFill>
                  <a:srgbClr val="FFFFFF"/>
                </a:solidFill>
              </a:rPr>
              <a:t>Fortinet SD-WAN &amp; Design Considerations</a:t>
            </a:r>
          </a:p>
        </p:txBody>
      </p:sp>
      <p:sp>
        <p:nvSpPr>
          <p:cNvPr id="5" name="TextBox 4"/>
          <p:cNvSpPr txBox="1">
            <a:spLocks/>
          </p:cNvSpPr>
          <p:nvPr/>
        </p:nvSpPr>
        <p:spPr>
          <a:xfrm>
            <a:off x="676656" y="2084831"/>
            <a:ext cx="8686800" cy="320040"/>
          </a:xfrm>
          <a:prstGeom prst="rect">
            <a:avLst/>
          </a:prstGeom>
          <a:noFill/>
        </p:spPr>
        <p:txBody>
          <a:bodyPr wrap="square" lIns="27432" tIns="27432" rIns="27432" bIns="27432" anchor="t">
            <a:spAutoFit/>
          </a:bodyPr>
          <a:lstStyle/>
          <a:p>
            <a:pPr algn="l">
              <a:spcAft>
                <a:spcPts val="0"/>
              </a:spcAft>
            </a:pPr>
            <a:r>
              <a:rPr lang="en-GB" sz="1500" b="0">
                <a:solidFill>
                  <a:srgbClr val="C9D1DD"/>
                </a:solidFill>
              </a:rPr>
              <a:t>Advanced • Day 2 of 2</a:t>
            </a:r>
          </a:p>
        </p:txBody>
      </p:sp>
      <p:cxnSp>
        <p:nvCxnSpPr>
          <p:cNvPr id="6" name="Connector 5"/>
          <p:cNvCxnSpPr/>
          <p:nvPr/>
        </p:nvCxnSpPr>
        <p:spPr>
          <a:xfrm>
            <a:off x="676656" y="2578608"/>
            <a:ext cx="10616184" cy="0"/>
          </a:xfrm>
          <a:prstGeom prst="line">
            <a:avLst/>
          </a:prstGeom>
          <a:ln w="12700">
            <a:solidFill>
              <a:srgbClr val="40516A"/>
            </a:solidFill>
          </a:ln>
        </p:spPr>
        <p:style>
          <a:lnRef idx="2">
            <a:schemeClr val="accent1"/>
          </a:lnRef>
          <a:fillRef idx="0">
            <a:schemeClr val="accent1"/>
          </a:fillRef>
          <a:effectRef idx="1">
            <a:schemeClr val="accent1"/>
          </a:effectRef>
          <a:fontRef idx="minor">
            <a:schemeClr val="tx1"/>
          </a:fontRef>
        </p:style>
      </p:cxnSp>
      <p:sp>
        <p:nvSpPr>
          <p:cNvPr id="7" name="TextBox 6"/>
          <p:cNvSpPr txBox="1">
            <a:spLocks/>
          </p:cNvSpPr>
          <p:nvPr/>
        </p:nvSpPr>
        <p:spPr>
          <a:xfrm>
            <a:off x="685800" y="2889504"/>
            <a:ext cx="27432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LEARNING OBJECTIVES</a:t>
            </a:r>
          </a:p>
        </p:txBody>
      </p:sp>
      <p:sp>
        <p:nvSpPr>
          <p:cNvPr id="8" name="TextBox 7"/>
          <p:cNvSpPr txBox="1">
            <a:spLocks/>
          </p:cNvSpPr>
          <p:nvPr/>
        </p:nvSpPr>
        <p:spPr>
          <a:xfrm>
            <a:off x="685800" y="3218688"/>
            <a:ext cx="6035040" cy="2057400"/>
          </a:xfrm>
          <a:prstGeom prst="rect">
            <a:avLst/>
          </a:prstGeom>
          <a:noFill/>
        </p:spPr>
        <p:txBody>
          <a:bodyPr wrap="square" lIns="109728" tIns="73152" rIns="109728" bIns="73152" anchor="t">
            <a:spAutoFit/>
          </a:bodyPr>
          <a:lstStyle/>
          <a:p>
            <a:pPr algn="l">
              <a:lnSpc>
                <a:spcPct val="105000"/>
              </a:lnSpc>
              <a:spcAft>
                <a:spcPts val="700"/>
              </a:spcAft>
              <a:defRPr sz="1700">
                <a:solidFill>
                  <a:srgbClr val="FFFFFF"/>
                </a:solidFill>
              </a:defRPr>
            </a:pPr>
            <a:r>
              <a:rPr lang="en-GB"/>
              <a:t>• Build SD-WAN from members, zones, health checks and rules</a:t>
            </a:r>
          </a:p>
          <a:p>
            <a:pPr>
              <a:lnSpc>
                <a:spcPct val="105000"/>
              </a:lnSpc>
              <a:spcAft>
                <a:spcPts val="700"/>
              </a:spcAft>
              <a:defRPr sz="1700">
                <a:solidFill>
                  <a:srgbClr val="FFFFFF"/>
                </a:solidFill>
              </a:defRPr>
            </a:pPr>
            <a:r>
              <a:rPr lang="en-GB"/>
              <a:t>• Predict SLA-based application path selection and failover</a:t>
            </a:r>
          </a:p>
          <a:p>
            <a:pPr>
              <a:lnSpc>
                <a:spcPct val="105000"/>
              </a:lnSpc>
              <a:spcAft>
                <a:spcPts val="700"/>
              </a:spcAft>
              <a:defRPr sz="1700">
                <a:solidFill>
                  <a:srgbClr val="FFFFFF"/>
                </a:solidFill>
              </a:defRPr>
            </a:pPr>
            <a:r>
              <a:rPr lang="en-GB"/>
              <a:t>• Place FortiAnalyzer, FortiManager and security services without inventing entitlements</a:t>
            </a:r>
          </a:p>
        </p:txBody>
      </p:sp>
      <p:sp>
        <p:nvSpPr>
          <p:cNvPr id="9" name="TextBox 8"/>
          <p:cNvSpPr txBox="1">
            <a:spLocks/>
          </p:cNvSpPr>
          <p:nvPr/>
        </p:nvSpPr>
        <p:spPr>
          <a:xfrm>
            <a:off x="7315200" y="2889504"/>
            <a:ext cx="36576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PREREQUISITES + PRACTICE RESERVE</a:t>
            </a:r>
          </a:p>
        </p:txBody>
      </p:sp>
      <p:sp>
        <p:nvSpPr>
          <p:cNvPr id="10" name="TextBox 9"/>
          <p:cNvSpPr txBox="1">
            <a:spLocks/>
          </p:cNvSpPr>
          <p:nvPr/>
        </p:nvSpPr>
        <p:spPr>
          <a:xfrm>
            <a:off x="7315200" y="3218688"/>
            <a:ext cx="3886200" cy="1506182"/>
          </a:xfrm>
          <a:prstGeom prst="rect">
            <a:avLst/>
          </a:prstGeom>
          <a:noFill/>
        </p:spPr>
        <p:txBody>
          <a:bodyPr wrap="square" lIns="109728" tIns="73152" rIns="109728" bIns="73152" anchor="t">
            <a:spAutoFit/>
          </a:bodyPr>
          <a:lstStyle/>
          <a:p>
            <a:pPr algn="l">
              <a:lnSpc>
                <a:spcPct val="105000"/>
              </a:lnSpc>
              <a:spcAft>
                <a:spcPts val="600"/>
              </a:spcAft>
              <a:defRPr sz="1500">
                <a:solidFill>
                  <a:srgbClr val="FFFFFF"/>
                </a:solidFill>
              </a:defRPr>
            </a:pPr>
            <a:r>
              <a:rPr lang="en-GB"/>
              <a:t>• Default: worked two-path state scenarios</a:t>
            </a:r>
          </a:p>
          <a:p>
            <a:pPr>
              <a:lnSpc>
                <a:spcPct val="105000"/>
              </a:lnSpc>
              <a:spcAft>
                <a:spcPts val="600"/>
              </a:spcAft>
              <a:defRPr sz="1500">
                <a:solidFill>
                  <a:srgbClr val="FFFFFF"/>
                </a:solidFill>
              </a:defRPr>
            </a:pPr>
            <a:r>
              <a:rPr lang="en-GB"/>
              <a:t>• Hands-on only with a second independently controllable path</a:t>
            </a:r>
          </a:p>
          <a:p>
            <a:pPr>
              <a:lnSpc>
                <a:spcPct val="105000"/>
              </a:lnSpc>
              <a:spcAft>
                <a:spcPts val="600"/>
              </a:spcAft>
              <a:defRPr sz="1500">
                <a:solidFill>
                  <a:srgbClr val="FFFFFF"/>
                </a:solidFill>
              </a:defRPr>
            </a:pPr>
            <a:r>
              <a:rPr lang="en-GB"/>
              <a:t>• FortiAnalyzer/FortiManager covered as architecture/operations</a:t>
            </a:r>
          </a:p>
        </p:txBody>
      </p:sp>
      <p:sp>
        <p:nvSpPr>
          <p:cNvPr id="11" name="TextBox 10"/>
          <p:cNvSpPr txBox="1">
            <a:spLocks/>
          </p:cNvSpPr>
          <p:nvPr/>
        </p:nvSpPr>
        <p:spPr>
          <a:xfrm>
            <a:off x="7315200" y="4709160"/>
            <a:ext cx="3931920" cy="685800"/>
          </a:xfrm>
          <a:prstGeom prst="rect">
            <a:avLst/>
          </a:prstGeom>
          <a:noFill/>
        </p:spPr>
        <p:txBody>
          <a:bodyPr wrap="square" lIns="27432" tIns="27432" rIns="27432" bIns="27432" anchor="t">
            <a:spAutoFit/>
          </a:bodyPr>
          <a:lstStyle/>
          <a:p>
            <a:pPr algn="l">
              <a:spcAft>
                <a:spcPts val="0"/>
              </a:spcAft>
            </a:pPr>
            <a:r>
              <a:rPr lang="en-GB" sz="1600" b="1">
                <a:solidFill>
                  <a:srgbClr val="D8E0EA"/>
                </a:solidFill>
              </a:rPr>
              <a:t>Teach ~60 min • reserve ~30 min for guided activity, discussion and debrief</a:t>
            </a:r>
          </a:p>
        </p:txBody>
      </p:sp>
      <p:sp>
        <p:nvSpPr>
          <p:cNvPr id="12" name="TextBox 11"/>
          <p:cNvSpPr txBox="1">
            <a:spLocks/>
          </p:cNvSpPr>
          <p:nvPr/>
        </p:nvSpPr>
        <p:spPr>
          <a:xfrm>
            <a:off x="10424160" y="5715000"/>
            <a:ext cx="731520" cy="363176"/>
          </a:xfrm>
          <a:prstGeom prst="rect">
            <a:avLst/>
          </a:prstGeom>
          <a:noFill/>
        </p:spPr>
        <p:txBody>
          <a:bodyPr wrap="square" lIns="27432" tIns="27432" rIns="27432" bIns="27432" anchor="t">
            <a:spAutoFit/>
          </a:bodyPr>
          <a:lstStyle/>
          <a:p>
            <a:pPr algn="r">
              <a:spcAft>
                <a:spcPts val="0"/>
              </a:spcAft>
            </a:pPr>
            <a:r>
              <a:rPr lang="en-HU" sz="2000" b="1">
                <a:solidFill>
                  <a:srgbClr val="E60012"/>
                </a:solidFill>
              </a:rPr>
              <a:t>162</a:t>
            </a: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Slide 163">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p:nvPr/>
        </p:nvSpPr>
        <p:spPr>
          <a:xfrm>
            <a:off x="502920" y="411480"/>
            <a:ext cx="548640" cy="189283"/>
          </a:xfrm>
          <a:prstGeom prst="rect">
            <a:avLst/>
          </a:prstGeom>
          <a:noFill/>
        </p:spPr>
        <p:txBody>
          <a:bodyPr wrap="square" lIns="36576" tIns="36576" rIns="36576" bIns="36576" anchor="t">
            <a:spAutoFit/>
          </a:bodyPr>
          <a:lstStyle/>
          <a:p>
            <a:pPr algn="l">
              <a:spcAft>
                <a:spcPts val="0"/>
              </a:spcAft>
            </a:pPr>
            <a:r>
              <a:rPr lang="en-HU" sz="750" b="1">
                <a:solidFill>
                  <a:srgbClr val="687385"/>
                </a:solidFill>
              </a:rPr>
              <a:t>163</a:t>
            </a:r>
            <a:endParaRPr sz="750" b="1">
              <a:solidFill>
                <a:srgbClr val="687385"/>
              </a:solidFill>
            </a:endParaRPr>
          </a:p>
        </p:txBody>
      </p:sp>
      <p:sp>
        <p:nvSpPr>
          <p:cNvPr id="4" name="TextBox 3"/>
          <p:cNvSpPr txBox="1"/>
          <p:nvPr/>
        </p:nvSpPr>
        <p:spPr>
          <a:xfrm>
            <a:off x="502920" y="621792"/>
            <a:ext cx="11109960" cy="548640"/>
          </a:xfrm>
          <a:prstGeom prst="rect">
            <a:avLst/>
          </a:prstGeom>
          <a:noFill/>
        </p:spPr>
        <p:txBody>
          <a:bodyPr wrap="square" lIns="36576" tIns="36576" rIns="36576" bIns="36576" anchor="t">
            <a:spAutoFit/>
          </a:bodyPr>
          <a:lstStyle/>
          <a:p>
            <a:pPr algn="l">
              <a:spcAft>
                <a:spcPts val="0"/>
              </a:spcAft>
            </a:pPr>
            <a:r>
              <a:rPr sz="2600" b="1">
                <a:solidFill>
                  <a:srgbClr val="1E2B40"/>
                </a:solidFill>
              </a:rPr>
              <a:t>SD-WAN selects a member from rule intent and measured SLA</a:t>
            </a:r>
          </a:p>
        </p:txBody>
      </p:sp>
      <p:sp>
        <p:nvSpPr>
          <p:cNvPr id="5" name="TextBox 4"/>
          <p:cNvSpPr txBox="1"/>
          <p:nvPr/>
        </p:nvSpPr>
        <p:spPr>
          <a:xfrm>
            <a:off x="521207" y="1143000"/>
            <a:ext cx="10789920" cy="243143"/>
          </a:xfrm>
          <a:prstGeom prst="rect">
            <a:avLst/>
          </a:prstGeom>
          <a:noFill/>
        </p:spPr>
        <p:txBody>
          <a:bodyPr wrap="square" lIns="36576" tIns="36576" rIns="36576" bIns="36576" anchor="t">
            <a:spAutoFit/>
          </a:bodyPr>
          <a:lstStyle/>
          <a:p>
            <a:pPr algn="l">
              <a:spcAft>
                <a:spcPts val="0"/>
              </a:spcAft>
            </a:pPr>
            <a:r>
              <a:rPr lang="en-GB" sz="1100" b="0">
                <a:solidFill>
                  <a:srgbClr val="687385"/>
                </a:solidFill>
              </a:rPr>
              <a:t>Conceptual optional extension: two controllable paths; </a:t>
            </a:r>
            <a:r>
              <a:rPr sz="1100" b="0">
                <a:solidFill>
                  <a:srgbClr val="687385"/>
                </a:solidFill>
              </a:rPr>
              <a:t>voice </a:t>
            </a:r>
            <a:r>
              <a:rPr lang="en-GB" sz="1100" b="0">
                <a:solidFill>
                  <a:srgbClr val="687385"/>
                </a:solidFill>
              </a:rPr>
              <a:t>SLA values are illustrative</a:t>
            </a:r>
            <a:endParaRPr sz="1100" b="0">
              <a:solidFill>
                <a:srgbClr val="687385"/>
              </a:solidFill>
            </a:endParaRPr>
          </a:p>
        </p:txBody>
      </p:sp>
      <p:cxnSp>
        <p:nvCxnSpPr>
          <p:cNvPr id="6" name="Connector 5"/>
          <p:cNvCxnSpPr/>
          <p:nvPr/>
        </p:nvCxnSpPr>
        <p:spPr>
          <a:xfrm>
            <a:off x="502920" y="6473952"/>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7" name="TextBox 6"/>
          <p:cNvSpPr txBox="1">
            <a:spLocks/>
          </p:cNvSpPr>
          <p:nvPr/>
        </p:nvSpPr>
        <p:spPr>
          <a:xfrm>
            <a:off x="11109960" y="6537960"/>
            <a:ext cx="502920" cy="189283"/>
          </a:xfrm>
          <a:prstGeom prst="rect">
            <a:avLst/>
          </a:prstGeom>
          <a:noFill/>
        </p:spPr>
        <p:txBody>
          <a:bodyPr wrap="square" lIns="36576" tIns="36576" rIns="36576" bIns="36576" anchor="t">
            <a:spAutoFit/>
          </a:bodyPr>
          <a:lstStyle/>
          <a:p>
            <a:pPr algn="r">
              <a:spcAft>
                <a:spcPts val="0"/>
              </a:spcAft>
            </a:pPr>
            <a:r>
              <a:rPr lang="en-HU" sz="750" b="0">
                <a:solidFill>
                  <a:srgbClr val="687385"/>
                </a:solidFill>
              </a:rPr>
              <a:t>163</a:t>
            </a:r>
          </a:p>
        </p:txBody>
      </p:sp>
      <p:sp>
        <p:nvSpPr>
          <p:cNvPr id="8" name="Rectangle 7"/>
          <p:cNvSpPr>
            <a:spLocks/>
          </p:cNvSpPr>
          <p:nvPr/>
        </p:nvSpPr>
        <p:spPr>
          <a:xfrm>
            <a:off x="502920" y="2011680"/>
            <a:ext cx="1920240" cy="9144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9" name="TextBox 8"/>
          <p:cNvSpPr txBox="1">
            <a:spLocks/>
          </p:cNvSpPr>
          <p:nvPr/>
        </p:nvSpPr>
        <p:spPr>
          <a:xfrm>
            <a:off x="576072" y="2130552"/>
            <a:ext cx="1773936" cy="304699"/>
          </a:xfrm>
          <a:prstGeom prst="rect">
            <a:avLst/>
          </a:prstGeom>
          <a:noFill/>
        </p:spPr>
        <p:txBody>
          <a:bodyPr wrap="square" lIns="36576" tIns="36576" rIns="36576" bIns="36576" anchor="t">
            <a:spAutoFit/>
          </a:bodyPr>
          <a:lstStyle/>
          <a:p>
            <a:pPr algn="ctr">
              <a:spcAft>
                <a:spcPts val="0"/>
              </a:spcAft>
            </a:pPr>
            <a:r>
              <a:rPr lang="en-GB" sz="1500" b="1">
                <a:solidFill>
                  <a:srgbClr val="FFFFFF"/>
                </a:solidFill>
              </a:rPr>
              <a:t>VOICE SESSION</a:t>
            </a:r>
          </a:p>
        </p:txBody>
      </p:sp>
      <p:sp>
        <p:nvSpPr>
          <p:cNvPr id="10" name="TextBox 9"/>
          <p:cNvSpPr txBox="1">
            <a:spLocks/>
          </p:cNvSpPr>
          <p:nvPr/>
        </p:nvSpPr>
        <p:spPr>
          <a:xfrm>
            <a:off x="576072" y="2487168"/>
            <a:ext cx="1773936" cy="227755"/>
          </a:xfrm>
          <a:prstGeom prst="rect">
            <a:avLst/>
          </a:prstGeom>
          <a:noFill/>
        </p:spPr>
        <p:txBody>
          <a:bodyPr wrap="square" lIns="36576" tIns="36576" rIns="36576" bIns="36576" anchor="t">
            <a:spAutoFit/>
          </a:bodyPr>
          <a:lstStyle/>
          <a:p>
            <a:pPr algn="ctr">
              <a:spcAft>
                <a:spcPts val="0"/>
              </a:spcAft>
            </a:pPr>
            <a:r>
              <a:rPr lang="en-GB" sz="1000" b="0">
                <a:solidFill>
                  <a:srgbClr val="D8E0EA"/>
                </a:solidFill>
              </a:rPr>
              <a:t>10.1.10.10 → SaaS</a:t>
            </a:r>
          </a:p>
        </p:txBody>
      </p:sp>
      <p:sp>
        <p:nvSpPr>
          <p:cNvPr id="11" name="Rectangle 10"/>
          <p:cNvSpPr>
            <a:spLocks/>
          </p:cNvSpPr>
          <p:nvPr/>
        </p:nvSpPr>
        <p:spPr>
          <a:xfrm>
            <a:off x="2788920" y="1874519"/>
            <a:ext cx="2057400" cy="1188720"/>
          </a:xfrm>
          <a:prstGeom prst="rect">
            <a:avLst/>
          </a:prstGeom>
          <a:solidFill>
            <a:srgbClr val="233A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2" name="TextBox 11"/>
          <p:cNvSpPr txBox="1"/>
          <p:nvPr/>
        </p:nvSpPr>
        <p:spPr>
          <a:xfrm>
            <a:off x="2862072" y="1993391"/>
            <a:ext cx="1911095" cy="274320"/>
          </a:xfrm>
          <a:prstGeom prst="rect">
            <a:avLst/>
          </a:prstGeom>
          <a:noFill/>
        </p:spPr>
        <p:txBody>
          <a:bodyPr wrap="square" lIns="36576" tIns="36576" rIns="36576" bIns="36576" anchor="t">
            <a:spAutoFit/>
          </a:bodyPr>
          <a:lstStyle/>
          <a:p>
            <a:pPr algn="ctr">
              <a:spcAft>
                <a:spcPts val="0"/>
              </a:spcAft>
            </a:pPr>
            <a:r>
              <a:rPr sz="1500" b="1">
                <a:solidFill>
                  <a:srgbClr val="FFFFFF"/>
                </a:solidFill>
              </a:rPr>
              <a:t>SD-WAN RULE</a:t>
            </a:r>
          </a:p>
        </p:txBody>
      </p:sp>
      <p:sp>
        <p:nvSpPr>
          <p:cNvPr id="13" name="TextBox 12"/>
          <p:cNvSpPr txBox="1">
            <a:spLocks/>
          </p:cNvSpPr>
          <p:nvPr/>
        </p:nvSpPr>
        <p:spPr>
          <a:xfrm>
            <a:off x="2862072" y="2350008"/>
            <a:ext cx="1911095" cy="310896"/>
          </a:xfrm>
          <a:prstGeom prst="rect">
            <a:avLst/>
          </a:prstGeom>
          <a:noFill/>
        </p:spPr>
        <p:txBody>
          <a:bodyPr wrap="square" lIns="36576" tIns="36576" rIns="36576" bIns="36576" anchor="t">
            <a:spAutoFit/>
          </a:bodyPr>
          <a:lstStyle/>
          <a:p>
            <a:pPr algn="ctr">
              <a:spcAft>
                <a:spcPts val="0"/>
              </a:spcAft>
            </a:pPr>
            <a:r>
              <a:rPr lang="en-GB" sz="1000" b="0">
                <a:solidFill>
                  <a:srgbClr val="D8E0EA"/>
                </a:solidFill>
              </a:rPr>
              <a:t>voice → best-quality member</a:t>
            </a:r>
          </a:p>
        </p:txBody>
      </p:sp>
      <p:sp>
        <p:nvSpPr>
          <p:cNvPr id="14" name="TextBox 13"/>
          <p:cNvSpPr txBox="1">
            <a:spLocks/>
          </p:cNvSpPr>
          <p:nvPr/>
        </p:nvSpPr>
        <p:spPr>
          <a:xfrm>
            <a:off x="5257800" y="1417320"/>
            <a:ext cx="2103120" cy="243143"/>
          </a:xfrm>
          <a:prstGeom prst="rect">
            <a:avLst/>
          </a:prstGeom>
          <a:noFill/>
        </p:spPr>
        <p:txBody>
          <a:bodyPr wrap="square" lIns="36576" tIns="36576" rIns="36576" bIns="36576" anchor="t">
            <a:spAutoFit/>
          </a:bodyPr>
          <a:lstStyle/>
          <a:p>
            <a:pPr algn="l">
              <a:spcAft>
                <a:spcPts val="0"/>
              </a:spcAft>
            </a:pPr>
            <a:r>
              <a:rPr lang="en-GB" sz="1100" b="1">
                <a:solidFill>
                  <a:srgbClr val="E60012"/>
                </a:solidFill>
              </a:rPr>
              <a:t>BEFORE DEGRADATION</a:t>
            </a:r>
          </a:p>
        </p:txBody>
      </p:sp>
      <p:sp>
        <p:nvSpPr>
          <p:cNvPr id="15" name="TextBox 14"/>
          <p:cNvSpPr txBox="1"/>
          <p:nvPr/>
        </p:nvSpPr>
        <p:spPr>
          <a:xfrm>
            <a:off x="5257800" y="1783080"/>
            <a:ext cx="2926080" cy="822960"/>
          </a:xfrm>
          <a:prstGeom prst="rect">
            <a:avLst/>
          </a:prstGeom>
          <a:noFill/>
        </p:spPr>
        <p:txBody>
          <a:bodyPr wrap="square" lIns="36576" tIns="36576" rIns="36576" bIns="36576" anchor="t">
            <a:spAutoFit/>
          </a:bodyPr>
          <a:lstStyle/>
          <a:p>
            <a:pPr algn="l">
              <a:spcAft>
                <a:spcPts val="0"/>
              </a:spcAft>
            </a:pPr>
            <a:r>
              <a:rPr sz="1400" b="1">
                <a:solidFill>
                  <a:srgbClr val="1E2B40"/>
                </a:solidFill>
              </a:rPr>
              <a:t>ISP-A 18 ms / 4 ms / 0.2%  ✓
ISP-B 35 ms / 8 ms / 0.4%  ✕ latency</a:t>
            </a:r>
          </a:p>
        </p:txBody>
      </p:sp>
      <p:sp>
        <p:nvSpPr>
          <p:cNvPr id="16" name="Right Arrow 15"/>
          <p:cNvSpPr/>
          <p:nvPr/>
        </p:nvSpPr>
        <p:spPr>
          <a:xfrm>
            <a:off x="8183879" y="2057400"/>
            <a:ext cx="914400" cy="201168"/>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7" name="TextBox 16"/>
          <p:cNvSpPr txBox="1">
            <a:spLocks/>
          </p:cNvSpPr>
          <p:nvPr/>
        </p:nvSpPr>
        <p:spPr>
          <a:xfrm>
            <a:off x="8183879" y="1801368"/>
            <a:ext cx="914400" cy="212366"/>
          </a:xfrm>
          <a:prstGeom prst="rect">
            <a:avLst/>
          </a:prstGeom>
          <a:noFill/>
        </p:spPr>
        <p:txBody>
          <a:bodyPr wrap="square" lIns="36576" tIns="36576" rIns="36576" bIns="36576" anchor="t">
            <a:spAutoFit/>
          </a:bodyPr>
          <a:lstStyle/>
          <a:p>
            <a:pPr algn="ctr">
              <a:spcAft>
                <a:spcPts val="0"/>
              </a:spcAft>
            </a:pPr>
            <a:r>
              <a:rPr lang="en-GB" sz="900" b="1">
                <a:solidFill>
                  <a:srgbClr val="687385"/>
                </a:solidFill>
              </a:rPr>
              <a:t>select A</a:t>
            </a:r>
          </a:p>
        </p:txBody>
      </p:sp>
      <p:sp>
        <p:nvSpPr>
          <p:cNvPr id="18" name="Rectangle 17"/>
          <p:cNvSpPr/>
          <p:nvPr/>
        </p:nvSpPr>
        <p:spPr>
          <a:xfrm>
            <a:off x="9144000" y="1874519"/>
            <a:ext cx="2103120" cy="118872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a:spLocks/>
          </p:cNvSpPr>
          <p:nvPr/>
        </p:nvSpPr>
        <p:spPr>
          <a:xfrm>
            <a:off x="9217152" y="1993391"/>
            <a:ext cx="1956815" cy="274320"/>
          </a:xfrm>
          <a:prstGeom prst="rect">
            <a:avLst/>
          </a:prstGeom>
          <a:noFill/>
        </p:spPr>
        <p:txBody>
          <a:bodyPr wrap="square" lIns="36576" tIns="36576" rIns="36576" bIns="36576" anchor="t">
            <a:spAutoFit/>
          </a:bodyPr>
          <a:lstStyle/>
          <a:p>
            <a:pPr algn="ctr">
              <a:spcAft>
                <a:spcPts val="0"/>
              </a:spcAft>
            </a:pPr>
            <a:r>
              <a:rPr lang="en-GB" sz="1500" b="1">
                <a:solidFill>
                  <a:srgbClr val="FFFFFF"/>
                </a:solidFill>
              </a:rPr>
              <a:t>ISP-A</a:t>
            </a:r>
          </a:p>
        </p:txBody>
      </p:sp>
      <p:sp>
        <p:nvSpPr>
          <p:cNvPr id="20" name="TextBox 19"/>
          <p:cNvSpPr txBox="1">
            <a:spLocks/>
          </p:cNvSpPr>
          <p:nvPr/>
        </p:nvSpPr>
        <p:spPr>
          <a:xfrm>
            <a:off x="9217152" y="2350008"/>
            <a:ext cx="1956815" cy="227755"/>
          </a:xfrm>
          <a:prstGeom prst="rect">
            <a:avLst/>
          </a:prstGeom>
          <a:noFill/>
        </p:spPr>
        <p:txBody>
          <a:bodyPr wrap="square" lIns="36576" tIns="36576" rIns="36576" bIns="36576" anchor="t">
            <a:spAutoFit/>
          </a:bodyPr>
          <a:lstStyle/>
          <a:p>
            <a:pPr algn="ctr">
              <a:spcAft>
                <a:spcPts val="0"/>
              </a:spcAft>
            </a:pPr>
            <a:r>
              <a:rPr lang="en-GB" sz="1000" b="0">
                <a:solidFill>
                  <a:srgbClr val="D8E0EA"/>
                </a:solidFill>
              </a:rPr>
              <a:t>selected egress</a:t>
            </a:r>
          </a:p>
        </p:txBody>
      </p:sp>
      <p:sp>
        <p:nvSpPr>
          <p:cNvPr id="21" name="TextBox 20"/>
          <p:cNvSpPr txBox="1">
            <a:spLocks/>
          </p:cNvSpPr>
          <p:nvPr/>
        </p:nvSpPr>
        <p:spPr>
          <a:xfrm>
            <a:off x="5257800" y="3429000"/>
            <a:ext cx="2286000" cy="243143"/>
          </a:xfrm>
          <a:prstGeom prst="rect">
            <a:avLst/>
          </a:prstGeom>
          <a:noFill/>
        </p:spPr>
        <p:txBody>
          <a:bodyPr wrap="square" lIns="36576" tIns="36576" rIns="36576" bIns="36576" anchor="t">
            <a:spAutoFit/>
          </a:bodyPr>
          <a:lstStyle/>
          <a:p>
            <a:pPr algn="l">
              <a:spcAft>
                <a:spcPts val="0"/>
              </a:spcAft>
            </a:pPr>
            <a:r>
              <a:rPr lang="en-GB" sz="1100" b="1">
                <a:solidFill>
                  <a:srgbClr val="E60012"/>
                </a:solidFill>
              </a:rPr>
              <a:t>AFTER ISP-A DEGRADES</a:t>
            </a:r>
          </a:p>
        </p:txBody>
      </p:sp>
      <p:sp>
        <p:nvSpPr>
          <p:cNvPr id="22" name="TextBox 21"/>
          <p:cNvSpPr txBox="1">
            <a:spLocks/>
          </p:cNvSpPr>
          <p:nvPr/>
        </p:nvSpPr>
        <p:spPr>
          <a:xfrm>
            <a:off x="5257800" y="3794760"/>
            <a:ext cx="2926080" cy="504754"/>
          </a:xfrm>
          <a:prstGeom prst="rect">
            <a:avLst/>
          </a:prstGeom>
          <a:noFill/>
        </p:spPr>
        <p:txBody>
          <a:bodyPr wrap="square" lIns="36576" tIns="36576" rIns="36576" bIns="36576" anchor="t">
            <a:spAutoFit/>
          </a:bodyPr>
          <a:lstStyle/>
          <a:p>
            <a:pPr algn="l">
              <a:spcAft>
                <a:spcPts val="0"/>
              </a:spcAft>
            </a:pPr>
            <a:r>
              <a:rPr lang="en-GB" sz="1400" b="1">
                <a:solidFill>
                  <a:srgbClr val="1E2B40"/>
                </a:solidFill>
              </a:rPr>
              <a:t>ISP-A 42 ms / 15 ms / 2.0%  ✕
ISP-B 20 ms / 6 ms / 0.3%  ✓</a:t>
            </a:r>
          </a:p>
        </p:txBody>
      </p:sp>
      <p:sp>
        <p:nvSpPr>
          <p:cNvPr id="23" name="Right Arrow 22"/>
          <p:cNvSpPr>
            <a:spLocks/>
          </p:cNvSpPr>
          <p:nvPr/>
        </p:nvSpPr>
        <p:spPr>
          <a:xfrm>
            <a:off x="8183879" y="4069080"/>
            <a:ext cx="914400" cy="201168"/>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24" name="TextBox 23"/>
          <p:cNvSpPr txBox="1"/>
          <p:nvPr/>
        </p:nvSpPr>
        <p:spPr>
          <a:xfrm>
            <a:off x="8183879" y="3813048"/>
            <a:ext cx="914400" cy="212366"/>
          </a:xfrm>
          <a:prstGeom prst="rect">
            <a:avLst/>
          </a:prstGeom>
          <a:noFill/>
        </p:spPr>
        <p:txBody>
          <a:bodyPr wrap="square" lIns="36576" tIns="36576" rIns="36576" bIns="36576" anchor="t">
            <a:spAutoFit/>
          </a:bodyPr>
          <a:lstStyle/>
          <a:p>
            <a:pPr algn="ctr">
              <a:spcAft>
                <a:spcPts val="0"/>
              </a:spcAft>
            </a:pPr>
            <a:r>
              <a:rPr lang="en-GB" sz="900" b="1">
                <a:solidFill>
                  <a:srgbClr val="687385"/>
                </a:solidFill>
              </a:rPr>
              <a:t>new → B</a:t>
            </a:r>
          </a:p>
        </p:txBody>
      </p:sp>
      <p:sp>
        <p:nvSpPr>
          <p:cNvPr id="25" name="Rectangle 24"/>
          <p:cNvSpPr/>
          <p:nvPr/>
        </p:nvSpPr>
        <p:spPr>
          <a:xfrm>
            <a:off x="9144000" y="3886200"/>
            <a:ext cx="2103120" cy="118872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217152" y="4005072"/>
            <a:ext cx="1956815" cy="274320"/>
          </a:xfrm>
          <a:prstGeom prst="rect">
            <a:avLst/>
          </a:prstGeom>
          <a:noFill/>
        </p:spPr>
        <p:txBody>
          <a:bodyPr wrap="square" lIns="36576" tIns="36576" rIns="36576" bIns="36576" anchor="t">
            <a:spAutoFit/>
          </a:bodyPr>
          <a:lstStyle/>
          <a:p>
            <a:pPr algn="ctr">
              <a:spcAft>
                <a:spcPts val="0"/>
              </a:spcAft>
            </a:pPr>
            <a:r>
              <a:rPr sz="1500" b="1">
                <a:solidFill>
                  <a:srgbClr val="FFFFFF"/>
                </a:solidFill>
              </a:rPr>
              <a:t>ISP-B</a:t>
            </a:r>
          </a:p>
        </p:txBody>
      </p:sp>
      <p:sp>
        <p:nvSpPr>
          <p:cNvPr id="27" name="TextBox 26"/>
          <p:cNvSpPr txBox="1"/>
          <p:nvPr/>
        </p:nvSpPr>
        <p:spPr>
          <a:xfrm>
            <a:off x="9217152" y="4361688"/>
            <a:ext cx="1956815" cy="310896"/>
          </a:xfrm>
          <a:prstGeom prst="rect">
            <a:avLst/>
          </a:prstGeom>
          <a:noFill/>
        </p:spPr>
        <p:txBody>
          <a:bodyPr wrap="square" lIns="36576" tIns="36576" rIns="36576" bIns="36576" anchor="t">
            <a:spAutoFit/>
          </a:bodyPr>
          <a:lstStyle/>
          <a:p>
            <a:pPr algn="ctr">
              <a:spcAft>
                <a:spcPts val="0"/>
              </a:spcAft>
            </a:pPr>
            <a:r>
              <a:rPr sz="1000" b="0">
                <a:solidFill>
                  <a:srgbClr val="D8E0EA"/>
                </a:solidFill>
              </a:rPr>
              <a:t>selected for new session</a:t>
            </a:r>
          </a:p>
        </p:txBody>
      </p:sp>
      <p:sp>
        <p:nvSpPr>
          <p:cNvPr id="28" name="Right Arrow 27"/>
          <p:cNvSpPr/>
          <p:nvPr/>
        </p:nvSpPr>
        <p:spPr>
          <a:xfrm>
            <a:off x="2468880" y="2377440"/>
            <a:ext cx="274320" cy="164592"/>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58368" y="5833872"/>
            <a:ext cx="731520" cy="182880"/>
          </a:xfrm>
          <a:prstGeom prst="rect">
            <a:avLst/>
          </a:prstGeom>
          <a:noFill/>
        </p:spPr>
        <p:txBody>
          <a:bodyPr wrap="square" lIns="36576" tIns="36576" rIns="36576" bIns="36576" anchor="t">
            <a:spAutoFit/>
          </a:bodyPr>
          <a:lstStyle/>
          <a:p>
            <a:pPr algn="l">
              <a:spcAft>
                <a:spcPts val="0"/>
              </a:spcAft>
            </a:pPr>
            <a:r>
              <a:rPr sz="1000" b="1">
                <a:solidFill>
                  <a:srgbClr val="E60012"/>
                </a:solidFill>
              </a:rPr>
              <a:t>LESSON</a:t>
            </a:r>
          </a:p>
        </p:txBody>
      </p:sp>
      <p:sp>
        <p:nvSpPr>
          <p:cNvPr id="30" name="TextBox 29"/>
          <p:cNvSpPr txBox="1"/>
          <p:nvPr/>
        </p:nvSpPr>
        <p:spPr>
          <a:xfrm>
            <a:off x="1417320" y="5769864"/>
            <a:ext cx="9875520" cy="384048"/>
          </a:xfrm>
          <a:prstGeom prst="rect">
            <a:avLst/>
          </a:prstGeom>
          <a:noFill/>
        </p:spPr>
        <p:txBody>
          <a:bodyPr wrap="square" lIns="36576" tIns="36576" rIns="36576" bIns="36576" anchor="t">
            <a:spAutoFit/>
          </a:bodyPr>
          <a:lstStyle/>
          <a:p>
            <a:pPr algn="l">
              <a:spcAft>
                <a:spcPts val="0"/>
              </a:spcAft>
            </a:pPr>
            <a:r>
              <a:rPr sz="1300" b="1">
                <a:solidFill>
                  <a:srgbClr val="233A59"/>
                </a:solidFill>
              </a:rPr>
              <a:t>Link-up is insufficient: the rule considers measured SLA, and existing sessions may behave differently from new sessions.</a:t>
            </a:r>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Slide 164">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164</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Health checks must measure the service you care about</a:t>
            </a:r>
          </a:p>
        </p:txBody>
      </p:sp>
      <p:sp>
        <p:nvSpPr>
          <p:cNvPr id="10" name="TextBox 9"/>
          <p:cNvSpPr txBox="1">
            <a:spLocks/>
          </p:cNvSpPr>
          <p:nvPr/>
        </p:nvSpPr>
        <p:spPr>
          <a:xfrm>
            <a:off x="658368" y="1554480"/>
            <a:ext cx="6583680" cy="4389120"/>
          </a:xfrm>
          <a:prstGeom prst="rect">
            <a:avLst/>
          </a:prstGeom>
          <a:noFill/>
        </p:spPr>
        <p:txBody>
          <a:bodyPr wrap="square" lIns="109728" tIns="73152" rIns="109728" bIns="73152" anchor="t">
            <a:spAutoFit/>
          </a:bodyPr>
          <a:lstStyle/>
          <a:p>
            <a:pPr algn="l">
              <a:lnSpc>
                <a:spcPct val="105000"/>
              </a:lnSpc>
              <a:spcAft>
                <a:spcPts val="800"/>
              </a:spcAft>
              <a:defRPr sz="1700">
                <a:solidFill>
                  <a:srgbClr val="1E2B40"/>
                </a:solidFill>
              </a:defRPr>
            </a:pPr>
            <a:r>
              <a:rPr lang="en-GB"/>
              <a:t>• Target should represent the path/service dependency, not only the next-hop router</a:t>
            </a:r>
          </a:p>
          <a:p>
            <a:pPr>
              <a:lnSpc>
                <a:spcPct val="105000"/>
              </a:lnSpc>
              <a:spcAft>
                <a:spcPts val="800"/>
              </a:spcAft>
              <a:defRPr sz="1700">
                <a:solidFill>
                  <a:srgbClr val="1E2B40"/>
                </a:solidFill>
              </a:defRPr>
            </a:pPr>
            <a:r>
              <a:rPr lang="en-GB"/>
              <a:t>• Latency, jitter and packet loss thresholds define SLA state as supported</a:t>
            </a:r>
          </a:p>
          <a:p>
            <a:pPr>
              <a:lnSpc>
                <a:spcPct val="105000"/>
              </a:lnSpc>
              <a:spcAft>
                <a:spcPts val="800"/>
              </a:spcAft>
              <a:defRPr sz="1700">
                <a:solidFill>
                  <a:srgbClr val="1E2B40"/>
                </a:solidFill>
              </a:defRPr>
            </a:pPr>
            <a:r>
              <a:rPr lang="en-GB"/>
              <a:t>• Probe interval/fail/recovery settings trade responsiveness against instability</a:t>
            </a:r>
          </a:p>
          <a:p>
            <a:pPr>
              <a:lnSpc>
                <a:spcPct val="105000"/>
              </a:lnSpc>
              <a:spcAft>
                <a:spcPts val="800"/>
              </a:spcAft>
              <a:defRPr sz="1700">
                <a:solidFill>
                  <a:srgbClr val="1E2B40"/>
                </a:solidFill>
              </a:defRPr>
            </a:pPr>
            <a:r>
              <a:rPr lang="en-GB"/>
              <a:t>• Multiple targets can reduce false positives but complicate interpretation</a:t>
            </a:r>
          </a:p>
        </p:txBody>
      </p:sp>
      <p:cxnSp>
        <p:nvCxnSpPr>
          <p:cNvPr id="11" name="Connector 10"/>
          <p:cNvCxnSpPr/>
          <p:nvPr/>
        </p:nvCxnSpPr>
        <p:spPr>
          <a:xfrm>
            <a:off x="7452360" y="1600200"/>
            <a:ext cx="0" cy="434340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7790688" y="1627632"/>
            <a:ext cx="342900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ILLUSTRATIVE SCENARIO</a:t>
            </a:r>
          </a:p>
        </p:txBody>
      </p:sp>
      <p:sp>
        <p:nvSpPr>
          <p:cNvPr id="13" name="TextBox 12"/>
          <p:cNvSpPr txBox="1">
            <a:spLocks/>
          </p:cNvSpPr>
          <p:nvPr/>
        </p:nvSpPr>
        <p:spPr>
          <a:xfrm>
            <a:off x="7790688" y="2057400"/>
            <a:ext cx="3337560" cy="1417320"/>
          </a:xfrm>
          <a:prstGeom prst="rect">
            <a:avLst/>
          </a:prstGeom>
          <a:noFill/>
        </p:spPr>
        <p:txBody>
          <a:bodyPr wrap="square" lIns="27432" tIns="27432" rIns="27432" bIns="27432" anchor="t">
            <a:spAutoFit/>
          </a:bodyPr>
          <a:lstStyle/>
          <a:p>
            <a:pPr algn="l">
              <a:spcAft>
                <a:spcPts val="0"/>
              </a:spcAft>
            </a:pPr>
            <a:r>
              <a:rPr lang="en-GB" sz="1700" b="1">
                <a:solidFill>
                  <a:srgbClr val="233A59"/>
                </a:solidFill>
              </a:rPr>
              <a:t>An ISP gateway can respond while SaaS path is impaired</a:t>
            </a:r>
          </a:p>
        </p:txBody>
      </p:sp>
      <p:sp>
        <p:nvSpPr>
          <p:cNvPr id="14" name="TextBox 13"/>
          <p:cNvSpPr txBox="1">
            <a:spLocks/>
          </p:cNvSpPr>
          <p:nvPr/>
        </p:nvSpPr>
        <p:spPr>
          <a:xfrm>
            <a:off x="7790688" y="3822191"/>
            <a:ext cx="18288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EXPECTED RESULT</a:t>
            </a:r>
          </a:p>
        </p:txBody>
      </p:sp>
      <p:sp>
        <p:nvSpPr>
          <p:cNvPr id="15" name="TextBox 14"/>
          <p:cNvSpPr txBox="1">
            <a:spLocks/>
          </p:cNvSpPr>
          <p:nvPr/>
        </p:nvSpPr>
        <p:spPr>
          <a:xfrm>
            <a:off x="7790688" y="4187952"/>
            <a:ext cx="3337560" cy="1325880"/>
          </a:xfrm>
          <a:prstGeom prst="rect">
            <a:avLst/>
          </a:prstGeom>
          <a:noFill/>
        </p:spPr>
        <p:txBody>
          <a:bodyPr wrap="square" lIns="27432" tIns="27432" rIns="27432" bIns="27432" anchor="t">
            <a:spAutoFit/>
          </a:bodyPr>
          <a:lstStyle/>
          <a:p>
            <a:pPr algn="l">
              <a:spcAft>
                <a:spcPts val="0"/>
              </a:spcAft>
            </a:pPr>
            <a:r>
              <a:rPr lang="en-GB" sz="1500" b="0">
                <a:solidFill>
                  <a:srgbClr val="1E2B40"/>
                </a:solidFill>
              </a:rPr>
              <a:t>Compare raw measurements, SLA state and application experience.</a:t>
            </a:r>
          </a:p>
        </p:txBody>
      </p:sp>
      <p:sp>
        <p:nvSpPr>
          <p:cNvPr id="16" name="TextBox 15"/>
          <p:cNvSpPr txBox="1">
            <a:spLocks/>
          </p:cNvSpPr>
          <p:nvPr/>
        </p:nvSpPr>
        <p:spPr>
          <a:xfrm>
            <a:off x="7790688" y="5596128"/>
            <a:ext cx="1920240" cy="201168"/>
          </a:xfrm>
          <a:prstGeom prst="rect">
            <a:avLst/>
          </a:prstGeom>
          <a:noFill/>
        </p:spPr>
        <p:txBody>
          <a:bodyPr wrap="square" lIns="27432" tIns="27432" rIns="27432" bIns="27432" anchor="t">
            <a:spAutoFit/>
          </a:bodyPr>
          <a:lstStyle/>
          <a:p>
            <a:pPr algn="l">
              <a:spcAft>
                <a:spcPts val="0"/>
              </a:spcAft>
            </a:pPr>
            <a:r>
              <a:rPr lang="en-GB" sz="1000" b="1">
                <a:solidFill>
                  <a:srgbClr val="687385"/>
                </a:solidFill>
              </a:rPr>
              <a:t>Expected observation</a:t>
            </a:r>
          </a:p>
        </p:txBody>
      </p:sp>
      <p:sp>
        <p:nvSpPr>
          <p:cNvPr id="17" name="TextBox 16"/>
          <p:cNvSpPr txBox="1">
            <a:spLocks/>
          </p:cNvSpPr>
          <p:nvPr/>
        </p:nvSpPr>
        <p:spPr>
          <a:xfrm>
            <a:off x="9509760" y="5577840"/>
            <a:ext cx="1691640" cy="824841"/>
          </a:xfrm>
          <a:prstGeom prst="rect">
            <a:avLst/>
          </a:prstGeom>
          <a:noFill/>
        </p:spPr>
        <p:txBody>
          <a:bodyPr wrap="square" lIns="27432" tIns="27432" rIns="27432" bIns="27432" anchor="t">
            <a:spAutoFit/>
          </a:bodyPr>
          <a:lstStyle/>
          <a:p>
            <a:pPr algn="r">
              <a:spcAft>
                <a:spcPts val="0"/>
              </a:spcAft>
            </a:pPr>
            <a:r>
              <a:rPr lang="en-GB" sz="1000" b="0">
                <a:solidFill>
                  <a:srgbClr val="687385"/>
                </a:solidFill>
              </a:rPr>
              <a:t>The SD-WAN rule selects the member that meets the stated SLA, and the session egress matches that member.</a:t>
            </a:r>
          </a:p>
        </p:txBody>
      </p:sp>
      <p:sp>
        <p:nvSpPr>
          <p:cNvPr id="18" name="TextBox 17"/>
          <p:cNvSpPr txBox="1">
            <a:spLocks/>
          </p:cNvSpPr>
          <p:nvPr/>
        </p:nvSpPr>
        <p:spPr>
          <a:xfrm>
            <a:off x="502920" y="420624"/>
            <a:ext cx="10744200" cy="130805"/>
          </a:xfrm>
          <a:prstGeom prst="rect">
            <a:avLst/>
          </a:prstGeom>
          <a:noFill/>
        </p:spPr>
        <p:txBody>
          <a:bodyPr wrap="square" lIns="0" tIns="0" rIns="0" bIns="0">
            <a:spAutoFit/>
          </a:bodyPr>
          <a:lstStyle/>
          <a:p>
            <a:pPr algn="l"/>
            <a:r>
              <a:rPr lang="en-GB" sz="850" b="1">
                <a:solidFill>
                  <a:srgbClr val="687385"/>
                </a:solidFill>
              </a:rPr>
              <a:t>164 • DAY 4 • BLOCK 15 • SD-WAN &amp; Design</a:t>
            </a:r>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name="Slide 165">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165</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SLA criteria turn measurements into path eligibility</a:t>
            </a:r>
          </a:p>
        </p:txBody>
      </p:sp>
      <p:sp>
        <p:nvSpPr>
          <p:cNvPr id="10" name="TextBox 9"/>
          <p:cNvSpPr txBox="1">
            <a:spLocks/>
          </p:cNvSpPr>
          <p:nvPr/>
        </p:nvSpPr>
        <p:spPr>
          <a:xfrm>
            <a:off x="658368" y="1600200"/>
            <a:ext cx="3456432" cy="292608"/>
          </a:xfrm>
          <a:prstGeom prst="rect">
            <a:avLst/>
          </a:prstGeom>
          <a:noFill/>
        </p:spPr>
        <p:txBody>
          <a:bodyPr wrap="square" lIns="27432" tIns="27432" rIns="27432" bIns="27432" anchor="t">
            <a:spAutoFit/>
          </a:bodyPr>
          <a:lstStyle/>
          <a:p>
            <a:pPr algn="l">
              <a:spcAft>
                <a:spcPts val="0"/>
              </a:spcAft>
            </a:pPr>
            <a:r>
              <a:rPr lang="en-GB" sz="1300" b="1">
                <a:solidFill>
                  <a:srgbClr val="E60012"/>
                </a:solidFill>
              </a:rPr>
              <a:t>ISP-A</a:t>
            </a:r>
          </a:p>
        </p:txBody>
      </p:sp>
      <p:cxnSp>
        <p:nvCxnSpPr>
          <p:cNvPr id="11" name="Connector 10"/>
          <p:cNvCxnSpPr/>
          <p:nvPr/>
        </p:nvCxnSpPr>
        <p:spPr>
          <a:xfrm>
            <a:off x="658368" y="1984248"/>
            <a:ext cx="3456432" cy="0"/>
          </a:xfrm>
          <a:prstGeom prst="line">
            <a:avLst/>
          </a:prstGeom>
          <a:ln w="22860">
            <a:solidFill>
              <a:srgbClr val="E60012"/>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658368" y="2176272"/>
            <a:ext cx="3456432" cy="3337560"/>
          </a:xfrm>
          <a:prstGeom prst="rect">
            <a:avLst/>
          </a:prstGeom>
          <a:noFill/>
        </p:spPr>
        <p:txBody>
          <a:bodyPr wrap="square" lIns="109728" tIns="73152" rIns="109728" bIns="73152" anchor="t">
            <a:spAutoFit/>
          </a:bodyPr>
          <a:lstStyle/>
          <a:p>
            <a:pPr algn="l">
              <a:lnSpc>
                <a:spcPct val="105000"/>
              </a:lnSpc>
              <a:spcAft>
                <a:spcPts val="800"/>
              </a:spcAft>
              <a:defRPr sz="1600">
                <a:solidFill>
                  <a:srgbClr val="1E2B40"/>
                </a:solidFill>
              </a:defRPr>
            </a:pPr>
            <a:r>
              <a:rPr lang="en-GB"/>
              <a:t>• 35 ms latency</a:t>
            </a:r>
          </a:p>
          <a:p>
            <a:pPr>
              <a:lnSpc>
                <a:spcPct val="105000"/>
              </a:lnSpc>
              <a:spcAft>
                <a:spcPts val="800"/>
              </a:spcAft>
              <a:defRPr sz="1600">
                <a:solidFill>
                  <a:srgbClr val="1E2B40"/>
                </a:solidFill>
              </a:defRPr>
            </a:pPr>
            <a:r>
              <a:rPr lang="en-GB"/>
              <a:t>• 0.5% loss</a:t>
            </a:r>
          </a:p>
          <a:p>
            <a:pPr>
              <a:lnSpc>
                <a:spcPct val="105000"/>
              </a:lnSpc>
              <a:spcAft>
                <a:spcPts val="800"/>
              </a:spcAft>
              <a:defRPr sz="1600">
                <a:solidFill>
                  <a:srgbClr val="1E2B40"/>
                </a:solidFill>
              </a:defRPr>
            </a:pPr>
            <a:r>
              <a:rPr lang="en-GB"/>
              <a:t>• SLA: fail for voice</a:t>
            </a:r>
          </a:p>
        </p:txBody>
      </p:sp>
      <p:sp>
        <p:nvSpPr>
          <p:cNvPr id="13" name="TextBox 12"/>
          <p:cNvSpPr txBox="1"/>
          <p:nvPr/>
        </p:nvSpPr>
        <p:spPr>
          <a:xfrm>
            <a:off x="4370831" y="1600200"/>
            <a:ext cx="3456432" cy="292608"/>
          </a:xfrm>
          <a:prstGeom prst="rect">
            <a:avLst/>
          </a:prstGeom>
          <a:noFill/>
        </p:spPr>
        <p:txBody>
          <a:bodyPr wrap="square" lIns="27432" tIns="27432" rIns="27432" bIns="27432" anchor="t">
            <a:spAutoFit/>
          </a:bodyPr>
          <a:lstStyle/>
          <a:p>
            <a:pPr algn="l">
              <a:spcAft>
                <a:spcPts val="0"/>
              </a:spcAft>
            </a:pPr>
            <a:r>
              <a:rPr sz="1300" b="1">
                <a:solidFill>
                  <a:srgbClr val="E60012"/>
                </a:solidFill>
              </a:rPr>
              <a:t>ISP-B</a:t>
            </a:r>
          </a:p>
        </p:txBody>
      </p:sp>
      <p:cxnSp>
        <p:nvCxnSpPr>
          <p:cNvPr id="14" name="Connector 13"/>
          <p:cNvCxnSpPr/>
          <p:nvPr/>
        </p:nvCxnSpPr>
        <p:spPr>
          <a:xfrm>
            <a:off x="4370831" y="1984248"/>
            <a:ext cx="3456432" cy="0"/>
          </a:xfrm>
          <a:prstGeom prst="line">
            <a:avLst/>
          </a:prstGeom>
          <a:ln w="22860">
            <a:solidFill>
              <a:srgbClr val="E60012"/>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370831" y="2176272"/>
            <a:ext cx="3456432" cy="3337560"/>
          </a:xfrm>
          <a:prstGeom prst="rect">
            <a:avLst/>
          </a:prstGeom>
          <a:noFill/>
        </p:spPr>
        <p:txBody>
          <a:bodyPr wrap="square" lIns="109728" tIns="73152" rIns="109728" bIns="73152" anchor="t">
            <a:spAutoFit/>
          </a:bodyPr>
          <a:lstStyle/>
          <a:p>
            <a:pPr algn="l">
              <a:lnSpc>
                <a:spcPct val="105000"/>
              </a:lnSpc>
              <a:spcAft>
                <a:spcPts val="800"/>
              </a:spcAft>
              <a:defRPr sz="1600">
                <a:solidFill>
                  <a:srgbClr val="1E2B40"/>
                </a:solidFill>
              </a:defRPr>
            </a:pPr>
            <a:r>
              <a:t>• 18 ms latency</a:t>
            </a:r>
          </a:p>
          <a:p>
            <a:pPr>
              <a:lnSpc>
                <a:spcPct val="105000"/>
              </a:lnSpc>
              <a:spcAft>
                <a:spcPts val="800"/>
              </a:spcAft>
              <a:defRPr sz="1600">
                <a:solidFill>
                  <a:srgbClr val="1E2B40"/>
                </a:solidFill>
              </a:defRPr>
            </a:pPr>
            <a:r>
              <a:t>• 0.1% loss</a:t>
            </a:r>
          </a:p>
          <a:p>
            <a:pPr>
              <a:lnSpc>
                <a:spcPct val="105000"/>
              </a:lnSpc>
              <a:spcAft>
                <a:spcPts val="800"/>
              </a:spcAft>
              <a:defRPr sz="1600">
                <a:solidFill>
                  <a:srgbClr val="1E2B40"/>
                </a:solidFill>
              </a:defRPr>
            </a:pPr>
            <a:r>
              <a:t>• SLA: pass</a:t>
            </a:r>
          </a:p>
        </p:txBody>
      </p:sp>
      <p:sp>
        <p:nvSpPr>
          <p:cNvPr id="16" name="TextBox 15"/>
          <p:cNvSpPr txBox="1"/>
          <p:nvPr/>
        </p:nvSpPr>
        <p:spPr>
          <a:xfrm>
            <a:off x="8083296" y="1600200"/>
            <a:ext cx="3456432" cy="292608"/>
          </a:xfrm>
          <a:prstGeom prst="rect">
            <a:avLst/>
          </a:prstGeom>
          <a:noFill/>
        </p:spPr>
        <p:txBody>
          <a:bodyPr wrap="square" lIns="27432" tIns="27432" rIns="27432" bIns="27432" anchor="t">
            <a:spAutoFit/>
          </a:bodyPr>
          <a:lstStyle/>
          <a:p>
            <a:pPr algn="l">
              <a:spcAft>
                <a:spcPts val="0"/>
              </a:spcAft>
            </a:pPr>
            <a:r>
              <a:rPr sz="1300" b="1">
                <a:solidFill>
                  <a:srgbClr val="E60012"/>
                </a:solidFill>
              </a:rPr>
              <a:t>RESULT</a:t>
            </a:r>
          </a:p>
        </p:txBody>
      </p:sp>
      <p:cxnSp>
        <p:nvCxnSpPr>
          <p:cNvPr id="17" name="Connector 16"/>
          <p:cNvCxnSpPr/>
          <p:nvPr/>
        </p:nvCxnSpPr>
        <p:spPr>
          <a:xfrm>
            <a:off x="8083296" y="1984248"/>
            <a:ext cx="3456432" cy="0"/>
          </a:xfrm>
          <a:prstGeom prst="line">
            <a:avLst/>
          </a:prstGeom>
          <a:ln w="22860">
            <a:solidFill>
              <a:srgbClr val="E60012"/>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083296" y="2176272"/>
            <a:ext cx="3456432" cy="3337560"/>
          </a:xfrm>
          <a:prstGeom prst="rect">
            <a:avLst/>
          </a:prstGeom>
          <a:noFill/>
        </p:spPr>
        <p:txBody>
          <a:bodyPr wrap="square" lIns="109728" tIns="73152" rIns="109728" bIns="73152" anchor="t">
            <a:spAutoFit/>
          </a:bodyPr>
          <a:lstStyle/>
          <a:p>
            <a:pPr algn="l">
              <a:lnSpc>
                <a:spcPct val="105000"/>
              </a:lnSpc>
              <a:spcAft>
                <a:spcPts val="800"/>
              </a:spcAft>
              <a:defRPr sz="1600">
                <a:solidFill>
                  <a:srgbClr val="1E2B40"/>
                </a:solidFill>
              </a:defRPr>
            </a:pPr>
            <a:r>
              <a:t>• Voice → ISP-B</a:t>
            </a:r>
          </a:p>
          <a:p>
            <a:pPr>
              <a:lnSpc>
                <a:spcPct val="105000"/>
              </a:lnSpc>
              <a:spcAft>
                <a:spcPts val="800"/>
              </a:spcAft>
              <a:defRPr sz="1600">
                <a:solidFill>
                  <a:srgbClr val="1E2B40"/>
                </a:solidFill>
              </a:defRPr>
            </a:pPr>
            <a:r>
              <a:t>• New session path</a:t>
            </a:r>
          </a:p>
          <a:p>
            <a:pPr>
              <a:lnSpc>
                <a:spcPct val="105000"/>
              </a:lnSpc>
              <a:spcAft>
                <a:spcPts val="800"/>
              </a:spcAft>
              <a:defRPr sz="1600">
                <a:solidFill>
                  <a:srgbClr val="1E2B40"/>
                </a:solidFill>
              </a:defRPr>
            </a:pPr>
            <a:r>
              <a:t>• Verify actual egress</a:t>
            </a:r>
          </a:p>
        </p:txBody>
      </p:sp>
      <p:sp>
        <p:nvSpPr>
          <p:cNvPr id="19" name="TextBox 18"/>
          <p:cNvSpPr txBox="1"/>
          <p:nvPr/>
        </p:nvSpPr>
        <p:spPr>
          <a:xfrm>
            <a:off x="658368" y="5724144"/>
            <a:ext cx="1234440" cy="563231"/>
          </a:xfrm>
          <a:prstGeom prst="rect">
            <a:avLst/>
          </a:prstGeom>
          <a:noFill/>
        </p:spPr>
        <p:txBody>
          <a:bodyPr wrap="square" lIns="27432" tIns="27432" rIns="27432" bIns="27432" anchor="t">
            <a:spAutoFit/>
          </a:bodyPr>
          <a:lstStyle/>
          <a:p>
            <a:pPr algn="l">
              <a:spcAft>
                <a:spcPts val="0"/>
              </a:spcAft>
            </a:pPr>
            <a:r>
              <a:rPr lang="en-GB" sz="1100" b="1">
                <a:solidFill>
                  <a:srgbClr val="233A59"/>
                </a:solidFill>
              </a:rPr>
              <a:t>CONCEPTUAL OPTIONAL EXTENSION</a:t>
            </a:r>
            <a:endParaRPr sz="1100" b="1">
              <a:solidFill>
                <a:srgbClr val="233A59"/>
              </a:solidFill>
            </a:endParaRPr>
          </a:p>
        </p:txBody>
      </p:sp>
      <p:sp>
        <p:nvSpPr>
          <p:cNvPr id="20" name="TextBox 19"/>
          <p:cNvSpPr txBox="1"/>
          <p:nvPr/>
        </p:nvSpPr>
        <p:spPr>
          <a:xfrm>
            <a:off x="1920240" y="5687568"/>
            <a:ext cx="9235440" cy="486287"/>
          </a:xfrm>
          <a:prstGeom prst="rect">
            <a:avLst/>
          </a:prstGeom>
          <a:noFill/>
        </p:spPr>
        <p:txBody>
          <a:bodyPr wrap="square" lIns="27432" tIns="27432" rIns="27432" bIns="27432" anchor="t">
            <a:spAutoFit/>
          </a:bodyPr>
          <a:lstStyle/>
          <a:p>
            <a:pPr algn="l">
              <a:spcAft>
                <a:spcPts val="0"/>
              </a:spcAft>
            </a:pPr>
            <a:r>
              <a:rPr lang="en-GB" sz="1400" b="1">
                <a:solidFill>
                  <a:srgbClr val="233A59"/>
                </a:solidFill>
              </a:rPr>
              <a:t>Two controllable paths are not in the base lab; in this worked scenario, the </a:t>
            </a:r>
            <a:r>
              <a:rPr sz="1400" b="1">
                <a:solidFill>
                  <a:srgbClr val="233A59"/>
                </a:solidFill>
              </a:rPr>
              <a:t>voice rule chooses B </a:t>
            </a:r>
            <a:r>
              <a:rPr lang="en-GB" sz="1400" b="1">
                <a:solidFill>
                  <a:srgbClr val="233A59"/>
                </a:solidFill>
              </a:rPr>
              <a:t>when its SLA passes.</a:t>
            </a:r>
            <a:endParaRPr sz="1400" b="1">
              <a:solidFill>
                <a:srgbClr val="233A59"/>
              </a:solidFill>
            </a:endParaRPr>
          </a:p>
        </p:txBody>
      </p:sp>
      <p:sp>
        <p:nvSpPr>
          <p:cNvPr id="21" name="TextBox 20"/>
          <p:cNvSpPr txBox="1"/>
          <p:nvPr/>
        </p:nvSpPr>
        <p:spPr>
          <a:xfrm>
            <a:off x="502920" y="420624"/>
            <a:ext cx="10744200" cy="130805"/>
          </a:xfrm>
          <a:prstGeom prst="rect">
            <a:avLst/>
          </a:prstGeom>
          <a:noFill/>
        </p:spPr>
        <p:txBody>
          <a:bodyPr wrap="square" lIns="0" tIns="0" rIns="0" bIns="0">
            <a:spAutoFit/>
          </a:bodyPr>
          <a:lstStyle/>
          <a:p>
            <a:pPr algn="l"/>
            <a:r>
              <a:rPr lang="en-HU" sz="850" b="1">
                <a:solidFill>
                  <a:srgbClr val="687385"/>
                </a:solidFill>
              </a:rPr>
              <a:t>165</a:t>
            </a:r>
            <a:r>
              <a:rPr sz="850" b="1">
                <a:solidFill>
                  <a:srgbClr val="687385"/>
                </a:solidFill>
              </a:rPr>
              <a:t> • DAY 4 • BLOCK 15 • SD-WAN &amp; Design</a:t>
            </a: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name="Slide 166">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166</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Application steering depends on identification timing</a:t>
            </a:r>
          </a:p>
        </p:txBody>
      </p:sp>
      <p:sp>
        <p:nvSpPr>
          <p:cNvPr id="10" name="TextBox 9"/>
          <p:cNvSpPr txBox="1">
            <a:spLocks/>
          </p:cNvSpPr>
          <p:nvPr/>
        </p:nvSpPr>
        <p:spPr>
          <a:xfrm>
            <a:off x="658368" y="1554480"/>
            <a:ext cx="6583680" cy="4389120"/>
          </a:xfrm>
          <a:prstGeom prst="rect">
            <a:avLst/>
          </a:prstGeom>
          <a:noFill/>
        </p:spPr>
        <p:txBody>
          <a:bodyPr wrap="square" lIns="109728" tIns="73152" rIns="109728" bIns="73152" anchor="t">
            <a:spAutoFit/>
          </a:bodyPr>
          <a:lstStyle/>
          <a:p>
            <a:pPr algn="l">
              <a:lnSpc>
                <a:spcPct val="105000"/>
              </a:lnSpc>
              <a:spcAft>
                <a:spcPts val="800"/>
              </a:spcAft>
              <a:defRPr sz="1700">
                <a:solidFill>
                  <a:srgbClr val="1E2B40"/>
                </a:solidFill>
              </a:defRPr>
            </a:pPr>
            <a:r>
              <a:rPr lang="en-GB"/>
              <a:t>• Rules can use address/service/application constructs depending on design</a:t>
            </a:r>
          </a:p>
          <a:p>
            <a:pPr>
              <a:lnSpc>
                <a:spcPct val="105000"/>
              </a:lnSpc>
              <a:spcAft>
                <a:spcPts val="800"/>
              </a:spcAft>
              <a:defRPr sz="1700">
                <a:solidFill>
                  <a:srgbClr val="1E2B40"/>
                </a:solidFill>
              </a:defRPr>
            </a:pPr>
            <a:r>
              <a:rPr lang="en-GB"/>
              <a:t>• Application identity may be learned after initial packets</a:t>
            </a:r>
          </a:p>
          <a:p>
            <a:pPr>
              <a:lnSpc>
                <a:spcPct val="105000"/>
              </a:lnSpc>
              <a:spcAft>
                <a:spcPts val="800"/>
              </a:spcAft>
              <a:defRPr sz="1700">
                <a:solidFill>
                  <a:srgbClr val="1E2B40"/>
                </a:solidFill>
              </a:defRPr>
            </a:pPr>
            <a:r>
              <a:rPr lang="en-GB"/>
              <a:t>• Fallback/default rule must be intentional</a:t>
            </a:r>
          </a:p>
          <a:p>
            <a:pPr>
              <a:lnSpc>
                <a:spcPct val="105000"/>
              </a:lnSpc>
              <a:spcAft>
                <a:spcPts val="800"/>
              </a:spcAft>
              <a:defRPr sz="1700">
                <a:solidFill>
                  <a:srgbClr val="1E2B40"/>
                </a:solidFill>
              </a:defRPr>
            </a:pPr>
            <a:r>
              <a:rPr lang="en-GB"/>
              <a:t>• Security profiles and SSL visibility affect application identification</a:t>
            </a:r>
          </a:p>
        </p:txBody>
      </p:sp>
      <p:cxnSp>
        <p:nvCxnSpPr>
          <p:cNvPr id="11" name="Connector 10"/>
          <p:cNvCxnSpPr/>
          <p:nvPr/>
        </p:nvCxnSpPr>
        <p:spPr>
          <a:xfrm>
            <a:off x="7452360" y="1600200"/>
            <a:ext cx="0" cy="434340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7790688" y="1627632"/>
            <a:ext cx="342900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ILLUSTRATIVE SCENARIO</a:t>
            </a:r>
          </a:p>
        </p:txBody>
      </p:sp>
      <p:sp>
        <p:nvSpPr>
          <p:cNvPr id="13" name="TextBox 12"/>
          <p:cNvSpPr txBox="1">
            <a:spLocks/>
          </p:cNvSpPr>
          <p:nvPr/>
        </p:nvSpPr>
        <p:spPr>
          <a:xfrm>
            <a:off x="7790688" y="2057400"/>
            <a:ext cx="3337560" cy="1417320"/>
          </a:xfrm>
          <a:prstGeom prst="rect">
            <a:avLst/>
          </a:prstGeom>
          <a:noFill/>
        </p:spPr>
        <p:txBody>
          <a:bodyPr wrap="square" lIns="27432" tIns="27432" rIns="27432" bIns="27432" anchor="t">
            <a:spAutoFit/>
          </a:bodyPr>
          <a:lstStyle/>
          <a:p>
            <a:pPr algn="l">
              <a:spcAft>
                <a:spcPts val="0"/>
              </a:spcAft>
            </a:pPr>
            <a:r>
              <a:rPr lang="en-GB" sz="1700" b="1">
                <a:solidFill>
                  <a:srgbClr val="233A59"/>
                </a:solidFill>
              </a:rPr>
              <a:t>A first packet can use a provisional path before application is identified</a:t>
            </a:r>
          </a:p>
        </p:txBody>
      </p:sp>
      <p:sp>
        <p:nvSpPr>
          <p:cNvPr id="14" name="TextBox 13"/>
          <p:cNvSpPr txBox="1">
            <a:spLocks/>
          </p:cNvSpPr>
          <p:nvPr/>
        </p:nvSpPr>
        <p:spPr>
          <a:xfrm>
            <a:off x="7790688" y="3822191"/>
            <a:ext cx="18288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EXPECTED RESULT</a:t>
            </a:r>
          </a:p>
        </p:txBody>
      </p:sp>
      <p:sp>
        <p:nvSpPr>
          <p:cNvPr id="15" name="TextBox 14"/>
          <p:cNvSpPr txBox="1">
            <a:spLocks/>
          </p:cNvSpPr>
          <p:nvPr/>
        </p:nvSpPr>
        <p:spPr>
          <a:xfrm>
            <a:off x="7790688" y="4187952"/>
            <a:ext cx="3337560" cy="1325880"/>
          </a:xfrm>
          <a:prstGeom prst="rect">
            <a:avLst/>
          </a:prstGeom>
          <a:noFill/>
        </p:spPr>
        <p:txBody>
          <a:bodyPr wrap="square" lIns="27432" tIns="27432" rIns="27432" bIns="27432" anchor="t">
            <a:spAutoFit/>
          </a:bodyPr>
          <a:lstStyle/>
          <a:p>
            <a:pPr algn="l">
              <a:spcAft>
                <a:spcPts val="0"/>
              </a:spcAft>
            </a:pPr>
            <a:r>
              <a:rPr lang="en-GB" sz="1500" b="0">
                <a:solidFill>
                  <a:srgbClr val="1E2B40"/>
                </a:solidFill>
              </a:rPr>
              <a:t>Use session details and logs to confirm the final matched rule/member.</a:t>
            </a:r>
          </a:p>
        </p:txBody>
      </p:sp>
      <p:sp>
        <p:nvSpPr>
          <p:cNvPr id="16" name="TextBox 15"/>
          <p:cNvSpPr txBox="1">
            <a:spLocks/>
          </p:cNvSpPr>
          <p:nvPr/>
        </p:nvSpPr>
        <p:spPr>
          <a:xfrm>
            <a:off x="7790688" y="5596128"/>
            <a:ext cx="1920240" cy="201168"/>
          </a:xfrm>
          <a:prstGeom prst="rect">
            <a:avLst/>
          </a:prstGeom>
          <a:noFill/>
        </p:spPr>
        <p:txBody>
          <a:bodyPr wrap="square" lIns="27432" tIns="27432" rIns="27432" bIns="27432" anchor="t">
            <a:spAutoFit/>
          </a:bodyPr>
          <a:lstStyle/>
          <a:p>
            <a:pPr algn="l">
              <a:spcAft>
                <a:spcPts val="0"/>
              </a:spcAft>
            </a:pPr>
            <a:r>
              <a:rPr lang="en-GB" sz="1000" b="1">
                <a:solidFill>
                  <a:srgbClr val="687385"/>
                </a:solidFill>
              </a:rPr>
              <a:t>Expected observation</a:t>
            </a:r>
          </a:p>
        </p:txBody>
      </p:sp>
      <p:sp>
        <p:nvSpPr>
          <p:cNvPr id="17" name="TextBox 16"/>
          <p:cNvSpPr txBox="1">
            <a:spLocks/>
          </p:cNvSpPr>
          <p:nvPr/>
        </p:nvSpPr>
        <p:spPr>
          <a:xfrm>
            <a:off x="9509760" y="5577840"/>
            <a:ext cx="1691640" cy="824841"/>
          </a:xfrm>
          <a:prstGeom prst="rect">
            <a:avLst/>
          </a:prstGeom>
          <a:noFill/>
        </p:spPr>
        <p:txBody>
          <a:bodyPr wrap="square" lIns="27432" tIns="27432" rIns="27432" bIns="27432" anchor="t">
            <a:spAutoFit/>
          </a:bodyPr>
          <a:lstStyle/>
          <a:p>
            <a:pPr algn="r">
              <a:spcAft>
                <a:spcPts val="0"/>
              </a:spcAft>
            </a:pPr>
            <a:r>
              <a:rPr lang="en-GB" sz="1000" b="0">
                <a:solidFill>
                  <a:srgbClr val="687385"/>
                </a:solidFill>
              </a:rPr>
              <a:t>The SD-WAN rule selects the member that meets the stated SLA, and the session egress matches that member.</a:t>
            </a:r>
          </a:p>
        </p:txBody>
      </p:sp>
      <p:sp>
        <p:nvSpPr>
          <p:cNvPr id="18" name="TextBox 17"/>
          <p:cNvSpPr txBox="1">
            <a:spLocks/>
          </p:cNvSpPr>
          <p:nvPr/>
        </p:nvSpPr>
        <p:spPr>
          <a:xfrm>
            <a:off x="502920" y="420624"/>
            <a:ext cx="10744200" cy="130805"/>
          </a:xfrm>
          <a:prstGeom prst="rect">
            <a:avLst/>
          </a:prstGeom>
          <a:noFill/>
        </p:spPr>
        <p:txBody>
          <a:bodyPr wrap="square" lIns="0" tIns="0" rIns="0" bIns="0">
            <a:spAutoFit/>
          </a:bodyPr>
          <a:lstStyle/>
          <a:p>
            <a:pPr algn="l"/>
            <a:r>
              <a:rPr lang="en-GB" sz="850" b="1">
                <a:solidFill>
                  <a:srgbClr val="687385"/>
                </a:solidFill>
              </a:rPr>
              <a:t>166 • DAY 4 • BLOCK 15 • SD-WAN &amp; Design</a:t>
            </a: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name="Slide 167">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167</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Failover is detection plus session/application recovery</a:t>
            </a:r>
          </a:p>
        </p:txBody>
      </p:sp>
      <p:sp>
        <p:nvSpPr>
          <p:cNvPr id="10" name="Rectangle 9"/>
          <p:cNvSpPr/>
          <p:nvPr/>
        </p:nvSpPr>
        <p:spPr>
          <a:xfrm>
            <a:off x="658368"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1" name="TextBox 10"/>
          <p:cNvSpPr txBox="1">
            <a:spLocks/>
          </p:cNvSpPr>
          <p:nvPr/>
        </p:nvSpPr>
        <p:spPr>
          <a:xfrm>
            <a:off x="768096" y="2020824"/>
            <a:ext cx="411480" cy="219456"/>
          </a:xfrm>
          <a:prstGeom prst="rect">
            <a:avLst/>
          </a:prstGeom>
          <a:noFill/>
        </p:spPr>
        <p:txBody>
          <a:bodyPr wrap="square" lIns="27432" tIns="27432" rIns="27432" bIns="27432" anchor="t">
            <a:spAutoFit/>
          </a:bodyPr>
          <a:lstStyle/>
          <a:p>
            <a:pPr algn="l">
              <a:spcAft>
                <a:spcPts val="0"/>
              </a:spcAft>
            </a:pPr>
            <a:r>
              <a:rPr lang="en-HU" sz="1100" b="1">
                <a:solidFill>
                  <a:srgbClr val="E60012"/>
                </a:solidFill>
              </a:rPr>
              <a:t>01</a:t>
            </a:r>
          </a:p>
        </p:txBody>
      </p:sp>
      <p:sp>
        <p:nvSpPr>
          <p:cNvPr id="12" name="TextBox 11"/>
          <p:cNvSpPr txBox="1">
            <a:spLocks/>
          </p:cNvSpPr>
          <p:nvPr/>
        </p:nvSpPr>
        <p:spPr>
          <a:xfrm>
            <a:off x="768096" y="2340864"/>
            <a:ext cx="1830628" cy="603504"/>
          </a:xfrm>
          <a:prstGeom prst="rect">
            <a:avLst/>
          </a:prstGeom>
          <a:noFill/>
        </p:spPr>
        <p:txBody>
          <a:bodyPr wrap="square" lIns="27432" tIns="27432" rIns="27432" bIns="27432" anchor="ctr">
            <a:spAutoFit/>
          </a:bodyPr>
          <a:lstStyle/>
          <a:p>
            <a:pPr algn="ctr">
              <a:spcAft>
                <a:spcPts val="0"/>
              </a:spcAft>
            </a:pPr>
            <a:r>
              <a:rPr lang="en-GB" sz="1400" b="1">
                <a:solidFill>
                  <a:srgbClr val="1E2B40"/>
                </a:solidFill>
              </a:rPr>
              <a:t>SLA breach</a:t>
            </a:r>
          </a:p>
        </p:txBody>
      </p:sp>
      <p:cxnSp>
        <p:nvCxnSpPr>
          <p:cNvPr id="13" name="Connector 12"/>
          <p:cNvCxnSpPr/>
          <p:nvPr/>
        </p:nvCxnSpPr>
        <p:spPr>
          <a:xfrm>
            <a:off x="2708452"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2854756"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5" name="TextBox 14"/>
          <p:cNvSpPr txBox="1">
            <a:spLocks/>
          </p:cNvSpPr>
          <p:nvPr/>
        </p:nvSpPr>
        <p:spPr>
          <a:xfrm>
            <a:off x="2964484" y="2020824"/>
            <a:ext cx="411480" cy="219456"/>
          </a:xfrm>
          <a:prstGeom prst="rect">
            <a:avLst/>
          </a:prstGeom>
          <a:noFill/>
        </p:spPr>
        <p:txBody>
          <a:bodyPr wrap="square" lIns="27432" tIns="27432" rIns="27432" bIns="27432" anchor="t">
            <a:spAutoFit/>
          </a:bodyPr>
          <a:lstStyle/>
          <a:p>
            <a:pPr algn="l">
              <a:spcAft>
                <a:spcPts val="0"/>
              </a:spcAft>
            </a:pPr>
            <a:r>
              <a:rPr lang="en-HU" sz="1100" b="1">
                <a:solidFill>
                  <a:srgbClr val="E60012"/>
                </a:solidFill>
              </a:rPr>
              <a:t>02</a:t>
            </a:r>
          </a:p>
        </p:txBody>
      </p:sp>
      <p:sp>
        <p:nvSpPr>
          <p:cNvPr id="16" name="TextBox 15"/>
          <p:cNvSpPr txBox="1">
            <a:spLocks/>
          </p:cNvSpPr>
          <p:nvPr/>
        </p:nvSpPr>
        <p:spPr>
          <a:xfrm>
            <a:off x="2964484" y="2340864"/>
            <a:ext cx="1830628" cy="603504"/>
          </a:xfrm>
          <a:prstGeom prst="rect">
            <a:avLst/>
          </a:prstGeom>
          <a:noFill/>
        </p:spPr>
        <p:txBody>
          <a:bodyPr wrap="square" lIns="27432" tIns="27432" rIns="27432" bIns="27432" anchor="ctr">
            <a:spAutoFit/>
          </a:bodyPr>
          <a:lstStyle/>
          <a:p>
            <a:pPr algn="ctr">
              <a:spcAft>
                <a:spcPts val="0"/>
              </a:spcAft>
            </a:pPr>
            <a:r>
              <a:rPr lang="en-GB" sz="1400" b="1">
                <a:solidFill>
                  <a:srgbClr val="1E2B40"/>
                </a:solidFill>
              </a:rPr>
              <a:t>Member ineligible</a:t>
            </a:r>
          </a:p>
        </p:txBody>
      </p:sp>
      <p:cxnSp>
        <p:nvCxnSpPr>
          <p:cNvPr id="17" name="Connector 16"/>
          <p:cNvCxnSpPr/>
          <p:nvPr/>
        </p:nvCxnSpPr>
        <p:spPr>
          <a:xfrm>
            <a:off x="4904841"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5051145"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9" name="TextBox 18"/>
          <p:cNvSpPr txBox="1">
            <a:spLocks/>
          </p:cNvSpPr>
          <p:nvPr/>
        </p:nvSpPr>
        <p:spPr>
          <a:xfrm>
            <a:off x="5160873" y="2020824"/>
            <a:ext cx="411480" cy="219456"/>
          </a:xfrm>
          <a:prstGeom prst="rect">
            <a:avLst/>
          </a:prstGeom>
          <a:noFill/>
        </p:spPr>
        <p:txBody>
          <a:bodyPr wrap="square" lIns="27432" tIns="27432" rIns="27432" bIns="27432" anchor="t">
            <a:spAutoFit/>
          </a:bodyPr>
          <a:lstStyle/>
          <a:p>
            <a:pPr algn="l">
              <a:spcAft>
                <a:spcPts val="0"/>
              </a:spcAft>
            </a:pPr>
            <a:r>
              <a:rPr lang="en-HU" sz="1100" b="1">
                <a:solidFill>
                  <a:srgbClr val="E60012"/>
                </a:solidFill>
              </a:rPr>
              <a:t>03</a:t>
            </a:r>
          </a:p>
        </p:txBody>
      </p:sp>
      <p:sp>
        <p:nvSpPr>
          <p:cNvPr id="20" name="TextBox 19"/>
          <p:cNvSpPr txBox="1">
            <a:spLocks/>
          </p:cNvSpPr>
          <p:nvPr/>
        </p:nvSpPr>
        <p:spPr>
          <a:xfrm>
            <a:off x="5160873" y="2340864"/>
            <a:ext cx="1830628" cy="603504"/>
          </a:xfrm>
          <a:prstGeom prst="rect">
            <a:avLst/>
          </a:prstGeom>
          <a:noFill/>
        </p:spPr>
        <p:txBody>
          <a:bodyPr wrap="square" lIns="27432" tIns="27432" rIns="27432" bIns="27432" anchor="ctr">
            <a:spAutoFit/>
          </a:bodyPr>
          <a:lstStyle/>
          <a:p>
            <a:pPr algn="ctr">
              <a:spcAft>
                <a:spcPts val="0"/>
              </a:spcAft>
            </a:pPr>
            <a:r>
              <a:rPr lang="en-GB" sz="1400" b="1">
                <a:solidFill>
                  <a:srgbClr val="1E2B40"/>
                </a:solidFill>
              </a:rPr>
              <a:t>Rule recalculates</a:t>
            </a:r>
          </a:p>
        </p:txBody>
      </p:sp>
      <p:cxnSp>
        <p:nvCxnSpPr>
          <p:cNvPr id="21" name="Connector 20"/>
          <p:cNvCxnSpPr/>
          <p:nvPr/>
        </p:nvCxnSpPr>
        <p:spPr>
          <a:xfrm>
            <a:off x="7101230"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7247534"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23" name="TextBox 22"/>
          <p:cNvSpPr txBox="1"/>
          <p:nvPr/>
        </p:nvSpPr>
        <p:spPr>
          <a:xfrm>
            <a:off x="7357262" y="2020824"/>
            <a:ext cx="411480" cy="219456"/>
          </a:xfrm>
          <a:prstGeom prst="rect">
            <a:avLst/>
          </a:prstGeom>
          <a:noFill/>
        </p:spPr>
        <p:txBody>
          <a:bodyPr wrap="square" lIns="27432" tIns="27432" rIns="27432" bIns="27432" anchor="t">
            <a:spAutoFit/>
          </a:bodyPr>
          <a:lstStyle/>
          <a:p>
            <a:pPr algn="l">
              <a:spcAft>
                <a:spcPts val="0"/>
              </a:spcAft>
            </a:pPr>
            <a:r>
              <a:rPr sz="1100" b="1">
                <a:solidFill>
                  <a:srgbClr val="E60012"/>
                </a:solidFill>
              </a:rPr>
              <a:t>04</a:t>
            </a:r>
          </a:p>
        </p:txBody>
      </p:sp>
      <p:sp>
        <p:nvSpPr>
          <p:cNvPr id="24" name="TextBox 23"/>
          <p:cNvSpPr txBox="1"/>
          <p:nvPr/>
        </p:nvSpPr>
        <p:spPr>
          <a:xfrm>
            <a:off x="7357262" y="2340864"/>
            <a:ext cx="1830628" cy="603504"/>
          </a:xfrm>
          <a:prstGeom prst="rect">
            <a:avLst/>
          </a:prstGeom>
          <a:noFill/>
        </p:spPr>
        <p:txBody>
          <a:bodyPr wrap="square" lIns="27432" tIns="27432" rIns="27432" bIns="27432" anchor="ctr">
            <a:spAutoFit/>
          </a:bodyPr>
          <a:lstStyle/>
          <a:p>
            <a:pPr algn="ctr">
              <a:spcAft>
                <a:spcPts val="0"/>
              </a:spcAft>
            </a:pPr>
            <a:r>
              <a:rPr sz="1400" b="1">
                <a:solidFill>
                  <a:srgbClr val="1E2B40"/>
                </a:solidFill>
              </a:rPr>
              <a:t>New egress</a:t>
            </a:r>
          </a:p>
        </p:txBody>
      </p:sp>
      <p:cxnSp>
        <p:nvCxnSpPr>
          <p:cNvPr id="25" name="Connector 24"/>
          <p:cNvCxnSpPr/>
          <p:nvPr/>
        </p:nvCxnSpPr>
        <p:spPr>
          <a:xfrm>
            <a:off x="9297619"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9443923"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553651" y="2020824"/>
            <a:ext cx="411480" cy="219456"/>
          </a:xfrm>
          <a:prstGeom prst="rect">
            <a:avLst/>
          </a:prstGeom>
          <a:noFill/>
        </p:spPr>
        <p:txBody>
          <a:bodyPr wrap="square" lIns="27432" tIns="27432" rIns="27432" bIns="27432" anchor="t">
            <a:spAutoFit/>
          </a:bodyPr>
          <a:lstStyle/>
          <a:p>
            <a:pPr algn="l">
              <a:spcAft>
                <a:spcPts val="0"/>
              </a:spcAft>
            </a:pPr>
            <a:r>
              <a:rPr sz="1100" b="1">
                <a:solidFill>
                  <a:srgbClr val="E60012"/>
                </a:solidFill>
              </a:rPr>
              <a:t>05</a:t>
            </a:r>
          </a:p>
        </p:txBody>
      </p:sp>
      <p:sp>
        <p:nvSpPr>
          <p:cNvPr id="28" name="TextBox 27"/>
          <p:cNvSpPr txBox="1"/>
          <p:nvPr/>
        </p:nvSpPr>
        <p:spPr>
          <a:xfrm>
            <a:off x="9553651" y="2340864"/>
            <a:ext cx="1830628" cy="603504"/>
          </a:xfrm>
          <a:prstGeom prst="rect">
            <a:avLst/>
          </a:prstGeom>
          <a:noFill/>
        </p:spPr>
        <p:txBody>
          <a:bodyPr wrap="square" lIns="27432" tIns="27432" rIns="27432" bIns="27432" anchor="ctr">
            <a:spAutoFit/>
          </a:bodyPr>
          <a:lstStyle/>
          <a:p>
            <a:pPr algn="ctr">
              <a:spcAft>
                <a:spcPts val="0"/>
              </a:spcAft>
            </a:pPr>
            <a:r>
              <a:rPr sz="1400" b="1">
                <a:solidFill>
                  <a:srgbClr val="1E2B40"/>
                </a:solidFill>
              </a:rPr>
              <a:t>Application recovery</a:t>
            </a:r>
          </a:p>
        </p:txBody>
      </p:sp>
      <p:sp>
        <p:nvSpPr>
          <p:cNvPr id="29" name="TextBox 28"/>
          <p:cNvSpPr txBox="1"/>
          <p:nvPr/>
        </p:nvSpPr>
        <p:spPr>
          <a:xfrm>
            <a:off x="658368" y="3703320"/>
            <a:ext cx="2011680" cy="256032"/>
          </a:xfrm>
          <a:prstGeom prst="rect">
            <a:avLst/>
          </a:prstGeom>
          <a:noFill/>
        </p:spPr>
        <p:txBody>
          <a:bodyPr wrap="square" lIns="27432" tIns="27432" rIns="27432" bIns="27432" anchor="t">
            <a:spAutoFit/>
          </a:bodyPr>
          <a:lstStyle/>
          <a:p>
            <a:pPr algn="l">
              <a:spcAft>
                <a:spcPts val="0"/>
              </a:spcAft>
            </a:pPr>
            <a:r>
              <a:rPr sz="1100" b="1">
                <a:solidFill>
                  <a:srgbClr val="E60012"/>
                </a:solidFill>
              </a:rPr>
              <a:t>What to observe</a:t>
            </a:r>
          </a:p>
        </p:txBody>
      </p:sp>
      <p:sp>
        <p:nvSpPr>
          <p:cNvPr id="30" name="TextBox 29"/>
          <p:cNvSpPr txBox="1"/>
          <p:nvPr/>
        </p:nvSpPr>
        <p:spPr>
          <a:xfrm>
            <a:off x="658368" y="4050791"/>
            <a:ext cx="6446520" cy="1508760"/>
          </a:xfrm>
          <a:prstGeom prst="rect">
            <a:avLst/>
          </a:prstGeom>
          <a:noFill/>
        </p:spPr>
        <p:txBody>
          <a:bodyPr wrap="square" lIns="109728" tIns="73152" rIns="109728" bIns="73152" anchor="t">
            <a:spAutoFit/>
          </a:bodyPr>
          <a:lstStyle/>
          <a:p>
            <a:pPr algn="l">
              <a:lnSpc>
                <a:spcPct val="105000"/>
              </a:lnSpc>
              <a:spcAft>
                <a:spcPts val="700"/>
              </a:spcAft>
              <a:defRPr sz="1600">
                <a:solidFill>
                  <a:srgbClr val="1E2B40"/>
                </a:solidFill>
              </a:defRPr>
            </a:pPr>
            <a:r>
              <a:t>• Rule removes or de-prioritizes member</a:t>
            </a:r>
          </a:p>
          <a:p>
            <a:pPr>
              <a:lnSpc>
                <a:spcPct val="105000"/>
              </a:lnSpc>
              <a:spcAft>
                <a:spcPts val="700"/>
              </a:spcAft>
              <a:defRPr sz="1600">
                <a:solidFill>
                  <a:srgbClr val="1E2B40"/>
                </a:solidFill>
              </a:defRPr>
            </a:pPr>
            <a:r>
              <a:t>• New sessions select another eligible path</a:t>
            </a:r>
          </a:p>
          <a:p>
            <a:pPr>
              <a:lnSpc>
                <a:spcPct val="105000"/>
              </a:lnSpc>
              <a:spcAft>
                <a:spcPts val="700"/>
              </a:spcAft>
              <a:defRPr sz="1600">
                <a:solidFill>
                  <a:srgbClr val="1E2B40"/>
                </a:solidFill>
              </a:defRPr>
            </a:pPr>
            <a:r>
              <a:t>• Existing session continuity depends on NAT, remote state and design</a:t>
            </a:r>
          </a:p>
        </p:txBody>
      </p:sp>
      <p:cxnSp>
        <p:nvCxnSpPr>
          <p:cNvPr id="31" name="Connector 30"/>
          <p:cNvCxnSpPr/>
          <p:nvPr/>
        </p:nvCxnSpPr>
        <p:spPr>
          <a:xfrm>
            <a:off x="7452360" y="3703320"/>
            <a:ext cx="0" cy="2093976"/>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7772400" y="3703320"/>
            <a:ext cx="292608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INSTRUCTOR DEMONSTRATION</a:t>
            </a:r>
            <a:endParaRPr sz="1100" b="1">
              <a:solidFill>
                <a:srgbClr val="E60012"/>
              </a:solidFill>
            </a:endParaRPr>
          </a:p>
        </p:txBody>
      </p:sp>
      <p:sp>
        <p:nvSpPr>
          <p:cNvPr id="33" name="TextBox 32"/>
          <p:cNvSpPr txBox="1"/>
          <p:nvPr/>
        </p:nvSpPr>
        <p:spPr>
          <a:xfrm>
            <a:off x="7772400" y="4096512"/>
            <a:ext cx="3337560" cy="1234440"/>
          </a:xfrm>
          <a:prstGeom prst="rect">
            <a:avLst/>
          </a:prstGeom>
          <a:noFill/>
        </p:spPr>
        <p:txBody>
          <a:bodyPr wrap="square" lIns="27432" tIns="27432" rIns="27432" bIns="27432" anchor="t">
            <a:spAutoFit/>
          </a:bodyPr>
          <a:lstStyle/>
          <a:p>
            <a:pPr algn="l">
              <a:spcAft>
                <a:spcPts val="0"/>
              </a:spcAft>
            </a:pPr>
            <a:r>
              <a:rPr sz="1500" b="1">
                <a:solidFill>
                  <a:srgbClr val="233A59"/>
                </a:solidFill>
              </a:rPr>
              <a:t>Test new and long-lived flows separately.</a:t>
            </a:r>
          </a:p>
        </p:txBody>
      </p:sp>
      <p:sp>
        <p:nvSpPr>
          <p:cNvPr id="34" name="TextBox 33"/>
          <p:cNvSpPr txBox="1"/>
          <p:nvPr/>
        </p:nvSpPr>
        <p:spPr>
          <a:xfrm>
            <a:off x="7772400" y="5440680"/>
            <a:ext cx="3337560" cy="363176"/>
          </a:xfrm>
          <a:prstGeom prst="rect">
            <a:avLst/>
          </a:prstGeom>
          <a:noFill/>
        </p:spPr>
        <p:txBody>
          <a:bodyPr wrap="square" lIns="27432" tIns="27432" rIns="27432" bIns="27432" anchor="t">
            <a:spAutoFit/>
          </a:bodyPr>
          <a:lstStyle/>
          <a:p>
            <a:pPr algn="l">
              <a:spcAft>
                <a:spcPts val="0"/>
              </a:spcAft>
            </a:pPr>
            <a:r>
              <a:rPr lang="en-GB" sz="1000" b="0">
                <a:solidFill>
                  <a:srgbClr val="687385"/>
                </a:solidFill>
              </a:rPr>
              <a:t>If debug is used, filter by the test tuple and disable</a:t>
            </a:r>
            <a:r>
              <a:rPr sz="1000" b="0">
                <a:solidFill>
                  <a:srgbClr val="687385"/>
                </a:solidFill>
              </a:rPr>
              <a:t>/reset </a:t>
            </a:r>
            <a:r>
              <a:rPr lang="en-GB" sz="1000" b="0">
                <a:solidFill>
                  <a:srgbClr val="687385"/>
                </a:solidFill>
              </a:rPr>
              <a:t>it immediately </a:t>
            </a:r>
            <a:r>
              <a:rPr sz="1000" b="0">
                <a:solidFill>
                  <a:srgbClr val="687385"/>
                </a:solidFill>
              </a:rPr>
              <a:t>after </a:t>
            </a:r>
            <a:r>
              <a:rPr lang="en-GB" sz="1000" b="0">
                <a:solidFill>
                  <a:srgbClr val="687385"/>
                </a:solidFill>
              </a:rPr>
              <a:t>capture</a:t>
            </a:r>
            <a:r>
              <a:rPr sz="1000" b="0">
                <a:solidFill>
                  <a:srgbClr val="687385"/>
                </a:solidFill>
              </a:rPr>
              <a:t>.</a:t>
            </a:r>
          </a:p>
        </p:txBody>
      </p:sp>
      <p:sp>
        <p:nvSpPr>
          <p:cNvPr id="35" name="TextBox 34"/>
          <p:cNvSpPr txBox="1"/>
          <p:nvPr/>
        </p:nvSpPr>
        <p:spPr>
          <a:xfrm>
            <a:off x="502920" y="420624"/>
            <a:ext cx="10744200" cy="130805"/>
          </a:xfrm>
          <a:prstGeom prst="rect">
            <a:avLst/>
          </a:prstGeom>
          <a:noFill/>
        </p:spPr>
        <p:txBody>
          <a:bodyPr wrap="square" lIns="0" tIns="0" rIns="0" bIns="0">
            <a:spAutoFit/>
          </a:bodyPr>
          <a:lstStyle/>
          <a:p>
            <a:pPr algn="l"/>
            <a:r>
              <a:rPr lang="en-HU" sz="850" b="1">
                <a:solidFill>
                  <a:srgbClr val="687385"/>
                </a:solidFill>
              </a:rPr>
              <a:t>167</a:t>
            </a:r>
            <a:r>
              <a:rPr sz="850" b="1">
                <a:solidFill>
                  <a:srgbClr val="687385"/>
                </a:solidFill>
              </a:rPr>
              <a:t> • DAY 4 • BLOCK 15 • SD-WAN &amp; Design</a:t>
            </a:r>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name="Slide 168">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168</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Verify the actual egress path, not the intended diagram</a:t>
            </a:r>
          </a:p>
        </p:txBody>
      </p:sp>
      <p:sp>
        <p:nvSpPr>
          <p:cNvPr id="10" name="Rectangle 9"/>
          <p:cNvSpPr/>
          <p:nvPr/>
        </p:nvSpPr>
        <p:spPr>
          <a:xfrm>
            <a:off x="658368" y="1572768"/>
            <a:ext cx="6583680" cy="425196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1" name="TextBox 10"/>
          <p:cNvSpPr txBox="1">
            <a:spLocks/>
          </p:cNvSpPr>
          <p:nvPr/>
        </p:nvSpPr>
        <p:spPr>
          <a:xfrm>
            <a:off x="877824" y="1783080"/>
            <a:ext cx="6126480" cy="209288"/>
          </a:xfrm>
          <a:prstGeom prst="rect">
            <a:avLst/>
          </a:prstGeom>
          <a:noFill/>
        </p:spPr>
        <p:txBody>
          <a:bodyPr wrap="square" lIns="27432" tIns="27432" rIns="27432" bIns="27432" anchor="t">
            <a:spAutoFit/>
          </a:bodyPr>
          <a:lstStyle/>
          <a:p>
            <a:pPr algn="l">
              <a:spcAft>
                <a:spcPts val="0"/>
              </a:spcAft>
            </a:pPr>
            <a:r>
              <a:rPr lang="en-GB" sz="1000" b="1">
                <a:solidFill>
                  <a:srgbClr val="E60012"/>
                </a:solidFill>
              </a:rPr>
              <a:t>ILLUSTRATIVE CLI — validate on FortiOS 7.6.7 / Azure FortiGate-VM</a:t>
            </a:r>
          </a:p>
        </p:txBody>
      </p:sp>
      <p:sp>
        <p:nvSpPr>
          <p:cNvPr id="12" name="TextBox 11"/>
          <p:cNvSpPr txBox="1">
            <a:spLocks/>
          </p:cNvSpPr>
          <p:nvPr/>
        </p:nvSpPr>
        <p:spPr>
          <a:xfrm>
            <a:off x="877824" y="2212848"/>
            <a:ext cx="6080760" cy="3154680"/>
          </a:xfrm>
          <a:prstGeom prst="rect">
            <a:avLst/>
          </a:prstGeom>
          <a:noFill/>
        </p:spPr>
        <p:txBody>
          <a:bodyPr wrap="square" lIns="27432" tIns="27432" rIns="27432" bIns="27432" anchor="t">
            <a:spAutoFit/>
          </a:bodyPr>
          <a:lstStyle/>
          <a:p>
            <a:pPr algn="l">
              <a:spcAft>
                <a:spcPts val="0"/>
              </a:spcAft>
            </a:pPr>
            <a:r>
              <a:rPr lang="en-GB" sz="1400" b="0">
                <a:solidFill>
                  <a:srgbClr val="E6ECF4"/>
                </a:solidFill>
                <a:latin typeface="Consolas"/>
              </a:rPr>
              <a:t>diagnose sys sdwan health-check
diagnose sys sdwan service
get router info routing-table details &lt;destination&gt;
diagnose sys session filter dst &lt;destination&gt;
diagnose sys session list</a:t>
            </a:r>
          </a:p>
        </p:txBody>
      </p:sp>
      <p:sp>
        <p:nvSpPr>
          <p:cNvPr id="13" name="TextBox 12"/>
          <p:cNvSpPr txBox="1">
            <a:spLocks/>
          </p:cNvSpPr>
          <p:nvPr/>
        </p:nvSpPr>
        <p:spPr>
          <a:xfrm>
            <a:off x="7754112" y="1719072"/>
            <a:ext cx="3154680" cy="256032"/>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READ THE OUTPUT</a:t>
            </a:r>
          </a:p>
        </p:txBody>
      </p:sp>
      <p:sp>
        <p:nvSpPr>
          <p:cNvPr id="14" name="TextBox 13"/>
          <p:cNvSpPr txBox="1">
            <a:spLocks/>
          </p:cNvSpPr>
          <p:nvPr/>
        </p:nvSpPr>
        <p:spPr>
          <a:xfrm>
            <a:off x="7754112" y="2121408"/>
            <a:ext cx="3383280" cy="2148840"/>
          </a:xfrm>
          <a:prstGeom prst="rect">
            <a:avLst/>
          </a:prstGeom>
          <a:noFill/>
        </p:spPr>
        <p:txBody>
          <a:bodyPr wrap="square" lIns="109728" tIns="73152" rIns="109728" bIns="73152" anchor="t">
            <a:spAutoFit/>
          </a:bodyPr>
          <a:lstStyle/>
          <a:p>
            <a:pPr algn="l">
              <a:lnSpc>
                <a:spcPct val="105000"/>
              </a:lnSpc>
              <a:spcAft>
                <a:spcPts val="700"/>
              </a:spcAft>
              <a:defRPr sz="1500">
                <a:solidFill>
                  <a:srgbClr val="1E2B40"/>
                </a:solidFill>
              </a:defRPr>
            </a:pPr>
            <a:r>
              <a:rPr lang="en-GB"/>
              <a:t>• Check member/health-check state</a:t>
            </a:r>
          </a:p>
          <a:p>
            <a:pPr>
              <a:lnSpc>
                <a:spcPct val="105000"/>
              </a:lnSpc>
              <a:spcAft>
                <a:spcPts val="700"/>
              </a:spcAft>
              <a:defRPr sz="1500">
                <a:solidFill>
                  <a:srgbClr val="1E2B40"/>
                </a:solidFill>
              </a:defRPr>
            </a:pPr>
            <a:r>
              <a:rPr lang="en-GB"/>
              <a:t>• Confirm rule match and priority/strategy</a:t>
            </a:r>
          </a:p>
          <a:p>
            <a:pPr>
              <a:lnSpc>
                <a:spcPct val="105000"/>
              </a:lnSpc>
              <a:spcAft>
                <a:spcPts val="700"/>
              </a:spcAft>
              <a:defRPr sz="1500">
                <a:solidFill>
                  <a:srgbClr val="1E2B40"/>
                </a:solidFill>
              </a:defRPr>
            </a:pPr>
            <a:r>
              <a:rPr lang="en-GB"/>
              <a:t>• Inspect route/policy/session chosen interface</a:t>
            </a:r>
          </a:p>
          <a:p>
            <a:pPr>
              <a:lnSpc>
                <a:spcPct val="105000"/>
              </a:lnSpc>
              <a:spcAft>
                <a:spcPts val="700"/>
              </a:spcAft>
              <a:defRPr sz="1500">
                <a:solidFill>
                  <a:srgbClr val="1E2B40"/>
                </a:solidFill>
              </a:defRPr>
            </a:pPr>
            <a:r>
              <a:rPr lang="en-GB"/>
              <a:t>• Capture packets at candidate egresses</a:t>
            </a:r>
          </a:p>
        </p:txBody>
      </p:sp>
      <p:sp>
        <p:nvSpPr>
          <p:cNvPr id="15" name="TextBox 14"/>
          <p:cNvSpPr txBox="1">
            <a:spLocks/>
          </p:cNvSpPr>
          <p:nvPr/>
        </p:nvSpPr>
        <p:spPr>
          <a:xfrm>
            <a:off x="7754112" y="4553712"/>
            <a:ext cx="201168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Safe operation</a:t>
            </a:r>
          </a:p>
        </p:txBody>
      </p:sp>
      <p:sp>
        <p:nvSpPr>
          <p:cNvPr id="16" name="TextBox 15"/>
          <p:cNvSpPr txBox="1">
            <a:spLocks/>
          </p:cNvSpPr>
          <p:nvPr/>
        </p:nvSpPr>
        <p:spPr>
          <a:xfrm>
            <a:off x="7754112" y="4882896"/>
            <a:ext cx="3401568" cy="822960"/>
          </a:xfrm>
          <a:prstGeom prst="rect">
            <a:avLst/>
          </a:prstGeom>
          <a:noFill/>
        </p:spPr>
        <p:txBody>
          <a:bodyPr wrap="square" lIns="27432" tIns="27432" rIns="27432" bIns="27432" anchor="t">
            <a:spAutoFit/>
          </a:bodyPr>
          <a:lstStyle/>
          <a:p>
            <a:pPr algn="l">
              <a:spcAft>
                <a:spcPts val="0"/>
              </a:spcAft>
            </a:pPr>
            <a:r>
              <a:rPr lang="en-GB" sz="1400" b="1">
                <a:solidFill>
                  <a:srgbClr val="233A59"/>
                </a:solidFill>
              </a:rPr>
              <a:t>Use unique test tuple and timestamp to avoid stale session confusion</a:t>
            </a:r>
          </a:p>
        </p:txBody>
      </p:sp>
      <p:sp>
        <p:nvSpPr>
          <p:cNvPr id="17" name="TextBox 16"/>
          <p:cNvSpPr txBox="1">
            <a:spLocks/>
          </p:cNvSpPr>
          <p:nvPr/>
        </p:nvSpPr>
        <p:spPr>
          <a:xfrm>
            <a:off x="502920" y="420624"/>
            <a:ext cx="10744200" cy="130805"/>
          </a:xfrm>
          <a:prstGeom prst="rect">
            <a:avLst/>
          </a:prstGeom>
          <a:noFill/>
        </p:spPr>
        <p:txBody>
          <a:bodyPr wrap="square" lIns="0" tIns="0" rIns="0" bIns="0">
            <a:spAutoFit/>
          </a:bodyPr>
          <a:lstStyle/>
          <a:p>
            <a:pPr algn="l"/>
            <a:r>
              <a:rPr lang="en-GB" sz="850" b="1">
                <a:solidFill>
                  <a:srgbClr val="687385"/>
                </a:solidFill>
              </a:rPr>
              <a:t>168 • DAY 4 • BLOCK 15 • SD-WAN &amp; Design</a:t>
            </a: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name="Slide 169">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169</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FortiAnalyzer and FortiManager solve different operational problems</a:t>
            </a:r>
          </a:p>
        </p:txBody>
      </p:sp>
      <p:sp>
        <p:nvSpPr>
          <p:cNvPr id="10" name="TextBox 9"/>
          <p:cNvSpPr txBox="1">
            <a:spLocks/>
          </p:cNvSpPr>
          <p:nvPr/>
        </p:nvSpPr>
        <p:spPr>
          <a:xfrm>
            <a:off x="658368" y="1600200"/>
            <a:ext cx="3456432" cy="292608"/>
          </a:xfrm>
          <a:prstGeom prst="rect">
            <a:avLst/>
          </a:prstGeom>
          <a:noFill/>
        </p:spPr>
        <p:txBody>
          <a:bodyPr wrap="square" lIns="27432" tIns="27432" rIns="27432" bIns="27432" anchor="t">
            <a:spAutoFit/>
          </a:bodyPr>
          <a:lstStyle/>
          <a:p>
            <a:pPr algn="l">
              <a:spcAft>
                <a:spcPts val="0"/>
              </a:spcAft>
            </a:pPr>
            <a:r>
              <a:rPr lang="en-GB" sz="1300" b="1">
                <a:solidFill>
                  <a:srgbClr val="E60012"/>
                </a:solidFill>
              </a:rPr>
              <a:t>FORTIOS</a:t>
            </a:r>
          </a:p>
        </p:txBody>
      </p:sp>
      <p:cxnSp>
        <p:nvCxnSpPr>
          <p:cNvPr id="11" name="Connector 10"/>
          <p:cNvCxnSpPr/>
          <p:nvPr/>
        </p:nvCxnSpPr>
        <p:spPr>
          <a:xfrm>
            <a:off x="658368" y="1984248"/>
            <a:ext cx="3456432" cy="0"/>
          </a:xfrm>
          <a:prstGeom prst="line">
            <a:avLst/>
          </a:prstGeom>
          <a:ln w="22860">
            <a:solidFill>
              <a:srgbClr val="E60012"/>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658368" y="2176272"/>
            <a:ext cx="3456432" cy="3337560"/>
          </a:xfrm>
          <a:prstGeom prst="rect">
            <a:avLst/>
          </a:prstGeom>
          <a:noFill/>
        </p:spPr>
        <p:txBody>
          <a:bodyPr wrap="square" lIns="109728" tIns="73152" rIns="109728" bIns="73152" anchor="t">
            <a:spAutoFit/>
          </a:bodyPr>
          <a:lstStyle/>
          <a:p>
            <a:pPr algn="l">
              <a:lnSpc>
                <a:spcPct val="105000"/>
              </a:lnSpc>
              <a:spcAft>
                <a:spcPts val="800"/>
              </a:spcAft>
              <a:defRPr sz="1600">
                <a:solidFill>
                  <a:srgbClr val="1E2B40"/>
                </a:solidFill>
              </a:defRPr>
            </a:pPr>
            <a:r>
              <a:rPr lang="en-GB"/>
              <a:t>• Local config/GUI/CLI</a:t>
            </a:r>
          </a:p>
          <a:p>
            <a:pPr>
              <a:lnSpc>
                <a:spcPct val="105000"/>
              </a:lnSpc>
              <a:spcAft>
                <a:spcPts val="800"/>
              </a:spcAft>
              <a:defRPr sz="1600">
                <a:solidFill>
                  <a:srgbClr val="1E2B40"/>
                </a:solidFill>
              </a:defRPr>
            </a:pPr>
            <a:r>
              <a:rPr lang="en-GB"/>
              <a:t>• Routing, policy, SD-WAN</a:t>
            </a:r>
          </a:p>
          <a:p>
            <a:pPr>
              <a:lnSpc>
                <a:spcPct val="105000"/>
              </a:lnSpc>
              <a:spcAft>
                <a:spcPts val="800"/>
              </a:spcAft>
              <a:defRPr sz="1600">
                <a:solidFill>
                  <a:srgbClr val="1E2B40"/>
                </a:solidFill>
              </a:defRPr>
            </a:pPr>
            <a:r>
              <a:rPr lang="en-GB"/>
              <a:t>• Local logs within capacity</a:t>
            </a:r>
          </a:p>
        </p:txBody>
      </p:sp>
      <p:sp>
        <p:nvSpPr>
          <p:cNvPr id="13" name="TextBox 12"/>
          <p:cNvSpPr txBox="1"/>
          <p:nvPr/>
        </p:nvSpPr>
        <p:spPr>
          <a:xfrm>
            <a:off x="4370831" y="1600200"/>
            <a:ext cx="3456432" cy="292608"/>
          </a:xfrm>
          <a:prstGeom prst="rect">
            <a:avLst/>
          </a:prstGeom>
          <a:noFill/>
        </p:spPr>
        <p:txBody>
          <a:bodyPr wrap="square" lIns="27432" tIns="27432" rIns="27432" bIns="27432" anchor="t">
            <a:spAutoFit/>
          </a:bodyPr>
          <a:lstStyle/>
          <a:p>
            <a:pPr algn="l">
              <a:spcAft>
                <a:spcPts val="0"/>
              </a:spcAft>
            </a:pPr>
            <a:r>
              <a:rPr sz="1300" b="1">
                <a:solidFill>
                  <a:srgbClr val="E60012"/>
                </a:solidFill>
              </a:rPr>
              <a:t>FORTIANALYZER</a:t>
            </a:r>
          </a:p>
        </p:txBody>
      </p:sp>
      <p:cxnSp>
        <p:nvCxnSpPr>
          <p:cNvPr id="14" name="Connector 13"/>
          <p:cNvCxnSpPr/>
          <p:nvPr/>
        </p:nvCxnSpPr>
        <p:spPr>
          <a:xfrm>
            <a:off x="4370831" y="1984248"/>
            <a:ext cx="3456432" cy="0"/>
          </a:xfrm>
          <a:prstGeom prst="line">
            <a:avLst/>
          </a:prstGeom>
          <a:ln w="22860">
            <a:solidFill>
              <a:srgbClr val="E60012"/>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370831" y="2176272"/>
            <a:ext cx="3456432" cy="3337560"/>
          </a:xfrm>
          <a:prstGeom prst="rect">
            <a:avLst/>
          </a:prstGeom>
          <a:noFill/>
        </p:spPr>
        <p:txBody>
          <a:bodyPr wrap="square" lIns="109728" tIns="73152" rIns="109728" bIns="73152" anchor="t">
            <a:spAutoFit/>
          </a:bodyPr>
          <a:lstStyle/>
          <a:p>
            <a:pPr algn="l">
              <a:lnSpc>
                <a:spcPct val="105000"/>
              </a:lnSpc>
              <a:spcAft>
                <a:spcPts val="800"/>
              </a:spcAft>
              <a:defRPr sz="1600">
                <a:solidFill>
                  <a:srgbClr val="1E2B40"/>
                </a:solidFill>
              </a:defRPr>
            </a:pPr>
            <a:r>
              <a:t>• Central logs/analytics</a:t>
            </a:r>
          </a:p>
          <a:p>
            <a:pPr>
              <a:lnSpc>
                <a:spcPct val="105000"/>
              </a:lnSpc>
              <a:spcAft>
                <a:spcPts val="800"/>
              </a:spcAft>
              <a:defRPr sz="1600">
                <a:solidFill>
                  <a:srgbClr val="1E2B40"/>
                </a:solidFill>
              </a:defRPr>
            </a:pPr>
            <a:r>
              <a:t>• Reports/incidents</a:t>
            </a:r>
          </a:p>
          <a:p>
            <a:pPr>
              <a:lnSpc>
                <a:spcPct val="105000"/>
              </a:lnSpc>
              <a:spcAft>
                <a:spcPts val="800"/>
              </a:spcAft>
              <a:defRPr sz="1600">
                <a:solidFill>
                  <a:srgbClr val="1E2B40"/>
                </a:solidFill>
              </a:defRPr>
            </a:pPr>
            <a:r>
              <a:t>• Retention architecture</a:t>
            </a:r>
          </a:p>
        </p:txBody>
      </p:sp>
      <p:sp>
        <p:nvSpPr>
          <p:cNvPr id="16" name="TextBox 15"/>
          <p:cNvSpPr txBox="1"/>
          <p:nvPr/>
        </p:nvSpPr>
        <p:spPr>
          <a:xfrm>
            <a:off x="8083296" y="1600200"/>
            <a:ext cx="3456432" cy="292608"/>
          </a:xfrm>
          <a:prstGeom prst="rect">
            <a:avLst/>
          </a:prstGeom>
          <a:noFill/>
        </p:spPr>
        <p:txBody>
          <a:bodyPr wrap="square" lIns="27432" tIns="27432" rIns="27432" bIns="27432" anchor="t">
            <a:spAutoFit/>
          </a:bodyPr>
          <a:lstStyle/>
          <a:p>
            <a:pPr algn="l">
              <a:spcAft>
                <a:spcPts val="0"/>
              </a:spcAft>
            </a:pPr>
            <a:r>
              <a:rPr sz="1300" b="1">
                <a:solidFill>
                  <a:srgbClr val="E60012"/>
                </a:solidFill>
              </a:rPr>
              <a:t>FORTIMANAGER</a:t>
            </a:r>
          </a:p>
        </p:txBody>
      </p:sp>
      <p:cxnSp>
        <p:nvCxnSpPr>
          <p:cNvPr id="17" name="Connector 16"/>
          <p:cNvCxnSpPr/>
          <p:nvPr/>
        </p:nvCxnSpPr>
        <p:spPr>
          <a:xfrm>
            <a:off x="8083296" y="1984248"/>
            <a:ext cx="3456432" cy="0"/>
          </a:xfrm>
          <a:prstGeom prst="line">
            <a:avLst/>
          </a:prstGeom>
          <a:ln w="22860">
            <a:solidFill>
              <a:srgbClr val="E60012"/>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083296" y="2176272"/>
            <a:ext cx="3456432" cy="3337560"/>
          </a:xfrm>
          <a:prstGeom prst="rect">
            <a:avLst/>
          </a:prstGeom>
          <a:noFill/>
        </p:spPr>
        <p:txBody>
          <a:bodyPr wrap="square" lIns="109728" tIns="73152" rIns="109728" bIns="73152" anchor="t">
            <a:spAutoFit/>
          </a:bodyPr>
          <a:lstStyle/>
          <a:p>
            <a:pPr algn="l">
              <a:lnSpc>
                <a:spcPct val="105000"/>
              </a:lnSpc>
              <a:spcAft>
                <a:spcPts val="800"/>
              </a:spcAft>
              <a:defRPr sz="1600">
                <a:solidFill>
                  <a:srgbClr val="1E2B40"/>
                </a:solidFill>
              </a:defRPr>
            </a:pPr>
            <a:r>
              <a:t>• Central config/policy</a:t>
            </a:r>
          </a:p>
          <a:p>
            <a:pPr>
              <a:lnSpc>
                <a:spcPct val="105000"/>
              </a:lnSpc>
              <a:spcAft>
                <a:spcPts val="800"/>
              </a:spcAft>
              <a:defRPr sz="1600">
                <a:solidFill>
                  <a:srgbClr val="1E2B40"/>
                </a:solidFill>
              </a:defRPr>
            </a:pPr>
            <a:r>
              <a:t>• Templates/ADOM workflow</a:t>
            </a:r>
          </a:p>
          <a:p>
            <a:pPr>
              <a:lnSpc>
                <a:spcPct val="105000"/>
              </a:lnSpc>
              <a:spcAft>
                <a:spcPts val="800"/>
              </a:spcAft>
              <a:defRPr sz="1600">
                <a:solidFill>
                  <a:srgbClr val="1E2B40"/>
                </a:solidFill>
              </a:defRPr>
            </a:pPr>
            <a:r>
              <a:t>• Controlled deployment</a:t>
            </a:r>
          </a:p>
        </p:txBody>
      </p:sp>
      <p:sp>
        <p:nvSpPr>
          <p:cNvPr id="19" name="TextBox 18"/>
          <p:cNvSpPr txBox="1"/>
          <p:nvPr/>
        </p:nvSpPr>
        <p:spPr>
          <a:xfrm>
            <a:off x="658368" y="5724144"/>
            <a:ext cx="1234440" cy="224677"/>
          </a:xfrm>
          <a:prstGeom prst="rect">
            <a:avLst/>
          </a:prstGeom>
          <a:noFill/>
        </p:spPr>
        <p:txBody>
          <a:bodyPr wrap="square" lIns="27432" tIns="27432" rIns="27432" bIns="27432" anchor="t">
            <a:spAutoFit/>
          </a:bodyPr>
          <a:lstStyle/>
          <a:p>
            <a:pPr algn="l">
              <a:spcAft>
                <a:spcPts val="0"/>
              </a:spcAft>
            </a:pPr>
            <a:r>
              <a:rPr lang="en-GB" sz="1100" b="1">
                <a:solidFill>
                  <a:srgbClr val="233A59"/>
                </a:solidFill>
              </a:rPr>
              <a:t>KEY DISTINCTION</a:t>
            </a:r>
            <a:endParaRPr sz="1100" b="1">
              <a:solidFill>
                <a:srgbClr val="233A59"/>
              </a:solidFill>
            </a:endParaRPr>
          </a:p>
        </p:txBody>
      </p:sp>
      <p:sp>
        <p:nvSpPr>
          <p:cNvPr id="20" name="TextBox 19"/>
          <p:cNvSpPr txBox="1"/>
          <p:nvPr/>
        </p:nvSpPr>
        <p:spPr>
          <a:xfrm>
            <a:off x="1920240" y="5687568"/>
            <a:ext cx="9235440" cy="270843"/>
          </a:xfrm>
          <a:prstGeom prst="rect">
            <a:avLst/>
          </a:prstGeom>
          <a:noFill/>
        </p:spPr>
        <p:txBody>
          <a:bodyPr wrap="square" lIns="27432" tIns="27432" rIns="27432" bIns="27432" anchor="t">
            <a:spAutoFit/>
          </a:bodyPr>
          <a:lstStyle/>
          <a:p>
            <a:pPr algn="l">
              <a:spcAft>
                <a:spcPts val="0"/>
              </a:spcAft>
            </a:pPr>
            <a:r>
              <a:rPr lang="en-GB" sz="1400" b="1">
                <a:solidFill>
                  <a:srgbClr val="233A59"/>
                </a:solidFill>
              </a:rPr>
              <a:t>Architecture and operational positioning only; no FortiAnalyzer or FortiManager appliance is in the base lab</a:t>
            </a:r>
            <a:endParaRPr sz="1400" b="1">
              <a:solidFill>
                <a:srgbClr val="233A59"/>
              </a:solidFill>
            </a:endParaRPr>
          </a:p>
        </p:txBody>
      </p:sp>
      <p:sp>
        <p:nvSpPr>
          <p:cNvPr id="21" name="TextBox 20"/>
          <p:cNvSpPr txBox="1"/>
          <p:nvPr/>
        </p:nvSpPr>
        <p:spPr>
          <a:xfrm>
            <a:off x="502920" y="420624"/>
            <a:ext cx="10744200" cy="130805"/>
          </a:xfrm>
          <a:prstGeom prst="rect">
            <a:avLst/>
          </a:prstGeom>
          <a:noFill/>
        </p:spPr>
        <p:txBody>
          <a:bodyPr wrap="square" lIns="0" tIns="0" rIns="0" bIns="0">
            <a:spAutoFit/>
          </a:bodyPr>
          <a:lstStyle/>
          <a:p>
            <a:pPr algn="l"/>
            <a:r>
              <a:rPr lang="en-HU" sz="850" b="1">
                <a:solidFill>
                  <a:srgbClr val="687385"/>
                </a:solidFill>
              </a:rPr>
              <a:t>169</a:t>
            </a:r>
            <a:r>
              <a:rPr sz="850" b="1">
                <a:solidFill>
                  <a:srgbClr val="687385"/>
                </a:solidFill>
              </a:rPr>
              <a:t> • DAY 4 • BLOCK 15 • SD-WAN &amp; Design</a:t>
            </a: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name="Slide 170">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170</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Licensing boundaries are a validation task, not a memory test</a:t>
            </a:r>
          </a:p>
        </p:txBody>
      </p:sp>
      <p:sp>
        <p:nvSpPr>
          <p:cNvPr id="10" name="TextBox 9"/>
          <p:cNvSpPr txBox="1">
            <a:spLocks/>
          </p:cNvSpPr>
          <p:nvPr/>
        </p:nvSpPr>
        <p:spPr>
          <a:xfrm>
            <a:off x="658368" y="1554480"/>
            <a:ext cx="6583680" cy="4389120"/>
          </a:xfrm>
          <a:prstGeom prst="rect">
            <a:avLst/>
          </a:prstGeom>
          <a:noFill/>
        </p:spPr>
        <p:txBody>
          <a:bodyPr wrap="square" lIns="109728" tIns="73152" rIns="109728" bIns="73152" anchor="t">
            <a:spAutoFit/>
          </a:bodyPr>
          <a:lstStyle/>
          <a:p>
            <a:pPr algn="l">
              <a:lnSpc>
                <a:spcPct val="105000"/>
              </a:lnSpc>
              <a:spcAft>
                <a:spcPts val="800"/>
              </a:spcAft>
              <a:defRPr sz="1700">
                <a:solidFill>
                  <a:srgbClr val="1E2B40"/>
                </a:solidFill>
              </a:defRPr>
            </a:pPr>
            <a:r>
              <a:rPr lang="en-GB"/>
              <a:t>• Base FortiOS feature availability varies by model/release</a:t>
            </a:r>
          </a:p>
          <a:p>
            <a:pPr>
              <a:lnSpc>
                <a:spcPct val="105000"/>
              </a:lnSpc>
              <a:spcAft>
                <a:spcPts val="800"/>
              </a:spcAft>
              <a:defRPr sz="1700">
                <a:solidFill>
                  <a:srgbClr val="1E2B40"/>
                </a:solidFill>
              </a:defRPr>
            </a:pPr>
            <a:r>
              <a:rPr lang="en-GB"/>
              <a:t>• FortiGuard services require relevant subscriptions and connectivity</a:t>
            </a:r>
          </a:p>
          <a:p>
            <a:pPr>
              <a:lnSpc>
                <a:spcPct val="105000"/>
              </a:lnSpc>
              <a:spcAft>
                <a:spcPts val="800"/>
              </a:spcAft>
              <a:defRPr sz="1700">
                <a:solidFill>
                  <a:srgbClr val="1E2B40"/>
                </a:solidFill>
              </a:defRPr>
            </a:pPr>
            <a:r>
              <a:rPr lang="en-GB"/>
              <a:t>• Manager/analyzer cloud/on-prem offerings have separate sizing and licensing</a:t>
            </a:r>
          </a:p>
          <a:p>
            <a:pPr>
              <a:lnSpc>
                <a:spcPct val="105000"/>
              </a:lnSpc>
              <a:spcAft>
                <a:spcPts val="800"/>
              </a:spcAft>
              <a:defRPr sz="1700">
                <a:solidFill>
                  <a:srgbClr val="1E2B40"/>
                </a:solidFill>
              </a:defRPr>
            </a:pPr>
            <a:r>
              <a:rPr lang="en-GB"/>
              <a:t>• Avoid promising retention, device counts or service entitlement without current documentation</a:t>
            </a:r>
          </a:p>
        </p:txBody>
      </p:sp>
      <p:cxnSp>
        <p:nvCxnSpPr>
          <p:cNvPr id="11" name="Connector 10"/>
          <p:cNvCxnSpPr/>
          <p:nvPr/>
        </p:nvCxnSpPr>
        <p:spPr>
          <a:xfrm>
            <a:off x="7452360" y="1600200"/>
            <a:ext cx="0" cy="434340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7790688" y="1627632"/>
            <a:ext cx="342900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ILLUSTRATIVE SCENARIO</a:t>
            </a:r>
          </a:p>
        </p:txBody>
      </p:sp>
      <p:sp>
        <p:nvSpPr>
          <p:cNvPr id="13" name="TextBox 12"/>
          <p:cNvSpPr txBox="1">
            <a:spLocks/>
          </p:cNvSpPr>
          <p:nvPr/>
        </p:nvSpPr>
        <p:spPr>
          <a:xfrm>
            <a:off x="7790688" y="2057400"/>
            <a:ext cx="3337560" cy="1417320"/>
          </a:xfrm>
          <a:prstGeom prst="rect">
            <a:avLst/>
          </a:prstGeom>
          <a:noFill/>
        </p:spPr>
        <p:txBody>
          <a:bodyPr wrap="square" lIns="27432" tIns="27432" rIns="27432" bIns="27432" anchor="t">
            <a:spAutoFit/>
          </a:bodyPr>
          <a:lstStyle/>
          <a:p>
            <a:pPr algn="l">
              <a:spcAft>
                <a:spcPts val="0"/>
              </a:spcAft>
            </a:pPr>
            <a:r>
              <a:rPr lang="en-GB" sz="1700" b="1">
                <a:solidFill>
                  <a:srgbClr val="233A59"/>
                </a:solidFill>
              </a:rPr>
              <a:t>Mark every design dependency as built-in, subscription, external platform or instructor-confirmed</a:t>
            </a:r>
          </a:p>
        </p:txBody>
      </p:sp>
      <p:sp>
        <p:nvSpPr>
          <p:cNvPr id="14" name="TextBox 13"/>
          <p:cNvSpPr txBox="1">
            <a:spLocks/>
          </p:cNvSpPr>
          <p:nvPr/>
        </p:nvSpPr>
        <p:spPr>
          <a:xfrm>
            <a:off x="7790688" y="3822191"/>
            <a:ext cx="18288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EXPECTED RESULT</a:t>
            </a:r>
          </a:p>
        </p:txBody>
      </p:sp>
      <p:sp>
        <p:nvSpPr>
          <p:cNvPr id="15" name="TextBox 14"/>
          <p:cNvSpPr txBox="1">
            <a:spLocks/>
          </p:cNvSpPr>
          <p:nvPr/>
        </p:nvSpPr>
        <p:spPr>
          <a:xfrm>
            <a:off x="7790688" y="4187952"/>
            <a:ext cx="3337560" cy="1325880"/>
          </a:xfrm>
          <a:prstGeom prst="rect">
            <a:avLst/>
          </a:prstGeom>
          <a:noFill/>
        </p:spPr>
        <p:txBody>
          <a:bodyPr wrap="square" lIns="27432" tIns="27432" rIns="27432" bIns="27432" anchor="t">
            <a:spAutoFit/>
          </a:bodyPr>
          <a:lstStyle/>
          <a:p>
            <a:pPr algn="l">
              <a:spcAft>
                <a:spcPts val="0"/>
              </a:spcAft>
            </a:pPr>
            <a:r>
              <a:rPr lang="en-GB" sz="1500" b="0">
                <a:solidFill>
                  <a:srgbClr val="1E2B40"/>
                </a:solidFill>
              </a:rPr>
              <a:t>Create a validation checklist rather than a price/entitlement claim.</a:t>
            </a:r>
          </a:p>
        </p:txBody>
      </p:sp>
      <p:sp>
        <p:nvSpPr>
          <p:cNvPr id="16" name="TextBox 15"/>
          <p:cNvSpPr txBox="1">
            <a:spLocks/>
          </p:cNvSpPr>
          <p:nvPr/>
        </p:nvSpPr>
        <p:spPr>
          <a:xfrm>
            <a:off x="7790688" y="5596128"/>
            <a:ext cx="1920240" cy="201168"/>
          </a:xfrm>
          <a:prstGeom prst="rect">
            <a:avLst/>
          </a:prstGeom>
          <a:noFill/>
        </p:spPr>
        <p:txBody>
          <a:bodyPr wrap="square" lIns="27432" tIns="27432" rIns="27432" bIns="27432" anchor="t">
            <a:spAutoFit/>
          </a:bodyPr>
          <a:lstStyle/>
          <a:p>
            <a:pPr algn="l">
              <a:spcAft>
                <a:spcPts val="0"/>
              </a:spcAft>
            </a:pPr>
            <a:r>
              <a:rPr lang="en-GB" sz="1000" b="1">
                <a:solidFill>
                  <a:srgbClr val="687385"/>
                </a:solidFill>
              </a:rPr>
              <a:t>Expected observation</a:t>
            </a:r>
          </a:p>
        </p:txBody>
      </p:sp>
      <p:sp>
        <p:nvSpPr>
          <p:cNvPr id="17" name="TextBox 16"/>
          <p:cNvSpPr txBox="1">
            <a:spLocks/>
          </p:cNvSpPr>
          <p:nvPr/>
        </p:nvSpPr>
        <p:spPr>
          <a:xfrm>
            <a:off x="9509760" y="5577840"/>
            <a:ext cx="1691640" cy="824841"/>
          </a:xfrm>
          <a:prstGeom prst="rect">
            <a:avLst/>
          </a:prstGeom>
          <a:noFill/>
        </p:spPr>
        <p:txBody>
          <a:bodyPr wrap="square" lIns="27432" tIns="27432" rIns="27432" bIns="27432" anchor="t">
            <a:spAutoFit/>
          </a:bodyPr>
          <a:lstStyle/>
          <a:p>
            <a:pPr algn="r">
              <a:spcAft>
                <a:spcPts val="0"/>
              </a:spcAft>
            </a:pPr>
            <a:r>
              <a:rPr lang="en-GB" sz="1000" b="0">
                <a:solidFill>
                  <a:srgbClr val="687385"/>
                </a:solidFill>
              </a:rPr>
              <a:t>The SD-WAN rule selects the member that meets the stated SLA, and the session egress matches that member.</a:t>
            </a:r>
          </a:p>
        </p:txBody>
      </p:sp>
      <p:sp>
        <p:nvSpPr>
          <p:cNvPr id="18" name="TextBox 17"/>
          <p:cNvSpPr txBox="1">
            <a:spLocks/>
          </p:cNvSpPr>
          <p:nvPr/>
        </p:nvSpPr>
        <p:spPr>
          <a:xfrm>
            <a:off x="502920" y="420624"/>
            <a:ext cx="10744200" cy="130805"/>
          </a:xfrm>
          <a:prstGeom prst="rect">
            <a:avLst/>
          </a:prstGeom>
          <a:noFill/>
        </p:spPr>
        <p:txBody>
          <a:bodyPr wrap="square" lIns="0" tIns="0" rIns="0" bIns="0">
            <a:spAutoFit/>
          </a:bodyPr>
          <a:lstStyle/>
          <a:p>
            <a:pPr algn="l"/>
            <a:r>
              <a:rPr lang="en-GB" sz="850" b="1">
                <a:solidFill>
                  <a:srgbClr val="687385"/>
                </a:solidFill>
              </a:rPr>
              <a:t>170 • DAY 4 • BLOCK 15 • SD-WAN &amp; Design</a:t>
            </a:r>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name="Slide 171">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p:nvPr/>
        </p:nvSpPr>
        <p:spPr>
          <a:xfrm>
            <a:off x="502920" y="411480"/>
            <a:ext cx="548640" cy="189283"/>
          </a:xfrm>
          <a:prstGeom prst="rect">
            <a:avLst/>
          </a:prstGeom>
          <a:noFill/>
        </p:spPr>
        <p:txBody>
          <a:bodyPr wrap="square" lIns="36576" tIns="36576" rIns="36576" bIns="36576" anchor="t">
            <a:spAutoFit/>
          </a:bodyPr>
          <a:lstStyle/>
          <a:p>
            <a:pPr algn="l">
              <a:spcAft>
                <a:spcPts val="0"/>
              </a:spcAft>
            </a:pPr>
            <a:r>
              <a:rPr lang="en-HU" sz="750" b="1">
                <a:solidFill>
                  <a:srgbClr val="687385"/>
                </a:solidFill>
              </a:rPr>
              <a:t>171</a:t>
            </a:r>
            <a:endParaRPr sz="750" b="1">
              <a:solidFill>
                <a:srgbClr val="687385"/>
              </a:solidFill>
            </a:endParaRPr>
          </a:p>
        </p:txBody>
      </p:sp>
      <p:sp>
        <p:nvSpPr>
          <p:cNvPr id="4" name="TextBox 3"/>
          <p:cNvSpPr txBox="1"/>
          <p:nvPr/>
        </p:nvSpPr>
        <p:spPr>
          <a:xfrm>
            <a:off x="502920" y="621792"/>
            <a:ext cx="11109960" cy="548640"/>
          </a:xfrm>
          <a:prstGeom prst="rect">
            <a:avLst/>
          </a:prstGeom>
          <a:noFill/>
        </p:spPr>
        <p:txBody>
          <a:bodyPr wrap="square" lIns="36576" tIns="36576" rIns="36576" bIns="36576" anchor="t">
            <a:spAutoFit/>
          </a:bodyPr>
          <a:lstStyle/>
          <a:p>
            <a:pPr algn="l">
              <a:spcAft>
                <a:spcPts val="0"/>
              </a:spcAft>
            </a:pPr>
            <a:r>
              <a:rPr sz="2600" b="1">
                <a:solidFill>
                  <a:srgbClr val="1E2B40"/>
                </a:solidFill>
              </a:rPr>
              <a:t>Confirm SD-WAN selection in SLA state, rule match and session egress</a:t>
            </a:r>
          </a:p>
        </p:txBody>
      </p:sp>
      <p:sp>
        <p:nvSpPr>
          <p:cNvPr id="5" name="TextBox 4"/>
          <p:cNvSpPr txBox="1"/>
          <p:nvPr/>
        </p:nvSpPr>
        <p:spPr>
          <a:xfrm>
            <a:off x="521207" y="1143000"/>
            <a:ext cx="10789920" cy="243143"/>
          </a:xfrm>
          <a:prstGeom prst="rect">
            <a:avLst/>
          </a:prstGeom>
          <a:noFill/>
        </p:spPr>
        <p:txBody>
          <a:bodyPr wrap="square" lIns="36576" tIns="36576" rIns="36576" bIns="36576" anchor="t">
            <a:spAutoFit/>
          </a:bodyPr>
          <a:lstStyle/>
          <a:p>
            <a:pPr algn="l">
              <a:spcAft>
                <a:spcPts val="0"/>
              </a:spcAft>
            </a:pPr>
            <a:r>
              <a:rPr lang="en-GB" sz="1100" b="0">
                <a:solidFill>
                  <a:srgbClr val="687385"/>
                </a:solidFill>
              </a:rPr>
              <a:t>Conceptual optional extension — the second controllable path is not part of the base lab</a:t>
            </a:r>
            <a:endParaRPr sz="1100" b="0">
              <a:solidFill>
                <a:srgbClr val="687385"/>
              </a:solidFill>
            </a:endParaRPr>
          </a:p>
        </p:txBody>
      </p:sp>
      <p:cxnSp>
        <p:nvCxnSpPr>
          <p:cNvPr id="6" name="Connector 5"/>
          <p:cNvCxnSpPr/>
          <p:nvPr/>
        </p:nvCxnSpPr>
        <p:spPr>
          <a:xfrm>
            <a:off x="502920" y="6473952"/>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7" name="TextBox 6"/>
          <p:cNvSpPr txBox="1">
            <a:spLocks/>
          </p:cNvSpPr>
          <p:nvPr/>
        </p:nvSpPr>
        <p:spPr>
          <a:xfrm>
            <a:off x="11109960" y="6537960"/>
            <a:ext cx="502920" cy="189283"/>
          </a:xfrm>
          <a:prstGeom prst="rect">
            <a:avLst/>
          </a:prstGeom>
          <a:noFill/>
        </p:spPr>
        <p:txBody>
          <a:bodyPr wrap="square" lIns="36576" tIns="36576" rIns="36576" bIns="36576" anchor="t">
            <a:spAutoFit/>
          </a:bodyPr>
          <a:lstStyle/>
          <a:p>
            <a:pPr algn="r">
              <a:spcAft>
                <a:spcPts val="0"/>
              </a:spcAft>
            </a:pPr>
            <a:r>
              <a:rPr lang="en-HU" sz="750" b="0">
                <a:solidFill>
                  <a:srgbClr val="687385"/>
                </a:solidFill>
              </a:rPr>
              <a:t>171</a:t>
            </a:r>
          </a:p>
        </p:txBody>
      </p:sp>
      <p:sp>
        <p:nvSpPr>
          <p:cNvPr id="8" name="TextBox 7"/>
          <p:cNvSpPr txBox="1">
            <a:spLocks/>
          </p:cNvSpPr>
          <p:nvPr/>
        </p:nvSpPr>
        <p:spPr>
          <a:xfrm>
            <a:off x="731520" y="1600200"/>
            <a:ext cx="2011680" cy="243143"/>
          </a:xfrm>
          <a:prstGeom prst="rect">
            <a:avLst/>
          </a:prstGeom>
          <a:noFill/>
        </p:spPr>
        <p:txBody>
          <a:bodyPr wrap="square" lIns="36576" tIns="36576" rIns="36576" bIns="36576" anchor="t">
            <a:spAutoFit/>
          </a:bodyPr>
          <a:lstStyle/>
          <a:p>
            <a:pPr algn="l">
              <a:spcAft>
                <a:spcPts val="0"/>
              </a:spcAft>
            </a:pPr>
            <a:r>
              <a:rPr lang="en-GB" sz="1100" b="1">
                <a:solidFill>
                  <a:srgbClr val="E60012"/>
                </a:solidFill>
              </a:rPr>
              <a:t>1  HEALTH CHECK</a:t>
            </a:r>
          </a:p>
        </p:txBody>
      </p:sp>
      <p:sp>
        <p:nvSpPr>
          <p:cNvPr id="9" name="TextBox 8"/>
          <p:cNvSpPr txBox="1">
            <a:spLocks/>
          </p:cNvSpPr>
          <p:nvPr/>
        </p:nvSpPr>
        <p:spPr>
          <a:xfrm>
            <a:off x="731520" y="1920240"/>
            <a:ext cx="2286000" cy="997196"/>
          </a:xfrm>
          <a:prstGeom prst="rect">
            <a:avLst/>
          </a:prstGeom>
          <a:noFill/>
        </p:spPr>
        <p:txBody>
          <a:bodyPr wrap="square" lIns="36576" tIns="36576" rIns="36576" bIns="36576" anchor="t">
            <a:spAutoFit/>
          </a:bodyPr>
          <a:lstStyle/>
          <a:p>
            <a:pPr algn="l">
              <a:spcAft>
                <a:spcPts val="0"/>
              </a:spcAft>
            </a:pPr>
            <a:r>
              <a:rPr lang="en-GB" sz="1500" b="1">
                <a:solidFill>
                  <a:srgbClr val="233A59"/>
                </a:solidFill>
              </a:rPr>
              <a:t>Probe the service-relevant target.
Record latency, jitter and loss.</a:t>
            </a:r>
          </a:p>
        </p:txBody>
      </p:sp>
      <p:sp>
        <p:nvSpPr>
          <p:cNvPr id="10" name="Right Arrow 9"/>
          <p:cNvSpPr/>
          <p:nvPr/>
        </p:nvSpPr>
        <p:spPr>
          <a:xfrm>
            <a:off x="3063240" y="2212848"/>
            <a:ext cx="502920" cy="182880"/>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1" name="TextBox 10"/>
          <p:cNvSpPr txBox="1">
            <a:spLocks/>
          </p:cNvSpPr>
          <p:nvPr/>
        </p:nvSpPr>
        <p:spPr>
          <a:xfrm>
            <a:off x="3657600" y="1600200"/>
            <a:ext cx="1828800" cy="243143"/>
          </a:xfrm>
          <a:prstGeom prst="rect">
            <a:avLst/>
          </a:prstGeom>
          <a:noFill/>
        </p:spPr>
        <p:txBody>
          <a:bodyPr wrap="square" lIns="36576" tIns="36576" rIns="36576" bIns="36576" anchor="t">
            <a:spAutoFit/>
          </a:bodyPr>
          <a:lstStyle/>
          <a:p>
            <a:pPr algn="l">
              <a:spcAft>
                <a:spcPts val="0"/>
              </a:spcAft>
            </a:pPr>
            <a:r>
              <a:rPr lang="en-GB" sz="1100" b="1">
                <a:solidFill>
                  <a:srgbClr val="E60012"/>
                </a:solidFill>
              </a:rPr>
              <a:t>2  SLA STATE</a:t>
            </a:r>
          </a:p>
        </p:txBody>
      </p:sp>
      <p:sp>
        <p:nvSpPr>
          <p:cNvPr id="12" name="TextBox 11"/>
          <p:cNvSpPr txBox="1"/>
          <p:nvPr/>
        </p:nvSpPr>
        <p:spPr>
          <a:xfrm>
            <a:off x="3657600" y="1920240"/>
            <a:ext cx="2011680" cy="685800"/>
          </a:xfrm>
          <a:prstGeom prst="rect">
            <a:avLst/>
          </a:prstGeom>
          <a:noFill/>
        </p:spPr>
        <p:txBody>
          <a:bodyPr wrap="square" lIns="36576" tIns="36576" rIns="36576" bIns="36576" anchor="t">
            <a:spAutoFit/>
          </a:bodyPr>
          <a:lstStyle/>
          <a:p>
            <a:pPr algn="l">
              <a:spcAft>
                <a:spcPts val="0"/>
              </a:spcAft>
            </a:pPr>
            <a:r>
              <a:rPr sz="1600" b="1">
                <a:solidFill>
                  <a:srgbClr val="233A59"/>
                </a:solidFill>
              </a:rPr>
              <a:t>ISP-A: out of SLA
ISP-B: in SLA</a:t>
            </a:r>
          </a:p>
        </p:txBody>
      </p:sp>
      <p:sp>
        <p:nvSpPr>
          <p:cNvPr id="13" name="Right Arrow 12"/>
          <p:cNvSpPr/>
          <p:nvPr/>
        </p:nvSpPr>
        <p:spPr>
          <a:xfrm>
            <a:off x="5806440" y="2212848"/>
            <a:ext cx="502920" cy="182880"/>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4" name="TextBox 13"/>
          <p:cNvSpPr txBox="1">
            <a:spLocks/>
          </p:cNvSpPr>
          <p:nvPr/>
        </p:nvSpPr>
        <p:spPr>
          <a:xfrm>
            <a:off x="6400800" y="1600200"/>
            <a:ext cx="1828800" cy="243143"/>
          </a:xfrm>
          <a:prstGeom prst="rect">
            <a:avLst/>
          </a:prstGeom>
          <a:noFill/>
        </p:spPr>
        <p:txBody>
          <a:bodyPr wrap="square" lIns="36576" tIns="36576" rIns="36576" bIns="36576" anchor="t">
            <a:spAutoFit/>
          </a:bodyPr>
          <a:lstStyle/>
          <a:p>
            <a:pPr algn="l">
              <a:spcAft>
                <a:spcPts val="0"/>
              </a:spcAft>
            </a:pPr>
            <a:r>
              <a:rPr lang="en-GB" sz="1100" b="1">
                <a:solidFill>
                  <a:srgbClr val="E60012"/>
                </a:solidFill>
              </a:rPr>
              <a:t>3  RULE MATCH</a:t>
            </a:r>
          </a:p>
        </p:txBody>
      </p:sp>
      <p:sp>
        <p:nvSpPr>
          <p:cNvPr id="15" name="TextBox 14"/>
          <p:cNvSpPr txBox="1"/>
          <p:nvPr/>
        </p:nvSpPr>
        <p:spPr>
          <a:xfrm>
            <a:off x="6400800" y="1920240"/>
            <a:ext cx="2011680" cy="685800"/>
          </a:xfrm>
          <a:prstGeom prst="rect">
            <a:avLst/>
          </a:prstGeom>
          <a:noFill/>
        </p:spPr>
        <p:txBody>
          <a:bodyPr wrap="square" lIns="36576" tIns="36576" rIns="36576" bIns="36576" anchor="t">
            <a:spAutoFit/>
          </a:bodyPr>
          <a:lstStyle/>
          <a:p>
            <a:pPr algn="l">
              <a:spcAft>
                <a:spcPts val="0"/>
              </a:spcAft>
            </a:pPr>
            <a:r>
              <a:rPr sz="1600" b="1">
                <a:solidFill>
                  <a:srgbClr val="233A59"/>
                </a:solidFill>
              </a:rPr>
              <a:t>Voice rule removes A
and chooses B</a:t>
            </a:r>
          </a:p>
        </p:txBody>
      </p:sp>
      <p:sp>
        <p:nvSpPr>
          <p:cNvPr id="16" name="Right Arrow 15"/>
          <p:cNvSpPr/>
          <p:nvPr/>
        </p:nvSpPr>
        <p:spPr>
          <a:xfrm>
            <a:off x="8549640" y="2212848"/>
            <a:ext cx="502920" cy="182880"/>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7" name="TextBox 16"/>
          <p:cNvSpPr txBox="1">
            <a:spLocks/>
          </p:cNvSpPr>
          <p:nvPr/>
        </p:nvSpPr>
        <p:spPr>
          <a:xfrm>
            <a:off x="9144000" y="1600200"/>
            <a:ext cx="1828800" cy="243143"/>
          </a:xfrm>
          <a:prstGeom prst="rect">
            <a:avLst/>
          </a:prstGeom>
          <a:noFill/>
        </p:spPr>
        <p:txBody>
          <a:bodyPr wrap="square" lIns="36576" tIns="36576" rIns="36576" bIns="36576" anchor="t">
            <a:spAutoFit/>
          </a:bodyPr>
          <a:lstStyle/>
          <a:p>
            <a:pPr algn="l">
              <a:spcAft>
                <a:spcPts val="0"/>
              </a:spcAft>
            </a:pPr>
            <a:r>
              <a:rPr lang="en-GB" sz="1100" b="1">
                <a:solidFill>
                  <a:srgbClr val="E60012"/>
                </a:solidFill>
              </a:rPr>
              <a:t>4  SESSION</a:t>
            </a:r>
          </a:p>
        </p:txBody>
      </p:sp>
      <p:sp>
        <p:nvSpPr>
          <p:cNvPr id="18" name="TextBox 17"/>
          <p:cNvSpPr txBox="1"/>
          <p:nvPr/>
        </p:nvSpPr>
        <p:spPr>
          <a:xfrm>
            <a:off x="9144000" y="1920240"/>
            <a:ext cx="2011680" cy="685800"/>
          </a:xfrm>
          <a:prstGeom prst="rect">
            <a:avLst/>
          </a:prstGeom>
          <a:noFill/>
        </p:spPr>
        <p:txBody>
          <a:bodyPr wrap="square" lIns="36576" tIns="36576" rIns="36576" bIns="36576" anchor="t">
            <a:spAutoFit/>
          </a:bodyPr>
          <a:lstStyle/>
          <a:p>
            <a:pPr algn="l">
              <a:spcAft>
                <a:spcPts val="0"/>
              </a:spcAft>
            </a:pPr>
            <a:r>
              <a:rPr sz="1600" b="1">
                <a:solidFill>
                  <a:srgbClr val="233A59"/>
                </a:solidFill>
              </a:rPr>
              <a:t>Egress: ISP-B
NAT: ISP-B address</a:t>
            </a:r>
          </a:p>
        </p:txBody>
      </p:sp>
      <p:sp>
        <p:nvSpPr>
          <p:cNvPr id="19" name="TextBox 18"/>
          <p:cNvSpPr txBox="1">
            <a:spLocks/>
          </p:cNvSpPr>
          <p:nvPr/>
        </p:nvSpPr>
        <p:spPr>
          <a:xfrm>
            <a:off x="914400" y="3657600"/>
            <a:ext cx="1097280" cy="201168"/>
          </a:xfrm>
          <a:prstGeom prst="rect">
            <a:avLst/>
          </a:prstGeom>
          <a:noFill/>
        </p:spPr>
        <p:txBody>
          <a:bodyPr wrap="square" lIns="36576" tIns="36576" rIns="36576" bIns="36576" anchor="t">
            <a:spAutoFit/>
          </a:bodyPr>
          <a:lstStyle/>
          <a:p>
            <a:pPr algn="l">
              <a:spcAft>
                <a:spcPts val="0"/>
              </a:spcAft>
            </a:pPr>
            <a:r>
              <a:rPr lang="en-GB" sz="1000" b="1">
                <a:solidFill>
                  <a:srgbClr val="E60012"/>
                </a:solidFill>
              </a:rPr>
              <a:t>BEFORE</a:t>
            </a:r>
          </a:p>
        </p:txBody>
      </p:sp>
      <p:sp>
        <p:nvSpPr>
          <p:cNvPr id="20" name="TextBox 19"/>
          <p:cNvSpPr txBox="1">
            <a:spLocks/>
          </p:cNvSpPr>
          <p:nvPr/>
        </p:nvSpPr>
        <p:spPr>
          <a:xfrm>
            <a:off x="1920240" y="3602736"/>
            <a:ext cx="2743200" cy="304699"/>
          </a:xfrm>
          <a:prstGeom prst="rect">
            <a:avLst/>
          </a:prstGeom>
          <a:noFill/>
        </p:spPr>
        <p:txBody>
          <a:bodyPr wrap="square" lIns="36576" tIns="36576" rIns="36576" bIns="36576" anchor="t">
            <a:spAutoFit/>
          </a:bodyPr>
          <a:lstStyle/>
          <a:p>
            <a:pPr algn="l">
              <a:spcAft>
                <a:spcPts val="0"/>
              </a:spcAft>
            </a:pPr>
            <a:r>
              <a:rPr lang="en-GB" sz="1500" b="1">
                <a:solidFill>
                  <a:srgbClr val="1E2B40"/>
                </a:solidFill>
              </a:rPr>
              <a:t>voice session → ISP-A</a:t>
            </a:r>
          </a:p>
        </p:txBody>
      </p:sp>
      <p:sp>
        <p:nvSpPr>
          <p:cNvPr id="21" name="TextBox 20"/>
          <p:cNvSpPr txBox="1">
            <a:spLocks/>
          </p:cNvSpPr>
          <p:nvPr/>
        </p:nvSpPr>
        <p:spPr>
          <a:xfrm>
            <a:off x="5486400" y="3657600"/>
            <a:ext cx="1097280" cy="227755"/>
          </a:xfrm>
          <a:prstGeom prst="rect">
            <a:avLst/>
          </a:prstGeom>
          <a:noFill/>
        </p:spPr>
        <p:txBody>
          <a:bodyPr wrap="square" lIns="36576" tIns="36576" rIns="36576" bIns="36576" anchor="t">
            <a:spAutoFit/>
          </a:bodyPr>
          <a:lstStyle/>
          <a:p>
            <a:pPr algn="l">
              <a:spcAft>
                <a:spcPts val="0"/>
              </a:spcAft>
            </a:pPr>
            <a:r>
              <a:rPr lang="en-GB" sz="1000" b="1">
                <a:solidFill>
                  <a:srgbClr val="E60012"/>
                </a:solidFill>
              </a:rPr>
              <a:t>AFTER</a:t>
            </a:r>
          </a:p>
        </p:txBody>
      </p:sp>
      <p:sp>
        <p:nvSpPr>
          <p:cNvPr id="22" name="TextBox 21"/>
          <p:cNvSpPr txBox="1">
            <a:spLocks/>
          </p:cNvSpPr>
          <p:nvPr/>
        </p:nvSpPr>
        <p:spPr>
          <a:xfrm>
            <a:off x="6400800" y="3602736"/>
            <a:ext cx="3200400" cy="304699"/>
          </a:xfrm>
          <a:prstGeom prst="rect">
            <a:avLst/>
          </a:prstGeom>
          <a:noFill/>
        </p:spPr>
        <p:txBody>
          <a:bodyPr wrap="square" lIns="36576" tIns="36576" rIns="36576" bIns="36576" anchor="t">
            <a:spAutoFit/>
          </a:bodyPr>
          <a:lstStyle/>
          <a:p>
            <a:pPr algn="l">
              <a:spcAft>
                <a:spcPts val="0"/>
              </a:spcAft>
            </a:pPr>
            <a:r>
              <a:rPr lang="en-GB" sz="1500" b="1">
                <a:solidFill>
                  <a:srgbClr val="1E2B40"/>
                </a:solidFill>
              </a:rPr>
              <a:t>new voice session → ISP-B</a:t>
            </a:r>
          </a:p>
        </p:txBody>
      </p:sp>
      <p:sp>
        <p:nvSpPr>
          <p:cNvPr id="23" name="TextBox 22"/>
          <p:cNvSpPr txBox="1"/>
          <p:nvPr/>
        </p:nvSpPr>
        <p:spPr>
          <a:xfrm>
            <a:off x="914400" y="4434840"/>
            <a:ext cx="10058400" cy="304699"/>
          </a:xfrm>
          <a:prstGeom prst="rect">
            <a:avLst/>
          </a:prstGeom>
          <a:noFill/>
        </p:spPr>
        <p:txBody>
          <a:bodyPr wrap="square" lIns="36576" tIns="36576" rIns="36576" bIns="36576" anchor="t">
            <a:spAutoFit/>
          </a:bodyPr>
          <a:lstStyle/>
          <a:p>
            <a:pPr algn="ctr">
              <a:spcAft>
                <a:spcPts val="0"/>
              </a:spcAft>
            </a:pPr>
            <a:r>
              <a:rPr lang="en-GB" sz="1500" b="1">
                <a:solidFill>
                  <a:srgbClr val="233A59"/>
                </a:solidFill>
              </a:rPr>
              <a:t>Existing-session behavior depends on application/NAT/remote state; test long-lived and new flows separately.</a:t>
            </a:r>
          </a:p>
        </p:txBody>
      </p:sp>
      <p:sp>
        <p:nvSpPr>
          <p:cNvPr id="24" name="TextBox 23"/>
          <p:cNvSpPr txBox="1"/>
          <p:nvPr/>
        </p:nvSpPr>
        <p:spPr>
          <a:xfrm>
            <a:off x="658368" y="5833872"/>
            <a:ext cx="731520" cy="227755"/>
          </a:xfrm>
          <a:prstGeom prst="rect">
            <a:avLst/>
          </a:prstGeom>
          <a:noFill/>
        </p:spPr>
        <p:txBody>
          <a:bodyPr wrap="square" lIns="36576" tIns="36576" rIns="36576" bIns="36576" anchor="t">
            <a:spAutoFit/>
          </a:bodyPr>
          <a:lstStyle/>
          <a:p>
            <a:pPr algn="l">
              <a:spcAft>
                <a:spcPts val="0"/>
              </a:spcAft>
            </a:pPr>
            <a:r>
              <a:rPr lang="en-GB" sz="1000" b="1">
                <a:solidFill>
                  <a:srgbClr val="E60012"/>
                </a:solidFill>
              </a:rPr>
              <a:t>LESSON</a:t>
            </a:r>
          </a:p>
        </p:txBody>
      </p:sp>
      <p:sp>
        <p:nvSpPr>
          <p:cNvPr id="25" name="TextBox 24"/>
          <p:cNvSpPr txBox="1"/>
          <p:nvPr/>
        </p:nvSpPr>
        <p:spPr>
          <a:xfrm>
            <a:off x="1417320" y="5769864"/>
            <a:ext cx="9875520" cy="384048"/>
          </a:xfrm>
          <a:prstGeom prst="rect">
            <a:avLst/>
          </a:prstGeom>
          <a:noFill/>
        </p:spPr>
        <p:txBody>
          <a:bodyPr wrap="square" lIns="36576" tIns="36576" rIns="36576" bIns="36576" anchor="t">
            <a:spAutoFit/>
          </a:bodyPr>
          <a:lstStyle/>
          <a:p>
            <a:pPr algn="l">
              <a:spcAft>
                <a:spcPts val="0"/>
              </a:spcAft>
            </a:pPr>
            <a:r>
              <a:rPr sz="1300" b="1">
                <a:solidFill>
                  <a:srgbClr val="233A59"/>
                </a:solidFill>
              </a:rPr>
              <a:t>Do not stop at the intent diagram—confirm the matched SD-WAN rule and the actual session egress member.</a:t>
            </a:r>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name="Slide 172">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p:nvPr/>
        </p:nvSpPr>
        <p:spPr>
          <a:xfrm>
            <a:off x="502920" y="411480"/>
            <a:ext cx="548640" cy="189283"/>
          </a:xfrm>
          <a:prstGeom prst="rect">
            <a:avLst/>
          </a:prstGeom>
          <a:noFill/>
        </p:spPr>
        <p:txBody>
          <a:bodyPr wrap="square" lIns="36576" tIns="36576" rIns="36576" bIns="36576" anchor="t">
            <a:spAutoFit/>
          </a:bodyPr>
          <a:lstStyle/>
          <a:p>
            <a:pPr algn="l">
              <a:spcAft>
                <a:spcPts val="0"/>
              </a:spcAft>
            </a:pPr>
            <a:r>
              <a:rPr lang="en-HU" sz="750" b="1">
                <a:solidFill>
                  <a:srgbClr val="687385"/>
                </a:solidFill>
              </a:rPr>
              <a:t>172</a:t>
            </a:r>
            <a:endParaRPr sz="750" b="1">
              <a:solidFill>
                <a:srgbClr val="687385"/>
              </a:solidFill>
            </a:endParaRPr>
          </a:p>
        </p:txBody>
      </p:sp>
      <p:sp>
        <p:nvSpPr>
          <p:cNvPr id="4" name="TextBox 3"/>
          <p:cNvSpPr txBox="1"/>
          <p:nvPr/>
        </p:nvSpPr>
        <p:spPr>
          <a:xfrm>
            <a:off x="502920" y="621792"/>
            <a:ext cx="11109960" cy="548640"/>
          </a:xfrm>
          <a:prstGeom prst="rect">
            <a:avLst/>
          </a:prstGeom>
          <a:noFill/>
        </p:spPr>
        <p:txBody>
          <a:bodyPr wrap="square" lIns="36576" tIns="36576" rIns="36576" bIns="36576" anchor="t">
            <a:spAutoFit/>
          </a:bodyPr>
          <a:lstStyle/>
          <a:p>
            <a:pPr algn="l">
              <a:spcAft>
                <a:spcPts val="0"/>
              </a:spcAft>
            </a:pPr>
            <a:r>
              <a:rPr sz="2600" b="1">
                <a:solidFill>
                  <a:srgbClr val="1E2B40"/>
                </a:solidFill>
              </a:rPr>
              <a:t>Common mistakes—and how to correct them</a:t>
            </a:r>
          </a:p>
        </p:txBody>
      </p:sp>
      <p:cxnSp>
        <p:nvCxnSpPr>
          <p:cNvPr id="5" name="Connector 4"/>
          <p:cNvCxnSpPr/>
          <p:nvPr/>
        </p:nvCxnSpPr>
        <p:spPr>
          <a:xfrm>
            <a:off x="502920" y="6473952"/>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109960" y="6537960"/>
            <a:ext cx="502920" cy="189283"/>
          </a:xfrm>
          <a:prstGeom prst="rect">
            <a:avLst/>
          </a:prstGeom>
          <a:noFill/>
        </p:spPr>
        <p:txBody>
          <a:bodyPr wrap="square" lIns="36576" tIns="36576" rIns="36576" bIns="36576" anchor="t">
            <a:spAutoFit/>
          </a:bodyPr>
          <a:lstStyle/>
          <a:p>
            <a:pPr algn="r">
              <a:spcAft>
                <a:spcPts val="0"/>
              </a:spcAft>
            </a:pPr>
            <a:r>
              <a:rPr lang="en-HU" sz="750" b="0">
                <a:solidFill>
                  <a:srgbClr val="687385"/>
                </a:solidFill>
              </a:rPr>
              <a:t>172</a:t>
            </a:r>
            <a:endParaRPr sz="750" b="0">
              <a:solidFill>
                <a:srgbClr val="687385"/>
              </a:solidFill>
            </a:endParaRPr>
          </a:p>
        </p:txBody>
      </p:sp>
      <p:sp>
        <p:nvSpPr>
          <p:cNvPr id="7" name="TextBox 6"/>
          <p:cNvSpPr txBox="1">
            <a:spLocks/>
          </p:cNvSpPr>
          <p:nvPr/>
        </p:nvSpPr>
        <p:spPr>
          <a:xfrm>
            <a:off x="685800" y="1417320"/>
            <a:ext cx="3291840" cy="243143"/>
          </a:xfrm>
          <a:prstGeom prst="rect">
            <a:avLst/>
          </a:prstGeom>
          <a:noFill/>
        </p:spPr>
        <p:txBody>
          <a:bodyPr wrap="square" lIns="36576" tIns="36576" rIns="36576" bIns="36576" anchor="t">
            <a:spAutoFit/>
          </a:bodyPr>
          <a:lstStyle/>
          <a:p>
            <a:pPr algn="l">
              <a:spcAft>
                <a:spcPts val="0"/>
              </a:spcAft>
            </a:pPr>
            <a:r>
              <a:rPr lang="en-GB" sz="1100" b="1">
                <a:solidFill>
                  <a:srgbClr val="E60012"/>
                </a:solidFill>
              </a:rPr>
              <a:t>MISTAKE</a:t>
            </a:r>
          </a:p>
        </p:txBody>
      </p:sp>
      <p:sp>
        <p:nvSpPr>
          <p:cNvPr id="8" name="TextBox 7"/>
          <p:cNvSpPr txBox="1">
            <a:spLocks/>
          </p:cNvSpPr>
          <p:nvPr/>
        </p:nvSpPr>
        <p:spPr>
          <a:xfrm>
            <a:off x="4160520" y="1417320"/>
            <a:ext cx="7040880" cy="243143"/>
          </a:xfrm>
          <a:prstGeom prst="rect">
            <a:avLst/>
          </a:prstGeom>
          <a:noFill/>
        </p:spPr>
        <p:txBody>
          <a:bodyPr wrap="square" lIns="36576" tIns="36576" rIns="36576" bIns="36576" anchor="t">
            <a:spAutoFit/>
          </a:bodyPr>
          <a:lstStyle/>
          <a:p>
            <a:pPr algn="l">
              <a:spcAft>
                <a:spcPts val="0"/>
              </a:spcAft>
            </a:pPr>
            <a:r>
              <a:rPr lang="en-GB" sz="1100" b="1">
                <a:solidFill>
                  <a:srgbClr val="E60012"/>
                </a:solidFill>
              </a:rPr>
              <a:t>CORRECTION — AND WHY IT HELPS</a:t>
            </a:r>
          </a:p>
        </p:txBody>
      </p:sp>
      <p:sp>
        <p:nvSpPr>
          <p:cNvPr id="9" name="TextBox 8"/>
          <p:cNvSpPr txBox="1">
            <a:spLocks/>
          </p:cNvSpPr>
          <p:nvPr/>
        </p:nvSpPr>
        <p:spPr>
          <a:xfrm>
            <a:off x="685800" y="1783080"/>
            <a:ext cx="3108960" cy="320088"/>
          </a:xfrm>
          <a:prstGeom prst="rect">
            <a:avLst/>
          </a:prstGeom>
          <a:noFill/>
        </p:spPr>
        <p:txBody>
          <a:bodyPr wrap="square" lIns="36576" tIns="36576" rIns="36576" bIns="36576" anchor="t">
            <a:spAutoFit/>
          </a:bodyPr>
          <a:lstStyle/>
          <a:p>
            <a:pPr algn="l">
              <a:spcAft>
                <a:spcPts val="0"/>
              </a:spcAft>
            </a:pPr>
            <a:r>
              <a:rPr lang="en-GB" sz="1600" b="1">
                <a:solidFill>
                  <a:srgbClr val="1E2B40"/>
                </a:solidFill>
              </a:rPr>
              <a:t>Probe only the ISP gateway</a:t>
            </a:r>
          </a:p>
        </p:txBody>
      </p:sp>
      <p:cxnSp>
        <p:nvCxnSpPr>
          <p:cNvPr id="10" name="Connector 9"/>
          <p:cNvCxnSpPr/>
          <p:nvPr/>
        </p:nvCxnSpPr>
        <p:spPr>
          <a:xfrm>
            <a:off x="3931920" y="1737360"/>
            <a:ext cx="0" cy="96012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251960" y="1783080"/>
            <a:ext cx="6903720" cy="822960"/>
          </a:xfrm>
          <a:prstGeom prst="rect">
            <a:avLst/>
          </a:prstGeom>
          <a:noFill/>
        </p:spPr>
        <p:txBody>
          <a:bodyPr wrap="square" lIns="36576" tIns="36576" rIns="36576" bIns="36576" anchor="t">
            <a:spAutoFit/>
          </a:bodyPr>
          <a:lstStyle/>
          <a:p>
            <a:pPr algn="l">
              <a:spcAft>
                <a:spcPts val="0"/>
              </a:spcAft>
            </a:pPr>
            <a:r>
              <a:rPr sz="1600" b="0">
                <a:solidFill>
                  <a:srgbClr val="233A59"/>
                </a:solidFill>
              </a:rPr>
              <a:t>Probe a service-relevant target; a local gateway can stay up while the application path fails.</a:t>
            </a:r>
          </a:p>
        </p:txBody>
      </p:sp>
      <p:cxnSp>
        <p:nvCxnSpPr>
          <p:cNvPr id="12" name="Connector 11"/>
          <p:cNvCxnSpPr/>
          <p:nvPr/>
        </p:nvCxnSpPr>
        <p:spPr>
          <a:xfrm>
            <a:off x="685800" y="2834639"/>
            <a:ext cx="10469880"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13" name="TextBox 12"/>
          <p:cNvSpPr txBox="1">
            <a:spLocks/>
          </p:cNvSpPr>
          <p:nvPr/>
        </p:nvSpPr>
        <p:spPr>
          <a:xfrm>
            <a:off x="685800" y="3081528"/>
            <a:ext cx="3108960" cy="566309"/>
          </a:xfrm>
          <a:prstGeom prst="rect">
            <a:avLst/>
          </a:prstGeom>
          <a:noFill/>
        </p:spPr>
        <p:txBody>
          <a:bodyPr wrap="square" lIns="36576" tIns="36576" rIns="36576" bIns="36576" anchor="t">
            <a:spAutoFit/>
          </a:bodyPr>
          <a:lstStyle/>
          <a:p>
            <a:pPr algn="l">
              <a:spcAft>
                <a:spcPts val="0"/>
              </a:spcAft>
            </a:pPr>
            <a:r>
              <a:rPr lang="en-GB" sz="1600" b="1">
                <a:solidFill>
                  <a:srgbClr val="1E2B40"/>
                </a:solidFill>
              </a:rPr>
              <a:t>Expect an existing session to move seamlessly</a:t>
            </a:r>
          </a:p>
        </p:txBody>
      </p:sp>
      <p:cxnSp>
        <p:nvCxnSpPr>
          <p:cNvPr id="14" name="Connector 13"/>
          <p:cNvCxnSpPr/>
          <p:nvPr/>
        </p:nvCxnSpPr>
        <p:spPr>
          <a:xfrm>
            <a:off x="3931920" y="3035808"/>
            <a:ext cx="0" cy="96012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5" name="TextBox 14"/>
          <p:cNvSpPr txBox="1">
            <a:spLocks/>
          </p:cNvSpPr>
          <p:nvPr/>
        </p:nvSpPr>
        <p:spPr>
          <a:xfrm>
            <a:off x="4251960" y="3081528"/>
            <a:ext cx="6903720" cy="566309"/>
          </a:xfrm>
          <a:prstGeom prst="rect">
            <a:avLst/>
          </a:prstGeom>
          <a:noFill/>
        </p:spPr>
        <p:txBody>
          <a:bodyPr wrap="square" lIns="36576" tIns="36576" rIns="36576" bIns="36576" anchor="t">
            <a:spAutoFit/>
          </a:bodyPr>
          <a:lstStyle/>
          <a:p>
            <a:pPr algn="l">
              <a:spcAft>
                <a:spcPts val="0"/>
              </a:spcAft>
            </a:pPr>
            <a:r>
              <a:rPr lang="en-GB" sz="1600" b="0">
                <a:solidFill>
                  <a:srgbClr val="233A59"/>
                </a:solidFill>
              </a:rPr>
              <a:t>Test both new and long-lived flows; NAT and remote state can require reconnection.</a:t>
            </a:r>
          </a:p>
        </p:txBody>
      </p:sp>
      <p:cxnSp>
        <p:nvCxnSpPr>
          <p:cNvPr id="16" name="Connector 15"/>
          <p:cNvCxnSpPr/>
          <p:nvPr/>
        </p:nvCxnSpPr>
        <p:spPr>
          <a:xfrm>
            <a:off x="685800" y="4133087"/>
            <a:ext cx="10469880"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17" name="TextBox 16"/>
          <p:cNvSpPr txBox="1">
            <a:spLocks/>
          </p:cNvSpPr>
          <p:nvPr/>
        </p:nvSpPr>
        <p:spPr>
          <a:xfrm>
            <a:off x="685800" y="4379976"/>
            <a:ext cx="3108960" cy="320088"/>
          </a:xfrm>
          <a:prstGeom prst="rect">
            <a:avLst/>
          </a:prstGeom>
          <a:noFill/>
        </p:spPr>
        <p:txBody>
          <a:bodyPr wrap="square" lIns="36576" tIns="36576" rIns="36576" bIns="36576" anchor="t">
            <a:spAutoFit/>
          </a:bodyPr>
          <a:lstStyle/>
          <a:p>
            <a:pPr algn="l">
              <a:spcAft>
                <a:spcPts val="0"/>
              </a:spcAft>
            </a:pPr>
            <a:r>
              <a:rPr lang="en-GB" sz="1600" b="1">
                <a:solidFill>
                  <a:srgbClr val="1E2B40"/>
                </a:solidFill>
              </a:rPr>
              <a:t>Assume managers are bundled</a:t>
            </a:r>
          </a:p>
        </p:txBody>
      </p:sp>
      <p:cxnSp>
        <p:nvCxnSpPr>
          <p:cNvPr id="18" name="Connector 17"/>
          <p:cNvCxnSpPr/>
          <p:nvPr/>
        </p:nvCxnSpPr>
        <p:spPr>
          <a:xfrm>
            <a:off x="3931920" y="4334256"/>
            <a:ext cx="0" cy="96012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251960" y="4379976"/>
            <a:ext cx="6903720" cy="822960"/>
          </a:xfrm>
          <a:prstGeom prst="rect">
            <a:avLst/>
          </a:prstGeom>
          <a:noFill/>
        </p:spPr>
        <p:txBody>
          <a:bodyPr wrap="square" lIns="36576" tIns="36576" rIns="36576" bIns="36576" anchor="t">
            <a:spAutoFit/>
          </a:bodyPr>
          <a:lstStyle/>
          <a:p>
            <a:pPr algn="l">
              <a:spcAft>
                <a:spcPts val="0"/>
              </a:spcAft>
            </a:pPr>
            <a:r>
              <a:rPr sz="1600" b="0">
                <a:solidFill>
                  <a:srgbClr val="233A59"/>
                </a:solidFill>
              </a:rPr>
              <a:t>Check current licensing and architecture; FortiManager and FortiAnalyzer have distinct roles.</a:t>
            </a:r>
          </a:p>
        </p:txBody>
      </p:sp>
      <p:cxnSp>
        <p:nvCxnSpPr>
          <p:cNvPr id="20" name="Connector 19"/>
          <p:cNvCxnSpPr/>
          <p:nvPr/>
        </p:nvCxnSpPr>
        <p:spPr>
          <a:xfrm>
            <a:off x="685800" y="5431536"/>
            <a:ext cx="10469880"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58368" y="5833872"/>
            <a:ext cx="731520" cy="182880"/>
          </a:xfrm>
          <a:prstGeom prst="rect">
            <a:avLst/>
          </a:prstGeom>
          <a:noFill/>
        </p:spPr>
        <p:txBody>
          <a:bodyPr wrap="square" lIns="36576" tIns="36576" rIns="36576" bIns="36576" anchor="t">
            <a:spAutoFit/>
          </a:bodyPr>
          <a:lstStyle/>
          <a:p>
            <a:pPr algn="l">
              <a:spcAft>
                <a:spcPts val="0"/>
              </a:spcAft>
            </a:pPr>
            <a:r>
              <a:rPr sz="1000" b="1">
                <a:solidFill>
                  <a:srgbClr val="E60012"/>
                </a:solidFill>
              </a:rPr>
              <a:t>LESSON</a:t>
            </a:r>
          </a:p>
        </p:txBody>
      </p:sp>
      <p:sp>
        <p:nvSpPr>
          <p:cNvPr id="22" name="TextBox 21"/>
          <p:cNvSpPr txBox="1"/>
          <p:nvPr/>
        </p:nvSpPr>
        <p:spPr>
          <a:xfrm>
            <a:off x="1417320" y="5769864"/>
            <a:ext cx="9875520" cy="384048"/>
          </a:xfrm>
          <a:prstGeom prst="rect">
            <a:avLst/>
          </a:prstGeom>
          <a:noFill/>
        </p:spPr>
        <p:txBody>
          <a:bodyPr wrap="square" lIns="36576" tIns="36576" rIns="36576" bIns="36576" anchor="t">
            <a:spAutoFit/>
          </a:bodyPr>
          <a:lstStyle/>
          <a:p>
            <a:pPr algn="l">
              <a:spcAft>
                <a:spcPts val="0"/>
              </a:spcAft>
            </a:pPr>
            <a:r>
              <a:rPr sz="1300" b="1">
                <a:solidFill>
                  <a:srgbClr val="233A59"/>
                </a:solidFill>
              </a:rPr>
              <a:t>A correction changes a concrete configuration, test or interpretation—not merely the wording used to describe it.</a:t>
            </a:r>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name="Slide 173">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173</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Troubleshooting workflow: narrow the failed decision</a:t>
            </a:r>
          </a:p>
        </p:txBody>
      </p:sp>
      <p:sp>
        <p:nvSpPr>
          <p:cNvPr id="10" name="Rectangle 9"/>
          <p:cNvSpPr/>
          <p:nvPr/>
        </p:nvSpPr>
        <p:spPr>
          <a:xfrm>
            <a:off x="658368"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1" name="TextBox 10"/>
          <p:cNvSpPr txBox="1">
            <a:spLocks/>
          </p:cNvSpPr>
          <p:nvPr/>
        </p:nvSpPr>
        <p:spPr>
          <a:xfrm>
            <a:off x="768096" y="2020824"/>
            <a:ext cx="411480" cy="219456"/>
          </a:xfrm>
          <a:prstGeom prst="rect">
            <a:avLst/>
          </a:prstGeom>
          <a:noFill/>
        </p:spPr>
        <p:txBody>
          <a:bodyPr wrap="square" lIns="27432" tIns="27432" rIns="27432" bIns="27432" anchor="t">
            <a:spAutoFit/>
          </a:bodyPr>
          <a:lstStyle/>
          <a:p>
            <a:pPr algn="l">
              <a:spcAft>
                <a:spcPts val="0"/>
              </a:spcAft>
            </a:pPr>
            <a:r>
              <a:rPr lang="en-HU" sz="1100" b="1">
                <a:solidFill>
                  <a:srgbClr val="E60012"/>
                </a:solidFill>
              </a:rPr>
              <a:t>01</a:t>
            </a:r>
          </a:p>
        </p:txBody>
      </p:sp>
      <p:sp>
        <p:nvSpPr>
          <p:cNvPr id="12" name="TextBox 11"/>
          <p:cNvSpPr txBox="1">
            <a:spLocks/>
          </p:cNvSpPr>
          <p:nvPr/>
        </p:nvSpPr>
        <p:spPr>
          <a:xfrm>
            <a:off x="768096" y="2340864"/>
            <a:ext cx="1830628" cy="603504"/>
          </a:xfrm>
          <a:prstGeom prst="rect">
            <a:avLst/>
          </a:prstGeom>
          <a:noFill/>
        </p:spPr>
        <p:txBody>
          <a:bodyPr wrap="square" lIns="27432" tIns="27432" rIns="27432" bIns="27432" anchor="ctr">
            <a:spAutoFit/>
          </a:bodyPr>
          <a:lstStyle/>
          <a:p>
            <a:pPr algn="ctr">
              <a:spcAft>
                <a:spcPts val="0"/>
              </a:spcAft>
            </a:pPr>
            <a:r>
              <a:rPr lang="en-GB" sz="1400" b="1">
                <a:solidFill>
                  <a:srgbClr val="1E2B40"/>
                </a:solidFill>
              </a:rPr>
              <a:t>Check member/link and probe reachability</a:t>
            </a:r>
          </a:p>
        </p:txBody>
      </p:sp>
      <p:cxnSp>
        <p:nvCxnSpPr>
          <p:cNvPr id="13" name="Connector 12"/>
          <p:cNvCxnSpPr/>
          <p:nvPr/>
        </p:nvCxnSpPr>
        <p:spPr>
          <a:xfrm>
            <a:off x="2708452"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2854756"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964484" y="2020824"/>
            <a:ext cx="411480" cy="219456"/>
          </a:xfrm>
          <a:prstGeom prst="rect">
            <a:avLst/>
          </a:prstGeom>
          <a:noFill/>
        </p:spPr>
        <p:txBody>
          <a:bodyPr wrap="square" lIns="27432" tIns="27432" rIns="27432" bIns="27432" anchor="t">
            <a:spAutoFit/>
          </a:bodyPr>
          <a:lstStyle/>
          <a:p>
            <a:pPr algn="l">
              <a:spcAft>
                <a:spcPts val="0"/>
              </a:spcAft>
            </a:pPr>
            <a:r>
              <a:rPr sz="1100" b="1">
                <a:solidFill>
                  <a:srgbClr val="E60012"/>
                </a:solidFill>
              </a:rPr>
              <a:t>02</a:t>
            </a:r>
          </a:p>
        </p:txBody>
      </p:sp>
      <p:sp>
        <p:nvSpPr>
          <p:cNvPr id="16" name="TextBox 15"/>
          <p:cNvSpPr txBox="1"/>
          <p:nvPr/>
        </p:nvSpPr>
        <p:spPr>
          <a:xfrm>
            <a:off x="2964484" y="2340864"/>
            <a:ext cx="1830628" cy="603504"/>
          </a:xfrm>
          <a:prstGeom prst="rect">
            <a:avLst/>
          </a:prstGeom>
          <a:noFill/>
        </p:spPr>
        <p:txBody>
          <a:bodyPr wrap="square" lIns="27432" tIns="27432" rIns="27432" bIns="27432" anchor="ctr">
            <a:spAutoFit/>
          </a:bodyPr>
          <a:lstStyle/>
          <a:p>
            <a:pPr algn="ctr">
              <a:spcAft>
                <a:spcPts val="0"/>
              </a:spcAft>
            </a:pPr>
            <a:r>
              <a:rPr sz="1400" b="1">
                <a:solidFill>
                  <a:srgbClr val="1E2B40"/>
                </a:solidFill>
              </a:rPr>
              <a:t>Review SLA raw values and threshold state</a:t>
            </a:r>
          </a:p>
        </p:txBody>
      </p:sp>
      <p:cxnSp>
        <p:nvCxnSpPr>
          <p:cNvPr id="17" name="Connector 16"/>
          <p:cNvCxnSpPr/>
          <p:nvPr/>
        </p:nvCxnSpPr>
        <p:spPr>
          <a:xfrm>
            <a:off x="4904841"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5051145"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60873" y="2020824"/>
            <a:ext cx="411480" cy="219456"/>
          </a:xfrm>
          <a:prstGeom prst="rect">
            <a:avLst/>
          </a:prstGeom>
          <a:noFill/>
        </p:spPr>
        <p:txBody>
          <a:bodyPr wrap="square" lIns="27432" tIns="27432" rIns="27432" bIns="27432" anchor="t">
            <a:spAutoFit/>
          </a:bodyPr>
          <a:lstStyle/>
          <a:p>
            <a:pPr algn="l">
              <a:spcAft>
                <a:spcPts val="0"/>
              </a:spcAft>
            </a:pPr>
            <a:r>
              <a:rPr sz="1100" b="1">
                <a:solidFill>
                  <a:srgbClr val="E60012"/>
                </a:solidFill>
              </a:rPr>
              <a:t>03</a:t>
            </a:r>
          </a:p>
        </p:txBody>
      </p:sp>
      <p:sp>
        <p:nvSpPr>
          <p:cNvPr id="20" name="TextBox 19"/>
          <p:cNvSpPr txBox="1"/>
          <p:nvPr/>
        </p:nvSpPr>
        <p:spPr>
          <a:xfrm>
            <a:off x="5160873" y="2340864"/>
            <a:ext cx="1830628" cy="603504"/>
          </a:xfrm>
          <a:prstGeom prst="rect">
            <a:avLst/>
          </a:prstGeom>
          <a:noFill/>
        </p:spPr>
        <p:txBody>
          <a:bodyPr wrap="square" lIns="27432" tIns="27432" rIns="27432" bIns="27432" anchor="ctr">
            <a:spAutoFit/>
          </a:bodyPr>
          <a:lstStyle/>
          <a:p>
            <a:pPr algn="ctr">
              <a:spcAft>
                <a:spcPts val="0"/>
              </a:spcAft>
            </a:pPr>
            <a:r>
              <a:rPr sz="1400" b="1">
                <a:solidFill>
                  <a:srgbClr val="1E2B40"/>
                </a:solidFill>
              </a:rPr>
              <a:t>Confirm matched SD-WAN rule</a:t>
            </a:r>
          </a:p>
        </p:txBody>
      </p:sp>
      <p:cxnSp>
        <p:nvCxnSpPr>
          <p:cNvPr id="21" name="Connector 20"/>
          <p:cNvCxnSpPr/>
          <p:nvPr/>
        </p:nvCxnSpPr>
        <p:spPr>
          <a:xfrm>
            <a:off x="7101230"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7247534"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357262" y="2020824"/>
            <a:ext cx="411480" cy="219456"/>
          </a:xfrm>
          <a:prstGeom prst="rect">
            <a:avLst/>
          </a:prstGeom>
          <a:noFill/>
        </p:spPr>
        <p:txBody>
          <a:bodyPr wrap="square" lIns="27432" tIns="27432" rIns="27432" bIns="27432" anchor="t">
            <a:spAutoFit/>
          </a:bodyPr>
          <a:lstStyle/>
          <a:p>
            <a:pPr algn="l">
              <a:spcAft>
                <a:spcPts val="0"/>
              </a:spcAft>
            </a:pPr>
            <a:r>
              <a:rPr sz="1100" b="1">
                <a:solidFill>
                  <a:srgbClr val="E60012"/>
                </a:solidFill>
              </a:rPr>
              <a:t>04</a:t>
            </a:r>
          </a:p>
        </p:txBody>
      </p:sp>
      <p:sp>
        <p:nvSpPr>
          <p:cNvPr id="24" name="TextBox 23"/>
          <p:cNvSpPr txBox="1"/>
          <p:nvPr/>
        </p:nvSpPr>
        <p:spPr>
          <a:xfrm>
            <a:off x="7357262" y="2340864"/>
            <a:ext cx="1830628" cy="603504"/>
          </a:xfrm>
          <a:prstGeom prst="rect">
            <a:avLst/>
          </a:prstGeom>
          <a:noFill/>
        </p:spPr>
        <p:txBody>
          <a:bodyPr wrap="square" lIns="27432" tIns="27432" rIns="27432" bIns="27432" anchor="ctr">
            <a:spAutoFit/>
          </a:bodyPr>
          <a:lstStyle/>
          <a:p>
            <a:pPr algn="ctr">
              <a:spcAft>
                <a:spcPts val="0"/>
              </a:spcAft>
            </a:pPr>
            <a:r>
              <a:rPr sz="1400" b="1">
                <a:solidFill>
                  <a:srgbClr val="1E2B40"/>
                </a:solidFill>
              </a:rPr>
              <a:t>Inspect route, policy, session and NAT egress</a:t>
            </a:r>
          </a:p>
        </p:txBody>
      </p:sp>
      <p:cxnSp>
        <p:nvCxnSpPr>
          <p:cNvPr id="25" name="Connector 24"/>
          <p:cNvCxnSpPr/>
          <p:nvPr/>
        </p:nvCxnSpPr>
        <p:spPr>
          <a:xfrm>
            <a:off x="9297619"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9443923"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553651" y="2020824"/>
            <a:ext cx="411480" cy="219456"/>
          </a:xfrm>
          <a:prstGeom prst="rect">
            <a:avLst/>
          </a:prstGeom>
          <a:noFill/>
        </p:spPr>
        <p:txBody>
          <a:bodyPr wrap="square" lIns="27432" tIns="27432" rIns="27432" bIns="27432" anchor="t">
            <a:spAutoFit/>
          </a:bodyPr>
          <a:lstStyle/>
          <a:p>
            <a:pPr algn="l">
              <a:spcAft>
                <a:spcPts val="0"/>
              </a:spcAft>
            </a:pPr>
            <a:r>
              <a:rPr sz="1100" b="1">
                <a:solidFill>
                  <a:srgbClr val="E60012"/>
                </a:solidFill>
              </a:rPr>
              <a:t>05</a:t>
            </a:r>
          </a:p>
        </p:txBody>
      </p:sp>
      <p:sp>
        <p:nvSpPr>
          <p:cNvPr id="28" name="TextBox 27"/>
          <p:cNvSpPr txBox="1"/>
          <p:nvPr/>
        </p:nvSpPr>
        <p:spPr>
          <a:xfrm>
            <a:off x="9553651" y="2340864"/>
            <a:ext cx="1830628" cy="603504"/>
          </a:xfrm>
          <a:prstGeom prst="rect">
            <a:avLst/>
          </a:prstGeom>
          <a:noFill/>
        </p:spPr>
        <p:txBody>
          <a:bodyPr wrap="square" lIns="27432" tIns="27432" rIns="27432" bIns="27432" anchor="ctr">
            <a:spAutoFit/>
          </a:bodyPr>
          <a:lstStyle/>
          <a:p>
            <a:pPr algn="ctr">
              <a:spcAft>
                <a:spcPts val="0"/>
              </a:spcAft>
            </a:pPr>
            <a:r>
              <a:rPr sz="1400" b="1">
                <a:solidFill>
                  <a:srgbClr val="1E2B40"/>
                </a:solidFill>
              </a:rPr>
              <a:t>Capture both links; test new session and recovery</a:t>
            </a:r>
          </a:p>
        </p:txBody>
      </p:sp>
      <p:sp>
        <p:nvSpPr>
          <p:cNvPr id="29" name="TextBox 28"/>
          <p:cNvSpPr txBox="1"/>
          <p:nvPr/>
        </p:nvSpPr>
        <p:spPr>
          <a:xfrm>
            <a:off x="658368" y="3703320"/>
            <a:ext cx="2011680" cy="256032"/>
          </a:xfrm>
          <a:prstGeom prst="rect">
            <a:avLst/>
          </a:prstGeom>
          <a:noFill/>
        </p:spPr>
        <p:txBody>
          <a:bodyPr wrap="square" lIns="27432" tIns="27432" rIns="27432" bIns="27432" anchor="t">
            <a:spAutoFit/>
          </a:bodyPr>
          <a:lstStyle/>
          <a:p>
            <a:pPr algn="l">
              <a:spcAft>
                <a:spcPts val="0"/>
              </a:spcAft>
            </a:pPr>
            <a:r>
              <a:rPr sz="1100" b="1">
                <a:solidFill>
                  <a:srgbClr val="E60012"/>
                </a:solidFill>
              </a:rPr>
              <a:t>What to observe</a:t>
            </a:r>
          </a:p>
        </p:txBody>
      </p:sp>
      <p:sp>
        <p:nvSpPr>
          <p:cNvPr id="30" name="TextBox 29"/>
          <p:cNvSpPr txBox="1"/>
          <p:nvPr/>
        </p:nvSpPr>
        <p:spPr>
          <a:xfrm>
            <a:off x="658368" y="4050791"/>
            <a:ext cx="6446520" cy="1508760"/>
          </a:xfrm>
          <a:prstGeom prst="rect">
            <a:avLst/>
          </a:prstGeom>
          <a:noFill/>
        </p:spPr>
        <p:txBody>
          <a:bodyPr wrap="square" lIns="109728" tIns="73152" rIns="109728" bIns="73152" anchor="t">
            <a:spAutoFit/>
          </a:bodyPr>
          <a:lstStyle/>
          <a:p>
            <a:pPr algn="l">
              <a:lnSpc>
                <a:spcPct val="105000"/>
              </a:lnSpc>
              <a:spcAft>
                <a:spcPts val="700"/>
              </a:spcAft>
              <a:defRPr sz="1600">
                <a:solidFill>
                  <a:srgbClr val="1E2B40"/>
                </a:solidFill>
              </a:defRPr>
            </a:pPr>
            <a:r>
              <a:t>• Confirm matched SD-WAN rule</a:t>
            </a:r>
          </a:p>
          <a:p>
            <a:pPr>
              <a:lnSpc>
                <a:spcPct val="105000"/>
              </a:lnSpc>
              <a:spcAft>
                <a:spcPts val="700"/>
              </a:spcAft>
              <a:defRPr sz="1600">
                <a:solidFill>
                  <a:srgbClr val="1E2B40"/>
                </a:solidFill>
              </a:defRPr>
            </a:pPr>
            <a:r>
              <a:t>• Inspect route, policy, session and NAT egress</a:t>
            </a:r>
          </a:p>
          <a:p>
            <a:pPr>
              <a:lnSpc>
                <a:spcPct val="105000"/>
              </a:lnSpc>
              <a:spcAft>
                <a:spcPts val="700"/>
              </a:spcAft>
              <a:defRPr sz="1600">
                <a:solidFill>
                  <a:srgbClr val="1E2B40"/>
                </a:solidFill>
              </a:defRPr>
            </a:pPr>
            <a:r>
              <a:t>• Capture both links; test new session and recovery</a:t>
            </a:r>
          </a:p>
        </p:txBody>
      </p:sp>
      <p:cxnSp>
        <p:nvCxnSpPr>
          <p:cNvPr id="31" name="Connector 30"/>
          <p:cNvCxnSpPr/>
          <p:nvPr/>
        </p:nvCxnSpPr>
        <p:spPr>
          <a:xfrm>
            <a:off x="7452360" y="3703320"/>
            <a:ext cx="0" cy="2093976"/>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7772400" y="3703320"/>
            <a:ext cx="292608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INSTRUCTOR DEMONSTRATION</a:t>
            </a:r>
            <a:endParaRPr sz="1100" b="1">
              <a:solidFill>
                <a:srgbClr val="E60012"/>
              </a:solidFill>
            </a:endParaRPr>
          </a:p>
        </p:txBody>
      </p:sp>
      <p:sp>
        <p:nvSpPr>
          <p:cNvPr id="33" name="TextBox 32"/>
          <p:cNvSpPr txBox="1"/>
          <p:nvPr/>
        </p:nvSpPr>
        <p:spPr>
          <a:xfrm>
            <a:off x="7772400" y="4096512"/>
            <a:ext cx="3337560" cy="1234440"/>
          </a:xfrm>
          <a:prstGeom prst="rect">
            <a:avLst/>
          </a:prstGeom>
          <a:noFill/>
        </p:spPr>
        <p:txBody>
          <a:bodyPr wrap="square" lIns="27432" tIns="27432" rIns="27432" bIns="27432" anchor="t">
            <a:spAutoFit/>
          </a:bodyPr>
          <a:lstStyle/>
          <a:p>
            <a:pPr algn="l">
              <a:spcAft>
                <a:spcPts val="0"/>
              </a:spcAft>
            </a:pPr>
            <a:r>
              <a:rPr sz="1500" b="1">
                <a:solidFill>
                  <a:srgbClr val="233A59"/>
                </a:solidFill>
              </a:rPr>
              <a:t>Preserve timestamps and before/after state; stop/reset debug operations.</a:t>
            </a:r>
          </a:p>
        </p:txBody>
      </p:sp>
      <p:sp>
        <p:nvSpPr>
          <p:cNvPr id="34" name="TextBox 33"/>
          <p:cNvSpPr txBox="1"/>
          <p:nvPr/>
        </p:nvSpPr>
        <p:spPr>
          <a:xfrm>
            <a:off x="7772400" y="5440680"/>
            <a:ext cx="3337560" cy="363176"/>
          </a:xfrm>
          <a:prstGeom prst="rect">
            <a:avLst/>
          </a:prstGeom>
          <a:noFill/>
        </p:spPr>
        <p:txBody>
          <a:bodyPr wrap="square" lIns="27432" tIns="27432" rIns="27432" bIns="27432" anchor="t">
            <a:spAutoFit/>
          </a:bodyPr>
          <a:lstStyle/>
          <a:p>
            <a:pPr algn="l">
              <a:spcAft>
                <a:spcPts val="0"/>
              </a:spcAft>
            </a:pPr>
            <a:r>
              <a:rPr lang="en-GB" sz="1000" b="0">
                <a:solidFill>
                  <a:srgbClr val="687385"/>
                </a:solidFill>
              </a:rPr>
              <a:t>If debug is used, filter by the test tuple and disable</a:t>
            </a:r>
            <a:r>
              <a:rPr sz="1000" b="0">
                <a:solidFill>
                  <a:srgbClr val="687385"/>
                </a:solidFill>
              </a:rPr>
              <a:t>/reset </a:t>
            </a:r>
            <a:r>
              <a:rPr lang="en-GB" sz="1000" b="0">
                <a:solidFill>
                  <a:srgbClr val="687385"/>
                </a:solidFill>
              </a:rPr>
              <a:t>it immediately </a:t>
            </a:r>
            <a:r>
              <a:rPr sz="1000" b="0">
                <a:solidFill>
                  <a:srgbClr val="687385"/>
                </a:solidFill>
              </a:rPr>
              <a:t>after </a:t>
            </a:r>
            <a:r>
              <a:rPr lang="en-GB" sz="1000" b="0">
                <a:solidFill>
                  <a:srgbClr val="687385"/>
                </a:solidFill>
              </a:rPr>
              <a:t>capture</a:t>
            </a:r>
            <a:r>
              <a:rPr sz="1000" b="0">
                <a:solidFill>
                  <a:srgbClr val="687385"/>
                </a:solidFill>
              </a:rPr>
              <a:t>.</a:t>
            </a:r>
          </a:p>
        </p:txBody>
      </p:sp>
      <p:sp>
        <p:nvSpPr>
          <p:cNvPr id="35" name="TextBox 34"/>
          <p:cNvSpPr txBox="1"/>
          <p:nvPr/>
        </p:nvSpPr>
        <p:spPr>
          <a:xfrm>
            <a:off x="502920" y="420624"/>
            <a:ext cx="10744200" cy="130805"/>
          </a:xfrm>
          <a:prstGeom prst="rect">
            <a:avLst/>
          </a:prstGeom>
          <a:noFill/>
        </p:spPr>
        <p:txBody>
          <a:bodyPr wrap="square" lIns="0" tIns="0" rIns="0" bIns="0">
            <a:spAutoFit/>
          </a:bodyPr>
          <a:lstStyle/>
          <a:p>
            <a:pPr algn="l"/>
            <a:r>
              <a:rPr lang="en-HU" sz="850" b="1">
                <a:solidFill>
                  <a:srgbClr val="687385"/>
                </a:solidFill>
              </a:rPr>
              <a:t>173</a:t>
            </a:r>
            <a:r>
              <a:rPr sz="850" b="1">
                <a:solidFill>
                  <a:srgbClr val="687385"/>
                </a:solidFill>
              </a:rPr>
              <a:t> • DAY 4 • BLOCK 15 • SD-WAN &amp; Design</a:t>
            </a:r>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name="Slide 174">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174</a:t>
            </a:r>
          </a:p>
        </p:txBody>
      </p:sp>
      <p:sp>
        <p:nvSpPr>
          <p:cNvPr id="9" name="TextBox 8"/>
          <p:cNvSpPr txBox="1">
            <a:spLocks/>
          </p:cNvSpPr>
          <p:nvPr/>
        </p:nvSpPr>
        <p:spPr>
          <a:xfrm>
            <a:off x="502920" y="621792"/>
            <a:ext cx="11109960" cy="455509"/>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Practical handoff: SD-WAN Path-Selection Exercise</a:t>
            </a:r>
          </a:p>
        </p:txBody>
      </p:sp>
      <p:sp>
        <p:nvSpPr>
          <p:cNvPr id="10" name="TextBox 9"/>
          <p:cNvSpPr txBox="1">
            <a:spLocks/>
          </p:cNvSpPr>
          <p:nvPr/>
        </p:nvSpPr>
        <p:spPr>
          <a:xfrm>
            <a:off x="658368" y="1554480"/>
            <a:ext cx="6583680" cy="3846117"/>
          </a:xfrm>
          <a:prstGeom prst="rect">
            <a:avLst/>
          </a:prstGeom>
          <a:noFill/>
        </p:spPr>
        <p:txBody>
          <a:bodyPr wrap="square" lIns="109728" tIns="73152" rIns="109728" bIns="73152" anchor="t">
            <a:spAutoFit/>
          </a:bodyPr>
          <a:lstStyle/>
          <a:p>
            <a:pPr algn="l">
              <a:lnSpc>
                <a:spcPct val="105000"/>
              </a:lnSpc>
              <a:spcAft>
                <a:spcPts val="800"/>
              </a:spcAft>
              <a:defRPr sz="1700">
                <a:solidFill>
                  <a:srgbClr val="1E2B40"/>
                </a:solidFill>
              </a:defRPr>
            </a:pPr>
            <a:r>
              <a:rPr lang="en-GB"/>
              <a:t>• START / PREREQUISITES: Base lab has one controllable path; instructor provides two-path state tables unless a second path is built.</a:t>
            </a:r>
          </a:p>
          <a:p>
            <a:pPr>
              <a:lnSpc>
                <a:spcPct val="105000"/>
              </a:lnSpc>
              <a:spcAft>
                <a:spcPts val="800"/>
              </a:spcAft>
              <a:defRPr sz="1700">
                <a:solidFill>
                  <a:srgbClr val="1E2B40"/>
                </a:solidFill>
              </a:defRPr>
            </a:pPr>
            <a:r>
              <a:rPr lang="en-GB"/>
              <a:t>• CHANGE / INVESTIGATE: Predict member selection from rule/SLA state and verify the chosen path for new sessions in the supplied scenario.</a:t>
            </a:r>
          </a:p>
          <a:p>
            <a:pPr>
              <a:lnSpc>
                <a:spcPct val="105000"/>
              </a:lnSpc>
              <a:spcAft>
                <a:spcPts val="800"/>
              </a:spcAft>
              <a:defRPr sz="1700">
                <a:solidFill>
                  <a:srgbClr val="1E2B40"/>
                </a:solidFill>
              </a:defRPr>
            </a:pPr>
            <a:r>
              <a:rPr lang="en-GB"/>
              <a:t>• EXPECTED RESULT: The selected member follows the stated SLA/rule and the session egress matches the prediction.</a:t>
            </a:r>
          </a:p>
          <a:p>
            <a:pPr>
              <a:lnSpc>
                <a:spcPct val="105000"/>
              </a:lnSpc>
              <a:spcAft>
                <a:spcPts val="800"/>
              </a:spcAft>
              <a:defRPr sz="1700">
                <a:solidFill>
                  <a:srgbClr val="1E2B40"/>
                </a:solidFill>
              </a:defRPr>
            </a:pPr>
            <a:r>
              <a:rPr lang="en-GB"/>
              <a:t>• CLEANUP / RESET: Restore SLA/rule state or reset the worksheet; preserve shared Internet breakout.</a:t>
            </a:r>
          </a:p>
          <a:p>
            <a:pPr>
              <a:lnSpc>
                <a:spcPct val="105000"/>
              </a:lnSpc>
              <a:spcAft>
                <a:spcPts val="800"/>
              </a:spcAft>
              <a:defRPr sz="1700">
                <a:solidFill>
                  <a:srgbClr val="1E2B40"/>
                </a:solidFill>
              </a:defRPr>
            </a:pPr>
            <a:r>
              <a:rPr lang="en-GB"/>
              <a:t>• DELIVERY: Worked path-selection exercise; hands-on extension only with a second independently controllable path.</a:t>
            </a:r>
          </a:p>
        </p:txBody>
      </p:sp>
      <p:cxnSp>
        <p:nvCxnSpPr>
          <p:cNvPr id="11" name="Connector 10"/>
          <p:cNvCxnSpPr/>
          <p:nvPr/>
        </p:nvCxnSpPr>
        <p:spPr>
          <a:xfrm>
            <a:off x="7452360" y="1600200"/>
            <a:ext cx="0" cy="434340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7790688" y="1627632"/>
            <a:ext cx="342900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PLANNED EXERCISE</a:t>
            </a:r>
          </a:p>
        </p:txBody>
      </p:sp>
      <p:sp>
        <p:nvSpPr>
          <p:cNvPr id="13" name="TextBox 12"/>
          <p:cNvSpPr txBox="1">
            <a:spLocks/>
          </p:cNvSpPr>
          <p:nvPr/>
        </p:nvSpPr>
        <p:spPr>
          <a:xfrm>
            <a:off x="7790688" y="2057400"/>
            <a:ext cx="3337560" cy="1101840"/>
          </a:xfrm>
          <a:prstGeom prst="rect">
            <a:avLst/>
          </a:prstGeom>
          <a:noFill/>
        </p:spPr>
        <p:txBody>
          <a:bodyPr wrap="square" lIns="27432" tIns="27432" rIns="27432" bIns="27432" anchor="t">
            <a:spAutoFit/>
          </a:bodyPr>
          <a:lstStyle/>
          <a:p>
            <a:pPr algn="l">
              <a:spcAft>
                <a:spcPts val="0"/>
              </a:spcAft>
            </a:pPr>
            <a:r>
              <a:rPr lang="en-GB" sz="1700" b="1">
                <a:solidFill>
                  <a:srgbClr val="233A59"/>
                </a:solidFill>
              </a:rPr>
              <a:t>Predict member selection from rule/SLA state and verify the chosen path for new sessions in the supplied scenario.</a:t>
            </a:r>
          </a:p>
        </p:txBody>
      </p:sp>
      <p:sp>
        <p:nvSpPr>
          <p:cNvPr id="14" name="TextBox 13"/>
          <p:cNvSpPr txBox="1">
            <a:spLocks/>
          </p:cNvSpPr>
          <p:nvPr/>
        </p:nvSpPr>
        <p:spPr>
          <a:xfrm>
            <a:off x="7790688" y="3822191"/>
            <a:ext cx="18288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EXPECTED RESULT</a:t>
            </a:r>
          </a:p>
        </p:txBody>
      </p:sp>
      <p:sp>
        <p:nvSpPr>
          <p:cNvPr id="15" name="TextBox 14"/>
          <p:cNvSpPr txBox="1">
            <a:spLocks/>
          </p:cNvSpPr>
          <p:nvPr/>
        </p:nvSpPr>
        <p:spPr>
          <a:xfrm>
            <a:off x="7790688" y="4187952"/>
            <a:ext cx="3337560" cy="747897"/>
          </a:xfrm>
          <a:prstGeom prst="rect">
            <a:avLst/>
          </a:prstGeom>
          <a:noFill/>
        </p:spPr>
        <p:txBody>
          <a:bodyPr wrap="square" lIns="27432" tIns="27432" rIns="27432" bIns="27432" anchor="t">
            <a:spAutoFit/>
          </a:bodyPr>
          <a:lstStyle/>
          <a:p>
            <a:pPr algn="l">
              <a:spcAft>
                <a:spcPts val="0"/>
              </a:spcAft>
            </a:pPr>
            <a:r>
              <a:rPr lang="en-GB" sz="1500" b="0">
                <a:solidFill>
                  <a:srgbClr val="1E2B40"/>
                </a:solidFill>
              </a:rPr>
              <a:t>The selected member follows the stated SLA/rule and the session egress matches the prediction.</a:t>
            </a:r>
          </a:p>
        </p:txBody>
      </p:sp>
      <p:sp>
        <p:nvSpPr>
          <p:cNvPr id="16" name="TextBox 15"/>
          <p:cNvSpPr txBox="1">
            <a:spLocks/>
          </p:cNvSpPr>
          <p:nvPr/>
        </p:nvSpPr>
        <p:spPr>
          <a:xfrm>
            <a:off x="7790688" y="5559552"/>
            <a:ext cx="1097280" cy="209288"/>
          </a:xfrm>
          <a:prstGeom prst="rect">
            <a:avLst/>
          </a:prstGeom>
          <a:noFill/>
        </p:spPr>
        <p:txBody>
          <a:bodyPr wrap="square" lIns="27432" tIns="27432" rIns="27432" bIns="27432" anchor="t">
            <a:spAutoFit/>
          </a:bodyPr>
          <a:lstStyle/>
          <a:p>
            <a:pPr algn="l">
              <a:spcAft>
                <a:spcPts val="0"/>
              </a:spcAft>
            </a:pPr>
            <a:r>
              <a:rPr lang="en-GB" sz="1000" b="1">
                <a:solidFill>
                  <a:srgbClr val="687385"/>
                </a:solidFill>
              </a:rPr>
              <a:t>DELIVERY MODE</a:t>
            </a:r>
          </a:p>
        </p:txBody>
      </p:sp>
      <p:sp>
        <p:nvSpPr>
          <p:cNvPr id="17" name="TextBox 16"/>
          <p:cNvSpPr txBox="1">
            <a:spLocks/>
          </p:cNvSpPr>
          <p:nvPr/>
        </p:nvSpPr>
        <p:spPr>
          <a:xfrm>
            <a:off x="8942832" y="5504688"/>
            <a:ext cx="2258568" cy="486287"/>
          </a:xfrm>
          <a:prstGeom prst="rect">
            <a:avLst/>
          </a:prstGeom>
          <a:noFill/>
        </p:spPr>
        <p:txBody>
          <a:bodyPr wrap="square" lIns="27432" tIns="27432" rIns="27432" bIns="27432" anchor="t">
            <a:spAutoFit/>
          </a:bodyPr>
          <a:lstStyle/>
          <a:p>
            <a:pPr algn="r">
              <a:spcAft>
                <a:spcPts val="0"/>
              </a:spcAft>
            </a:pPr>
            <a:r>
              <a:rPr lang="en-GB" sz="1400" b="0">
                <a:solidFill>
                  <a:srgbClr val="687385"/>
                </a:solidFill>
              </a:rPr>
              <a:t>Worked scenario; hands-on optional</a:t>
            </a:r>
          </a:p>
        </p:txBody>
      </p:sp>
      <p:sp>
        <p:nvSpPr>
          <p:cNvPr id="18" name="TextBox 17"/>
          <p:cNvSpPr txBox="1">
            <a:spLocks/>
          </p:cNvSpPr>
          <p:nvPr/>
        </p:nvSpPr>
        <p:spPr>
          <a:xfrm>
            <a:off x="502920" y="420624"/>
            <a:ext cx="10744200" cy="130805"/>
          </a:xfrm>
          <a:prstGeom prst="rect">
            <a:avLst/>
          </a:prstGeom>
          <a:noFill/>
        </p:spPr>
        <p:txBody>
          <a:bodyPr wrap="square" lIns="0" tIns="0" rIns="0" bIns="0">
            <a:spAutoFit/>
          </a:bodyPr>
          <a:lstStyle/>
          <a:p>
            <a:pPr algn="l"/>
            <a:r>
              <a:rPr lang="en-GB" sz="850" b="1">
                <a:solidFill>
                  <a:srgbClr val="687385"/>
                </a:solidFill>
              </a:rPr>
              <a:t>174 • DAY 4 • BLOCK 15 • SD-WAN &amp; Design</a:t>
            </a:r>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name="Slide 175">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175</a:t>
            </a:r>
          </a:p>
        </p:txBody>
      </p:sp>
      <p:sp>
        <p:nvSpPr>
          <p:cNvPr id="9" name="TextBox 8"/>
          <p:cNvSpPr txBox="1">
            <a:spLocks/>
          </p:cNvSpPr>
          <p:nvPr/>
        </p:nvSpPr>
        <p:spPr>
          <a:xfrm>
            <a:off x="502920" y="621792"/>
            <a:ext cx="11109960" cy="455509"/>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Knowledge check — explain the result</a:t>
            </a:r>
          </a:p>
        </p:txBody>
      </p:sp>
      <p:sp>
        <p:nvSpPr>
          <p:cNvPr id="10" name="TextBox 9"/>
          <p:cNvSpPr txBox="1">
            <a:spLocks/>
          </p:cNvSpPr>
          <p:nvPr/>
        </p:nvSpPr>
        <p:spPr>
          <a:xfrm>
            <a:off x="658368" y="1600200"/>
            <a:ext cx="5312664" cy="292608"/>
          </a:xfrm>
          <a:prstGeom prst="rect">
            <a:avLst/>
          </a:prstGeom>
          <a:noFill/>
        </p:spPr>
        <p:txBody>
          <a:bodyPr wrap="square" lIns="27432" tIns="27432" rIns="27432" bIns="27432" anchor="t">
            <a:spAutoFit/>
          </a:bodyPr>
          <a:lstStyle/>
          <a:p>
            <a:pPr algn="l">
              <a:spcAft>
                <a:spcPts val="0"/>
              </a:spcAft>
            </a:pPr>
            <a:r>
              <a:rPr lang="en-GB" sz="1300" b="1">
                <a:solidFill>
                  <a:srgbClr val="E60012"/>
                </a:solidFill>
              </a:rPr>
              <a:t>QUESTION 1</a:t>
            </a:r>
          </a:p>
        </p:txBody>
      </p:sp>
      <p:cxnSp>
        <p:nvCxnSpPr>
          <p:cNvPr id="11" name="Connector 10"/>
          <p:cNvCxnSpPr/>
          <p:nvPr/>
        </p:nvCxnSpPr>
        <p:spPr>
          <a:xfrm>
            <a:off x="658368" y="1984248"/>
            <a:ext cx="5312664" cy="0"/>
          </a:xfrm>
          <a:prstGeom prst="line">
            <a:avLst/>
          </a:prstGeom>
          <a:ln w="22860">
            <a:solidFill>
              <a:srgbClr val="E60012"/>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658368" y="2176272"/>
            <a:ext cx="5312664" cy="3337560"/>
          </a:xfrm>
          <a:prstGeom prst="rect">
            <a:avLst/>
          </a:prstGeom>
          <a:noFill/>
        </p:spPr>
        <p:txBody>
          <a:bodyPr wrap="square" lIns="109728" tIns="73152" rIns="109728" bIns="73152" anchor="t">
            <a:spAutoFit/>
          </a:bodyPr>
          <a:lstStyle/>
          <a:p>
            <a:pPr algn="l">
              <a:lnSpc>
                <a:spcPct val="105000"/>
              </a:lnSpc>
              <a:spcAft>
                <a:spcPts val="800"/>
              </a:spcAft>
              <a:defRPr sz="1600">
                <a:solidFill>
                  <a:srgbClr val="1E2B40"/>
                </a:solidFill>
              </a:defRPr>
            </a:pPr>
            <a:r>
              <a:rPr lang="en-GB"/>
              <a:t>• What is the difference between a member being up and in SLA?</a:t>
            </a:r>
          </a:p>
        </p:txBody>
      </p:sp>
      <p:sp>
        <p:nvSpPr>
          <p:cNvPr id="13" name="TextBox 12"/>
          <p:cNvSpPr txBox="1">
            <a:spLocks/>
          </p:cNvSpPr>
          <p:nvPr/>
        </p:nvSpPr>
        <p:spPr>
          <a:xfrm>
            <a:off x="6227064" y="1600200"/>
            <a:ext cx="5312664" cy="292608"/>
          </a:xfrm>
          <a:prstGeom prst="rect">
            <a:avLst/>
          </a:prstGeom>
          <a:noFill/>
        </p:spPr>
        <p:txBody>
          <a:bodyPr wrap="square" lIns="27432" tIns="27432" rIns="27432" bIns="27432" anchor="t">
            <a:spAutoFit/>
          </a:bodyPr>
          <a:lstStyle/>
          <a:p>
            <a:pPr algn="l">
              <a:spcAft>
                <a:spcPts val="0"/>
              </a:spcAft>
            </a:pPr>
            <a:r>
              <a:rPr lang="en-GB" sz="1300" b="1">
                <a:solidFill>
                  <a:srgbClr val="E60012"/>
                </a:solidFill>
              </a:rPr>
              <a:t>QUESTION 2</a:t>
            </a:r>
          </a:p>
        </p:txBody>
      </p:sp>
      <p:cxnSp>
        <p:nvCxnSpPr>
          <p:cNvPr id="14" name="Connector 13"/>
          <p:cNvCxnSpPr/>
          <p:nvPr/>
        </p:nvCxnSpPr>
        <p:spPr>
          <a:xfrm>
            <a:off x="6227064" y="1984248"/>
            <a:ext cx="5312664" cy="0"/>
          </a:xfrm>
          <a:prstGeom prst="line">
            <a:avLst/>
          </a:prstGeom>
          <a:ln w="22860">
            <a:solidFill>
              <a:srgbClr val="E60012"/>
            </a:solidFill>
          </a:ln>
        </p:spPr>
        <p:style>
          <a:lnRef idx="2">
            <a:schemeClr val="accent1"/>
          </a:lnRef>
          <a:fillRef idx="0">
            <a:schemeClr val="accent1"/>
          </a:fillRef>
          <a:effectRef idx="1">
            <a:schemeClr val="accent1"/>
          </a:effectRef>
          <a:fontRef idx="minor">
            <a:schemeClr val="tx1"/>
          </a:fontRef>
        </p:style>
      </p:cxnSp>
      <p:sp>
        <p:nvSpPr>
          <p:cNvPr id="15" name="TextBox 14"/>
          <p:cNvSpPr txBox="1">
            <a:spLocks/>
          </p:cNvSpPr>
          <p:nvPr/>
        </p:nvSpPr>
        <p:spPr>
          <a:xfrm>
            <a:off x="6227064" y="2176272"/>
            <a:ext cx="5312664" cy="3337560"/>
          </a:xfrm>
          <a:prstGeom prst="rect">
            <a:avLst/>
          </a:prstGeom>
          <a:noFill/>
        </p:spPr>
        <p:txBody>
          <a:bodyPr wrap="square" lIns="109728" tIns="73152" rIns="109728" bIns="73152" anchor="t">
            <a:spAutoFit/>
          </a:bodyPr>
          <a:lstStyle/>
          <a:p>
            <a:pPr algn="l">
              <a:lnSpc>
                <a:spcPct val="105000"/>
              </a:lnSpc>
              <a:spcAft>
                <a:spcPts val="800"/>
              </a:spcAft>
              <a:defRPr sz="1600">
                <a:solidFill>
                  <a:srgbClr val="1E2B40"/>
                </a:solidFill>
              </a:defRPr>
            </a:pPr>
            <a:r>
              <a:rPr lang="en-GB"/>
              <a:t>• What proves the selected path?</a:t>
            </a:r>
          </a:p>
        </p:txBody>
      </p:sp>
      <p:sp>
        <p:nvSpPr>
          <p:cNvPr id="16" name="TextBox 15"/>
          <p:cNvSpPr txBox="1">
            <a:spLocks/>
          </p:cNvSpPr>
          <p:nvPr/>
        </p:nvSpPr>
        <p:spPr>
          <a:xfrm>
            <a:off x="658368" y="5724144"/>
            <a:ext cx="1234440" cy="224677"/>
          </a:xfrm>
          <a:prstGeom prst="rect">
            <a:avLst/>
          </a:prstGeom>
          <a:noFill/>
        </p:spPr>
        <p:txBody>
          <a:bodyPr wrap="square" lIns="27432" tIns="27432" rIns="27432" bIns="27432" anchor="t">
            <a:spAutoFit/>
          </a:bodyPr>
          <a:lstStyle/>
          <a:p>
            <a:pPr algn="l">
              <a:spcAft>
                <a:spcPts val="0"/>
              </a:spcAft>
            </a:pPr>
            <a:r>
              <a:rPr lang="en-GB" sz="1100" b="1">
                <a:solidFill>
                  <a:srgbClr val="233A59"/>
                </a:solidFill>
              </a:rPr>
              <a:t>KEY DISTINCTION</a:t>
            </a:r>
          </a:p>
        </p:txBody>
      </p:sp>
      <p:sp>
        <p:nvSpPr>
          <p:cNvPr id="17" name="TextBox 16"/>
          <p:cNvSpPr txBox="1">
            <a:spLocks/>
          </p:cNvSpPr>
          <p:nvPr/>
        </p:nvSpPr>
        <p:spPr>
          <a:xfrm>
            <a:off x="1920240" y="5687568"/>
            <a:ext cx="9235440" cy="329184"/>
          </a:xfrm>
          <a:prstGeom prst="rect">
            <a:avLst/>
          </a:prstGeom>
          <a:noFill/>
        </p:spPr>
        <p:txBody>
          <a:bodyPr wrap="square" lIns="27432" tIns="27432" rIns="27432" bIns="27432" anchor="t">
            <a:spAutoFit/>
          </a:bodyPr>
          <a:lstStyle/>
          <a:p>
            <a:pPr algn="l">
              <a:spcAft>
                <a:spcPts val="0"/>
              </a:spcAft>
            </a:pPr>
            <a:r>
              <a:rPr lang="en-GB" sz="1400" b="1">
                <a:solidFill>
                  <a:srgbClr val="233A59"/>
                </a:solidFill>
              </a:rPr>
              <a:t>Answers and teaching rationale are in speaker notes.</a:t>
            </a:r>
          </a:p>
        </p:txBody>
      </p:sp>
      <p:sp>
        <p:nvSpPr>
          <p:cNvPr id="18" name="TextBox 17"/>
          <p:cNvSpPr txBox="1">
            <a:spLocks/>
          </p:cNvSpPr>
          <p:nvPr/>
        </p:nvSpPr>
        <p:spPr>
          <a:xfrm>
            <a:off x="502920" y="420624"/>
            <a:ext cx="10744200" cy="130805"/>
          </a:xfrm>
          <a:prstGeom prst="rect">
            <a:avLst/>
          </a:prstGeom>
          <a:noFill/>
        </p:spPr>
        <p:txBody>
          <a:bodyPr wrap="square" lIns="0" tIns="0" rIns="0" bIns="0">
            <a:spAutoFit/>
          </a:bodyPr>
          <a:lstStyle/>
          <a:p>
            <a:pPr algn="l"/>
            <a:r>
              <a:rPr lang="en-GB" sz="850" b="1">
                <a:solidFill>
                  <a:srgbClr val="687385"/>
                </a:solidFill>
              </a:rPr>
              <a:t>175 • DAY 4 • BLOCK 15 • SD-WAN &amp; Design</a:t>
            </a:r>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name="Slide 176">
    <p:bg>
      <p:bgPr>
        <a:solidFill>
          <a:srgbClr val="101827"/>
        </a:solidFill>
        <a:effectLst/>
      </p:bgPr>
    </p:bg>
    <p:spTree>
      <p:nvGrpSpPr>
        <p:cNvPr id="1" name=""/>
        <p:cNvGrpSpPr/>
        <p:nvPr/>
      </p:nvGrpSpPr>
      <p:grpSpPr>
        <a:xfrm>
          <a:off x="0" y="0"/>
          <a:ext cx="1" cy="1"/>
          <a:chOff x="0" y="0"/>
          <a:chExt cx="1" cy="1"/>
        </a:xfrm>
      </p:grpSpPr>
      <p:sp>
        <p:nvSpPr>
          <p:cNvPr id="2" name="Rectangle 1"/>
          <p:cNvSpPr/>
          <p:nvPr/>
        </p:nvSpPr>
        <p:spPr>
          <a:xfrm>
            <a:off x="0" y="0"/>
            <a:ext cx="146304" cy="6858000"/>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a:spLocks/>
          </p:cNvSpPr>
          <p:nvPr/>
        </p:nvSpPr>
        <p:spPr>
          <a:xfrm>
            <a:off x="658368" y="566928"/>
            <a:ext cx="5212080" cy="256032"/>
          </a:xfrm>
          <a:prstGeom prst="rect">
            <a:avLst/>
          </a:prstGeom>
          <a:noFill/>
        </p:spPr>
        <p:txBody>
          <a:bodyPr wrap="square" lIns="27432" tIns="27432" rIns="27432" bIns="27432" anchor="t">
            <a:spAutoFit/>
          </a:bodyPr>
          <a:lstStyle/>
          <a:p>
            <a:pPr algn="l">
              <a:spcAft>
                <a:spcPts val="0"/>
              </a:spcAft>
            </a:pPr>
            <a:r>
              <a:rPr lang="en-GB" sz="1400" b="1">
                <a:solidFill>
                  <a:srgbClr val="E60012"/>
                </a:solidFill>
              </a:rPr>
              <a:t>DAY 4  •  14:30–16:00</a:t>
            </a:r>
          </a:p>
        </p:txBody>
      </p:sp>
      <p:sp>
        <p:nvSpPr>
          <p:cNvPr id="4" name="TextBox 3"/>
          <p:cNvSpPr txBox="1">
            <a:spLocks/>
          </p:cNvSpPr>
          <p:nvPr/>
        </p:nvSpPr>
        <p:spPr>
          <a:xfrm>
            <a:off x="658368" y="1097280"/>
            <a:ext cx="10515600" cy="914400"/>
          </a:xfrm>
          <a:prstGeom prst="rect">
            <a:avLst/>
          </a:prstGeom>
          <a:noFill/>
        </p:spPr>
        <p:txBody>
          <a:bodyPr wrap="square" lIns="27432" tIns="27432" rIns="27432" bIns="27432" anchor="t">
            <a:spAutoFit/>
          </a:bodyPr>
          <a:lstStyle/>
          <a:p>
            <a:pPr algn="l">
              <a:spcAft>
                <a:spcPts val="0"/>
              </a:spcAft>
            </a:pPr>
            <a:r>
              <a:rPr lang="en-GB" sz="3400" b="1">
                <a:solidFill>
                  <a:srgbClr val="FFFFFF"/>
                </a:solidFill>
              </a:rPr>
              <a:t>Performance Optimization, Advanced Troubleshooting &amp; Capstone</a:t>
            </a:r>
          </a:p>
        </p:txBody>
      </p:sp>
      <p:sp>
        <p:nvSpPr>
          <p:cNvPr id="5" name="TextBox 4"/>
          <p:cNvSpPr txBox="1">
            <a:spLocks/>
          </p:cNvSpPr>
          <p:nvPr/>
        </p:nvSpPr>
        <p:spPr>
          <a:xfrm>
            <a:off x="676656" y="2084831"/>
            <a:ext cx="8686800" cy="320040"/>
          </a:xfrm>
          <a:prstGeom prst="rect">
            <a:avLst/>
          </a:prstGeom>
          <a:noFill/>
        </p:spPr>
        <p:txBody>
          <a:bodyPr wrap="square" lIns="27432" tIns="27432" rIns="27432" bIns="27432" anchor="t">
            <a:spAutoFit/>
          </a:bodyPr>
          <a:lstStyle/>
          <a:p>
            <a:pPr algn="l">
              <a:spcAft>
                <a:spcPts val="0"/>
              </a:spcAft>
            </a:pPr>
            <a:r>
              <a:rPr lang="en-GB" sz="1500" b="0">
                <a:solidFill>
                  <a:srgbClr val="C9D1DD"/>
                </a:solidFill>
              </a:rPr>
              <a:t>Advanced • Day 2 of 2</a:t>
            </a:r>
          </a:p>
        </p:txBody>
      </p:sp>
      <p:cxnSp>
        <p:nvCxnSpPr>
          <p:cNvPr id="6" name="Connector 5"/>
          <p:cNvCxnSpPr/>
          <p:nvPr/>
        </p:nvCxnSpPr>
        <p:spPr>
          <a:xfrm>
            <a:off x="676656" y="2578608"/>
            <a:ext cx="10616184" cy="0"/>
          </a:xfrm>
          <a:prstGeom prst="line">
            <a:avLst/>
          </a:prstGeom>
          <a:ln w="12700">
            <a:solidFill>
              <a:srgbClr val="40516A"/>
            </a:solidFill>
          </a:ln>
        </p:spPr>
        <p:style>
          <a:lnRef idx="2">
            <a:schemeClr val="accent1"/>
          </a:lnRef>
          <a:fillRef idx="0">
            <a:schemeClr val="accent1"/>
          </a:fillRef>
          <a:effectRef idx="1">
            <a:schemeClr val="accent1"/>
          </a:effectRef>
          <a:fontRef idx="minor">
            <a:schemeClr val="tx1"/>
          </a:fontRef>
        </p:style>
      </p:cxnSp>
      <p:sp>
        <p:nvSpPr>
          <p:cNvPr id="7" name="TextBox 6"/>
          <p:cNvSpPr txBox="1">
            <a:spLocks/>
          </p:cNvSpPr>
          <p:nvPr/>
        </p:nvSpPr>
        <p:spPr>
          <a:xfrm>
            <a:off x="685800" y="2889504"/>
            <a:ext cx="27432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LEARNING OBJECTIVES</a:t>
            </a:r>
          </a:p>
        </p:txBody>
      </p:sp>
      <p:sp>
        <p:nvSpPr>
          <p:cNvPr id="8" name="TextBox 7"/>
          <p:cNvSpPr txBox="1">
            <a:spLocks/>
          </p:cNvSpPr>
          <p:nvPr/>
        </p:nvSpPr>
        <p:spPr>
          <a:xfrm>
            <a:off x="685800" y="3218688"/>
            <a:ext cx="6035040" cy="1692451"/>
          </a:xfrm>
          <a:prstGeom prst="rect">
            <a:avLst/>
          </a:prstGeom>
          <a:noFill/>
        </p:spPr>
        <p:txBody>
          <a:bodyPr wrap="square" lIns="109728" tIns="73152" rIns="109728" bIns="73152" anchor="t">
            <a:spAutoFit/>
          </a:bodyPr>
          <a:lstStyle/>
          <a:p>
            <a:pPr algn="l">
              <a:lnSpc>
                <a:spcPct val="105000"/>
              </a:lnSpc>
              <a:spcAft>
                <a:spcPts val="700"/>
              </a:spcAft>
              <a:defRPr sz="1700">
                <a:solidFill>
                  <a:srgbClr val="FFFFFF"/>
                </a:solidFill>
              </a:defRPr>
            </a:pPr>
            <a:r>
              <a:rPr lang="en-GB"/>
              <a:t>• Relate session scale, offload, inspection and resource use</a:t>
            </a:r>
          </a:p>
          <a:p>
            <a:pPr>
              <a:lnSpc>
                <a:spcPct val="105000"/>
              </a:lnSpc>
              <a:spcAft>
                <a:spcPts val="700"/>
              </a:spcAft>
              <a:defRPr sz="1700">
                <a:solidFill>
                  <a:srgbClr val="FFFFFF"/>
                </a:solidFill>
              </a:defRPr>
            </a:pPr>
            <a:r>
              <a:rPr lang="en-GB"/>
              <a:t>• Troubleshoot CPU, memory and Conserve Mode from measured state</a:t>
            </a:r>
          </a:p>
          <a:p>
            <a:pPr>
              <a:lnSpc>
                <a:spcPct val="105000"/>
              </a:lnSpc>
              <a:spcAft>
                <a:spcPts val="700"/>
              </a:spcAft>
              <a:defRPr sz="1700">
                <a:solidFill>
                  <a:srgbClr val="FFFFFF"/>
                </a:solidFill>
              </a:defRPr>
            </a:pPr>
            <a:r>
              <a:rPr lang="en-GB"/>
              <a:t>• Complete an integrated policy/routing/VPN/SD-WAN capstone</a:t>
            </a:r>
          </a:p>
        </p:txBody>
      </p:sp>
      <p:sp>
        <p:nvSpPr>
          <p:cNvPr id="9" name="TextBox 8"/>
          <p:cNvSpPr txBox="1">
            <a:spLocks/>
          </p:cNvSpPr>
          <p:nvPr/>
        </p:nvSpPr>
        <p:spPr>
          <a:xfrm>
            <a:off x="7315200" y="2889504"/>
            <a:ext cx="36576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PREREQUISITES + PRACTICE RESERVE</a:t>
            </a:r>
          </a:p>
        </p:txBody>
      </p:sp>
      <p:sp>
        <p:nvSpPr>
          <p:cNvPr id="10" name="TextBox 9"/>
          <p:cNvSpPr txBox="1">
            <a:spLocks/>
          </p:cNvSpPr>
          <p:nvPr/>
        </p:nvSpPr>
        <p:spPr>
          <a:xfrm>
            <a:off x="7315200" y="3218688"/>
            <a:ext cx="3886200" cy="1143000"/>
          </a:xfrm>
          <a:prstGeom prst="rect">
            <a:avLst/>
          </a:prstGeom>
          <a:noFill/>
        </p:spPr>
        <p:txBody>
          <a:bodyPr wrap="square" lIns="109728" tIns="73152" rIns="109728" bIns="73152" anchor="t">
            <a:spAutoFit/>
          </a:bodyPr>
          <a:lstStyle/>
          <a:p>
            <a:pPr algn="l">
              <a:lnSpc>
                <a:spcPct val="105000"/>
              </a:lnSpc>
              <a:spcAft>
                <a:spcPts val="600"/>
              </a:spcAft>
              <a:defRPr sz="1500">
                <a:solidFill>
                  <a:srgbClr val="FFFFFF"/>
                </a:solidFill>
              </a:defRPr>
            </a:pPr>
            <a:r>
              <a:rPr lang="en-GB"/>
              <a:t>• Read-only performance access</a:t>
            </a:r>
          </a:p>
          <a:p>
            <a:pPr>
              <a:lnSpc>
                <a:spcPct val="105000"/>
              </a:lnSpc>
              <a:spcAft>
                <a:spcPts val="600"/>
              </a:spcAft>
              <a:defRPr sz="1500">
                <a:solidFill>
                  <a:srgbClr val="FFFFFF"/>
                </a:solidFill>
              </a:defRPr>
            </a:pPr>
            <a:r>
              <a:rPr lang="en-GB"/>
              <a:t>• Baseline or instructor-provided metrics</a:t>
            </a:r>
          </a:p>
          <a:p>
            <a:pPr>
              <a:lnSpc>
                <a:spcPct val="105000"/>
              </a:lnSpc>
              <a:spcAft>
                <a:spcPts val="600"/>
              </a:spcAft>
              <a:defRPr sz="1500">
                <a:solidFill>
                  <a:srgbClr val="FFFFFF"/>
                </a:solidFill>
              </a:defRPr>
            </a:pPr>
            <a:r>
              <a:rPr lang="en-GB"/>
              <a:t>• Safe fault injection in an isolated lab only</a:t>
            </a:r>
          </a:p>
        </p:txBody>
      </p:sp>
      <p:sp>
        <p:nvSpPr>
          <p:cNvPr id="11" name="TextBox 10"/>
          <p:cNvSpPr txBox="1">
            <a:spLocks/>
          </p:cNvSpPr>
          <p:nvPr/>
        </p:nvSpPr>
        <p:spPr>
          <a:xfrm>
            <a:off x="7315200" y="4709160"/>
            <a:ext cx="3931920" cy="685800"/>
          </a:xfrm>
          <a:prstGeom prst="rect">
            <a:avLst/>
          </a:prstGeom>
          <a:noFill/>
        </p:spPr>
        <p:txBody>
          <a:bodyPr wrap="square" lIns="27432" tIns="27432" rIns="27432" bIns="27432" anchor="t">
            <a:spAutoFit/>
          </a:bodyPr>
          <a:lstStyle/>
          <a:p>
            <a:pPr algn="l">
              <a:spcAft>
                <a:spcPts val="0"/>
              </a:spcAft>
            </a:pPr>
            <a:r>
              <a:rPr lang="en-GB" sz="1600" b="1">
                <a:solidFill>
                  <a:srgbClr val="D8E0EA"/>
                </a:solidFill>
              </a:rPr>
              <a:t>Teach ~58 min • reserve ~32 min for guided activity, discussion and debrief</a:t>
            </a:r>
          </a:p>
        </p:txBody>
      </p:sp>
      <p:sp>
        <p:nvSpPr>
          <p:cNvPr id="12" name="TextBox 11"/>
          <p:cNvSpPr txBox="1">
            <a:spLocks/>
          </p:cNvSpPr>
          <p:nvPr/>
        </p:nvSpPr>
        <p:spPr>
          <a:xfrm>
            <a:off x="10424160" y="5715000"/>
            <a:ext cx="731520" cy="363176"/>
          </a:xfrm>
          <a:prstGeom prst="rect">
            <a:avLst/>
          </a:prstGeom>
          <a:noFill/>
        </p:spPr>
        <p:txBody>
          <a:bodyPr wrap="square" lIns="27432" tIns="27432" rIns="27432" bIns="27432" anchor="t">
            <a:spAutoFit/>
          </a:bodyPr>
          <a:lstStyle/>
          <a:p>
            <a:pPr algn="r">
              <a:spcAft>
                <a:spcPts val="0"/>
              </a:spcAft>
            </a:pPr>
            <a:r>
              <a:rPr lang="en-HU" sz="2000" b="1">
                <a:solidFill>
                  <a:srgbClr val="E60012"/>
                </a:solidFill>
              </a:rPr>
              <a:t>176</a:t>
            </a:r>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name="Slide 177">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177</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Session-table sizing begins with traffic behavior</a:t>
            </a:r>
          </a:p>
        </p:txBody>
      </p:sp>
      <p:sp>
        <p:nvSpPr>
          <p:cNvPr id="10" name="TextBox 9"/>
          <p:cNvSpPr txBox="1">
            <a:spLocks/>
          </p:cNvSpPr>
          <p:nvPr/>
        </p:nvSpPr>
        <p:spPr>
          <a:xfrm>
            <a:off x="658368" y="1554480"/>
            <a:ext cx="6583680" cy="4389120"/>
          </a:xfrm>
          <a:prstGeom prst="rect">
            <a:avLst/>
          </a:prstGeom>
          <a:noFill/>
        </p:spPr>
        <p:txBody>
          <a:bodyPr wrap="square" lIns="109728" tIns="73152" rIns="109728" bIns="73152" anchor="t">
            <a:spAutoFit/>
          </a:bodyPr>
          <a:lstStyle/>
          <a:p>
            <a:pPr algn="l">
              <a:lnSpc>
                <a:spcPct val="105000"/>
              </a:lnSpc>
              <a:spcAft>
                <a:spcPts val="800"/>
              </a:spcAft>
              <a:defRPr sz="1700">
                <a:solidFill>
                  <a:srgbClr val="1E2B40"/>
                </a:solidFill>
              </a:defRPr>
            </a:pPr>
            <a:r>
              <a:rPr lang="en-GB"/>
              <a:t>• Concurrent sessions differ from new sessions per second</a:t>
            </a:r>
          </a:p>
          <a:p>
            <a:pPr>
              <a:lnSpc>
                <a:spcPct val="105000"/>
              </a:lnSpc>
              <a:spcAft>
                <a:spcPts val="800"/>
              </a:spcAft>
              <a:defRPr sz="1700">
                <a:solidFill>
                  <a:srgbClr val="1E2B40"/>
                </a:solidFill>
              </a:defRPr>
            </a:pPr>
            <a:r>
              <a:rPr lang="en-GB"/>
              <a:t>• Long-lived, idle and half-open sessions consume different operational attention</a:t>
            </a:r>
          </a:p>
          <a:p>
            <a:pPr>
              <a:lnSpc>
                <a:spcPct val="105000"/>
              </a:lnSpc>
              <a:spcAft>
                <a:spcPts val="800"/>
              </a:spcAft>
              <a:defRPr sz="1700">
                <a:solidFill>
                  <a:srgbClr val="1E2B40"/>
                </a:solidFill>
              </a:defRPr>
            </a:pPr>
            <a:r>
              <a:rPr lang="en-GB"/>
              <a:t>• NAT, inspection and logging add state/resources</a:t>
            </a:r>
          </a:p>
          <a:p>
            <a:pPr>
              <a:lnSpc>
                <a:spcPct val="105000"/>
              </a:lnSpc>
              <a:spcAft>
                <a:spcPts val="800"/>
              </a:spcAft>
              <a:defRPr sz="1700">
                <a:solidFill>
                  <a:srgbClr val="1E2B40"/>
                </a:solidFill>
              </a:defRPr>
            </a:pPr>
            <a:r>
              <a:rPr lang="en-GB"/>
              <a:t>• Use model datasheet and measured baseline; never copy a generic maximum into design</a:t>
            </a:r>
          </a:p>
        </p:txBody>
      </p:sp>
      <p:cxnSp>
        <p:nvCxnSpPr>
          <p:cNvPr id="11" name="Connector 10"/>
          <p:cNvCxnSpPr/>
          <p:nvPr/>
        </p:nvCxnSpPr>
        <p:spPr>
          <a:xfrm>
            <a:off x="7452360" y="1600200"/>
            <a:ext cx="0" cy="434340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7790688" y="1627632"/>
            <a:ext cx="342900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ILLUSTRATIVE SCENARIO</a:t>
            </a:r>
          </a:p>
        </p:txBody>
      </p:sp>
      <p:sp>
        <p:nvSpPr>
          <p:cNvPr id="13" name="TextBox 12"/>
          <p:cNvSpPr txBox="1"/>
          <p:nvPr/>
        </p:nvSpPr>
        <p:spPr>
          <a:xfrm>
            <a:off x="7790688" y="2057400"/>
            <a:ext cx="3337560" cy="1417320"/>
          </a:xfrm>
          <a:prstGeom prst="rect">
            <a:avLst/>
          </a:prstGeom>
          <a:noFill/>
        </p:spPr>
        <p:txBody>
          <a:bodyPr wrap="square" lIns="27432" tIns="27432" rIns="27432" bIns="27432" anchor="t">
            <a:spAutoFit/>
          </a:bodyPr>
          <a:lstStyle/>
          <a:p>
            <a:pPr algn="l">
              <a:spcAft>
                <a:spcPts val="0"/>
              </a:spcAft>
            </a:pPr>
            <a:r>
              <a:rPr sz="1700" b="1">
                <a:solidFill>
                  <a:srgbClr val="233A59"/>
                </a:solidFill>
              </a:rPr>
              <a:t>A branch with many short web sessions stresses setup rate differently from persistent VPN flows</a:t>
            </a:r>
          </a:p>
        </p:txBody>
      </p:sp>
      <p:sp>
        <p:nvSpPr>
          <p:cNvPr id="14" name="TextBox 13"/>
          <p:cNvSpPr txBox="1"/>
          <p:nvPr/>
        </p:nvSpPr>
        <p:spPr>
          <a:xfrm>
            <a:off x="7790688" y="3822191"/>
            <a:ext cx="18288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EXPECTED RESULT</a:t>
            </a:r>
            <a:endParaRPr sz="1100" b="1">
              <a:solidFill>
                <a:srgbClr val="E60012"/>
              </a:solidFill>
            </a:endParaRPr>
          </a:p>
        </p:txBody>
      </p:sp>
      <p:sp>
        <p:nvSpPr>
          <p:cNvPr id="15" name="TextBox 14"/>
          <p:cNvSpPr txBox="1"/>
          <p:nvPr/>
        </p:nvSpPr>
        <p:spPr>
          <a:xfrm>
            <a:off x="7790688" y="4187952"/>
            <a:ext cx="3337560" cy="1325880"/>
          </a:xfrm>
          <a:prstGeom prst="rect">
            <a:avLst/>
          </a:prstGeom>
          <a:noFill/>
        </p:spPr>
        <p:txBody>
          <a:bodyPr wrap="square" lIns="27432" tIns="27432" rIns="27432" bIns="27432" anchor="t">
            <a:spAutoFit/>
          </a:bodyPr>
          <a:lstStyle/>
          <a:p>
            <a:pPr algn="l">
              <a:spcAft>
                <a:spcPts val="0"/>
              </a:spcAft>
            </a:pPr>
            <a:r>
              <a:rPr sz="1500" b="0">
                <a:solidFill>
                  <a:srgbClr val="1E2B40"/>
                </a:solidFill>
              </a:rPr>
              <a:t>Compare session count/rate, timeout distribution and peak trend.</a:t>
            </a:r>
          </a:p>
        </p:txBody>
      </p:sp>
      <p:sp>
        <p:nvSpPr>
          <p:cNvPr id="16" name="TextBox 15"/>
          <p:cNvSpPr txBox="1"/>
          <p:nvPr/>
        </p:nvSpPr>
        <p:spPr>
          <a:xfrm>
            <a:off x="7790688" y="5596128"/>
            <a:ext cx="1920240" cy="201168"/>
          </a:xfrm>
          <a:prstGeom prst="rect">
            <a:avLst/>
          </a:prstGeom>
          <a:noFill/>
        </p:spPr>
        <p:txBody>
          <a:bodyPr wrap="square" lIns="27432" tIns="27432" rIns="27432" bIns="27432" anchor="t">
            <a:spAutoFit/>
          </a:bodyPr>
          <a:lstStyle/>
          <a:p>
            <a:pPr algn="l">
              <a:spcAft>
                <a:spcPts val="0"/>
              </a:spcAft>
            </a:pPr>
            <a:r>
              <a:rPr sz="1000" b="1">
                <a:solidFill>
                  <a:srgbClr val="687385"/>
                </a:solidFill>
              </a:rPr>
              <a:t>Expected observation</a:t>
            </a:r>
          </a:p>
        </p:txBody>
      </p:sp>
      <p:sp>
        <p:nvSpPr>
          <p:cNvPr id="17" name="TextBox 16"/>
          <p:cNvSpPr txBox="1"/>
          <p:nvPr/>
        </p:nvSpPr>
        <p:spPr>
          <a:xfrm>
            <a:off x="9509760" y="5577840"/>
            <a:ext cx="1691640" cy="824841"/>
          </a:xfrm>
          <a:prstGeom prst="rect">
            <a:avLst/>
          </a:prstGeom>
          <a:noFill/>
        </p:spPr>
        <p:txBody>
          <a:bodyPr wrap="square" lIns="27432" tIns="27432" rIns="27432" bIns="27432" anchor="t">
            <a:spAutoFit/>
          </a:bodyPr>
          <a:lstStyle/>
          <a:p>
            <a:pPr algn="r">
              <a:spcAft>
                <a:spcPts val="0"/>
              </a:spcAft>
            </a:pPr>
            <a:r>
              <a:rPr lang="en-GB" sz="1000" b="0">
                <a:solidFill>
                  <a:srgbClr val="687385"/>
                </a:solidFill>
              </a:rPr>
              <a:t>The team identifies </a:t>
            </a:r>
            <a:r>
              <a:rPr sz="1000" b="0">
                <a:solidFill>
                  <a:srgbClr val="687385"/>
                </a:solidFill>
              </a:rPr>
              <a:t>the </a:t>
            </a:r>
            <a:r>
              <a:rPr lang="en-GB" sz="1000" b="0">
                <a:solidFill>
                  <a:srgbClr val="687385"/>
                </a:solidFill>
              </a:rPr>
              <a:t>failed decision, applies one reversible fix, </a:t>
            </a:r>
            <a:r>
              <a:rPr sz="1000" b="0">
                <a:solidFill>
                  <a:srgbClr val="687385"/>
                </a:solidFill>
              </a:rPr>
              <a:t>and </a:t>
            </a:r>
            <a:r>
              <a:rPr lang="en-GB" sz="1000" b="0">
                <a:solidFill>
                  <a:srgbClr val="687385"/>
                </a:solidFill>
              </a:rPr>
              <a:t>the application succeeds with stable resources</a:t>
            </a:r>
            <a:r>
              <a:rPr sz="1000" b="0">
                <a:solidFill>
                  <a:srgbClr val="687385"/>
                </a:solidFill>
              </a:rPr>
              <a:t>.</a:t>
            </a:r>
          </a:p>
        </p:txBody>
      </p:sp>
      <p:sp>
        <p:nvSpPr>
          <p:cNvPr id="18" name="TextBox 17"/>
          <p:cNvSpPr txBox="1"/>
          <p:nvPr/>
        </p:nvSpPr>
        <p:spPr>
          <a:xfrm>
            <a:off x="502920" y="420624"/>
            <a:ext cx="10744200" cy="130805"/>
          </a:xfrm>
          <a:prstGeom prst="rect">
            <a:avLst/>
          </a:prstGeom>
          <a:noFill/>
        </p:spPr>
        <p:txBody>
          <a:bodyPr wrap="square" lIns="0" tIns="0" rIns="0" bIns="0">
            <a:spAutoFit/>
          </a:bodyPr>
          <a:lstStyle/>
          <a:p>
            <a:pPr algn="l"/>
            <a:r>
              <a:rPr lang="en-HU" sz="850" b="1">
                <a:solidFill>
                  <a:srgbClr val="687385"/>
                </a:solidFill>
              </a:rPr>
              <a:t>177</a:t>
            </a:r>
            <a:r>
              <a:rPr sz="850" b="1">
                <a:solidFill>
                  <a:srgbClr val="687385"/>
                </a:solidFill>
              </a:rPr>
              <a:t> • DAY 4 • BLOCK 16 • Performance, Troubleshooting &amp; Capstone</a:t>
            </a:r>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name="Slide 178">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178</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Hardware offload validation must be platform specific</a:t>
            </a:r>
          </a:p>
        </p:txBody>
      </p:sp>
      <p:sp>
        <p:nvSpPr>
          <p:cNvPr id="10" name="TextBox 9"/>
          <p:cNvSpPr txBox="1">
            <a:spLocks/>
          </p:cNvSpPr>
          <p:nvPr/>
        </p:nvSpPr>
        <p:spPr>
          <a:xfrm>
            <a:off x="658368" y="1554480"/>
            <a:ext cx="6583680" cy="2095382"/>
          </a:xfrm>
          <a:prstGeom prst="rect">
            <a:avLst/>
          </a:prstGeom>
          <a:noFill/>
        </p:spPr>
        <p:txBody>
          <a:bodyPr wrap="square" lIns="109728" tIns="73152" rIns="109728" bIns="73152" anchor="t">
            <a:spAutoFit/>
          </a:bodyPr>
          <a:lstStyle/>
          <a:p>
            <a:pPr algn="l">
              <a:lnSpc>
                <a:spcPct val="105000"/>
              </a:lnSpc>
              <a:spcAft>
                <a:spcPts val="800"/>
              </a:spcAft>
              <a:defRPr sz="1700">
                <a:solidFill>
                  <a:srgbClr val="1E2B40"/>
                </a:solidFill>
              </a:defRPr>
            </a:pPr>
            <a:r>
              <a:rPr lang="en-GB"/>
              <a:t>• Check whether the session and enabled features are eligible</a:t>
            </a:r>
          </a:p>
          <a:p>
            <a:pPr>
              <a:lnSpc>
                <a:spcPct val="105000"/>
              </a:lnSpc>
              <a:spcAft>
                <a:spcPts val="800"/>
              </a:spcAft>
              <a:defRPr sz="1700">
                <a:solidFill>
                  <a:srgbClr val="1E2B40"/>
                </a:solidFill>
              </a:defRPr>
            </a:pPr>
            <a:r>
              <a:rPr lang="en-GB"/>
              <a:t>• First packets and exception traffic can remain on CPU</a:t>
            </a:r>
          </a:p>
          <a:p>
            <a:pPr>
              <a:lnSpc>
                <a:spcPct val="105000"/>
              </a:lnSpc>
              <a:spcAft>
                <a:spcPts val="800"/>
              </a:spcAft>
              <a:defRPr sz="1700">
                <a:solidFill>
                  <a:srgbClr val="1E2B40"/>
                </a:solidFill>
              </a:defRPr>
            </a:pPr>
            <a:r>
              <a:rPr lang="en-GB"/>
              <a:t>• Azure FGVM performance uses VM/vNIC/cloud acceleration—not a physical NP/CP ASIC datapath</a:t>
            </a:r>
          </a:p>
          <a:p>
            <a:pPr>
              <a:lnSpc>
                <a:spcPct val="105000"/>
              </a:lnSpc>
              <a:spcAft>
                <a:spcPts val="800"/>
              </a:spcAft>
              <a:defRPr sz="1700">
                <a:solidFill>
                  <a:srgbClr val="1E2B40"/>
                </a:solidFill>
              </a:defRPr>
            </a:pPr>
            <a:r>
              <a:rPr lang="en-GB"/>
              <a:t>• A no-offload flag requires investigation; it is not automatically a misconfiguration</a:t>
            </a:r>
          </a:p>
        </p:txBody>
      </p:sp>
      <p:cxnSp>
        <p:nvCxnSpPr>
          <p:cNvPr id="11" name="Connector 10"/>
          <p:cNvCxnSpPr/>
          <p:nvPr/>
        </p:nvCxnSpPr>
        <p:spPr>
          <a:xfrm>
            <a:off x="7452360" y="1600200"/>
            <a:ext cx="0" cy="434340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7790688" y="1627632"/>
            <a:ext cx="342900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ILLUSTRATIVE SCENARIO</a:t>
            </a:r>
          </a:p>
        </p:txBody>
      </p:sp>
      <p:sp>
        <p:nvSpPr>
          <p:cNvPr id="13" name="TextBox 12"/>
          <p:cNvSpPr txBox="1">
            <a:spLocks/>
          </p:cNvSpPr>
          <p:nvPr/>
        </p:nvSpPr>
        <p:spPr>
          <a:xfrm>
            <a:off x="7790688" y="2057400"/>
            <a:ext cx="3337560" cy="1101840"/>
          </a:xfrm>
          <a:prstGeom prst="rect">
            <a:avLst/>
          </a:prstGeom>
          <a:noFill/>
        </p:spPr>
        <p:txBody>
          <a:bodyPr wrap="square" lIns="27432" tIns="27432" rIns="27432" bIns="27432" anchor="t">
            <a:spAutoFit/>
          </a:bodyPr>
          <a:lstStyle/>
          <a:p>
            <a:pPr algn="l">
              <a:spcAft>
                <a:spcPts val="0"/>
              </a:spcAft>
            </a:pPr>
            <a:r>
              <a:rPr lang="en-GB" sz="1700" b="1">
                <a:solidFill>
                  <a:srgbClr val="233A59"/>
                </a:solidFill>
              </a:rPr>
              <a:t>Physical NP/CP behavior is theory; Azure FGVM observations use VM counters and documented acceleration status</a:t>
            </a:r>
          </a:p>
        </p:txBody>
      </p:sp>
      <p:sp>
        <p:nvSpPr>
          <p:cNvPr id="14" name="TextBox 13"/>
          <p:cNvSpPr txBox="1">
            <a:spLocks/>
          </p:cNvSpPr>
          <p:nvPr/>
        </p:nvSpPr>
        <p:spPr>
          <a:xfrm>
            <a:off x="7790688" y="3822191"/>
            <a:ext cx="18288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EXPECTED RESULT</a:t>
            </a:r>
          </a:p>
        </p:txBody>
      </p:sp>
      <p:sp>
        <p:nvSpPr>
          <p:cNvPr id="15" name="TextBox 14"/>
          <p:cNvSpPr txBox="1">
            <a:spLocks/>
          </p:cNvSpPr>
          <p:nvPr/>
        </p:nvSpPr>
        <p:spPr>
          <a:xfrm>
            <a:off x="7790688" y="4187952"/>
            <a:ext cx="3337560" cy="1325880"/>
          </a:xfrm>
          <a:prstGeom prst="rect">
            <a:avLst/>
          </a:prstGeom>
          <a:noFill/>
        </p:spPr>
        <p:txBody>
          <a:bodyPr wrap="square" lIns="27432" tIns="27432" rIns="27432" bIns="27432" anchor="t">
            <a:spAutoFit/>
          </a:bodyPr>
          <a:lstStyle/>
          <a:p>
            <a:pPr algn="l">
              <a:spcAft>
                <a:spcPts val="0"/>
              </a:spcAft>
            </a:pPr>
            <a:r>
              <a:rPr lang="en-GB" sz="1500" b="0">
                <a:solidFill>
                  <a:srgbClr val="1E2B40"/>
                </a:solidFill>
              </a:rPr>
              <a:t>Use model-specific documentation and session diagnostics.</a:t>
            </a:r>
          </a:p>
        </p:txBody>
      </p:sp>
      <p:sp>
        <p:nvSpPr>
          <p:cNvPr id="16" name="TextBox 15"/>
          <p:cNvSpPr txBox="1">
            <a:spLocks/>
          </p:cNvSpPr>
          <p:nvPr/>
        </p:nvSpPr>
        <p:spPr>
          <a:xfrm>
            <a:off x="7790688" y="5596128"/>
            <a:ext cx="1920240" cy="201168"/>
          </a:xfrm>
          <a:prstGeom prst="rect">
            <a:avLst/>
          </a:prstGeom>
          <a:noFill/>
        </p:spPr>
        <p:txBody>
          <a:bodyPr wrap="square" lIns="27432" tIns="27432" rIns="27432" bIns="27432" anchor="t">
            <a:spAutoFit/>
          </a:bodyPr>
          <a:lstStyle/>
          <a:p>
            <a:pPr algn="l">
              <a:spcAft>
                <a:spcPts val="0"/>
              </a:spcAft>
            </a:pPr>
            <a:r>
              <a:rPr lang="en-GB" sz="1000" b="1">
                <a:solidFill>
                  <a:srgbClr val="687385"/>
                </a:solidFill>
              </a:rPr>
              <a:t>Expected observation</a:t>
            </a:r>
          </a:p>
        </p:txBody>
      </p:sp>
      <p:sp>
        <p:nvSpPr>
          <p:cNvPr id="17" name="TextBox 16"/>
          <p:cNvSpPr txBox="1">
            <a:spLocks/>
          </p:cNvSpPr>
          <p:nvPr/>
        </p:nvSpPr>
        <p:spPr>
          <a:xfrm>
            <a:off x="9509760" y="5577840"/>
            <a:ext cx="1691640" cy="824841"/>
          </a:xfrm>
          <a:prstGeom prst="rect">
            <a:avLst/>
          </a:prstGeom>
          <a:noFill/>
        </p:spPr>
        <p:txBody>
          <a:bodyPr wrap="square" lIns="27432" tIns="27432" rIns="27432" bIns="27432" anchor="t">
            <a:spAutoFit/>
          </a:bodyPr>
          <a:lstStyle/>
          <a:p>
            <a:pPr algn="r">
              <a:spcAft>
                <a:spcPts val="0"/>
              </a:spcAft>
            </a:pPr>
            <a:r>
              <a:rPr lang="en-GB" sz="1000" b="0">
                <a:solidFill>
                  <a:srgbClr val="687385"/>
                </a:solidFill>
              </a:rPr>
              <a:t>The team identifies the failed decision, applies one reversible fix, and the application succeeds with stable resources.</a:t>
            </a:r>
          </a:p>
        </p:txBody>
      </p:sp>
      <p:sp>
        <p:nvSpPr>
          <p:cNvPr id="18" name="TextBox 17"/>
          <p:cNvSpPr txBox="1">
            <a:spLocks/>
          </p:cNvSpPr>
          <p:nvPr/>
        </p:nvSpPr>
        <p:spPr>
          <a:xfrm>
            <a:off x="502920" y="420624"/>
            <a:ext cx="10744200" cy="130805"/>
          </a:xfrm>
          <a:prstGeom prst="rect">
            <a:avLst/>
          </a:prstGeom>
          <a:noFill/>
        </p:spPr>
        <p:txBody>
          <a:bodyPr wrap="square" lIns="0" tIns="0" rIns="0" bIns="0">
            <a:spAutoFit/>
          </a:bodyPr>
          <a:lstStyle/>
          <a:p>
            <a:pPr algn="l"/>
            <a:r>
              <a:rPr lang="en-GB" sz="850" b="1">
                <a:solidFill>
                  <a:srgbClr val="687385"/>
                </a:solidFill>
              </a:rPr>
              <a:t>178 • DAY 4 • BLOCK 16 • Performance, Troubleshooting &amp; Capstone</a:t>
            </a:r>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name="Slide 179">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179</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CPU troubleshooting starts with time and workload correlation</a:t>
            </a:r>
          </a:p>
        </p:txBody>
      </p:sp>
      <p:sp>
        <p:nvSpPr>
          <p:cNvPr id="10" name="Rectangle 9"/>
          <p:cNvSpPr/>
          <p:nvPr/>
        </p:nvSpPr>
        <p:spPr>
          <a:xfrm>
            <a:off x="658368" y="1572768"/>
            <a:ext cx="6583680" cy="425196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1" name="TextBox 10"/>
          <p:cNvSpPr txBox="1">
            <a:spLocks/>
          </p:cNvSpPr>
          <p:nvPr/>
        </p:nvSpPr>
        <p:spPr>
          <a:xfrm>
            <a:off x="877824" y="1783080"/>
            <a:ext cx="6126480" cy="209288"/>
          </a:xfrm>
          <a:prstGeom prst="rect">
            <a:avLst/>
          </a:prstGeom>
          <a:noFill/>
        </p:spPr>
        <p:txBody>
          <a:bodyPr wrap="square" lIns="27432" tIns="27432" rIns="27432" bIns="27432" anchor="t">
            <a:spAutoFit/>
          </a:bodyPr>
          <a:lstStyle/>
          <a:p>
            <a:pPr algn="l">
              <a:spcAft>
                <a:spcPts val="0"/>
              </a:spcAft>
            </a:pPr>
            <a:r>
              <a:rPr lang="en-GB" sz="1000" b="1">
                <a:solidFill>
                  <a:srgbClr val="E60012"/>
                </a:solidFill>
              </a:rPr>
              <a:t>ILLUSTRATIVE CLI — validate on FortiOS 7.6.7 / Azure FortiGate-VM</a:t>
            </a:r>
          </a:p>
        </p:txBody>
      </p:sp>
      <p:sp>
        <p:nvSpPr>
          <p:cNvPr id="12" name="TextBox 11"/>
          <p:cNvSpPr txBox="1">
            <a:spLocks/>
          </p:cNvSpPr>
          <p:nvPr/>
        </p:nvSpPr>
        <p:spPr>
          <a:xfrm>
            <a:off x="877824" y="2212848"/>
            <a:ext cx="6080760" cy="3154680"/>
          </a:xfrm>
          <a:prstGeom prst="rect">
            <a:avLst/>
          </a:prstGeom>
          <a:noFill/>
        </p:spPr>
        <p:txBody>
          <a:bodyPr wrap="square" lIns="27432" tIns="27432" rIns="27432" bIns="27432" anchor="t">
            <a:spAutoFit/>
          </a:bodyPr>
          <a:lstStyle/>
          <a:p>
            <a:pPr algn="l">
              <a:spcAft>
                <a:spcPts val="0"/>
              </a:spcAft>
            </a:pPr>
            <a:r>
              <a:rPr lang="en-GB" sz="1400" b="0">
                <a:solidFill>
                  <a:srgbClr val="E6ECF4"/>
                </a:solidFill>
                <a:latin typeface="Consolas"/>
              </a:rPr>
              <a:t>get system performance status
diagnose sys top 1 20
diagnose sys session stat
# Stop interactive top with the documented key sequence</a:t>
            </a:r>
          </a:p>
        </p:txBody>
      </p:sp>
      <p:sp>
        <p:nvSpPr>
          <p:cNvPr id="13" name="TextBox 12"/>
          <p:cNvSpPr txBox="1">
            <a:spLocks/>
          </p:cNvSpPr>
          <p:nvPr/>
        </p:nvSpPr>
        <p:spPr>
          <a:xfrm>
            <a:off x="7754112" y="1719072"/>
            <a:ext cx="3154680" cy="256032"/>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READ THE OUTPUT</a:t>
            </a:r>
          </a:p>
        </p:txBody>
      </p:sp>
      <p:sp>
        <p:nvSpPr>
          <p:cNvPr id="14" name="TextBox 13"/>
          <p:cNvSpPr txBox="1">
            <a:spLocks/>
          </p:cNvSpPr>
          <p:nvPr/>
        </p:nvSpPr>
        <p:spPr>
          <a:xfrm>
            <a:off x="7754112" y="2121408"/>
            <a:ext cx="3383280" cy="2591094"/>
          </a:xfrm>
          <a:prstGeom prst="rect">
            <a:avLst/>
          </a:prstGeom>
          <a:noFill/>
        </p:spPr>
        <p:txBody>
          <a:bodyPr wrap="square" lIns="109728" tIns="73152" rIns="109728" bIns="73152" anchor="t">
            <a:spAutoFit/>
          </a:bodyPr>
          <a:lstStyle/>
          <a:p>
            <a:pPr algn="l">
              <a:lnSpc>
                <a:spcPct val="105000"/>
              </a:lnSpc>
              <a:spcAft>
                <a:spcPts val="700"/>
              </a:spcAft>
              <a:defRPr sz="1500">
                <a:solidFill>
                  <a:srgbClr val="1E2B40"/>
                </a:solidFill>
              </a:defRPr>
            </a:pPr>
            <a:r>
              <a:rPr lang="en-GB"/>
              <a:t>• Identify whether load is sustained or bursty</a:t>
            </a:r>
          </a:p>
          <a:p>
            <a:pPr>
              <a:lnSpc>
                <a:spcPct val="105000"/>
              </a:lnSpc>
              <a:spcAft>
                <a:spcPts val="700"/>
              </a:spcAft>
              <a:defRPr sz="1500">
                <a:solidFill>
                  <a:srgbClr val="1E2B40"/>
                </a:solidFill>
              </a:defRPr>
            </a:pPr>
            <a:r>
              <a:rPr lang="en-GB"/>
              <a:t>• Locate responsible processes/cores and traffic changes</a:t>
            </a:r>
          </a:p>
          <a:p>
            <a:pPr>
              <a:lnSpc>
                <a:spcPct val="105000"/>
              </a:lnSpc>
              <a:spcAft>
                <a:spcPts val="700"/>
              </a:spcAft>
              <a:defRPr sz="1500">
                <a:solidFill>
                  <a:srgbClr val="1E2B40"/>
                </a:solidFill>
              </a:defRPr>
            </a:pPr>
            <a:r>
              <a:rPr lang="en-GB"/>
              <a:t>• Correlate policy/profile, routing events, logging and session setup</a:t>
            </a:r>
          </a:p>
          <a:p>
            <a:pPr>
              <a:lnSpc>
                <a:spcPct val="105000"/>
              </a:lnSpc>
              <a:spcAft>
                <a:spcPts val="700"/>
              </a:spcAft>
              <a:defRPr sz="1500">
                <a:solidFill>
                  <a:srgbClr val="1E2B40"/>
                </a:solidFill>
              </a:defRPr>
            </a:pPr>
            <a:r>
              <a:rPr lang="en-GB"/>
              <a:t>• Record process, session and memory state before restarting or changing load</a:t>
            </a:r>
          </a:p>
        </p:txBody>
      </p:sp>
      <p:sp>
        <p:nvSpPr>
          <p:cNvPr id="15" name="TextBox 14"/>
          <p:cNvSpPr txBox="1">
            <a:spLocks/>
          </p:cNvSpPr>
          <p:nvPr/>
        </p:nvSpPr>
        <p:spPr>
          <a:xfrm>
            <a:off x="7754112" y="4553712"/>
            <a:ext cx="201168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Safe operation</a:t>
            </a:r>
          </a:p>
        </p:txBody>
      </p:sp>
      <p:sp>
        <p:nvSpPr>
          <p:cNvPr id="16" name="TextBox 15"/>
          <p:cNvSpPr txBox="1">
            <a:spLocks/>
          </p:cNvSpPr>
          <p:nvPr/>
        </p:nvSpPr>
        <p:spPr>
          <a:xfrm>
            <a:off x="7754112" y="4882896"/>
            <a:ext cx="3401568" cy="822960"/>
          </a:xfrm>
          <a:prstGeom prst="rect">
            <a:avLst/>
          </a:prstGeom>
          <a:noFill/>
        </p:spPr>
        <p:txBody>
          <a:bodyPr wrap="square" lIns="27432" tIns="27432" rIns="27432" bIns="27432" anchor="t">
            <a:spAutoFit/>
          </a:bodyPr>
          <a:lstStyle/>
          <a:p>
            <a:pPr algn="l">
              <a:spcAft>
                <a:spcPts val="0"/>
              </a:spcAft>
            </a:pPr>
            <a:r>
              <a:rPr lang="en-GB" sz="1400" b="1">
                <a:solidFill>
                  <a:srgbClr val="233A59"/>
                </a:solidFill>
              </a:rPr>
              <a:t>High CPU during an IPS update differs from sustained packet-processing saturation</a:t>
            </a:r>
          </a:p>
        </p:txBody>
      </p:sp>
      <p:sp>
        <p:nvSpPr>
          <p:cNvPr id="17" name="TextBox 16"/>
          <p:cNvSpPr txBox="1">
            <a:spLocks/>
          </p:cNvSpPr>
          <p:nvPr/>
        </p:nvSpPr>
        <p:spPr>
          <a:xfrm>
            <a:off x="502920" y="420624"/>
            <a:ext cx="10744200" cy="130805"/>
          </a:xfrm>
          <a:prstGeom prst="rect">
            <a:avLst/>
          </a:prstGeom>
          <a:noFill/>
        </p:spPr>
        <p:txBody>
          <a:bodyPr wrap="square" lIns="0" tIns="0" rIns="0" bIns="0">
            <a:spAutoFit/>
          </a:bodyPr>
          <a:lstStyle/>
          <a:p>
            <a:pPr algn="l"/>
            <a:r>
              <a:rPr lang="en-GB" sz="850" b="1">
                <a:solidFill>
                  <a:srgbClr val="687385"/>
                </a:solidFill>
              </a:rPr>
              <a:t>179 • DAY 4 • BLOCK 16 • Performance, Troubleshooting &amp; Capstone</a:t>
            </a:r>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name="Slide 180">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180</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Memory management requires trend, consumers and thresholds</a:t>
            </a:r>
          </a:p>
        </p:txBody>
      </p:sp>
      <p:sp>
        <p:nvSpPr>
          <p:cNvPr id="10" name="TextBox 9"/>
          <p:cNvSpPr txBox="1">
            <a:spLocks/>
          </p:cNvSpPr>
          <p:nvPr/>
        </p:nvSpPr>
        <p:spPr>
          <a:xfrm>
            <a:off x="658368" y="1554480"/>
            <a:ext cx="6583680" cy="2370072"/>
          </a:xfrm>
          <a:prstGeom prst="rect">
            <a:avLst/>
          </a:prstGeom>
          <a:noFill/>
        </p:spPr>
        <p:txBody>
          <a:bodyPr wrap="square" lIns="109728" tIns="73152" rIns="109728" bIns="73152" anchor="t">
            <a:spAutoFit/>
          </a:bodyPr>
          <a:lstStyle/>
          <a:p>
            <a:pPr algn="l">
              <a:lnSpc>
                <a:spcPct val="105000"/>
              </a:lnSpc>
              <a:spcAft>
                <a:spcPts val="800"/>
              </a:spcAft>
              <a:defRPr sz="1700">
                <a:solidFill>
                  <a:srgbClr val="1E2B40"/>
                </a:solidFill>
              </a:defRPr>
            </a:pPr>
            <a:r>
              <a:rPr lang="en-GB"/>
              <a:t>• Track used memory, proxy buffers, sessions and process growth</a:t>
            </a:r>
          </a:p>
          <a:p>
            <a:pPr>
              <a:lnSpc>
                <a:spcPct val="105000"/>
              </a:lnSpc>
              <a:spcAft>
                <a:spcPts val="800"/>
              </a:spcAft>
              <a:defRPr sz="1700">
                <a:solidFill>
                  <a:srgbClr val="1E2B40"/>
                </a:solidFill>
              </a:defRPr>
            </a:pPr>
            <a:r>
              <a:rPr lang="en-GB"/>
              <a:t>• Conserve Mode is triggered by system memory thresholds and protects stability</a:t>
            </a:r>
          </a:p>
          <a:p>
            <a:pPr>
              <a:lnSpc>
                <a:spcPct val="105000"/>
              </a:lnSpc>
              <a:spcAft>
                <a:spcPts val="800"/>
              </a:spcAft>
              <a:defRPr sz="1700">
                <a:solidFill>
                  <a:srgbClr val="1E2B40"/>
                </a:solidFill>
              </a:defRPr>
            </a:pPr>
            <a:r>
              <a:rPr lang="en-GB"/>
              <a:t>• Entry/exit thresholds and behavior must be confirmed for exact build/model</a:t>
            </a:r>
          </a:p>
          <a:p>
            <a:pPr>
              <a:lnSpc>
                <a:spcPct val="105000"/>
              </a:lnSpc>
              <a:spcAft>
                <a:spcPts val="800"/>
              </a:spcAft>
              <a:defRPr sz="1700">
                <a:solidFill>
                  <a:srgbClr val="1E2B40"/>
                </a:solidFill>
              </a:defRPr>
            </a:pPr>
            <a:r>
              <a:rPr lang="en-GB"/>
              <a:t>• A reboot removes transient state and may only postpone recurrence</a:t>
            </a:r>
          </a:p>
        </p:txBody>
      </p:sp>
      <p:cxnSp>
        <p:nvCxnSpPr>
          <p:cNvPr id="11" name="Connector 10"/>
          <p:cNvCxnSpPr/>
          <p:nvPr/>
        </p:nvCxnSpPr>
        <p:spPr>
          <a:xfrm>
            <a:off x="7452360" y="1600200"/>
            <a:ext cx="0" cy="434340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7790688" y="1627632"/>
            <a:ext cx="342900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ILLUSTRATIVE SCENARIO</a:t>
            </a:r>
          </a:p>
        </p:txBody>
      </p:sp>
      <p:sp>
        <p:nvSpPr>
          <p:cNvPr id="13" name="TextBox 12"/>
          <p:cNvSpPr txBox="1">
            <a:spLocks/>
          </p:cNvSpPr>
          <p:nvPr/>
        </p:nvSpPr>
        <p:spPr>
          <a:xfrm>
            <a:off x="7790688" y="2057400"/>
            <a:ext cx="3337560" cy="578620"/>
          </a:xfrm>
          <a:prstGeom prst="rect">
            <a:avLst/>
          </a:prstGeom>
          <a:noFill/>
        </p:spPr>
        <p:txBody>
          <a:bodyPr wrap="square" lIns="27432" tIns="27432" rIns="27432" bIns="27432" anchor="t">
            <a:spAutoFit/>
          </a:bodyPr>
          <a:lstStyle/>
          <a:p>
            <a:pPr algn="l">
              <a:spcAft>
                <a:spcPts val="0"/>
              </a:spcAft>
            </a:pPr>
            <a:r>
              <a:rPr lang="en-GB" sz="1700" b="1">
                <a:solidFill>
                  <a:srgbClr val="233A59"/>
                </a:solidFill>
              </a:rPr>
              <a:t>Collect event log, process and session state before mitigation</a:t>
            </a:r>
          </a:p>
        </p:txBody>
      </p:sp>
      <p:sp>
        <p:nvSpPr>
          <p:cNvPr id="14" name="TextBox 13"/>
          <p:cNvSpPr txBox="1">
            <a:spLocks/>
          </p:cNvSpPr>
          <p:nvPr/>
        </p:nvSpPr>
        <p:spPr>
          <a:xfrm>
            <a:off x="7790688" y="3822191"/>
            <a:ext cx="18288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EXPECTED RESULT</a:t>
            </a:r>
          </a:p>
        </p:txBody>
      </p:sp>
      <p:sp>
        <p:nvSpPr>
          <p:cNvPr id="15" name="TextBox 14"/>
          <p:cNvSpPr txBox="1">
            <a:spLocks/>
          </p:cNvSpPr>
          <p:nvPr/>
        </p:nvSpPr>
        <p:spPr>
          <a:xfrm>
            <a:off x="7790688" y="4187952"/>
            <a:ext cx="3337560" cy="1325880"/>
          </a:xfrm>
          <a:prstGeom prst="rect">
            <a:avLst/>
          </a:prstGeom>
          <a:noFill/>
        </p:spPr>
        <p:txBody>
          <a:bodyPr wrap="square" lIns="27432" tIns="27432" rIns="27432" bIns="27432" anchor="t">
            <a:spAutoFit/>
          </a:bodyPr>
          <a:lstStyle/>
          <a:p>
            <a:pPr algn="l">
              <a:spcAft>
                <a:spcPts val="0"/>
              </a:spcAft>
            </a:pPr>
            <a:r>
              <a:rPr lang="en-GB" sz="1500" b="0">
                <a:solidFill>
                  <a:srgbClr val="1E2B40"/>
                </a:solidFill>
              </a:rPr>
              <a:t>Use release-specific Conserve Mode documentation and support guidance.</a:t>
            </a:r>
          </a:p>
        </p:txBody>
      </p:sp>
      <p:sp>
        <p:nvSpPr>
          <p:cNvPr id="16" name="TextBox 15"/>
          <p:cNvSpPr txBox="1">
            <a:spLocks/>
          </p:cNvSpPr>
          <p:nvPr/>
        </p:nvSpPr>
        <p:spPr>
          <a:xfrm>
            <a:off x="7790688" y="5596128"/>
            <a:ext cx="1920240" cy="201168"/>
          </a:xfrm>
          <a:prstGeom prst="rect">
            <a:avLst/>
          </a:prstGeom>
          <a:noFill/>
        </p:spPr>
        <p:txBody>
          <a:bodyPr wrap="square" lIns="27432" tIns="27432" rIns="27432" bIns="27432" anchor="t">
            <a:spAutoFit/>
          </a:bodyPr>
          <a:lstStyle/>
          <a:p>
            <a:pPr algn="l">
              <a:spcAft>
                <a:spcPts val="0"/>
              </a:spcAft>
            </a:pPr>
            <a:r>
              <a:rPr lang="en-GB" sz="1000" b="1">
                <a:solidFill>
                  <a:srgbClr val="687385"/>
                </a:solidFill>
              </a:rPr>
              <a:t>Expected observation</a:t>
            </a:r>
          </a:p>
        </p:txBody>
      </p:sp>
      <p:sp>
        <p:nvSpPr>
          <p:cNvPr id="17" name="TextBox 16"/>
          <p:cNvSpPr txBox="1">
            <a:spLocks/>
          </p:cNvSpPr>
          <p:nvPr/>
        </p:nvSpPr>
        <p:spPr>
          <a:xfrm>
            <a:off x="9509760" y="5577840"/>
            <a:ext cx="1691640" cy="824841"/>
          </a:xfrm>
          <a:prstGeom prst="rect">
            <a:avLst/>
          </a:prstGeom>
          <a:noFill/>
        </p:spPr>
        <p:txBody>
          <a:bodyPr wrap="square" lIns="27432" tIns="27432" rIns="27432" bIns="27432" anchor="t">
            <a:spAutoFit/>
          </a:bodyPr>
          <a:lstStyle/>
          <a:p>
            <a:pPr algn="r">
              <a:spcAft>
                <a:spcPts val="0"/>
              </a:spcAft>
            </a:pPr>
            <a:r>
              <a:rPr lang="en-GB" sz="1000" b="0">
                <a:solidFill>
                  <a:srgbClr val="687385"/>
                </a:solidFill>
              </a:rPr>
              <a:t>The team identifies the failed decision, applies one reversible fix, and the application succeeds with stable resources.</a:t>
            </a:r>
          </a:p>
        </p:txBody>
      </p:sp>
      <p:sp>
        <p:nvSpPr>
          <p:cNvPr id="18" name="TextBox 17"/>
          <p:cNvSpPr txBox="1">
            <a:spLocks/>
          </p:cNvSpPr>
          <p:nvPr/>
        </p:nvSpPr>
        <p:spPr>
          <a:xfrm>
            <a:off x="502920" y="420624"/>
            <a:ext cx="10744200" cy="130805"/>
          </a:xfrm>
          <a:prstGeom prst="rect">
            <a:avLst/>
          </a:prstGeom>
          <a:noFill/>
        </p:spPr>
        <p:txBody>
          <a:bodyPr wrap="square" lIns="0" tIns="0" rIns="0" bIns="0">
            <a:spAutoFit/>
          </a:bodyPr>
          <a:lstStyle/>
          <a:p>
            <a:pPr algn="l"/>
            <a:r>
              <a:rPr lang="en-GB" sz="850" b="1">
                <a:solidFill>
                  <a:srgbClr val="687385"/>
                </a:solidFill>
              </a:rPr>
              <a:t>180 • DAY 4 • BLOCK 16 • Performance, Troubleshooting &amp; Capstone</a:t>
            </a:r>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name="Slide 181">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181</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Conserve Mode changes the troubleshooting priority</a:t>
            </a:r>
          </a:p>
        </p:txBody>
      </p:sp>
      <p:sp>
        <p:nvSpPr>
          <p:cNvPr id="10" name="Rectangle 9"/>
          <p:cNvSpPr/>
          <p:nvPr/>
        </p:nvSpPr>
        <p:spPr>
          <a:xfrm>
            <a:off x="658368"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1" name="TextBox 10"/>
          <p:cNvSpPr txBox="1">
            <a:spLocks/>
          </p:cNvSpPr>
          <p:nvPr/>
        </p:nvSpPr>
        <p:spPr>
          <a:xfrm>
            <a:off x="768096" y="2020824"/>
            <a:ext cx="411480" cy="219456"/>
          </a:xfrm>
          <a:prstGeom prst="rect">
            <a:avLst/>
          </a:prstGeom>
          <a:noFill/>
        </p:spPr>
        <p:txBody>
          <a:bodyPr wrap="square" lIns="27432" tIns="27432" rIns="27432" bIns="27432" anchor="t">
            <a:spAutoFit/>
          </a:bodyPr>
          <a:lstStyle/>
          <a:p>
            <a:pPr algn="l">
              <a:spcAft>
                <a:spcPts val="0"/>
              </a:spcAft>
            </a:pPr>
            <a:r>
              <a:rPr lang="en-HU" sz="1100" b="1">
                <a:solidFill>
                  <a:srgbClr val="E60012"/>
                </a:solidFill>
              </a:rPr>
              <a:t>01</a:t>
            </a:r>
          </a:p>
        </p:txBody>
      </p:sp>
      <p:sp>
        <p:nvSpPr>
          <p:cNvPr id="12" name="TextBox 11"/>
          <p:cNvSpPr txBox="1">
            <a:spLocks/>
          </p:cNvSpPr>
          <p:nvPr/>
        </p:nvSpPr>
        <p:spPr>
          <a:xfrm>
            <a:off x="768096" y="2340864"/>
            <a:ext cx="1830628" cy="603504"/>
          </a:xfrm>
          <a:prstGeom prst="rect">
            <a:avLst/>
          </a:prstGeom>
          <a:noFill/>
        </p:spPr>
        <p:txBody>
          <a:bodyPr wrap="square" lIns="27432" tIns="27432" rIns="27432" bIns="27432" anchor="ctr">
            <a:spAutoFit/>
          </a:bodyPr>
          <a:lstStyle/>
          <a:p>
            <a:pPr algn="ctr">
              <a:spcAft>
                <a:spcPts val="0"/>
              </a:spcAft>
            </a:pPr>
            <a:r>
              <a:rPr lang="en-GB" sz="1400" b="1">
                <a:solidFill>
                  <a:srgbClr val="1E2B40"/>
                </a:solidFill>
              </a:rPr>
              <a:t>Threshold crossed</a:t>
            </a:r>
          </a:p>
        </p:txBody>
      </p:sp>
      <p:cxnSp>
        <p:nvCxnSpPr>
          <p:cNvPr id="13" name="Connector 12"/>
          <p:cNvCxnSpPr/>
          <p:nvPr/>
        </p:nvCxnSpPr>
        <p:spPr>
          <a:xfrm>
            <a:off x="2708452"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2854756"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964484" y="2020824"/>
            <a:ext cx="411480" cy="219456"/>
          </a:xfrm>
          <a:prstGeom prst="rect">
            <a:avLst/>
          </a:prstGeom>
          <a:noFill/>
        </p:spPr>
        <p:txBody>
          <a:bodyPr wrap="square" lIns="27432" tIns="27432" rIns="27432" bIns="27432" anchor="t">
            <a:spAutoFit/>
          </a:bodyPr>
          <a:lstStyle/>
          <a:p>
            <a:pPr algn="l">
              <a:spcAft>
                <a:spcPts val="0"/>
              </a:spcAft>
            </a:pPr>
            <a:r>
              <a:rPr sz="1100" b="1">
                <a:solidFill>
                  <a:srgbClr val="E60012"/>
                </a:solidFill>
              </a:rPr>
              <a:t>02</a:t>
            </a:r>
          </a:p>
        </p:txBody>
      </p:sp>
      <p:sp>
        <p:nvSpPr>
          <p:cNvPr id="16" name="TextBox 15"/>
          <p:cNvSpPr txBox="1"/>
          <p:nvPr/>
        </p:nvSpPr>
        <p:spPr>
          <a:xfrm>
            <a:off x="2964484" y="2340864"/>
            <a:ext cx="1830628" cy="603504"/>
          </a:xfrm>
          <a:prstGeom prst="rect">
            <a:avLst/>
          </a:prstGeom>
          <a:noFill/>
        </p:spPr>
        <p:txBody>
          <a:bodyPr wrap="square" lIns="27432" tIns="27432" rIns="27432" bIns="27432" anchor="ctr">
            <a:spAutoFit/>
          </a:bodyPr>
          <a:lstStyle/>
          <a:p>
            <a:pPr algn="ctr">
              <a:spcAft>
                <a:spcPts val="0"/>
              </a:spcAft>
            </a:pPr>
            <a:r>
              <a:rPr sz="1400" b="1">
                <a:solidFill>
                  <a:srgbClr val="1E2B40"/>
                </a:solidFill>
              </a:rPr>
              <a:t>Protective behavior</a:t>
            </a:r>
          </a:p>
        </p:txBody>
      </p:sp>
      <p:cxnSp>
        <p:nvCxnSpPr>
          <p:cNvPr id="17" name="Connector 16"/>
          <p:cNvCxnSpPr/>
          <p:nvPr/>
        </p:nvCxnSpPr>
        <p:spPr>
          <a:xfrm>
            <a:off x="4904841"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5051145"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60873" y="2020824"/>
            <a:ext cx="411480" cy="219456"/>
          </a:xfrm>
          <a:prstGeom prst="rect">
            <a:avLst/>
          </a:prstGeom>
          <a:noFill/>
        </p:spPr>
        <p:txBody>
          <a:bodyPr wrap="square" lIns="27432" tIns="27432" rIns="27432" bIns="27432" anchor="t">
            <a:spAutoFit/>
          </a:bodyPr>
          <a:lstStyle/>
          <a:p>
            <a:pPr algn="l">
              <a:spcAft>
                <a:spcPts val="0"/>
              </a:spcAft>
            </a:pPr>
            <a:r>
              <a:rPr sz="1100" b="1">
                <a:solidFill>
                  <a:srgbClr val="E60012"/>
                </a:solidFill>
              </a:rPr>
              <a:t>03</a:t>
            </a:r>
          </a:p>
        </p:txBody>
      </p:sp>
      <p:sp>
        <p:nvSpPr>
          <p:cNvPr id="20" name="TextBox 19"/>
          <p:cNvSpPr txBox="1"/>
          <p:nvPr/>
        </p:nvSpPr>
        <p:spPr>
          <a:xfrm>
            <a:off x="5160873" y="2340864"/>
            <a:ext cx="1830628" cy="603504"/>
          </a:xfrm>
          <a:prstGeom prst="rect">
            <a:avLst/>
          </a:prstGeom>
          <a:noFill/>
        </p:spPr>
        <p:txBody>
          <a:bodyPr wrap="square" lIns="27432" tIns="27432" rIns="27432" bIns="27432" anchor="ctr">
            <a:spAutoFit/>
          </a:bodyPr>
          <a:lstStyle/>
          <a:p>
            <a:pPr algn="ctr">
              <a:spcAft>
                <a:spcPts val="0"/>
              </a:spcAft>
            </a:pPr>
            <a:r>
              <a:rPr sz="1400" b="1">
                <a:solidFill>
                  <a:srgbClr val="1E2B40"/>
                </a:solidFill>
              </a:rPr>
              <a:t>Identify consumer</a:t>
            </a:r>
          </a:p>
        </p:txBody>
      </p:sp>
      <p:cxnSp>
        <p:nvCxnSpPr>
          <p:cNvPr id="21" name="Connector 20"/>
          <p:cNvCxnSpPr/>
          <p:nvPr/>
        </p:nvCxnSpPr>
        <p:spPr>
          <a:xfrm>
            <a:off x="7101230"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7247534"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357262" y="2020824"/>
            <a:ext cx="411480" cy="219456"/>
          </a:xfrm>
          <a:prstGeom prst="rect">
            <a:avLst/>
          </a:prstGeom>
          <a:noFill/>
        </p:spPr>
        <p:txBody>
          <a:bodyPr wrap="square" lIns="27432" tIns="27432" rIns="27432" bIns="27432" anchor="t">
            <a:spAutoFit/>
          </a:bodyPr>
          <a:lstStyle/>
          <a:p>
            <a:pPr algn="l">
              <a:spcAft>
                <a:spcPts val="0"/>
              </a:spcAft>
            </a:pPr>
            <a:r>
              <a:rPr sz="1100" b="1">
                <a:solidFill>
                  <a:srgbClr val="E60012"/>
                </a:solidFill>
              </a:rPr>
              <a:t>04</a:t>
            </a:r>
          </a:p>
        </p:txBody>
      </p:sp>
      <p:sp>
        <p:nvSpPr>
          <p:cNvPr id="24" name="TextBox 23"/>
          <p:cNvSpPr txBox="1"/>
          <p:nvPr/>
        </p:nvSpPr>
        <p:spPr>
          <a:xfrm>
            <a:off x="7357262" y="2340864"/>
            <a:ext cx="1830628" cy="603504"/>
          </a:xfrm>
          <a:prstGeom prst="rect">
            <a:avLst/>
          </a:prstGeom>
          <a:noFill/>
        </p:spPr>
        <p:txBody>
          <a:bodyPr wrap="square" lIns="27432" tIns="27432" rIns="27432" bIns="27432" anchor="ctr">
            <a:spAutoFit/>
          </a:bodyPr>
          <a:lstStyle/>
          <a:p>
            <a:pPr algn="ctr">
              <a:spcAft>
                <a:spcPts val="0"/>
              </a:spcAft>
            </a:pPr>
            <a:r>
              <a:rPr sz="1400" b="1">
                <a:solidFill>
                  <a:srgbClr val="1E2B40"/>
                </a:solidFill>
              </a:rPr>
              <a:t>Scoped mitigation</a:t>
            </a:r>
          </a:p>
        </p:txBody>
      </p:sp>
      <p:cxnSp>
        <p:nvCxnSpPr>
          <p:cNvPr id="25" name="Connector 24"/>
          <p:cNvCxnSpPr/>
          <p:nvPr/>
        </p:nvCxnSpPr>
        <p:spPr>
          <a:xfrm>
            <a:off x="9297619"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9443923"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553651" y="2020824"/>
            <a:ext cx="411480" cy="219456"/>
          </a:xfrm>
          <a:prstGeom prst="rect">
            <a:avLst/>
          </a:prstGeom>
          <a:noFill/>
        </p:spPr>
        <p:txBody>
          <a:bodyPr wrap="square" lIns="27432" tIns="27432" rIns="27432" bIns="27432" anchor="t">
            <a:spAutoFit/>
          </a:bodyPr>
          <a:lstStyle/>
          <a:p>
            <a:pPr algn="l">
              <a:spcAft>
                <a:spcPts val="0"/>
              </a:spcAft>
            </a:pPr>
            <a:r>
              <a:rPr sz="1100" b="1">
                <a:solidFill>
                  <a:srgbClr val="E60012"/>
                </a:solidFill>
              </a:rPr>
              <a:t>05</a:t>
            </a:r>
          </a:p>
        </p:txBody>
      </p:sp>
      <p:sp>
        <p:nvSpPr>
          <p:cNvPr id="28" name="TextBox 27"/>
          <p:cNvSpPr txBox="1"/>
          <p:nvPr/>
        </p:nvSpPr>
        <p:spPr>
          <a:xfrm>
            <a:off x="9553651" y="2340864"/>
            <a:ext cx="1830628" cy="603504"/>
          </a:xfrm>
          <a:prstGeom prst="rect">
            <a:avLst/>
          </a:prstGeom>
          <a:noFill/>
        </p:spPr>
        <p:txBody>
          <a:bodyPr wrap="square" lIns="27432" tIns="27432" rIns="27432" bIns="27432" anchor="ctr">
            <a:spAutoFit/>
          </a:bodyPr>
          <a:lstStyle/>
          <a:p>
            <a:pPr algn="ctr">
              <a:spcAft>
                <a:spcPts val="0"/>
              </a:spcAft>
            </a:pPr>
            <a:r>
              <a:rPr sz="1400" b="1">
                <a:solidFill>
                  <a:srgbClr val="1E2B40"/>
                </a:solidFill>
              </a:rPr>
              <a:t>Stable recovery</a:t>
            </a:r>
          </a:p>
        </p:txBody>
      </p:sp>
      <p:sp>
        <p:nvSpPr>
          <p:cNvPr id="29" name="TextBox 28"/>
          <p:cNvSpPr txBox="1"/>
          <p:nvPr/>
        </p:nvSpPr>
        <p:spPr>
          <a:xfrm>
            <a:off x="658368" y="3703320"/>
            <a:ext cx="2011680" cy="256032"/>
          </a:xfrm>
          <a:prstGeom prst="rect">
            <a:avLst/>
          </a:prstGeom>
          <a:noFill/>
        </p:spPr>
        <p:txBody>
          <a:bodyPr wrap="square" lIns="27432" tIns="27432" rIns="27432" bIns="27432" anchor="t">
            <a:spAutoFit/>
          </a:bodyPr>
          <a:lstStyle/>
          <a:p>
            <a:pPr algn="l">
              <a:spcAft>
                <a:spcPts val="0"/>
              </a:spcAft>
            </a:pPr>
            <a:r>
              <a:rPr sz="1100" b="1">
                <a:solidFill>
                  <a:srgbClr val="E60012"/>
                </a:solidFill>
              </a:rPr>
              <a:t>What to observe</a:t>
            </a:r>
          </a:p>
        </p:txBody>
      </p:sp>
      <p:sp>
        <p:nvSpPr>
          <p:cNvPr id="30" name="TextBox 29"/>
          <p:cNvSpPr txBox="1"/>
          <p:nvPr/>
        </p:nvSpPr>
        <p:spPr>
          <a:xfrm>
            <a:off x="658368" y="4050791"/>
            <a:ext cx="6446520" cy="1353640"/>
          </a:xfrm>
          <a:prstGeom prst="rect">
            <a:avLst/>
          </a:prstGeom>
          <a:noFill/>
        </p:spPr>
        <p:txBody>
          <a:bodyPr wrap="square" lIns="109728" tIns="73152" rIns="109728" bIns="73152" anchor="t">
            <a:spAutoFit/>
          </a:bodyPr>
          <a:lstStyle/>
          <a:p>
            <a:pPr algn="l">
              <a:lnSpc>
                <a:spcPct val="105000"/>
              </a:lnSpc>
              <a:spcAft>
                <a:spcPts val="700"/>
              </a:spcAft>
              <a:defRPr sz="1600">
                <a:solidFill>
                  <a:srgbClr val="1E2B40"/>
                </a:solidFill>
              </a:defRPr>
            </a:pPr>
            <a:r>
              <a:t>• Identify whether sessions, proxy inspection or a process dominates</a:t>
            </a:r>
          </a:p>
          <a:p>
            <a:pPr>
              <a:lnSpc>
                <a:spcPct val="105000"/>
              </a:lnSpc>
              <a:spcAft>
                <a:spcPts val="700"/>
              </a:spcAft>
              <a:defRPr sz="1600">
                <a:solidFill>
                  <a:srgbClr val="1E2B40"/>
                </a:solidFill>
              </a:defRPr>
            </a:pPr>
            <a:r>
              <a:t>• Apply scoped mitigation and monitor exit/re-entry</a:t>
            </a:r>
          </a:p>
          <a:p>
            <a:pPr>
              <a:lnSpc>
                <a:spcPct val="105000"/>
              </a:lnSpc>
              <a:spcAft>
                <a:spcPts val="700"/>
              </a:spcAft>
              <a:defRPr sz="1600">
                <a:solidFill>
                  <a:srgbClr val="1E2B40"/>
                </a:solidFill>
              </a:defRPr>
            </a:pPr>
            <a:r>
              <a:t>• Escalate with </a:t>
            </a:r>
            <a:r>
              <a:rPr lang="en-GB"/>
              <a:t>timestamps, process samples and memory trends </a:t>
            </a:r>
            <a:r>
              <a:t>when </a:t>
            </a:r>
            <a:r>
              <a:rPr lang="en-GB"/>
              <a:t>a </a:t>
            </a:r>
            <a:r>
              <a:t>defect is suspected</a:t>
            </a:r>
          </a:p>
        </p:txBody>
      </p:sp>
      <p:cxnSp>
        <p:nvCxnSpPr>
          <p:cNvPr id="31" name="Connector 30"/>
          <p:cNvCxnSpPr/>
          <p:nvPr/>
        </p:nvCxnSpPr>
        <p:spPr>
          <a:xfrm>
            <a:off x="7452360" y="3703320"/>
            <a:ext cx="0" cy="2093976"/>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7772400" y="3703320"/>
            <a:ext cx="292608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INSTRUCTOR DEMONSTRATION</a:t>
            </a:r>
            <a:endParaRPr sz="1100" b="1">
              <a:solidFill>
                <a:srgbClr val="E60012"/>
              </a:solidFill>
            </a:endParaRPr>
          </a:p>
        </p:txBody>
      </p:sp>
      <p:sp>
        <p:nvSpPr>
          <p:cNvPr id="33" name="TextBox 32"/>
          <p:cNvSpPr txBox="1"/>
          <p:nvPr/>
        </p:nvSpPr>
        <p:spPr>
          <a:xfrm>
            <a:off x="7772400" y="4096512"/>
            <a:ext cx="3337560" cy="1234440"/>
          </a:xfrm>
          <a:prstGeom prst="rect">
            <a:avLst/>
          </a:prstGeom>
          <a:noFill/>
        </p:spPr>
        <p:txBody>
          <a:bodyPr wrap="square" lIns="27432" tIns="27432" rIns="27432" bIns="27432" anchor="t">
            <a:spAutoFit/>
          </a:bodyPr>
          <a:lstStyle/>
          <a:p>
            <a:pPr algn="l">
              <a:spcAft>
                <a:spcPts val="0"/>
              </a:spcAft>
            </a:pPr>
            <a:r>
              <a:rPr sz="1500" b="1">
                <a:solidFill>
                  <a:srgbClr val="233A59"/>
                </a:solidFill>
              </a:rPr>
              <a:t>Resolution includes stable memory below recovery threshold and no recurring event.</a:t>
            </a:r>
          </a:p>
        </p:txBody>
      </p:sp>
      <p:sp>
        <p:nvSpPr>
          <p:cNvPr id="34" name="TextBox 33"/>
          <p:cNvSpPr txBox="1"/>
          <p:nvPr/>
        </p:nvSpPr>
        <p:spPr>
          <a:xfrm>
            <a:off x="7772400" y="5440680"/>
            <a:ext cx="3337560" cy="363176"/>
          </a:xfrm>
          <a:prstGeom prst="rect">
            <a:avLst/>
          </a:prstGeom>
          <a:noFill/>
        </p:spPr>
        <p:txBody>
          <a:bodyPr wrap="square" lIns="27432" tIns="27432" rIns="27432" bIns="27432" anchor="t">
            <a:spAutoFit/>
          </a:bodyPr>
          <a:lstStyle/>
          <a:p>
            <a:pPr algn="l">
              <a:spcAft>
                <a:spcPts val="0"/>
              </a:spcAft>
            </a:pPr>
            <a:r>
              <a:rPr lang="en-GB" sz="1000" b="0">
                <a:solidFill>
                  <a:srgbClr val="687385"/>
                </a:solidFill>
              </a:rPr>
              <a:t>If debug is used, filter by the test tuple and disable</a:t>
            </a:r>
            <a:r>
              <a:rPr sz="1000" b="0">
                <a:solidFill>
                  <a:srgbClr val="687385"/>
                </a:solidFill>
              </a:rPr>
              <a:t>/reset </a:t>
            </a:r>
            <a:r>
              <a:rPr lang="en-GB" sz="1000" b="0">
                <a:solidFill>
                  <a:srgbClr val="687385"/>
                </a:solidFill>
              </a:rPr>
              <a:t>it immediately </a:t>
            </a:r>
            <a:r>
              <a:rPr sz="1000" b="0">
                <a:solidFill>
                  <a:srgbClr val="687385"/>
                </a:solidFill>
              </a:rPr>
              <a:t>after </a:t>
            </a:r>
            <a:r>
              <a:rPr lang="en-GB" sz="1000" b="0">
                <a:solidFill>
                  <a:srgbClr val="687385"/>
                </a:solidFill>
              </a:rPr>
              <a:t>capture</a:t>
            </a:r>
            <a:r>
              <a:rPr sz="1000" b="0">
                <a:solidFill>
                  <a:srgbClr val="687385"/>
                </a:solidFill>
              </a:rPr>
              <a:t>.</a:t>
            </a:r>
          </a:p>
        </p:txBody>
      </p:sp>
      <p:sp>
        <p:nvSpPr>
          <p:cNvPr id="35" name="TextBox 34"/>
          <p:cNvSpPr txBox="1"/>
          <p:nvPr/>
        </p:nvSpPr>
        <p:spPr>
          <a:xfrm>
            <a:off x="502920" y="420624"/>
            <a:ext cx="10744200" cy="130805"/>
          </a:xfrm>
          <a:prstGeom prst="rect">
            <a:avLst/>
          </a:prstGeom>
          <a:noFill/>
        </p:spPr>
        <p:txBody>
          <a:bodyPr wrap="square" lIns="0" tIns="0" rIns="0" bIns="0">
            <a:spAutoFit/>
          </a:bodyPr>
          <a:lstStyle/>
          <a:p>
            <a:pPr algn="l"/>
            <a:r>
              <a:rPr lang="en-HU" sz="850" b="1">
                <a:solidFill>
                  <a:srgbClr val="687385"/>
                </a:solidFill>
              </a:rPr>
              <a:t>181</a:t>
            </a:r>
            <a:r>
              <a:rPr sz="850" b="1">
                <a:solidFill>
                  <a:srgbClr val="687385"/>
                </a:solidFill>
              </a:rPr>
              <a:t> • DAY 4 • BLOCK 16 • Performance, Troubleshooting &amp; Capstone</a:t>
            </a:r>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name="Slide 182">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182</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SSL inspection has measurable compute and compatibility cost</a:t>
            </a:r>
          </a:p>
        </p:txBody>
      </p:sp>
      <p:sp>
        <p:nvSpPr>
          <p:cNvPr id="10" name="TextBox 9"/>
          <p:cNvSpPr txBox="1">
            <a:spLocks/>
          </p:cNvSpPr>
          <p:nvPr/>
        </p:nvSpPr>
        <p:spPr>
          <a:xfrm>
            <a:off x="658368" y="1554480"/>
            <a:ext cx="6583680" cy="4389120"/>
          </a:xfrm>
          <a:prstGeom prst="rect">
            <a:avLst/>
          </a:prstGeom>
          <a:noFill/>
        </p:spPr>
        <p:txBody>
          <a:bodyPr wrap="square" lIns="109728" tIns="73152" rIns="109728" bIns="73152" anchor="t">
            <a:spAutoFit/>
          </a:bodyPr>
          <a:lstStyle/>
          <a:p>
            <a:pPr algn="l">
              <a:lnSpc>
                <a:spcPct val="105000"/>
              </a:lnSpc>
              <a:spcAft>
                <a:spcPts val="800"/>
              </a:spcAft>
              <a:defRPr sz="1700">
                <a:solidFill>
                  <a:srgbClr val="1E2B40"/>
                </a:solidFill>
              </a:defRPr>
            </a:pPr>
            <a:r>
              <a:rPr lang="en-GB"/>
              <a:t>• Deep inspection adds TLS termination, certificate generation and content scanning</a:t>
            </a:r>
          </a:p>
          <a:p>
            <a:pPr>
              <a:lnSpc>
                <a:spcPct val="105000"/>
              </a:lnSpc>
              <a:spcAft>
                <a:spcPts val="800"/>
              </a:spcAft>
              <a:defRPr sz="1700">
                <a:solidFill>
                  <a:srgbClr val="1E2B40"/>
                </a:solidFill>
              </a:defRPr>
            </a:pPr>
            <a:r>
              <a:rPr lang="en-GB"/>
              <a:t>• Cipher suites, key sizes, session resumption and traffic mix affect cost</a:t>
            </a:r>
          </a:p>
          <a:p>
            <a:pPr>
              <a:lnSpc>
                <a:spcPct val="105000"/>
              </a:lnSpc>
              <a:spcAft>
                <a:spcPts val="800"/>
              </a:spcAft>
              <a:defRPr sz="1700">
                <a:solidFill>
                  <a:srgbClr val="1E2B40"/>
                </a:solidFill>
              </a:defRPr>
            </a:pPr>
            <a:r>
              <a:rPr lang="en-GB"/>
              <a:t>• Certificate inspection has lower visibility and generally lower processing cost</a:t>
            </a:r>
          </a:p>
          <a:p>
            <a:pPr>
              <a:lnSpc>
                <a:spcPct val="105000"/>
              </a:lnSpc>
              <a:spcAft>
                <a:spcPts val="800"/>
              </a:spcAft>
              <a:defRPr sz="1700">
                <a:solidFill>
                  <a:srgbClr val="1E2B40"/>
                </a:solidFill>
              </a:defRPr>
            </a:pPr>
            <a:r>
              <a:rPr lang="en-GB"/>
              <a:t>• Capacity planning must use representative encrypted traffic and enabled profiles</a:t>
            </a:r>
          </a:p>
        </p:txBody>
      </p:sp>
      <p:cxnSp>
        <p:nvCxnSpPr>
          <p:cNvPr id="11" name="Connector 10"/>
          <p:cNvCxnSpPr/>
          <p:nvPr/>
        </p:nvCxnSpPr>
        <p:spPr>
          <a:xfrm>
            <a:off x="7452360" y="1600200"/>
            <a:ext cx="0" cy="434340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7790688" y="1627632"/>
            <a:ext cx="342900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ILLUSTRATIVE SCENARIO</a:t>
            </a:r>
          </a:p>
        </p:txBody>
      </p:sp>
      <p:sp>
        <p:nvSpPr>
          <p:cNvPr id="13" name="TextBox 12"/>
          <p:cNvSpPr txBox="1">
            <a:spLocks/>
          </p:cNvSpPr>
          <p:nvPr/>
        </p:nvSpPr>
        <p:spPr>
          <a:xfrm>
            <a:off x="7790688" y="2057400"/>
            <a:ext cx="3337560" cy="1417320"/>
          </a:xfrm>
          <a:prstGeom prst="rect">
            <a:avLst/>
          </a:prstGeom>
          <a:noFill/>
        </p:spPr>
        <p:txBody>
          <a:bodyPr wrap="square" lIns="27432" tIns="27432" rIns="27432" bIns="27432" anchor="t">
            <a:spAutoFit/>
          </a:bodyPr>
          <a:lstStyle/>
          <a:p>
            <a:pPr algn="l">
              <a:spcAft>
                <a:spcPts val="0"/>
              </a:spcAft>
            </a:pPr>
            <a:r>
              <a:rPr lang="en-GB" sz="1700" b="1">
                <a:solidFill>
                  <a:srgbClr val="233A59"/>
                </a:solidFill>
              </a:rPr>
              <a:t>Measure throughput/latency/CPU with and without the intended profile in a controlled test</a:t>
            </a:r>
          </a:p>
        </p:txBody>
      </p:sp>
      <p:sp>
        <p:nvSpPr>
          <p:cNvPr id="14" name="TextBox 13"/>
          <p:cNvSpPr txBox="1">
            <a:spLocks/>
          </p:cNvSpPr>
          <p:nvPr/>
        </p:nvSpPr>
        <p:spPr>
          <a:xfrm>
            <a:off x="7790688" y="3822191"/>
            <a:ext cx="18288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EXPECTED RESULT</a:t>
            </a:r>
          </a:p>
        </p:txBody>
      </p:sp>
      <p:sp>
        <p:nvSpPr>
          <p:cNvPr id="15" name="TextBox 14"/>
          <p:cNvSpPr txBox="1">
            <a:spLocks/>
          </p:cNvSpPr>
          <p:nvPr/>
        </p:nvSpPr>
        <p:spPr>
          <a:xfrm>
            <a:off x="7790688" y="4187952"/>
            <a:ext cx="3337560" cy="1325880"/>
          </a:xfrm>
          <a:prstGeom prst="rect">
            <a:avLst/>
          </a:prstGeom>
          <a:noFill/>
        </p:spPr>
        <p:txBody>
          <a:bodyPr wrap="square" lIns="27432" tIns="27432" rIns="27432" bIns="27432" anchor="t">
            <a:spAutoFit/>
          </a:bodyPr>
          <a:lstStyle/>
          <a:p>
            <a:pPr algn="l">
              <a:spcAft>
                <a:spcPts val="0"/>
              </a:spcAft>
            </a:pPr>
            <a:r>
              <a:rPr lang="en-GB" sz="1500" b="0">
                <a:solidFill>
                  <a:srgbClr val="1E2B40"/>
                </a:solidFill>
              </a:rPr>
              <a:t>Do not extrapolate one lab VM result to appliance capacity.</a:t>
            </a:r>
          </a:p>
        </p:txBody>
      </p:sp>
      <p:sp>
        <p:nvSpPr>
          <p:cNvPr id="16" name="TextBox 15"/>
          <p:cNvSpPr txBox="1">
            <a:spLocks/>
          </p:cNvSpPr>
          <p:nvPr/>
        </p:nvSpPr>
        <p:spPr>
          <a:xfrm>
            <a:off x="7790688" y="5596128"/>
            <a:ext cx="1920240" cy="201168"/>
          </a:xfrm>
          <a:prstGeom prst="rect">
            <a:avLst/>
          </a:prstGeom>
          <a:noFill/>
        </p:spPr>
        <p:txBody>
          <a:bodyPr wrap="square" lIns="27432" tIns="27432" rIns="27432" bIns="27432" anchor="t">
            <a:spAutoFit/>
          </a:bodyPr>
          <a:lstStyle/>
          <a:p>
            <a:pPr algn="l">
              <a:spcAft>
                <a:spcPts val="0"/>
              </a:spcAft>
            </a:pPr>
            <a:r>
              <a:rPr lang="en-GB" sz="1000" b="1">
                <a:solidFill>
                  <a:srgbClr val="687385"/>
                </a:solidFill>
              </a:rPr>
              <a:t>Expected observation</a:t>
            </a:r>
          </a:p>
        </p:txBody>
      </p:sp>
      <p:sp>
        <p:nvSpPr>
          <p:cNvPr id="17" name="TextBox 16"/>
          <p:cNvSpPr txBox="1">
            <a:spLocks/>
          </p:cNvSpPr>
          <p:nvPr/>
        </p:nvSpPr>
        <p:spPr>
          <a:xfrm>
            <a:off x="9509760" y="5577840"/>
            <a:ext cx="1691640" cy="824841"/>
          </a:xfrm>
          <a:prstGeom prst="rect">
            <a:avLst/>
          </a:prstGeom>
          <a:noFill/>
        </p:spPr>
        <p:txBody>
          <a:bodyPr wrap="square" lIns="27432" tIns="27432" rIns="27432" bIns="27432" anchor="t">
            <a:spAutoFit/>
          </a:bodyPr>
          <a:lstStyle/>
          <a:p>
            <a:pPr algn="r">
              <a:spcAft>
                <a:spcPts val="0"/>
              </a:spcAft>
            </a:pPr>
            <a:r>
              <a:rPr lang="en-GB" sz="1000" b="0">
                <a:solidFill>
                  <a:srgbClr val="687385"/>
                </a:solidFill>
              </a:rPr>
              <a:t>The team identifies the failed decision, applies one reversible fix, and the application succeeds with stable resources.</a:t>
            </a:r>
          </a:p>
        </p:txBody>
      </p:sp>
      <p:sp>
        <p:nvSpPr>
          <p:cNvPr id="18" name="TextBox 17"/>
          <p:cNvSpPr txBox="1">
            <a:spLocks/>
          </p:cNvSpPr>
          <p:nvPr/>
        </p:nvSpPr>
        <p:spPr>
          <a:xfrm>
            <a:off x="502920" y="420624"/>
            <a:ext cx="10744200" cy="130805"/>
          </a:xfrm>
          <a:prstGeom prst="rect">
            <a:avLst/>
          </a:prstGeom>
          <a:noFill/>
        </p:spPr>
        <p:txBody>
          <a:bodyPr wrap="square" lIns="0" tIns="0" rIns="0" bIns="0">
            <a:spAutoFit/>
          </a:bodyPr>
          <a:lstStyle/>
          <a:p>
            <a:pPr algn="l"/>
            <a:r>
              <a:rPr lang="en-GB" sz="850" b="1">
                <a:solidFill>
                  <a:srgbClr val="687385"/>
                </a:solidFill>
              </a:rPr>
              <a:t>182 • DAY 4 • BLOCK 16 • Performance, Troubleshooting &amp; Capstone</a:t>
            </a:r>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name="Slide 183">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183</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Security profiles consume resources according to traffic mix</a:t>
            </a:r>
          </a:p>
        </p:txBody>
      </p:sp>
      <p:sp>
        <p:nvSpPr>
          <p:cNvPr id="10" name="TextBox 9"/>
          <p:cNvSpPr txBox="1">
            <a:spLocks/>
          </p:cNvSpPr>
          <p:nvPr/>
        </p:nvSpPr>
        <p:spPr>
          <a:xfrm>
            <a:off x="658368" y="1554480"/>
            <a:ext cx="6583680" cy="2644763"/>
          </a:xfrm>
          <a:prstGeom prst="rect">
            <a:avLst/>
          </a:prstGeom>
          <a:noFill/>
        </p:spPr>
        <p:txBody>
          <a:bodyPr wrap="square" lIns="109728" tIns="73152" rIns="109728" bIns="73152" anchor="t">
            <a:spAutoFit/>
          </a:bodyPr>
          <a:lstStyle/>
          <a:p>
            <a:pPr algn="l">
              <a:lnSpc>
                <a:spcPct val="105000"/>
              </a:lnSpc>
              <a:spcAft>
                <a:spcPts val="800"/>
              </a:spcAft>
              <a:defRPr sz="1700">
                <a:solidFill>
                  <a:srgbClr val="1E2B40"/>
                </a:solidFill>
              </a:defRPr>
            </a:pPr>
            <a:r>
              <a:rPr lang="en-GB"/>
              <a:t>• AV, IPS, Web and App Control engage different engines and update packages</a:t>
            </a:r>
          </a:p>
          <a:p>
            <a:pPr>
              <a:lnSpc>
                <a:spcPct val="105000"/>
              </a:lnSpc>
              <a:spcAft>
                <a:spcPts val="800"/>
              </a:spcAft>
              <a:defRPr sz="1700">
                <a:solidFill>
                  <a:srgbClr val="1E2B40"/>
                </a:solidFill>
              </a:defRPr>
            </a:pPr>
            <a:r>
              <a:rPr lang="en-GB"/>
              <a:t>• Encrypted traffic requires sufficient inspection visibility before content scanning</a:t>
            </a:r>
          </a:p>
          <a:p>
            <a:pPr>
              <a:lnSpc>
                <a:spcPct val="105000"/>
              </a:lnSpc>
              <a:spcAft>
                <a:spcPts val="800"/>
              </a:spcAft>
              <a:defRPr sz="1700">
                <a:solidFill>
                  <a:srgbClr val="1E2B40"/>
                </a:solidFill>
              </a:defRPr>
            </a:pPr>
            <a:r>
              <a:rPr lang="en-GB"/>
              <a:t>• Logging volume and disk/remote transport can become bottlenecks</a:t>
            </a:r>
          </a:p>
          <a:p>
            <a:pPr>
              <a:lnSpc>
                <a:spcPct val="105000"/>
              </a:lnSpc>
              <a:spcAft>
                <a:spcPts val="800"/>
              </a:spcAft>
              <a:defRPr sz="1700">
                <a:solidFill>
                  <a:srgbClr val="1E2B40"/>
                </a:solidFill>
              </a:defRPr>
            </a:pPr>
            <a:r>
              <a:rPr lang="en-GB"/>
              <a:t>• Profile tuning should preserve security requirements and use representative measurements</a:t>
            </a:r>
          </a:p>
        </p:txBody>
      </p:sp>
      <p:cxnSp>
        <p:nvCxnSpPr>
          <p:cNvPr id="11" name="Connector 10"/>
          <p:cNvCxnSpPr/>
          <p:nvPr/>
        </p:nvCxnSpPr>
        <p:spPr>
          <a:xfrm>
            <a:off x="7452360" y="1600200"/>
            <a:ext cx="0" cy="434340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7790688" y="1627632"/>
            <a:ext cx="342900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ILLUSTRATIVE SCENARIO</a:t>
            </a:r>
          </a:p>
        </p:txBody>
      </p:sp>
      <p:sp>
        <p:nvSpPr>
          <p:cNvPr id="13" name="TextBox 12"/>
          <p:cNvSpPr txBox="1">
            <a:spLocks/>
          </p:cNvSpPr>
          <p:nvPr/>
        </p:nvSpPr>
        <p:spPr>
          <a:xfrm>
            <a:off x="7790688" y="2057400"/>
            <a:ext cx="3337560" cy="1417320"/>
          </a:xfrm>
          <a:prstGeom prst="rect">
            <a:avLst/>
          </a:prstGeom>
          <a:noFill/>
        </p:spPr>
        <p:txBody>
          <a:bodyPr wrap="square" lIns="27432" tIns="27432" rIns="27432" bIns="27432" anchor="t">
            <a:spAutoFit/>
          </a:bodyPr>
          <a:lstStyle/>
          <a:p>
            <a:pPr algn="l">
              <a:spcAft>
                <a:spcPts val="0"/>
              </a:spcAft>
            </a:pPr>
            <a:r>
              <a:rPr lang="en-GB" sz="1700" b="1">
                <a:solidFill>
                  <a:srgbClr val="233A59"/>
                </a:solidFill>
              </a:rPr>
              <a:t>Optimize exclusions/signatures only with risk owner approval and rollback</a:t>
            </a:r>
          </a:p>
        </p:txBody>
      </p:sp>
      <p:sp>
        <p:nvSpPr>
          <p:cNvPr id="14" name="TextBox 13"/>
          <p:cNvSpPr txBox="1">
            <a:spLocks/>
          </p:cNvSpPr>
          <p:nvPr/>
        </p:nvSpPr>
        <p:spPr>
          <a:xfrm>
            <a:off x="7790688" y="3822191"/>
            <a:ext cx="18288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EXPECTED RESULT</a:t>
            </a:r>
          </a:p>
        </p:txBody>
      </p:sp>
      <p:sp>
        <p:nvSpPr>
          <p:cNvPr id="15" name="TextBox 14"/>
          <p:cNvSpPr txBox="1">
            <a:spLocks/>
          </p:cNvSpPr>
          <p:nvPr/>
        </p:nvSpPr>
        <p:spPr>
          <a:xfrm>
            <a:off x="7790688" y="4187952"/>
            <a:ext cx="3337560" cy="1325880"/>
          </a:xfrm>
          <a:prstGeom prst="rect">
            <a:avLst/>
          </a:prstGeom>
          <a:noFill/>
        </p:spPr>
        <p:txBody>
          <a:bodyPr wrap="square" lIns="27432" tIns="27432" rIns="27432" bIns="27432" anchor="t">
            <a:spAutoFit/>
          </a:bodyPr>
          <a:lstStyle/>
          <a:p>
            <a:pPr algn="l">
              <a:spcAft>
                <a:spcPts val="0"/>
              </a:spcAft>
            </a:pPr>
            <a:r>
              <a:rPr lang="en-GB" sz="1500" b="0">
                <a:solidFill>
                  <a:srgbClr val="1E2B40"/>
                </a:solidFill>
              </a:rPr>
              <a:t>Compare security events, CPU/memory and user impact.</a:t>
            </a:r>
          </a:p>
        </p:txBody>
      </p:sp>
      <p:sp>
        <p:nvSpPr>
          <p:cNvPr id="16" name="TextBox 15"/>
          <p:cNvSpPr txBox="1">
            <a:spLocks/>
          </p:cNvSpPr>
          <p:nvPr/>
        </p:nvSpPr>
        <p:spPr>
          <a:xfrm>
            <a:off x="7790688" y="5596128"/>
            <a:ext cx="1920240" cy="201168"/>
          </a:xfrm>
          <a:prstGeom prst="rect">
            <a:avLst/>
          </a:prstGeom>
          <a:noFill/>
        </p:spPr>
        <p:txBody>
          <a:bodyPr wrap="square" lIns="27432" tIns="27432" rIns="27432" bIns="27432" anchor="t">
            <a:spAutoFit/>
          </a:bodyPr>
          <a:lstStyle/>
          <a:p>
            <a:pPr algn="l">
              <a:spcAft>
                <a:spcPts val="0"/>
              </a:spcAft>
            </a:pPr>
            <a:r>
              <a:rPr lang="en-GB" sz="1000" b="1">
                <a:solidFill>
                  <a:srgbClr val="687385"/>
                </a:solidFill>
              </a:rPr>
              <a:t>Expected observation</a:t>
            </a:r>
          </a:p>
        </p:txBody>
      </p:sp>
      <p:sp>
        <p:nvSpPr>
          <p:cNvPr id="17" name="TextBox 16"/>
          <p:cNvSpPr txBox="1">
            <a:spLocks/>
          </p:cNvSpPr>
          <p:nvPr/>
        </p:nvSpPr>
        <p:spPr>
          <a:xfrm>
            <a:off x="9509760" y="5577840"/>
            <a:ext cx="1691640" cy="824841"/>
          </a:xfrm>
          <a:prstGeom prst="rect">
            <a:avLst/>
          </a:prstGeom>
          <a:noFill/>
        </p:spPr>
        <p:txBody>
          <a:bodyPr wrap="square" lIns="27432" tIns="27432" rIns="27432" bIns="27432" anchor="t">
            <a:spAutoFit/>
          </a:bodyPr>
          <a:lstStyle/>
          <a:p>
            <a:pPr algn="r">
              <a:spcAft>
                <a:spcPts val="0"/>
              </a:spcAft>
            </a:pPr>
            <a:r>
              <a:rPr lang="en-GB" sz="1000" b="0">
                <a:solidFill>
                  <a:srgbClr val="687385"/>
                </a:solidFill>
              </a:rPr>
              <a:t>The team identifies the failed decision, applies one reversible fix, and the application succeeds with stable resources.</a:t>
            </a:r>
          </a:p>
        </p:txBody>
      </p:sp>
      <p:sp>
        <p:nvSpPr>
          <p:cNvPr id="18" name="TextBox 17"/>
          <p:cNvSpPr txBox="1">
            <a:spLocks/>
          </p:cNvSpPr>
          <p:nvPr/>
        </p:nvSpPr>
        <p:spPr>
          <a:xfrm>
            <a:off x="502920" y="420624"/>
            <a:ext cx="10744200" cy="130805"/>
          </a:xfrm>
          <a:prstGeom prst="rect">
            <a:avLst/>
          </a:prstGeom>
          <a:noFill/>
        </p:spPr>
        <p:txBody>
          <a:bodyPr wrap="square" lIns="0" tIns="0" rIns="0" bIns="0">
            <a:spAutoFit/>
          </a:bodyPr>
          <a:lstStyle/>
          <a:p>
            <a:pPr algn="l"/>
            <a:r>
              <a:rPr lang="en-GB" sz="850" b="1">
                <a:solidFill>
                  <a:srgbClr val="687385"/>
                </a:solidFill>
              </a:rPr>
              <a:t>183 • DAY 4 • BLOCK 16 • Performance, Troubleshooting &amp; Capstone</a:t>
            </a:r>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name="Slide 184">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184</a:t>
            </a:r>
          </a:p>
        </p:txBody>
      </p:sp>
      <p:sp>
        <p:nvSpPr>
          <p:cNvPr id="9" name="TextBox 8"/>
          <p:cNvSpPr txBox="1">
            <a:spLocks/>
          </p:cNvSpPr>
          <p:nvPr/>
        </p:nvSpPr>
        <p:spPr>
          <a:xfrm>
            <a:off x="502920" y="621792"/>
            <a:ext cx="11109960" cy="455509"/>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A layered workflow prevents random configuration changes</a:t>
            </a:r>
          </a:p>
        </p:txBody>
      </p:sp>
      <p:sp>
        <p:nvSpPr>
          <p:cNvPr id="10" name="Rectangle 9"/>
          <p:cNvSpPr/>
          <p:nvPr/>
        </p:nvSpPr>
        <p:spPr>
          <a:xfrm>
            <a:off x="658368" y="1901952"/>
            <a:ext cx="1684020"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1" name="TextBox 10"/>
          <p:cNvSpPr txBox="1">
            <a:spLocks/>
          </p:cNvSpPr>
          <p:nvPr/>
        </p:nvSpPr>
        <p:spPr>
          <a:xfrm>
            <a:off x="768096" y="2020824"/>
            <a:ext cx="411480" cy="219456"/>
          </a:xfrm>
          <a:prstGeom prst="rect">
            <a:avLst/>
          </a:prstGeom>
          <a:noFill/>
        </p:spPr>
        <p:txBody>
          <a:bodyPr wrap="square" lIns="27432" tIns="27432" rIns="27432" bIns="27432" anchor="t">
            <a:spAutoFit/>
          </a:bodyPr>
          <a:lstStyle/>
          <a:p>
            <a:pPr algn="l">
              <a:spcAft>
                <a:spcPts val="0"/>
              </a:spcAft>
            </a:pPr>
            <a:r>
              <a:rPr lang="en-HU" sz="1100" b="1">
                <a:solidFill>
                  <a:srgbClr val="E60012"/>
                </a:solidFill>
              </a:rPr>
              <a:t>01</a:t>
            </a:r>
          </a:p>
        </p:txBody>
      </p:sp>
      <p:sp>
        <p:nvSpPr>
          <p:cNvPr id="12" name="TextBox 11"/>
          <p:cNvSpPr txBox="1">
            <a:spLocks/>
          </p:cNvSpPr>
          <p:nvPr/>
        </p:nvSpPr>
        <p:spPr>
          <a:xfrm>
            <a:off x="768096" y="2340864"/>
            <a:ext cx="1464564" cy="603504"/>
          </a:xfrm>
          <a:prstGeom prst="rect">
            <a:avLst/>
          </a:prstGeom>
          <a:noFill/>
        </p:spPr>
        <p:txBody>
          <a:bodyPr wrap="square" lIns="27432" tIns="27432" rIns="27432" bIns="27432" anchor="ctr">
            <a:spAutoFit/>
          </a:bodyPr>
          <a:lstStyle/>
          <a:p>
            <a:pPr algn="ctr">
              <a:spcAft>
                <a:spcPts val="0"/>
              </a:spcAft>
            </a:pPr>
            <a:r>
              <a:rPr lang="en-GB" sz="1400" b="1">
                <a:solidFill>
                  <a:srgbClr val="1E2B40"/>
                </a:solidFill>
              </a:rPr>
              <a:t>Symptom</a:t>
            </a:r>
          </a:p>
        </p:txBody>
      </p:sp>
      <p:cxnSp>
        <p:nvCxnSpPr>
          <p:cNvPr id="13" name="Connector 12"/>
          <p:cNvCxnSpPr/>
          <p:nvPr/>
        </p:nvCxnSpPr>
        <p:spPr>
          <a:xfrm>
            <a:off x="2342388"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2488692" y="1901952"/>
            <a:ext cx="1684020"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5" name="TextBox 14"/>
          <p:cNvSpPr txBox="1">
            <a:spLocks/>
          </p:cNvSpPr>
          <p:nvPr/>
        </p:nvSpPr>
        <p:spPr>
          <a:xfrm>
            <a:off x="2598420" y="2020824"/>
            <a:ext cx="411480" cy="219456"/>
          </a:xfrm>
          <a:prstGeom prst="rect">
            <a:avLst/>
          </a:prstGeom>
          <a:noFill/>
        </p:spPr>
        <p:txBody>
          <a:bodyPr wrap="square" lIns="27432" tIns="27432" rIns="27432" bIns="27432" anchor="t">
            <a:spAutoFit/>
          </a:bodyPr>
          <a:lstStyle/>
          <a:p>
            <a:pPr algn="l">
              <a:spcAft>
                <a:spcPts val="0"/>
              </a:spcAft>
            </a:pPr>
            <a:r>
              <a:rPr lang="en-HU" sz="1100" b="1">
                <a:solidFill>
                  <a:srgbClr val="E60012"/>
                </a:solidFill>
              </a:rPr>
              <a:t>02</a:t>
            </a:r>
          </a:p>
        </p:txBody>
      </p:sp>
      <p:sp>
        <p:nvSpPr>
          <p:cNvPr id="16" name="TextBox 15"/>
          <p:cNvSpPr txBox="1">
            <a:spLocks/>
          </p:cNvSpPr>
          <p:nvPr/>
        </p:nvSpPr>
        <p:spPr>
          <a:xfrm>
            <a:off x="2598420" y="2340864"/>
            <a:ext cx="1464564" cy="603504"/>
          </a:xfrm>
          <a:prstGeom prst="rect">
            <a:avLst/>
          </a:prstGeom>
          <a:noFill/>
        </p:spPr>
        <p:txBody>
          <a:bodyPr wrap="square" lIns="27432" tIns="27432" rIns="27432" bIns="27432" anchor="ctr">
            <a:spAutoFit/>
          </a:bodyPr>
          <a:lstStyle/>
          <a:p>
            <a:pPr algn="ctr">
              <a:spcAft>
                <a:spcPts val="0"/>
              </a:spcAft>
            </a:pPr>
            <a:r>
              <a:rPr lang="en-GB" sz="1400" b="1">
                <a:solidFill>
                  <a:srgbClr val="1E2B40"/>
                </a:solidFill>
              </a:rPr>
              <a:t>Route</a:t>
            </a:r>
          </a:p>
        </p:txBody>
      </p:sp>
      <p:cxnSp>
        <p:nvCxnSpPr>
          <p:cNvPr id="17" name="Connector 16"/>
          <p:cNvCxnSpPr/>
          <p:nvPr/>
        </p:nvCxnSpPr>
        <p:spPr>
          <a:xfrm>
            <a:off x="4172712"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4319015" y="1901952"/>
            <a:ext cx="1684020"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9" name="TextBox 18"/>
          <p:cNvSpPr txBox="1">
            <a:spLocks/>
          </p:cNvSpPr>
          <p:nvPr/>
        </p:nvSpPr>
        <p:spPr>
          <a:xfrm>
            <a:off x="4428744" y="2020824"/>
            <a:ext cx="411480" cy="219456"/>
          </a:xfrm>
          <a:prstGeom prst="rect">
            <a:avLst/>
          </a:prstGeom>
          <a:noFill/>
        </p:spPr>
        <p:txBody>
          <a:bodyPr wrap="square" lIns="27432" tIns="27432" rIns="27432" bIns="27432" anchor="t">
            <a:spAutoFit/>
          </a:bodyPr>
          <a:lstStyle/>
          <a:p>
            <a:pPr algn="l">
              <a:spcAft>
                <a:spcPts val="0"/>
              </a:spcAft>
            </a:pPr>
            <a:r>
              <a:rPr lang="en-HU" sz="1100" b="1">
                <a:solidFill>
                  <a:srgbClr val="E60012"/>
                </a:solidFill>
              </a:rPr>
              <a:t>03</a:t>
            </a:r>
          </a:p>
        </p:txBody>
      </p:sp>
      <p:sp>
        <p:nvSpPr>
          <p:cNvPr id="20" name="TextBox 19"/>
          <p:cNvSpPr txBox="1">
            <a:spLocks/>
          </p:cNvSpPr>
          <p:nvPr/>
        </p:nvSpPr>
        <p:spPr>
          <a:xfrm>
            <a:off x="4428744" y="2340864"/>
            <a:ext cx="1464564" cy="603504"/>
          </a:xfrm>
          <a:prstGeom prst="rect">
            <a:avLst/>
          </a:prstGeom>
          <a:noFill/>
        </p:spPr>
        <p:txBody>
          <a:bodyPr wrap="square" lIns="27432" tIns="27432" rIns="27432" bIns="27432" anchor="ctr">
            <a:spAutoFit/>
          </a:bodyPr>
          <a:lstStyle/>
          <a:p>
            <a:pPr algn="ctr">
              <a:spcAft>
                <a:spcPts val="0"/>
              </a:spcAft>
            </a:pPr>
            <a:r>
              <a:rPr lang="en-GB" sz="1400" b="1">
                <a:solidFill>
                  <a:srgbClr val="1E2B40"/>
                </a:solidFill>
              </a:rPr>
              <a:t>Policy/NAT</a:t>
            </a:r>
          </a:p>
        </p:txBody>
      </p:sp>
      <p:cxnSp>
        <p:nvCxnSpPr>
          <p:cNvPr id="21" name="Connector 20"/>
          <p:cNvCxnSpPr/>
          <p:nvPr/>
        </p:nvCxnSpPr>
        <p:spPr>
          <a:xfrm>
            <a:off x="6003036"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6149339" y="1901952"/>
            <a:ext cx="1684020"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259067" y="2020824"/>
            <a:ext cx="411480" cy="219456"/>
          </a:xfrm>
          <a:prstGeom prst="rect">
            <a:avLst/>
          </a:prstGeom>
          <a:noFill/>
        </p:spPr>
        <p:txBody>
          <a:bodyPr wrap="square" lIns="27432" tIns="27432" rIns="27432" bIns="27432" anchor="t">
            <a:spAutoFit/>
          </a:bodyPr>
          <a:lstStyle/>
          <a:p>
            <a:pPr algn="l">
              <a:spcAft>
                <a:spcPts val="0"/>
              </a:spcAft>
            </a:pPr>
            <a:r>
              <a:rPr sz="1100" b="1">
                <a:solidFill>
                  <a:srgbClr val="E60012"/>
                </a:solidFill>
              </a:rPr>
              <a:t>04</a:t>
            </a:r>
          </a:p>
        </p:txBody>
      </p:sp>
      <p:sp>
        <p:nvSpPr>
          <p:cNvPr id="24" name="TextBox 23"/>
          <p:cNvSpPr txBox="1"/>
          <p:nvPr/>
        </p:nvSpPr>
        <p:spPr>
          <a:xfrm>
            <a:off x="6259067" y="2340864"/>
            <a:ext cx="1464564" cy="603504"/>
          </a:xfrm>
          <a:prstGeom prst="rect">
            <a:avLst/>
          </a:prstGeom>
          <a:noFill/>
        </p:spPr>
        <p:txBody>
          <a:bodyPr wrap="square" lIns="27432" tIns="27432" rIns="27432" bIns="27432" anchor="ctr">
            <a:spAutoFit/>
          </a:bodyPr>
          <a:lstStyle/>
          <a:p>
            <a:pPr algn="ctr">
              <a:spcAft>
                <a:spcPts val="0"/>
              </a:spcAft>
            </a:pPr>
            <a:r>
              <a:rPr sz="1400" b="1">
                <a:solidFill>
                  <a:srgbClr val="1E2B40"/>
                </a:solidFill>
              </a:rPr>
              <a:t>Overlay/SD-WAN</a:t>
            </a:r>
          </a:p>
        </p:txBody>
      </p:sp>
      <p:cxnSp>
        <p:nvCxnSpPr>
          <p:cNvPr id="25" name="Connector 24"/>
          <p:cNvCxnSpPr/>
          <p:nvPr/>
        </p:nvCxnSpPr>
        <p:spPr>
          <a:xfrm>
            <a:off x="7833359"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7979664" y="1901952"/>
            <a:ext cx="1684020"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089391" y="2020824"/>
            <a:ext cx="411480" cy="219456"/>
          </a:xfrm>
          <a:prstGeom prst="rect">
            <a:avLst/>
          </a:prstGeom>
          <a:noFill/>
        </p:spPr>
        <p:txBody>
          <a:bodyPr wrap="square" lIns="27432" tIns="27432" rIns="27432" bIns="27432" anchor="t">
            <a:spAutoFit/>
          </a:bodyPr>
          <a:lstStyle/>
          <a:p>
            <a:pPr algn="l">
              <a:spcAft>
                <a:spcPts val="0"/>
              </a:spcAft>
            </a:pPr>
            <a:r>
              <a:rPr sz="1100" b="1">
                <a:solidFill>
                  <a:srgbClr val="E60012"/>
                </a:solidFill>
              </a:rPr>
              <a:t>05</a:t>
            </a:r>
          </a:p>
        </p:txBody>
      </p:sp>
      <p:sp>
        <p:nvSpPr>
          <p:cNvPr id="28" name="TextBox 27"/>
          <p:cNvSpPr txBox="1"/>
          <p:nvPr/>
        </p:nvSpPr>
        <p:spPr>
          <a:xfrm>
            <a:off x="8089391" y="2340864"/>
            <a:ext cx="1464564" cy="603504"/>
          </a:xfrm>
          <a:prstGeom prst="rect">
            <a:avLst/>
          </a:prstGeom>
          <a:noFill/>
        </p:spPr>
        <p:txBody>
          <a:bodyPr wrap="square" lIns="27432" tIns="27432" rIns="27432" bIns="27432" anchor="ctr">
            <a:spAutoFit/>
          </a:bodyPr>
          <a:lstStyle/>
          <a:p>
            <a:pPr algn="ctr">
              <a:spcAft>
                <a:spcPts val="0"/>
              </a:spcAft>
            </a:pPr>
            <a:r>
              <a:rPr sz="1400" b="1">
                <a:solidFill>
                  <a:srgbClr val="1E2B40"/>
                </a:solidFill>
              </a:rPr>
              <a:t>Profiles</a:t>
            </a:r>
          </a:p>
        </p:txBody>
      </p:sp>
      <p:cxnSp>
        <p:nvCxnSpPr>
          <p:cNvPr id="29" name="Connector 28"/>
          <p:cNvCxnSpPr/>
          <p:nvPr/>
        </p:nvCxnSpPr>
        <p:spPr>
          <a:xfrm>
            <a:off x="9663684"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9809988" y="1901952"/>
            <a:ext cx="1684020"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919716" y="2020824"/>
            <a:ext cx="411480" cy="219456"/>
          </a:xfrm>
          <a:prstGeom prst="rect">
            <a:avLst/>
          </a:prstGeom>
          <a:noFill/>
        </p:spPr>
        <p:txBody>
          <a:bodyPr wrap="square" lIns="27432" tIns="27432" rIns="27432" bIns="27432" anchor="t">
            <a:spAutoFit/>
          </a:bodyPr>
          <a:lstStyle/>
          <a:p>
            <a:pPr algn="l">
              <a:spcAft>
                <a:spcPts val="0"/>
              </a:spcAft>
            </a:pPr>
            <a:r>
              <a:rPr sz="1100" b="1">
                <a:solidFill>
                  <a:srgbClr val="E60012"/>
                </a:solidFill>
              </a:rPr>
              <a:t>06</a:t>
            </a:r>
          </a:p>
        </p:txBody>
      </p:sp>
      <p:sp>
        <p:nvSpPr>
          <p:cNvPr id="32" name="TextBox 31"/>
          <p:cNvSpPr txBox="1"/>
          <p:nvPr/>
        </p:nvSpPr>
        <p:spPr>
          <a:xfrm>
            <a:off x="9919716" y="2340864"/>
            <a:ext cx="1464564" cy="603504"/>
          </a:xfrm>
          <a:prstGeom prst="rect">
            <a:avLst/>
          </a:prstGeom>
          <a:noFill/>
        </p:spPr>
        <p:txBody>
          <a:bodyPr wrap="square" lIns="27432" tIns="27432" rIns="27432" bIns="27432" anchor="ctr">
            <a:spAutoFit/>
          </a:bodyPr>
          <a:lstStyle/>
          <a:p>
            <a:pPr algn="ctr">
              <a:spcAft>
                <a:spcPts val="0"/>
              </a:spcAft>
            </a:pPr>
            <a:r>
              <a:rPr sz="1400" b="1">
                <a:solidFill>
                  <a:srgbClr val="1E2B40"/>
                </a:solidFill>
              </a:rPr>
              <a:t>Resources</a:t>
            </a:r>
          </a:p>
        </p:txBody>
      </p:sp>
      <p:sp>
        <p:nvSpPr>
          <p:cNvPr id="33" name="TextBox 32"/>
          <p:cNvSpPr txBox="1"/>
          <p:nvPr/>
        </p:nvSpPr>
        <p:spPr>
          <a:xfrm>
            <a:off x="658368" y="3703320"/>
            <a:ext cx="2011680" cy="256032"/>
          </a:xfrm>
          <a:prstGeom prst="rect">
            <a:avLst/>
          </a:prstGeom>
          <a:noFill/>
        </p:spPr>
        <p:txBody>
          <a:bodyPr wrap="square" lIns="27432" tIns="27432" rIns="27432" bIns="27432" anchor="t">
            <a:spAutoFit/>
          </a:bodyPr>
          <a:lstStyle/>
          <a:p>
            <a:pPr algn="l">
              <a:spcAft>
                <a:spcPts val="0"/>
              </a:spcAft>
            </a:pPr>
            <a:r>
              <a:rPr sz="1100" b="1">
                <a:solidFill>
                  <a:srgbClr val="E60012"/>
                </a:solidFill>
              </a:rPr>
              <a:t>What to observe</a:t>
            </a:r>
          </a:p>
        </p:txBody>
      </p:sp>
      <p:sp>
        <p:nvSpPr>
          <p:cNvPr id="34" name="TextBox 33"/>
          <p:cNvSpPr txBox="1"/>
          <p:nvPr/>
        </p:nvSpPr>
        <p:spPr>
          <a:xfrm>
            <a:off x="658368" y="4050791"/>
            <a:ext cx="6446520" cy="1508760"/>
          </a:xfrm>
          <a:prstGeom prst="rect">
            <a:avLst/>
          </a:prstGeom>
          <a:noFill/>
        </p:spPr>
        <p:txBody>
          <a:bodyPr wrap="square" lIns="109728" tIns="73152" rIns="109728" bIns="73152" anchor="t">
            <a:spAutoFit/>
          </a:bodyPr>
          <a:lstStyle/>
          <a:p>
            <a:pPr algn="l">
              <a:lnSpc>
                <a:spcPct val="105000"/>
              </a:lnSpc>
              <a:spcAft>
                <a:spcPts val="700"/>
              </a:spcAft>
              <a:defRPr sz="1600">
                <a:solidFill>
                  <a:srgbClr val="1E2B40"/>
                </a:solidFill>
              </a:defRPr>
            </a:pPr>
            <a:r>
              <a:t>• Check policy/NAT/session</a:t>
            </a:r>
          </a:p>
          <a:p>
            <a:pPr>
              <a:lnSpc>
                <a:spcPct val="105000"/>
              </a:lnSpc>
              <a:spcAft>
                <a:spcPts val="700"/>
              </a:spcAft>
              <a:defRPr sz="1600">
                <a:solidFill>
                  <a:srgbClr val="1E2B40"/>
                </a:solidFill>
              </a:defRPr>
            </a:pPr>
            <a:r>
              <a:t>• Check VPN/SD-WAN/security-profile layers as applicable</a:t>
            </a:r>
          </a:p>
          <a:p>
            <a:pPr>
              <a:lnSpc>
                <a:spcPct val="105000"/>
              </a:lnSpc>
              <a:spcAft>
                <a:spcPts val="700"/>
              </a:spcAft>
              <a:defRPr sz="1600">
                <a:solidFill>
                  <a:srgbClr val="1E2B40"/>
                </a:solidFill>
              </a:defRPr>
            </a:pPr>
            <a:r>
              <a:t>• Check resource pressure and recent changes last/throughout</a:t>
            </a:r>
          </a:p>
        </p:txBody>
      </p:sp>
      <p:cxnSp>
        <p:nvCxnSpPr>
          <p:cNvPr id="35" name="Connector 34"/>
          <p:cNvCxnSpPr/>
          <p:nvPr/>
        </p:nvCxnSpPr>
        <p:spPr>
          <a:xfrm>
            <a:off x="7452360" y="3703320"/>
            <a:ext cx="0" cy="2093976"/>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7772400" y="3703320"/>
            <a:ext cx="292608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INSTRUCTOR DEMONSTRATION</a:t>
            </a:r>
            <a:endParaRPr sz="1100" b="1">
              <a:solidFill>
                <a:srgbClr val="E60012"/>
              </a:solidFill>
            </a:endParaRPr>
          </a:p>
        </p:txBody>
      </p:sp>
      <p:sp>
        <p:nvSpPr>
          <p:cNvPr id="37" name="TextBox 36"/>
          <p:cNvSpPr txBox="1"/>
          <p:nvPr/>
        </p:nvSpPr>
        <p:spPr>
          <a:xfrm>
            <a:off x="7772400" y="4096512"/>
            <a:ext cx="3337560" cy="1234440"/>
          </a:xfrm>
          <a:prstGeom prst="rect">
            <a:avLst/>
          </a:prstGeom>
          <a:noFill/>
        </p:spPr>
        <p:txBody>
          <a:bodyPr wrap="square" lIns="27432" tIns="27432" rIns="27432" bIns="27432" anchor="t">
            <a:spAutoFit/>
          </a:bodyPr>
          <a:lstStyle/>
          <a:p>
            <a:pPr algn="l">
              <a:spcAft>
                <a:spcPts val="0"/>
              </a:spcAft>
            </a:pPr>
            <a:r>
              <a:rPr sz="1500" b="1">
                <a:solidFill>
                  <a:srgbClr val="233A59"/>
                </a:solidFill>
              </a:rPr>
              <a:t>Stop, reset and document debug operations.</a:t>
            </a:r>
          </a:p>
        </p:txBody>
      </p:sp>
      <p:sp>
        <p:nvSpPr>
          <p:cNvPr id="38" name="TextBox 37"/>
          <p:cNvSpPr txBox="1"/>
          <p:nvPr/>
        </p:nvSpPr>
        <p:spPr>
          <a:xfrm>
            <a:off x="7772400" y="5440680"/>
            <a:ext cx="3337560" cy="363176"/>
          </a:xfrm>
          <a:prstGeom prst="rect">
            <a:avLst/>
          </a:prstGeom>
          <a:noFill/>
        </p:spPr>
        <p:txBody>
          <a:bodyPr wrap="square" lIns="27432" tIns="27432" rIns="27432" bIns="27432" anchor="t">
            <a:spAutoFit/>
          </a:bodyPr>
          <a:lstStyle/>
          <a:p>
            <a:pPr algn="l">
              <a:spcAft>
                <a:spcPts val="0"/>
              </a:spcAft>
            </a:pPr>
            <a:r>
              <a:rPr lang="en-GB" sz="1000" b="0">
                <a:solidFill>
                  <a:srgbClr val="687385"/>
                </a:solidFill>
              </a:rPr>
              <a:t>If debug is used, filter by the test tuple and disable</a:t>
            </a:r>
            <a:r>
              <a:rPr sz="1000" b="0">
                <a:solidFill>
                  <a:srgbClr val="687385"/>
                </a:solidFill>
              </a:rPr>
              <a:t>/reset </a:t>
            </a:r>
            <a:r>
              <a:rPr lang="en-GB" sz="1000" b="0">
                <a:solidFill>
                  <a:srgbClr val="687385"/>
                </a:solidFill>
              </a:rPr>
              <a:t>it immediately </a:t>
            </a:r>
            <a:r>
              <a:rPr sz="1000" b="0">
                <a:solidFill>
                  <a:srgbClr val="687385"/>
                </a:solidFill>
              </a:rPr>
              <a:t>after </a:t>
            </a:r>
            <a:r>
              <a:rPr lang="en-GB" sz="1000" b="0">
                <a:solidFill>
                  <a:srgbClr val="687385"/>
                </a:solidFill>
              </a:rPr>
              <a:t>capture</a:t>
            </a:r>
            <a:r>
              <a:rPr sz="1000" b="0">
                <a:solidFill>
                  <a:srgbClr val="687385"/>
                </a:solidFill>
              </a:rPr>
              <a:t>.</a:t>
            </a:r>
          </a:p>
        </p:txBody>
      </p:sp>
      <p:sp>
        <p:nvSpPr>
          <p:cNvPr id="39" name="TextBox 38"/>
          <p:cNvSpPr txBox="1"/>
          <p:nvPr/>
        </p:nvSpPr>
        <p:spPr>
          <a:xfrm>
            <a:off x="502920" y="420624"/>
            <a:ext cx="10744200" cy="130805"/>
          </a:xfrm>
          <a:prstGeom prst="rect">
            <a:avLst/>
          </a:prstGeom>
          <a:noFill/>
        </p:spPr>
        <p:txBody>
          <a:bodyPr wrap="square" lIns="0" tIns="0" rIns="0" bIns="0">
            <a:spAutoFit/>
          </a:bodyPr>
          <a:lstStyle/>
          <a:p>
            <a:pPr algn="l"/>
            <a:r>
              <a:rPr lang="en-HU" sz="850" b="1">
                <a:solidFill>
                  <a:srgbClr val="687385"/>
                </a:solidFill>
              </a:rPr>
              <a:t>184</a:t>
            </a:r>
            <a:r>
              <a:rPr sz="850" b="1">
                <a:solidFill>
                  <a:srgbClr val="687385"/>
                </a:solidFill>
              </a:rPr>
              <a:t> • DAY 4 • BLOCK 16 • Performance, Troubleshooting &amp; Capstone</a:t>
            </a:r>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name="Slide 185">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185</a:t>
            </a:r>
          </a:p>
        </p:txBody>
      </p:sp>
      <p:sp>
        <p:nvSpPr>
          <p:cNvPr id="9" name="TextBox 8"/>
          <p:cNvSpPr txBox="1">
            <a:spLocks/>
          </p:cNvSpPr>
          <p:nvPr/>
        </p:nvSpPr>
        <p:spPr>
          <a:xfrm>
            <a:off x="502920" y="621792"/>
            <a:ext cx="11109960" cy="455509"/>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Enterprise Branch Incident uses the actual Student N pod</a:t>
            </a:r>
          </a:p>
        </p:txBody>
      </p:sp>
      <p:sp>
        <p:nvSpPr>
          <p:cNvPr id="10" name="Rectangle 9"/>
          <p:cNvSpPr/>
          <p:nvPr/>
        </p:nvSpPr>
        <p:spPr>
          <a:xfrm>
            <a:off x="960120" y="1965960"/>
            <a:ext cx="1682495" cy="105156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1" name="TextBox 10"/>
          <p:cNvSpPr txBox="1">
            <a:spLocks/>
          </p:cNvSpPr>
          <p:nvPr/>
        </p:nvSpPr>
        <p:spPr>
          <a:xfrm>
            <a:off x="1051560" y="2167472"/>
            <a:ext cx="1499616" cy="401648"/>
          </a:xfrm>
          <a:prstGeom prst="rect">
            <a:avLst/>
          </a:prstGeom>
          <a:noFill/>
        </p:spPr>
        <p:txBody>
          <a:bodyPr wrap="square" lIns="27432" tIns="27432" rIns="27432" bIns="27432" anchor="ctr">
            <a:spAutoFit/>
          </a:bodyPr>
          <a:lstStyle/>
          <a:p>
            <a:pPr algn="ctr">
              <a:spcAft>
                <a:spcPts val="0"/>
              </a:spcAft>
            </a:pPr>
            <a:r>
              <a:rPr lang="en-GB" sz="1300" b="1">
                <a:solidFill>
                  <a:srgbClr val="FFFFFF"/>
                </a:solidFill>
              </a:rPr>
              <a:t>LINUX LAN CLIENT</a:t>
            </a:r>
          </a:p>
          <a:p>
            <a:r>
              <a:rPr lang="en-GB" sz="950">
                <a:solidFill>
                  <a:srgbClr val="FFFFFF"/>
                </a:solidFill>
              </a:rPr>
              <a:t>10.N.10.10</a:t>
            </a:r>
          </a:p>
        </p:txBody>
      </p:sp>
      <p:cxnSp>
        <p:nvCxnSpPr>
          <p:cNvPr id="12" name="Connector 11"/>
          <p:cNvCxnSpPr/>
          <p:nvPr/>
        </p:nvCxnSpPr>
        <p:spPr>
          <a:xfrm>
            <a:off x="2642615" y="2496312"/>
            <a:ext cx="457200" cy="0"/>
          </a:xfrm>
          <a:prstGeom prst="line">
            <a:avLst/>
          </a:prstGeom>
          <a:ln w="31750">
            <a:solidFill>
              <a:srgbClr val="E60012"/>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3099815" y="1965960"/>
            <a:ext cx="1682495" cy="105156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191256" y="2094375"/>
            <a:ext cx="1499616" cy="547842"/>
          </a:xfrm>
          <a:prstGeom prst="rect">
            <a:avLst/>
          </a:prstGeom>
          <a:noFill/>
        </p:spPr>
        <p:txBody>
          <a:bodyPr wrap="square" lIns="27432" tIns="27432" rIns="27432" bIns="27432" anchor="ctr">
            <a:spAutoFit/>
          </a:bodyPr>
          <a:lstStyle/>
          <a:p>
            <a:pPr algn="ctr">
              <a:spcAft>
                <a:spcPts val="0"/>
              </a:spcAft>
            </a:pPr>
            <a:r>
              <a:rPr lang="en-GB" sz="1300" b="1">
                <a:solidFill>
                  <a:srgbClr val="FFFFFF"/>
                </a:solidFill>
              </a:rPr>
              <a:t>STUDENT N FGT</a:t>
            </a:r>
          </a:p>
          <a:p>
            <a:r>
              <a:rPr lang="en-GB" sz="950">
                <a:solidFill>
                  <a:srgbClr val="FFFFFF"/>
                </a:solidFill>
              </a:rPr>
              <a:t>p2 10.N.10.4 • p3 10.N.20.4</a:t>
            </a:r>
          </a:p>
        </p:txBody>
      </p:sp>
      <p:cxnSp>
        <p:nvCxnSpPr>
          <p:cNvPr id="15" name="Connector 14"/>
          <p:cNvCxnSpPr/>
          <p:nvPr/>
        </p:nvCxnSpPr>
        <p:spPr>
          <a:xfrm>
            <a:off x="4782312" y="2496312"/>
            <a:ext cx="457200" cy="0"/>
          </a:xfrm>
          <a:prstGeom prst="line">
            <a:avLst/>
          </a:prstGeom>
          <a:ln w="31750">
            <a:solidFill>
              <a:srgbClr val="E60012"/>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5239512" y="1965960"/>
            <a:ext cx="1682495" cy="105156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330951" y="2040514"/>
            <a:ext cx="1499616" cy="655564"/>
          </a:xfrm>
          <a:prstGeom prst="rect">
            <a:avLst/>
          </a:prstGeom>
          <a:noFill/>
        </p:spPr>
        <p:txBody>
          <a:bodyPr wrap="square" lIns="27432" tIns="27432" rIns="27432" bIns="27432" anchor="ctr">
            <a:spAutoFit/>
          </a:bodyPr>
          <a:lstStyle/>
          <a:p>
            <a:pPr algn="ctr">
              <a:spcAft>
                <a:spcPts val="0"/>
              </a:spcAft>
            </a:pPr>
            <a:r>
              <a:rPr lang="en-GB" sz="1300" b="1">
                <a:solidFill>
                  <a:srgbClr val="FFFFFF"/>
                </a:solidFill>
              </a:rPr>
              <a:t>POLICY • ROUTE</a:t>
            </a:r>
          </a:p>
          <a:p>
            <a:r>
              <a:rPr lang="en-GB" sz="1300" b="1">
                <a:solidFill>
                  <a:srgbClr val="FFFFFF"/>
                </a:solidFill>
              </a:rPr>
              <a:t>SECURITY INSPECTION</a:t>
            </a:r>
          </a:p>
        </p:txBody>
      </p:sp>
      <p:cxnSp>
        <p:nvCxnSpPr>
          <p:cNvPr id="18" name="Connector 17"/>
          <p:cNvCxnSpPr/>
          <p:nvPr/>
        </p:nvCxnSpPr>
        <p:spPr>
          <a:xfrm>
            <a:off x="6922007" y="2496312"/>
            <a:ext cx="457201" cy="0"/>
          </a:xfrm>
          <a:prstGeom prst="line">
            <a:avLst/>
          </a:prstGeom>
          <a:ln w="31750">
            <a:solidFill>
              <a:srgbClr val="E60012"/>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7379208" y="1965960"/>
            <a:ext cx="1682495" cy="105156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470648" y="1994348"/>
            <a:ext cx="1499616" cy="747897"/>
          </a:xfrm>
          <a:prstGeom prst="rect">
            <a:avLst/>
          </a:prstGeom>
          <a:noFill/>
        </p:spPr>
        <p:txBody>
          <a:bodyPr wrap="square" lIns="27432" tIns="27432" rIns="27432" bIns="27432" anchor="ctr">
            <a:spAutoFit/>
          </a:bodyPr>
          <a:lstStyle/>
          <a:p>
            <a:pPr algn="ctr">
              <a:spcAft>
                <a:spcPts val="0"/>
              </a:spcAft>
            </a:pPr>
            <a:r>
              <a:rPr lang="en-GB" sz="1300" b="1">
                <a:solidFill>
                  <a:srgbClr val="FFFFFF"/>
                </a:solidFill>
              </a:rPr>
              <a:t>INSTRUCTOR HUB / NVA</a:t>
            </a:r>
          </a:p>
          <a:p>
            <a:r>
              <a:rPr lang="en-GB" sz="950">
                <a:solidFill>
                  <a:srgbClr val="FFFFFF"/>
                </a:solidFill>
              </a:rPr>
              <a:t>FGT p1 10.0.0.4 • NVA 10.0.40.4</a:t>
            </a:r>
          </a:p>
        </p:txBody>
      </p:sp>
      <p:cxnSp>
        <p:nvCxnSpPr>
          <p:cNvPr id="21" name="Connector 20"/>
          <p:cNvCxnSpPr/>
          <p:nvPr/>
        </p:nvCxnSpPr>
        <p:spPr>
          <a:xfrm>
            <a:off x="9061704" y="2496312"/>
            <a:ext cx="457200" cy="0"/>
          </a:xfrm>
          <a:prstGeom prst="line">
            <a:avLst/>
          </a:prstGeom>
          <a:ln w="31750">
            <a:solidFill>
              <a:srgbClr val="E60012"/>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9518904" y="1965960"/>
            <a:ext cx="1682495" cy="105156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610344" y="2040514"/>
            <a:ext cx="1499616" cy="655564"/>
          </a:xfrm>
          <a:prstGeom prst="rect">
            <a:avLst/>
          </a:prstGeom>
          <a:noFill/>
        </p:spPr>
        <p:txBody>
          <a:bodyPr wrap="square" lIns="27432" tIns="27432" rIns="27432" bIns="27432" anchor="ctr">
            <a:spAutoFit/>
          </a:bodyPr>
          <a:lstStyle/>
          <a:p>
            <a:pPr algn="ctr">
              <a:spcAft>
                <a:spcPts val="0"/>
              </a:spcAft>
            </a:pPr>
            <a:r>
              <a:rPr lang="en-GB" sz="1300" b="1">
                <a:solidFill>
                  <a:srgbClr val="FFFFFF"/>
                </a:solidFill>
              </a:rPr>
              <a:t>LINUX DMZ SERVER</a:t>
            </a:r>
          </a:p>
          <a:p>
            <a:r>
              <a:rPr lang="en-GB" sz="1300" b="1">
                <a:solidFill>
                  <a:srgbClr val="FFFFFF"/>
                </a:solidFill>
              </a:rPr>
              <a:t>10.N.20.10</a:t>
            </a:r>
          </a:p>
        </p:txBody>
      </p:sp>
      <p:sp>
        <p:nvSpPr>
          <p:cNvPr id="24" name="TextBox 23"/>
          <p:cNvSpPr txBox="1"/>
          <p:nvPr/>
        </p:nvSpPr>
        <p:spPr>
          <a:xfrm>
            <a:off x="822960" y="3383280"/>
            <a:ext cx="10515600" cy="578620"/>
          </a:xfrm>
          <a:prstGeom prst="rect">
            <a:avLst/>
          </a:prstGeom>
          <a:noFill/>
        </p:spPr>
        <p:txBody>
          <a:bodyPr wrap="square" lIns="27432" tIns="27432" rIns="27432" bIns="27432" anchor="t">
            <a:spAutoFit/>
          </a:bodyPr>
          <a:lstStyle/>
          <a:p>
            <a:pPr algn="ctr">
              <a:spcAft>
                <a:spcPts val="0"/>
              </a:spcAft>
            </a:pPr>
            <a:r>
              <a:rPr lang="en-GB" sz="1700" b="1">
                <a:solidFill>
                  <a:srgbClr val="233A59"/>
                </a:solidFill>
              </a:rPr>
              <a:t>Mandatory path uses the validated Student N LAN/DMZ baseline; shared management access stays protected</a:t>
            </a:r>
            <a:endParaRPr sz="1700" b="1">
              <a:solidFill>
                <a:srgbClr val="233A59"/>
              </a:solidFill>
            </a:endParaRPr>
          </a:p>
        </p:txBody>
      </p:sp>
      <p:sp>
        <p:nvSpPr>
          <p:cNvPr id="25" name="TextBox 24"/>
          <p:cNvSpPr txBox="1"/>
          <p:nvPr/>
        </p:nvSpPr>
        <p:spPr>
          <a:xfrm>
            <a:off x="960120" y="4069080"/>
            <a:ext cx="10241280" cy="1340752"/>
          </a:xfrm>
          <a:prstGeom prst="rect">
            <a:avLst/>
          </a:prstGeom>
          <a:noFill/>
        </p:spPr>
        <p:txBody>
          <a:bodyPr wrap="square" lIns="109728" tIns="73152" rIns="109728" bIns="73152" anchor="t">
            <a:spAutoFit/>
          </a:bodyPr>
          <a:lstStyle/>
          <a:p>
            <a:pPr algn="l">
              <a:lnSpc>
                <a:spcPct val="105000"/>
              </a:lnSpc>
              <a:spcAft>
                <a:spcPts val="600"/>
              </a:spcAft>
              <a:defRPr sz="1500">
                <a:solidFill>
                  <a:srgbClr val="1E2B40"/>
                </a:solidFill>
              </a:defRPr>
            </a:pPr>
            <a:r>
              <a:t>• </a:t>
            </a:r>
            <a:r>
              <a:rPr lang="en-GB"/>
              <a:t>Client 10.N.10.10 → FortiGate port2 10.N.10.4</a:t>
            </a:r>
          </a:p>
          <a:p>
            <a:pPr>
              <a:lnSpc>
                <a:spcPct val="105000"/>
              </a:lnSpc>
              <a:spcAft>
                <a:spcPts val="600"/>
              </a:spcAft>
              <a:defRPr sz="1500">
                <a:solidFill>
                  <a:srgbClr val="1E2B40"/>
                </a:solidFill>
              </a:defRPr>
            </a:pPr>
            <a:r>
              <a:rPr lang="en-GB"/>
              <a:t>• DMZ server 10.N.20.10 → FortiGate port3 10.N.20.4</a:t>
            </a:r>
          </a:p>
          <a:p>
            <a:pPr>
              <a:lnSpc>
                <a:spcPct val="105000"/>
              </a:lnSpc>
              <a:spcAft>
                <a:spcPts val="600"/>
              </a:spcAft>
              <a:defRPr sz="1500">
                <a:solidFill>
                  <a:srgbClr val="1E2B40"/>
                </a:solidFill>
              </a:defRPr>
            </a:pPr>
            <a:r>
              <a:t>• </a:t>
            </a:r>
            <a:r>
              <a:rPr lang="en-GB"/>
              <a:t>Internet path uses NVA 10.0.40.4 and Instructor FGT 10.0.0.4</a:t>
            </a:r>
            <a:endParaRPr/>
          </a:p>
          <a:p>
            <a:pPr>
              <a:lnSpc>
                <a:spcPct val="105000"/>
              </a:lnSpc>
              <a:spcAft>
                <a:spcPts val="600"/>
              </a:spcAft>
              <a:defRPr sz="1500">
                <a:solidFill>
                  <a:srgbClr val="1E2B40"/>
                </a:solidFill>
              </a:defRPr>
            </a:pPr>
            <a:r>
              <a:t>• </a:t>
            </a:r>
            <a:r>
              <a:rPr lang="en-GB"/>
              <a:t>Pod addressing is fixed </a:t>
            </a:r>
            <a:r>
              <a:t>and </a:t>
            </a:r>
            <a:r>
              <a:rPr lang="en-GB"/>
              <a:t>validated</a:t>
            </a:r>
            <a:endParaRPr/>
          </a:p>
        </p:txBody>
      </p:sp>
      <p:sp>
        <p:nvSpPr>
          <p:cNvPr id="26" name="TextBox 25"/>
          <p:cNvSpPr txBox="1"/>
          <p:nvPr/>
        </p:nvSpPr>
        <p:spPr>
          <a:xfrm>
            <a:off x="960120" y="5650992"/>
            <a:ext cx="10241280" cy="255455"/>
          </a:xfrm>
          <a:prstGeom prst="rect">
            <a:avLst/>
          </a:prstGeom>
          <a:noFill/>
        </p:spPr>
        <p:txBody>
          <a:bodyPr wrap="square" lIns="27432" tIns="27432" rIns="27432" bIns="27432" anchor="t">
            <a:spAutoFit/>
          </a:bodyPr>
          <a:lstStyle/>
          <a:p>
            <a:pPr algn="ctr">
              <a:spcAft>
                <a:spcPts val="0"/>
              </a:spcAft>
            </a:pPr>
            <a:r>
              <a:rPr lang="en-GB" sz="1300" b="1">
                <a:solidFill>
                  <a:srgbClr val="E60012"/>
                </a:solidFill>
              </a:rPr>
              <a:t>Existing: FortiGate-VM, Linux endpoints and routed underlay • Future: IPsec/ADVPN overlay • Optional: SD-WAN, HA and EMS</a:t>
            </a:r>
            <a:endParaRPr sz="1300" b="1">
              <a:solidFill>
                <a:srgbClr val="E60012"/>
              </a:solidFill>
            </a:endParaRPr>
          </a:p>
        </p:txBody>
      </p:sp>
      <p:sp>
        <p:nvSpPr>
          <p:cNvPr id="27" name="TextBox 26"/>
          <p:cNvSpPr txBox="1"/>
          <p:nvPr/>
        </p:nvSpPr>
        <p:spPr>
          <a:xfrm>
            <a:off x="502920" y="420624"/>
            <a:ext cx="10744200" cy="130805"/>
          </a:xfrm>
          <a:prstGeom prst="rect">
            <a:avLst/>
          </a:prstGeom>
          <a:noFill/>
        </p:spPr>
        <p:txBody>
          <a:bodyPr wrap="square" lIns="0" tIns="0" rIns="0" bIns="0">
            <a:spAutoFit/>
          </a:bodyPr>
          <a:lstStyle/>
          <a:p>
            <a:pPr algn="l"/>
            <a:r>
              <a:rPr lang="en-HU" sz="850" b="1">
                <a:solidFill>
                  <a:srgbClr val="687385"/>
                </a:solidFill>
              </a:rPr>
              <a:t>185</a:t>
            </a:r>
            <a:r>
              <a:rPr sz="850" b="1">
                <a:solidFill>
                  <a:srgbClr val="687385"/>
                </a:solidFill>
              </a:rPr>
              <a:t> • DAY 4 • BLOCK 16 • Performance, Troubleshooting &amp; Capstone</a:t>
            </a:r>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name="Slide 186">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186</a:t>
            </a:r>
          </a:p>
        </p:txBody>
      </p:sp>
      <p:sp>
        <p:nvSpPr>
          <p:cNvPr id="9" name="TextBox 8"/>
          <p:cNvSpPr txBox="1">
            <a:spLocks/>
          </p:cNvSpPr>
          <p:nvPr/>
        </p:nvSpPr>
        <p:spPr>
          <a:xfrm>
            <a:off x="502920" y="621792"/>
            <a:ext cx="11109960" cy="455509"/>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Enterprise Branch Incident: the protected service fails</a:t>
            </a:r>
          </a:p>
        </p:txBody>
      </p:sp>
      <p:sp>
        <p:nvSpPr>
          <p:cNvPr id="10" name="TextBox 9"/>
          <p:cNvSpPr txBox="1">
            <a:spLocks/>
          </p:cNvSpPr>
          <p:nvPr/>
        </p:nvSpPr>
        <p:spPr>
          <a:xfrm>
            <a:off x="658368" y="1554480"/>
            <a:ext cx="6583680" cy="2370072"/>
          </a:xfrm>
          <a:prstGeom prst="rect">
            <a:avLst/>
          </a:prstGeom>
          <a:noFill/>
        </p:spPr>
        <p:txBody>
          <a:bodyPr wrap="square" lIns="109728" tIns="73152" rIns="109728" bIns="73152" anchor="t">
            <a:spAutoFit/>
          </a:bodyPr>
          <a:lstStyle/>
          <a:p>
            <a:pPr algn="l">
              <a:lnSpc>
                <a:spcPct val="105000"/>
              </a:lnSpc>
              <a:spcAft>
                <a:spcPts val="800"/>
              </a:spcAft>
              <a:defRPr sz="1700">
                <a:solidFill>
                  <a:srgbClr val="1E2B40"/>
                </a:solidFill>
              </a:defRPr>
            </a:pPr>
            <a:r>
              <a:rPr lang="en-GB"/>
              <a:t>• Linux client 10.N.10.10 cannot complete the assigned HTTP/HTTPS test to DMZ server 10.N.20.10</a:t>
            </a:r>
          </a:p>
          <a:p>
            <a:pPr>
              <a:lnSpc>
                <a:spcPct val="105000"/>
              </a:lnSpc>
              <a:spcAft>
                <a:spcPts val="800"/>
              </a:spcAft>
              <a:defRPr sz="1700">
                <a:solidFill>
                  <a:srgbClr val="1E2B40"/>
                </a:solidFill>
              </a:defRPr>
            </a:pPr>
            <a:r>
              <a:rPr lang="en-GB"/>
              <a:t>• Management access and shared Internet breakout must remain intact</a:t>
            </a:r>
          </a:p>
          <a:p>
            <a:pPr>
              <a:lnSpc>
                <a:spcPct val="105000"/>
              </a:lnSpc>
              <a:spcAft>
                <a:spcPts val="800"/>
              </a:spcAft>
              <a:defRPr sz="1700">
                <a:solidFill>
                  <a:srgbClr val="1E2B40"/>
                </a:solidFill>
              </a:defRPr>
            </a:pPr>
            <a:r>
              <a:rPr lang="en-GB"/>
              <a:t>• Faults may involve policy/object, local route/return path, or certificate trust/security inspection</a:t>
            </a:r>
          </a:p>
          <a:p>
            <a:pPr>
              <a:lnSpc>
                <a:spcPct val="105000"/>
              </a:lnSpc>
              <a:spcAft>
                <a:spcPts val="800"/>
              </a:spcAft>
              <a:defRPr sz="1700">
                <a:solidFill>
                  <a:srgbClr val="1E2B40"/>
                </a:solidFill>
              </a:defRPr>
            </a:pPr>
            <a:r>
              <a:rPr lang="en-GB"/>
              <a:t>• Change only one variable at a time</a:t>
            </a:r>
          </a:p>
        </p:txBody>
      </p:sp>
      <p:cxnSp>
        <p:nvCxnSpPr>
          <p:cNvPr id="11" name="Connector 10"/>
          <p:cNvCxnSpPr/>
          <p:nvPr/>
        </p:nvCxnSpPr>
        <p:spPr>
          <a:xfrm>
            <a:off x="7452360" y="1600200"/>
            <a:ext cx="0" cy="434340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7790688" y="1627632"/>
            <a:ext cx="342900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MANDATORY SCENARIO</a:t>
            </a:r>
          </a:p>
        </p:txBody>
      </p:sp>
      <p:sp>
        <p:nvSpPr>
          <p:cNvPr id="13" name="TextBox 12"/>
          <p:cNvSpPr txBox="1">
            <a:spLocks/>
          </p:cNvSpPr>
          <p:nvPr/>
        </p:nvSpPr>
        <p:spPr>
          <a:xfrm>
            <a:off x="7790688" y="2057400"/>
            <a:ext cx="3337560" cy="840230"/>
          </a:xfrm>
          <a:prstGeom prst="rect">
            <a:avLst/>
          </a:prstGeom>
          <a:noFill/>
        </p:spPr>
        <p:txBody>
          <a:bodyPr wrap="square" lIns="27432" tIns="27432" rIns="27432" bIns="27432" anchor="t">
            <a:spAutoFit/>
          </a:bodyPr>
          <a:lstStyle/>
          <a:p>
            <a:pPr algn="l">
              <a:spcAft>
                <a:spcPts val="0"/>
              </a:spcAft>
            </a:pPr>
            <a:r>
              <a:rPr lang="en-GB" sz="1700" b="1">
                <a:solidFill>
                  <a:srgbClr val="233A59"/>
                </a:solidFill>
              </a:rPr>
              <a:t>Start from the validated Student N FortiGate, client and DMZ server baseline</a:t>
            </a:r>
          </a:p>
        </p:txBody>
      </p:sp>
      <p:sp>
        <p:nvSpPr>
          <p:cNvPr id="14" name="TextBox 13"/>
          <p:cNvSpPr txBox="1">
            <a:spLocks/>
          </p:cNvSpPr>
          <p:nvPr/>
        </p:nvSpPr>
        <p:spPr>
          <a:xfrm>
            <a:off x="7790688" y="3822191"/>
            <a:ext cx="18288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EXPECTED RESULT</a:t>
            </a:r>
          </a:p>
        </p:txBody>
      </p:sp>
      <p:sp>
        <p:nvSpPr>
          <p:cNvPr id="15" name="TextBox 14"/>
          <p:cNvSpPr txBox="1">
            <a:spLocks/>
          </p:cNvSpPr>
          <p:nvPr/>
        </p:nvSpPr>
        <p:spPr>
          <a:xfrm>
            <a:off x="7790688" y="4187952"/>
            <a:ext cx="3337560" cy="747897"/>
          </a:xfrm>
          <a:prstGeom prst="rect">
            <a:avLst/>
          </a:prstGeom>
          <a:noFill/>
        </p:spPr>
        <p:txBody>
          <a:bodyPr wrap="square" lIns="27432" tIns="27432" rIns="27432" bIns="27432" anchor="t">
            <a:spAutoFit/>
          </a:bodyPr>
          <a:lstStyle/>
          <a:p>
            <a:pPr algn="l">
              <a:spcAft>
                <a:spcPts val="0"/>
              </a:spcAft>
            </a:pPr>
            <a:r>
              <a:rPr lang="en-GB" sz="1500" b="0">
                <a:solidFill>
                  <a:srgbClr val="1E2B40"/>
                </a:solidFill>
              </a:rPr>
              <a:t>Localize the failed decision, apply one reversible fix, and restore the assigned service without harming management.</a:t>
            </a:r>
          </a:p>
        </p:txBody>
      </p:sp>
      <p:sp>
        <p:nvSpPr>
          <p:cNvPr id="16" name="TextBox 15"/>
          <p:cNvSpPr txBox="1">
            <a:spLocks/>
          </p:cNvSpPr>
          <p:nvPr/>
        </p:nvSpPr>
        <p:spPr>
          <a:xfrm>
            <a:off x="7790688" y="5596128"/>
            <a:ext cx="1920240" cy="201168"/>
          </a:xfrm>
          <a:prstGeom prst="rect">
            <a:avLst/>
          </a:prstGeom>
          <a:noFill/>
        </p:spPr>
        <p:txBody>
          <a:bodyPr wrap="square" lIns="27432" tIns="27432" rIns="27432" bIns="27432" anchor="t">
            <a:spAutoFit/>
          </a:bodyPr>
          <a:lstStyle/>
          <a:p>
            <a:pPr algn="l">
              <a:spcAft>
                <a:spcPts val="0"/>
              </a:spcAft>
            </a:pPr>
            <a:r>
              <a:rPr lang="en-GB" sz="1000" b="1">
                <a:solidFill>
                  <a:srgbClr val="687385"/>
                </a:solidFill>
              </a:rPr>
              <a:t>Expected observation</a:t>
            </a:r>
          </a:p>
        </p:txBody>
      </p:sp>
      <p:sp>
        <p:nvSpPr>
          <p:cNvPr id="17" name="TextBox 16"/>
          <p:cNvSpPr txBox="1">
            <a:spLocks/>
          </p:cNvSpPr>
          <p:nvPr/>
        </p:nvSpPr>
        <p:spPr>
          <a:xfrm>
            <a:off x="9509760" y="5577840"/>
            <a:ext cx="1691640" cy="824841"/>
          </a:xfrm>
          <a:prstGeom prst="rect">
            <a:avLst/>
          </a:prstGeom>
          <a:noFill/>
        </p:spPr>
        <p:txBody>
          <a:bodyPr wrap="square" lIns="27432" tIns="27432" rIns="27432" bIns="27432" anchor="t">
            <a:spAutoFit/>
          </a:bodyPr>
          <a:lstStyle/>
          <a:p>
            <a:pPr algn="r">
              <a:spcAft>
                <a:spcPts val="0"/>
              </a:spcAft>
            </a:pPr>
            <a:r>
              <a:rPr lang="en-GB" sz="1000" b="0">
                <a:solidFill>
                  <a:srgbClr val="687385"/>
                </a:solidFill>
              </a:rPr>
              <a:t>The team identifies the failed decision, applies one reversible fix, and the application succeeds with stable resources.</a:t>
            </a:r>
          </a:p>
        </p:txBody>
      </p:sp>
      <p:sp>
        <p:nvSpPr>
          <p:cNvPr id="18" name="TextBox 17"/>
          <p:cNvSpPr txBox="1">
            <a:spLocks/>
          </p:cNvSpPr>
          <p:nvPr/>
        </p:nvSpPr>
        <p:spPr>
          <a:xfrm>
            <a:off x="502920" y="420624"/>
            <a:ext cx="10744200" cy="130805"/>
          </a:xfrm>
          <a:prstGeom prst="rect">
            <a:avLst/>
          </a:prstGeom>
          <a:noFill/>
        </p:spPr>
        <p:txBody>
          <a:bodyPr wrap="square" lIns="0" tIns="0" rIns="0" bIns="0">
            <a:spAutoFit/>
          </a:bodyPr>
          <a:lstStyle/>
          <a:p>
            <a:pPr algn="l"/>
            <a:r>
              <a:rPr lang="en-GB" sz="850" b="1">
                <a:solidFill>
                  <a:srgbClr val="687385"/>
                </a:solidFill>
              </a:rPr>
              <a:t>186 • DAY 4 • BLOCK 16 • Performance, Troubleshooting &amp; Capstone</a:t>
            </a:r>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name="Slide 187">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187</a:t>
            </a:r>
          </a:p>
        </p:txBody>
      </p:sp>
      <p:sp>
        <p:nvSpPr>
          <p:cNvPr id="9" name="TextBox 8"/>
          <p:cNvSpPr txBox="1">
            <a:spLocks/>
          </p:cNvSpPr>
          <p:nvPr/>
        </p:nvSpPr>
        <p:spPr>
          <a:xfrm>
            <a:off x="502920" y="621792"/>
            <a:ext cx="11109960" cy="455509"/>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Mandatory faults stay inside the completed base platform</a:t>
            </a:r>
          </a:p>
        </p:txBody>
      </p:sp>
      <p:sp>
        <p:nvSpPr>
          <p:cNvPr id="10" name="TextBox 9"/>
          <p:cNvSpPr txBox="1">
            <a:spLocks/>
          </p:cNvSpPr>
          <p:nvPr/>
        </p:nvSpPr>
        <p:spPr>
          <a:xfrm>
            <a:off x="658368" y="1554480"/>
            <a:ext cx="6583680" cy="1933863"/>
          </a:xfrm>
          <a:prstGeom prst="rect">
            <a:avLst/>
          </a:prstGeom>
          <a:noFill/>
        </p:spPr>
        <p:txBody>
          <a:bodyPr wrap="square" lIns="109728" tIns="73152" rIns="109728" bIns="73152" anchor="t">
            <a:spAutoFit/>
          </a:bodyPr>
          <a:lstStyle/>
          <a:p>
            <a:pPr algn="l">
              <a:lnSpc>
                <a:spcPct val="105000"/>
              </a:lnSpc>
              <a:spcAft>
                <a:spcPts val="800"/>
              </a:spcAft>
              <a:defRPr sz="1700">
                <a:solidFill>
                  <a:srgbClr val="1E2B40"/>
                </a:solidFill>
              </a:defRPr>
            </a:pPr>
            <a:r>
              <a:rPr lang="en-GB"/>
              <a:t>• Policy/object: wrong service, address or ordering</a:t>
            </a:r>
          </a:p>
          <a:p>
            <a:pPr>
              <a:lnSpc>
                <a:spcPct val="105000"/>
              </a:lnSpc>
              <a:spcAft>
                <a:spcPts val="800"/>
              </a:spcAft>
              <a:defRPr sz="1700">
                <a:solidFill>
                  <a:srgbClr val="1E2B40"/>
                </a:solidFill>
              </a:defRPr>
            </a:pPr>
            <a:r>
              <a:rPr lang="en-GB"/>
              <a:t>• Routing: wrong local inter-zone/return-path decision</a:t>
            </a:r>
          </a:p>
          <a:p>
            <a:pPr>
              <a:lnSpc>
                <a:spcPct val="105000"/>
              </a:lnSpc>
              <a:spcAft>
                <a:spcPts val="800"/>
              </a:spcAft>
              <a:defRPr sz="1700">
                <a:solidFill>
                  <a:srgbClr val="1E2B40"/>
                </a:solidFill>
              </a:defRPr>
            </a:pPr>
            <a:r>
              <a:rPr lang="en-GB"/>
              <a:t>• Inspection: wrong SSL profile or untrusted inspection CA</a:t>
            </a:r>
          </a:p>
          <a:p>
            <a:pPr>
              <a:lnSpc>
                <a:spcPct val="105000"/>
              </a:lnSpc>
              <a:spcAft>
                <a:spcPts val="800"/>
              </a:spcAft>
              <a:defRPr sz="1700">
                <a:solidFill>
                  <a:srgbClr val="1E2B40"/>
                </a:solidFill>
              </a:defRPr>
            </a:pPr>
            <a:r>
              <a:rPr lang="en-GB"/>
              <a:t>• Future/optional variants only: VPN overlay, SD-WAN, HA or EMS</a:t>
            </a:r>
          </a:p>
          <a:p>
            <a:endParaRPr lang="en-GB"/>
          </a:p>
        </p:txBody>
      </p:sp>
      <p:cxnSp>
        <p:nvCxnSpPr>
          <p:cNvPr id="11" name="Connector 10"/>
          <p:cNvCxnSpPr/>
          <p:nvPr/>
        </p:nvCxnSpPr>
        <p:spPr>
          <a:xfrm>
            <a:off x="7452360" y="1600200"/>
            <a:ext cx="0" cy="434340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7790688" y="1627632"/>
            <a:ext cx="342900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INSTRUCTOR-SELECTED FAULT SET</a:t>
            </a:r>
          </a:p>
        </p:txBody>
      </p:sp>
      <p:sp>
        <p:nvSpPr>
          <p:cNvPr id="13" name="TextBox 12"/>
          <p:cNvSpPr txBox="1">
            <a:spLocks/>
          </p:cNvSpPr>
          <p:nvPr/>
        </p:nvSpPr>
        <p:spPr>
          <a:xfrm>
            <a:off x="7790688" y="2057400"/>
            <a:ext cx="3337560" cy="1101840"/>
          </a:xfrm>
          <a:prstGeom prst="rect">
            <a:avLst/>
          </a:prstGeom>
          <a:noFill/>
        </p:spPr>
        <p:txBody>
          <a:bodyPr wrap="square" lIns="27432" tIns="27432" rIns="27432" bIns="27432" anchor="t">
            <a:spAutoFit/>
          </a:bodyPr>
          <a:lstStyle/>
          <a:p>
            <a:pPr algn="l">
              <a:spcAft>
                <a:spcPts val="0"/>
              </a:spcAft>
            </a:pPr>
            <a:r>
              <a:rPr lang="en-GB" sz="1700" b="1">
                <a:solidFill>
                  <a:srgbClr val="233A59"/>
                </a:solidFill>
              </a:rPr>
              <a:t>Inject only faults that were prevalidated against the current snapshot; solutions remain in notes</a:t>
            </a:r>
          </a:p>
        </p:txBody>
      </p:sp>
      <p:sp>
        <p:nvSpPr>
          <p:cNvPr id="14" name="TextBox 13"/>
          <p:cNvSpPr txBox="1">
            <a:spLocks/>
          </p:cNvSpPr>
          <p:nvPr/>
        </p:nvSpPr>
        <p:spPr>
          <a:xfrm>
            <a:off x="7790688" y="3822191"/>
            <a:ext cx="18288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EXPECTED RESULT</a:t>
            </a:r>
          </a:p>
        </p:txBody>
      </p:sp>
      <p:sp>
        <p:nvSpPr>
          <p:cNvPr id="15" name="TextBox 14"/>
          <p:cNvSpPr txBox="1">
            <a:spLocks/>
          </p:cNvSpPr>
          <p:nvPr/>
        </p:nvSpPr>
        <p:spPr>
          <a:xfrm>
            <a:off x="7790688" y="4187952"/>
            <a:ext cx="3337560" cy="978729"/>
          </a:xfrm>
          <a:prstGeom prst="rect">
            <a:avLst/>
          </a:prstGeom>
          <a:noFill/>
        </p:spPr>
        <p:txBody>
          <a:bodyPr wrap="square" lIns="27432" tIns="27432" rIns="27432" bIns="27432" anchor="t">
            <a:spAutoFit/>
          </a:bodyPr>
          <a:lstStyle/>
          <a:p>
            <a:pPr algn="l">
              <a:spcAft>
                <a:spcPts val="0"/>
              </a:spcAft>
            </a:pPr>
            <a:r>
              <a:rPr lang="en-GB" sz="1500" b="0">
                <a:solidFill>
                  <a:srgbClr val="1E2B40"/>
                </a:solidFill>
              </a:rPr>
              <a:t>The mandatory capstone does not depend on IPsec/ADVPN, a second WAN path, HA, EMS, FortiAnalyzer or FortiManager.</a:t>
            </a:r>
          </a:p>
        </p:txBody>
      </p:sp>
      <p:sp>
        <p:nvSpPr>
          <p:cNvPr id="16" name="TextBox 15"/>
          <p:cNvSpPr txBox="1">
            <a:spLocks/>
          </p:cNvSpPr>
          <p:nvPr/>
        </p:nvSpPr>
        <p:spPr>
          <a:xfrm>
            <a:off x="7790688" y="5596128"/>
            <a:ext cx="1920240" cy="201168"/>
          </a:xfrm>
          <a:prstGeom prst="rect">
            <a:avLst/>
          </a:prstGeom>
          <a:noFill/>
        </p:spPr>
        <p:txBody>
          <a:bodyPr wrap="square" lIns="27432" tIns="27432" rIns="27432" bIns="27432" anchor="t">
            <a:spAutoFit/>
          </a:bodyPr>
          <a:lstStyle/>
          <a:p>
            <a:pPr algn="l">
              <a:spcAft>
                <a:spcPts val="0"/>
              </a:spcAft>
            </a:pPr>
            <a:r>
              <a:rPr lang="en-GB" sz="1000" b="1">
                <a:solidFill>
                  <a:srgbClr val="687385"/>
                </a:solidFill>
              </a:rPr>
              <a:t>Expected observation</a:t>
            </a:r>
          </a:p>
        </p:txBody>
      </p:sp>
      <p:sp>
        <p:nvSpPr>
          <p:cNvPr id="17" name="TextBox 16"/>
          <p:cNvSpPr txBox="1">
            <a:spLocks/>
          </p:cNvSpPr>
          <p:nvPr/>
        </p:nvSpPr>
        <p:spPr>
          <a:xfrm>
            <a:off x="9509760" y="5577840"/>
            <a:ext cx="1691640" cy="824841"/>
          </a:xfrm>
          <a:prstGeom prst="rect">
            <a:avLst/>
          </a:prstGeom>
          <a:noFill/>
        </p:spPr>
        <p:txBody>
          <a:bodyPr wrap="square" lIns="27432" tIns="27432" rIns="27432" bIns="27432" anchor="t">
            <a:spAutoFit/>
          </a:bodyPr>
          <a:lstStyle/>
          <a:p>
            <a:pPr algn="r">
              <a:spcAft>
                <a:spcPts val="0"/>
              </a:spcAft>
            </a:pPr>
            <a:r>
              <a:rPr lang="en-GB" sz="1000" b="0">
                <a:solidFill>
                  <a:srgbClr val="687385"/>
                </a:solidFill>
              </a:rPr>
              <a:t>The team identifies the failed decision, applies one reversible fix, and the application succeeds with stable resources.</a:t>
            </a:r>
          </a:p>
        </p:txBody>
      </p:sp>
      <p:sp>
        <p:nvSpPr>
          <p:cNvPr id="18" name="TextBox 17"/>
          <p:cNvSpPr txBox="1">
            <a:spLocks/>
          </p:cNvSpPr>
          <p:nvPr/>
        </p:nvSpPr>
        <p:spPr>
          <a:xfrm>
            <a:off x="502920" y="420624"/>
            <a:ext cx="10744200" cy="130805"/>
          </a:xfrm>
          <a:prstGeom prst="rect">
            <a:avLst/>
          </a:prstGeom>
          <a:noFill/>
        </p:spPr>
        <p:txBody>
          <a:bodyPr wrap="square" lIns="0" tIns="0" rIns="0" bIns="0">
            <a:spAutoFit/>
          </a:bodyPr>
          <a:lstStyle/>
          <a:p>
            <a:pPr algn="l"/>
            <a:r>
              <a:rPr lang="en-GB" sz="850" b="1">
                <a:solidFill>
                  <a:srgbClr val="687385"/>
                </a:solidFill>
              </a:rPr>
              <a:t>187 • DAY 4 • BLOCK 16 • Performance, Troubleshooting &amp; Capstone</a:t>
            </a:r>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name="Slide 188">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188</a:t>
            </a:r>
          </a:p>
        </p:txBody>
      </p:sp>
      <p:sp>
        <p:nvSpPr>
          <p:cNvPr id="9" name="TextBox 8"/>
          <p:cNvSpPr txBox="1">
            <a:spLocks/>
          </p:cNvSpPr>
          <p:nvPr/>
        </p:nvSpPr>
        <p:spPr>
          <a:xfrm>
            <a:off x="502920" y="621792"/>
            <a:ext cx="11109960" cy="455509"/>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Capstone record connects every relevant layer</a:t>
            </a:r>
          </a:p>
        </p:txBody>
      </p:sp>
      <p:sp>
        <p:nvSpPr>
          <p:cNvPr id="10" name="TextBox 9"/>
          <p:cNvSpPr txBox="1">
            <a:spLocks/>
          </p:cNvSpPr>
          <p:nvPr/>
        </p:nvSpPr>
        <p:spPr>
          <a:xfrm>
            <a:off x="658368" y="1554480"/>
            <a:ext cx="6583680" cy="1923283"/>
          </a:xfrm>
          <a:prstGeom prst="rect">
            <a:avLst/>
          </a:prstGeom>
          <a:noFill/>
        </p:spPr>
        <p:txBody>
          <a:bodyPr wrap="square" lIns="109728" tIns="73152" rIns="109728" bIns="73152" anchor="t">
            <a:spAutoFit/>
          </a:bodyPr>
          <a:lstStyle/>
          <a:p>
            <a:pPr algn="l">
              <a:lnSpc>
                <a:spcPct val="105000"/>
              </a:lnSpc>
              <a:spcAft>
                <a:spcPts val="800"/>
              </a:spcAft>
              <a:defRPr sz="1700">
                <a:solidFill>
                  <a:srgbClr val="1E2B40"/>
                </a:solidFill>
              </a:defRPr>
            </a:pPr>
            <a:r>
              <a:rPr lang="en-GB"/>
              <a:t>• Student N tuple, timestamp and expected local path</a:t>
            </a:r>
          </a:p>
          <a:p>
            <a:pPr>
              <a:lnSpc>
                <a:spcPct val="105000"/>
              </a:lnSpc>
              <a:spcAft>
                <a:spcPts val="800"/>
              </a:spcAft>
              <a:defRPr sz="1700">
                <a:solidFill>
                  <a:srgbClr val="1E2B40"/>
                </a:solidFill>
              </a:defRPr>
            </a:pPr>
            <a:r>
              <a:rPr lang="en-GB"/>
              <a:t>• Route and return-path decision</a:t>
            </a:r>
          </a:p>
          <a:p>
            <a:pPr>
              <a:lnSpc>
                <a:spcPct val="105000"/>
              </a:lnSpc>
              <a:spcAft>
                <a:spcPts val="800"/>
              </a:spcAft>
              <a:defRPr sz="1700">
                <a:solidFill>
                  <a:srgbClr val="1E2B40"/>
                </a:solidFill>
              </a:defRPr>
            </a:pPr>
            <a:r>
              <a:rPr lang="en-GB"/>
              <a:t>• Matched policy, objects, NAT and session state</a:t>
            </a:r>
          </a:p>
          <a:p>
            <a:pPr>
              <a:lnSpc>
                <a:spcPct val="105000"/>
              </a:lnSpc>
              <a:spcAft>
                <a:spcPts val="800"/>
              </a:spcAft>
              <a:defRPr sz="1700">
                <a:solidFill>
                  <a:srgbClr val="1E2B40"/>
                </a:solidFill>
              </a:defRPr>
            </a:pPr>
            <a:r>
              <a:rPr lang="en-GB"/>
              <a:t>• Certificate chain/profile action for HTTPS</a:t>
            </a:r>
          </a:p>
          <a:p>
            <a:pPr>
              <a:lnSpc>
                <a:spcPct val="105000"/>
              </a:lnSpc>
              <a:spcAft>
                <a:spcPts val="800"/>
              </a:spcAft>
              <a:defRPr sz="1700">
                <a:solidFill>
                  <a:srgbClr val="1E2B40"/>
                </a:solidFill>
              </a:defRPr>
            </a:pPr>
            <a:r>
              <a:rPr lang="en-GB"/>
              <a:t>• Relevant capture/log output and reset checkpoint</a:t>
            </a:r>
          </a:p>
        </p:txBody>
      </p:sp>
      <p:cxnSp>
        <p:nvCxnSpPr>
          <p:cNvPr id="11" name="Connector 10"/>
          <p:cNvCxnSpPr/>
          <p:nvPr/>
        </p:nvCxnSpPr>
        <p:spPr>
          <a:xfrm>
            <a:off x="7452360" y="1600200"/>
            <a:ext cx="0" cy="434340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7790688" y="1627632"/>
            <a:ext cx="342900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ILLUSTRATIVE SCENARIO</a:t>
            </a:r>
          </a:p>
        </p:txBody>
      </p:sp>
      <p:sp>
        <p:nvSpPr>
          <p:cNvPr id="13" name="TextBox 12"/>
          <p:cNvSpPr txBox="1">
            <a:spLocks/>
          </p:cNvSpPr>
          <p:nvPr/>
        </p:nvSpPr>
        <p:spPr>
          <a:xfrm>
            <a:off x="7790688" y="2057400"/>
            <a:ext cx="3337560" cy="1417320"/>
          </a:xfrm>
          <a:prstGeom prst="rect">
            <a:avLst/>
          </a:prstGeom>
          <a:noFill/>
        </p:spPr>
        <p:txBody>
          <a:bodyPr wrap="square" lIns="27432" tIns="27432" rIns="27432" bIns="27432" anchor="t">
            <a:spAutoFit/>
          </a:bodyPr>
          <a:lstStyle/>
          <a:p>
            <a:pPr algn="l">
              <a:spcAft>
                <a:spcPts val="0"/>
              </a:spcAft>
            </a:pPr>
            <a:r>
              <a:rPr lang="en-GB" sz="1700" b="1">
                <a:solidFill>
                  <a:srgbClr val="233A59"/>
                </a:solidFill>
              </a:rPr>
              <a:t>Screenshots alone need labels and context; CLI output must be captured from the actual lab</a:t>
            </a:r>
          </a:p>
        </p:txBody>
      </p:sp>
      <p:sp>
        <p:nvSpPr>
          <p:cNvPr id="14" name="TextBox 13"/>
          <p:cNvSpPr txBox="1">
            <a:spLocks/>
          </p:cNvSpPr>
          <p:nvPr/>
        </p:nvSpPr>
        <p:spPr>
          <a:xfrm>
            <a:off x="7790688" y="3822191"/>
            <a:ext cx="18288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EXPECTED RESULT</a:t>
            </a:r>
          </a:p>
        </p:txBody>
      </p:sp>
      <p:sp>
        <p:nvSpPr>
          <p:cNvPr id="15" name="TextBox 14"/>
          <p:cNvSpPr txBox="1">
            <a:spLocks/>
          </p:cNvSpPr>
          <p:nvPr/>
        </p:nvSpPr>
        <p:spPr>
          <a:xfrm>
            <a:off x="7790688" y="4187952"/>
            <a:ext cx="3337560" cy="747897"/>
          </a:xfrm>
          <a:prstGeom prst="rect">
            <a:avLst/>
          </a:prstGeom>
          <a:noFill/>
        </p:spPr>
        <p:txBody>
          <a:bodyPr wrap="square" lIns="27432" tIns="27432" rIns="27432" bIns="27432" anchor="t">
            <a:spAutoFit/>
          </a:bodyPr>
          <a:lstStyle/>
          <a:p>
            <a:pPr algn="l">
              <a:spcAft>
                <a:spcPts val="0"/>
              </a:spcAft>
            </a:pPr>
            <a:r>
              <a:rPr lang="en-GB" sz="1500" b="0">
                <a:solidFill>
                  <a:srgbClr val="1E2B40"/>
                </a:solidFill>
              </a:rPr>
              <a:t>Teams submit a concise before/after state table and the exact reset they performed.</a:t>
            </a:r>
          </a:p>
        </p:txBody>
      </p:sp>
      <p:sp>
        <p:nvSpPr>
          <p:cNvPr id="16" name="TextBox 15"/>
          <p:cNvSpPr txBox="1">
            <a:spLocks/>
          </p:cNvSpPr>
          <p:nvPr/>
        </p:nvSpPr>
        <p:spPr>
          <a:xfrm>
            <a:off x="7790688" y="5596128"/>
            <a:ext cx="1920240" cy="201168"/>
          </a:xfrm>
          <a:prstGeom prst="rect">
            <a:avLst/>
          </a:prstGeom>
          <a:noFill/>
        </p:spPr>
        <p:txBody>
          <a:bodyPr wrap="square" lIns="27432" tIns="27432" rIns="27432" bIns="27432" anchor="t">
            <a:spAutoFit/>
          </a:bodyPr>
          <a:lstStyle/>
          <a:p>
            <a:pPr algn="l">
              <a:spcAft>
                <a:spcPts val="0"/>
              </a:spcAft>
            </a:pPr>
            <a:r>
              <a:rPr lang="en-GB" sz="1000" b="1">
                <a:solidFill>
                  <a:srgbClr val="687385"/>
                </a:solidFill>
              </a:rPr>
              <a:t>Expected observation</a:t>
            </a:r>
          </a:p>
        </p:txBody>
      </p:sp>
      <p:sp>
        <p:nvSpPr>
          <p:cNvPr id="17" name="TextBox 16"/>
          <p:cNvSpPr txBox="1">
            <a:spLocks/>
          </p:cNvSpPr>
          <p:nvPr/>
        </p:nvSpPr>
        <p:spPr>
          <a:xfrm>
            <a:off x="9509760" y="5577840"/>
            <a:ext cx="1691640" cy="824841"/>
          </a:xfrm>
          <a:prstGeom prst="rect">
            <a:avLst/>
          </a:prstGeom>
          <a:noFill/>
        </p:spPr>
        <p:txBody>
          <a:bodyPr wrap="square" lIns="27432" tIns="27432" rIns="27432" bIns="27432" anchor="t">
            <a:spAutoFit/>
          </a:bodyPr>
          <a:lstStyle/>
          <a:p>
            <a:pPr algn="r">
              <a:spcAft>
                <a:spcPts val="0"/>
              </a:spcAft>
            </a:pPr>
            <a:r>
              <a:rPr lang="en-GB" sz="1000" b="0">
                <a:solidFill>
                  <a:srgbClr val="687385"/>
                </a:solidFill>
              </a:rPr>
              <a:t>The team identifies the failed decision, applies one reversible fix, and the application succeeds with stable resources.</a:t>
            </a:r>
          </a:p>
        </p:txBody>
      </p:sp>
      <p:sp>
        <p:nvSpPr>
          <p:cNvPr id="18" name="TextBox 17"/>
          <p:cNvSpPr txBox="1">
            <a:spLocks/>
          </p:cNvSpPr>
          <p:nvPr/>
        </p:nvSpPr>
        <p:spPr>
          <a:xfrm>
            <a:off x="502920" y="420624"/>
            <a:ext cx="10744200" cy="130805"/>
          </a:xfrm>
          <a:prstGeom prst="rect">
            <a:avLst/>
          </a:prstGeom>
          <a:noFill/>
        </p:spPr>
        <p:txBody>
          <a:bodyPr wrap="square" lIns="0" tIns="0" rIns="0" bIns="0">
            <a:spAutoFit/>
          </a:bodyPr>
          <a:lstStyle/>
          <a:p>
            <a:pPr algn="l"/>
            <a:r>
              <a:rPr lang="en-GB" sz="850" b="1">
                <a:solidFill>
                  <a:srgbClr val="687385"/>
                </a:solidFill>
              </a:rPr>
              <a:t>188 • DAY 4 • BLOCK 16 • Performance, Troubleshooting &amp; Capstone</a:t>
            </a:r>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name="Slide 189">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189</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Capstone workflow: localize before remediation</a:t>
            </a:r>
          </a:p>
        </p:txBody>
      </p:sp>
      <p:sp>
        <p:nvSpPr>
          <p:cNvPr id="10" name="TextBox 9"/>
          <p:cNvSpPr txBox="1">
            <a:spLocks/>
          </p:cNvSpPr>
          <p:nvPr/>
        </p:nvSpPr>
        <p:spPr>
          <a:xfrm>
            <a:off x="658368" y="1554480"/>
            <a:ext cx="6583680" cy="1923283"/>
          </a:xfrm>
          <a:prstGeom prst="rect">
            <a:avLst/>
          </a:prstGeom>
          <a:noFill/>
        </p:spPr>
        <p:txBody>
          <a:bodyPr wrap="square" lIns="109728" tIns="73152" rIns="109728" bIns="73152" anchor="t">
            <a:spAutoFit/>
          </a:bodyPr>
          <a:lstStyle/>
          <a:p>
            <a:pPr algn="l">
              <a:lnSpc>
                <a:spcPct val="105000"/>
              </a:lnSpc>
              <a:spcAft>
                <a:spcPts val="800"/>
              </a:spcAft>
              <a:defRPr sz="1700">
                <a:solidFill>
                  <a:srgbClr val="1E2B40"/>
                </a:solidFill>
              </a:defRPr>
            </a:pPr>
            <a:r>
              <a:rPr lang="en-GB"/>
              <a:t>• Reproduce once and freeze the test definition</a:t>
            </a:r>
          </a:p>
          <a:p>
            <a:pPr>
              <a:lnSpc>
                <a:spcPct val="105000"/>
              </a:lnSpc>
              <a:spcAft>
                <a:spcPts val="800"/>
              </a:spcAft>
              <a:defRPr sz="1700">
                <a:solidFill>
                  <a:srgbClr val="1E2B40"/>
                </a:solidFill>
              </a:defRPr>
            </a:pPr>
            <a:r>
              <a:rPr lang="en-GB"/>
              <a:t>• Predict the local route, policy and inspection state</a:t>
            </a:r>
          </a:p>
          <a:p>
            <a:pPr>
              <a:lnSpc>
                <a:spcPct val="105000"/>
              </a:lnSpc>
              <a:spcAft>
                <a:spcPts val="800"/>
              </a:spcAft>
              <a:defRPr sz="1700">
                <a:solidFill>
                  <a:srgbClr val="1E2B40"/>
                </a:solidFill>
              </a:defRPr>
            </a:pPr>
            <a:r>
              <a:rPr lang="en-GB"/>
              <a:t>• Collect minimally invasive diagnostics</a:t>
            </a:r>
          </a:p>
          <a:p>
            <a:pPr>
              <a:lnSpc>
                <a:spcPct val="105000"/>
              </a:lnSpc>
              <a:spcAft>
                <a:spcPts val="800"/>
              </a:spcAft>
              <a:defRPr sz="1700">
                <a:solidFill>
                  <a:srgbClr val="1E2B40"/>
                </a:solidFill>
              </a:defRPr>
            </a:pPr>
            <a:r>
              <a:rPr lang="en-GB"/>
              <a:t>• Name the failed decision and proposed change</a:t>
            </a:r>
          </a:p>
          <a:p>
            <a:pPr>
              <a:lnSpc>
                <a:spcPct val="105000"/>
              </a:lnSpc>
              <a:spcAft>
                <a:spcPts val="800"/>
              </a:spcAft>
              <a:defRPr sz="1700">
                <a:solidFill>
                  <a:srgbClr val="1E2B40"/>
                </a:solidFill>
              </a:defRPr>
            </a:pPr>
            <a:r>
              <a:rPr lang="en-GB"/>
              <a:t>• Apply approved change; retest; restore the injected-fault baseline</a:t>
            </a:r>
          </a:p>
        </p:txBody>
      </p:sp>
      <p:cxnSp>
        <p:nvCxnSpPr>
          <p:cNvPr id="11" name="Connector 10"/>
          <p:cNvCxnSpPr/>
          <p:nvPr/>
        </p:nvCxnSpPr>
        <p:spPr>
          <a:xfrm>
            <a:off x="7452360" y="1600200"/>
            <a:ext cx="0" cy="434340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7790688" y="1627632"/>
            <a:ext cx="342900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ILLUSTRATIVE SCENARIO</a:t>
            </a:r>
          </a:p>
        </p:txBody>
      </p:sp>
      <p:sp>
        <p:nvSpPr>
          <p:cNvPr id="13" name="TextBox 12"/>
          <p:cNvSpPr txBox="1"/>
          <p:nvPr/>
        </p:nvSpPr>
        <p:spPr>
          <a:xfrm>
            <a:off x="7790688" y="2057400"/>
            <a:ext cx="3337560" cy="1417320"/>
          </a:xfrm>
          <a:prstGeom prst="rect">
            <a:avLst/>
          </a:prstGeom>
          <a:noFill/>
        </p:spPr>
        <p:txBody>
          <a:bodyPr wrap="square" lIns="27432" tIns="27432" rIns="27432" bIns="27432" anchor="t">
            <a:spAutoFit/>
          </a:bodyPr>
          <a:lstStyle/>
          <a:p>
            <a:pPr algn="l">
              <a:spcAft>
                <a:spcPts val="0"/>
              </a:spcAft>
            </a:pPr>
            <a:r>
              <a:rPr sz="1700" b="1">
                <a:solidFill>
                  <a:srgbClr val="233A59"/>
                </a:solidFill>
              </a:rPr>
              <a:t>Use fresh five-tuple after route/policy changes to avoid stale session state</a:t>
            </a:r>
          </a:p>
        </p:txBody>
      </p:sp>
      <p:sp>
        <p:nvSpPr>
          <p:cNvPr id="14" name="TextBox 13"/>
          <p:cNvSpPr txBox="1"/>
          <p:nvPr/>
        </p:nvSpPr>
        <p:spPr>
          <a:xfrm>
            <a:off x="7790688" y="3822191"/>
            <a:ext cx="18288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EXPECTED RESULT</a:t>
            </a:r>
            <a:endParaRPr sz="1100" b="1">
              <a:solidFill>
                <a:srgbClr val="E60012"/>
              </a:solidFill>
            </a:endParaRPr>
          </a:p>
        </p:txBody>
      </p:sp>
      <p:sp>
        <p:nvSpPr>
          <p:cNvPr id="15" name="TextBox 14"/>
          <p:cNvSpPr txBox="1"/>
          <p:nvPr/>
        </p:nvSpPr>
        <p:spPr>
          <a:xfrm>
            <a:off x="7790688" y="4187952"/>
            <a:ext cx="3337560" cy="1325880"/>
          </a:xfrm>
          <a:prstGeom prst="rect">
            <a:avLst/>
          </a:prstGeom>
          <a:noFill/>
        </p:spPr>
        <p:txBody>
          <a:bodyPr wrap="square" lIns="27432" tIns="27432" rIns="27432" bIns="27432" anchor="t">
            <a:spAutoFit/>
          </a:bodyPr>
          <a:lstStyle/>
          <a:p>
            <a:pPr algn="l">
              <a:spcAft>
                <a:spcPts val="0"/>
              </a:spcAft>
            </a:pPr>
            <a:r>
              <a:rPr sz="1500" b="0">
                <a:solidFill>
                  <a:srgbClr val="1E2B40"/>
                </a:solidFill>
              </a:rPr>
              <a:t>Document every disruptive command.</a:t>
            </a:r>
          </a:p>
        </p:txBody>
      </p:sp>
      <p:sp>
        <p:nvSpPr>
          <p:cNvPr id="16" name="TextBox 15"/>
          <p:cNvSpPr txBox="1"/>
          <p:nvPr/>
        </p:nvSpPr>
        <p:spPr>
          <a:xfrm>
            <a:off x="7790688" y="5596128"/>
            <a:ext cx="1920240" cy="201168"/>
          </a:xfrm>
          <a:prstGeom prst="rect">
            <a:avLst/>
          </a:prstGeom>
          <a:noFill/>
        </p:spPr>
        <p:txBody>
          <a:bodyPr wrap="square" lIns="27432" tIns="27432" rIns="27432" bIns="27432" anchor="t">
            <a:spAutoFit/>
          </a:bodyPr>
          <a:lstStyle/>
          <a:p>
            <a:pPr algn="l">
              <a:spcAft>
                <a:spcPts val="0"/>
              </a:spcAft>
            </a:pPr>
            <a:r>
              <a:rPr sz="1000" b="1">
                <a:solidFill>
                  <a:srgbClr val="687385"/>
                </a:solidFill>
              </a:rPr>
              <a:t>Expected observation</a:t>
            </a:r>
          </a:p>
        </p:txBody>
      </p:sp>
      <p:sp>
        <p:nvSpPr>
          <p:cNvPr id="17" name="TextBox 16"/>
          <p:cNvSpPr txBox="1"/>
          <p:nvPr/>
        </p:nvSpPr>
        <p:spPr>
          <a:xfrm>
            <a:off x="9509760" y="5577840"/>
            <a:ext cx="1691640" cy="824841"/>
          </a:xfrm>
          <a:prstGeom prst="rect">
            <a:avLst/>
          </a:prstGeom>
          <a:noFill/>
        </p:spPr>
        <p:txBody>
          <a:bodyPr wrap="square" lIns="27432" tIns="27432" rIns="27432" bIns="27432" anchor="t">
            <a:spAutoFit/>
          </a:bodyPr>
          <a:lstStyle/>
          <a:p>
            <a:pPr algn="r">
              <a:spcAft>
                <a:spcPts val="0"/>
              </a:spcAft>
            </a:pPr>
            <a:r>
              <a:rPr lang="en-GB" sz="1000" b="0">
                <a:solidFill>
                  <a:srgbClr val="687385"/>
                </a:solidFill>
              </a:rPr>
              <a:t>The team identifies </a:t>
            </a:r>
            <a:r>
              <a:rPr sz="1000" b="0">
                <a:solidFill>
                  <a:srgbClr val="687385"/>
                </a:solidFill>
              </a:rPr>
              <a:t>the </a:t>
            </a:r>
            <a:r>
              <a:rPr lang="en-GB" sz="1000" b="0">
                <a:solidFill>
                  <a:srgbClr val="687385"/>
                </a:solidFill>
              </a:rPr>
              <a:t>failed decision, applies one reversible fix, </a:t>
            </a:r>
            <a:r>
              <a:rPr sz="1000" b="0">
                <a:solidFill>
                  <a:srgbClr val="687385"/>
                </a:solidFill>
              </a:rPr>
              <a:t>and </a:t>
            </a:r>
            <a:r>
              <a:rPr lang="en-GB" sz="1000" b="0">
                <a:solidFill>
                  <a:srgbClr val="687385"/>
                </a:solidFill>
              </a:rPr>
              <a:t>the application succeeds with stable resources</a:t>
            </a:r>
            <a:r>
              <a:rPr sz="1000" b="0">
                <a:solidFill>
                  <a:srgbClr val="687385"/>
                </a:solidFill>
              </a:rPr>
              <a:t>.</a:t>
            </a:r>
          </a:p>
        </p:txBody>
      </p:sp>
      <p:sp>
        <p:nvSpPr>
          <p:cNvPr id="18" name="TextBox 17"/>
          <p:cNvSpPr txBox="1"/>
          <p:nvPr/>
        </p:nvSpPr>
        <p:spPr>
          <a:xfrm>
            <a:off x="502920" y="420624"/>
            <a:ext cx="10744200" cy="130805"/>
          </a:xfrm>
          <a:prstGeom prst="rect">
            <a:avLst/>
          </a:prstGeom>
          <a:noFill/>
        </p:spPr>
        <p:txBody>
          <a:bodyPr wrap="square" lIns="0" tIns="0" rIns="0" bIns="0">
            <a:spAutoFit/>
          </a:bodyPr>
          <a:lstStyle/>
          <a:p>
            <a:pPr algn="l"/>
            <a:r>
              <a:rPr lang="en-HU" sz="850" b="1">
                <a:solidFill>
                  <a:srgbClr val="687385"/>
                </a:solidFill>
              </a:rPr>
              <a:t>189</a:t>
            </a:r>
            <a:r>
              <a:rPr sz="850" b="1">
                <a:solidFill>
                  <a:srgbClr val="687385"/>
                </a:solidFill>
              </a:rPr>
              <a:t> • DAY 4 • BLOCK 16 • Performance, Troubleshooting &amp; Capstone</a:t>
            </a:r>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name="Slide 190">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190</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Capstone resolution criteria are observable</a:t>
            </a:r>
          </a:p>
        </p:txBody>
      </p:sp>
      <p:sp>
        <p:nvSpPr>
          <p:cNvPr id="10" name="TextBox 9"/>
          <p:cNvSpPr txBox="1">
            <a:spLocks/>
          </p:cNvSpPr>
          <p:nvPr/>
        </p:nvSpPr>
        <p:spPr>
          <a:xfrm>
            <a:off x="658368" y="1554480"/>
            <a:ext cx="6583680" cy="2197974"/>
          </a:xfrm>
          <a:prstGeom prst="rect">
            <a:avLst/>
          </a:prstGeom>
          <a:noFill/>
        </p:spPr>
        <p:txBody>
          <a:bodyPr wrap="square" lIns="109728" tIns="73152" rIns="109728" bIns="73152" anchor="t">
            <a:spAutoFit/>
          </a:bodyPr>
          <a:lstStyle/>
          <a:p>
            <a:pPr algn="l">
              <a:lnSpc>
                <a:spcPct val="105000"/>
              </a:lnSpc>
              <a:spcAft>
                <a:spcPts val="800"/>
              </a:spcAft>
              <a:defRPr sz="1700">
                <a:solidFill>
                  <a:srgbClr val="1E2B40"/>
                </a:solidFill>
              </a:defRPr>
            </a:pPr>
            <a:r>
              <a:rPr lang="en-GB"/>
              <a:t>• Expected local route/interface selected</a:t>
            </a:r>
          </a:p>
          <a:p>
            <a:pPr>
              <a:lnSpc>
                <a:spcPct val="105000"/>
              </a:lnSpc>
              <a:spcAft>
                <a:spcPts val="800"/>
              </a:spcAft>
              <a:defRPr sz="1700">
                <a:solidFill>
                  <a:srgbClr val="1E2B40"/>
                </a:solidFill>
              </a:defRPr>
            </a:pPr>
            <a:r>
              <a:rPr lang="en-GB"/>
              <a:t>• Correct object, policy, NAT and security profile applied</a:t>
            </a:r>
          </a:p>
          <a:p>
            <a:pPr>
              <a:lnSpc>
                <a:spcPct val="105000"/>
              </a:lnSpc>
              <a:spcAft>
                <a:spcPts val="800"/>
              </a:spcAft>
              <a:defRPr sz="1700">
                <a:solidFill>
                  <a:srgbClr val="1E2B40"/>
                </a:solidFill>
              </a:defRPr>
            </a:pPr>
            <a:r>
              <a:rPr lang="en-GB"/>
              <a:t>• Bidirectional packets and session counters increase</a:t>
            </a:r>
          </a:p>
          <a:p>
            <a:pPr>
              <a:lnSpc>
                <a:spcPct val="105000"/>
              </a:lnSpc>
              <a:spcAft>
                <a:spcPts val="800"/>
              </a:spcAft>
              <a:defRPr sz="1700">
                <a:solidFill>
                  <a:srgbClr val="1E2B40"/>
                </a:solidFill>
              </a:defRPr>
            </a:pPr>
            <a:r>
              <a:rPr lang="en-GB"/>
              <a:t>• HTTPS trust is correct when deep inspection is used</a:t>
            </a:r>
          </a:p>
          <a:p>
            <a:pPr>
              <a:lnSpc>
                <a:spcPct val="105000"/>
              </a:lnSpc>
              <a:spcAft>
                <a:spcPts val="800"/>
              </a:spcAft>
              <a:defRPr sz="1700">
                <a:solidFill>
                  <a:srgbClr val="1E2B40"/>
                </a:solidFill>
              </a:defRPr>
            </a:pPr>
            <a:r>
              <a:rPr lang="en-GB"/>
              <a:t>• Intentional faults removed; management and Internet breakout still work</a:t>
            </a:r>
          </a:p>
        </p:txBody>
      </p:sp>
      <p:cxnSp>
        <p:nvCxnSpPr>
          <p:cNvPr id="11" name="Connector 10"/>
          <p:cNvCxnSpPr/>
          <p:nvPr/>
        </p:nvCxnSpPr>
        <p:spPr>
          <a:xfrm>
            <a:off x="7452360" y="1600200"/>
            <a:ext cx="0" cy="434340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7790688" y="1627632"/>
            <a:ext cx="342900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ILLUSTRATIVE SCENARIO</a:t>
            </a:r>
          </a:p>
        </p:txBody>
      </p:sp>
      <p:sp>
        <p:nvSpPr>
          <p:cNvPr id="13" name="TextBox 12"/>
          <p:cNvSpPr txBox="1">
            <a:spLocks/>
          </p:cNvSpPr>
          <p:nvPr/>
        </p:nvSpPr>
        <p:spPr>
          <a:xfrm>
            <a:off x="7790688" y="2057400"/>
            <a:ext cx="3337560" cy="1417320"/>
          </a:xfrm>
          <a:prstGeom prst="rect">
            <a:avLst/>
          </a:prstGeom>
          <a:noFill/>
        </p:spPr>
        <p:txBody>
          <a:bodyPr wrap="square" lIns="27432" tIns="27432" rIns="27432" bIns="27432" anchor="t">
            <a:spAutoFit/>
          </a:bodyPr>
          <a:lstStyle/>
          <a:p>
            <a:pPr algn="l">
              <a:spcAft>
                <a:spcPts val="0"/>
              </a:spcAft>
            </a:pPr>
            <a:r>
              <a:rPr lang="en-GB" sz="1700" b="1">
                <a:solidFill>
                  <a:srgbClr val="233A59"/>
                </a:solidFill>
              </a:rPr>
              <a:t>“Ping works” is not sufficient for HTTPS success</a:t>
            </a:r>
          </a:p>
        </p:txBody>
      </p:sp>
      <p:sp>
        <p:nvSpPr>
          <p:cNvPr id="14" name="TextBox 13"/>
          <p:cNvSpPr txBox="1">
            <a:spLocks/>
          </p:cNvSpPr>
          <p:nvPr/>
        </p:nvSpPr>
        <p:spPr>
          <a:xfrm>
            <a:off x="7790688" y="3822191"/>
            <a:ext cx="18288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EXPECTED RESULT</a:t>
            </a:r>
          </a:p>
        </p:txBody>
      </p:sp>
      <p:sp>
        <p:nvSpPr>
          <p:cNvPr id="15" name="TextBox 14"/>
          <p:cNvSpPr txBox="1">
            <a:spLocks/>
          </p:cNvSpPr>
          <p:nvPr/>
        </p:nvSpPr>
        <p:spPr>
          <a:xfrm>
            <a:off x="7790688" y="4187952"/>
            <a:ext cx="3337560" cy="747897"/>
          </a:xfrm>
          <a:prstGeom prst="rect">
            <a:avLst/>
          </a:prstGeom>
          <a:noFill/>
        </p:spPr>
        <p:txBody>
          <a:bodyPr wrap="square" lIns="27432" tIns="27432" rIns="27432" bIns="27432" anchor="t">
            <a:spAutoFit/>
          </a:bodyPr>
          <a:lstStyle/>
          <a:p>
            <a:pPr algn="l">
              <a:spcAft>
                <a:spcPts val="0"/>
              </a:spcAft>
            </a:pPr>
            <a:r>
              <a:rPr lang="en-GB" sz="1500" b="0">
                <a:solidFill>
                  <a:srgbClr val="1E2B40"/>
                </a:solidFill>
              </a:rPr>
              <a:t>Success includes service restoration and a verified clean reset to the known-good baseline.</a:t>
            </a:r>
          </a:p>
        </p:txBody>
      </p:sp>
      <p:sp>
        <p:nvSpPr>
          <p:cNvPr id="16" name="TextBox 15"/>
          <p:cNvSpPr txBox="1">
            <a:spLocks/>
          </p:cNvSpPr>
          <p:nvPr/>
        </p:nvSpPr>
        <p:spPr>
          <a:xfrm>
            <a:off x="7790688" y="5596128"/>
            <a:ext cx="1920240" cy="201168"/>
          </a:xfrm>
          <a:prstGeom prst="rect">
            <a:avLst/>
          </a:prstGeom>
          <a:noFill/>
        </p:spPr>
        <p:txBody>
          <a:bodyPr wrap="square" lIns="27432" tIns="27432" rIns="27432" bIns="27432" anchor="t">
            <a:spAutoFit/>
          </a:bodyPr>
          <a:lstStyle/>
          <a:p>
            <a:pPr algn="l">
              <a:spcAft>
                <a:spcPts val="0"/>
              </a:spcAft>
            </a:pPr>
            <a:r>
              <a:rPr lang="en-GB" sz="1000" b="1">
                <a:solidFill>
                  <a:srgbClr val="687385"/>
                </a:solidFill>
              </a:rPr>
              <a:t>Expected observation</a:t>
            </a:r>
          </a:p>
        </p:txBody>
      </p:sp>
      <p:sp>
        <p:nvSpPr>
          <p:cNvPr id="17" name="TextBox 16"/>
          <p:cNvSpPr txBox="1">
            <a:spLocks/>
          </p:cNvSpPr>
          <p:nvPr/>
        </p:nvSpPr>
        <p:spPr>
          <a:xfrm>
            <a:off x="9509760" y="5577840"/>
            <a:ext cx="1691640" cy="824841"/>
          </a:xfrm>
          <a:prstGeom prst="rect">
            <a:avLst/>
          </a:prstGeom>
          <a:noFill/>
        </p:spPr>
        <p:txBody>
          <a:bodyPr wrap="square" lIns="27432" tIns="27432" rIns="27432" bIns="27432" anchor="t">
            <a:spAutoFit/>
          </a:bodyPr>
          <a:lstStyle/>
          <a:p>
            <a:pPr algn="r">
              <a:spcAft>
                <a:spcPts val="0"/>
              </a:spcAft>
            </a:pPr>
            <a:r>
              <a:rPr lang="en-GB" sz="1000" b="0">
                <a:solidFill>
                  <a:srgbClr val="687385"/>
                </a:solidFill>
              </a:rPr>
              <a:t>The team identifies the failed decision, applies one reversible fix, and the application succeeds with stable resources.</a:t>
            </a:r>
          </a:p>
        </p:txBody>
      </p:sp>
      <p:sp>
        <p:nvSpPr>
          <p:cNvPr id="18" name="TextBox 17"/>
          <p:cNvSpPr txBox="1">
            <a:spLocks/>
          </p:cNvSpPr>
          <p:nvPr/>
        </p:nvSpPr>
        <p:spPr>
          <a:xfrm>
            <a:off x="502920" y="420624"/>
            <a:ext cx="10744200" cy="130805"/>
          </a:xfrm>
          <a:prstGeom prst="rect">
            <a:avLst/>
          </a:prstGeom>
          <a:noFill/>
        </p:spPr>
        <p:txBody>
          <a:bodyPr wrap="square" lIns="0" tIns="0" rIns="0" bIns="0">
            <a:spAutoFit/>
          </a:bodyPr>
          <a:lstStyle/>
          <a:p>
            <a:pPr algn="l"/>
            <a:r>
              <a:rPr lang="en-GB" sz="850" b="1">
                <a:solidFill>
                  <a:srgbClr val="687385"/>
                </a:solidFill>
              </a:rPr>
              <a:t>190 • DAY 4 • BLOCK 16 • Performance, Troubleshooting &amp; Capstone</a:t>
            </a:r>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name="Slide 191">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p:nvPr/>
        </p:nvSpPr>
        <p:spPr>
          <a:xfrm>
            <a:off x="502920" y="411480"/>
            <a:ext cx="548640" cy="189283"/>
          </a:xfrm>
          <a:prstGeom prst="rect">
            <a:avLst/>
          </a:prstGeom>
          <a:noFill/>
        </p:spPr>
        <p:txBody>
          <a:bodyPr wrap="square" lIns="36576" tIns="36576" rIns="36576" bIns="36576" anchor="t">
            <a:spAutoFit/>
          </a:bodyPr>
          <a:lstStyle/>
          <a:p>
            <a:pPr algn="l">
              <a:spcAft>
                <a:spcPts val="0"/>
              </a:spcAft>
            </a:pPr>
            <a:r>
              <a:rPr lang="en-HU" sz="750" b="1">
                <a:solidFill>
                  <a:srgbClr val="687385"/>
                </a:solidFill>
              </a:rPr>
              <a:t>191</a:t>
            </a:r>
            <a:endParaRPr sz="750" b="1">
              <a:solidFill>
                <a:srgbClr val="687385"/>
              </a:solidFill>
            </a:endParaRPr>
          </a:p>
        </p:txBody>
      </p:sp>
      <p:sp>
        <p:nvSpPr>
          <p:cNvPr id="4" name="TextBox 3"/>
          <p:cNvSpPr txBox="1"/>
          <p:nvPr/>
        </p:nvSpPr>
        <p:spPr>
          <a:xfrm>
            <a:off x="502920" y="621792"/>
            <a:ext cx="11109960" cy="548640"/>
          </a:xfrm>
          <a:prstGeom prst="rect">
            <a:avLst/>
          </a:prstGeom>
          <a:noFill/>
        </p:spPr>
        <p:txBody>
          <a:bodyPr wrap="square" lIns="36576" tIns="36576" rIns="36576" bIns="36576" anchor="t">
            <a:spAutoFit/>
          </a:bodyPr>
          <a:lstStyle/>
          <a:p>
            <a:pPr algn="l">
              <a:spcAft>
                <a:spcPts val="0"/>
              </a:spcAft>
            </a:pPr>
            <a:r>
              <a:rPr sz="2600" b="1">
                <a:solidFill>
                  <a:srgbClr val="1E2B40"/>
                </a:solidFill>
              </a:rPr>
              <a:t>Capstone checkpoint: policy and NAT</a:t>
            </a:r>
          </a:p>
        </p:txBody>
      </p:sp>
      <p:sp>
        <p:nvSpPr>
          <p:cNvPr id="5" name="TextBox 4"/>
          <p:cNvSpPr txBox="1"/>
          <p:nvPr/>
        </p:nvSpPr>
        <p:spPr>
          <a:xfrm>
            <a:off x="521207" y="1143000"/>
            <a:ext cx="10789920" cy="243143"/>
          </a:xfrm>
          <a:prstGeom prst="rect">
            <a:avLst/>
          </a:prstGeom>
          <a:noFill/>
        </p:spPr>
        <p:txBody>
          <a:bodyPr wrap="square" lIns="36576" tIns="36576" rIns="36576" bIns="36576" anchor="t">
            <a:spAutoFit/>
          </a:bodyPr>
          <a:lstStyle/>
          <a:p>
            <a:pPr algn="l">
              <a:spcAft>
                <a:spcPts val="0"/>
              </a:spcAft>
            </a:pPr>
            <a:r>
              <a:rPr lang="en-GB" sz="1100" b="0">
                <a:solidFill>
                  <a:srgbClr val="687385"/>
                </a:solidFill>
              </a:rPr>
              <a:t>Mandatory Student N exercise—client 10.N.10.10 and DMZ server 10.N.20.10</a:t>
            </a:r>
            <a:endParaRPr sz="1100" b="0">
              <a:solidFill>
                <a:srgbClr val="687385"/>
              </a:solidFill>
            </a:endParaRPr>
          </a:p>
        </p:txBody>
      </p:sp>
      <p:cxnSp>
        <p:nvCxnSpPr>
          <p:cNvPr id="6" name="Connector 5"/>
          <p:cNvCxnSpPr/>
          <p:nvPr/>
        </p:nvCxnSpPr>
        <p:spPr>
          <a:xfrm>
            <a:off x="502920" y="6473952"/>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7" name="TextBox 6"/>
          <p:cNvSpPr txBox="1">
            <a:spLocks/>
          </p:cNvSpPr>
          <p:nvPr/>
        </p:nvSpPr>
        <p:spPr>
          <a:xfrm>
            <a:off x="11109960" y="6537960"/>
            <a:ext cx="502920" cy="189283"/>
          </a:xfrm>
          <a:prstGeom prst="rect">
            <a:avLst/>
          </a:prstGeom>
          <a:noFill/>
        </p:spPr>
        <p:txBody>
          <a:bodyPr wrap="square" lIns="36576" tIns="36576" rIns="36576" bIns="36576" anchor="t">
            <a:spAutoFit/>
          </a:bodyPr>
          <a:lstStyle/>
          <a:p>
            <a:pPr algn="r">
              <a:spcAft>
                <a:spcPts val="0"/>
              </a:spcAft>
            </a:pPr>
            <a:r>
              <a:rPr lang="en-HU" sz="750" b="0">
                <a:solidFill>
                  <a:srgbClr val="687385"/>
                </a:solidFill>
              </a:rPr>
              <a:t>191</a:t>
            </a:r>
          </a:p>
        </p:txBody>
      </p:sp>
      <p:sp>
        <p:nvSpPr>
          <p:cNvPr id="8" name="TextBox 7"/>
          <p:cNvSpPr txBox="1">
            <a:spLocks/>
          </p:cNvSpPr>
          <p:nvPr/>
        </p:nvSpPr>
        <p:spPr>
          <a:xfrm>
            <a:off x="777240" y="1645920"/>
            <a:ext cx="457200" cy="274320"/>
          </a:xfrm>
          <a:prstGeom prst="rect">
            <a:avLst/>
          </a:prstGeom>
          <a:noFill/>
        </p:spPr>
        <p:txBody>
          <a:bodyPr wrap="square" lIns="36576" tIns="36576" rIns="36576" bIns="36576" anchor="t">
            <a:spAutoFit/>
          </a:bodyPr>
          <a:lstStyle/>
          <a:p>
            <a:pPr algn="l">
              <a:spcAft>
                <a:spcPts val="0"/>
              </a:spcAft>
            </a:pPr>
            <a:r>
              <a:rPr lang="en-HU" sz="1300" b="1">
                <a:solidFill>
                  <a:srgbClr val="E60012"/>
                </a:solidFill>
              </a:rPr>
              <a:t>01</a:t>
            </a:r>
          </a:p>
        </p:txBody>
      </p:sp>
      <p:sp>
        <p:nvSpPr>
          <p:cNvPr id="9" name="TextBox 8"/>
          <p:cNvSpPr txBox="1">
            <a:spLocks/>
          </p:cNvSpPr>
          <p:nvPr/>
        </p:nvSpPr>
        <p:spPr>
          <a:xfrm>
            <a:off x="1417320" y="1572768"/>
            <a:ext cx="9326880" cy="350865"/>
          </a:xfrm>
          <a:prstGeom prst="rect">
            <a:avLst/>
          </a:prstGeom>
          <a:noFill/>
        </p:spPr>
        <p:txBody>
          <a:bodyPr wrap="square" lIns="36576" tIns="36576" rIns="36576" bIns="36576" anchor="t">
            <a:spAutoFit/>
          </a:bodyPr>
          <a:lstStyle/>
          <a:p>
            <a:pPr algn="l">
              <a:spcAft>
                <a:spcPts val="0"/>
              </a:spcAft>
            </a:pPr>
            <a:r>
              <a:rPr lang="en-GB" sz="1800" b="1">
                <a:solidFill>
                  <a:srgbClr val="1E2B40"/>
                </a:solidFill>
              </a:rPr>
              <a:t>Which policy ID should match the test tuple?</a:t>
            </a:r>
          </a:p>
        </p:txBody>
      </p:sp>
      <p:cxnSp>
        <p:nvCxnSpPr>
          <p:cNvPr id="10" name="Connector 9"/>
          <p:cNvCxnSpPr/>
          <p:nvPr/>
        </p:nvCxnSpPr>
        <p:spPr>
          <a:xfrm>
            <a:off x="1417320" y="2286000"/>
            <a:ext cx="9464040" cy="0"/>
          </a:xfrm>
          <a:prstGeom prst="line">
            <a:avLst/>
          </a:prstGeom>
          <a:ln w="10160">
            <a:solidFill>
              <a:srgbClr val="D8E0E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77240" y="2880360"/>
            <a:ext cx="457200" cy="274320"/>
          </a:xfrm>
          <a:prstGeom prst="rect">
            <a:avLst/>
          </a:prstGeom>
          <a:noFill/>
        </p:spPr>
        <p:txBody>
          <a:bodyPr wrap="square" lIns="36576" tIns="36576" rIns="36576" bIns="36576" anchor="t">
            <a:spAutoFit/>
          </a:bodyPr>
          <a:lstStyle/>
          <a:p>
            <a:pPr algn="l">
              <a:spcAft>
                <a:spcPts val="0"/>
              </a:spcAft>
            </a:pPr>
            <a:r>
              <a:rPr sz="1300" b="1">
                <a:solidFill>
                  <a:srgbClr val="E60012"/>
                </a:solidFill>
              </a:rPr>
              <a:t>02</a:t>
            </a:r>
          </a:p>
        </p:txBody>
      </p:sp>
      <p:sp>
        <p:nvSpPr>
          <p:cNvPr id="12" name="TextBox 11"/>
          <p:cNvSpPr txBox="1">
            <a:spLocks/>
          </p:cNvSpPr>
          <p:nvPr/>
        </p:nvSpPr>
        <p:spPr>
          <a:xfrm>
            <a:off x="1417320" y="2807208"/>
            <a:ext cx="9326880" cy="350865"/>
          </a:xfrm>
          <a:prstGeom prst="rect">
            <a:avLst/>
          </a:prstGeom>
          <a:noFill/>
        </p:spPr>
        <p:txBody>
          <a:bodyPr wrap="square" lIns="36576" tIns="36576" rIns="36576" bIns="36576" anchor="t">
            <a:spAutoFit/>
          </a:bodyPr>
          <a:lstStyle/>
          <a:p>
            <a:pPr algn="l">
              <a:spcAft>
                <a:spcPts val="0"/>
              </a:spcAft>
            </a:pPr>
            <a:r>
              <a:rPr lang="en-GB" sz="1800" b="1">
                <a:solidFill>
                  <a:srgbClr val="1E2B40"/>
                </a:solidFill>
              </a:rPr>
              <a:t>Is NAT required, and what should the translated tuple be?</a:t>
            </a:r>
          </a:p>
        </p:txBody>
      </p:sp>
      <p:cxnSp>
        <p:nvCxnSpPr>
          <p:cNvPr id="13" name="Connector 12"/>
          <p:cNvCxnSpPr/>
          <p:nvPr/>
        </p:nvCxnSpPr>
        <p:spPr>
          <a:xfrm>
            <a:off x="1417320" y="3520440"/>
            <a:ext cx="9464040" cy="0"/>
          </a:xfrm>
          <a:prstGeom prst="line">
            <a:avLst/>
          </a:prstGeom>
          <a:ln w="10160">
            <a:solidFill>
              <a:srgbClr val="D8E0EA"/>
            </a:solidFill>
          </a:ln>
        </p:spPr>
        <p:style>
          <a:lnRef idx="2">
            <a:schemeClr val="accent1"/>
          </a:lnRef>
          <a:fillRef idx="0">
            <a:schemeClr val="accent1"/>
          </a:fillRef>
          <a:effectRef idx="1">
            <a:schemeClr val="accent1"/>
          </a:effectRef>
          <a:fontRef idx="minor">
            <a:schemeClr val="tx1"/>
          </a:fontRef>
        </p:style>
      </p:cxnSp>
      <p:sp>
        <p:nvSpPr>
          <p:cNvPr id="14" name="TextBox 13"/>
          <p:cNvSpPr txBox="1">
            <a:spLocks/>
          </p:cNvSpPr>
          <p:nvPr/>
        </p:nvSpPr>
        <p:spPr>
          <a:xfrm>
            <a:off x="777240" y="4114800"/>
            <a:ext cx="457200" cy="274320"/>
          </a:xfrm>
          <a:prstGeom prst="rect">
            <a:avLst/>
          </a:prstGeom>
          <a:noFill/>
        </p:spPr>
        <p:txBody>
          <a:bodyPr wrap="square" lIns="36576" tIns="36576" rIns="36576" bIns="36576" anchor="t">
            <a:spAutoFit/>
          </a:bodyPr>
          <a:lstStyle/>
          <a:p>
            <a:pPr algn="l">
              <a:spcAft>
                <a:spcPts val="0"/>
              </a:spcAft>
            </a:pPr>
            <a:r>
              <a:rPr lang="en-HU" sz="1300" b="1">
                <a:solidFill>
                  <a:srgbClr val="E60012"/>
                </a:solidFill>
              </a:rPr>
              <a:t>03</a:t>
            </a:r>
          </a:p>
        </p:txBody>
      </p:sp>
      <p:sp>
        <p:nvSpPr>
          <p:cNvPr id="15" name="TextBox 14"/>
          <p:cNvSpPr txBox="1">
            <a:spLocks/>
          </p:cNvSpPr>
          <p:nvPr/>
        </p:nvSpPr>
        <p:spPr>
          <a:xfrm>
            <a:off x="1417320" y="4041648"/>
            <a:ext cx="9326880" cy="350865"/>
          </a:xfrm>
          <a:prstGeom prst="rect">
            <a:avLst/>
          </a:prstGeom>
          <a:noFill/>
        </p:spPr>
        <p:txBody>
          <a:bodyPr wrap="square" lIns="36576" tIns="36576" rIns="36576" bIns="36576" anchor="t">
            <a:spAutoFit/>
          </a:bodyPr>
          <a:lstStyle/>
          <a:p>
            <a:pPr algn="l">
              <a:spcAft>
                <a:spcPts val="0"/>
              </a:spcAft>
            </a:pPr>
            <a:r>
              <a:rPr lang="en-GB" sz="1800" b="1">
                <a:solidFill>
                  <a:srgbClr val="1E2B40"/>
                </a:solidFill>
              </a:rPr>
              <a:t>Which traffic-log fields distinguish deny, accept and security-profile action?</a:t>
            </a:r>
          </a:p>
        </p:txBody>
      </p:sp>
      <p:cxnSp>
        <p:nvCxnSpPr>
          <p:cNvPr id="16" name="Connector 15"/>
          <p:cNvCxnSpPr/>
          <p:nvPr/>
        </p:nvCxnSpPr>
        <p:spPr>
          <a:xfrm>
            <a:off x="1417320" y="4754880"/>
            <a:ext cx="9464040" cy="0"/>
          </a:xfrm>
          <a:prstGeom prst="line">
            <a:avLst/>
          </a:prstGeom>
          <a:ln w="10160">
            <a:solidFill>
              <a:srgbClr val="D8E0EA"/>
            </a:solidFill>
          </a:ln>
        </p:spPr>
        <p:style>
          <a:lnRef idx="2">
            <a:schemeClr val="accent1"/>
          </a:lnRef>
          <a:fillRef idx="0">
            <a:schemeClr val="accent1"/>
          </a:fillRef>
          <a:effectRef idx="1">
            <a:schemeClr val="accent1"/>
          </a:effectRef>
          <a:fontRef idx="minor">
            <a:schemeClr val="tx1"/>
          </a:fontRef>
        </p:style>
      </p:cxnSp>
      <p:sp>
        <p:nvSpPr>
          <p:cNvPr id="17" name="TextBox 16"/>
          <p:cNvSpPr txBox="1">
            <a:spLocks/>
          </p:cNvSpPr>
          <p:nvPr/>
        </p:nvSpPr>
        <p:spPr>
          <a:xfrm>
            <a:off x="658368" y="5833872"/>
            <a:ext cx="731520" cy="227755"/>
          </a:xfrm>
          <a:prstGeom prst="rect">
            <a:avLst/>
          </a:prstGeom>
          <a:noFill/>
        </p:spPr>
        <p:txBody>
          <a:bodyPr wrap="square" lIns="36576" tIns="36576" rIns="36576" bIns="36576" anchor="t">
            <a:spAutoFit/>
          </a:bodyPr>
          <a:lstStyle/>
          <a:p>
            <a:pPr algn="l">
              <a:spcAft>
                <a:spcPts val="0"/>
              </a:spcAft>
            </a:pPr>
            <a:r>
              <a:rPr lang="en-GB" sz="1000" b="1">
                <a:solidFill>
                  <a:srgbClr val="E60012"/>
                </a:solidFill>
              </a:rPr>
              <a:t>LESSON</a:t>
            </a:r>
          </a:p>
        </p:txBody>
      </p:sp>
      <p:sp>
        <p:nvSpPr>
          <p:cNvPr id="18" name="TextBox 17"/>
          <p:cNvSpPr txBox="1">
            <a:spLocks/>
          </p:cNvSpPr>
          <p:nvPr/>
        </p:nvSpPr>
        <p:spPr>
          <a:xfrm>
            <a:off x="1417320" y="5769864"/>
            <a:ext cx="9875520" cy="273921"/>
          </a:xfrm>
          <a:prstGeom prst="rect">
            <a:avLst/>
          </a:prstGeom>
          <a:noFill/>
        </p:spPr>
        <p:txBody>
          <a:bodyPr wrap="square" lIns="36576" tIns="36576" rIns="36576" bIns="36576" anchor="t">
            <a:spAutoFit/>
          </a:bodyPr>
          <a:lstStyle/>
          <a:p>
            <a:pPr algn="l">
              <a:spcAft>
                <a:spcPts val="0"/>
              </a:spcAft>
            </a:pPr>
            <a:r>
              <a:rPr lang="en-GB" sz="1300" b="1">
                <a:solidFill>
                  <a:srgbClr val="233A59"/>
                </a:solidFill>
              </a:rPr>
              <a:t>Do not reveal the injected fault; require the team to connect each conclusion to the actual lab state.</a:t>
            </a:r>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name="Slide 192">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p:nvPr/>
        </p:nvSpPr>
        <p:spPr>
          <a:xfrm>
            <a:off x="502920" y="411480"/>
            <a:ext cx="548640" cy="189283"/>
          </a:xfrm>
          <a:prstGeom prst="rect">
            <a:avLst/>
          </a:prstGeom>
          <a:noFill/>
        </p:spPr>
        <p:txBody>
          <a:bodyPr wrap="square" lIns="36576" tIns="36576" rIns="36576" bIns="36576" anchor="t">
            <a:spAutoFit/>
          </a:bodyPr>
          <a:lstStyle/>
          <a:p>
            <a:pPr algn="l">
              <a:spcAft>
                <a:spcPts val="0"/>
              </a:spcAft>
            </a:pPr>
            <a:r>
              <a:rPr lang="en-HU" sz="750" b="1">
                <a:solidFill>
                  <a:srgbClr val="687385"/>
                </a:solidFill>
              </a:rPr>
              <a:t>192</a:t>
            </a:r>
            <a:endParaRPr sz="750" b="1">
              <a:solidFill>
                <a:srgbClr val="687385"/>
              </a:solidFill>
            </a:endParaRPr>
          </a:p>
        </p:txBody>
      </p:sp>
      <p:sp>
        <p:nvSpPr>
          <p:cNvPr id="4" name="TextBox 3"/>
          <p:cNvSpPr txBox="1"/>
          <p:nvPr/>
        </p:nvSpPr>
        <p:spPr>
          <a:xfrm>
            <a:off x="502920" y="621792"/>
            <a:ext cx="11109960" cy="473976"/>
          </a:xfrm>
          <a:prstGeom prst="rect">
            <a:avLst/>
          </a:prstGeom>
          <a:noFill/>
        </p:spPr>
        <p:txBody>
          <a:bodyPr wrap="square" lIns="36576" tIns="36576" rIns="36576" bIns="36576" anchor="t">
            <a:spAutoFit/>
          </a:bodyPr>
          <a:lstStyle/>
          <a:p>
            <a:pPr algn="l">
              <a:spcAft>
                <a:spcPts val="0"/>
              </a:spcAft>
            </a:pPr>
            <a:r>
              <a:rPr sz="2600" b="1">
                <a:solidFill>
                  <a:srgbClr val="1E2B40"/>
                </a:solidFill>
              </a:rPr>
              <a:t>Capstone checkpoint: route and </a:t>
            </a:r>
            <a:r>
              <a:rPr lang="en-GB" sz="2600" b="1">
                <a:solidFill>
                  <a:srgbClr val="1E2B40"/>
                </a:solidFill>
              </a:rPr>
              <a:t>return path</a:t>
            </a:r>
            <a:endParaRPr sz="2600" b="1">
              <a:solidFill>
                <a:srgbClr val="1E2B40"/>
              </a:solidFill>
            </a:endParaRPr>
          </a:p>
        </p:txBody>
      </p:sp>
      <p:sp>
        <p:nvSpPr>
          <p:cNvPr id="5" name="TextBox 4"/>
          <p:cNvSpPr txBox="1"/>
          <p:nvPr/>
        </p:nvSpPr>
        <p:spPr>
          <a:xfrm>
            <a:off x="521207" y="1143000"/>
            <a:ext cx="10789920" cy="243143"/>
          </a:xfrm>
          <a:prstGeom prst="rect">
            <a:avLst/>
          </a:prstGeom>
          <a:noFill/>
        </p:spPr>
        <p:txBody>
          <a:bodyPr wrap="square" lIns="36576" tIns="36576" rIns="36576" bIns="36576" anchor="t">
            <a:spAutoFit/>
          </a:bodyPr>
          <a:lstStyle/>
          <a:p>
            <a:pPr algn="l">
              <a:spcAft>
                <a:spcPts val="0"/>
              </a:spcAft>
            </a:pPr>
            <a:r>
              <a:rPr lang="en-GB" sz="1100" b="0">
                <a:solidFill>
                  <a:srgbClr val="687385"/>
                </a:solidFill>
              </a:rPr>
              <a:t>Mandatory base-lab exercise; the future IPsec/ADVPN overlay is not required</a:t>
            </a:r>
            <a:endParaRPr sz="1100" b="0">
              <a:solidFill>
                <a:srgbClr val="687385"/>
              </a:solidFill>
            </a:endParaRPr>
          </a:p>
        </p:txBody>
      </p:sp>
      <p:cxnSp>
        <p:nvCxnSpPr>
          <p:cNvPr id="6" name="Connector 5"/>
          <p:cNvCxnSpPr/>
          <p:nvPr/>
        </p:nvCxnSpPr>
        <p:spPr>
          <a:xfrm>
            <a:off x="502920" y="6473952"/>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7" name="TextBox 6"/>
          <p:cNvSpPr txBox="1">
            <a:spLocks/>
          </p:cNvSpPr>
          <p:nvPr/>
        </p:nvSpPr>
        <p:spPr>
          <a:xfrm>
            <a:off x="11109960" y="6537960"/>
            <a:ext cx="502920" cy="189283"/>
          </a:xfrm>
          <a:prstGeom prst="rect">
            <a:avLst/>
          </a:prstGeom>
          <a:noFill/>
        </p:spPr>
        <p:txBody>
          <a:bodyPr wrap="square" lIns="36576" tIns="36576" rIns="36576" bIns="36576" anchor="t">
            <a:spAutoFit/>
          </a:bodyPr>
          <a:lstStyle/>
          <a:p>
            <a:pPr algn="r">
              <a:spcAft>
                <a:spcPts val="0"/>
              </a:spcAft>
            </a:pPr>
            <a:r>
              <a:rPr lang="en-HU" sz="750" b="0">
                <a:solidFill>
                  <a:srgbClr val="687385"/>
                </a:solidFill>
              </a:rPr>
              <a:t>192</a:t>
            </a:r>
          </a:p>
        </p:txBody>
      </p:sp>
      <p:sp>
        <p:nvSpPr>
          <p:cNvPr id="8" name="TextBox 7"/>
          <p:cNvSpPr txBox="1">
            <a:spLocks/>
          </p:cNvSpPr>
          <p:nvPr/>
        </p:nvSpPr>
        <p:spPr>
          <a:xfrm>
            <a:off x="777240" y="1645920"/>
            <a:ext cx="457200" cy="274320"/>
          </a:xfrm>
          <a:prstGeom prst="rect">
            <a:avLst/>
          </a:prstGeom>
          <a:noFill/>
        </p:spPr>
        <p:txBody>
          <a:bodyPr wrap="square" lIns="36576" tIns="36576" rIns="36576" bIns="36576" anchor="t">
            <a:spAutoFit/>
          </a:bodyPr>
          <a:lstStyle/>
          <a:p>
            <a:pPr algn="l">
              <a:spcAft>
                <a:spcPts val="0"/>
              </a:spcAft>
            </a:pPr>
            <a:r>
              <a:rPr lang="en-HU" sz="1300" b="1">
                <a:solidFill>
                  <a:srgbClr val="E60012"/>
                </a:solidFill>
              </a:rPr>
              <a:t>01</a:t>
            </a:r>
          </a:p>
        </p:txBody>
      </p:sp>
      <p:sp>
        <p:nvSpPr>
          <p:cNvPr id="9" name="TextBox 8"/>
          <p:cNvSpPr txBox="1">
            <a:spLocks/>
          </p:cNvSpPr>
          <p:nvPr/>
        </p:nvSpPr>
        <p:spPr>
          <a:xfrm>
            <a:off x="1417320" y="1572768"/>
            <a:ext cx="9326880" cy="350865"/>
          </a:xfrm>
          <a:prstGeom prst="rect">
            <a:avLst/>
          </a:prstGeom>
          <a:noFill/>
        </p:spPr>
        <p:txBody>
          <a:bodyPr wrap="square" lIns="36576" tIns="36576" rIns="36576" bIns="36576" anchor="t">
            <a:spAutoFit/>
          </a:bodyPr>
          <a:lstStyle/>
          <a:p>
            <a:pPr algn="l">
              <a:spcAft>
                <a:spcPts val="0"/>
              </a:spcAft>
            </a:pPr>
            <a:r>
              <a:rPr lang="en-GB" sz="1800" b="1">
                <a:solidFill>
                  <a:srgbClr val="1E2B40"/>
                </a:solidFill>
              </a:rPr>
              <a:t>Which route/interface should carry LAN-to-DMZ traffic?</a:t>
            </a:r>
          </a:p>
        </p:txBody>
      </p:sp>
      <p:cxnSp>
        <p:nvCxnSpPr>
          <p:cNvPr id="10" name="Connector 9"/>
          <p:cNvCxnSpPr/>
          <p:nvPr/>
        </p:nvCxnSpPr>
        <p:spPr>
          <a:xfrm>
            <a:off x="1417320" y="2286000"/>
            <a:ext cx="9464040" cy="0"/>
          </a:xfrm>
          <a:prstGeom prst="line">
            <a:avLst/>
          </a:prstGeom>
          <a:ln w="10160">
            <a:solidFill>
              <a:srgbClr val="D8E0E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77240" y="2880360"/>
            <a:ext cx="457200" cy="274320"/>
          </a:xfrm>
          <a:prstGeom prst="rect">
            <a:avLst/>
          </a:prstGeom>
          <a:noFill/>
        </p:spPr>
        <p:txBody>
          <a:bodyPr wrap="square" lIns="36576" tIns="36576" rIns="36576" bIns="36576" anchor="t">
            <a:spAutoFit/>
          </a:bodyPr>
          <a:lstStyle/>
          <a:p>
            <a:pPr algn="l">
              <a:spcAft>
                <a:spcPts val="0"/>
              </a:spcAft>
            </a:pPr>
            <a:r>
              <a:rPr sz="1300" b="1">
                <a:solidFill>
                  <a:srgbClr val="E60012"/>
                </a:solidFill>
              </a:rPr>
              <a:t>02</a:t>
            </a:r>
          </a:p>
        </p:txBody>
      </p:sp>
      <p:sp>
        <p:nvSpPr>
          <p:cNvPr id="12" name="TextBox 11"/>
          <p:cNvSpPr txBox="1">
            <a:spLocks/>
          </p:cNvSpPr>
          <p:nvPr/>
        </p:nvSpPr>
        <p:spPr>
          <a:xfrm>
            <a:off x="1417320" y="2807208"/>
            <a:ext cx="9326880" cy="350865"/>
          </a:xfrm>
          <a:prstGeom prst="rect">
            <a:avLst/>
          </a:prstGeom>
          <a:noFill/>
        </p:spPr>
        <p:txBody>
          <a:bodyPr wrap="square" lIns="36576" tIns="36576" rIns="36576" bIns="36576" anchor="t">
            <a:spAutoFit/>
          </a:bodyPr>
          <a:lstStyle/>
          <a:p>
            <a:pPr algn="l">
              <a:spcAft>
                <a:spcPts val="0"/>
              </a:spcAft>
            </a:pPr>
            <a:r>
              <a:rPr lang="en-GB" sz="1800" b="1">
                <a:solidFill>
                  <a:srgbClr val="1E2B40"/>
                </a:solidFill>
              </a:rPr>
              <a:t>Does the DMZ server return through 10.N.20.4?</a:t>
            </a:r>
          </a:p>
        </p:txBody>
      </p:sp>
      <p:cxnSp>
        <p:nvCxnSpPr>
          <p:cNvPr id="13" name="Connector 12"/>
          <p:cNvCxnSpPr/>
          <p:nvPr/>
        </p:nvCxnSpPr>
        <p:spPr>
          <a:xfrm>
            <a:off x="1417320" y="3520440"/>
            <a:ext cx="9464040" cy="0"/>
          </a:xfrm>
          <a:prstGeom prst="line">
            <a:avLst/>
          </a:prstGeom>
          <a:ln w="10160">
            <a:solidFill>
              <a:srgbClr val="D8E0EA"/>
            </a:solidFill>
          </a:ln>
        </p:spPr>
        <p:style>
          <a:lnRef idx="2">
            <a:schemeClr val="accent1"/>
          </a:lnRef>
          <a:fillRef idx="0">
            <a:schemeClr val="accent1"/>
          </a:fillRef>
          <a:effectRef idx="1">
            <a:schemeClr val="accent1"/>
          </a:effectRef>
          <a:fontRef idx="minor">
            <a:schemeClr val="tx1"/>
          </a:fontRef>
        </p:style>
      </p:cxnSp>
      <p:sp>
        <p:nvSpPr>
          <p:cNvPr id="14" name="TextBox 13"/>
          <p:cNvSpPr txBox="1">
            <a:spLocks/>
          </p:cNvSpPr>
          <p:nvPr/>
        </p:nvSpPr>
        <p:spPr>
          <a:xfrm>
            <a:off x="777240" y="4114800"/>
            <a:ext cx="457200" cy="274320"/>
          </a:xfrm>
          <a:prstGeom prst="rect">
            <a:avLst/>
          </a:prstGeom>
          <a:noFill/>
        </p:spPr>
        <p:txBody>
          <a:bodyPr wrap="square" lIns="36576" tIns="36576" rIns="36576" bIns="36576" anchor="t">
            <a:spAutoFit/>
          </a:bodyPr>
          <a:lstStyle/>
          <a:p>
            <a:pPr algn="l">
              <a:spcAft>
                <a:spcPts val="0"/>
              </a:spcAft>
            </a:pPr>
            <a:r>
              <a:rPr lang="en-HU" sz="1300" b="1">
                <a:solidFill>
                  <a:srgbClr val="E60012"/>
                </a:solidFill>
              </a:rPr>
              <a:t>03</a:t>
            </a:r>
          </a:p>
        </p:txBody>
      </p:sp>
      <p:sp>
        <p:nvSpPr>
          <p:cNvPr id="15" name="TextBox 14"/>
          <p:cNvSpPr txBox="1">
            <a:spLocks/>
          </p:cNvSpPr>
          <p:nvPr/>
        </p:nvSpPr>
        <p:spPr>
          <a:xfrm>
            <a:off x="1417320" y="4041648"/>
            <a:ext cx="9326880" cy="350865"/>
          </a:xfrm>
          <a:prstGeom prst="rect">
            <a:avLst/>
          </a:prstGeom>
          <a:noFill/>
        </p:spPr>
        <p:txBody>
          <a:bodyPr wrap="square" lIns="36576" tIns="36576" rIns="36576" bIns="36576" anchor="t">
            <a:spAutoFit/>
          </a:bodyPr>
          <a:lstStyle/>
          <a:p>
            <a:pPr algn="l">
              <a:spcAft>
                <a:spcPts val="0"/>
              </a:spcAft>
            </a:pPr>
            <a:r>
              <a:rPr lang="en-GB" sz="1800" b="1">
                <a:solidFill>
                  <a:srgbClr val="1E2B40"/>
                </a:solidFill>
              </a:rPr>
              <a:t>Which session counters or captures identify the failing direction?</a:t>
            </a:r>
          </a:p>
        </p:txBody>
      </p:sp>
      <p:cxnSp>
        <p:nvCxnSpPr>
          <p:cNvPr id="16" name="Connector 15"/>
          <p:cNvCxnSpPr/>
          <p:nvPr/>
        </p:nvCxnSpPr>
        <p:spPr>
          <a:xfrm>
            <a:off x="1417320" y="4754880"/>
            <a:ext cx="9464040" cy="0"/>
          </a:xfrm>
          <a:prstGeom prst="line">
            <a:avLst/>
          </a:prstGeom>
          <a:ln w="10160">
            <a:solidFill>
              <a:srgbClr val="D8E0EA"/>
            </a:solidFill>
          </a:ln>
        </p:spPr>
        <p:style>
          <a:lnRef idx="2">
            <a:schemeClr val="accent1"/>
          </a:lnRef>
          <a:fillRef idx="0">
            <a:schemeClr val="accent1"/>
          </a:fillRef>
          <a:effectRef idx="1">
            <a:schemeClr val="accent1"/>
          </a:effectRef>
          <a:fontRef idx="minor">
            <a:schemeClr val="tx1"/>
          </a:fontRef>
        </p:style>
      </p:cxnSp>
      <p:sp>
        <p:nvSpPr>
          <p:cNvPr id="17" name="TextBox 16"/>
          <p:cNvSpPr txBox="1">
            <a:spLocks/>
          </p:cNvSpPr>
          <p:nvPr/>
        </p:nvSpPr>
        <p:spPr>
          <a:xfrm>
            <a:off x="658368" y="5833872"/>
            <a:ext cx="731520" cy="227755"/>
          </a:xfrm>
          <a:prstGeom prst="rect">
            <a:avLst/>
          </a:prstGeom>
          <a:noFill/>
        </p:spPr>
        <p:txBody>
          <a:bodyPr wrap="square" lIns="36576" tIns="36576" rIns="36576" bIns="36576" anchor="t">
            <a:spAutoFit/>
          </a:bodyPr>
          <a:lstStyle/>
          <a:p>
            <a:pPr algn="l">
              <a:spcAft>
                <a:spcPts val="0"/>
              </a:spcAft>
            </a:pPr>
            <a:r>
              <a:rPr lang="en-GB" sz="1000" b="1">
                <a:solidFill>
                  <a:srgbClr val="E60012"/>
                </a:solidFill>
              </a:rPr>
              <a:t>LESSON</a:t>
            </a:r>
          </a:p>
        </p:txBody>
      </p:sp>
      <p:sp>
        <p:nvSpPr>
          <p:cNvPr id="18" name="TextBox 17"/>
          <p:cNvSpPr txBox="1">
            <a:spLocks/>
          </p:cNvSpPr>
          <p:nvPr/>
        </p:nvSpPr>
        <p:spPr>
          <a:xfrm>
            <a:off x="1417320" y="5769864"/>
            <a:ext cx="9875520" cy="273921"/>
          </a:xfrm>
          <a:prstGeom prst="rect">
            <a:avLst/>
          </a:prstGeom>
          <a:noFill/>
        </p:spPr>
        <p:txBody>
          <a:bodyPr wrap="square" lIns="36576" tIns="36576" rIns="36576" bIns="36576" anchor="t">
            <a:spAutoFit/>
          </a:bodyPr>
          <a:lstStyle/>
          <a:p>
            <a:pPr algn="l">
              <a:spcAft>
                <a:spcPts val="0"/>
              </a:spcAft>
            </a:pPr>
            <a:r>
              <a:rPr lang="en-GB" sz="1300" b="1">
                <a:solidFill>
                  <a:srgbClr val="233A59"/>
                </a:solidFill>
              </a:rPr>
              <a:t>Do not reveal the injected fault; require the team to connect each conclusion to the actual lab state.</a:t>
            </a:r>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name="Slide 193">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p:nvPr/>
        </p:nvSpPr>
        <p:spPr>
          <a:xfrm>
            <a:off x="502920" y="411480"/>
            <a:ext cx="548640" cy="189283"/>
          </a:xfrm>
          <a:prstGeom prst="rect">
            <a:avLst/>
          </a:prstGeom>
          <a:noFill/>
        </p:spPr>
        <p:txBody>
          <a:bodyPr wrap="square" lIns="36576" tIns="36576" rIns="36576" bIns="36576" anchor="t">
            <a:spAutoFit/>
          </a:bodyPr>
          <a:lstStyle/>
          <a:p>
            <a:pPr algn="l">
              <a:spcAft>
                <a:spcPts val="0"/>
              </a:spcAft>
            </a:pPr>
            <a:r>
              <a:rPr lang="en-HU" sz="750" b="1">
                <a:solidFill>
                  <a:srgbClr val="687385"/>
                </a:solidFill>
              </a:rPr>
              <a:t>193</a:t>
            </a:r>
            <a:endParaRPr sz="750" b="1">
              <a:solidFill>
                <a:srgbClr val="687385"/>
              </a:solidFill>
            </a:endParaRPr>
          </a:p>
        </p:txBody>
      </p:sp>
      <p:sp>
        <p:nvSpPr>
          <p:cNvPr id="4" name="TextBox 3"/>
          <p:cNvSpPr txBox="1"/>
          <p:nvPr/>
        </p:nvSpPr>
        <p:spPr>
          <a:xfrm>
            <a:off x="502920" y="621792"/>
            <a:ext cx="11109960" cy="473976"/>
          </a:xfrm>
          <a:prstGeom prst="rect">
            <a:avLst/>
          </a:prstGeom>
          <a:noFill/>
        </p:spPr>
        <p:txBody>
          <a:bodyPr wrap="square" lIns="36576" tIns="36576" rIns="36576" bIns="36576" anchor="t">
            <a:spAutoFit/>
          </a:bodyPr>
          <a:lstStyle/>
          <a:p>
            <a:pPr algn="l">
              <a:spcAft>
                <a:spcPts val="0"/>
              </a:spcAft>
            </a:pPr>
            <a:r>
              <a:rPr sz="2600" b="1">
                <a:solidFill>
                  <a:srgbClr val="1E2B40"/>
                </a:solidFill>
              </a:rPr>
              <a:t>Capstone checkpoint: </a:t>
            </a:r>
            <a:r>
              <a:rPr lang="en-GB" sz="2600" b="1">
                <a:solidFill>
                  <a:srgbClr val="1E2B40"/>
                </a:solidFill>
              </a:rPr>
              <a:t>inspection trust</a:t>
            </a:r>
            <a:r>
              <a:rPr sz="2600" b="1">
                <a:solidFill>
                  <a:srgbClr val="1E2B40"/>
                </a:solidFill>
              </a:rPr>
              <a:t> and resources</a:t>
            </a:r>
          </a:p>
        </p:txBody>
      </p:sp>
      <p:sp>
        <p:nvSpPr>
          <p:cNvPr id="5" name="TextBox 4"/>
          <p:cNvSpPr txBox="1"/>
          <p:nvPr/>
        </p:nvSpPr>
        <p:spPr>
          <a:xfrm>
            <a:off x="521207" y="1143000"/>
            <a:ext cx="10789920" cy="243143"/>
          </a:xfrm>
          <a:prstGeom prst="rect">
            <a:avLst/>
          </a:prstGeom>
          <a:noFill/>
        </p:spPr>
        <p:txBody>
          <a:bodyPr wrap="square" lIns="36576" tIns="36576" rIns="36576" bIns="36576" anchor="t">
            <a:spAutoFit/>
          </a:bodyPr>
          <a:lstStyle/>
          <a:p>
            <a:pPr algn="l">
              <a:spcAft>
                <a:spcPts val="0"/>
              </a:spcAft>
            </a:pPr>
            <a:r>
              <a:rPr lang="en-GB" sz="1100" b="0">
                <a:solidFill>
                  <a:srgbClr val="687385"/>
                </a:solidFill>
              </a:rPr>
              <a:t>Mandatory base-lab checks; SD-WAN, HA and EMS are optional variants</a:t>
            </a:r>
            <a:endParaRPr sz="1100" b="0">
              <a:solidFill>
                <a:srgbClr val="687385"/>
              </a:solidFill>
            </a:endParaRPr>
          </a:p>
        </p:txBody>
      </p:sp>
      <p:cxnSp>
        <p:nvCxnSpPr>
          <p:cNvPr id="6" name="Connector 5"/>
          <p:cNvCxnSpPr/>
          <p:nvPr/>
        </p:nvCxnSpPr>
        <p:spPr>
          <a:xfrm>
            <a:off x="502920" y="6473952"/>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7" name="TextBox 6"/>
          <p:cNvSpPr txBox="1">
            <a:spLocks/>
          </p:cNvSpPr>
          <p:nvPr/>
        </p:nvSpPr>
        <p:spPr>
          <a:xfrm>
            <a:off x="11109960" y="6537960"/>
            <a:ext cx="502920" cy="189283"/>
          </a:xfrm>
          <a:prstGeom prst="rect">
            <a:avLst/>
          </a:prstGeom>
          <a:noFill/>
        </p:spPr>
        <p:txBody>
          <a:bodyPr wrap="square" lIns="36576" tIns="36576" rIns="36576" bIns="36576" anchor="t">
            <a:spAutoFit/>
          </a:bodyPr>
          <a:lstStyle/>
          <a:p>
            <a:pPr algn="r">
              <a:spcAft>
                <a:spcPts val="0"/>
              </a:spcAft>
            </a:pPr>
            <a:r>
              <a:rPr lang="en-HU" sz="750" b="0">
                <a:solidFill>
                  <a:srgbClr val="687385"/>
                </a:solidFill>
              </a:rPr>
              <a:t>193</a:t>
            </a:r>
          </a:p>
        </p:txBody>
      </p:sp>
      <p:sp>
        <p:nvSpPr>
          <p:cNvPr id="8" name="TextBox 7"/>
          <p:cNvSpPr txBox="1">
            <a:spLocks/>
          </p:cNvSpPr>
          <p:nvPr/>
        </p:nvSpPr>
        <p:spPr>
          <a:xfrm>
            <a:off x="777240" y="1645920"/>
            <a:ext cx="457200" cy="274320"/>
          </a:xfrm>
          <a:prstGeom prst="rect">
            <a:avLst/>
          </a:prstGeom>
          <a:noFill/>
        </p:spPr>
        <p:txBody>
          <a:bodyPr wrap="square" lIns="36576" tIns="36576" rIns="36576" bIns="36576" anchor="t">
            <a:spAutoFit/>
          </a:bodyPr>
          <a:lstStyle/>
          <a:p>
            <a:pPr algn="l">
              <a:spcAft>
                <a:spcPts val="0"/>
              </a:spcAft>
            </a:pPr>
            <a:r>
              <a:rPr lang="en-HU" sz="1300" b="1">
                <a:solidFill>
                  <a:srgbClr val="E60012"/>
                </a:solidFill>
              </a:rPr>
              <a:t>01</a:t>
            </a:r>
          </a:p>
        </p:txBody>
      </p:sp>
      <p:sp>
        <p:nvSpPr>
          <p:cNvPr id="9" name="TextBox 8"/>
          <p:cNvSpPr txBox="1">
            <a:spLocks/>
          </p:cNvSpPr>
          <p:nvPr/>
        </p:nvSpPr>
        <p:spPr>
          <a:xfrm>
            <a:off x="1417320" y="1572768"/>
            <a:ext cx="9326880" cy="350865"/>
          </a:xfrm>
          <a:prstGeom prst="rect">
            <a:avLst/>
          </a:prstGeom>
          <a:noFill/>
        </p:spPr>
        <p:txBody>
          <a:bodyPr wrap="square" lIns="36576" tIns="36576" rIns="36576" bIns="36576" anchor="t">
            <a:spAutoFit/>
          </a:bodyPr>
          <a:lstStyle/>
          <a:p>
            <a:pPr algn="l">
              <a:spcAft>
                <a:spcPts val="0"/>
              </a:spcAft>
            </a:pPr>
            <a:r>
              <a:rPr lang="en-GB" sz="1800" b="1">
                <a:solidFill>
                  <a:srgbClr val="1E2B40"/>
                </a:solidFill>
              </a:rPr>
              <a:t>Which SSL profile and certificate chain should the HTTPS flow use?</a:t>
            </a:r>
          </a:p>
        </p:txBody>
      </p:sp>
      <p:cxnSp>
        <p:nvCxnSpPr>
          <p:cNvPr id="10" name="Connector 9"/>
          <p:cNvCxnSpPr/>
          <p:nvPr/>
        </p:nvCxnSpPr>
        <p:spPr>
          <a:xfrm>
            <a:off x="1417320" y="2286000"/>
            <a:ext cx="9464040" cy="0"/>
          </a:xfrm>
          <a:prstGeom prst="line">
            <a:avLst/>
          </a:prstGeom>
          <a:ln w="10160">
            <a:solidFill>
              <a:srgbClr val="D8E0E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77240" y="2880360"/>
            <a:ext cx="457200" cy="274320"/>
          </a:xfrm>
          <a:prstGeom prst="rect">
            <a:avLst/>
          </a:prstGeom>
          <a:noFill/>
        </p:spPr>
        <p:txBody>
          <a:bodyPr wrap="square" lIns="36576" tIns="36576" rIns="36576" bIns="36576" anchor="t">
            <a:spAutoFit/>
          </a:bodyPr>
          <a:lstStyle/>
          <a:p>
            <a:pPr algn="l">
              <a:spcAft>
                <a:spcPts val="0"/>
              </a:spcAft>
            </a:pPr>
            <a:r>
              <a:rPr sz="1300" b="1">
                <a:solidFill>
                  <a:srgbClr val="E60012"/>
                </a:solidFill>
              </a:rPr>
              <a:t>02</a:t>
            </a:r>
          </a:p>
        </p:txBody>
      </p:sp>
      <p:sp>
        <p:nvSpPr>
          <p:cNvPr id="12" name="TextBox 11"/>
          <p:cNvSpPr txBox="1">
            <a:spLocks/>
          </p:cNvSpPr>
          <p:nvPr/>
        </p:nvSpPr>
        <p:spPr>
          <a:xfrm>
            <a:off x="1417320" y="2807208"/>
            <a:ext cx="9326880" cy="350865"/>
          </a:xfrm>
          <a:prstGeom prst="rect">
            <a:avLst/>
          </a:prstGeom>
          <a:noFill/>
        </p:spPr>
        <p:txBody>
          <a:bodyPr wrap="square" lIns="36576" tIns="36576" rIns="36576" bIns="36576" anchor="t">
            <a:spAutoFit/>
          </a:bodyPr>
          <a:lstStyle/>
          <a:p>
            <a:pPr algn="l">
              <a:spcAft>
                <a:spcPts val="0"/>
              </a:spcAft>
            </a:pPr>
            <a:r>
              <a:rPr lang="en-GB" sz="1800" b="1">
                <a:solidFill>
                  <a:srgbClr val="1E2B40"/>
                </a:solidFill>
              </a:rPr>
              <a:t>Does the Linux client trust the inspection CA when deep inspection is enabled?</a:t>
            </a:r>
          </a:p>
        </p:txBody>
      </p:sp>
      <p:cxnSp>
        <p:nvCxnSpPr>
          <p:cNvPr id="13" name="Connector 12"/>
          <p:cNvCxnSpPr/>
          <p:nvPr/>
        </p:nvCxnSpPr>
        <p:spPr>
          <a:xfrm>
            <a:off x="1417320" y="3520440"/>
            <a:ext cx="9464040" cy="0"/>
          </a:xfrm>
          <a:prstGeom prst="line">
            <a:avLst/>
          </a:prstGeom>
          <a:ln w="10160">
            <a:solidFill>
              <a:srgbClr val="D8E0E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77240" y="4114800"/>
            <a:ext cx="457200" cy="274320"/>
          </a:xfrm>
          <a:prstGeom prst="rect">
            <a:avLst/>
          </a:prstGeom>
          <a:noFill/>
        </p:spPr>
        <p:txBody>
          <a:bodyPr wrap="square" lIns="36576" tIns="36576" rIns="36576" bIns="36576" anchor="t">
            <a:spAutoFit/>
          </a:bodyPr>
          <a:lstStyle/>
          <a:p>
            <a:pPr algn="l">
              <a:spcAft>
                <a:spcPts val="0"/>
              </a:spcAft>
            </a:pPr>
            <a:r>
              <a:rPr lang="en-HU" sz="1300" b="1">
                <a:solidFill>
                  <a:srgbClr val="E60012"/>
                </a:solidFill>
              </a:rPr>
              <a:t>03</a:t>
            </a:r>
          </a:p>
        </p:txBody>
      </p:sp>
      <p:sp>
        <p:nvSpPr>
          <p:cNvPr id="15" name="TextBox 14"/>
          <p:cNvSpPr txBox="1"/>
          <p:nvPr/>
        </p:nvSpPr>
        <p:spPr>
          <a:xfrm>
            <a:off x="1417320" y="4041648"/>
            <a:ext cx="9326880" cy="350865"/>
          </a:xfrm>
          <a:prstGeom prst="rect">
            <a:avLst/>
          </a:prstGeom>
          <a:noFill/>
        </p:spPr>
        <p:txBody>
          <a:bodyPr wrap="square" lIns="36576" tIns="36576" rIns="36576" bIns="36576" anchor="t">
            <a:spAutoFit/>
          </a:bodyPr>
          <a:lstStyle/>
          <a:p>
            <a:pPr algn="l">
              <a:spcAft>
                <a:spcPts val="0"/>
              </a:spcAft>
            </a:pPr>
            <a:r>
              <a:rPr lang="en-GB" sz="1800" b="1">
                <a:solidFill>
                  <a:srgbClr val="1E2B40"/>
                </a:solidFill>
              </a:rPr>
              <a:t>Are session counters, logs, CPU and memory consistent with the restored service?</a:t>
            </a:r>
          </a:p>
        </p:txBody>
      </p:sp>
      <p:cxnSp>
        <p:nvCxnSpPr>
          <p:cNvPr id="16" name="Connector 15"/>
          <p:cNvCxnSpPr/>
          <p:nvPr/>
        </p:nvCxnSpPr>
        <p:spPr>
          <a:xfrm>
            <a:off x="1417320" y="4754880"/>
            <a:ext cx="9464040" cy="0"/>
          </a:xfrm>
          <a:prstGeom prst="line">
            <a:avLst/>
          </a:prstGeom>
          <a:ln w="10160">
            <a:solidFill>
              <a:srgbClr val="D8E0EA"/>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58368" y="5833872"/>
            <a:ext cx="731520" cy="227755"/>
          </a:xfrm>
          <a:prstGeom prst="rect">
            <a:avLst/>
          </a:prstGeom>
          <a:noFill/>
        </p:spPr>
        <p:txBody>
          <a:bodyPr wrap="square" lIns="36576" tIns="36576" rIns="36576" bIns="36576" anchor="t">
            <a:spAutoFit/>
          </a:bodyPr>
          <a:lstStyle/>
          <a:p>
            <a:pPr algn="l">
              <a:spcAft>
                <a:spcPts val="0"/>
              </a:spcAft>
            </a:pPr>
            <a:r>
              <a:rPr lang="en-GB" sz="1000" b="1">
                <a:solidFill>
                  <a:srgbClr val="E60012"/>
                </a:solidFill>
              </a:rPr>
              <a:t>LESSON</a:t>
            </a:r>
          </a:p>
        </p:txBody>
      </p:sp>
      <p:sp>
        <p:nvSpPr>
          <p:cNvPr id="18" name="TextBox 17"/>
          <p:cNvSpPr txBox="1"/>
          <p:nvPr/>
        </p:nvSpPr>
        <p:spPr>
          <a:xfrm>
            <a:off x="1417320" y="5769864"/>
            <a:ext cx="9875520" cy="273921"/>
          </a:xfrm>
          <a:prstGeom prst="rect">
            <a:avLst/>
          </a:prstGeom>
          <a:noFill/>
        </p:spPr>
        <p:txBody>
          <a:bodyPr wrap="square" lIns="36576" tIns="36576" rIns="36576" bIns="36576" anchor="t">
            <a:spAutoFit/>
          </a:bodyPr>
          <a:lstStyle/>
          <a:p>
            <a:pPr algn="l">
              <a:spcAft>
                <a:spcPts val="0"/>
              </a:spcAft>
            </a:pPr>
            <a:r>
              <a:rPr lang="en-GB" sz="1300" b="1">
                <a:solidFill>
                  <a:srgbClr val="233A59"/>
                </a:solidFill>
              </a:rPr>
              <a:t>Keep optional infrastructure out of the mandatory fault path; verify CA trust before changing policy or routing.</a:t>
            </a:r>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name="Slide 194">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194</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Operational escalation package makes support efficient</a:t>
            </a:r>
          </a:p>
        </p:txBody>
      </p:sp>
      <p:sp>
        <p:nvSpPr>
          <p:cNvPr id="10" name="TextBox 9"/>
          <p:cNvSpPr txBox="1">
            <a:spLocks/>
          </p:cNvSpPr>
          <p:nvPr/>
        </p:nvSpPr>
        <p:spPr>
          <a:xfrm>
            <a:off x="658368" y="1554480"/>
            <a:ext cx="6583680" cy="4389120"/>
          </a:xfrm>
          <a:prstGeom prst="rect">
            <a:avLst/>
          </a:prstGeom>
          <a:noFill/>
        </p:spPr>
        <p:txBody>
          <a:bodyPr wrap="square" lIns="109728" tIns="73152" rIns="109728" bIns="73152" anchor="t">
            <a:spAutoFit/>
          </a:bodyPr>
          <a:lstStyle/>
          <a:p>
            <a:pPr algn="l">
              <a:lnSpc>
                <a:spcPct val="105000"/>
              </a:lnSpc>
              <a:spcAft>
                <a:spcPts val="800"/>
              </a:spcAft>
              <a:defRPr sz="1700">
                <a:solidFill>
                  <a:srgbClr val="1E2B40"/>
                </a:solidFill>
              </a:defRPr>
            </a:pPr>
            <a:r>
              <a:rPr lang="en-GB"/>
              <a:t>• State model, exact FortiOS build and topology</a:t>
            </a:r>
          </a:p>
          <a:p>
            <a:pPr>
              <a:lnSpc>
                <a:spcPct val="105000"/>
              </a:lnSpc>
              <a:spcAft>
                <a:spcPts val="800"/>
              </a:spcAft>
              <a:defRPr sz="1700">
                <a:solidFill>
                  <a:srgbClr val="1E2B40"/>
                </a:solidFill>
              </a:defRPr>
            </a:pPr>
            <a:r>
              <a:rPr lang="en-GB"/>
              <a:t>• Give timestamps, timezone, symptom and reproduction</a:t>
            </a:r>
          </a:p>
          <a:p>
            <a:pPr>
              <a:lnSpc>
                <a:spcPct val="105000"/>
              </a:lnSpc>
              <a:spcAft>
                <a:spcPts val="800"/>
              </a:spcAft>
              <a:defRPr sz="1700">
                <a:solidFill>
                  <a:srgbClr val="1E2B40"/>
                </a:solidFill>
              </a:defRPr>
            </a:pPr>
            <a:r>
              <a:rPr lang="en-GB"/>
              <a:t>• Include filtered diagnostics and before/after change record</a:t>
            </a:r>
          </a:p>
          <a:p>
            <a:pPr>
              <a:lnSpc>
                <a:spcPct val="105000"/>
              </a:lnSpc>
              <a:spcAft>
                <a:spcPts val="800"/>
              </a:spcAft>
              <a:defRPr sz="1700">
                <a:solidFill>
                  <a:srgbClr val="1E2B40"/>
                </a:solidFill>
              </a:defRPr>
            </a:pPr>
            <a:r>
              <a:rPr lang="en-GB"/>
              <a:t>• Remove credentials/private data and identify business impact</a:t>
            </a:r>
          </a:p>
        </p:txBody>
      </p:sp>
      <p:cxnSp>
        <p:nvCxnSpPr>
          <p:cNvPr id="11" name="Connector 10"/>
          <p:cNvCxnSpPr/>
          <p:nvPr/>
        </p:nvCxnSpPr>
        <p:spPr>
          <a:xfrm>
            <a:off x="7452360" y="1600200"/>
            <a:ext cx="0" cy="434340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7790688" y="1627632"/>
            <a:ext cx="342900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ILLUSTRATIVE SCENARIO</a:t>
            </a:r>
          </a:p>
        </p:txBody>
      </p:sp>
      <p:sp>
        <p:nvSpPr>
          <p:cNvPr id="13" name="TextBox 12"/>
          <p:cNvSpPr txBox="1">
            <a:spLocks/>
          </p:cNvSpPr>
          <p:nvPr/>
        </p:nvSpPr>
        <p:spPr>
          <a:xfrm>
            <a:off x="7790688" y="2057400"/>
            <a:ext cx="3337560" cy="840230"/>
          </a:xfrm>
          <a:prstGeom prst="rect">
            <a:avLst/>
          </a:prstGeom>
          <a:noFill/>
        </p:spPr>
        <p:txBody>
          <a:bodyPr wrap="square" lIns="27432" tIns="27432" rIns="27432" bIns="27432" anchor="t">
            <a:spAutoFit/>
          </a:bodyPr>
          <a:lstStyle/>
          <a:p>
            <a:pPr algn="l">
              <a:spcAft>
                <a:spcPts val="0"/>
              </a:spcAft>
            </a:pPr>
            <a:r>
              <a:rPr lang="en-GB" sz="1700" b="1">
                <a:solidFill>
                  <a:srgbClr val="233A59"/>
                </a:solidFill>
              </a:rPr>
              <a:t>A timestamped, reproducible diagnostic bundle is more useful than a long unfiltered debug</a:t>
            </a:r>
          </a:p>
        </p:txBody>
      </p:sp>
      <p:sp>
        <p:nvSpPr>
          <p:cNvPr id="14" name="TextBox 13"/>
          <p:cNvSpPr txBox="1">
            <a:spLocks/>
          </p:cNvSpPr>
          <p:nvPr/>
        </p:nvSpPr>
        <p:spPr>
          <a:xfrm>
            <a:off x="7790688" y="3822191"/>
            <a:ext cx="18288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EXPECTED RESULT</a:t>
            </a:r>
          </a:p>
        </p:txBody>
      </p:sp>
      <p:sp>
        <p:nvSpPr>
          <p:cNvPr id="15" name="TextBox 14"/>
          <p:cNvSpPr txBox="1">
            <a:spLocks/>
          </p:cNvSpPr>
          <p:nvPr/>
        </p:nvSpPr>
        <p:spPr>
          <a:xfrm>
            <a:off x="7790688" y="4187952"/>
            <a:ext cx="3337560" cy="1325880"/>
          </a:xfrm>
          <a:prstGeom prst="rect">
            <a:avLst/>
          </a:prstGeom>
          <a:noFill/>
        </p:spPr>
        <p:txBody>
          <a:bodyPr wrap="square" lIns="27432" tIns="27432" rIns="27432" bIns="27432" anchor="t">
            <a:spAutoFit/>
          </a:bodyPr>
          <a:lstStyle/>
          <a:p>
            <a:pPr algn="l">
              <a:spcAft>
                <a:spcPts val="0"/>
              </a:spcAft>
            </a:pPr>
            <a:r>
              <a:rPr lang="en-GB" sz="1500" b="0">
                <a:solidFill>
                  <a:srgbClr val="1E2B40"/>
                </a:solidFill>
              </a:rPr>
              <a:t>Follow organizational and Fortinet support data-collection guidance.</a:t>
            </a:r>
          </a:p>
        </p:txBody>
      </p:sp>
      <p:sp>
        <p:nvSpPr>
          <p:cNvPr id="16" name="TextBox 15"/>
          <p:cNvSpPr txBox="1">
            <a:spLocks/>
          </p:cNvSpPr>
          <p:nvPr/>
        </p:nvSpPr>
        <p:spPr>
          <a:xfrm>
            <a:off x="7790688" y="5596128"/>
            <a:ext cx="1920240" cy="201168"/>
          </a:xfrm>
          <a:prstGeom prst="rect">
            <a:avLst/>
          </a:prstGeom>
          <a:noFill/>
        </p:spPr>
        <p:txBody>
          <a:bodyPr wrap="square" lIns="27432" tIns="27432" rIns="27432" bIns="27432" anchor="t">
            <a:spAutoFit/>
          </a:bodyPr>
          <a:lstStyle/>
          <a:p>
            <a:pPr algn="l">
              <a:spcAft>
                <a:spcPts val="0"/>
              </a:spcAft>
            </a:pPr>
            <a:r>
              <a:rPr lang="en-GB" sz="1000" b="1">
                <a:solidFill>
                  <a:srgbClr val="687385"/>
                </a:solidFill>
              </a:rPr>
              <a:t>Expected observation</a:t>
            </a:r>
          </a:p>
        </p:txBody>
      </p:sp>
      <p:sp>
        <p:nvSpPr>
          <p:cNvPr id="17" name="TextBox 16"/>
          <p:cNvSpPr txBox="1">
            <a:spLocks/>
          </p:cNvSpPr>
          <p:nvPr/>
        </p:nvSpPr>
        <p:spPr>
          <a:xfrm>
            <a:off x="9509760" y="5577840"/>
            <a:ext cx="1691640" cy="824841"/>
          </a:xfrm>
          <a:prstGeom prst="rect">
            <a:avLst/>
          </a:prstGeom>
          <a:noFill/>
        </p:spPr>
        <p:txBody>
          <a:bodyPr wrap="square" lIns="27432" tIns="27432" rIns="27432" bIns="27432" anchor="t">
            <a:spAutoFit/>
          </a:bodyPr>
          <a:lstStyle/>
          <a:p>
            <a:pPr algn="r">
              <a:spcAft>
                <a:spcPts val="0"/>
              </a:spcAft>
            </a:pPr>
            <a:r>
              <a:rPr lang="en-GB" sz="1000" b="0">
                <a:solidFill>
                  <a:srgbClr val="687385"/>
                </a:solidFill>
              </a:rPr>
              <a:t>The team identifies the failed decision, applies one reversible fix, and the application succeeds with stable resources.</a:t>
            </a:r>
          </a:p>
        </p:txBody>
      </p:sp>
      <p:sp>
        <p:nvSpPr>
          <p:cNvPr id="18" name="TextBox 17"/>
          <p:cNvSpPr txBox="1">
            <a:spLocks/>
          </p:cNvSpPr>
          <p:nvPr/>
        </p:nvSpPr>
        <p:spPr>
          <a:xfrm>
            <a:off x="502920" y="420624"/>
            <a:ext cx="10744200" cy="130805"/>
          </a:xfrm>
          <a:prstGeom prst="rect">
            <a:avLst/>
          </a:prstGeom>
          <a:noFill/>
        </p:spPr>
        <p:txBody>
          <a:bodyPr wrap="square" lIns="0" tIns="0" rIns="0" bIns="0">
            <a:spAutoFit/>
          </a:bodyPr>
          <a:lstStyle/>
          <a:p>
            <a:pPr algn="l"/>
            <a:r>
              <a:rPr lang="en-GB" sz="850" b="1">
                <a:solidFill>
                  <a:srgbClr val="687385"/>
                </a:solidFill>
              </a:rPr>
              <a:t>194 • DAY 4 • BLOCK 16 • Performance, Troubleshooting &amp; Capstone</a:t>
            </a:r>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name="Slide 195">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p:nvPr/>
        </p:nvSpPr>
        <p:spPr>
          <a:xfrm>
            <a:off x="502920" y="411480"/>
            <a:ext cx="548640" cy="189283"/>
          </a:xfrm>
          <a:prstGeom prst="rect">
            <a:avLst/>
          </a:prstGeom>
          <a:noFill/>
        </p:spPr>
        <p:txBody>
          <a:bodyPr wrap="square" lIns="36576" tIns="36576" rIns="36576" bIns="36576" anchor="t">
            <a:spAutoFit/>
          </a:bodyPr>
          <a:lstStyle/>
          <a:p>
            <a:pPr algn="l">
              <a:spcAft>
                <a:spcPts val="0"/>
              </a:spcAft>
            </a:pPr>
            <a:r>
              <a:rPr lang="en-HU" sz="750" b="1">
                <a:solidFill>
                  <a:srgbClr val="687385"/>
                </a:solidFill>
              </a:rPr>
              <a:t>195</a:t>
            </a:r>
            <a:endParaRPr sz="750" b="1">
              <a:solidFill>
                <a:srgbClr val="687385"/>
              </a:solidFill>
            </a:endParaRPr>
          </a:p>
        </p:txBody>
      </p:sp>
      <p:sp>
        <p:nvSpPr>
          <p:cNvPr id="4" name="TextBox 3"/>
          <p:cNvSpPr txBox="1"/>
          <p:nvPr/>
        </p:nvSpPr>
        <p:spPr>
          <a:xfrm>
            <a:off x="502920" y="621792"/>
            <a:ext cx="11109960" cy="473976"/>
          </a:xfrm>
          <a:prstGeom prst="rect">
            <a:avLst/>
          </a:prstGeom>
          <a:noFill/>
        </p:spPr>
        <p:txBody>
          <a:bodyPr wrap="square" lIns="36576" tIns="36576" rIns="36576" bIns="36576" anchor="t">
            <a:spAutoFit/>
          </a:bodyPr>
          <a:lstStyle/>
          <a:p>
            <a:pPr algn="l">
              <a:spcAft>
                <a:spcPts val="0"/>
              </a:spcAft>
            </a:pPr>
            <a:r>
              <a:rPr lang="en-GB" sz="2600" b="1">
                <a:solidFill>
                  <a:srgbClr val="1E2B40"/>
                </a:solidFill>
              </a:rPr>
              <a:t>Enterprise Branch Incident</a:t>
            </a:r>
            <a:endParaRPr sz="2600" b="1">
              <a:solidFill>
                <a:srgbClr val="1E2B40"/>
              </a:solidFill>
            </a:endParaRPr>
          </a:p>
        </p:txBody>
      </p:sp>
      <p:cxnSp>
        <p:nvCxnSpPr>
          <p:cNvPr id="5" name="Connector 4"/>
          <p:cNvCxnSpPr/>
          <p:nvPr/>
        </p:nvCxnSpPr>
        <p:spPr>
          <a:xfrm>
            <a:off x="502920" y="6473952"/>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109960" y="6537960"/>
            <a:ext cx="502920" cy="189283"/>
          </a:xfrm>
          <a:prstGeom prst="rect">
            <a:avLst/>
          </a:prstGeom>
          <a:noFill/>
        </p:spPr>
        <p:txBody>
          <a:bodyPr wrap="square" lIns="36576" tIns="36576" rIns="36576" bIns="36576" anchor="t">
            <a:spAutoFit/>
          </a:bodyPr>
          <a:lstStyle/>
          <a:p>
            <a:pPr algn="r">
              <a:spcAft>
                <a:spcPts val="0"/>
              </a:spcAft>
            </a:pPr>
            <a:r>
              <a:rPr lang="en-HU" sz="750" b="0">
                <a:solidFill>
                  <a:srgbClr val="687385"/>
                </a:solidFill>
              </a:rPr>
              <a:t>195</a:t>
            </a:r>
            <a:endParaRPr sz="750" b="0">
              <a:solidFill>
                <a:srgbClr val="687385"/>
              </a:solidFill>
            </a:endParaRPr>
          </a:p>
        </p:txBody>
      </p:sp>
      <p:sp>
        <p:nvSpPr>
          <p:cNvPr id="7" name="Rectangle 6"/>
          <p:cNvSpPr>
            <a:spLocks/>
          </p:cNvSpPr>
          <p:nvPr/>
        </p:nvSpPr>
        <p:spPr>
          <a:xfrm>
            <a:off x="685800" y="1828800"/>
            <a:ext cx="2008022"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8" name="TextBox 7"/>
          <p:cNvSpPr txBox="1">
            <a:spLocks/>
          </p:cNvSpPr>
          <p:nvPr/>
        </p:nvSpPr>
        <p:spPr>
          <a:xfrm>
            <a:off x="777240" y="1938528"/>
            <a:ext cx="365760" cy="227755"/>
          </a:xfrm>
          <a:prstGeom prst="rect">
            <a:avLst/>
          </a:prstGeom>
          <a:noFill/>
        </p:spPr>
        <p:txBody>
          <a:bodyPr wrap="square" lIns="36576" tIns="36576" rIns="36576" bIns="36576" anchor="t">
            <a:spAutoFit/>
          </a:bodyPr>
          <a:lstStyle/>
          <a:p>
            <a:pPr algn="l">
              <a:spcAft>
                <a:spcPts val="0"/>
              </a:spcAft>
            </a:pPr>
            <a:r>
              <a:rPr lang="en-HU" sz="1000" b="1">
                <a:solidFill>
                  <a:srgbClr val="E60012"/>
                </a:solidFill>
              </a:rPr>
              <a:t>01</a:t>
            </a:r>
          </a:p>
        </p:txBody>
      </p:sp>
      <p:sp>
        <p:nvSpPr>
          <p:cNvPr id="9" name="TextBox 8"/>
          <p:cNvSpPr txBox="1">
            <a:spLocks/>
          </p:cNvSpPr>
          <p:nvPr/>
        </p:nvSpPr>
        <p:spPr>
          <a:xfrm>
            <a:off x="795528" y="2243935"/>
            <a:ext cx="1788566" cy="504754"/>
          </a:xfrm>
          <a:prstGeom prst="rect">
            <a:avLst/>
          </a:prstGeom>
          <a:noFill/>
        </p:spPr>
        <p:txBody>
          <a:bodyPr wrap="square" lIns="36576" tIns="36576" rIns="36576" bIns="36576" anchor="ctr">
            <a:spAutoFit/>
          </a:bodyPr>
          <a:lstStyle/>
          <a:p>
            <a:pPr algn="ctr">
              <a:spcAft>
                <a:spcPts val="0"/>
              </a:spcAft>
            </a:pPr>
            <a:r>
              <a:rPr lang="en-GB" sz="1400" b="1">
                <a:solidFill>
                  <a:srgbClr val="FFFFFF"/>
                </a:solidFill>
              </a:rPr>
              <a:t>Define tuple and symptom</a:t>
            </a:r>
          </a:p>
        </p:txBody>
      </p:sp>
      <p:sp>
        <p:nvSpPr>
          <p:cNvPr id="10" name="Right Arrow 9"/>
          <p:cNvSpPr/>
          <p:nvPr/>
        </p:nvSpPr>
        <p:spPr>
          <a:xfrm>
            <a:off x="2693822" y="2340864"/>
            <a:ext cx="164592" cy="146304"/>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1" name="Rectangle 10"/>
          <p:cNvSpPr>
            <a:spLocks/>
          </p:cNvSpPr>
          <p:nvPr/>
        </p:nvSpPr>
        <p:spPr>
          <a:xfrm>
            <a:off x="2858414" y="1828800"/>
            <a:ext cx="2008022"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2" name="TextBox 11"/>
          <p:cNvSpPr txBox="1"/>
          <p:nvPr/>
        </p:nvSpPr>
        <p:spPr>
          <a:xfrm>
            <a:off x="2949854" y="1938528"/>
            <a:ext cx="365760" cy="201168"/>
          </a:xfrm>
          <a:prstGeom prst="rect">
            <a:avLst/>
          </a:prstGeom>
          <a:noFill/>
        </p:spPr>
        <p:txBody>
          <a:bodyPr wrap="square" lIns="36576" tIns="36576" rIns="36576" bIns="36576" anchor="t">
            <a:spAutoFit/>
          </a:bodyPr>
          <a:lstStyle/>
          <a:p>
            <a:pPr algn="l">
              <a:spcAft>
                <a:spcPts val="0"/>
              </a:spcAft>
            </a:pPr>
            <a:r>
              <a:rPr sz="1000" b="1">
                <a:solidFill>
                  <a:srgbClr val="E60012"/>
                </a:solidFill>
              </a:rPr>
              <a:t>02</a:t>
            </a:r>
          </a:p>
        </p:txBody>
      </p:sp>
      <p:sp>
        <p:nvSpPr>
          <p:cNvPr id="13" name="TextBox 12"/>
          <p:cNvSpPr txBox="1">
            <a:spLocks/>
          </p:cNvSpPr>
          <p:nvPr/>
        </p:nvSpPr>
        <p:spPr>
          <a:xfrm>
            <a:off x="2968142" y="2243935"/>
            <a:ext cx="1788566" cy="504754"/>
          </a:xfrm>
          <a:prstGeom prst="rect">
            <a:avLst/>
          </a:prstGeom>
          <a:noFill/>
        </p:spPr>
        <p:txBody>
          <a:bodyPr wrap="square" lIns="36576" tIns="36576" rIns="36576" bIns="36576" anchor="ctr">
            <a:spAutoFit/>
          </a:bodyPr>
          <a:lstStyle/>
          <a:p>
            <a:pPr algn="ctr">
              <a:spcAft>
                <a:spcPts val="0"/>
              </a:spcAft>
            </a:pPr>
            <a:r>
              <a:rPr lang="en-GB" sz="1400" b="1">
                <a:solidFill>
                  <a:srgbClr val="FFFFFF"/>
                </a:solidFill>
              </a:rPr>
              <a:t>Check route / local path</a:t>
            </a:r>
          </a:p>
        </p:txBody>
      </p:sp>
      <p:sp>
        <p:nvSpPr>
          <p:cNvPr id="14" name="Right Arrow 13"/>
          <p:cNvSpPr>
            <a:spLocks/>
          </p:cNvSpPr>
          <p:nvPr/>
        </p:nvSpPr>
        <p:spPr>
          <a:xfrm>
            <a:off x="4866436" y="2340864"/>
            <a:ext cx="164592" cy="146304"/>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5" name="Rectangle 14"/>
          <p:cNvSpPr/>
          <p:nvPr/>
        </p:nvSpPr>
        <p:spPr>
          <a:xfrm>
            <a:off x="5031028" y="1828800"/>
            <a:ext cx="2008022"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a:spLocks/>
          </p:cNvSpPr>
          <p:nvPr/>
        </p:nvSpPr>
        <p:spPr>
          <a:xfrm>
            <a:off x="5122468" y="1938528"/>
            <a:ext cx="365760" cy="201168"/>
          </a:xfrm>
          <a:prstGeom prst="rect">
            <a:avLst/>
          </a:prstGeom>
          <a:noFill/>
        </p:spPr>
        <p:txBody>
          <a:bodyPr wrap="square" lIns="36576" tIns="36576" rIns="36576" bIns="36576" anchor="t">
            <a:spAutoFit/>
          </a:bodyPr>
          <a:lstStyle/>
          <a:p>
            <a:pPr algn="l">
              <a:spcAft>
                <a:spcPts val="0"/>
              </a:spcAft>
            </a:pPr>
            <a:r>
              <a:rPr lang="en-HU" sz="1000" b="1">
                <a:solidFill>
                  <a:srgbClr val="E60012"/>
                </a:solidFill>
              </a:rPr>
              <a:t>03</a:t>
            </a:r>
          </a:p>
        </p:txBody>
      </p:sp>
      <p:sp>
        <p:nvSpPr>
          <p:cNvPr id="17" name="TextBox 16"/>
          <p:cNvSpPr txBox="1">
            <a:spLocks/>
          </p:cNvSpPr>
          <p:nvPr/>
        </p:nvSpPr>
        <p:spPr>
          <a:xfrm>
            <a:off x="5140756" y="2243935"/>
            <a:ext cx="1788566" cy="504754"/>
          </a:xfrm>
          <a:prstGeom prst="rect">
            <a:avLst/>
          </a:prstGeom>
          <a:noFill/>
        </p:spPr>
        <p:txBody>
          <a:bodyPr wrap="square" lIns="36576" tIns="36576" rIns="36576" bIns="36576" anchor="ctr">
            <a:spAutoFit/>
          </a:bodyPr>
          <a:lstStyle/>
          <a:p>
            <a:pPr algn="ctr">
              <a:spcAft>
                <a:spcPts val="0"/>
              </a:spcAft>
            </a:pPr>
            <a:r>
              <a:rPr lang="en-GB" sz="1400" b="1">
                <a:solidFill>
                  <a:srgbClr val="FFFFFF"/>
                </a:solidFill>
              </a:rPr>
              <a:t>Check policy/NAT/session</a:t>
            </a:r>
          </a:p>
        </p:txBody>
      </p:sp>
      <p:sp>
        <p:nvSpPr>
          <p:cNvPr id="18" name="Right Arrow 17"/>
          <p:cNvSpPr/>
          <p:nvPr/>
        </p:nvSpPr>
        <p:spPr>
          <a:xfrm>
            <a:off x="7039051" y="2340864"/>
            <a:ext cx="164592" cy="146304"/>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203643" y="1828800"/>
            <a:ext cx="2008022"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20" name="TextBox 19"/>
          <p:cNvSpPr txBox="1">
            <a:spLocks/>
          </p:cNvSpPr>
          <p:nvPr/>
        </p:nvSpPr>
        <p:spPr>
          <a:xfrm>
            <a:off x="7295083" y="1938528"/>
            <a:ext cx="365760" cy="227755"/>
          </a:xfrm>
          <a:prstGeom prst="rect">
            <a:avLst/>
          </a:prstGeom>
          <a:noFill/>
        </p:spPr>
        <p:txBody>
          <a:bodyPr wrap="square" lIns="36576" tIns="36576" rIns="36576" bIns="36576" anchor="t">
            <a:spAutoFit/>
          </a:bodyPr>
          <a:lstStyle/>
          <a:p>
            <a:pPr algn="l">
              <a:spcAft>
                <a:spcPts val="0"/>
              </a:spcAft>
            </a:pPr>
            <a:r>
              <a:rPr lang="en-HU" sz="1000" b="1">
                <a:solidFill>
                  <a:srgbClr val="E60012"/>
                </a:solidFill>
              </a:rPr>
              <a:t>04</a:t>
            </a:r>
          </a:p>
        </p:txBody>
      </p:sp>
      <p:sp>
        <p:nvSpPr>
          <p:cNvPr id="21" name="TextBox 20"/>
          <p:cNvSpPr txBox="1">
            <a:spLocks/>
          </p:cNvSpPr>
          <p:nvPr/>
        </p:nvSpPr>
        <p:spPr>
          <a:xfrm>
            <a:off x="7313371" y="2243935"/>
            <a:ext cx="1788566" cy="504754"/>
          </a:xfrm>
          <a:prstGeom prst="rect">
            <a:avLst/>
          </a:prstGeom>
          <a:noFill/>
        </p:spPr>
        <p:txBody>
          <a:bodyPr wrap="square" lIns="36576" tIns="36576" rIns="36576" bIns="36576" anchor="ctr">
            <a:spAutoFit/>
          </a:bodyPr>
          <a:lstStyle/>
          <a:p>
            <a:pPr algn="ctr">
              <a:spcAft>
                <a:spcPts val="0"/>
              </a:spcAft>
            </a:pPr>
            <a:r>
              <a:rPr lang="en-GB" sz="1400" b="1">
                <a:solidFill>
                  <a:srgbClr val="FFFFFF"/>
                </a:solidFill>
              </a:rPr>
              <a:t>Check inspection trust / resources</a:t>
            </a:r>
          </a:p>
        </p:txBody>
      </p:sp>
      <p:sp>
        <p:nvSpPr>
          <p:cNvPr id="22" name="Right Arrow 21"/>
          <p:cNvSpPr>
            <a:spLocks/>
          </p:cNvSpPr>
          <p:nvPr/>
        </p:nvSpPr>
        <p:spPr>
          <a:xfrm>
            <a:off x="9211665" y="2340864"/>
            <a:ext cx="164592" cy="146304"/>
          </a:xfrm>
          <a:prstGeom prst="righ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23" name="Rectangle 22"/>
          <p:cNvSpPr>
            <a:spLocks/>
          </p:cNvSpPr>
          <p:nvPr/>
        </p:nvSpPr>
        <p:spPr>
          <a:xfrm>
            <a:off x="9376257" y="1828800"/>
            <a:ext cx="2008022" cy="1143000"/>
          </a:xfrm>
          <a:prstGeom prst="rect">
            <a:avLst/>
          </a:prstGeom>
          <a:solidFill>
            <a:srgbClr val="17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24" name="TextBox 23"/>
          <p:cNvSpPr txBox="1"/>
          <p:nvPr/>
        </p:nvSpPr>
        <p:spPr>
          <a:xfrm>
            <a:off x="9467697" y="1938528"/>
            <a:ext cx="365760" cy="227755"/>
          </a:xfrm>
          <a:prstGeom prst="rect">
            <a:avLst/>
          </a:prstGeom>
          <a:noFill/>
        </p:spPr>
        <p:txBody>
          <a:bodyPr wrap="square" lIns="36576" tIns="36576" rIns="36576" bIns="36576" anchor="t">
            <a:spAutoFit/>
          </a:bodyPr>
          <a:lstStyle/>
          <a:p>
            <a:pPr algn="l">
              <a:spcAft>
                <a:spcPts val="0"/>
              </a:spcAft>
            </a:pPr>
            <a:r>
              <a:rPr lang="en-HU" sz="1000" b="1">
                <a:solidFill>
                  <a:srgbClr val="E60012"/>
                </a:solidFill>
              </a:rPr>
              <a:t>05</a:t>
            </a:r>
          </a:p>
        </p:txBody>
      </p:sp>
      <p:sp>
        <p:nvSpPr>
          <p:cNvPr id="25" name="TextBox 24"/>
          <p:cNvSpPr txBox="1"/>
          <p:nvPr/>
        </p:nvSpPr>
        <p:spPr>
          <a:xfrm>
            <a:off x="9485985" y="2267712"/>
            <a:ext cx="1788566" cy="457200"/>
          </a:xfrm>
          <a:prstGeom prst="rect">
            <a:avLst/>
          </a:prstGeom>
          <a:noFill/>
        </p:spPr>
        <p:txBody>
          <a:bodyPr wrap="square" lIns="36576" tIns="36576" rIns="36576" bIns="36576" anchor="ctr">
            <a:spAutoFit/>
          </a:bodyPr>
          <a:lstStyle/>
          <a:p>
            <a:pPr algn="ctr">
              <a:spcAft>
                <a:spcPts val="0"/>
              </a:spcAft>
            </a:pPr>
            <a:r>
              <a:rPr sz="1400" b="1">
                <a:solidFill>
                  <a:srgbClr val="FFFFFF"/>
                </a:solidFill>
              </a:rPr>
              <a:t>Apply one reversible fix</a:t>
            </a:r>
          </a:p>
        </p:txBody>
      </p:sp>
      <p:sp>
        <p:nvSpPr>
          <p:cNvPr id="26" name="TextBox 25"/>
          <p:cNvSpPr txBox="1"/>
          <p:nvPr/>
        </p:nvSpPr>
        <p:spPr>
          <a:xfrm>
            <a:off x="731520" y="3703320"/>
            <a:ext cx="1554480" cy="210312"/>
          </a:xfrm>
          <a:prstGeom prst="rect">
            <a:avLst/>
          </a:prstGeom>
          <a:noFill/>
        </p:spPr>
        <p:txBody>
          <a:bodyPr wrap="square" lIns="36576" tIns="36576" rIns="36576" bIns="36576" anchor="t">
            <a:spAutoFit/>
          </a:bodyPr>
          <a:lstStyle/>
          <a:p>
            <a:pPr algn="l">
              <a:spcAft>
                <a:spcPts val="0"/>
              </a:spcAft>
            </a:pPr>
            <a:r>
              <a:rPr sz="1000" b="1">
                <a:solidFill>
                  <a:srgbClr val="E60012"/>
                </a:solidFill>
              </a:rPr>
              <a:t>EXPECTED RESULT</a:t>
            </a:r>
          </a:p>
        </p:txBody>
      </p:sp>
      <p:sp>
        <p:nvSpPr>
          <p:cNvPr id="27" name="TextBox 26"/>
          <p:cNvSpPr txBox="1"/>
          <p:nvPr/>
        </p:nvSpPr>
        <p:spPr>
          <a:xfrm>
            <a:off x="731520" y="4041648"/>
            <a:ext cx="10424160" cy="594360"/>
          </a:xfrm>
          <a:prstGeom prst="rect">
            <a:avLst/>
          </a:prstGeom>
          <a:noFill/>
        </p:spPr>
        <p:txBody>
          <a:bodyPr wrap="square" lIns="36576" tIns="36576" rIns="36576" bIns="36576" anchor="t">
            <a:spAutoFit/>
          </a:bodyPr>
          <a:lstStyle/>
          <a:p>
            <a:pPr algn="ctr">
              <a:spcAft>
                <a:spcPts val="0"/>
              </a:spcAft>
            </a:pPr>
            <a:r>
              <a:rPr sz="1700" b="1">
                <a:solidFill>
                  <a:srgbClr val="233A59"/>
                </a:solidFill>
              </a:rPr>
              <a:t>The </a:t>
            </a:r>
            <a:r>
              <a:rPr lang="en-GB" sz="1700" b="1">
                <a:solidFill>
                  <a:srgbClr val="233A59"/>
                </a:solidFill>
              </a:rPr>
              <a:t>assigned service works bidirectionally, </a:t>
            </a:r>
            <a:r>
              <a:rPr sz="1700" b="1">
                <a:solidFill>
                  <a:srgbClr val="233A59"/>
                </a:solidFill>
              </a:rPr>
              <a:t>the failed decision</a:t>
            </a:r>
            <a:r>
              <a:rPr lang="en-GB" sz="1700" b="1">
                <a:solidFill>
                  <a:srgbClr val="233A59"/>
                </a:solidFill>
              </a:rPr>
              <a:t> is explained</a:t>
            </a:r>
            <a:r>
              <a:rPr sz="1700" b="1">
                <a:solidFill>
                  <a:srgbClr val="233A59"/>
                </a:solidFill>
              </a:rPr>
              <a:t>, and </a:t>
            </a:r>
            <a:r>
              <a:rPr lang="en-GB" sz="1700" b="1">
                <a:solidFill>
                  <a:srgbClr val="233A59"/>
                </a:solidFill>
              </a:rPr>
              <a:t>every intentional fault is removed</a:t>
            </a:r>
            <a:r>
              <a:rPr sz="1700" b="1">
                <a:solidFill>
                  <a:srgbClr val="233A59"/>
                </a:solidFill>
              </a:rPr>
              <a:t>.</a:t>
            </a:r>
          </a:p>
        </p:txBody>
      </p:sp>
      <p:sp>
        <p:nvSpPr>
          <p:cNvPr id="28" name="TextBox 27"/>
          <p:cNvSpPr txBox="1"/>
          <p:nvPr/>
        </p:nvSpPr>
        <p:spPr>
          <a:xfrm>
            <a:off x="658368" y="5833872"/>
            <a:ext cx="731520" cy="182880"/>
          </a:xfrm>
          <a:prstGeom prst="rect">
            <a:avLst/>
          </a:prstGeom>
          <a:noFill/>
        </p:spPr>
        <p:txBody>
          <a:bodyPr wrap="square" lIns="36576" tIns="36576" rIns="36576" bIns="36576" anchor="t">
            <a:spAutoFit/>
          </a:bodyPr>
          <a:lstStyle/>
          <a:p>
            <a:pPr algn="l">
              <a:spcAft>
                <a:spcPts val="0"/>
              </a:spcAft>
            </a:pPr>
            <a:r>
              <a:rPr sz="1000" b="1">
                <a:solidFill>
                  <a:srgbClr val="E60012"/>
                </a:solidFill>
              </a:rPr>
              <a:t>LESSON</a:t>
            </a:r>
          </a:p>
        </p:txBody>
      </p:sp>
      <p:sp>
        <p:nvSpPr>
          <p:cNvPr id="29" name="TextBox 28"/>
          <p:cNvSpPr txBox="1"/>
          <p:nvPr/>
        </p:nvSpPr>
        <p:spPr>
          <a:xfrm>
            <a:off x="1417320" y="5769864"/>
            <a:ext cx="9875520" cy="273921"/>
          </a:xfrm>
          <a:prstGeom prst="rect">
            <a:avLst/>
          </a:prstGeom>
          <a:noFill/>
        </p:spPr>
        <p:txBody>
          <a:bodyPr wrap="square" lIns="36576" tIns="36576" rIns="36576" bIns="36576" anchor="t">
            <a:spAutoFit/>
          </a:bodyPr>
          <a:lstStyle/>
          <a:p>
            <a:pPr algn="l">
              <a:spcAft>
                <a:spcPts val="0"/>
              </a:spcAft>
            </a:pPr>
            <a:r>
              <a:rPr lang="en-GB" sz="1300" b="1">
                <a:solidFill>
                  <a:srgbClr val="233A59"/>
                </a:solidFill>
              </a:rPr>
              <a:t>The mandatory workflow uses the validated Student N pod; VPN, SD-WAN, HA and EMS variants are future/optional extensions.</a:t>
            </a:r>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name="Slide 196">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p:nvPr/>
        </p:nvSpPr>
        <p:spPr>
          <a:xfrm>
            <a:off x="502920" y="411480"/>
            <a:ext cx="548640" cy="189283"/>
          </a:xfrm>
          <a:prstGeom prst="rect">
            <a:avLst/>
          </a:prstGeom>
          <a:noFill/>
        </p:spPr>
        <p:txBody>
          <a:bodyPr wrap="square" lIns="36576" tIns="36576" rIns="36576" bIns="36576" anchor="t">
            <a:spAutoFit/>
          </a:bodyPr>
          <a:lstStyle/>
          <a:p>
            <a:pPr algn="l">
              <a:spcAft>
                <a:spcPts val="0"/>
              </a:spcAft>
            </a:pPr>
            <a:r>
              <a:rPr lang="en-HU" sz="750" b="1">
                <a:solidFill>
                  <a:srgbClr val="687385"/>
                </a:solidFill>
              </a:rPr>
              <a:t>196</a:t>
            </a:r>
            <a:endParaRPr sz="750" b="1">
              <a:solidFill>
                <a:srgbClr val="687385"/>
              </a:solidFill>
            </a:endParaRPr>
          </a:p>
        </p:txBody>
      </p:sp>
      <p:sp>
        <p:nvSpPr>
          <p:cNvPr id="4" name="TextBox 3"/>
          <p:cNvSpPr txBox="1"/>
          <p:nvPr/>
        </p:nvSpPr>
        <p:spPr>
          <a:xfrm>
            <a:off x="502920" y="621792"/>
            <a:ext cx="11109960" cy="548640"/>
          </a:xfrm>
          <a:prstGeom prst="rect">
            <a:avLst/>
          </a:prstGeom>
          <a:noFill/>
        </p:spPr>
        <p:txBody>
          <a:bodyPr wrap="square" lIns="36576" tIns="36576" rIns="36576" bIns="36576" anchor="t">
            <a:spAutoFit/>
          </a:bodyPr>
          <a:lstStyle/>
          <a:p>
            <a:pPr algn="l">
              <a:spcAft>
                <a:spcPts val="0"/>
              </a:spcAft>
            </a:pPr>
            <a:r>
              <a:rPr sz="2600" b="1">
                <a:solidFill>
                  <a:srgbClr val="1E2B40"/>
                </a:solidFill>
              </a:rPr>
              <a:t>Common mistakes—and how to correct them</a:t>
            </a:r>
          </a:p>
        </p:txBody>
      </p:sp>
      <p:cxnSp>
        <p:nvCxnSpPr>
          <p:cNvPr id="5" name="Connector 4"/>
          <p:cNvCxnSpPr/>
          <p:nvPr/>
        </p:nvCxnSpPr>
        <p:spPr>
          <a:xfrm>
            <a:off x="502920" y="6473952"/>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109960" y="6537960"/>
            <a:ext cx="502920" cy="189283"/>
          </a:xfrm>
          <a:prstGeom prst="rect">
            <a:avLst/>
          </a:prstGeom>
          <a:noFill/>
        </p:spPr>
        <p:txBody>
          <a:bodyPr wrap="square" lIns="36576" tIns="36576" rIns="36576" bIns="36576" anchor="t">
            <a:spAutoFit/>
          </a:bodyPr>
          <a:lstStyle/>
          <a:p>
            <a:pPr algn="r">
              <a:spcAft>
                <a:spcPts val="0"/>
              </a:spcAft>
            </a:pPr>
            <a:r>
              <a:rPr lang="en-HU" sz="750" b="0">
                <a:solidFill>
                  <a:srgbClr val="687385"/>
                </a:solidFill>
              </a:rPr>
              <a:t>196</a:t>
            </a:r>
            <a:endParaRPr sz="750" b="0">
              <a:solidFill>
                <a:srgbClr val="687385"/>
              </a:solidFill>
            </a:endParaRPr>
          </a:p>
        </p:txBody>
      </p:sp>
      <p:sp>
        <p:nvSpPr>
          <p:cNvPr id="7" name="TextBox 6"/>
          <p:cNvSpPr txBox="1">
            <a:spLocks/>
          </p:cNvSpPr>
          <p:nvPr/>
        </p:nvSpPr>
        <p:spPr>
          <a:xfrm>
            <a:off x="685800" y="1417320"/>
            <a:ext cx="3291840" cy="243143"/>
          </a:xfrm>
          <a:prstGeom prst="rect">
            <a:avLst/>
          </a:prstGeom>
          <a:noFill/>
        </p:spPr>
        <p:txBody>
          <a:bodyPr wrap="square" lIns="36576" tIns="36576" rIns="36576" bIns="36576" anchor="t">
            <a:spAutoFit/>
          </a:bodyPr>
          <a:lstStyle/>
          <a:p>
            <a:pPr algn="l">
              <a:spcAft>
                <a:spcPts val="0"/>
              </a:spcAft>
            </a:pPr>
            <a:r>
              <a:rPr lang="en-GB" sz="1100" b="1">
                <a:solidFill>
                  <a:srgbClr val="E60012"/>
                </a:solidFill>
              </a:rPr>
              <a:t>MISTAKE</a:t>
            </a:r>
          </a:p>
        </p:txBody>
      </p:sp>
      <p:sp>
        <p:nvSpPr>
          <p:cNvPr id="8" name="TextBox 7"/>
          <p:cNvSpPr txBox="1">
            <a:spLocks/>
          </p:cNvSpPr>
          <p:nvPr/>
        </p:nvSpPr>
        <p:spPr>
          <a:xfrm>
            <a:off x="4160520" y="1417320"/>
            <a:ext cx="7040880" cy="243143"/>
          </a:xfrm>
          <a:prstGeom prst="rect">
            <a:avLst/>
          </a:prstGeom>
          <a:noFill/>
        </p:spPr>
        <p:txBody>
          <a:bodyPr wrap="square" lIns="36576" tIns="36576" rIns="36576" bIns="36576" anchor="t">
            <a:spAutoFit/>
          </a:bodyPr>
          <a:lstStyle/>
          <a:p>
            <a:pPr algn="l">
              <a:spcAft>
                <a:spcPts val="0"/>
              </a:spcAft>
            </a:pPr>
            <a:r>
              <a:rPr lang="en-GB" sz="1100" b="1">
                <a:solidFill>
                  <a:srgbClr val="E60012"/>
                </a:solidFill>
              </a:rPr>
              <a:t>CORRECTION — AND WHY IT HELPS</a:t>
            </a:r>
          </a:p>
        </p:txBody>
      </p:sp>
      <p:sp>
        <p:nvSpPr>
          <p:cNvPr id="9" name="TextBox 8"/>
          <p:cNvSpPr txBox="1">
            <a:spLocks/>
          </p:cNvSpPr>
          <p:nvPr/>
        </p:nvSpPr>
        <p:spPr>
          <a:xfrm>
            <a:off x="685800" y="1783080"/>
            <a:ext cx="3108960" cy="566309"/>
          </a:xfrm>
          <a:prstGeom prst="rect">
            <a:avLst/>
          </a:prstGeom>
          <a:noFill/>
        </p:spPr>
        <p:txBody>
          <a:bodyPr wrap="square" lIns="36576" tIns="36576" rIns="36576" bIns="36576" anchor="t">
            <a:spAutoFit/>
          </a:bodyPr>
          <a:lstStyle/>
          <a:p>
            <a:pPr algn="l">
              <a:spcAft>
                <a:spcPts val="0"/>
              </a:spcAft>
            </a:pPr>
            <a:r>
              <a:rPr lang="en-GB" sz="1600" b="1">
                <a:solidFill>
                  <a:srgbClr val="1E2B40"/>
                </a:solidFill>
              </a:rPr>
              <a:t>Change policy, route and tunnel together</a:t>
            </a:r>
          </a:p>
        </p:txBody>
      </p:sp>
      <p:cxnSp>
        <p:nvCxnSpPr>
          <p:cNvPr id="10" name="Connector 9"/>
          <p:cNvCxnSpPr/>
          <p:nvPr/>
        </p:nvCxnSpPr>
        <p:spPr>
          <a:xfrm>
            <a:off x="3931920" y="1737360"/>
            <a:ext cx="0" cy="96012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251960" y="1783080"/>
            <a:ext cx="6903720" cy="822960"/>
          </a:xfrm>
          <a:prstGeom prst="rect">
            <a:avLst/>
          </a:prstGeom>
          <a:noFill/>
        </p:spPr>
        <p:txBody>
          <a:bodyPr wrap="square" lIns="36576" tIns="36576" rIns="36576" bIns="36576" anchor="t">
            <a:spAutoFit/>
          </a:bodyPr>
          <a:lstStyle/>
          <a:p>
            <a:pPr algn="l">
              <a:spcAft>
                <a:spcPts val="0"/>
              </a:spcAft>
            </a:pPr>
            <a:r>
              <a:rPr sz="1600" b="0">
                <a:solidFill>
                  <a:srgbClr val="233A59"/>
                </a:solidFill>
              </a:rPr>
              <a:t>Change one layer at a time with rollback; otherwise the causal fix is unknown.</a:t>
            </a:r>
          </a:p>
        </p:txBody>
      </p:sp>
      <p:cxnSp>
        <p:nvCxnSpPr>
          <p:cNvPr id="12" name="Connector 11"/>
          <p:cNvCxnSpPr/>
          <p:nvPr/>
        </p:nvCxnSpPr>
        <p:spPr>
          <a:xfrm>
            <a:off x="685800" y="2834639"/>
            <a:ext cx="10469880"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13" name="TextBox 12"/>
          <p:cNvSpPr txBox="1">
            <a:spLocks/>
          </p:cNvSpPr>
          <p:nvPr/>
        </p:nvSpPr>
        <p:spPr>
          <a:xfrm>
            <a:off x="685800" y="3081528"/>
            <a:ext cx="3108960" cy="566309"/>
          </a:xfrm>
          <a:prstGeom prst="rect">
            <a:avLst/>
          </a:prstGeom>
          <a:noFill/>
        </p:spPr>
        <p:txBody>
          <a:bodyPr wrap="square" lIns="36576" tIns="36576" rIns="36576" bIns="36576" anchor="t">
            <a:spAutoFit/>
          </a:bodyPr>
          <a:lstStyle/>
          <a:p>
            <a:pPr algn="l">
              <a:spcAft>
                <a:spcPts val="0"/>
              </a:spcAft>
            </a:pPr>
            <a:r>
              <a:rPr lang="en-GB" sz="1600" b="1">
                <a:solidFill>
                  <a:srgbClr val="1E2B40"/>
                </a:solidFill>
              </a:rPr>
              <a:t>Restart before recording the failure</a:t>
            </a:r>
          </a:p>
        </p:txBody>
      </p:sp>
      <p:cxnSp>
        <p:nvCxnSpPr>
          <p:cNvPr id="14" name="Connector 13"/>
          <p:cNvCxnSpPr/>
          <p:nvPr/>
        </p:nvCxnSpPr>
        <p:spPr>
          <a:xfrm>
            <a:off x="3931920" y="3035808"/>
            <a:ext cx="0" cy="96012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5" name="TextBox 14"/>
          <p:cNvSpPr txBox="1">
            <a:spLocks/>
          </p:cNvSpPr>
          <p:nvPr/>
        </p:nvSpPr>
        <p:spPr>
          <a:xfrm>
            <a:off x="4251960" y="3081528"/>
            <a:ext cx="6903720" cy="566309"/>
          </a:xfrm>
          <a:prstGeom prst="rect">
            <a:avLst/>
          </a:prstGeom>
          <a:noFill/>
        </p:spPr>
        <p:txBody>
          <a:bodyPr wrap="square" lIns="36576" tIns="36576" rIns="36576" bIns="36576" anchor="t">
            <a:spAutoFit/>
          </a:bodyPr>
          <a:lstStyle/>
          <a:p>
            <a:pPr algn="l">
              <a:spcAft>
                <a:spcPts val="0"/>
              </a:spcAft>
            </a:pPr>
            <a:r>
              <a:rPr lang="en-GB" sz="1600" b="0">
                <a:solidFill>
                  <a:srgbClr val="233A59"/>
                </a:solidFill>
              </a:rPr>
              <a:t>Capture route/session/protocol/resource state first; restart destroys transient clues.</a:t>
            </a:r>
          </a:p>
        </p:txBody>
      </p:sp>
      <p:cxnSp>
        <p:nvCxnSpPr>
          <p:cNvPr id="16" name="Connector 15"/>
          <p:cNvCxnSpPr/>
          <p:nvPr/>
        </p:nvCxnSpPr>
        <p:spPr>
          <a:xfrm>
            <a:off x="685800" y="4133087"/>
            <a:ext cx="10469880"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17" name="TextBox 16"/>
          <p:cNvSpPr txBox="1">
            <a:spLocks/>
          </p:cNvSpPr>
          <p:nvPr/>
        </p:nvSpPr>
        <p:spPr>
          <a:xfrm>
            <a:off x="685800" y="4379976"/>
            <a:ext cx="3108960" cy="566309"/>
          </a:xfrm>
          <a:prstGeom prst="rect">
            <a:avLst/>
          </a:prstGeom>
          <a:noFill/>
        </p:spPr>
        <p:txBody>
          <a:bodyPr wrap="square" lIns="36576" tIns="36576" rIns="36576" bIns="36576" anchor="t">
            <a:spAutoFit/>
          </a:bodyPr>
          <a:lstStyle/>
          <a:p>
            <a:pPr algn="l">
              <a:spcAft>
                <a:spcPts val="0"/>
              </a:spcAft>
            </a:pPr>
            <a:r>
              <a:rPr lang="en-GB" sz="1600" b="1">
                <a:solidFill>
                  <a:srgbClr val="1E2B40"/>
                </a:solidFill>
              </a:rPr>
              <a:t>Use FGVM results as appliance capacity data</a:t>
            </a:r>
          </a:p>
        </p:txBody>
      </p:sp>
      <p:cxnSp>
        <p:nvCxnSpPr>
          <p:cNvPr id="18" name="Connector 17"/>
          <p:cNvCxnSpPr/>
          <p:nvPr/>
        </p:nvCxnSpPr>
        <p:spPr>
          <a:xfrm>
            <a:off x="3931920" y="4334256"/>
            <a:ext cx="0" cy="96012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251960" y="4379976"/>
            <a:ext cx="6903720" cy="822960"/>
          </a:xfrm>
          <a:prstGeom prst="rect">
            <a:avLst/>
          </a:prstGeom>
          <a:noFill/>
        </p:spPr>
        <p:txBody>
          <a:bodyPr wrap="square" lIns="36576" tIns="36576" rIns="36576" bIns="36576" anchor="t">
            <a:spAutoFit/>
          </a:bodyPr>
          <a:lstStyle/>
          <a:p>
            <a:pPr algn="l">
              <a:spcAft>
                <a:spcPts val="0"/>
              </a:spcAft>
            </a:pPr>
            <a:r>
              <a:rPr sz="1600" b="0">
                <a:solidFill>
                  <a:srgbClr val="233A59"/>
                </a:solidFill>
              </a:rPr>
              <a:t>Use model data sheets and representative appliance testing; VM results do not prove ASIC capacity.</a:t>
            </a:r>
          </a:p>
        </p:txBody>
      </p:sp>
      <p:cxnSp>
        <p:nvCxnSpPr>
          <p:cNvPr id="20" name="Connector 19"/>
          <p:cNvCxnSpPr/>
          <p:nvPr/>
        </p:nvCxnSpPr>
        <p:spPr>
          <a:xfrm>
            <a:off x="685800" y="5431536"/>
            <a:ext cx="10469880"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58368" y="5833872"/>
            <a:ext cx="731520" cy="182880"/>
          </a:xfrm>
          <a:prstGeom prst="rect">
            <a:avLst/>
          </a:prstGeom>
          <a:noFill/>
        </p:spPr>
        <p:txBody>
          <a:bodyPr wrap="square" lIns="36576" tIns="36576" rIns="36576" bIns="36576" anchor="t">
            <a:spAutoFit/>
          </a:bodyPr>
          <a:lstStyle/>
          <a:p>
            <a:pPr algn="l">
              <a:spcAft>
                <a:spcPts val="0"/>
              </a:spcAft>
            </a:pPr>
            <a:r>
              <a:rPr sz="1000" b="1">
                <a:solidFill>
                  <a:srgbClr val="E60012"/>
                </a:solidFill>
              </a:rPr>
              <a:t>LESSON</a:t>
            </a:r>
          </a:p>
        </p:txBody>
      </p:sp>
      <p:sp>
        <p:nvSpPr>
          <p:cNvPr id="22" name="TextBox 21"/>
          <p:cNvSpPr txBox="1"/>
          <p:nvPr/>
        </p:nvSpPr>
        <p:spPr>
          <a:xfrm>
            <a:off x="1417320" y="5769864"/>
            <a:ext cx="9875520" cy="384048"/>
          </a:xfrm>
          <a:prstGeom prst="rect">
            <a:avLst/>
          </a:prstGeom>
          <a:noFill/>
        </p:spPr>
        <p:txBody>
          <a:bodyPr wrap="square" lIns="36576" tIns="36576" rIns="36576" bIns="36576" anchor="t">
            <a:spAutoFit/>
          </a:bodyPr>
          <a:lstStyle/>
          <a:p>
            <a:pPr algn="l">
              <a:spcAft>
                <a:spcPts val="0"/>
              </a:spcAft>
            </a:pPr>
            <a:r>
              <a:rPr sz="1300" b="1">
                <a:solidFill>
                  <a:srgbClr val="233A59"/>
                </a:solidFill>
              </a:rPr>
              <a:t>A correction changes a concrete configuration, test or interpretation—not merely the wording used to describe it.</a:t>
            </a:r>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name="Slide 197">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197</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Troubleshooting workflow: narrow the failed decision</a:t>
            </a:r>
          </a:p>
        </p:txBody>
      </p:sp>
      <p:sp>
        <p:nvSpPr>
          <p:cNvPr id="10" name="Rectangle 9"/>
          <p:cNvSpPr/>
          <p:nvPr/>
        </p:nvSpPr>
        <p:spPr>
          <a:xfrm>
            <a:off x="658368"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11" name="TextBox 10"/>
          <p:cNvSpPr txBox="1">
            <a:spLocks/>
          </p:cNvSpPr>
          <p:nvPr/>
        </p:nvSpPr>
        <p:spPr>
          <a:xfrm>
            <a:off x="768096" y="2020824"/>
            <a:ext cx="411480" cy="219456"/>
          </a:xfrm>
          <a:prstGeom prst="rect">
            <a:avLst/>
          </a:prstGeom>
          <a:noFill/>
        </p:spPr>
        <p:txBody>
          <a:bodyPr wrap="square" lIns="27432" tIns="27432" rIns="27432" bIns="27432" anchor="t">
            <a:spAutoFit/>
          </a:bodyPr>
          <a:lstStyle/>
          <a:p>
            <a:pPr algn="l">
              <a:spcAft>
                <a:spcPts val="0"/>
              </a:spcAft>
            </a:pPr>
            <a:r>
              <a:rPr lang="en-HU" sz="1100" b="1">
                <a:solidFill>
                  <a:srgbClr val="E60012"/>
                </a:solidFill>
              </a:rPr>
              <a:t>01</a:t>
            </a:r>
          </a:p>
        </p:txBody>
      </p:sp>
      <p:sp>
        <p:nvSpPr>
          <p:cNvPr id="12" name="TextBox 11"/>
          <p:cNvSpPr txBox="1">
            <a:spLocks/>
          </p:cNvSpPr>
          <p:nvPr/>
        </p:nvSpPr>
        <p:spPr>
          <a:xfrm>
            <a:off x="768096" y="2340864"/>
            <a:ext cx="1830628" cy="603504"/>
          </a:xfrm>
          <a:prstGeom prst="rect">
            <a:avLst/>
          </a:prstGeom>
          <a:noFill/>
        </p:spPr>
        <p:txBody>
          <a:bodyPr wrap="square" lIns="27432" tIns="27432" rIns="27432" bIns="27432" anchor="ctr">
            <a:spAutoFit/>
          </a:bodyPr>
          <a:lstStyle/>
          <a:p>
            <a:pPr algn="ctr">
              <a:spcAft>
                <a:spcPts val="0"/>
              </a:spcAft>
            </a:pPr>
            <a:r>
              <a:rPr lang="en-GB" sz="1400" b="1">
                <a:solidFill>
                  <a:srgbClr val="1E2B40"/>
                </a:solidFill>
              </a:rPr>
              <a:t>Define tuple/time/symptom</a:t>
            </a:r>
          </a:p>
        </p:txBody>
      </p:sp>
      <p:cxnSp>
        <p:nvCxnSpPr>
          <p:cNvPr id="13" name="Connector 12"/>
          <p:cNvCxnSpPr/>
          <p:nvPr/>
        </p:nvCxnSpPr>
        <p:spPr>
          <a:xfrm>
            <a:off x="2708452"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2854756"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964484" y="2020824"/>
            <a:ext cx="411480" cy="219456"/>
          </a:xfrm>
          <a:prstGeom prst="rect">
            <a:avLst/>
          </a:prstGeom>
          <a:noFill/>
        </p:spPr>
        <p:txBody>
          <a:bodyPr wrap="square" lIns="27432" tIns="27432" rIns="27432" bIns="27432" anchor="t">
            <a:spAutoFit/>
          </a:bodyPr>
          <a:lstStyle/>
          <a:p>
            <a:pPr algn="l">
              <a:spcAft>
                <a:spcPts val="0"/>
              </a:spcAft>
            </a:pPr>
            <a:r>
              <a:rPr sz="1100" b="1">
                <a:solidFill>
                  <a:srgbClr val="E60012"/>
                </a:solidFill>
              </a:rPr>
              <a:t>02</a:t>
            </a:r>
          </a:p>
        </p:txBody>
      </p:sp>
      <p:sp>
        <p:nvSpPr>
          <p:cNvPr id="16" name="TextBox 15"/>
          <p:cNvSpPr txBox="1"/>
          <p:nvPr/>
        </p:nvSpPr>
        <p:spPr>
          <a:xfrm>
            <a:off x="2964484" y="2340864"/>
            <a:ext cx="1830628" cy="603504"/>
          </a:xfrm>
          <a:prstGeom prst="rect">
            <a:avLst/>
          </a:prstGeom>
          <a:noFill/>
        </p:spPr>
        <p:txBody>
          <a:bodyPr wrap="square" lIns="27432" tIns="27432" rIns="27432" bIns="27432" anchor="ctr">
            <a:spAutoFit/>
          </a:bodyPr>
          <a:lstStyle/>
          <a:p>
            <a:pPr algn="ctr">
              <a:spcAft>
                <a:spcPts val="0"/>
              </a:spcAft>
            </a:pPr>
            <a:r>
              <a:rPr sz="1400" b="1">
                <a:solidFill>
                  <a:srgbClr val="1E2B40"/>
                </a:solidFill>
              </a:rPr>
              <a:t>Check route/PBR/SD-WAN/VPN state</a:t>
            </a:r>
          </a:p>
        </p:txBody>
      </p:sp>
      <p:cxnSp>
        <p:nvCxnSpPr>
          <p:cNvPr id="17" name="Connector 16"/>
          <p:cNvCxnSpPr/>
          <p:nvPr/>
        </p:nvCxnSpPr>
        <p:spPr>
          <a:xfrm>
            <a:off x="4904841"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5051145"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60873" y="2020824"/>
            <a:ext cx="411480" cy="219456"/>
          </a:xfrm>
          <a:prstGeom prst="rect">
            <a:avLst/>
          </a:prstGeom>
          <a:noFill/>
        </p:spPr>
        <p:txBody>
          <a:bodyPr wrap="square" lIns="27432" tIns="27432" rIns="27432" bIns="27432" anchor="t">
            <a:spAutoFit/>
          </a:bodyPr>
          <a:lstStyle/>
          <a:p>
            <a:pPr algn="l">
              <a:spcAft>
                <a:spcPts val="0"/>
              </a:spcAft>
            </a:pPr>
            <a:r>
              <a:rPr sz="1100" b="1">
                <a:solidFill>
                  <a:srgbClr val="E60012"/>
                </a:solidFill>
              </a:rPr>
              <a:t>03</a:t>
            </a:r>
          </a:p>
        </p:txBody>
      </p:sp>
      <p:sp>
        <p:nvSpPr>
          <p:cNvPr id="20" name="TextBox 19"/>
          <p:cNvSpPr txBox="1"/>
          <p:nvPr/>
        </p:nvSpPr>
        <p:spPr>
          <a:xfrm>
            <a:off x="5160873" y="2340864"/>
            <a:ext cx="1830628" cy="603504"/>
          </a:xfrm>
          <a:prstGeom prst="rect">
            <a:avLst/>
          </a:prstGeom>
          <a:noFill/>
        </p:spPr>
        <p:txBody>
          <a:bodyPr wrap="square" lIns="27432" tIns="27432" rIns="27432" bIns="27432" anchor="ctr">
            <a:spAutoFit/>
          </a:bodyPr>
          <a:lstStyle/>
          <a:p>
            <a:pPr algn="ctr">
              <a:spcAft>
                <a:spcPts val="0"/>
              </a:spcAft>
            </a:pPr>
            <a:r>
              <a:rPr sz="1400" b="1">
                <a:solidFill>
                  <a:srgbClr val="1E2B40"/>
                </a:solidFill>
              </a:rPr>
              <a:t>Check policy/NAT/session/logs</a:t>
            </a:r>
          </a:p>
        </p:txBody>
      </p:sp>
      <p:cxnSp>
        <p:nvCxnSpPr>
          <p:cNvPr id="21" name="Connector 20"/>
          <p:cNvCxnSpPr/>
          <p:nvPr/>
        </p:nvCxnSpPr>
        <p:spPr>
          <a:xfrm>
            <a:off x="7101230"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7247534"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357262" y="2020824"/>
            <a:ext cx="411480" cy="219456"/>
          </a:xfrm>
          <a:prstGeom prst="rect">
            <a:avLst/>
          </a:prstGeom>
          <a:noFill/>
        </p:spPr>
        <p:txBody>
          <a:bodyPr wrap="square" lIns="27432" tIns="27432" rIns="27432" bIns="27432" anchor="t">
            <a:spAutoFit/>
          </a:bodyPr>
          <a:lstStyle/>
          <a:p>
            <a:pPr algn="l">
              <a:spcAft>
                <a:spcPts val="0"/>
              </a:spcAft>
            </a:pPr>
            <a:r>
              <a:rPr sz="1100" b="1">
                <a:solidFill>
                  <a:srgbClr val="E60012"/>
                </a:solidFill>
              </a:rPr>
              <a:t>04</a:t>
            </a:r>
          </a:p>
        </p:txBody>
      </p:sp>
      <p:sp>
        <p:nvSpPr>
          <p:cNvPr id="24" name="TextBox 23"/>
          <p:cNvSpPr txBox="1"/>
          <p:nvPr/>
        </p:nvSpPr>
        <p:spPr>
          <a:xfrm>
            <a:off x="7357262" y="2340864"/>
            <a:ext cx="1830628" cy="603504"/>
          </a:xfrm>
          <a:prstGeom prst="rect">
            <a:avLst/>
          </a:prstGeom>
          <a:noFill/>
        </p:spPr>
        <p:txBody>
          <a:bodyPr wrap="square" lIns="27432" tIns="27432" rIns="27432" bIns="27432" anchor="ctr">
            <a:spAutoFit/>
          </a:bodyPr>
          <a:lstStyle/>
          <a:p>
            <a:pPr algn="ctr">
              <a:spcAft>
                <a:spcPts val="0"/>
              </a:spcAft>
            </a:pPr>
            <a:r>
              <a:rPr sz="1400" b="1">
                <a:solidFill>
                  <a:srgbClr val="1E2B40"/>
                </a:solidFill>
              </a:rPr>
              <a:t>Check packet direction and security profile</a:t>
            </a:r>
          </a:p>
        </p:txBody>
      </p:sp>
      <p:cxnSp>
        <p:nvCxnSpPr>
          <p:cNvPr id="25" name="Connector 24"/>
          <p:cNvCxnSpPr/>
          <p:nvPr/>
        </p:nvCxnSpPr>
        <p:spPr>
          <a:xfrm>
            <a:off x="9297619" y="2523744"/>
            <a:ext cx="146304" cy="0"/>
          </a:xfrm>
          <a:prstGeom prst="line">
            <a:avLst/>
          </a:prstGeom>
          <a:ln w="25400">
            <a:solidFill>
              <a:srgbClr val="E60012"/>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9443923" y="1901952"/>
            <a:ext cx="2050084" cy="1234440"/>
          </a:xfrm>
          <a:prstGeom prst="rect">
            <a:avLst/>
          </a:prstGeom>
          <a:solidFill>
            <a:srgbClr val="FFFFFF"/>
          </a:solidFill>
          <a:ln w="12700">
            <a:solidFill>
              <a:srgbClr val="B9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553651" y="2020824"/>
            <a:ext cx="411480" cy="219456"/>
          </a:xfrm>
          <a:prstGeom prst="rect">
            <a:avLst/>
          </a:prstGeom>
          <a:noFill/>
        </p:spPr>
        <p:txBody>
          <a:bodyPr wrap="square" lIns="27432" tIns="27432" rIns="27432" bIns="27432" anchor="t">
            <a:spAutoFit/>
          </a:bodyPr>
          <a:lstStyle/>
          <a:p>
            <a:pPr algn="l">
              <a:spcAft>
                <a:spcPts val="0"/>
              </a:spcAft>
            </a:pPr>
            <a:r>
              <a:rPr sz="1100" b="1">
                <a:solidFill>
                  <a:srgbClr val="E60012"/>
                </a:solidFill>
              </a:rPr>
              <a:t>05</a:t>
            </a:r>
          </a:p>
        </p:txBody>
      </p:sp>
      <p:sp>
        <p:nvSpPr>
          <p:cNvPr id="28" name="TextBox 27"/>
          <p:cNvSpPr txBox="1"/>
          <p:nvPr/>
        </p:nvSpPr>
        <p:spPr>
          <a:xfrm>
            <a:off x="9553651" y="2340864"/>
            <a:ext cx="1830628" cy="603504"/>
          </a:xfrm>
          <a:prstGeom prst="rect">
            <a:avLst/>
          </a:prstGeom>
          <a:noFill/>
        </p:spPr>
        <p:txBody>
          <a:bodyPr wrap="square" lIns="27432" tIns="27432" rIns="27432" bIns="27432" anchor="ctr">
            <a:spAutoFit/>
          </a:bodyPr>
          <a:lstStyle/>
          <a:p>
            <a:pPr algn="ctr">
              <a:spcAft>
                <a:spcPts val="0"/>
              </a:spcAft>
            </a:pPr>
            <a:r>
              <a:rPr sz="1400" b="1">
                <a:solidFill>
                  <a:srgbClr val="1E2B40"/>
                </a:solidFill>
              </a:rPr>
              <a:t>Check CPU/memory/Conserve events and validate one reversible fix</a:t>
            </a:r>
          </a:p>
        </p:txBody>
      </p:sp>
      <p:sp>
        <p:nvSpPr>
          <p:cNvPr id="29" name="TextBox 28"/>
          <p:cNvSpPr txBox="1"/>
          <p:nvPr/>
        </p:nvSpPr>
        <p:spPr>
          <a:xfrm>
            <a:off x="658368" y="3703320"/>
            <a:ext cx="2011680" cy="256032"/>
          </a:xfrm>
          <a:prstGeom prst="rect">
            <a:avLst/>
          </a:prstGeom>
          <a:noFill/>
        </p:spPr>
        <p:txBody>
          <a:bodyPr wrap="square" lIns="27432" tIns="27432" rIns="27432" bIns="27432" anchor="t">
            <a:spAutoFit/>
          </a:bodyPr>
          <a:lstStyle/>
          <a:p>
            <a:pPr algn="l">
              <a:spcAft>
                <a:spcPts val="0"/>
              </a:spcAft>
            </a:pPr>
            <a:r>
              <a:rPr sz="1100" b="1">
                <a:solidFill>
                  <a:srgbClr val="E60012"/>
                </a:solidFill>
              </a:rPr>
              <a:t>What to observe</a:t>
            </a:r>
          </a:p>
        </p:txBody>
      </p:sp>
      <p:sp>
        <p:nvSpPr>
          <p:cNvPr id="30" name="TextBox 29"/>
          <p:cNvSpPr txBox="1"/>
          <p:nvPr/>
        </p:nvSpPr>
        <p:spPr>
          <a:xfrm>
            <a:off x="658368" y="4050791"/>
            <a:ext cx="6446520" cy="1508760"/>
          </a:xfrm>
          <a:prstGeom prst="rect">
            <a:avLst/>
          </a:prstGeom>
          <a:noFill/>
        </p:spPr>
        <p:txBody>
          <a:bodyPr wrap="square" lIns="109728" tIns="73152" rIns="109728" bIns="73152" anchor="t">
            <a:spAutoFit/>
          </a:bodyPr>
          <a:lstStyle/>
          <a:p>
            <a:pPr algn="l">
              <a:lnSpc>
                <a:spcPct val="105000"/>
              </a:lnSpc>
              <a:spcAft>
                <a:spcPts val="700"/>
              </a:spcAft>
              <a:defRPr sz="1600">
                <a:solidFill>
                  <a:srgbClr val="1E2B40"/>
                </a:solidFill>
              </a:defRPr>
            </a:pPr>
            <a:r>
              <a:t>• Check policy/NAT/session/logs</a:t>
            </a:r>
          </a:p>
          <a:p>
            <a:pPr>
              <a:lnSpc>
                <a:spcPct val="105000"/>
              </a:lnSpc>
              <a:spcAft>
                <a:spcPts val="700"/>
              </a:spcAft>
              <a:defRPr sz="1600">
                <a:solidFill>
                  <a:srgbClr val="1E2B40"/>
                </a:solidFill>
              </a:defRPr>
            </a:pPr>
            <a:r>
              <a:t>• Check packet direction and security profile</a:t>
            </a:r>
          </a:p>
          <a:p>
            <a:pPr>
              <a:lnSpc>
                <a:spcPct val="105000"/>
              </a:lnSpc>
              <a:spcAft>
                <a:spcPts val="700"/>
              </a:spcAft>
              <a:defRPr sz="1600">
                <a:solidFill>
                  <a:srgbClr val="1E2B40"/>
                </a:solidFill>
              </a:defRPr>
            </a:pPr>
            <a:r>
              <a:t>• Check CPU/memory/Conserve events and validate one reversible fix</a:t>
            </a:r>
          </a:p>
        </p:txBody>
      </p:sp>
      <p:cxnSp>
        <p:nvCxnSpPr>
          <p:cNvPr id="31" name="Connector 30"/>
          <p:cNvCxnSpPr/>
          <p:nvPr/>
        </p:nvCxnSpPr>
        <p:spPr>
          <a:xfrm>
            <a:off x="7452360" y="3703320"/>
            <a:ext cx="0" cy="2093976"/>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7772400" y="3703320"/>
            <a:ext cx="292608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INSTRUCTOR DEMONSTRATION</a:t>
            </a:r>
            <a:endParaRPr sz="1100" b="1">
              <a:solidFill>
                <a:srgbClr val="E60012"/>
              </a:solidFill>
            </a:endParaRPr>
          </a:p>
        </p:txBody>
      </p:sp>
      <p:sp>
        <p:nvSpPr>
          <p:cNvPr id="33" name="TextBox 32"/>
          <p:cNvSpPr txBox="1"/>
          <p:nvPr/>
        </p:nvSpPr>
        <p:spPr>
          <a:xfrm>
            <a:off x="7772400" y="4096512"/>
            <a:ext cx="3337560" cy="1234440"/>
          </a:xfrm>
          <a:prstGeom prst="rect">
            <a:avLst/>
          </a:prstGeom>
          <a:noFill/>
        </p:spPr>
        <p:txBody>
          <a:bodyPr wrap="square" lIns="27432" tIns="27432" rIns="27432" bIns="27432" anchor="t">
            <a:spAutoFit/>
          </a:bodyPr>
          <a:lstStyle/>
          <a:p>
            <a:pPr algn="l">
              <a:spcAft>
                <a:spcPts val="0"/>
              </a:spcAft>
            </a:pPr>
            <a:r>
              <a:rPr sz="1500" b="1">
                <a:solidFill>
                  <a:srgbClr val="233A59"/>
                </a:solidFill>
              </a:rPr>
              <a:t>Preserve timestamps and before/after state; stop/reset debug operations.</a:t>
            </a:r>
          </a:p>
        </p:txBody>
      </p:sp>
      <p:sp>
        <p:nvSpPr>
          <p:cNvPr id="34" name="TextBox 33"/>
          <p:cNvSpPr txBox="1"/>
          <p:nvPr/>
        </p:nvSpPr>
        <p:spPr>
          <a:xfrm>
            <a:off x="7772400" y="5440680"/>
            <a:ext cx="3337560" cy="363176"/>
          </a:xfrm>
          <a:prstGeom prst="rect">
            <a:avLst/>
          </a:prstGeom>
          <a:noFill/>
        </p:spPr>
        <p:txBody>
          <a:bodyPr wrap="square" lIns="27432" tIns="27432" rIns="27432" bIns="27432" anchor="t">
            <a:spAutoFit/>
          </a:bodyPr>
          <a:lstStyle/>
          <a:p>
            <a:pPr algn="l">
              <a:spcAft>
                <a:spcPts val="0"/>
              </a:spcAft>
            </a:pPr>
            <a:r>
              <a:rPr lang="en-GB" sz="1000" b="0">
                <a:solidFill>
                  <a:srgbClr val="687385"/>
                </a:solidFill>
              </a:rPr>
              <a:t>If debug is used, filter by the test tuple and disable</a:t>
            </a:r>
            <a:r>
              <a:rPr sz="1000" b="0">
                <a:solidFill>
                  <a:srgbClr val="687385"/>
                </a:solidFill>
              </a:rPr>
              <a:t>/reset </a:t>
            </a:r>
            <a:r>
              <a:rPr lang="en-GB" sz="1000" b="0">
                <a:solidFill>
                  <a:srgbClr val="687385"/>
                </a:solidFill>
              </a:rPr>
              <a:t>it immediately </a:t>
            </a:r>
            <a:r>
              <a:rPr sz="1000" b="0">
                <a:solidFill>
                  <a:srgbClr val="687385"/>
                </a:solidFill>
              </a:rPr>
              <a:t>after </a:t>
            </a:r>
            <a:r>
              <a:rPr lang="en-GB" sz="1000" b="0">
                <a:solidFill>
                  <a:srgbClr val="687385"/>
                </a:solidFill>
              </a:rPr>
              <a:t>capture</a:t>
            </a:r>
            <a:r>
              <a:rPr sz="1000" b="0">
                <a:solidFill>
                  <a:srgbClr val="687385"/>
                </a:solidFill>
              </a:rPr>
              <a:t>.</a:t>
            </a:r>
          </a:p>
        </p:txBody>
      </p:sp>
      <p:sp>
        <p:nvSpPr>
          <p:cNvPr id="35" name="TextBox 34"/>
          <p:cNvSpPr txBox="1"/>
          <p:nvPr/>
        </p:nvSpPr>
        <p:spPr>
          <a:xfrm>
            <a:off x="502920" y="420624"/>
            <a:ext cx="10744200" cy="130805"/>
          </a:xfrm>
          <a:prstGeom prst="rect">
            <a:avLst/>
          </a:prstGeom>
          <a:noFill/>
        </p:spPr>
        <p:txBody>
          <a:bodyPr wrap="square" lIns="0" tIns="0" rIns="0" bIns="0">
            <a:spAutoFit/>
          </a:bodyPr>
          <a:lstStyle/>
          <a:p>
            <a:pPr algn="l"/>
            <a:r>
              <a:rPr lang="en-HU" sz="850" b="1">
                <a:solidFill>
                  <a:srgbClr val="687385"/>
                </a:solidFill>
              </a:rPr>
              <a:t>197</a:t>
            </a:r>
            <a:r>
              <a:rPr sz="850" b="1">
                <a:solidFill>
                  <a:srgbClr val="687385"/>
                </a:solidFill>
              </a:rPr>
              <a:t> • DAY 4 • BLOCK 16 • Performance, Troubleshooting &amp; Capstone</a:t>
            </a:r>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name="Slide 198">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198</a:t>
            </a:r>
          </a:p>
        </p:txBody>
      </p:sp>
      <p:sp>
        <p:nvSpPr>
          <p:cNvPr id="9" name="TextBox 8"/>
          <p:cNvSpPr txBox="1">
            <a:spLocks/>
          </p:cNvSpPr>
          <p:nvPr/>
        </p:nvSpPr>
        <p:spPr>
          <a:xfrm>
            <a:off x="502920" y="621792"/>
            <a:ext cx="11109960" cy="455509"/>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Practical handoff: Enterprise Branch Incident</a:t>
            </a:r>
          </a:p>
        </p:txBody>
      </p:sp>
      <p:sp>
        <p:nvSpPr>
          <p:cNvPr id="10" name="TextBox 9"/>
          <p:cNvSpPr txBox="1">
            <a:spLocks/>
          </p:cNvSpPr>
          <p:nvPr/>
        </p:nvSpPr>
        <p:spPr>
          <a:xfrm>
            <a:off x="658368" y="1554480"/>
            <a:ext cx="6583680" cy="3846117"/>
          </a:xfrm>
          <a:prstGeom prst="rect">
            <a:avLst/>
          </a:prstGeom>
          <a:noFill/>
        </p:spPr>
        <p:txBody>
          <a:bodyPr wrap="square" lIns="109728" tIns="73152" rIns="109728" bIns="73152" anchor="t">
            <a:spAutoFit/>
          </a:bodyPr>
          <a:lstStyle/>
          <a:p>
            <a:pPr algn="l">
              <a:lnSpc>
                <a:spcPct val="105000"/>
              </a:lnSpc>
              <a:spcAft>
                <a:spcPts val="800"/>
              </a:spcAft>
              <a:defRPr sz="1700">
                <a:solidFill>
                  <a:srgbClr val="1E2B40"/>
                </a:solidFill>
              </a:defRPr>
            </a:pPr>
            <a:r>
              <a:rPr lang="en-GB"/>
              <a:t>• START / PREREQUISITES: Validated Student N FortiGate, Linux client 10.N.10.10, DMZ server 10.N.20.10 and known-good snapshot.</a:t>
            </a:r>
          </a:p>
          <a:p>
            <a:pPr>
              <a:lnSpc>
                <a:spcPct val="105000"/>
              </a:lnSpc>
              <a:spcAft>
                <a:spcPts val="800"/>
              </a:spcAft>
              <a:defRPr sz="1700">
                <a:solidFill>
                  <a:srgbClr val="1E2B40"/>
                </a:solidFill>
              </a:defRPr>
            </a:pPr>
            <a:r>
              <a:rPr lang="en-GB"/>
              <a:t>• CHANGE / INVESTIGATE: Diagnose achievable policy/object, local routing/return-path and certificate-trust/security-inspection faults.</a:t>
            </a:r>
          </a:p>
          <a:p>
            <a:pPr>
              <a:lnSpc>
                <a:spcPct val="105000"/>
              </a:lnSpc>
              <a:spcAft>
                <a:spcPts val="800"/>
              </a:spcAft>
              <a:defRPr sz="1700">
                <a:solidFill>
                  <a:srgbClr val="1E2B40"/>
                </a:solidFill>
              </a:defRPr>
            </a:pPr>
            <a:r>
              <a:rPr lang="en-GB"/>
              <a:t>• EXPECTED RESULT: The assigned service works bidirectionally and policy, route, session and inspection state match the expected local path.</a:t>
            </a:r>
          </a:p>
          <a:p>
            <a:pPr>
              <a:lnSpc>
                <a:spcPct val="105000"/>
              </a:lnSpc>
              <a:spcAft>
                <a:spcPts val="800"/>
              </a:spcAft>
              <a:defRPr sz="1700">
                <a:solidFill>
                  <a:srgbClr val="1E2B40"/>
                </a:solidFill>
              </a:defRPr>
            </a:pPr>
            <a:r>
              <a:rPr lang="en-GB"/>
              <a:t>• CLEANUP / RESET: Remove every intentional fault and confirm management plus Internet breakout.</a:t>
            </a:r>
          </a:p>
          <a:p>
            <a:pPr>
              <a:lnSpc>
                <a:spcPct val="105000"/>
              </a:lnSpc>
              <a:spcAft>
                <a:spcPts val="800"/>
              </a:spcAft>
              <a:defRPr sz="1700">
                <a:solidFill>
                  <a:srgbClr val="1E2B40"/>
                </a:solidFill>
              </a:defRPr>
            </a:pPr>
            <a:r>
              <a:rPr lang="en-GB"/>
              <a:t>• DELIVERY: Mandatory hands-on base-lab capstone; VPN, SD-WAN, HA and EMS are future/optional variants.</a:t>
            </a:r>
          </a:p>
        </p:txBody>
      </p:sp>
      <p:cxnSp>
        <p:nvCxnSpPr>
          <p:cNvPr id="11" name="Connector 10"/>
          <p:cNvCxnSpPr/>
          <p:nvPr/>
        </p:nvCxnSpPr>
        <p:spPr>
          <a:xfrm>
            <a:off x="7452360" y="1600200"/>
            <a:ext cx="0" cy="4343400"/>
          </a:xfrm>
          <a:prstGeom prst="line">
            <a:avLst/>
          </a:prstGeom>
          <a:ln w="12700">
            <a:solidFill>
              <a:srgbClr val="D8E0EA"/>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7790688" y="1627632"/>
            <a:ext cx="3429000" cy="224677"/>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PLANNED EXERCISE</a:t>
            </a:r>
          </a:p>
        </p:txBody>
      </p:sp>
      <p:sp>
        <p:nvSpPr>
          <p:cNvPr id="13" name="TextBox 12"/>
          <p:cNvSpPr txBox="1">
            <a:spLocks/>
          </p:cNvSpPr>
          <p:nvPr/>
        </p:nvSpPr>
        <p:spPr>
          <a:xfrm>
            <a:off x="7790688" y="2057400"/>
            <a:ext cx="3337560" cy="1101840"/>
          </a:xfrm>
          <a:prstGeom prst="rect">
            <a:avLst/>
          </a:prstGeom>
          <a:noFill/>
        </p:spPr>
        <p:txBody>
          <a:bodyPr wrap="square" lIns="27432" tIns="27432" rIns="27432" bIns="27432" anchor="t">
            <a:spAutoFit/>
          </a:bodyPr>
          <a:lstStyle/>
          <a:p>
            <a:pPr algn="l">
              <a:spcAft>
                <a:spcPts val="0"/>
              </a:spcAft>
            </a:pPr>
            <a:r>
              <a:rPr lang="en-GB" sz="1700" b="1">
                <a:solidFill>
                  <a:srgbClr val="233A59"/>
                </a:solidFill>
              </a:rPr>
              <a:t>Diagnose policy/object, local route/return path and certificate-trust/security-inspection faults using Student N addressing.</a:t>
            </a:r>
          </a:p>
        </p:txBody>
      </p:sp>
      <p:sp>
        <p:nvSpPr>
          <p:cNvPr id="14" name="TextBox 13"/>
          <p:cNvSpPr txBox="1">
            <a:spLocks/>
          </p:cNvSpPr>
          <p:nvPr/>
        </p:nvSpPr>
        <p:spPr>
          <a:xfrm>
            <a:off x="7790688" y="3822191"/>
            <a:ext cx="1828800" cy="228600"/>
          </a:xfrm>
          <a:prstGeom prst="rect">
            <a:avLst/>
          </a:prstGeom>
          <a:noFill/>
        </p:spPr>
        <p:txBody>
          <a:bodyPr wrap="square" lIns="27432" tIns="27432" rIns="27432" bIns="27432" anchor="t">
            <a:spAutoFit/>
          </a:bodyPr>
          <a:lstStyle/>
          <a:p>
            <a:pPr algn="l">
              <a:spcAft>
                <a:spcPts val="0"/>
              </a:spcAft>
            </a:pPr>
            <a:r>
              <a:rPr lang="en-GB" sz="1100" b="1">
                <a:solidFill>
                  <a:srgbClr val="E60012"/>
                </a:solidFill>
              </a:rPr>
              <a:t>EXPECTED RESULT</a:t>
            </a:r>
          </a:p>
        </p:txBody>
      </p:sp>
      <p:sp>
        <p:nvSpPr>
          <p:cNvPr id="15" name="TextBox 14"/>
          <p:cNvSpPr txBox="1">
            <a:spLocks/>
          </p:cNvSpPr>
          <p:nvPr/>
        </p:nvSpPr>
        <p:spPr>
          <a:xfrm>
            <a:off x="7790688" y="4187952"/>
            <a:ext cx="3337560" cy="747897"/>
          </a:xfrm>
          <a:prstGeom prst="rect">
            <a:avLst/>
          </a:prstGeom>
          <a:noFill/>
        </p:spPr>
        <p:txBody>
          <a:bodyPr wrap="square" lIns="27432" tIns="27432" rIns="27432" bIns="27432" anchor="t">
            <a:spAutoFit/>
          </a:bodyPr>
          <a:lstStyle/>
          <a:p>
            <a:pPr algn="l">
              <a:spcAft>
                <a:spcPts val="0"/>
              </a:spcAft>
            </a:pPr>
            <a:r>
              <a:rPr lang="en-GB" sz="1500" b="0">
                <a:solidFill>
                  <a:srgbClr val="1E2B40"/>
                </a:solidFill>
              </a:rPr>
              <a:t>Required service works bidirectionally; route, policy, session and inspection state match the expected local path.</a:t>
            </a:r>
          </a:p>
        </p:txBody>
      </p:sp>
      <p:sp>
        <p:nvSpPr>
          <p:cNvPr id="16" name="TextBox 15"/>
          <p:cNvSpPr txBox="1">
            <a:spLocks/>
          </p:cNvSpPr>
          <p:nvPr/>
        </p:nvSpPr>
        <p:spPr>
          <a:xfrm>
            <a:off x="7790688" y="5559552"/>
            <a:ext cx="1097280" cy="209288"/>
          </a:xfrm>
          <a:prstGeom prst="rect">
            <a:avLst/>
          </a:prstGeom>
          <a:noFill/>
        </p:spPr>
        <p:txBody>
          <a:bodyPr wrap="square" lIns="27432" tIns="27432" rIns="27432" bIns="27432" anchor="t">
            <a:spAutoFit/>
          </a:bodyPr>
          <a:lstStyle/>
          <a:p>
            <a:pPr algn="l">
              <a:spcAft>
                <a:spcPts val="0"/>
              </a:spcAft>
            </a:pPr>
            <a:r>
              <a:rPr lang="en-GB" sz="1000" b="1">
                <a:solidFill>
                  <a:srgbClr val="687385"/>
                </a:solidFill>
              </a:rPr>
              <a:t>DELIVERY MODE</a:t>
            </a:r>
          </a:p>
        </p:txBody>
      </p:sp>
      <p:sp>
        <p:nvSpPr>
          <p:cNvPr id="17" name="TextBox 16"/>
          <p:cNvSpPr txBox="1">
            <a:spLocks/>
          </p:cNvSpPr>
          <p:nvPr/>
        </p:nvSpPr>
        <p:spPr>
          <a:xfrm>
            <a:off x="8942832" y="5504688"/>
            <a:ext cx="2258568" cy="486287"/>
          </a:xfrm>
          <a:prstGeom prst="rect">
            <a:avLst/>
          </a:prstGeom>
          <a:noFill/>
        </p:spPr>
        <p:txBody>
          <a:bodyPr wrap="square" lIns="27432" tIns="27432" rIns="27432" bIns="27432" anchor="t">
            <a:spAutoFit/>
          </a:bodyPr>
          <a:lstStyle/>
          <a:p>
            <a:pPr algn="r">
              <a:spcAft>
                <a:spcPts val="0"/>
              </a:spcAft>
            </a:pPr>
            <a:r>
              <a:rPr lang="en-GB" sz="1400" b="0">
                <a:solidFill>
                  <a:srgbClr val="687385"/>
                </a:solidFill>
              </a:rPr>
              <a:t>Mandatory base lab; future/optional variants</a:t>
            </a:r>
          </a:p>
        </p:txBody>
      </p:sp>
      <p:sp>
        <p:nvSpPr>
          <p:cNvPr id="18" name="TextBox 17"/>
          <p:cNvSpPr txBox="1">
            <a:spLocks/>
          </p:cNvSpPr>
          <p:nvPr/>
        </p:nvSpPr>
        <p:spPr>
          <a:xfrm>
            <a:off x="502920" y="420624"/>
            <a:ext cx="10744200" cy="130805"/>
          </a:xfrm>
          <a:prstGeom prst="rect">
            <a:avLst/>
          </a:prstGeom>
          <a:noFill/>
        </p:spPr>
        <p:txBody>
          <a:bodyPr wrap="square" lIns="0" tIns="0" rIns="0" bIns="0">
            <a:spAutoFit/>
          </a:bodyPr>
          <a:lstStyle/>
          <a:p>
            <a:pPr algn="l"/>
            <a:r>
              <a:rPr lang="en-GB" sz="850" b="1">
                <a:solidFill>
                  <a:srgbClr val="687385"/>
                </a:solidFill>
              </a:rPr>
              <a:t>198 • DAY 4 • BLOCK 16 • Performance, Troubleshooting &amp; Capstone</a:t>
            </a:r>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name="Slide 199">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199</a:t>
            </a:r>
          </a:p>
        </p:txBody>
      </p:sp>
      <p:sp>
        <p:nvSpPr>
          <p:cNvPr id="9" name="TextBox 8"/>
          <p:cNvSpPr txBox="1">
            <a:spLocks/>
          </p:cNvSpPr>
          <p:nvPr/>
        </p:nvSpPr>
        <p:spPr>
          <a:xfrm>
            <a:off x="502920" y="621792"/>
            <a:ext cx="11109960" cy="455509"/>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Knowledge check — explain the result</a:t>
            </a:r>
          </a:p>
        </p:txBody>
      </p:sp>
      <p:sp>
        <p:nvSpPr>
          <p:cNvPr id="10" name="TextBox 9"/>
          <p:cNvSpPr txBox="1">
            <a:spLocks/>
          </p:cNvSpPr>
          <p:nvPr/>
        </p:nvSpPr>
        <p:spPr>
          <a:xfrm>
            <a:off x="658368" y="1600200"/>
            <a:ext cx="5312664" cy="292608"/>
          </a:xfrm>
          <a:prstGeom prst="rect">
            <a:avLst/>
          </a:prstGeom>
          <a:noFill/>
        </p:spPr>
        <p:txBody>
          <a:bodyPr wrap="square" lIns="27432" tIns="27432" rIns="27432" bIns="27432" anchor="t">
            <a:spAutoFit/>
          </a:bodyPr>
          <a:lstStyle/>
          <a:p>
            <a:pPr algn="l">
              <a:spcAft>
                <a:spcPts val="0"/>
              </a:spcAft>
            </a:pPr>
            <a:r>
              <a:rPr lang="en-GB" sz="1300" b="1">
                <a:solidFill>
                  <a:srgbClr val="E60012"/>
                </a:solidFill>
              </a:rPr>
              <a:t>QUESTION 1</a:t>
            </a:r>
          </a:p>
        </p:txBody>
      </p:sp>
      <p:cxnSp>
        <p:nvCxnSpPr>
          <p:cNvPr id="11" name="Connector 10"/>
          <p:cNvCxnSpPr/>
          <p:nvPr/>
        </p:nvCxnSpPr>
        <p:spPr>
          <a:xfrm>
            <a:off x="658368" y="1984248"/>
            <a:ext cx="5312664" cy="0"/>
          </a:xfrm>
          <a:prstGeom prst="line">
            <a:avLst/>
          </a:prstGeom>
          <a:ln w="22860">
            <a:solidFill>
              <a:srgbClr val="E60012"/>
            </a:solidFill>
          </a:ln>
        </p:spPr>
        <p:style>
          <a:lnRef idx="2">
            <a:schemeClr val="accent1"/>
          </a:lnRef>
          <a:fillRef idx="0">
            <a:schemeClr val="accent1"/>
          </a:fillRef>
          <a:effectRef idx="1">
            <a:schemeClr val="accent1"/>
          </a:effectRef>
          <a:fontRef idx="minor">
            <a:schemeClr val="tx1"/>
          </a:fontRef>
        </p:style>
      </p:cxnSp>
      <p:sp>
        <p:nvSpPr>
          <p:cNvPr id="12" name="TextBox 11"/>
          <p:cNvSpPr txBox="1">
            <a:spLocks/>
          </p:cNvSpPr>
          <p:nvPr/>
        </p:nvSpPr>
        <p:spPr>
          <a:xfrm>
            <a:off x="658368" y="2176272"/>
            <a:ext cx="5312664" cy="3337560"/>
          </a:xfrm>
          <a:prstGeom prst="rect">
            <a:avLst/>
          </a:prstGeom>
          <a:noFill/>
        </p:spPr>
        <p:txBody>
          <a:bodyPr wrap="square" lIns="109728" tIns="73152" rIns="109728" bIns="73152" anchor="t">
            <a:spAutoFit/>
          </a:bodyPr>
          <a:lstStyle/>
          <a:p>
            <a:pPr algn="l">
              <a:lnSpc>
                <a:spcPct val="105000"/>
              </a:lnSpc>
              <a:spcAft>
                <a:spcPts val="800"/>
              </a:spcAft>
              <a:defRPr sz="1600">
                <a:solidFill>
                  <a:srgbClr val="1E2B40"/>
                </a:solidFill>
              </a:defRPr>
            </a:pPr>
            <a:r>
              <a:rPr lang="en-GB"/>
              <a:t>• What is the first deliverable in the capstone?</a:t>
            </a:r>
          </a:p>
        </p:txBody>
      </p:sp>
      <p:sp>
        <p:nvSpPr>
          <p:cNvPr id="13" name="TextBox 12"/>
          <p:cNvSpPr txBox="1">
            <a:spLocks/>
          </p:cNvSpPr>
          <p:nvPr/>
        </p:nvSpPr>
        <p:spPr>
          <a:xfrm>
            <a:off x="6227064" y="1600200"/>
            <a:ext cx="5312664" cy="292608"/>
          </a:xfrm>
          <a:prstGeom prst="rect">
            <a:avLst/>
          </a:prstGeom>
          <a:noFill/>
        </p:spPr>
        <p:txBody>
          <a:bodyPr wrap="square" lIns="27432" tIns="27432" rIns="27432" bIns="27432" anchor="t">
            <a:spAutoFit/>
          </a:bodyPr>
          <a:lstStyle/>
          <a:p>
            <a:pPr algn="l">
              <a:spcAft>
                <a:spcPts val="0"/>
              </a:spcAft>
            </a:pPr>
            <a:r>
              <a:rPr lang="en-GB" sz="1300" b="1">
                <a:solidFill>
                  <a:srgbClr val="E60012"/>
                </a:solidFill>
              </a:rPr>
              <a:t>QUESTION 2</a:t>
            </a:r>
          </a:p>
        </p:txBody>
      </p:sp>
      <p:cxnSp>
        <p:nvCxnSpPr>
          <p:cNvPr id="14" name="Connector 13"/>
          <p:cNvCxnSpPr/>
          <p:nvPr/>
        </p:nvCxnSpPr>
        <p:spPr>
          <a:xfrm>
            <a:off x="6227064" y="1984248"/>
            <a:ext cx="5312664" cy="0"/>
          </a:xfrm>
          <a:prstGeom prst="line">
            <a:avLst/>
          </a:prstGeom>
          <a:ln w="22860">
            <a:solidFill>
              <a:srgbClr val="E60012"/>
            </a:solidFill>
          </a:ln>
        </p:spPr>
        <p:style>
          <a:lnRef idx="2">
            <a:schemeClr val="accent1"/>
          </a:lnRef>
          <a:fillRef idx="0">
            <a:schemeClr val="accent1"/>
          </a:fillRef>
          <a:effectRef idx="1">
            <a:schemeClr val="accent1"/>
          </a:effectRef>
          <a:fontRef idx="minor">
            <a:schemeClr val="tx1"/>
          </a:fontRef>
        </p:style>
      </p:cxnSp>
      <p:sp>
        <p:nvSpPr>
          <p:cNvPr id="15" name="TextBox 14"/>
          <p:cNvSpPr txBox="1">
            <a:spLocks/>
          </p:cNvSpPr>
          <p:nvPr/>
        </p:nvSpPr>
        <p:spPr>
          <a:xfrm>
            <a:off x="6227064" y="2176272"/>
            <a:ext cx="5312664" cy="3337560"/>
          </a:xfrm>
          <a:prstGeom prst="rect">
            <a:avLst/>
          </a:prstGeom>
          <a:noFill/>
        </p:spPr>
        <p:txBody>
          <a:bodyPr wrap="square" lIns="109728" tIns="73152" rIns="109728" bIns="73152" anchor="t">
            <a:spAutoFit/>
          </a:bodyPr>
          <a:lstStyle/>
          <a:p>
            <a:pPr algn="l">
              <a:lnSpc>
                <a:spcPct val="105000"/>
              </a:lnSpc>
              <a:spcAft>
                <a:spcPts val="800"/>
              </a:spcAft>
              <a:defRPr sz="1600">
                <a:solidFill>
                  <a:srgbClr val="1E2B40"/>
                </a:solidFill>
              </a:defRPr>
            </a:pPr>
            <a:r>
              <a:rPr lang="en-GB"/>
              <a:t>• When is the incident resolved?</a:t>
            </a:r>
          </a:p>
        </p:txBody>
      </p:sp>
      <p:sp>
        <p:nvSpPr>
          <p:cNvPr id="16" name="TextBox 15"/>
          <p:cNvSpPr txBox="1">
            <a:spLocks/>
          </p:cNvSpPr>
          <p:nvPr/>
        </p:nvSpPr>
        <p:spPr>
          <a:xfrm>
            <a:off x="658368" y="5724144"/>
            <a:ext cx="1234440" cy="224677"/>
          </a:xfrm>
          <a:prstGeom prst="rect">
            <a:avLst/>
          </a:prstGeom>
          <a:noFill/>
        </p:spPr>
        <p:txBody>
          <a:bodyPr wrap="square" lIns="27432" tIns="27432" rIns="27432" bIns="27432" anchor="t">
            <a:spAutoFit/>
          </a:bodyPr>
          <a:lstStyle/>
          <a:p>
            <a:pPr algn="l">
              <a:spcAft>
                <a:spcPts val="0"/>
              </a:spcAft>
            </a:pPr>
            <a:r>
              <a:rPr lang="en-GB" sz="1100" b="1">
                <a:solidFill>
                  <a:srgbClr val="233A59"/>
                </a:solidFill>
              </a:rPr>
              <a:t>KEY DISTINCTION</a:t>
            </a:r>
          </a:p>
        </p:txBody>
      </p:sp>
      <p:sp>
        <p:nvSpPr>
          <p:cNvPr id="17" name="TextBox 16"/>
          <p:cNvSpPr txBox="1">
            <a:spLocks/>
          </p:cNvSpPr>
          <p:nvPr/>
        </p:nvSpPr>
        <p:spPr>
          <a:xfrm>
            <a:off x="1920240" y="5687568"/>
            <a:ext cx="9235440" cy="329184"/>
          </a:xfrm>
          <a:prstGeom prst="rect">
            <a:avLst/>
          </a:prstGeom>
          <a:noFill/>
        </p:spPr>
        <p:txBody>
          <a:bodyPr wrap="square" lIns="27432" tIns="27432" rIns="27432" bIns="27432" anchor="t">
            <a:spAutoFit/>
          </a:bodyPr>
          <a:lstStyle/>
          <a:p>
            <a:pPr algn="l">
              <a:spcAft>
                <a:spcPts val="0"/>
              </a:spcAft>
            </a:pPr>
            <a:r>
              <a:rPr lang="en-GB" sz="1400" b="1">
                <a:solidFill>
                  <a:srgbClr val="233A59"/>
                </a:solidFill>
              </a:rPr>
              <a:t>Answers and teaching rationale are in speaker notes.</a:t>
            </a:r>
          </a:p>
        </p:txBody>
      </p:sp>
      <p:sp>
        <p:nvSpPr>
          <p:cNvPr id="18" name="TextBox 17"/>
          <p:cNvSpPr txBox="1">
            <a:spLocks/>
          </p:cNvSpPr>
          <p:nvPr/>
        </p:nvSpPr>
        <p:spPr>
          <a:xfrm>
            <a:off x="502920" y="420624"/>
            <a:ext cx="10744200" cy="130805"/>
          </a:xfrm>
          <a:prstGeom prst="rect">
            <a:avLst/>
          </a:prstGeom>
          <a:noFill/>
        </p:spPr>
        <p:txBody>
          <a:bodyPr wrap="square" lIns="0" tIns="0" rIns="0" bIns="0">
            <a:spAutoFit/>
          </a:bodyPr>
          <a:lstStyle/>
          <a:p>
            <a:pPr algn="l"/>
            <a:r>
              <a:rPr lang="en-GB" sz="850" b="1">
                <a:solidFill>
                  <a:srgbClr val="687385"/>
                </a:solidFill>
              </a:rPr>
              <a:t>199 • DAY 4 • BLOCK 16 • Performance, Troubleshooting &amp; Capstone</a:t>
            </a:r>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name="Slide 200">
    <p:bg>
      <p:bgPr>
        <a:solidFill>
          <a:srgbClr val="101827"/>
        </a:solidFill>
        <a:effectLst/>
      </p:bgPr>
    </p:bg>
    <p:spTree>
      <p:nvGrpSpPr>
        <p:cNvPr id="1" name=""/>
        <p:cNvGrpSpPr/>
        <p:nvPr/>
      </p:nvGrpSpPr>
      <p:grpSpPr>
        <a:xfrm>
          <a:off x="0" y="0"/>
          <a:ext cx="1" cy="1"/>
          <a:chOff x="0" y="0"/>
          <a:chExt cx="1" cy="1"/>
        </a:xfrm>
      </p:grpSpPr>
      <p:sp>
        <p:nvSpPr>
          <p:cNvPr id="2" name="Rectangle 1"/>
          <p:cNvSpPr/>
          <p:nvPr/>
        </p:nvSpPr>
        <p:spPr>
          <a:xfrm>
            <a:off x="0" y="0"/>
            <a:ext cx="146304" cy="6858000"/>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sp>
        <p:nvSpPr>
          <p:cNvPr id="3" name="TextBox 2"/>
          <p:cNvSpPr txBox="1">
            <a:spLocks/>
          </p:cNvSpPr>
          <p:nvPr/>
        </p:nvSpPr>
        <p:spPr>
          <a:xfrm>
            <a:off x="676656" y="566928"/>
            <a:ext cx="2743200" cy="256032"/>
          </a:xfrm>
          <a:prstGeom prst="rect">
            <a:avLst/>
          </a:prstGeom>
          <a:noFill/>
        </p:spPr>
        <p:txBody>
          <a:bodyPr wrap="square" lIns="27432" tIns="27432" rIns="27432" bIns="27432" anchor="t">
            <a:spAutoFit/>
          </a:bodyPr>
          <a:lstStyle/>
          <a:p>
            <a:pPr algn="l">
              <a:spcAft>
                <a:spcPts val="0"/>
              </a:spcAft>
            </a:pPr>
            <a:r>
              <a:rPr lang="en-GB" sz="1300" b="1">
                <a:solidFill>
                  <a:srgbClr val="E60012"/>
                </a:solidFill>
              </a:rPr>
              <a:t>COURSE WRAP-UP</a:t>
            </a:r>
          </a:p>
        </p:txBody>
      </p:sp>
      <p:sp>
        <p:nvSpPr>
          <p:cNvPr id="4" name="TextBox 3"/>
          <p:cNvSpPr txBox="1">
            <a:spLocks/>
          </p:cNvSpPr>
          <p:nvPr/>
        </p:nvSpPr>
        <p:spPr>
          <a:xfrm>
            <a:off x="676656" y="1188720"/>
            <a:ext cx="9966960" cy="1163395"/>
          </a:xfrm>
          <a:prstGeom prst="rect">
            <a:avLst/>
          </a:prstGeom>
          <a:noFill/>
        </p:spPr>
        <p:txBody>
          <a:bodyPr wrap="square" lIns="27432" tIns="27432" rIns="27432" bIns="27432" anchor="t">
            <a:spAutoFit/>
          </a:bodyPr>
          <a:lstStyle/>
          <a:p>
            <a:pPr algn="l">
              <a:spcAft>
                <a:spcPts val="0"/>
              </a:spcAft>
            </a:pPr>
            <a:r>
              <a:rPr lang="en-GB" sz="3600" b="1">
                <a:solidFill>
                  <a:srgbClr val="FFFFFF"/>
                </a:solidFill>
              </a:rPr>
              <a:t>Operate from packet state, logs and protocol state</a:t>
            </a:r>
          </a:p>
        </p:txBody>
      </p:sp>
      <p:sp>
        <p:nvSpPr>
          <p:cNvPr id="5" name="TextBox 4"/>
          <p:cNvSpPr txBox="1">
            <a:spLocks/>
          </p:cNvSpPr>
          <p:nvPr/>
        </p:nvSpPr>
        <p:spPr>
          <a:xfrm>
            <a:off x="694944" y="1993392"/>
            <a:ext cx="9875520" cy="502920"/>
          </a:xfrm>
          <a:prstGeom prst="rect">
            <a:avLst/>
          </a:prstGeom>
          <a:noFill/>
        </p:spPr>
        <p:txBody>
          <a:bodyPr wrap="square" lIns="27432" tIns="27432" rIns="27432" bIns="27432" anchor="t">
            <a:spAutoFit/>
          </a:bodyPr>
          <a:lstStyle/>
          <a:p>
            <a:pPr algn="l">
              <a:spcAft>
                <a:spcPts val="0"/>
              </a:spcAft>
            </a:pPr>
            <a:r>
              <a:rPr lang="en-GB" sz="1900" b="1">
                <a:solidFill>
                  <a:srgbClr val="D8E0EA"/>
                </a:solidFill>
              </a:rPr>
              <a:t>A complete diagnosis connects packet fields to route, policy, session, overlay, inspection and resource state.</a:t>
            </a:r>
          </a:p>
        </p:txBody>
      </p:sp>
      <p:sp>
        <p:nvSpPr>
          <p:cNvPr id="6" name="TextBox 5"/>
          <p:cNvSpPr txBox="1">
            <a:spLocks/>
          </p:cNvSpPr>
          <p:nvPr/>
        </p:nvSpPr>
        <p:spPr>
          <a:xfrm>
            <a:off x="777240" y="2907792"/>
            <a:ext cx="411480" cy="274320"/>
          </a:xfrm>
          <a:prstGeom prst="rect">
            <a:avLst/>
          </a:prstGeom>
          <a:noFill/>
        </p:spPr>
        <p:txBody>
          <a:bodyPr wrap="square" lIns="27432" tIns="27432" rIns="27432" bIns="27432" anchor="t">
            <a:spAutoFit/>
          </a:bodyPr>
          <a:lstStyle/>
          <a:p>
            <a:pPr algn="l">
              <a:spcAft>
                <a:spcPts val="0"/>
              </a:spcAft>
            </a:pPr>
            <a:r>
              <a:rPr lang="en-HU" sz="1300" b="1">
                <a:solidFill>
                  <a:srgbClr val="E60012"/>
                </a:solidFill>
              </a:rPr>
              <a:t>01</a:t>
            </a:r>
          </a:p>
        </p:txBody>
      </p:sp>
      <p:sp>
        <p:nvSpPr>
          <p:cNvPr id="7" name="TextBox 6"/>
          <p:cNvSpPr txBox="1">
            <a:spLocks/>
          </p:cNvSpPr>
          <p:nvPr/>
        </p:nvSpPr>
        <p:spPr>
          <a:xfrm>
            <a:off x="1325880" y="2907792"/>
            <a:ext cx="9601200" cy="578620"/>
          </a:xfrm>
          <a:prstGeom prst="rect">
            <a:avLst/>
          </a:prstGeom>
          <a:noFill/>
        </p:spPr>
        <p:txBody>
          <a:bodyPr wrap="square" lIns="27432" tIns="27432" rIns="27432" bIns="27432" anchor="t">
            <a:spAutoFit/>
          </a:bodyPr>
          <a:lstStyle/>
          <a:p>
            <a:pPr algn="l">
              <a:spcAft>
                <a:spcPts val="0"/>
              </a:spcAft>
            </a:pPr>
            <a:r>
              <a:rPr lang="en-GB" sz="1700" b="0">
                <a:solidFill>
                  <a:srgbClr val="FFFFFF"/>
                </a:solidFill>
              </a:rPr>
              <a:t>Every block includes theory, a worked mechanism, mistakes, troubleshooting, practical handoff and knowledge check</a:t>
            </a:r>
          </a:p>
        </p:txBody>
      </p:sp>
      <p:sp>
        <p:nvSpPr>
          <p:cNvPr id="8" name="TextBox 7"/>
          <p:cNvSpPr txBox="1">
            <a:spLocks/>
          </p:cNvSpPr>
          <p:nvPr/>
        </p:nvSpPr>
        <p:spPr>
          <a:xfrm>
            <a:off x="777240" y="3621024"/>
            <a:ext cx="411480" cy="274320"/>
          </a:xfrm>
          <a:prstGeom prst="rect">
            <a:avLst/>
          </a:prstGeom>
          <a:noFill/>
        </p:spPr>
        <p:txBody>
          <a:bodyPr wrap="square" lIns="27432" tIns="27432" rIns="27432" bIns="27432" anchor="t">
            <a:spAutoFit/>
          </a:bodyPr>
          <a:lstStyle/>
          <a:p>
            <a:pPr algn="l">
              <a:spcAft>
                <a:spcPts val="0"/>
              </a:spcAft>
            </a:pPr>
            <a:r>
              <a:rPr lang="en-HU" sz="1300" b="1">
                <a:solidFill>
                  <a:srgbClr val="E60012"/>
                </a:solidFill>
              </a:rPr>
              <a:t>02</a:t>
            </a:r>
          </a:p>
        </p:txBody>
      </p:sp>
      <p:sp>
        <p:nvSpPr>
          <p:cNvPr id="9" name="TextBox 8"/>
          <p:cNvSpPr txBox="1">
            <a:spLocks/>
          </p:cNvSpPr>
          <p:nvPr/>
        </p:nvSpPr>
        <p:spPr>
          <a:xfrm>
            <a:off x="1325880" y="3621024"/>
            <a:ext cx="9601200" cy="502920"/>
          </a:xfrm>
          <a:prstGeom prst="rect">
            <a:avLst/>
          </a:prstGeom>
          <a:noFill/>
        </p:spPr>
        <p:txBody>
          <a:bodyPr wrap="square" lIns="27432" tIns="27432" rIns="27432" bIns="27432" anchor="t">
            <a:spAutoFit/>
          </a:bodyPr>
          <a:lstStyle/>
          <a:p>
            <a:pPr algn="l">
              <a:spcAft>
                <a:spcPts val="0"/>
              </a:spcAft>
            </a:pPr>
            <a:r>
              <a:rPr lang="en-GB" sz="1700" b="0">
                <a:solidFill>
                  <a:srgbClr val="FFFFFF"/>
                </a:solidFill>
              </a:rPr>
              <a:t>Advanced coverage completes BGP, IPsec/ADVPN, VPN validation, FortiClient/EMS, HA, SD-WAN and performance</a:t>
            </a:r>
          </a:p>
        </p:txBody>
      </p:sp>
      <p:sp>
        <p:nvSpPr>
          <p:cNvPr id="10" name="TextBox 9"/>
          <p:cNvSpPr txBox="1">
            <a:spLocks/>
          </p:cNvSpPr>
          <p:nvPr/>
        </p:nvSpPr>
        <p:spPr>
          <a:xfrm>
            <a:off x="777240" y="4334256"/>
            <a:ext cx="411480" cy="274320"/>
          </a:xfrm>
          <a:prstGeom prst="rect">
            <a:avLst/>
          </a:prstGeom>
          <a:noFill/>
        </p:spPr>
        <p:txBody>
          <a:bodyPr wrap="square" lIns="27432" tIns="27432" rIns="27432" bIns="27432" anchor="t">
            <a:spAutoFit/>
          </a:bodyPr>
          <a:lstStyle/>
          <a:p>
            <a:pPr algn="l">
              <a:spcAft>
                <a:spcPts val="0"/>
              </a:spcAft>
            </a:pPr>
            <a:r>
              <a:rPr lang="en-HU" sz="1300" b="1">
                <a:solidFill>
                  <a:srgbClr val="E60012"/>
                </a:solidFill>
              </a:rPr>
              <a:t>03</a:t>
            </a:r>
          </a:p>
        </p:txBody>
      </p:sp>
      <p:sp>
        <p:nvSpPr>
          <p:cNvPr id="11" name="TextBox 10"/>
          <p:cNvSpPr txBox="1">
            <a:spLocks/>
          </p:cNvSpPr>
          <p:nvPr/>
        </p:nvSpPr>
        <p:spPr>
          <a:xfrm>
            <a:off x="1325880" y="4334256"/>
            <a:ext cx="9601200" cy="502920"/>
          </a:xfrm>
          <a:prstGeom prst="rect">
            <a:avLst/>
          </a:prstGeom>
          <a:noFill/>
        </p:spPr>
        <p:txBody>
          <a:bodyPr wrap="square" lIns="27432" tIns="27432" rIns="27432" bIns="27432" anchor="t">
            <a:spAutoFit/>
          </a:bodyPr>
          <a:lstStyle/>
          <a:p>
            <a:pPr algn="l">
              <a:spcAft>
                <a:spcPts val="0"/>
              </a:spcAft>
            </a:pPr>
            <a:r>
              <a:rPr lang="en-GB" sz="1700" b="0">
                <a:solidFill>
                  <a:srgbClr val="FFFFFF"/>
                </a:solidFill>
              </a:rPr>
              <a:t>Optional deep dives are marked in notes; practice time is protected</a:t>
            </a:r>
          </a:p>
        </p:txBody>
      </p:sp>
      <p:sp>
        <p:nvSpPr>
          <p:cNvPr id="12" name="TextBox 11"/>
          <p:cNvSpPr txBox="1">
            <a:spLocks/>
          </p:cNvSpPr>
          <p:nvPr/>
        </p:nvSpPr>
        <p:spPr>
          <a:xfrm>
            <a:off x="777240" y="5047488"/>
            <a:ext cx="411480" cy="274320"/>
          </a:xfrm>
          <a:prstGeom prst="rect">
            <a:avLst/>
          </a:prstGeom>
          <a:noFill/>
        </p:spPr>
        <p:txBody>
          <a:bodyPr wrap="square" lIns="27432" tIns="27432" rIns="27432" bIns="27432" anchor="t">
            <a:spAutoFit/>
          </a:bodyPr>
          <a:lstStyle/>
          <a:p>
            <a:pPr algn="l">
              <a:spcAft>
                <a:spcPts val="0"/>
              </a:spcAft>
            </a:pPr>
            <a:r>
              <a:rPr lang="en-HU" sz="1300" b="1">
                <a:solidFill>
                  <a:srgbClr val="E60012"/>
                </a:solidFill>
              </a:rPr>
              <a:t>04</a:t>
            </a:r>
          </a:p>
        </p:txBody>
      </p:sp>
      <p:sp>
        <p:nvSpPr>
          <p:cNvPr id="13" name="TextBox 12"/>
          <p:cNvSpPr txBox="1">
            <a:spLocks/>
          </p:cNvSpPr>
          <p:nvPr/>
        </p:nvSpPr>
        <p:spPr>
          <a:xfrm>
            <a:off x="1325880" y="5047488"/>
            <a:ext cx="9601200" cy="317010"/>
          </a:xfrm>
          <a:prstGeom prst="rect">
            <a:avLst/>
          </a:prstGeom>
          <a:noFill/>
        </p:spPr>
        <p:txBody>
          <a:bodyPr wrap="square" lIns="27432" tIns="27432" rIns="27432" bIns="27432" anchor="t">
            <a:spAutoFit/>
          </a:bodyPr>
          <a:lstStyle/>
          <a:p>
            <a:pPr algn="l">
              <a:spcAft>
                <a:spcPts val="0"/>
              </a:spcAft>
            </a:pPr>
            <a:r>
              <a:rPr lang="en-GB" sz="1700" b="0">
                <a:solidFill>
                  <a:srgbClr val="FFFFFF"/>
                </a:solidFill>
              </a:rPr>
              <a:t>Instructor validates FortiOS 7.6.7 build, platform, licensing and lab topology before delivery</a:t>
            </a:r>
          </a:p>
        </p:txBody>
      </p:sp>
      <p:sp>
        <p:nvSpPr>
          <p:cNvPr id="14" name="TextBox 13"/>
          <p:cNvSpPr txBox="1">
            <a:spLocks/>
          </p:cNvSpPr>
          <p:nvPr/>
        </p:nvSpPr>
        <p:spPr>
          <a:xfrm>
            <a:off x="694944" y="6080760"/>
            <a:ext cx="10241280" cy="274320"/>
          </a:xfrm>
          <a:prstGeom prst="rect">
            <a:avLst/>
          </a:prstGeom>
          <a:noFill/>
        </p:spPr>
        <p:txBody>
          <a:bodyPr wrap="square" lIns="27432" tIns="27432" rIns="27432" bIns="27432" anchor="t">
            <a:spAutoFit/>
          </a:bodyPr>
          <a:lstStyle/>
          <a:p>
            <a:pPr algn="l">
              <a:spcAft>
                <a:spcPts val="0"/>
              </a:spcAft>
            </a:pPr>
            <a:r>
              <a:rPr lang="en-GB" sz="1400" b="1">
                <a:solidFill>
                  <a:srgbClr val="E60012"/>
                </a:solidFill>
              </a:rPr>
              <a:t>Final Q&amp;A • capstone debrief • remove intentional faults • retain diagnostics and rollback</a:t>
            </a:r>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show="0">
  <p:cSld name="Slide 4">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7" name="TextBox 6"/>
          <p:cNvSpPr txBox="1">
            <a:spLocks/>
          </p:cNvSpPr>
          <p:nvPr/>
        </p:nvSpPr>
        <p:spPr>
          <a:xfrm>
            <a:off x="502920" y="6537960"/>
            <a:ext cx="10149840" cy="170816"/>
          </a:xfrm>
          <a:prstGeom prst="rect">
            <a:avLst/>
          </a:prstGeom>
          <a:noFill/>
        </p:spPr>
        <p:txBody>
          <a:bodyPr wrap="square" lIns="27432" tIns="27432" rIns="27432" bIns="27432" anchor="t">
            <a:spAutoFit/>
          </a:bodyPr>
          <a:lstStyle/>
          <a:p>
            <a:pPr algn="l">
              <a:spcAft>
                <a:spcPts val="0"/>
              </a:spcAft>
            </a:pPr>
            <a:r>
              <a:rPr lang="en-GB" sz="750" b="0">
                <a:solidFill>
                  <a:srgbClr val="687385"/>
                </a:solidFill>
              </a:rPr>
              <a:t>FortiGate Foundations + Advanced | Lab: FortiOS 7.6.7 on Azure FortiGate-VM • physical appliance theory included</a:t>
            </a:r>
          </a:p>
        </p:txBody>
      </p: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201</a:t>
            </a:r>
          </a:p>
        </p:txBody>
      </p:sp>
      <p:sp>
        <p:nvSpPr>
          <p:cNvPr id="9" name="TextBox 8"/>
          <p:cNvSpPr txBox="1">
            <a:spLocks/>
          </p:cNvSpPr>
          <p:nvPr/>
        </p:nvSpPr>
        <p:spPr>
          <a:xfrm>
            <a:off x="502920" y="621792"/>
            <a:ext cx="11109960" cy="455509"/>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Instructor preparation: what changed in version 1.5</a:t>
            </a:r>
          </a:p>
        </p:txBody>
      </p:sp>
      <p:sp>
        <p:nvSpPr>
          <p:cNvPr id="10" name="TextBox 9"/>
          <p:cNvSpPr txBox="1">
            <a:spLocks/>
          </p:cNvSpPr>
          <p:nvPr/>
        </p:nvSpPr>
        <p:spPr>
          <a:xfrm>
            <a:off x="713232" y="1627632"/>
            <a:ext cx="1554480" cy="240066"/>
          </a:xfrm>
          <a:prstGeom prst="rect">
            <a:avLst/>
          </a:prstGeom>
          <a:noFill/>
        </p:spPr>
        <p:txBody>
          <a:bodyPr wrap="square" lIns="27432" tIns="27432" rIns="27432" bIns="27432" anchor="t">
            <a:spAutoFit/>
          </a:bodyPr>
          <a:lstStyle/>
          <a:p>
            <a:pPr algn="l">
              <a:spcAft>
                <a:spcPts val="0"/>
              </a:spcAft>
            </a:pPr>
            <a:r>
              <a:rPr lang="en-GB" sz="1200" b="1">
                <a:solidFill>
                  <a:srgbClr val="E60012"/>
                </a:solidFill>
              </a:rPr>
              <a:t>LAB-ALIGNED</a:t>
            </a:r>
          </a:p>
        </p:txBody>
      </p:sp>
      <p:sp>
        <p:nvSpPr>
          <p:cNvPr id="11" name="TextBox 10"/>
          <p:cNvSpPr txBox="1">
            <a:spLocks/>
          </p:cNvSpPr>
          <p:nvPr/>
        </p:nvSpPr>
        <p:spPr>
          <a:xfrm>
            <a:off x="2331720" y="1627632"/>
            <a:ext cx="8732520" cy="578620"/>
          </a:xfrm>
          <a:prstGeom prst="rect">
            <a:avLst/>
          </a:prstGeom>
          <a:noFill/>
        </p:spPr>
        <p:txBody>
          <a:bodyPr wrap="square" lIns="27432" tIns="27432" rIns="27432" bIns="27432" anchor="t">
            <a:spAutoFit/>
          </a:bodyPr>
          <a:lstStyle/>
          <a:p>
            <a:pPr algn="l">
              <a:spcAft>
                <a:spcPts val="0"/>
              </a:spcAft>
            </a:pPr>
            <a:r>
              <a:rPr lang="en-GB" sz="1700" b="0">
                <a:solidFill>
                  <a:srgbClr val="1E2B40"/>
                </a:solidFill>
              </a:rPr>
              <a:t>Actual instructor and Student N addressing replaces the generic HQ/branch reference design; endpoint IPs remain assigned placeholders.</a:t>
            </a:r>
          </a:p>
        </p:txBody>
      </p:sp>
      <p:sp>
        <p:nvSpPr>
          <p:cNvPr id="12" name="TextBox 11"/>
          <p:cNvSpPr txBox="1">
            <a:spLocks/>
          </p:cNvSpPr>
          <p:nvPr/>
        </p:nvSpPr>
        <p:spPr>
          <a:xfrm>
            <a:off x="713232" y="2651760"/>
            <a:ext cx="1554480" cy="240066"/>
          </a:xfrm>
          <a:prstGeom prst="rect">
            <a:avLst/>
          </a:prstGeom>
          <a:noFill/>
        </p:spPr>
        <p:txBody>
          <a:bodyPr wrap="square" lIns="27432" tIns="27432" rIns="27432" bIns="27432" anchor="t">
            <a:spAutoFit/>
          </a:bodyPr>
          <a:lstStyle/>
          <a:p>
            <a:pPr algn="l">
              <a:spcAft>
                <a:spcPts val="0"/>
              </a:spcAft>
            </a:pPr>
            <a:r>
              <a:rPr lang="en-GB" sz="1200" b="1">
                <a:solidFill>
                  <a:srgbClr val="E60012"/>
                </a:solidFill>
              </a:rPr>
              <a:t>EXERCISES</a:t>
            </a:r>
          </a:p>
        </p:txBody>
      </p:sp>
      <p:sp>
        <p:nvSpPr>
          <p:cNvPr id="13" name="TextBox 12"/>
          <p:cNvSpPr txBox="1">
            <a:spLocks/>
          </p:cNvSpPr>
          <p:nvPr/>
        </p:nvSpPr>
        <p:spPr>
          <a:xfrm>
            <a:off x="2331720" y="2651760"/>
            <a:ext cx="8732520" cy="578620"/>
          </a:xfrm>
          <a:prstGeom prst="rect">
            <a:avLst/>
          </a:prstGeom>
          <a:noFill/>
        </p:spPr>
        <p:txBody>
          <a:bodyPr wrap="square" lIns="27432" tIns="27432" rIns="27432" bIns="27432" anchor="t">
            <a:spAutoFit/>
          </a:bodyPr>
          <a:lstStyle/>
          <a:p>
            <a:pPr algn="l">
              <a:spcAft>
                <a:spcPts val="0"/>
              </a:spcAft>
            </a:pPr>
            <a:r>
              <a:rPr lang="en-GB" sz="1700" b="0">
                <a:solidFill>
                  <a:srgbClr val="1E2B40"/>
                </a:solidFill>
              </a:rPr>
              <a:t>All 16 practical handoffs now name the planned activity, start state, expected result, reset and delivery mode.</a:t>
            </a:r>
          </a:p>
        </p:txBody>
      </p:sp>
      <p:sp>
        <p:nvSpPr>
          <p:cNvPr id="14" name="TextBox 13"/>
          <p:cNvSpPr txBox="1">
            <a:spLocks/>
          </p:cNvSpPr>
          <p:nvPr/>
        </p:nvSpPr>
        <p:spPr>
          <a:xfrm>
            <a:off x="713232" y="3675888"/>
            <a:ext cx="1554480" cy="240066"/>
          </a:xfrm>
          <a:prstGeom prst="rect">
            <a:avLst/>
          </a:prstGeom>
          <a:noFill/>
        </p:spPr>
        <p:txBody>
          <a:bodyPr wrap="square" lIns="27432" tIns="27432" rIns="27432" bIns="27432" anchor="t">
            <a:spAutoFit/>
          </a:bodyPr>
          <a:lstStyle/>
          <a:p>
            <a:pPr algn="l">
              <a:spcAft>
                <a:spcPts val="0"/>
              </a:spcAft>
            </a:pPr>
            <a:r>
              <a:rPr lang="en-GB" sz="1200" b="1">
                <a:solidFill>
                  <a:srgbClr val="E60012"/>
                </a:solidFill>
              </a:rPr>
              <a:t>DEPENDENCIES</a:t>
            </a:r>
          </a:p>
        </p:txBody>
      </p:sp>
      <p:sp>
        <p:nvSpPr>
          <p:cNvPr id="15" name="TextBox 14"/>
          <p:cNvSpPr txBox="1">
            <a:spLocks/>
          </p:cNvSpPr>
          <p:nvPr/>
        </p:nvSpPr>
        <p:spPr>
          <a:xfrm>
            <a:off x="2331720" y="3675888"/>
            <a:ext cx="8732520" cy="578620"/>
          </a:xfrm>
          <a:prstGeom prst="rect">
            <a:avLst/>
          </a:prstGeom>
          <a:noFill/>
        </p:spPr>
        <p:txBody>
          <a:bodyPr wrap="square" lIns="27432" tIns="27432" rIns="27432" bIns="27432" anchor="t">
            <a:spAutoFit/>
          </a:bodyPr>
          <a:lstStyle/>
          <a:p>
            <a:pPr algn="l">
              <a:spcAft>
                <a:spcPts val="0"/>
              </a:spcAft>
            </a:pPr>
            <a:r>
              <a:rPr lang="en-GB" sz="1700" b="0">
                <a:solidFill>
                  <a:srgbClr val="1E2B40"/>
                </a:solidFill>
              </a:rPr>
              <a:t>Morning routing uses a required prepared tunnel; afternoon VPN uses a separate tunnel or isolated baseline.</a:t>
            </a:r>
          </a:p>
        </p:txBody>
      </p:sp>
      <p:sp>
        <p:nvSpPr>
          <p:cNvPr id="16" name="TextBox 15"/>
          <p:cNvSpPr txBox="1">
            <a:spLocks/>
          </p:cNvSpPr>
          <p:nvPr/>
        </p:nvSpPr>
        <p:spPr>
          <a:xfrm>
            <a:off x="713232" y="4700016"/>
            <a:ext cx="1554480" cy="240066"/>
          </a:xfrm>
          <a:prstGeom prst="rect">
            <a:avLst/>
          </a:prstGeom>
          <a:noFill/>
        </p:spPr>
        <p:txBody>
          <a:bodyPr wrap="square" lIns="27432" tIns="27432" rIns="27432" bIns="27432" anchor="t">
            <a:spAutoFit/>
          </a:bodyPr>
          <a:lstStyle/>
          <a:p>
            <a:pPr algn="l">
              <a:spcAft>
                <a:spcPts val="0"/>
              </a:spcAft>
            </a:pPr>
            <a:r>
              <a:rPr lang="en-GB" sz="1200" b="1">
                <a:solidFill>
                  <a:srgbClr val="E60012"/>
                </a:solidFill>
              </a:rPr>
              <a:t>OPTIONALITY</a:t>
            </a:r>
          </a:p>
        </p:txBody>
      </p:sp>
      <p:sp>
        <p:nvSpPr>
          <p:cNvPr id="17" name="TextBox 16"/>
          <p:cNvSpPr txBox="1">
            <a:spLocks/>
          </p:cNvSpPr>
          <p:nvPr/>
        </p:nvSpPr>
        <p:spPr>
          <a:xfrm>
            <a:off x="2331720" y="4700016"/>
            <a:ext cx="8732520" cy="578620"/>
          </a:xfrm>
          <a:prstGeom prst="rect">
            <a:avLst/>
          </a:prstGeom>
          <a:noFill/>
        </p:spPr>
        <p:txBody>
          <a:bodyPr wrap="square" lIns="27432" tIns="27432" rIns="27432" bIns="27432" anchor="t">
            <a:spAutoFit/>
          </a:bodyPr>
          <a:lstStyle/>
          <a:p>
            <a:pPr algn="l">
              <a:spcAft>
                <a:spcPts val="0"/>
              </a:spcAft>
            </a:pPr>
            <a:r>
              <a:rPr lang="en-GB" sz="1700" b="0">
                <a:solidFill>
                  <a:srgbClr val="1E2B40"/>
                </a:solidFill>
              </a:rPr>
              <a:t>EMS, HA and dual-path SD-WAN are accurately labelled; capstone mandatory faults stay inside the base lab.</a:t>
            </a:r>
          </a:p>
        </p:txBody>
      </p:sp>
      <p:sp>
        <p:nvSpPr>
          <p:cNvPr id="18" name="TextBox 17"/>
          <p:cNvSpPr txBox="1">
            <a:spLocks/>
          </p:cNvSpPr>
          <p:nvPr/>
        </p:nvSpPr>
        <p:spPr>
          <a:xfrm>
            <a:off x="502920" y="420624"/>
            <a:ext cx="10744200" cy="146304"/>
          </a:xfrm>
          <a:prstGeom prst="rect">
            <a:avLst/>
          </a:prstGeom>
          <a:noFill/>
        </p:spPr>
        <p:txBody>
          <a:bodyPr wrap="none" lIns="0" tIns="0" rIns="0" bIns="0">
            <a:spAutoFit/>
          </a:bodyPr>
          <a:lstStyle/>
          <a:p>
            <a:pPr algn="l"/>
            <a:r>
              <a:rPr lang="en-GB" sz="850" b="1">
                <a:solidFill>
                  <a:srgbClr val="687385"/>
                </a:solidFill>
              </a:rPr>
              <a:t>CHANGE SUMMARY</a:t>
            </a:r>
          </a:p>
        </p:txBody>
      </p:sp>
      <p:sp>
        <p:nvSpPr>
          <p:cNvPr id="19" name="TextBox 18"/>
          <p:cNvSpPr txBox="1"/>
          <p:nvPr/>
        </p:nvSpPr>
        <p:spPr>
          <a:xfrm>
            <a:off x="9144000" y="256032"/>
            <a:ext cx="2194560" cy="164592"/>
          </a:xfrm>
          <a:prstGeom prst="rect">
            <a:avLst/>
          </a:prstGeom>
          <a:noFill/>
        </p:spPr>
        <p:txBody>
          <a:bodyPr wrap="square" lIns="36576" tIns="36576" rIns="36576" bIns="36576" anchor="t">
            <a:spAutoFit/>
          </a:bodyPr>
          <a:lstStyle/>
          <a:p>
            <a:pPr algn="r">
              <a:spcAft>
                <a:spcPts val="0"/>
              </a:spcAft>
            </a:pPr>
            <a:r>
              <a:rPr sz="900" b="1">
                <a:solidFill>
                  <a:srgbClr val="E60012"/>
                </a:solidFill>
              </a:rPr>
              <a:t>INSTRUCTOR APPENDIX</a:t>
            </a:r>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7" name="TextBox 6"/>
          <p:cNvSpPr txBox="1">
            <a:spLocks/>
          </p:cNvSpPr>
          <p:nvPr/>
        </p:nvSpPr>
        <p:spPr>
          <a:xfrm>
            <a:off x="502920" y="6537960"/>
            <a:ext cx="10149840" cy="170816"/>
          </a:xfrm>
          <a:prstGeom prst="rect">
            <a:avLst/>
          </a:prstGeom>
          <a:noFill/>
        </p:spPr>
        <p:txBody>
          <a:bodyPr wrap="square" lIns="27432" tIns="27432" rIns="27432" bIns="27432" anchor="t">
            <a:spAutoFit/>
          </a:bodyPr>
          <a:lstStyle/>
          <a:p>
            <a:pPr algn="l">
              <a:spcAft>
                <a:spcPts val="0"/>
              </a:spcAft>
            </a:pPr>
            <a:r>
              <a:rPr lang="en-GB" sz="750" b="0">
                <a:solidFill>
                  <a:srgbClr val="687385"/>
                </a:solidFill>
              </a:rPr>
              <a:t>FortiGate Foundations + Advanced | Lab: FortiOS 7.6.7 on Azure FortiGate-VM • physical appliance theory included</a:t>
            </a:r>
          </a:p>
        </p:txBody>
      </p: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202</a:t>
            </a:r>
          </a:p>
        </p:txBody>
      </p:sp>
      <p:sp>
        <p:nvSpPr>
          <p:cNvPr id="9" name="TextBox 8"/>
          <p:cNvSpPr txBox="1">
            <a:spLocks/>
          </p:cNvSpPr>
          <p:nvPr/>
        </p:nvSpPr>
        <p:spPr>
          <a:xfrm>
            <a:off x="502920" y="621792"/>
            <a:ext cx="11109960" cy="332399"/>
          </a:xfrm>
          <a:prstGeom prst="rect">
            <a:avLst/>
          </a:prstGeom>
          <a:noFill/>
        </p:spPr>
        <p:txBody>
          <a:bodyPr wrap="square" lIns="27432" tIns="27432" rIns="27432" bIns="27432" anchor="t">
            <a:spAutoFit/>
          </a:bodyPr>
          <a:lstStyle/>
          <a:p>
            <a:r>
              <a:rPr lang="en-GB"/>
              <a:t>Instructor preparation decisions before delivery</a:t>
            </a:r>
          </a:p>
        </p:txBody>
      </p:sp>
      <p:sp>
        <p:nvSpPr>
          <p:cNvPr id="10" name="Rectangle 9"/>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14" name="Connector 13"/>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58368" y="1600200"/>
            <a:ext cx="3456432" cy="255455"/>
          </a:xfrm>
          <a:prstGeom prst="rect">
            <a:avLst/>
          </a:prstGeom>
          <a:noFill/>
        </p:spPr>
        <p:txBody>
          <a:bodyPr wrap="square" lIns="27432" tIns="27432" rIns="27432" bIns="27432" anchor="t">
            <a:spAutoFit/>
          </a:bodyPr>
          <a:lstStyle/>
          <a:p>
            <a:pPr algn="l">
              <a:spcAft>
                <a:spcPts val="0"/>
              </a:spcAft>
            </a:pPr>
            <a:r>
              <a:rPr lang="en-GB" sz="1300" b="1">
                <a:solidFill>
                  <a:srgbClr val="E60012"/>
                </a:solidFill>
              </a:rPr>
              <a:t>DECLARED LAB BASELINE</a:t>
            </a:r>
            <a:endParaRPr sz="1300" b="1">
              <a:solidFill>
                <a:srgbClr val="E60012"/>
              </a:solidFill>
            </a:endParaRPr>
          </a:p>
        </p:txBody>
      </p:sp>
      <p:cxnSp>
        <p:nvCxnSpPr>
          <p:cNvPr id="19" name="Connector 18"/>
          <p:cNvCxnSpPr/>
          <p:nvPr/>
        </p:nvCxnSpPr>
        <p:spPr>
          <a:xfrm>
            <a:off x="658368" y="1984248"/>
            <a:ext cx="3456432" cy="0"/>
          </a:xfrm>
          <a:prstGeom prst="line">
            <a:avLst/>
          </a:prstGeom>
          <a:ln w="22860">
            <a:solidFill>
              <a:srgbClr val="E60012"/>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58368" y="2176272"/>
            <a:ext cx="3456432" cy="3033074"/>
          </a:xfrm>
          <a:prstGeom prst="rect">
            <a:avLst/>
          </a:prstGeom>
          <a:noFill/>
        </p:spPr>
        <p:txBody>
          <a:bodyPr wrap="square" lIns="109728" tIns="73152" rIns="109728" bIns="73152" anchor="t">
            <a:spAutoFit/>
          </a:bodyPr>
          <a:lstStyle/>
          <a:p>
            <a:r>
              <a:t>• </a:t>
            </a:r>
            <a:r>
              <a:rPr lang="en-GB"/>
              <a:t>Confirm Student01–Student08 access URL/SSH target and credentials</a:t>
            </a:r>
          </a:p>
          <a:p>
            <a:r>
              <a:t>• </a:t>
            </a:r>
            <a:r>
              <a:rPr lang="en-GB"/>
              <a:t>Record Guacamole as TBD until deployed and validated</a:t>
            </a:r>
          </a:p>
          <a:p>
            <a:r>
              <a:t>• </a:t>
            </a:r>
            <a:r>
              <a:rPr lang="en-GB"/>
              <a:t>Provision browser-download storage or a tested SFTP destination</a:t>
            </a:r>
          </a:p>
          <a:p>
            <a:r>
              <a:t>• </a:t>
            </a:r>
            <a:r>
              <a:rPr lang="en-GB"/>
              <a:t>Retain per-pod known-good FortiOS 7.6.7 exports</a:t>
            </a:r>
          </a:p>
        </p:txBody>
      </p:sp>
      <p:sp>
        <p:nvSpPr>
          <p:cNvPr id="21" name="TextBox 20"/>
          <p:cNvSpPr txBox="1"/>
          <p:nvPr/>
        </p:nvSpPr>
        <p:spPr>
          <a:xfrm>
            <a:off x="4370831" y="1600200"/>
            <a:ext cx="3456432" cy="292608"/>
          </a:xfrm>
          <a:prstGeom prst="rect">
            <a:avLst/>
          </a:prstGeom>
          <a:noFill/>
        </p:spPr>
        <p:txBody>
          <a:bodyPr wrap="square" lIns="27432" tIns="27432" rIns="27432" bIns="27432" anchor="t">
            <a:spAutoFit/>
          </a:bodyPr>
          <a:lstStyle/>
          <a:p>
            <a:pPr algn="l">
              <a:spcAft>
                <a:spcPts val="0"/>
              </a:spcAft>
            </a:pPr>
            <a:r>
              <a:rPr sz="1300" b="1">
                <a:solidFill>
                  <a:srgbClr val="E60012"/>
                </a:solidFill>
              </a:rPr>
              <a:t>SAFE LAB BOUNDARIES</a:t>
            </a:r>
          </a:p>
        </p:txBody>
      </p:sp>
      <p:cxnSp>
        <p:nvCxnSpPr>
          <p:cNvPr id="22" name="Connector 21"/>
          <p:cNvCxnSpPr/>
          <p:nvPr/>
        </p:nvCxnSpPr>
        <p:spPr>
          <a:xfrm>
            <a:off x="4370831" y="1984248"/>
            <a:ext cx="3456432" cy="0"/>
          </a:xfrm>
          <a:prstGeom prst="line">
            <a:avLst/>
          </a:prstGeom>
          <a:ln w="22860">
            <a:solidFill>
              <a:srgbClr val="E60012"/>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4370831" y="2176272"/>
            <a:ext cx="3456432" cy="3471720"/>
          </a:xfrm>
          <a:prstGeom prst="rect">
            <a:avLst/>
          </a:prstGeom>
          <a:noFill/>
        </p:spPr>
        <p:txBody>
          <a:bodyPr wrap="square" lIns="109728" tIns="73152" rIns="109728" bIns="73152" anchor="t">
            <a:spAutoFit/>
          </a:bodyPr>
          <a:lstStyle/>
          <a:p>
            <a:r>
              <a:t>• </a:t>
            </a:r>
            <a:r>
              <a:rPr lang="en-GB"/>
              <a:t>Test backup/restore compatibility and recovery access</a:t>
            </a:r>
          </a:p>
          <a:p>
            <a:r>
              <a:t>• </a:t>
            </a:r>
            <a:r>
              <a:rPr lang="en-GB"/>
              <a:t>Pre-stage the exact FGVM firmware image only for an instructor demo</a:t>
            </a:r>
          </a:p>
          <a:p>
            <a:r>
              <a:t>• </a:t>
            </a:r>
            <a:r>
              <a:rPr lang="en-GB"/>
              <a:t>Read release notes </a:t>
            </a:r>
            <a:r>
              <a:t>and </a:t>
            </a:r>
            <a:r>
              <a:rPr lang="en-GB"/>
              <a:t>upgrade path; document post-reboot checks</a:t>
            </a:r>
          </a:p>
          <a:p>
            <a:r>
              <a:t>• </a:t>
            </a:r>
            <a:r>
              <a:rPr lang="en-GB"/>
              <a:t>Never restore a file across pods without reviewing addresses</a:t>
            </a:r>
          </a:p>
        </p:txBody>
      </p:sp>
      <p:sp>
        <p:nvSpPr>
          <p:cNvPr id="24" name="TextBox 23"/>
          <p:cNvSpPr txBox="1"/>
          <p:nvPr/>
        </p:nvSpPr>
        <p:spPr>
          <a:xfrm>
            <a:off x="8083296" y="1600200"/>
            <a:ext cx="3456432" cy="292608"/>
          </a:xfrm>
          <a:prstGeom prst="rect">
            <a:avLst/>
          </a:prstGeom>
          <a:noFill/>
        </p:spPr>
        <p:txBody>
          <a:bodyPr wrap="square" lIns="27432" tIns="27432" rIns="27432" bIns="27432" anchor="t">
            <a:spAutoFit/>
          </a:bodyPr>
          <a:lstStyle/>
          <a:p>
            <a:pPr algn="l">
              <a:spcAft>
                <a:spcPts val="0"/>
              </a:spcAft>
            </a:pPr>
            <a:r>
              <a:rPr sz="1300" b="1">
                <a:solidFill>
                  <a:srgbClr val="E60012"/>
                </a:solidFill>
              </a:rPr>
              <a:t>OPTIONAL CONTEXT</a:t>
            </a:r>
          </a:p>
        </p:txBody>
      </p:sp>
      <p:cxnSp>
        <p:nvCxnSpPr>
          <p:cNvPr id="25" name="Connector 24"/>
          <p:cNvCxnSpPr/>
          <p:nvPr/>
        </p:nvCxnSpPr>
        <p:spPr>
          <a:xfrm>
            <a:off x="8083296" y="1984248"/>
            <a:ext cx="3456432" cy="0"/>
          </a:xfrm>
          <a:prstGeom prst="line">
            <a:avLst/>
          </a:prstGeom>
          <a:ln w="22860">
            <a:solidFill>
              <a:srgbClr val="E60012"/>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8083296" y="2176272"/>
            <a:ext cx="3456432" cy="2917722"/>
          </a:xfrm>
          <a:prstGeom prst="rect">
            <a:avLst/>
          </a:prstGeom>
          <a:noFill/>
        </p:spPr>
        <p:txBody>
          <a:bodyPr wrap="square" lIns="109728" tIns="73152" rIns="109728" bIns="73152" anchor="t">
            <a:spAutoFit/>
          </a:bodyPr>
          <a:lstStyle/>
          <a:p>
            <a:r>
              <a:t>• </a:t>
            </a:r>
            <a:r>
              <a:rPr lang="en-GB"/>
              <a:t>Keep management interfaces, baseline routes and shared infrastructure out of the student CLI exercise</a:t>
            </a:r>
          </a:p>
          <a:p>
            <a:r>
              <a:t>• </a:t>
            </a:r>
            <a:r>
              <a:rPr lang="en-GB"/>
              <a:t>Store real credentials and backup encryption passwords outside slides</a:t>
            </a:r>
          </a:p>
          <a:p>
            <a:r>
              <a:t>• </a:t>
            </a:r>
            <a:r>
              <a:rPr lang="en-GB"/>
              <a:t>Record unresolved menu placement or transfer-service details in the runbook</a:t>
            </a:r>
          </a:p>
        </p:txBody>
      </p:sp>
      <p:sp>
        <p:nvSpPr>
          <p:cNvPr id="27" name="TextBox 26"/>
          <p:cNvSpPr txBox="1"/>
          <p:nvPr/>
        </p:nvSpPr>
        <p:spPr>
          <a:xfrm>
            <a:off x="658368" y="5687568"/>
            <a:ext cx="10469880" cy="224677"/>
          </a:xfrm>
          <a:prstGeom prst="rect">
            <a:avLst/>
          </a:prstGeom>
          <a:noFill/>
        </p:spPr>
        <p:txBody>
          <a:bodyPr wrap="square" lIns="27432" tIns="27432" rIns="27432" bIns="27432" anchor="t">
            <a:spAutoFit/>
          </a:bodyPr>
          <a:lstStyle/>
          <a:p>
            <a:pPr algn="l">
              <a:spcAft>
                <a:spcPts val="0"/>
              </a:spcAft>
            </a:pPr>
            <a:r>
              <a:rPr lang="en-GB" sz="1100" b="1">
                <a:solidFill>
                  <a:srgbClr val="1E2B40"/>
                </a:solidFill>
              </a:rPr>
              <a:t>Current sources: Architecture.md, Deployment.md and Instructor-Guide.md • Guacamole and SFTP destination remain TBD.</a:t>
            </a:r>
            <a:endParaRPr sz="1100" b="1">
              <a:solidFill>
                <a:srgbClr val="233A59"/>
              </a:solidFill>
            </a:endParaRPr>
          </a:p>
        </p:txBody>
      </p:sp>
      <p:sp>
        <p:nvSpPr>
          <p:cNvPr id="29" name="TextBox 28"/>
          <p:cNvSpPr txBox="1"/>
          <p:nvPr/>
        </p:nvSpPr>
        <p:spPr>
          <a:xfrm>
            <a:off x="502920" y="420624"/>
            <a:ext cx="10744200" cy="146304"/>
          </a:xfrm>
          <a:prstGeom prst="rect">
            <a:avLst/>
          </a:prstGeom>
          <a:noFill/>
        </p:spPr>
        <p:txBody>
          <a:bodyPr wrap="none" lIns="0" tIns="0" rIns="0" bIns="0">
            <a:spAutoFit/>
          </a:bodyPr>
          <a:lstStyle/>
          <a:p>
            <a:pPr algn="l"/>
            <a:r>
              <a:rPr sz="850" b="1">
                <a:solidFill>
                  <a:srgbClr val="687385"/>
                </a:solidFill>
              </a:rPr>
              <a:t>ASSUMPTIONS + VALIDATION</a:t>
            </a:r>
          </a:p>
        </p:txBody>
      </p:sp>
      <p:sp>
        <p:nvSpPr>
          <p:cNvPr id="30" name="TextBox 29"/>
          <p:cNvSpPr txBox="1"/>
          <p:nvPr/>
        </p:nvSpPr>
        <p:spPr>
          <a:xfrm>
            <a:off x="9144000" y="256032"/>
            <a:ext cx="2194560" cy="164592"/>
          </a:xfrm>
          <a:prstGeom prst="rect">
            <a:avLst/>
          </a:prstGeom>
          <a:noFill/>
        </p:spPr>
        <p:txBody>
          <a:bodyPr wrap="square" lIns="36576" tIns="36576" rIns="36576" bIns="36576" anchor="t">
            <a:spAutoFit/>
          </a:bodyPr>
          <a:lstStyle/>
          <a:p>
            <a:pPr algn="r">
              <a:spcAft>
                <a:spcPts val="0"/>
              </a:spcAft>
            </a:pPr>
            <a:r>
              <a:rPr sz="900" b="1">
                <a:solidFill>
                  <a:srgbClr val="E60012"/>
                </a:solidFill>
              </a:rPr>
              <a:t>INSTRUCTOR APPENDIX</a:t>
            </a:r>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show="0">
  <p:cSld name="Slide 6">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7" name="TextBox 6"/>
          <p:cNvSpPr txBox="1">
            <a:spLocks/>
          </p:cNvSpPr>
          <p:nvPr/>
        </p:nvSpPr>
        <p:spPr>
          <a:xfrm>
            <a:off x="502920" y="6537960"/>
            <a:ext cx="10149840" cy="170816"/>
          </a:xfrm>
          <a:prstGeom prst="rect">
            <a:avLst/>
          </a:prstGeom>
          <a:noFill/>
        </p:spPr>
        <p:txBody>
          <a:bodyPr wrap="square" lIns="27432" tIns="27432" rIns="27432" bIns="27432" anchor="t">
            <a:spAutoFit/>
          </a:bodyPr>
          <a:lstStyle/>
          <a:p>
            <a:pPr algn="l">
              <a:spcAft>
                <a:spcPts val="0"/>
              </a:spcAft>
            </a:pPr>
            <a:r>
              <a:rPr lang="en-GB" sz="750" b="0">
                <a:solidFill>
                  <a:srgbClr val="687385"/>
                </a:solidFill>
              </a:rPr>
              <a:t>FortiGate Foundations + Advanced | Lab: FortiOS 7.6.7 on Azure FortiGate-VM • physical appliance theory included</a:t>
            </a:r>
          </a:p>
        </p:txBody>
      </p: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203</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Coverage matrix — blocks 1–8</a:t>
            </a:r>
          </a:p>
        </p:txBody>
      </p:sp>
      <p:sp>
        <p:nvSpPr>
          <p:cNvPr id="10" name="TextBox 9"/>
          <p:cNvSpPr txBox="1">
            <a:spLocks/>
          </p:cNvSpPr>
          <p:nvPr/>
        </p:nvSpPr>
        <p:spPr>
          <a:xfrm>
            <a:off x="521207" y="1133856"/>
            <a:ext cx="10698480" cy="224677"/>
          </a:xfrm>
          <a:prstGeom prst="rect">
            <a:avLst/>
          </a:prstGeom>
          <a:noFill/>
        </p:spPr>
        <p:txBody>
          <a:bodyPr wrap="square" lIns="27432" tIns="27432" rIns="27432" bIns="27432" anchor="t">
            <a:spAutoFit/>
          </a:bodyPr>
          <a:lstStyle/>
          <a:p>
            <a:pPr algn="l">
              <a:spcAft>
                <a:spcPts val="0"/>
              </a:spcAft>
            </a:pPr>
            <a:r>
              <a:rPr lang="en-GB" sz="1100" b="0">
                <a:solidFill>
                  <a:srgbClr val="687385"/>
                </a:solidFill>
              </a:rPr>
              <a:t>All eight Foundations blocks retained; practical handoffs are lab-aligned</a:t>
            </a:r>
          </a:p>
        </p:txBody>
      </p:sp>
      <p:graphicFrame>
        <p:nvGraphicFramePr>
          <p:cNvPr id="11" name="Table 10"/>
          <p:cNvGraphicFramePr>
            <a:graphicFrameLocks noGrp="1"/>
          </p:cNvGraphicFramePr>
          <p:nvPr>
            <p:extLst>
              <p:ext uri="{D42A27DB-BD31-4B8C-83A1-F6EECF244321}">
                <p14:modId xmlns:p14="http://schemas.microsoft.com/office/powerpoint/2010/main" val="2138951866"/>
              </p:ext>
            </p:extLst>
          </p:nvPr>
        </p:nvGraphicFramePr>
        <p:xfrm>
          <a:off x="658368" y="1481328"/>
          <a:ext cx="10835640" cy="4526280"/>
        </p:xfrm>
        <a:graphic>
          <a:graphicData uri="http://schemas.openxmlformats.org/drawingml/2006/table">
            <a:tbl>
              <a:tblPr firstRow="1" bandRow="1">
                <a:tableStyleId>{5C22544A-7EE6-4342-B048-85BDC9FD1C3A}</a:tableStyleId>
              </a:tblPr>
              <a:tblGrid>
                <a:gridCol w="59436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gridCol w="5760720">
                  <a:extLst>
                    <a:ext uri="{9D8B030D-6E8A-4147-A177-3AD203B41FA5}">
                      <a16:colId xmlns:a16="http://schemas.microsoft.com/office/drawing/2014/main" val="20003"/>
                    </a:ext>
                  </a:extLst>
                </a:gridCol>
              </a:tblGrid>
              <a:tr h="502920">
                <a:tc>
                  <a:txBody>
                    <a:bodyPr/>
                    <a:lstStyle/>
                    <a:p>
                      <a:pPr>
                        <a:defRPr sz="1250" b="1">
                          <a:solidFill>
                            <a:srgbClr val="FFFFFF"/>
                          </a:solidFill>
                        </a:defRPr>
                      </a:pPr>
                      <a:r>
                        <a:t>#</a:t>
                      </a:r>
                    </a:p>
                  </a:txBody>
                  <a:tcPr marL="64008" marR="64008" marT="22860" marB="22860">
                    <a:solidFill>
                      <a:srgbClr val="17243A"/>
                    </a:solidFill>
                  </a:tcPr>
                </a:tc>
                <a:tc>
                  <a:txBody>
                    <a:bodyPr/>
                    <a:lstStyle/>
                    <a:p>
                      <a:pPr>
                        <a:defRPr sz="1250" b="1">
                          <a:solidFill>
                            <a:srgbClr val="FFFFFF"/>
                          </a:solidFill>
                        </a:defRPr>
                      </a:pPr>
                      <a:r>
                        <a:t>DAY</a:t>
                      </a:r>
                    </a:p>
                  </a:txBody>
                  <a:tcPr marL="64008" marR="64008" marT="22860" marB="22860">
                    <a:solidFill>
                      <a:srgbClr val="17243A"/>
                    </a:solidFill>
                  </a:tcPr>
                </a:tc>
                <a:tc>
                  <a:txBody>
                    <a:bodyPr/>
                    <a:lstStyle/>
                    <a:p>
                      <a:pPr>
                        <a:defRPr sz="1250" b="1">
                          <a:solidFill>
                            <a:srgbClr val="FFFFFF"/>
                          </a:solidFill>
                        </a:defRPr>
                      </a:pPr>
                      <a:r>
                        <a:t>SLIDES</a:t>
                      </a:r>
                    </a:p>
                  </a:txBody>
                  <a:tcPr marL="64008" marR="64008" marT="22860" marB="22860">
                    <a:solidFill>
                      <a:srgbClr val="17243A"/>
                    </a:solidFill>
                  </a:tcPr>
                </a:tc>
                <a:tc>
                  <a:txBody>
                    <a:bodyPr/>
                    <a:lstStyle/>
                    <a:p>
                      <a:pPr>
                        <a:defRPr sz="1250" b="1">
                          <a:solidFill>
                            <a:srgbClr val="FFFFFF"/>
                          </a:solidFill>
                        </a:defRPr>
                      </a:pPr>
                      <a:r>
                        <a:t>BLOCK</a:t>
                      </a:r>
                    </a:p>
                  </a:txBody>
                  <a:tcPr marL="64008" marR="64008" marT="22860" marB="22860">
                    <a:solidFill>
                      <a:srgbClr val="17243A"/>
                    </a:solidFill>
                  </a:tcPr>
                </a:tc>
                <a:extLst>
                  <a:ext uri="{0D108BD9-81ED-4DB2-BD59-A6C34878D82A}">
                    <a16:rowId xmlns:a16="http://schemas.microsoft.com/office/drawing/2014/main" val="10000"/>
                  </a:ext>
                </a:extLst>
              </a:tr>
              <a:tr h="502920">
                <a:tc>
                  <a:txBody>
                    <a:bodyPr/>
                    <a:lstStyle/>
                    <a:p>
                      <a:pPr>
                        <a:defRPr sz="1250" b="0">
                          <a:solidFill>
                            <a:srgbClr val="1E2B40"/>
                          </a:solidFill>
                        </a:defRPr>
                      </a:pPr>
                      <a:r>
                        <a:t>1</a:t>
                      </a:r>
                    </a:p>
                  </a:txBody>
                  <a:tcPr marL="64008" marR="64008" marT="22860" marB="22860">
                    <a:solidFill>
                      <a:srgbClr val="FFFFFF"/>
                    </a:solidFill>
                  </a:tcPr>
                </a:tc>
                <a:tc>
                  <a:txBody>
                    <a:bodyPr/>
                    <a:lstStyle/>
                    <a:p>
                      <a:pPr>
                        <a:defRPr sz="1250" b="0">
                          <a:solidFill>
                            <a:srgbClr val="1E2B40"/>
                          </a:solidFill>
                        </a:defRPr>
                      </a:pPr>
                      <a:r>
                        <a:t>1</a:t>
                      </a:r>
                    </a:p>
                  </a:txBody>
                  <a:tcPr marL="64008" marR="64008" marT="22860" marB="22860">
                    <a:solidFill>
                      <a:srgbClr val="FFFFFF"/>
                    </a:solidFill>
                  </a:tcPr>
                </a:tc>
                <a:tc>
                  <a:txBody>
                    <a:bodyPr/>
                    <a:lstStyle/>
                    <a:p>
                      <a:pPr>
                        <a:defRPr sz="1250" b="0">
                          <a:solidFill>
                            <a:srgbClr val="1E2B40"/>
                          </a:solidFill>
                        </a:defRPr>
                      </a:pPr>
                      <a:r>
                        <a:rPr lang="en-HU"/>
                        <a:t>4–13</a:t>
                      </a:r>
                    </a:p>
                  </a:txBody>
                  <a:tcPr marL="64008" marR="64008" marT="22860" marB="22860">
                    <a:solidFill>
                      <a:srgbClr val="FFFFFF"/>
                    </a:solidFill>
                  </a:tcPr>
                </a:tc>
                <a:tc>
                  <a:txBody>
                    <a:bodyPr/>
                    <a:lstStyle/>
                    <a:p>
                      <a:pPr>
                        <a:defRPr sz="1250" b="0">
                          <a:solidFill>
                            <a:srgbClr val="1E2B40"/>
                          </a:solidFill>
                        </a:defRPr>
                      </a:pPr>
                      <a:r>
                        <a:t>Network Foundations &amp; FortiGate Packet Flow</a:t>
                      </a:r>
                    </a:p>
                  </a:txBody>
                  <a:tcPr marL="64008" marR="64008" marT="22860" marB="22860">
                    <a:solidFill>
                      <a:srgbClr val="FFFFFF"/>
                    </a:solidFill>
                  </a:tcPr>
                </a:tc>
                <a:extLst>
                  <a:ext uri="{0D108BD9-81ED-4DB2-BD59-A6C34878D82A}">
                    <a16:rowId xmlns:a16="http://schemas.microsoft.com/office/drawing/2014/main" val="10001"/>
                  </a:ext>
                </a:extLst>
              </a:tr>
              <a:tr h="502920">
                <a:tc>
                  <a:txBody>
                    <a:bodyPr/>
                    <a:lstStyle/>
                    <a:p>
                      <a:pPr>
                        <a:defRPr sz="1250" b="0">
                          <a:solidFill>
                            <a:srgbClr val="1E2B40"/>
                          </a:solidFill>
                        </a:defRPr>
                      </a:pPr>
                      <a:r>
                        <a:t>2</a:t>
                      </a:r>
                    </a:p>
                  </a:txBody>
                  <a:tcPr marL="64008" marR="64008" marT="22860" marB="22860">
                    <a:solidFill>
                      <a:srgbClr val="EEF2F7"/>
                    </a:solidFill>
                  </a:tcPr>
                </a:tc>
                <a:tc>
                  <a:txBody>
                    <a:bodyPr/>
                    <a:lstStyle/>
                    <a:p>
                      <a:pPr>
                        <a:defRPr sz="1250" b="0">
                          <a:solidFill>
                            <a:srgbClr val="1E2B40"/>
                          </a:solidFill>
                        </a:defRPr>
                      </a:pPr>
                      <a:r>
                        <a:t>1</a:t>
                      </a:r>
                    </a:p>
                  </a:txBody>
                  <a:tcPr marL="64008" marR="64008" marT="22860" marB="22860">
                    <a:solidFill>
                      <a:srgbClr val="EEF2F7"/>
                    </a:solidFill>
                  </a:tcPr>
                </a:tc>
                <a:tc>
                  <a:txBody>
                    <a:bodyPr/>
                    <a:lstStyle/>
                    <a:p>
                      <a:pPr>
                        <a:defRPr sz="1250" b="0">
                          <a:solidFill>
                            <a:srgbClr val="1E2B40"/>
                          </a:solidFill>
                        </a:defRPr>
                      </a:pPr>
                      <a:r>
                        <a:rPr lang="en-HU"/>
                        <a:t>14–27</a:t>
                      </a:r>
                    </a:p>
                  </a:txBody>
                  <a:tcPr marL="64008" marR="64008" marT="22860" marB="22860">
                    <a:solidFill>
                      <a:srgbClr val="EEF2F7"/>
                    </a:solidFill>
                  </a:tcPr>
                </a:tc>
                <a:tc>
                  <a:txBody>
                    <a:bodyPr/>
                    <a:lstStyle/>
                    <a:p>
                      <a:pPr>
                        <a:defRPr sz="1250" b="0">
                          <a:solidFill>
                            <a:srgbClr val="1E2B40"/>
                          </a:solidFill>
                        </a:defRPr>
                      </a:pPr>
                      <a:r>
                        <a:rPr lang="en-GB"/>
                        <a:t>FortiGate Introduction, Basic Administration &amp; CLI</a:t>
                      </a:r>
                    </a:p>
                  </a:txBody>
                  <a:tcPr marL="64008" marR="64008" marT="22860" marB="22860">
                    <a:solidFill>
                      <a:srgbClr val="EEF2F7"/>
                    </a:solidFill>
                  </a:tcPr>
                </a:tc>
                <a:extLst>
                  <a:ext uri="{0D108BD9-81ED-4DB2-BD59-A6C34878D82A}">
                    <a16:rowId xmlns:a16="http://schemas.microsoft.com/office/drawing/2014/main" val="10002"/>
                  </a:ext>
                </a:extLst>
              </a:tr>
              <a:tr h="502920">
                <a:tc>
                  <a:txBody>
                    <a:bodyPr/>
                    <a:lstStyle/>
                    <a:p>
                      <a:pPr>
                        <a:defRPr sz="1250" b="0">
                          <a:solidFill>
                            <a:srgbClr val="1E2B40"/>
                          </a:solidFill>
                        </a:defRPr>
                      </a:pPr>
                      <a:r>
                        <a:t>3</a:t>
                      </a:r>
                    </a:p>
                  </a:txBody>
                  <a:tcPr marL="64008" marR="64008" marT="22860" marB="22860">
                    <a:solidFill>
                      <a:srgbClr val="FFFFFF"/>
                    </a:solidFill>
                  </a:tcPr>
                </a:tc>
                <a:tc>
                  <a:txBody>
                    <a:bodyPr/>
                    <a:lstStyle/>
                    <a:p>
                      <a:pPr>
                        <a:defRPr sz="1250" b="0">
                          <a:solidFill>
                            <a:srgbClr val="1E2B40"/>
                          </a:solidFill>
                        </a:defRPr>
                      </a:pPr>
                      <a:r>
                        <a:t>1</a:t>
                      </a:r>
                    </a:p>
                  </a:txBody>
                  <a:tcPr marL="64008" marR="64008" marT="22860" marB="22860">
                    <a:solidFill>
                      <a:srgbClr val="FFFFFF"/>
                    </a:solidFill>
                  </a:tcPr>
                </a:tc>
                <a:tc>
                  <a:txBody>
                    <a:bodyPr/>
                    <a:lstStyle/>
                    <a:p>
                      <a:pPr>
                        <a:defRPr sz="1250" b="0">
                          <a:solidFill>
                            <a:srgbClr val="1E2B40"/>
                          </a:solidFill>
                        </a:defRPr>
                      </a:pPr>
                      <a:r>
                        <a:rPr lang="en-HU"/>
                        <a:t>28–37</a:t>
                      </a:r>
                    </a:p>
                  </a:txBody>
                  <a:tcPr marL="64008" marR="64008" marT="22860" marB="22860">
                    <a:solidFill>
                      <a:srgbClr val="FFFFFF"/>
                    </a:solidFill>
                  </a:tcPr>
                </a:tc>
                <a:tc>
                  <a:txBody>
                    <a:bodyPr/>
                    <a:lstStyle/>
                    <a:p>
                      <a:pPr>
                        <a:defRPr sz="1250" b="0">
                          <a:solidFill>
                            <a:srgbClr val="1E2B40"/>
                          </a:solidFill>
                        </a:defRPr>
                      </a:pPr>
                      <a:r>
                        <a:t>Segmentation, Zones &amp; Firewall Policy Design</a:t>
                      </a:r>
                    </a:p>
                  </a:txBody>
                  <a:tcPr marL="64008" marR="64008" marT="22860" marB="22860">
                    <a:solidFill>
                      <a:srgbClr val="FFFFFF"/>
                    </a:solidFill>
                  </a:tcPr>
                </a:tc>
                <a:extLst>
                  <a:ext uri="{0D108BD9-81ED-4DB2-BD59-A6C34878D82A}">
                    <a16:rowId xmlns:a16="http://schemas.microsoft.com/office/drawing/2014/main" val="10003"/>
                  </a:ext>
                </a:extLst>
              </a:tr>
              <a:tr h="502920">
                <a:tc>
                  <a:txBody>
                    <a:bodyPr/>
                    <a:lstStyle/>
                    <a:p>
                      <a:pPr>
                        <a:defRPr sz="1250" b="0">
                          <a:solidFill>
                            <a:srgbClr val="1E2B40"/>
                          </a:solidFill>
                        </a:defRPr>
                      </a:pPr>
                      <a:r>
                        <a:t>4</a:t>
                      </a:r>
                    </a:p>
                  </a:txBody>
                  <a:tcPr marL="64008" marR="64008" marT="22860" marB="22860">
                    <a:solidFill>
                      <a:srgbClr val="EEF2F7"/>
                    </a:solidFill>
                  </a:tcPr>
                </a:tc>
                <a:tc>
                  <a:txBody>
                    <a:bodyPr/>
                    <a:lstStyle/>
                    <a:p>
                      <a:pPr>
                        <a:defRPr sz="1250" b="0">
                          <a:solidFill>
                            <a:srgbClr val="1E2B40"/>
                          </a:solidFill>
                        </a:defRPr>
                      </a:pPr>
                      <a:r>
                        <a:t>1</a:t>
                      </a:r>
                    </a:p>
                  </a:txBody>
                  <a:tcPr marL="64008" marR="64008" marT="22860" marB="22860">
                    <a:solidFill>
                      <a:srgbClr val="EEF2F7"/>
                    </a:solidFill>
                  </a:tcPr>
                </a:tc>
                <a:tc>
                  <a:txBody>
                    <a:bodyPr/>
                    <a:lstStyle/>
                    <a:p>
                      <a:pPr>
                        <a:defRPr sz="1250" b="0">
                          <a:solidFill>
                            <a:srgbClr val="1E2B40"/>
                          </a:solidFill>
                        </a:defRPr>
                      </a:pPr>
                      <a:r>
                        <a:rPr lang="en-HU"/>
                        <a:t>38–47</a:t>
                      </a:r>
                    </a:p>
                  </a:txBody>
                  <a:tcPr marL="64008" marR="64008" marT="22860" marB="22860">
                    <a:solidFill>
                      <a:srgbClr val="EEF2F7"/>
                    </a:solidFill>
                  </a:tcPr>
                </a:tc>
                <a:tc>
                  <a:txBody>
                    <a:bodyPr/>
                    <a:lstStyle/>
                    <a:p>
                      <a:pPr>
                        <a:defRPr sz="1250" b="0">
                          <a:solidFill>
                            <a:srgbClr val="1E2B40"/>
                          </a:solidFill>
                        </a:defRPr>
                      </a:pPr>
                      <a:r>
                        <a:t>NAT, Logging &amp; CLI Troubleshooting</a:t>
                      </a:r>
                    </a:p>
                  </a:txBody>
                  <a:tcPr marL="64008" marR="64008" marT="22860" marB="22860">
                    <a:solidFill>
                      <a:srgbClr val="EEF2F7"/>
                    </a:solidFill>
                  </a:tcPr>
                </a:tc>
                <a:extLst>
                  <a:ext uri="{0D108BD9-81ED-4DB2-BD59-A6C34878D82A}">
                    <a16:rowId xmlns:a16="http://schemas.microsoft.com/office/drawing/2014/main" val="10004"/>
                  </a:ext>
                </a:extLst>
              </a:tr>
              <a:tr h="502920">
                <a:tc>
                  <a:txBody>
                    <a:bodyPr/>
                    <a:lstStyle/>
                    <a:p>
                      <a:pPr>
                        <a:defRPr sz="1250" b="0">
                          <a:solidFill>
                            <a:srgbClr val="1E2B40"/>
                          </a:solidFill>
                        </a:defRPr>
                      </a:pPr>
                      <a:r>
                        <a:t>5</a:t>
                      </a:r>
                    </a:p>
                  </a:txBody>
                  <a:tcPr marL="64008" marR="64008" marT="22860" marB="22860">
                    <a:solidFill>
                      <a:srgbClr val="FFFFFF"/>
                    </a:solidFill>
                  </a:tcPr>
                </a:tc>
                <a:tc>
                  <a:txBody>
                    <a:bodyPr/>
                    <a:lstStyle/>
                    <a:p>
                      <a:pPr>
                        <a:defRPr sz="1250" b="0">
                          <a:solidFill>
                            <a:srgbClr val="1E2B40"/>
                          </a:solidFill>
                        </a:defRPr>
                      </a:pPr>
                      <a:r>
                        <a:t>2</a:t>
                      </a:r>
                    </a:p>
                  </a:txBody>
                  <a:tcPr marL="64008" marR="64008" marT="22860" marB="22860">
                    <a:solidFill>
                      <a:srgbClr val="FFFFFF"/>
                    </a:solidFill>
                  </a:tcPr>
                </a:tc>
                <a:tc>
                  <a:txBody>
                    <a:bodyPr/>
                    <a:lstStyle/>
                    <a:p>
                      <a:pPr>
                        <a:defRPr sz="1250" b="0">
                          <a:solidFill>
                            <a:srgbClr val="1E2B40"/>
                          </a:solidFill>
                        </a:defRPr>
                      </a:pPr>
                      <a:r>
                        <a:rPr lang="en-HU"/>
                        <a:t>48–57</a:t>
                      </a:r>
                    </a:p>
                  </a:txBody>
                  <a:tcPr marL="64008" marR="64008" marT="22860" marB="22860">
                    <a:solidFill>
                      <a:srgbClr val="FFFFFF"/>
                    </a:solidFill>
                  </a:tcPr>
                </a:tc>
                <a:tc>
                  <a:txBody>
                    <a:bodyPr/>
                    <a:lstStyle/>
                    <a:p>
                      <a:pPr>
                        <a:defRPr sz="1250" b="0">
                          <a:solidFill>
                            <a:srgbClr val="1E2B40"/>
                          </a:solidFill>
                        </a:defRPr>
                      </a:pPr>
                      <a:r>
                        <a:t>Routing Fundamentals &amp; Route Selection</a:t>
                      </a:r>
                    </a:p>
                  </a:txBody>
                  <a:tcPr marL="64008" marR="64008" marT="22860" marB="22860">
                    <a:solidFill>
                      <a:srgbClr val="FFFFFF"/>
                    </a:solidFill>
                  </a:tcPr>
                </a:tc>
                <a:extLst>
                  <a:ext uri="{0D108BD9-81ED-4DB2-BD59-A6C34878D82A}">
                    <a16:rowId xmlns:a16="http://schemas.microsoft.com/office/drawing/2014/main" val="10005"/>
                  </a:ext>
                </a:extLst>
              </a:tr>
              <a:tr h="502920">
                <a:tc>
                  <a:txBody>
                    <a:bodyPr/>
                    <a:lstStyle/>
                    <a:p>
                      <a:pPr>
                        <a:defRPr sz="1250" b="0">
                          <a:solidFill>
                            <a:srgbClr val="1E2B40"/>
                          </a:solidFill>
                        </a:defRPr>
                      </a:pPr>
                      <a:r>
                        <a:t>6</a:t>
                      </a:r>
                    </a:p>
                  </a:txBody>
                  <a:tcPr marL="64008" marR="64008" marT="22860" marB="22860">
                    <a:solidFill>
                      <a:srgbClr val="EEF2F7"/>
                    </a:solidFill>
                  </a:tcPr>
                </a:tc>
                <a:tc>
                  <a:txBody>
                    <a:bodyPr/>
                    <a:lstStyle/>
                    <a:p>
                      <a:pPr>
                        <a:defRPr sz="1250" b="0">
                          <a:solidFill>
                            <a:srgbClr val="1E2B40"/>
                          </a:solidFill>
                        </a:defRPr>
                      </a:pPr>
                      <a:r>
                        <a:t>2</a:t>
                      </a:r>
                    </a:p>
                  </a:txBody>
                  <a:tcPr marL="64008" marR="64008" marT="22860" marB="22860">
                    <a:solidFill>
                      <a:srgbClr val="EEF2F7"/>
                    </a:solidFill>
                  </a:tcPr>
                </a:tc>
                <a:tc>
                  <a:txBody>
                    <a:bodyPr/>
                    <a:lstStyle/>
                    <a:p>
                      <a:pPr>
                        <a:defRPr sz="1250" b="0">
                          <a:solidFill>
                            <a:srgbClr val="1E2B40"/>
                          </a:solidFill>
                        </a:defRPr>
                      </a:pPr>
                      <a:r>
                        <a:rPr lang="en-HU"/>
                        <a:t>58–67</a:t>
                      </a:r>
                    </a:p>
                  </a:txBody>
                  <a:tcPr marL="64008" marR="64008" marT="22860" marB="22860">
                    <a:solidFill>
                      <a:srgbClr val="EEF2F7"/>
                    </a:solidFill>
                  </a:tcPr>
                </a:tc>
                <a:tc>
                  <a:txBody>
                    <a:bodyPr/>
                    <a:lstStyle/>
                    <a:p>
                      <a:pPr>
                        <a:defRPr sz="1250" b="0">
                          <a:solidFill>
                            <a:srgbClr val="1E2B40"/>
                          </a:solidFill>
                        </a:defRPr>
                      </a:pPr>
                      <a:r>
                        <a:t>Object Management &amp; Policy Design Best Practices</a:t>
                      </a:r>
                    </a:p>
                  </a:txBody>
                  <a:tcPr marL="64008" marR="64008" marT="22860" marB="22860">
                    <a:solidFill>
                      <a:srgbClr val="EEF2F7"/>
                    </a:solidFill>
                  </a:tcPr>
                </a:tc>
                <a:extLst>
                  <a:ext uri="{0D108BD9-81ED-4DB2-BD59-A6C34878D82A}">
                    <a16:rowId xmlns:a16="http://schemas.microsoft.com/office/drawing/2014/main" val="10006"/>
                  </a:ext>
                </a:extLst>
              </a:tr>
              <a:tr h="502920">
                <a:tc>
                  <a:txBody>
                    <a:bodyPr/>
                    <a:lstStyle/>
                    <a:p>
                      <a:pPr>
                        <a:defRPr sz="1250" b="0">
                          <a:solidFill>
                            <a:srgbClr val="1E2B40"/>
                          </a:solidFill>
                        </a:defRPr>
                      </a:pPr>
                      <a:r>
                        <a:t>7</a:t>
                      </a:r>
                    </a:p>
                  </a:txBody>
                  <a:tcPr marL="64008" marR="64008" marT="22860" marB="22860">
                    <a:solidFill>
                      <a:srgbClr val="FFFFFF"/>
                    </a:solidFill>
                  </a:tcPr>
                </a:tc>
                <a:tc>
                  <a:txBody>
                    <a:bodyPr/>
                    <a:lstStyle/>
                    <a:p>
                      <a:pPr>
                        <a:defRPr sz="1250" b="0">
                          <a:solidFill>
                            <a:srgbClr val="1E2B40"/>
                          </a:solidFill>
                        </a:defRPr>
                      </a:pPr>
                      <a:r>
                        <a:t>2</a:t>
                      </a:r>
                    </a:p>
                  </a:txBody>
                  <a:tcPr marL="64008" marR="64008" marT="22860" marB="22860">
                    <a:solidFill>
                      <a:srgbClr val="FFFFFF"/>
                    </a:solidFill>
                  </a:tcPr>
                </a:tc>
                <a:tc>
                  <a:txBody>
                    <a:bodyPr/>
                    <a:lstStyle/>
                    <a:p>
                      <a:pPr>
                        <a:defRPr sz="1250" b="0">
                          <a:solidFill>
                            <a:srgbClr val="1E2B40"/>
                          </a:solidFill>
                        </a:defRPr>
                      </a:pPr>
                      <a:r>
                        <a:rPr lang="en-HU"/>
                        <a:t>68–77</a:t>
                      </a:r>
                    </a:p>
                  </a:txBody>
                  <a:tcPr marL="64008" marR="64008" marT="22860" marB="22860">
                    <a:solidFill>
                      <a:srgbClr val="FFFFFF"/>
                    </a:solidFill>
                  </a:tcPr>
                </a:tc>
                <a:tc>
                  <a:txBody>
                    <a:bodyPr/>
                    <a:lstStyle/>
                    <a:p>
                      <a:pPr>
                        <a:defRPr sz="1250" b="0">
                          <a:solidFill>
                            <a:srgbClr val="1E2B40"/>
                          </a:solidFill>
                        </a:defRPr>
                      </a:pPr>
                      <a:r>
                        <a:t>Security Services &amp; SSL Inspection</a:t>
                      </a:r>
                    </a:p>
                  </a:txBody>
                  <a:tcPr marL="64008" marR="64008" marT="22860" marB="22860">
                    <a:solidFill>
                      <a:srgbClr val="FFFFFF"/>
                    </a:solidFill>
                  </a:tcPr>
                </a:tc>
                <a:extLst>
                  <a:ext uri="{0D108BD9-81ED-4DB2-BD59-A6C34878D82A}">
                    <a16:rowId xmlns:a16="http://schemas.microsoft.com/office/drawing/2014/main" val="10007"/>
                  </a:ext>
                </a:extLst>
              </a:tr>
              <a:tr h="502920">
                <a:tc>
                  <a:txBody>
                    <a:bodyPr/>
                    <a:lstStyle/>
                    <a:p>
                      <a:pPr>
                        <a:defRPr sz="1250" b="0">
                          <a:solidFill>
                            <a:srgbClr val="1E2B40"/>
                          </a:solidFill>
                        </a:defRPr>
                      </a:pPr>
                      <a:r>
                        <a:t>8</a:t>
                      </a:r>
                    </a:p>
                  </a:txBody>
                  <a:tcPr marL="64008" marR="64008" marT="22860" marB="22860">
                    <a:solidFill>
                      <a:srgbClr val="EEF2F7"/>
                    </a:solidFill>
                  </a:tcPr>
                </a:tc>
                <a:tc>
                  <a:txBody>
                    <a:bodyPr/>
                    <a:lstStyle/>
                    <a:p>
                      <a:pPr>
                        <a:defRPr sz="1250" b="0">
                          <a:solidFill>
                            <a:srgbClr val="1E2B40"/>
                          </a:solidFill>
                        </a:defRPr>
                      </a:pPr>
                      <a:r>
                        <a:t>2</a:t>
                      </a:r>
                    </a:p>
                  </a:txBody>
                  <a:tcPr marL="64008" marR="64008" marT="22860" marB="22860">
                    <a:solidFill>
                      <a:srgbClr val="EEF2F7"/>
                    </a:solidFill>
                  </a:tcPr>
                </a:tc>
                <a:tc>
                  <a:txBody>
                    <a:bodyPr/>
                    <a:lstStyle/>
                    <a:p>
                      <a:pPr>
                        <a:defRPr sz="1250" b="0">
                          <a:solidFill>
                            <a:srgbClr val="1E2B40"/>
                          </a:solidFill>
                        </a:defRPr>
                      </a:pPr>
                      <a:r>
                        <a:rPr lang="en-HU"/>
                        <a:t>78–86</a:t>
                      </a:r>
                    </a:p>
                  </a:txBody>
                  <a:tcPr marL="64008" marR="64008" marT="22860" marB="22860">
                    <a:solidFill>
                      <a:srgbClr val="EEF2F7"/>
                    </a:solidFill>
                  </a:tcPr>
                </a:tc>
                <a:tc>
                  <a:txBody>
                    <a:bodyPr/>
                    <a:lstStyle/>
                    <a:p>
                      <a:pPr>
                        <a:defRPr sz="1250" b="0">
                          <a:solidFill>
                            <a:srgbClr val="1E2B40"/>
                          </a:solidFill>
                        </a:defRPr>
                      </a:pPr>
                      <a:r>
                        <a:rPr lang="en-GB"/>
                        <a:t>Hardware Architecture, Monitoring &amp; Operations</a:t>
                      </a:r>
                    </a:p>
                  </a:txBody>
                  <a:tcPr marL="64008" marR="64008" marT="22860" marB="22860">
                    <a:solidFill>
                      <a:srgbClr val="EEF2F7"/>
                    </a:solidFill>
                  </a:tcPr>
                </a:tc>
                <a:extLst>
                  <a:ext uri="{0D108BD9-81ED-4DB2-BD59-A6C34878D82A}">
                    <a16:rowId xmlns:a16="http://schemas.microsoft.com/office/drawing/2014/main" val="10008"/>
                  </a:ext>
                </a:extLst>
              </a:tr>
            </a:tbl>
          </a:graphicData>
        </a:graphic>
      </p:graphicFrame>
      <p:sp>
        <p:nvSpPr>
          <p:cNvPr id="12" name="TextBox 11"/>
          <p:cNvSpPr txBox="1">
            <a:spLocks/>
          </p:cNvSpPr>
          <p:nvPr/>
        </p:nvSpPr>
        <p:spPr>
          <a:xfrm>
            <a:off x="502920" y="420624"/>
            <a:ext cx="10744200" cy="146304"/>
          </a:xfrm>
          <a:prstGeom prst="rect">
            <a:avLst/>
          </a:prstGeom>
          <a:noFill/>
        </p:spPr>
        <p:txBody>
          <a:bodyPr wrap="none" lIns="0" tIns="0" rIns="0" bIns="0">
            <a:spAutoFit/>
          </a:bodyPr>
          <a:lstStyle/>
          <a:p>
            <a:pPr algn="l"/>
            <a:r>
              <a:rPr lang="en-GB" sz="850" b="1">
                <a:solidFill>
                  <a:srgbClr val="687385"/>
                </a:solidFill>
              </a:rPr>
              <a:t>COVERAGE MATRIX • BLOCKS 1–8</a:t>
            </a:r>
          </a:p>
        </p:txBody>
      </p:sp>
      <p:sp>
        <p:nvSpPr>
          <p:cNvPr id="13" name="TextBox 12"/>
          <p:cNvSpPr txBox="1"/>
          <p:nvPr/>
        </p:nvSpPr>
        <p:spPr>
          <a:xfrm>
            <a:off x="9144000" y="256032"/>
            <a:ext cx="2194560" cy="164592"/>
          </a:xfrm>
          <a:prstGeom prst="rect">
            <a:avLst/>
          </a:prstGeom>
          <a:noFill/>
        </p:spPr>
        <p:txBody>
          <a:bodyPr wrap="square" lIns="36576" tIns="36576" rIns="36576" bIns="36576" anchor="t">
            <a:spAutoFit/>
          </a:bodyPr>
          <a:lstStyle/>
          <a:p>
            <a:pPr algn="r">
              <a:spcAft>
                <a:spcPts val="0"/>
              </a:spcAft>
            </a:pPr>
            <a:r>
              <a:rPr sz="900" b="1">
                <a:solidFill>
                  <a:srgbClr val="E60012"/>
                </a:solidFill>
              </a:rPr>
              <a:t>INSTRUCTOR APPENDIX</a:t>
            </a:r>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show="0">
  <p:cSld name="Slide 7">
    <p:bg>
      <p:bgPr>
        <a:solidFill>
          <a:srgbClr val="FFFFFF"/>
        </a:solidFill>
        <a:effectLst/>
      </p:bgPr>
    </p:bg>
    <p:spTree>
      <p:nvGrpSpPr>
        <p:cNvPr id="1" name=""/>
        <p:cNvGrpSpPr/>
        <p:nvPr/>
      </p:nvGrpSpPr>
      <p:grpSpPr>
        <a:xfrm>
          <a:off x="0" y="0"/>
          <a:ext cx="1" cy="1"/>
          <a:chOff x="0" y="0"/>
          <a:chExt cx="1" cy="1"/>
        </a:xfrm>
      </p:grpSpPr>
      <p:sp>
        <p:nvSpPr>
          <p:cNvPr id="2" name="Rectangle 1"/>
          <p:cNvSpPr/>
          <p:nvPr/>
        </p:nvSpPr>
        <p:spPr>
          <a:xfrm>
            <a:off x="0" y="0"/>
            <a:ext cx="12191695" cy="82296"/>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U"/>
          </a:p>
        </p:txBody>
      </p:sp>
      <p:cxnSp>
        <p:nvCxnSpPr>
          <p:cNvPr id="6" name="Connector 5"/>
          <p:cNvCxnSpPr/>
          <p:nvPr/>
        </p:nvCxnSpPr>
        <p:spPr>
          <a:xfrm>
            <a:off x="502920" y="6492240"/>
            <a:ext cx="11183112" cy="0"/>
          </a:xfrm>
          <a:prstGeom prst="line">
            <a:avLst/>
          </a:prstGeom>
          <a:ln w="8890">
            <a:solidFill>
              <a:srgbClr val="D8E0EA"/>
            </a:solidFill>
          </a:ln>
        </p:spPr>
        <p:style>
          <a:lnRef idx="2">
            <a:schemeClr val="accent1"/>
          </a:lnRef>
          <a:fillRef idx="0">
            <a:schemeClr val="accent1"/>
          </a:fillRef>
          <a:effectRef idx="1">
            <a:schemeClr val="accent1"/>
          </a:effectRef>
          <a:fontRef idx="minor">
            <a:schemeClr val="tx1"/>
          </a:fontRef>
        </p:style>
      </p:cxnSp>
      <p:sp>
        <p:nvSpPr>
          <p:cNvPr id="7" name="TextBox 6"/>
          <p:cNvSpPr txBox="1">
            <a:spLocks/>
          </p:cNvSpPr>
          <p:nvPr/>
        </p:nvSpPr>
        <p:spPr>
          <a:xfrm>
            <a:off x="502920" y="6537960"/>
            <a:ext cx="10149840" cy="170816"/>
          </a:xfrm>
          <a:prstGeom prst="rect">
            <a:avLst/>
          </a:prstGeom>
          <a:noFill/>
        </p:spPr>
        <p:txBody>
          <a:bodyPr wrap="square" lIns="27432" tIns="27432" rIns="27432" bIns="27432" anchor="t">
            <a:spAutoFit/>
          </a:bodyPr>
          <a:lstStyle/>
          <a:p>
            <a:pPr algn="l">
              <a:spcAft>
                <a:spcPts val="0"/>
              </a:spcAft>
            </a:pPr>
            <a:r>
              <a:rPr lang="en-GB" sz="750" b="0">
                <a:solidFill>
                  <a:srgbClr val="687385"/>
                </a:solidFill>
              </a:rPr>
              <a:t>FortiGate Foundations + Advanced | Lab: FortiOS 7.6.7 on Azure FortiGate-VM • physical appliance theory included</a:t>
            </a:r>
          </a:p>
        </p:txBody>
      </p:sp>
      <p:sp>
        <p:nvSpPr>
          <p:cNvPr id="8" name="TextBox 7"/>
          <p:cNvSpPr txBox="1">
            <a:spLocks/>
          </p:cNvSpPr>
          <p:nvPr/>
        </p:nvSpPr>
        <p:spPr>
          <a:xfrm>
            <a:off x="11155680" y="6528816"/>
            <a:ext cx="502920" cy="170816"/>
          </a:xfrm>
          <a:prstGeom prst="rect">
            <a:avLst/>
          </a:prstGeom>
          <a:noFill/>
        </p:spPr>
        <p:txBody>
          <a:bodyPr wrap="square" lIns="27432" tIns="27432" rIns="27432" bIns="27432" anchor="t">
            <a:spAutoFit/>
          </a:bodyPr>
          <a:lstStyle/>
          <a:p>
            <a:pPr algn="r">
              <a:spcAft>
                <a:spcPts val="0"/>
              </a:spcAft>
            </a:pPr>
            <a:r>
              <a:rPr lang="en-HU" sz="750" b="0">
                <a:solidFill>
                  <a:srgbClr val="687385"/>
                </a:solidFill>
              </a:rPr>
              <a:t>204</a:t>
            </a:r>
          </a:p>
        </p:txBody>
      </p:sp>
      <p:sp>
        <p:nvSpPr>
          <p:cNvPr id="9" name="TextBox 8"/>
          <p:cNvSpPr txBox="1">
            <a:spLocks/>
          </p:cNvSpPr>
          <p:nvPr/>
        </p:nvSpPr>
        <p:spPr>
          <a:xfrm>
            <a:off x="502920" y="621792"/>
            <a:ext cx="11109960" cy="502920"/>
          </a:xfrm>
          <a:prstGeom prst="rect">
            <a:avLst/>
          </a:prstGeom>
          <a:noFill/>
        </p:spPr>
        <p:txBody>
          <a:bodyPr wrap="square" lIns="27432" tIns="27432" rIns="27432" bIns="27432" anchor="t">
            <a:spAutoFit/>
          </a:bodyPr>
          <a:lstStyle/>
          <a:p>
            <a:pPr algn="l">
              <a:spcAft>
                <a:spcPts val="0"/>
              </a:spcAft>
            </a:pPr>
            <a:r>
              <a:rPr lang="en-GB" sz="2600" b="1">
                <a:solidFill>
                  <a:srgbClr val="1E2B40"/>
                </a:solidFill>
              </a:rPr>
              <a:t>Coverage matrix — blocks 9–16</a:t>
            </a:r>
          </a:p>
        </p:txBody>
      </p:sp>
      <p:sp>
        <p:nvSpPr>
          <p:cNvPr id="10" name="TextBox 9"/>
          <p:cNvSpPr txBox="1">
            <a:spLocks/>
          </p:cNvSpPr>
          <p:nvPr/>
        </p:nvSpPr>
        <p:spPr>
          <a:xfrm>
            <a:off x="521207" y="1133856"/>
            <a:ext cx="10698480" cy="224677"/>
          </a:xfrm>
          <a:prstGeom prst="rect">
            <a:avLst/>
          </a:prstGeom>
          <a:noFill/>
        </p:spPr>
        <p:txBody>
          <a:bodyPr wrap="square" lIns="27432" tIns="27432" rIns="27432" bIns="27432" anchor="t">
            <a:spAutoFit/>
          </a:bodyPr>
          <a:lstStyle/>
          <a:p>
            <a:pPr algn="l">
              <a:spcAft>
                <a:spcPts val="0"/>
              </a:spcAft>
            </a:pPr>
            <a:r>
              <a:rPr lang="en-GB" sz="1100" b="0">
                <a:solidFill>
                  <a:srgbClr val="687385"/>
                </a:solidFill>
              </a:rPr>
              <a:t>All eight Advanced blocks retained; prerequisites and optional capabilities are explicit</a:t>
            </a:r>
          </a:p>
        </p:txBody>
      </p:sp>
      <p:graphicFrame>
        <p:nvGraphicFramePr>
          <p:cNvPr id="11" name="Table 10"/>
          <p:cNvGraphicFramePr>
            <a:graphicFrameLocks noGrp="1"/>
          </p:cNvGraphicFramePr>
          <p:nvPr>
            <p:extLst>
              <p:ext uri="{D42A27DB-BD31-4B8C-83A1-F6EECF244321}">
                <p14:modId xmlns:p14="http://schemas.microsoft.com/office/powerpoint/2010/main" val="4185021039"/>
              </p:ext>
            </p:extLst>
          </p:nvPr>
        </p:nvGraphicFramePr>
        <p:xfrm>
          <a:off x="658368" y="1481328"/>
          <a:ext cx="10835640" cy="4526280"/>
        </p:xfrm>
        <a:graphic>
          <a:graphicData uri="http://schemas.openxmlformats.org/drawingml/2006/table">
            <a:tbl>
              <a:tblPr firstRow="1" bandRow="1">
                <a:tableStyleId>{5C22544A-7EE6-4342-B048-85BDC9FD1C3A}</a:tableStyleId>
              </a:tblPr>
              <a:tblGrid>
                <a:gridCol w="59436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gridCol w="5760720">
                  <a:extLst>
                    <a:ext uri="{9D8B030D-6E8A-4147-A177-3AD203B41FA5}">
                      <a16:colId xmlns:a16="http://schemas.microsoft.com/office/drawing/2014/main" val="20003"/>
                    </a:ext>
                  </a:extLst>
                </a:gridCol>
              </a:tblGrid>
              <a:tr h="502920">
                <a:tc>
                  <a:txBody>
                    <a:bodyPr/>
                    <a:lstStyle/>
                    <a:p>
                      <a:pPr>
                        <a:defRPr sz="1250" b="1">
                          <a:solidFill>
                            <a:srgbClr val="FFFFFF"/>
                          </a:solidFill>
                        </a:defRPr>
                      </a:pPr>
                      <a:r>
                        <a:t>#</a:t>
                      </a:r>
                    </a:p>
                  </a:txBody>
                  <a:tcPr marL="64008" marR="64008" marT="22860" marB="22860">
                    <a:solidFill>
                      <a:srgbClr val="17243A"/>
                    </a:solidFill>
                  </a:tcPr>
                </a:tc>
                <a:tc>
                  <a:txBody>
                    <a:bodyPr/>
                    <a:lstStyle/>
                    <a:p>
                      <a:pPr>
                        <a:defRPr sz="1250" b="1">
                          <a:solidFill>
                            <a:srgbClr val="FFFFFF"/>
                          </a:solidFill>
                        </a:defRPr>
                      </a:pPr>
                      <a:r>
                        <a:t>DAY</a:t>
                      </a:r>
                    </a:p>
                  </a:txBody>
                  <a:tcPr marL="64008" marR="64008" marT="22860" marB="22860">
                    <a:solidFill>
                      <a:srgbClr val="17243A"/>
                    </a:solidFill>
                  </a:tcPr>
                </a:tc>
                <a:tc>
                  <a:txBody>
                    <a:bodyPr/>
                    <a:lstStyle/>
                    <a:p>
                      <a:pPr>
                        <a:defRPr sz="1250" b="1">
                          <a:solidFill>
                            <a:srgbClr val="FFFFFF"/>
                          </a:solidFill>
                        </a:defRPr>
                      </a:pPr>
                      <a:r>
                        <a:t>SLIDES</a:t>
                      </a:r>
                    </a:p>
                  </a:txBody>
                  <a:tcPr marL="64008" marR="64008" marT="22860" marB="22860">
                    <a:solidFill>
                      <a:srgbClr val="17243A"/>
                    </a:solidFill>
                  </a:tcPr>
                </a:tc>
                <a:tc>
                  <a:txBody>
                    <a:bodyPr/>
                    <a:lstStyle/>
                    <a:p>
                      <a:pPr>
                        <a:defRPr sz="1250" b="1">
                          <a:solidFill>
                            <a:srgbClr val="FFFFFF"/>
                          </a:solidFill>
                        </a:defRPr>
                      </a:pPr>
                      <a:r>
                        <a:t>BLOCK</a:t>
                      </a:r>
                    </a:p>
                  </a:txBody>
                  <a:tcPr marL="64008" marR="64008" marT="22860" marB="22860">
                    <a:solidFill>
                      <a:srgbClr val="17243A"/>
                    </a:solidFill>
                  </a:tcPr>
                </a:tc>
                <a:extLst>
                  <a:ext uri="{0D108BD9-81ED-4DB2-BD59-A6C34878D82A}">
                    <a16:rowId xmlns:a16="http://schemas.microsoft.com/office/drawing/2014/main" val="10000"/>
                  </a:ext>
                </a:extLst>
              </a:tr>
              <a:tr h="502920">
                <a:tc>
                  <a:txBody>
                    <a:bodyPr/>
                    <a:lstStyle/>
                    <a:p>
                      <a:pPr>
                        <a:defRPr sz="1250" b="0">
                          <a:solidFill>
                            <a:srgbClr val="1E2B40"/>
                          </a:solidFill>
                        </a:defRPr>
                      </a:pPr>
                      <a:r>
                        <a:t>9</a:t>
                      </a:r>
                    </a:p>
                  </a:txBody>
                  <a:tcPr marL="64008" marR="64008" marT="22860" marB="22860">
                    <a:solidFill>
                      <a:srgbClr val="FFFFFF"/>
                    </a:solidFill>
                  </a:tcPr>
                </a:tc>
                <a:tc>
                  <a:txBody>
                    <a:bodyPr/>
                    <a:lstStyle/>
                    <a:p>
                      <a:pPr>
                        <a:defRPr sz="1250" b="0">
                          <a:solidFill>
                            <a:srgbClr val="1E2B40"/>
                          </a:solidFill>
                        </a:defRPr>
                      </a:pPr>
                      <a:r>
                        <a:t>3</a:t>
                      </a:r>
                    </a:p>
                  </a:txBody>
                  <a:tcPr marL="64008" marR="64008" marT="22860" marB="22860">
                    <a:solidFill>
                      <a:srgbClr val="FFFFFF"/>
                    </a:solidFill>
                  </a:tcPr>
                </a:tc>
                <a:tc>
                  <a:txBody>
                    <a:bodyPr/>
                    <a:lstStyle/>
                    <a:p>
                      <a:pPr>
                        <a:defRPr sz="1250" b="0">
                          <a:solidFill>
                            <a:srgbClr val="1E2B40"/>
                          </a:solidFill>
                        </a:defRPr>
                      </a:pPr>
                      <a:r>
                        <a:rPr lang="en-HU"/>
                        <a:t>87–96</a:t>
                      </a:r>
                    </a:p>
                  </a:txBody>
                  <a:tcPr marL="64008" marR="64008" marT="22860" marB="22860">
                    <a:solidFill>
                      <a:srgbClr val="FFFFFF"/>
                    </a:solidFill>
                  </a:tcPr>
                </a:tc>
                <a:tc>
                  <a:txBody>
                    <a:bodyPr/>
                    <a:lstStyle/>
                    <a:p>
                      <a:pPr>
                        <a:defRPr sz="1250" b="0">
                          <a:solidFill>
                            <a:srgbClr val="1E2B40"/>
                          </a:solidFill>
                        </a:defRPr>
                      </a:pPr>
                      <a:r>
                        <a:t>Route Selection, PBR &amp; OSPF</a:t>
                      </a:r>
                    </a:p>
                  </a:txBody>
                  <a:tcPr marL="64008" marR="64008" marT="22860" marB="22860">
                    <a:solidFill>
                      <a:srgbClr val="FFFFFF"/>
                    </a:solidFill>
                  </a:tcPr>
                </a:tc>
                <a:extLst>
                  <a:ext uri="{0D108BD9-81ED-4DB2-BD59-A6C34878D82A}">
                    <a16:rowId xmlns:a16="http://schemas.microsoft.com/office/drawing/2014/main" val="10001"/>
                  </a:ext>
                </a:extLst>
              </a:tr>
              <a:tr h="502920">
                <a:tc>
                  <a:txBody>
                    <a:bodyPr/>
                    <a:lstStyle/>
                    <a:p>
                      <a:pPr>
                        <a:defRPr sz="1250" b="0">
                          <a:solidFill>
                            <a:srgbClr val="1E2B40"/>
                          </a:solidFill>
                        </a:defRPr>
                      </a:pPr>
                      <a:r>
                        <a:t>10</a:t>
                      </a:r>
                    </a:p>
                  </a:txBody>
                  <a:tcPr marL="64008" marR="64008" marT="22860" marB="22860">
                    <a:solidFill>
                      <a:srgbClr val="EEF2F7"/>
                    </a:solidFill>
                  </a:tcPr>
                </a:tc>
                <a:tc>
                  <a:txBody>
                    <a:bodyPr/>
                    <a:lstStyle/>
                    <a:p>
                      <a:pPr>
                        <a:defRPr sz="1250" b="0">
                          <a:solidFill>
                            <a:srgbClr val="1E2B40"/>
                          </a:solidFill>
                        </a:defRPr>
                      </a:pPr>
                      <a:r>
                        <a:t>3</a:t>
                      </a:r>
                    </a:p>
                  </a:txBody>
                  <a:tcPr marL="64008" marR="64008" marT="22860" marB="22860">
                    <a:solidFill>
                      <a:srgbClr val="EEF2F7"/>
                    </a:solidFill>
                  </a:tcPr>
                </a:tc>
                <a:tc>
                  <a:txBody>
                    <a:bodyPr/>
                    <a:lstStyle/>
                    <a:p>
                      <a:pPr>
                        <a:defRPr sz="1250" b="0">
                          <a:solidFill>
                            <a:srgbClr val="1E2B40"/>
                          </a:solidFill>
                        </a:defRPr>
                      </a:pPr>
                      <a:r>
                        <a:rPr lang="en-HU"/>
                        <a:t>97–109</a:t>
                      </a:r>
                    </a:p>
                  </a:txBody>
                  <a:tcPr marL="64008" marR="64008" marT="22860" marB="22860">
                    <a:solidFill>
                      <a:srgbClr val="EEF2F7"/>
                    </a:solidFill>
                  </a:tcPr>
                </a:tc>
                <a:tc>
                  <a:txBody>
                    <a:bodyPr/>
                    <a:lstStyle/>
                    <a:p>
                      <a:pPr>
                        <a:defRPr sz="1250" b="0">
                          <a:solidFill>
                            <a:srgbClr val="1E2B40"/>
                          </a:solidFill>
                        </a:defRPr>
                      </a:pPr>
                      <a:r>
                        <a:t>BGP Fundamentals &amp; Practical Use</a:t>
                      </a:r>
                    </a:p>
                  </a:txBody>
                  <a:tcPr marL="64008" marR="64008" marT="22860" marB="22860">
                    <a:solidFill>
                      <a:srgbClr val="EEF2F7"/>
                    </a:solidFill>
                  </a:tcPr>
                </a:tc>
                <a:extLst>
                  <a:ext uri="{0D108BD9-81ED-4DB2-BD59-A6C34878D82A}">
                    <a16:rowId xmlns:a16="http://schemas.microsoft.com/office/drawing/2014/main" val="10002"/>
                  </a:ext>
                </a:extLst>
              </a:tr>
              <a:tr h="502920">
                <a:tc>
                  <a:txBody>
                    <a:bodyPr/>
                    <a:lstStyle/>
                    <a:p>
                      <a:pPr>
                        <a:defRPr sz="1250" b="0">
                          <a:solidFill>
                            <a:srgbClr val="1E2B40"/>
                          </a:solidFill>
                        </a:defRPr>
                      </a:pPr>
                      <a:r>
                        <a:t>11</a:t>
                      </a:r>
                    </a:p>
                  </a:txBody>
                  <a:tcPr marL="64008" marR="64008" marT="22860" marB="22860">
                    <a:solidFill>
                      <a:srgbClr val="FFFFFF"/>
                    </a:solidFill>
                  </a:tcPr>
                </a:tc>
                <a:tc>
                  <a:txBody>
                    <a:bodyPr/>
                    <a:lstStyle/>
                    <a:p>
                      <a:pPr>
                        <a:defRPr sz="1250" b="0">
                          <a:solidFill>
                            <a:srgbClr val="1E2B40"/>
                          </a:solidFill>
                        </a:defRPr>
                      </a:pPr>
                      <a:r>
                        <a:t>3</a:t>
                      </a:r>
                    </a:p>
                  </a:txBody>
                  <a:tcPr marL="64008" marR="64008" marT="22860" marB="22860">
                    <a:solidFill>
                      <a:srgbClr val="FFFFFF"/>
                    </a:solidFill>
                  </a:tcPr>
                </a:tc>
                <a:tc>
                  <a:txBody>
                    <a:bodyPr/>
                    <a:lstStyle/>
                    <a:p>
                      <a:pPr>
                        <a:defRPr sz="1250" b="0">
                          <a:solidFill>
                            <a:srgbClr val="1E2B40"/>
                          </a:solidFill>
                        </a:defRPr>
                      </a:pPr>
                      <a:r>
                        <a:rPr lang="en-HU"/>
                        <a:t>110–122</a:t>
                      </a:r>
                    </a:p>
                  </a:txBody>
                  <a:tcPr marL="64008" marR="64008" marT="22860" marB="22860">
                    <a:solidFill>
                      <a:srgbClr val="FFFFFF"/>
                    </a:solidFill>
                  </a:tcPr>
                </a:tc>
                <a:tc>
                  <a:txBody>
                    <a:bodyPr/>
                    <a:lstStyle/>
                    <a:p>
                      <a:pPr>
                        <a:defRPr sz="1250" b="0">
                          <a:solidFill>
                            <a:srgbClr val="1E2B40"/>
                          </a:solidFill>
                        </a:defRPr>
                      </a:pPr>
                      <a:r>
                        <a:t>IPsec VPN Architecture &amp; ADVPN</a:t>
                      </a:r>
                    </a:p>
                  </a:txBody>
                  <a:tcPr marL="64008" marR="64008" marT="22860" marB="22860">
                    <a:solidFill>
                      <a:srgbClr val="FFFFFF"/>
                    </a:solidFill>
                  </a:tcPr>
                </a:tc>
                <a:extLst>
                  <a:ext uri="{0D108BD9-81ED-4DB2-BD59-A6C34878D82A}">
                    <a16:rowId xmlns:a16="http://schemas.microsoft.com/office/drawing/2014/main" val="10003"/>
                  </a:ext>
                </a:extLst>
              </a:tr>
              <a:tr h="502920">
                <a:tc>
                  <a:txBody>
                    <a:bodyPr/>
                    <a:lstStyle/>
                    <a:p>
                      <a:pPr>
                        <a:defRPr sz="1250" b="0">
                          <a:solidFill>
                            <a:srgbClr val="1E2B40"/>
                          </a:solidFill>
                        </a:defRPr>
                      </a:pPr>
                      <a:r>
                        <a:t>12</a:t>
                      </a:r>
                    </a:p>
                  </a:txBody>
                  <a:tcPr marL="64008" marR="64008" marT="22860" marB="22860">
                    <a:solidFill>
                      <a:srgbClr val="EEF2F7"/>
                    </a:solidFill>
                  </a:tcPr>
                </a:tc>
                <a:tc>
                  <a:txBody>
                    <a:bodyPr/>
                    <a:lstStyle/>
                    <a:p>
                      <a:pPr>
                        <a:defRPr sz="1250" b="0">
                          <a:solidFill>
                            <a:srgbClr val="1E2B40"/>
                          </a:solidFill>
                        </a:defRPr>
                      </a:pPr>
                      <a:r>
                        <a:t>3</a:t>
                      </a:r>
                    </a:p>
                  </a:txBody>
                  <a:tcPr marL="64008" marR="64008" marT="22860" marB="22860">
                    <a:solidFill>
                      <a:srgbClr val="EEF2F7"/>
                    </a:solidFill>
                  </a:tcPr>
                </a:tc>
                <a:tc>
                  <a:txBody>
                    <a:bodyPr/>
                    <a:lstStyle/>
                    <a:p>
                      <a:pPr>
                        <a:defRPr sz="1250" b="0">
                          <a:solidFill>
                            <a:srgbClr val="1E2B40"/>
                          </a:solidFill>
                        </a:defRPr>
                      </a:pPr>
                      <a:r>
                        <a:rPr lang="en-HU"/>
                        <a:t>123–135</a:t>
                      </a:r>
                    </a:p>
                  </a:txBody>
                  <a:tcPr marL="64008" marR="64008" marT="22860" marB="22860">
                    <a:solidFill>
                      <a:srgbClr val="EEF2F7"/>
                    </a:solidFill>
                  </a:tcPr>
                </a:tc>
                <a:tc>
                  <a:txBody>
                    <a:bodyPr/>
                    <a:lstStyle/>
                    <a:p>
                      <a:pPr>
                        <a:defRPr sz="1250" b="0">
                          <a:solidFill>
                            <a:srgbClr val="1E2B40"/>
                          </a:solidFill>
                        </a:defRPr>
                      </a:pPr>
                      <a:r>
                        <a:t>VPN Troubleshooting &amp; Operational Validation</a:t>
                      </a:r>
                    </a:p>
                  </a:txBody>
                  <a:tcPr marL="64008" marR="64008" marT="22860" marB="22860">
                    <a:solidFill>
                      <a:srgbClr val="EEF2F7"/>
                    </a:solidFill>
                  </a:tcPr>
                </a:tc>
                <a:extLst>
                  <a:ext uri="{0D108BD9-81ED-4DB2-BD59-A6C34878D82A}">
                    <a16:rowId xmlns:a16="http://schemas.microsoft.com/office/drawing/2014/main" val="10004"/>
                  </a:ext>
                </a:extLst>
              </a:tr>
              <a:tr h="502920">
                <a:tc>
                  <a:txBody>
                    <a:bodyPr/>
                    <a:lstStyle/>
                    <a:p>
                      <a:pPr>
                        <a:defRPr sz="1250" b="0">
                          <a:solidFill>
                            <a:srgbClr val="1E2B40"/>
                          </a:solidFill>
                        </a:defRPr>
                      </a:pPr>
                      <a:r>
                        <a:t>13</a:t>
                      </a:r>
                    </a:p>
                  </a:txBody>
                  <a:tcPr marL="64008" marR="64008" marT="22860" marB="22860">
                    <a:solidFill>
                      <a:srgbClr val="FFFFFF"/>
                    </a:solidFill>
                  </a:tcPr>
                </a:tc>
                <a:tc>
                  <a:txBody>
                    <a:bodyPr/>
                    <a:lstStyle/>
                    <a:p>
                      <a:pPr>
                        <a:defRPr sz="1250" b="0">
                          <a:solidFill>
                            <a:srgbClr val="1E2B40"/>
                          </a:solidFill>
                        </a:defRPr>
                      </a:pPr>
                      <a:r>
                        <a:t>4</a:t>
                      </a:r>
                    </a:p>
                  </a:txBody>
                  <a:tcPr marL="64008" marR="64008" marT="22860" marB="22860">
                    <a:solidFill>
                      <a:srgbClr val="FFFFFF"/>
                    </a:solidFill>
                  </a:tcPr>
                </a:tc>
                <a:tc>
                  <a:txBody>
                    <a:bodyPr/>
                    <a:lstStyle/>
                    <a:p>
                      <a:pPr>
                        <a:defRPr sz="1250" b="0">
                          <a:solidFill>
                            <a:srgbClr val="1E2B40"/>
                          </a:solidFill>
                        </a:defRPr>
                      </a:pPr>
                      <a:r>
                        <a:rPr lang="en-HU"/>
                        <a:t>136–148</a:t>
                      </a:r>
                    </a:p>
                  </a:txBody>
                  <a:tcPr marL="64008" marR="64008" marT="22860" marB="22860">
                    <a:solidFill>
                      <a:srgbClr val="FFFFFF"/>
                    </a:solidFill>
                  </a:tcPr>
                </a:tc>
                <a:tc>
                  <a:txBody>
                    <a:bodyPr/>
                    <a:lstStyle/>
                    <a:p>
                      <a:pPr>
                        <a:defRPr sz="1250" b="0">
                          <a:solidFill>
                            <a:srgbClr val="1E2B40"/>
                          </a:solidFill>
                        </a:defRPr>
                      </a:pPr>
                      <a:r>
                        <a:t>FortiClient Architecture &amp; EMS Awareness</a:t>
                      </a:r>
                    </a:p>
                  </a:txBody>
                  <a:tcPr marL="64008" marR="64008" marT="22860" marB="22860">
                    <a:solidFill>
                      <a:srgbClr val="FFFFFF"/>
                    </a:solidFill>
                  </a:tcPr>
                </a:tc>
                <a:extLst>
                  <a:ext uri="{0D108BD9-81ED-4DB2-BD59-A6C34878D82A}">
                    <a16:rowId xmlns:a16="http://schemas.microsoft.com/office/drawing/2014/main" val="10005"/>
                  </a:ext>
                </a:extLst>
              </a:tr>
              <a:tr h="502920">
                <a:tc>
                  <a:txBody>
                    <a:bodyPr/>
                    <a:lstStyle/>
                    <a:p>
                      <a:pPr>
                        <a:defRPr sz="1250" b="0">
                          <a:solidFill>
                            <a:srgbClr val="1E2B40"/>
                          </a:solidFill>
                        </a:defRPr>
                      </a:pPr>
                      <a:r>
                        <a:t>14</a:t>
                      </a:r>
                    </a:p>
                  </a:txBody>
                  <a:tcPr marL="64008" marR="64008" marT="22860" marB="22860">
                    <a:solidFill>
                      <a:srgbClr val="EEF2F7"/>
                    </a:solidFill>
                  </a:tcPr>
                </a:tc>
                <a:tc>
                  <a:txBody>
                    <a:bodyPr/>
                    <a:lstStyle/>
                    <a:p>
                      <a:pPr>
                        <a:defRPr sz="1250" b="0">
                          <a:solidFill>
                            <a:srgbClr val="1E2B40"/>
                          </a:solidFill>
                        </a:defRPr>
                      </a:pPr>
                      <a:r>
                        <a:t>4</a:t>
                      </a:r>
                    </a:p>
                  </a:txBody>
                  <a:tcPr marL="64008" marR="64008" marT="22860" marB="22860">
                    <a:solidFill>
                      <a:srgbClr val="EEF2F7"/>
                    </a:solidFill>
                  </a:tcPr>
                </a:tc>
                <a:tc>
                  <a:txBody>
                    <a:bodyPr/>
                    <a:lstStyle/>
                    <a:p>
                      <a:pPr>
                        <a:defRPr sz="1250" b="0">
                          <a:solidFill>
                            <a:srgbClr val="1E2B40"/>
                          </a:solidFill>
                        </a:defRPr>
                      </a:pPr>
                      <a:r>
                        <a:rPr lang="en-HU"/>
                        <a:t>149–161</a:t>
                      </a:r>
                    </a:p>
                  </a:txBody>
                  <a:tcPr marL="64008" marR="64008" marT="22860" marB="22860">
                    <a:solidFill>
                      <a:srgbClr val="EEF2F7"/>
                    </a:solidFill>
                  </a:tcPr>
                </a:tc>
                <a:tc>
                  <a:txBody>
                    <a:bodyPr/>
                    <a:lstStyle/>
                    <a:p>
                      <a:pPr>
                        <a:defRPr sz="1250" b="0">
                          <a:solidFill>
                            <a:srgbClr val="1E2B40"/>
                          </a:solidFill>
                        </a:defRPr>
                      </a:pPr>
                      <a:r>
                        <a:t>FortiGate High Availability Fundamentals</a:t>
                      </a:r>
                    </a:p>
                  </a:txBody>
                  <a:tcPr marL="64008" marR="64008" marT="22860" marB="22860">
                    <a:solidFill>
                      <a:srgbClr val="EEF2F7"/>
                    </a:solidFill>
                  </a:tcPr>
                </a:tc>
                <a:extLst>
                  <a:ext uri="{0D108BD9-81ED-4DB2-BD59-A6C34878D82A}">
                    <a16:rowId xmlns:a16="http://schemas.microsoft.com/office/drawing/2014/main" val="10006"/>
                  </a:ext>
                </a:extLst>
              </a:tr>
              <a:tr h="502920">
                <a:tc>
                  <a:txBody>
                    <a:bodyPr/>
                    <a:lstStyle/>
                    <a:p>
                      <a:pPr>
                        <a:defRPr sz="1250" b="0">
                          <a:solidFill>
                            <a:srgbClr val="1E2B40"/>
                          </a:solidFill>
                        </a:defRPr>
                      </a:pPr>
                      <a:r>
                        <a:t>15</a:t>
                      </a:r>
                    </a:p>
                  </a:txBody>
                  <a:tcPr marL="64008" marR="64008" marT="22860" marB="22860">
                    <a:solidFill>
                      <a:srgbClr val="FFFFFF"/>
                    </a:solidFill>
                  </a:tcPr>
                </a:tc>
                <a:tc>
                  <a:txBody>
                    <a:bodyPr/>
                    <a:lstStyle/>
                    <a:p>
                      <a:pPr>
                        <a:defRPr sz="1250" b="0">
                          <a:solidFill>
                            <a:srgbClr val="1E2B40"/>
                          </a:solidFill>
                        </a:defRPr>
                      </a:pPr>
                      <a:r>
                        <a:t>4</a:t>
                      </a:r>
                    </a:p>
                  </a:txBody>
                  <a:tcPr marL="64008" marR="64008" marT="22860" marB="22860">
                    <a:solidFill>
                      <a:srgbClr val="FFFFFF"/>
                    </a:solidFill>
                  </a:tcPr>
                </a:tc>
                <a:tc>
                  <a:txBody>
                    <a:bodyPr/>
                    <a:lstStyle/>
                    <a:p>
                      <a:pPr>
                        <a:defRPr sz="1250" b="0">
                          <a:solidFill>
                            <a:srgbClr val="1E2B40"/>
                          </a:solidFill>
                        </a:defRPr>
                      </a:pPr>
                      <a:r>
                        <a:rPr lang="en-HU"/>
                        <a:t>162–175</a:t>
                      </a:r>
                    </a:p>
                  </a:txBody>
                  <a:tcPr marL="64008" marR="64008" marT="22860" marB="22860">
                    <a:solidFill>
                      <a:srgbClr val="FFFFFF"/>
                    </a:solidFill>
                  </a:tcPr>
                </a:tc>
                <a:tc>
                  <a:txBody>
                    <a:bodyPr/>
                    <a:lstStyle/>
                    <a:p>
                      <a:pPr>
                        <a:defRPr sz="1250" b="0">
                          <a:solidFill>
                            <a:srgbClr val="1E2B40"/>
                          </a:solidFill>
                        </a:defRPr>
                      </a:pPr>
                      <a:r>
                        <a:t>Fortinet SD-WAN &amp; Design Considerations</a:t>
                      </a:r>
                    </a:p>
                  </a:txBody>
                  <a:tcPr marL="64008" marR="64008" marT="22860" marB="22860">
                    <a:solidFill>
                      <a:srgbClr val="FFFFFF"/>
                    </a:solidFill>
                  </a:tcPr>
                </a:tc>
                <a:extLst>
                  <a:ext uri="{0D108BD9-81ED-4DB2-BD59-A6C34878D82A}">
                    <a16:rowId xmlns:a16="http://schemas.microsoft.com/office/drawing/2014/main" val="10007"/>
                  </a:ext>
                </a:extLst>
              </a:tr>
              <a:tr h="502920">
                <a:tc>
                  <a:txBody>
                    <a:bodyPr/>
                    <a:lstStyle/>
                    <a:p>
                      <a:pPr>
                        <a:defRPr sz="1250" b="0">
                          <a:solidFill>
                            <a:srgbClr val="1E2B40"/>
                          </a:solidFill>
                        </a:defRPr>
                      </a:pPr>
                      <a:r>
                        <a:t>16</a:t>
                      </a:r>
                    </a:p>
                  </a:txBody>
                  <a:tcPr marL="64008" marR="64008" marT="22860" marB="22860">
                    <a:solidFill>
                      <a:srgbClr val="EEF2F7"/>
                    </a:solidFill>
                  </a:tcPr>
                </a:tc>
                <a:tc>
                  <a:txBody>
                    <a:bodyPr/>
                    <a:lstStyle/>
                    <a:p>
                      <a:pPr>
                        <a:defRPr sz="1250" b="0">
                          <a:solidFill>
                            <a:srgbClr val="1E2B40"/>
                          </a:solidFill>
                        </a:defRPr>
                      </a:pPr>
                      <a:r>
                        <a:t>4</a:t>
                      </a:r>
                    </a:p>
                  </a:txBody>
                  <a:tcPr marL="64008" marR="64008" marT="22860" marB="22860">
                    <a:solidFill>
                      <a:srgbClr val="EEF2F7"/>
                    </a:solidFill>
                  </a:tcPr>
                </a:tc>
                <a:tc>
                  <a:txBody>
                    <a:bodyPr/>
                    <a:lstStyle/>
                    <a:p>
                      <a:pPr>
                        <a:defRPr sz="1250" b="0">
                          <a:solidFill>
                            <a:srgbClr val="1E2B40"/>
                          </a:solidFill>
                        </a:defRPr>
                      </a:pPr>
                      <a:r>
                        <a:rPr lang="en-HU"/>
                        <a:t>176–199</a:t>
                      </a:r>
                    </a:p>
                  </a:txBody>
                  <a:tcPr marL="64008" marR="64008" marT="22860" marB="22860">
                    <a:solidFill>
                      <a:srgbClr val="EEF2F7"/>
                    </a:solidFill>
                  </a:tcPr>
                </a:tc>
                <a:tc>
                  <a:txBody>
                    <a:bodyPr/>
                    <a:lstStyle/>
                    <a:p>
                      <a:pPr>
                        <a:defRPr sz="1250" b="0">
                          <a:solidFill>
                            <a:srgbClr val="1E2B40"/>
                          </a:solidFill>
                        </a:defRPr>
                      </a:pPr>
                      <a:r>
                        <a:rPr lang="en-GB"/>
                        <a:t>Performance, Troubleshooting &amp; Capstone</a:t>
                      </a:r>
                    </a:p>
                  </a:txBody>
                  <a:tcPr marL="64008" marR="64008" marT="22860" marB="22860">
                    <a:solidFill>
                      <a:srgbClr val="EEF2F7"/>
                    </a:solidFill>
                  </a:tcPr>
                </a:tc>
                <a:extLst>
                  <a:ext uri="{0D108BD9-81ED-4DB2-BD59-A6C34878D82A}">
                    <a16:rowId xmlns:a16="http://schemas.microsoft.com/office/drawing/2014/main" val="10008"/>
                  </a:ext>
                </a:extLst>
              </a:tr>
            </a:tbl>
          </a:graphicData>
        </a:graphic>
      </p:graphicFrame>
      <p:sp>
        <p:nvSpPr>
          <p:cNvPr id="12" name="TextBox 11"/>
          <p:cNvSpPr txBox="1">
            <a:spLocks/>
          </p:cNvSpPr>
          <p:nvPr/>
        </p:nvSpPr>
        <p:spPr>
          <a:xfrm>
            <a:off x="502920" y="420624"/>
            <a:ext cx="10744200" cy="146304"/>
          </a:xfrm>
          <a:prstGeom prst="rect">
            <a:avLst/>
          </a:prstGeom>
          <a:noFill/>
        </p:spPr>
        <p:txBody>
          <a:bodyPr wrap="none" lIns="0" tIns="0" rIns="0" bIns="0">
            <a:spAutoFit/>
          </a:bodyPr>
          <a:lstStyle/>
          <a:p>
            <a:pPr algn="l"/>
            <a:r>
              <a:rPr lang="en-GB" sz="850" b="1">
                <a:solidFill>
                  <a:srgbClr val="687385"/>
                </a:solidFill>
              </a:rPr>
              <a:t>COVERAGE MATRIX • BLOCKS 9–16</a:t>
            </a:r>
          </a:p>
        </p:txBody>
      </p:sp>
      <p:sp>
        <p:nvSpPr>
          <p:cNvPr id="13" name="TextBox 12"/>
          <p:cNvSpPr txBox="1"/>
          <p:nvPr/>
        </p:nvSpPr>
        <p:spPr>
          <a:xfrm>
            <a:off x="9144000" y="256032"/>
            <a:ext cx="2194560" cy="164592"/>
          </a:xfrm>
          <a:prstGeom prst="rect">
            <a:avLst/>
          </a:prstGeom>
          <a:noFill/>
        </p:spPr>
        <p:txBody>
          <a:bodyPr wrap="square" lIns="36576" tIns="36576" rIns="36576" bIns="36576" anchor="t">
            <a:spAutoFit/>
          </a:bodyPr>
          <a:lstStyle/>
          <a:p>
            <a:pPr algn="r">
              <a:spcAft>
                <a:spcPts val="0"/>
              </a:spcAft>
            </a:pPr>
            <a:r>
              <a:rPr sz="900" b="1">
                <a:solidFill>
                  <a:srgbClr val="E60012"/>
                </a:solidFill>
              </a:rPr>
              <a:t>INSTRUCTOR APPENDIX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87867195-f2b8-4ac2-b0b6-6bb73cb33af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3239</TotalTime>
  <Words>45759</Words>
  <Application>Microsoft Macintosh PowerPoint</Application>
  <PresentationFormat>Widescreen</PresentationFormat>
  <Paragraphs>4707</Paragraphs>
  <Slides>204</Slides>
  <Notes>204</Notes>
  <HiddenSlides>3</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204</vt:i4>
      </vt:variant>
    </vt:vector>
  </HeadingPairs>
  <TitlesOfParts>
    <vt:vector size="208" baseType="lpstr">
      <vt:lpstr>Aptos</vt: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FortiGate Administrator Course - 200 Slides</dc:title>
  <dc:subject>Fortinet FortiGate beginner administrator course</dc:subject>
  <dc:creator>Attila Csontos</dc:creator>
  <cp:lastModifiedBy>Laszlo Stomp</cp:lastModifiedBy>
  <cp:revision>5</cp:revision>
  <dcterms:created xsi:type="dcterms:W3CDTF">2026-09-08T13:12:09Z</dcterms:created>
  <dcterms:modified xsi:type="dcterms:W3CDTF">2026-10-04T20:52:23Z</dcterms:modified>
</cp:coreProperties>
</file>