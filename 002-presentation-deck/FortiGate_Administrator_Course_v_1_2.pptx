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2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54" r:id="rId96"/>
    <p:sldId id="355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  <p:sldId id="363" r:id="rId105"/>
    <p:sldId id="364" r:id="rId106"/>
    <p:sldId id="365" r:id="rId107"/>
    <p:sldId id="366" r:id="rId108"/>
    <p:sldId id="367" r:id="rId109"/>
    <p:sldId id="368" r:id="rId110"/>
    <p:sldId id="369" r:id="rId111"/>
    <p:sldId id="370" r:id="rId112"/>
    <p:sldId id="371" r:id="rId113"/>
    <p:sldId id="372" r:id="rId114"/>
    <p:sldId id="373" r:id="rId115"/>
    <p:sldId id="374" r:id="rId116"/>
    <p:sldId id="375" r:id="rId117"/>
    <p:sldId id="376" r:id="rId118"/>
    <p:sldId id="377" r:id="rId119"/>
    <p:sldId id="378" r:id="rId120"/>
    <p:sldId id="379" r:id="rId121"/>
    <p:sldId id="380" r:id="rId122"/>
    <p:sldId id="381" r:id="rId123"/>
    <p:sldId id="382" r:id="rId124"/>
    <p:sldId id="383" r:id="rId125"/>
    <p:sldId id="384" r:id="rId126"/>
    <p:sldId id="385" r:id="rId127"/>
    <p:sldId id="386" r:id="rId128"/>
    <p:sldId id="387" r:id="rId129"/>
    <p:sldId id="388" r:id="rId130"/>
    <p:sldId id="389" r:id="rId131"/>
    <p:sldId id="390" r:id="rId132"/>
    <p:sldId id="391" r:id="rId133"/>
    <p:sldId id="392" r:id="rId134"/>
    <p:sldId id="393" r:id="rId135"/>
    <p:sldId id="394" r:id="rId136"/>
    <p:sldId id="395" r:id="rId137"/>
    <p:sldId id="396" r:id="rId138"/>
    <p:sldId id="397" r:id="rId139"/>
    <p:sldId id="398" r:id="rId140"/>
    <p:sldId id="399" r:id="rId141"/>
    <p:sldId id="400" r:id="rId142"/>
    <p:sldId id="401" r:id="rId143"/>
    <p:sldId id="402" r:id="rId144"/>
    <p:sldId id="403" r:id="rId145"/>
    <p:sldId id="404" r:id="rId146"/>
    <p:sldId id="405" r:id="rId147"/>
    <p:sldId id="406" r:id="rId148"/>
    <p:sldId id="407" r:id="rId149"/>
    <p:sldId id="408" r:id="rId150"/>
    <p:sldId id="409" r:id="rId151"/>
    <p:sldId id="410" r:id="rId152"/>
    <p:sldId id="411" r:id="rId153"/>
    <p:sldId id="412" r:id="rId154"/>
    <p:sldId id="413" r:id="rId155"/>
    <p:sldId id="414" r:id="rId156"/>
    <p:sldId id="415" r:id="rId157"/>
    <p:sldId id="416" r:id="rId158"/>
    <p:sldId id="417" r:id="rId159"/>
    <p:sldId id="418" r:id="rId160"/>
    <p:sldId id="419" r:id="rId161"/>
    <p:sldId id="420" r:id="rId162"/>
    <p:sldId id="421" r:id="rId163"/>
    <p:sldId id="422" r:id="rId164"/>
    <p:sldId id="423" r:id="rId165"/>
    <p:sldId id="424" r:id="rId166"/>
    <p:sldId id="425" r:id="rId167"/>
    <p:sldId id="426" r:id="rId168"/>
    <p:sldId id="427" r:id="rId169"/>
    <p:sldId id="428" r:id="rId170"/>
    <p:sldId id="429" r:id="rId171"/>
    <p:sldId id="430" r:id="rId172"/>
    <p:sldId id="431" r:id="rId173"/>
    <p:sldId id="432" r:id="rId174"/>
    <p:sldId id="433" r:id="rId175"/>
    <p:sldId id="434" r:id="rId176"/>
    <p:sldId id="435" r:id="rId177"/>
    <p:sldId id="436" r:id="rId178"/>
    <p:sldId id="437" r:id="rId179"/>
    <p:sldId id="438" r:id="rId180"/>
    <p:sldId id="439" r:id="rId181"/>
    <p:sldId id="440" r:id="rId182"/>
    <p:sldId id="441" r:id="rId183"/>
    <p:sldId id="442" r:id="rId184"/>
    <p:sldId id="443" r:id="rId185"/>
    <p:sldId id="444" r:id="rId186"/>
    <p:sldId id="445" r:id="rId187"/>
    <p:sldId id="446" r:id="rId188"/>
    <p:sldId id="447" r:id="rId189"/>
    <p:sldId id="448" r:id="rId190"/>
    <p:sldId id="449" r:id="rId191"/>
    <p:sldId id="450" r:id="rId192"/>
    <p:sldId id="451" r:id="rId193"/>
    <p:sldId id="452" r:id="rId194"/>
    <p:sldId id="453" r:id="rId195"/>
    <p:sldId id="454" r:id="rId196"/>
    <p:sldId id="455" r:id="rId197"/>
    <p:sldId id="259" r:id="rId198"/>
    <p:sldId id="260" r:id="rId199"/>
    <p:sldId id="261" r:id="rId200"/>
    <p:sldId id="262" r:id="rId20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9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08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tableStyles" Target="tableStyle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notesMaster" Target="notesMasters/notesMaster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193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D1-B01-S001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Four-day instructor-led theory course; Days 1–2 Foundations; Days 3–4 Advanced</a:t>
            </a:r>
          </a:p>
          <a:p>
            <a:endParaRPr lang="en-GB"/>
          </a:p>
          <a:p>
            <a:r>
              <a:rPr lang="en-GB"/>
              <a:t>Instructor demonstration / expected result: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“Course cover”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D1-B01-S002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Four 90-minute blocks each day; Days 1–2 Foundations; Days 3–4 Advanced; Practice and debrief are protected within every block</a:t>
            </a:r>
          </a:p>
          <a:p>
            <a:endParaRPr lang="en-GB"/>
          </a:p>
          <a:p>
            <a:r>
              <a:rPr lang="en-GB"/>
              <a:t>Instructor demonstration / expected result: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“Four-day map”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Instructor preparation: map the illustrative interfaces to the actual Azure FortiGate-VM NICs, VNets, subnets, NSGs and UDRs. Do not infer a deployed topology. Source: FortiOS 7.6.7 Administration Guide — Azure deployment, routing, IPsec VPN and SD-WAN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D1-B01-S008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Explain packet fields, DNS, TCP/UDP and forwarding decisions; Trace a new session through FortiGate decision stages; Distinguish flow/proxy inspection and locate implicit deny</a:t>
            </a:r>
          </a:p>
          <a:p>
            <a:endParaRPr lang="en-GB"/>
          </a:p>
          <a:p>
            <a:r>
              <a:rPr lang="en-GB"/>
              <a:t>Instructor demonstration / expected result: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“Network Foundations &amp; FortiGate Packet Flow”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D1-B01-S009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Source and destination IP locate endpoints; Source and destination ports identify transport sockets; Protocol distinguishes TCP, UDP, ICMP and others; Reverse traffic is associated with the created session</a:t>
            </a:r>
          </a:p>
          <a:p>
            <a:endParaRPr lang="en-GB"/>
          </a:p>
          <a:p>
            <a:r>
              <a:rPr lang="en-GB"/>
              <a:t>Instructor demonstration / expected result: Filter the session table by source and inspect the forward/reverse tuple.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“The five-tuple defines a transport conversation”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D1-B01-S010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Client asks a resolver, not the authoritative server directly in most enterprise designs; Recursive resolution follows cache, root, TLD and authoritative data as needed; A/AAAA answers provide addresses; TTL controls cache lifetime; DNS success does not prove policy or route success to the returned address</a:t>
            </a:r>
          </a:p>
          <a:p>
            <a:endParaRPr lang="en-GB"/>
          </a:p>
          <a:p>
            <a:r>
              <a:rPr lang="en-GB"/>
              <a:t>Instructor demonstration / expected result: Use a filtered packet capture on UDP/TCP 53 and compare query, response and TTL.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“DNS turns names into routable destinations”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after the SYN is accepted, diagnose sys session list shows the original and reply tuples; reply packet/byte counters increase after SYN-ACK. Source: FortiOS 7.6.7 Administration Guide — Sessions and TCP session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Technical question for instructor review: compare this simplified teaching order with the exact FortiOS 7.6.7 “Life of a packet” documentation and features enabled in the Azure lab. Source: FortiOS 7.6.7 Administration Guide — Life of a packet, policy routes, firewall policy, NAT and security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D1-B01-S013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Packet arrives on LAN; source/destination and ingress interface are known; Route lookup identifies WAN and next hop; First-match policy permits traffic and applies SNAT; Session records original and translated tuples; security profiles inspect as configured</a:t>
            </a:r>
          </a:p>
          <a:p>
            <a:endParaRPr lang="en-GB"/>
          </a:p>
          <a:p>
            <a:r>
              <a:rPr lang="en-GB"/>
              <a:t>Instructor demonstration / expected result: Use debug flow filters plus session lookup; stop debug after the observation.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“Worked flow: first HTTPS session”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D1-B01-S014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D1-B01-S015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Reproduce one flow and record its five-tuple; Check route and neighbor reachability; Identify the matched policy and NAT decision; Confirm session creation and reverse traffic; Use filtered sniffer/debug only if earlier state/output is inconclusive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D1-B01-S016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Basic IPv4 subnetting; Prerequisite: Illustrative topology on slide 3; Goal: Learners predict and then trace one illustrative TCP flow. Prerequisite: reachable lab FortiGate or instructor demonstration; state/output: route, policy ID, session tuple and bidirectional packets.;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D1-B01-S017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Which five values identify a TCP/UDP flow?; Why can a return packet bypass a second full policy decision?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Which five values identify a TCP/UDP flow?</a:t>
            </a:r>
          </a:p>
          <a:p>
            <a:r>
              <a:rPr lang="en-GB"/>
              <a:t>A: Source IP, destination IP, source port, destination port and IP protocol.</a:t>
            </a:r>
          </a:p>
          <a:p>
            <a:endParaRPr lang="en-GB"/>
          </a:p>
          <a:p>
            <a:r>
              <a:rPr lang="en-GB"/>
              <a:t>Q: Why can a return packet bypass a second full policy decision?</a:t>
            </a:r>
          </a:p>
          <a:p>
            <a:r>
              <a:rPr lang="en-GB"/>
              <a:t>A: It matches established session state containing the stored forwarding, policy and NAT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D1-B02-S018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Locate FortiGate in the Fortinet ecosystem and FortiOS management model; Configure interfaces, administrative access and DNS safely; Back up, restore and validate an initial configuration</a:t>
            </a:r>
          </a:p>
          <a:p>
            <a:endParaRPr lang="en-GB"/>
          </a:p>
          <a:p>
            <a:r>
              <a:rPr lang="en-GB"/>
              <a:t>Instructor demonstration / expected result: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Practical handoff: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Connecting to the GUI/CLI; Interfaces; DNS; Configuration backups.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“FortiGate Introduction &amp; Initial Configuration”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D1-B02-S019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FortiGate enforces policy; FortiManager centralizes configuration workflows; FortiAnalyzer centralizes analytics/logging; GUI and CLI operate on the same configuration database; VDOMs can partition administration and forwarding when enabled; Feature visibility changes the GUI, not underlying platform support</a:t>
            </a:r>
          </a:p>
          <a:p>
            <a:endParaRPr lang="en-GB"/>
          </a:p>
          <a:p>
            <a:r>
              <a:rPr lang="en-GB"/>
              <a:t>Instructor demonstration / expected result: get system status; confirm serial/model/build and operation mode.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Practical handoff: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Connecting to the GUI/CLI; Interfaces; DNS; Configuration backups.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“FortiOS combines forwarding, policy and security services”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D1-B02-S020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Interface IP/mask establishes local reachability; Administrative access protocols are enabled per interface; Trusted hosts and administrative profiles restrict who can log in and what they can do; HTTPS/SSH are preferred; management exposure on WAN requires explicit risk treatment</a:t>
            </a:r>
          </a:p>
          <a:p>
            <a:endParaRPr lang="en-GB"/>
          </a:p>
          <a:p>
            <a:r>
              <a:rPr lang="en-GB"/>
              <a:t>Instructor demonstration / expected result: Confirm interface allowaccess, admin trusted hosts and routing from the management station.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Practical handoff: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Connecting to the GUI/CLI; Interfaces; DNS; Configuration backups.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“Management access must be deliberately bounded”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D1-B02-S021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Set role, alias, address/mask and administrative access intentionally; Avoid overlapping subnets and accidental DHCP conflicts; System DNS supports name resolution for updates, FQDN objects and services; NTP and correct time are prerequisites for logs and certificates</a:t>
            </a:r>
          </a:p>
          <a:p>
            <a:endParaRPr lang="en-GB"/>
          </a:p>
          <a:p>
            <a:r>
              <a:rPr lang="en-GB"/>
              <a:t>Instructor demonstration / expected result: show system interface &lt;port&gt;; execute ping &lt;resolver-ip&gt;; execute nslookup &lt;name&gt;.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Practical handoff: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Connecting to the GUI/CLI; Interfaces; DNS; Configuration backups.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“Interfaces and DNS create the initial control-plane dependencies”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D1-B02-S022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Export a configuration before significant change; Protect backups because they contain sensitive configuration; Restore can replace current configuration and trigger reboot or service interruption; Match backup, firmware branch, model and VDOM context before reuse</a:t>
            </a:r>
          </a:p>
          <a:p>
            <a:endParaRPr lang="en-GB"/>
          </a:p>
          <a:p>
            <a:r>
              <a:rPr lang="en-GB"/>
              <a:t>Instructor demonstration / expected result: Compare revision metadata and perform restore only in an isolated appliance or instructor demo.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Practical handoff: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Connecting to the GUI/CLI; Interfaces; DNS; Configuration backups.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“Backup and restore are change-control controls”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D1-B02-S023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Confirm expected build, hostname, time and license/service status; Verify interface link/address and administrative reachability; Test DNS and next-hop reachability independently; Create and securely retain a pre-change backup</a:t>
            </a:r>
          </a:p>
          <a:p>
            <a:endParaRPr lang="en-GB"/>
          </a:p>
          <a:p>
            <a:r>
              <a:rPr lang="en-GB"/>
              <a:t>Instructor demonstration / expected result: get system status; get system interface physical; execute ping-options source &lt;ip&gt;.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Practical handoff: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Connecting to the GUI/CLI; Interfaces; DNS; Configuration backups.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“Initial operational check”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D1-B02-S024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Practical handoff: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Connecting to the GUI/CLI; Interfaces; DNS; Configuration backups.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D1-B02-S025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Verify physical/link state and IP addressing; Confirm the admin station route and allowed protocol; Check trusted-host/profile restrictions; Validate DNS and time; Back up before remediation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Practical handoff: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Connecting to the GUI/CLI; Interfaces; DNS; Configuration backups.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D1-B02-S026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Console or authorized management network; Prerequisite: Instructor-supplied credentials and interface mapping; Goal: Configure one designated interface and DNS using instructor-provided values; capture interface status, name-resolution state/output and a backup file. Restore remains instructor demo unless each learner has an isolated unit.;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Practical handoff: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Connecting to the GUI/CLI; Interfaces; DNS; Configuration backups.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D1-B02-S027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Where is HTTPS/SSH administrative access enabled?; Why must time be correct before certificate troubleshooting?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management on every interface; Restoring a configuration without model/build/VDOM review; Using ping success as proof that DNS and policy are correct</a:t>
            </a:r>
          </a:p>
          <a:p>
            <a:endParaRPr lang="en-GB"/>
          </a:p>
          <a:p>
            <a:r>
              <a:rPr lang="en-GB"/>
              <a:t>Practical handoff: Configure one designated interface and DNS using instructor-provided values; capture interface status, name-resolution state/output and a backup file. Restore remains instructor demo unless each learner has an isolated unit.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Connecting to the GUI/CLI; Interfaces; DNS; Configuration backups.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Where is HTTPS/SSH administrative access enabled?</a:t>
            </a:r>
          </a:p>
          <a:p>
            <a:r>
              <a:rPr lang="en-GB"/>
              <a:t>A: Per interface, then further restricted by administrator profile/trusted hosts and network controls.</a:t>
            </a:r>
          </a:p>
          <a:p>
            <a:endParaRPr lang="en-GB"/>
          </a:p>
          <a:p>
            <a:r>
              <a:rPr lang="en-GB"/>
              <a:t>Q: Why must time be correct before certificate troubleshooting?</a:t>
            </a:r>
          </a:p>
          <a:p>
            <a:r>
              <a:rPr lang="en-GB"/>
              <a:t>A: Certificate validity and log correlation depend on accurate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D1-B03-S028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Choose LAN/WAN/DMZ boundaries using least privilege; Explain FortiSwitch/FortiLink roles without assuming lab availability; Build ordered policies from reusable objects and logging requirements</a:t>
            </a:r>
          </a:p>
          <a:p>
            <a:endParaRPr lang="en-GB"/>
          </a:p>
          <a:p>
            <a:r>
              <a:rPr lang="en-GB"/>
              <a:t>Instructor demonstration / expected result: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Using “all” because object creation feels slow; Grouping unlike interfaces into one zone; Leaving logging off until an incident occurs</a:t>
            </a:r>
          </a:p>
          <a:p>
            <a:endParaRPr lang="en-GB"/>
          </a:p>
          <a:p>
            <a:r>
              <a:rPr lang="en-GB"/>
              <a:t>Practical handoff: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policy; Zones; Addresses and services; FortiLink/FortiSwitch integration. Confirm FortiSwitch compatibility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“Segmentation, Zones &amp; Firewall Policy Design”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the HTTPS test matches the intended policy ID; a guest-to-DMZ test is denied. Source: FortiOS 7.6.7 Administration Guide — Zones and firewall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D1-B03-S030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 zone groups interfaces for policy references and consistent treatment; Do not combine interfaces with different trust or logging requirements; Intra-zone traffic behavior must be explicitly understood and tested; Naming should reveal function, not physical port number</a:t>
            </a:r>
          </a:p>
          <a:p>
            <a:endParaRPr lang="en-GB"/>
          </a:p>
          <a:p>
            <a:r>
              <a:rPr lang="en-GB"/>
              <a:t>Instructor demonstration / expected result: List each member and prove that one policy intent applies to all.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Using “all” because object creation feels slow; Grouping unlike interfaces into one zone; Leaving logging off until an incident occurs</a:t>
            </a:r>
          </a:p>
          <a:p>
            <a:endParaRPr lang="en-GB"/>
          </a:p>
          <a:p>
            <a:r>
              <a:rPr lang="en-GB"/>
              <a:t>Practical handoff: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policy; Zones; Addresses and services; FortiLink/FortiSwitch integration. Confirm FortiSwitch compatibility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“Zones simplify policy only when members share intent”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[OPTIONAL DEEP DIVE] Stable ID: D1-B03-S031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FortiLink is the management/control connection for supported FortiSwitch deployments; FortiGate can manage switch ports, VLANs and topology from the Security Fabric/LAN edge workflow; Access, trunk and native VLAN choices remain layer-2 design decisions; Model, FortiOS/FortiSwitchOS and topology support must be confirmed</a:t>
            </a:r>
          </a:p>
          <a:p>
            <a:endParaRPr lang="en-GB"/>
          </a:p>
          <a:p>
            <a:r>
              <a:rPr lang="en-GB"/>
              <a:t>Instructor demonstration / expected result: Instructor demo only unless a compatible FortiSwitch, links and supported versions exist.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Using “all” because object creation feels slow; Grouping unlike interfaces into one zone; Leaving logging off until an incident occurs</a:t>
            </a:r>
          </a:p>
          <a:p>
            <a:endParaRPr lang="en-GB"/>
          </a:p>
          <a:p>
            <a:r>
              <a:rPr lang="en-GB"/>
              <a:t>Practical handoff: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policy; Zones; Addresses and services; FortiLink/FortiSwitch integration. Confirm FortiSwitch compatibility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“FortiLink joins FortiGate policy with managed switching”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D1-B03-S032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 policy is evaluated in sequence for ingress/egress, addresses, service, schedule and other selectors; The first matching enabled policy supplies action, NAT, logging and profiles; Broad rules above narrow rules can shadow intended controls; Objects and groups reduce error when they have clear names and owners</a:t>
            </a:r>
          </a:p>
          <a:p>
            <a:endParaRPr lang="en-GB"/>
          </a:p>
          <a:p>
            <a:r>
              <a:rPr lang="en-GB"/>
              <a:t>Instructor demonstration / expected result: Use policy lookup/hit counters and logs to prove the matched policy.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Using “all” because object creation feels slow; Grouping unlike interfaces into one zone; Leaving logging off until an incident occurs</a:t>
            </a:r>
          </a:p>
          <a:p>
            <a:endParaRPr lang="en-GB"/>
          </a:p>
          <a:p>
            <a:r>
              <a:rPr lang="en-GB"/>
              <a:t>Practical handoff: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policy; Zones; Addresses and services; FortiLink/FortiSwitch integration. Confirm FortiSwitch compatibility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“First match wins: specificity and order are design tools”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D1-B03-S033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State business flow: source zone, destination, service and owner; Create address/service objects with durable names; Order narrow exceptions before broad patterns; Enable the logging required for operations and audit</a:t>
            </a:r>
          </a:p>
          <a:p>
            <a:endParaRPr lang="en-GB"/>
          </a:p>
          <a:p>
            <a:r>
              <a:rPr lang="en-GB"/>
              <a:t>Instructor demonstration / expected result: Test positive and negative cases; record matched policy ID.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Using “all” because object creation feels slow; Grouping unlike interfaces into one zone; Leaving logging off until an incident occurs</a:t>
            </a:r>
          </a:p>
          <a:p>
            <a:endParaRPr lang="en-GB"/>
          </a:p>
          <a:p>
            <a:r>
              <a:rPr lang="en-GB"/>
              <a:t>Practical handoff: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policy; Zones; Addresses and services; FortiLink/FortiSwitch integration. Confirm FortiSwitch compatibility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“Policy design from a flow matrix”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D1-B03-S034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Using “all” because object creation feels slow; Grouping unlike interfaces into one zone; Leaving logging off until an incident occurs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Using “all” because object creation feels slow; Grouping unlike interfaces into one zone; Leaving logging off until an incident occurs</a:t>
            </a:r>
          </a:p>
          <a:p>
            <a:endParaRPr lang="en-GB"/>
          </a:p>
          <a:p>
            <a:r>
              <a:rPr lang="en-GB"/>
              <a:t>Practical handoff: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policy; Zones; Addresses and services; FortiLink/FortiSwitch integration. Confirm FortiSwitch compatibility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D1-B03-S035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Confirm ingress and expected egress interfaces; Resolve object membership to concrete IP/port values; Check policy order and shadowing; Inspect hit count and traffic log; Test an explicit negative case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Using “all” because object creation feels slow; Grouping unlike interfaces into one zone; Leaving logging off until an incident occurs</a:t>
            </a:r>
          </a:p>
          <a:p>
            <a:endParaRPr lang="en-GB"/>
          </a:p>
          <a:p>
            <a:r>
              <a:rPr lang="en-GB"/>
              <a:t>Practical handoff: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policy; Zones; Addresses and services; FortiLink/FortiSwitch integration. Confirm FortiSwitch compatibility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D1-B03-S036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Block 1 routing/session concepts; Prerequisite: Known trust zones and application flows; Goal: Build a two-flow policy matrix, implement with reusable objects, then prove one allowed and one denied flow. FortiSwitch/FortiLink remains conceptual or instructor demonstration unless hardware is declared.;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Using “all” because object creation feels slow; Grouping unlike interfaces into one zone; Leaving logging off until an incident occurs</a:t>
            </a:r>
          </a:p>
          <a:p>
            <a:endParaRPr lang="en-GB"/>
          </a:p>
          <a:p>
            <a:r>
              <a:rPr lang="en-GB"/>
              <a:t>Practical handoff: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policy; Zones; Addresses and services; FortiLink/FortiSwitch integration. Confirm FortiSwitch compatibility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D1-B03-S037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What decides which of two matching policies is used?; When is a zone a poor abstraction?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Using “all” because object creation feels slow; Grouping unlike interfaces into one zone; Leaving logging off until an incident occurs</a:t>
            </a:r>
          </a:p>
          <a:p>
            <a:endParaRPr lang="en-GB"/>
          </a:p>
          <a:p>
            <a:r>
              <a:rPr lang="en-GB"/>
              <a:t>Practical handoff: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policy; Zones; Addresses and services; FortiLink/FortiSwitch integration. Confirm FortiSwitch compatibility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What decides which of two matching policies is used?</a:t>
            </a:r>
          </a:p>
          <a:p>
            <a:r>
              <a:rPr lang="en-GB"/>
              <a:t>A: The first enabled policy in sequence that matches all selectors.</a:t>
            </a:r>
          </a:p>
          <a:p>
            <a:endParaRPr lang="en-GB"/>
          </a:p>
          <a:p>
            <a:r>
              <a:rPr lang="en-GB"/>
              <a:t>Q: When is a zone a poor abstraction?</a:t>
            </a:r>
          </a:p>
          <a:p>
            <a:r>
              <a:rPr lang="en-GB"/>
              <a:t>A: When member interfaces have different trust, logging or policy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D1-B04-S038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Trace SNAT/PAT, DNAT/VIP and hairpin flows in both directions; Select Traffic, Event and Security logs for the question asked; Use session, sniffer and debug-flow diagnostics safely</a:t>
            </a:r>
          </a:p>
          <a:p>
            <a:endParaRPr lang="en-GB"/>
          </a:p>
          <a:p>
            <a:r>
              <a:rPr lang="en-GB"/>
              <a:t>Instructor demonstration / expected result: Predict SNAT and VIP translations, generate one test flow, and collect a log plus two-side packet state/output. Session clearing is optional and instructor-controlled because it disrupts traffic.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Looking only at the public side of DNAT; Running unfiltered debug on a busy device; Forgetting to stop/reset debug or treating session clear as harmless</a:t>
            </a:r>
          </a:p>
          <a:p>
            <a:endParaRPr lang="en-GB"/>
          </a:p>
          <a:p>
            <a:r>
              <a:rPr lang="en-GB"/>
              <a:t>Practical handoff: Predict SNAT and VIP translations, generate one test flow, and collect a log plus two-side packet state/output. Session clearing is optional and instructor-controlled because it disrupts traffic.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NAT; Virtual IPs; Logging; Session table; Packet sniffer; Debugging the packet flow.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“NAT, Logging &amp; CLI Troubleshooting”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the session lists original and reply tuples; WAN capture shows 198.51.100.2:62001 while LAN capture shows 10.10.10.25:51514. Source: FortiOS 7.6.7 Administration Guide — Source NAT and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WAN capture targets 198.51.100.10:443, DMZ capture targets 10.10.20.10:8443, and the traffic log shows the VIP policy ID. Source: FortiOS 7.6.7 Administration Guide — Virtual IPs and DNAT.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one session shows the VIP destination mapping and, when required by the design, a translated source that returns through FortiGate. Source: FortiOS 7.6.7 Administration Guide — Hairpin NAT / VIP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D1-B04-S042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Traffic logs show policy, action, interfaces, addresses, ports and bytes; Event logs show system/admin/HA/routing events; Security logs show profile detections and actions; Session table shows live state; sniffer shows packets; debug flow explains decisions</a:t>
            </a:r>
          </a:p>
          <a:p>
            <a:endParaRPr lang="en-GB"/>
          </a:p>
          <a:p>
            <a:r>
              <a:rPr lang="en-GB"/>
              <a:t>Instructor demonstration / expected result: Filter by time and five-tuple, then correlate policy ID and session ID.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Looking only at the public side of DNAT; Running unfiltered debug on a busy device; Forgetting to stop/reset debug or treating session clear as harmless</a:t>
            </a:r>
          </a:p>
          <a:p>
            <a:endParaRPr lang="en-GB"/>
          </a:p>
          <a:p>
            <a:r>
              <a:rPr lang="en-GB"/>
              <a:t>Practical handoff: Predict SNAT and VIP translations, generate one test flow, and collect a log plus two-side packet state/output. Session clearing is optional and instructor-controlled because it disrupts traffic.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NAT; Virtual IPs; Logging; Session table; Packet sniffer; Debugging the packet flow.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“Logs and CLI answer different layers of the incident”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D1-B04-S043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Record original client/server tuple; Record translated tuple at WAN or server side; Match the return packet to the reply direction; Confirm log policy ID and byte counters increase</a:t>
            </a:r>
          </a:p>
          <a:p>
            <a:endParaRPr lang="en-GB"/>
          </a:p>
          <a:p>
            <a:r>
              <a:rPr lang="en-GB"/>
              <a:t>Instructor demonstration / expected result: Use safe filters; session clearing is disruptive and must be isolated/authorized.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Looking only at the public side of DNAT; Running unfiltered debug on a busy device; Forgetting to stop/reset debug or treating session clear as harmless</a:t>
            </a:r>
          </a:p>
          <a:p>
            <a:endParaRPr lang="en-GB"/>
          </a:p>
          <a:p>
            <a:r>
              <a:rPr lang="en-GB"/>
              <a:t>Practical handoff: Predict SNAT and VIP translations, generate one test flow, and collect a log plus two-side packet state/output. Session clearing is optional and instructor-controlled because it disrupts traffic.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NAT; Virtual IPs; Logging; Session table; Packet sniffer; Debugging the packet flow.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“NAT state/output in both directions”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D1-B04-S044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Looking only at the public side of DNAT; Running unfiltered debug on a busy device; Forgetting to stop/reset debug or treating session clear as harmless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Looking only at the public side of DNAT; Running unfiltered debug on a busy device; Forgetting to stop/reset debug or treating session clear as harmless</a:t>
            </a:r>
          </a:p>
          <a:p>
            <a:endParaRPr lang="en-GB"/>
          </a:p>
          <a:p>
            <a:r>
              <a:rPr lang="en-GB"/>
              <a:t>Practical handoff: Predict SNAT and VIP translations, generate one test flow, and collect a log plus two-side packet state/output. Session clearing is optional and instructor-controlled because it disrupts traffic.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NAT; Virtual IPs; Logging; Session table; Packet sniffer; Debugging the packet flow.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D1-B04-S045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Define the expected original and translated tuples; Check route and matching policy/VIP; Inspect live session state; Capture at two interfaces to localize loss; Run filtered debug flow; disable/reset immediately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Looking only at the public side of DNAT; Running unfiltered debug on a busy device; Forgetting to stop/reset debug or treating session clear as harmless</a:t>
            </a:r>
          </a:p>
          <a:p>
            <a:endParaRPr lang="en-GB"/>
          </a:p>
          <a:p>
            <a:r>
              <a:rPr lang="en-GB"/>
              <a:t>Practical handoff: Predict SNAT and VIP translations, generate one test flow, and collect a log plus two-side packet state/output. Session clearing is optional and instructor-controlled because it disrupts traffic.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NAT; Virtual IPs; Logging; Session table; Packet sniffer; Debugging the packet flow.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D1-B04-S046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Routing and policy fundamentals; Prerequisite: A test client and reachable service; Goal: Predict SNAT and VIP translations, generate one test flow, and collect a log plus two-side packet state/output. Session clearing is optional and instructor-controlled because it disrupts traffic.;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Looking only at the public side of DNAT; Running unfiltered debug on a busy device; Forgetting to stop/reset debug or treating session clear as harmless</a:t>
            </a:r>
          </a:p>
          <a:p>
            <a:endParaRPr lang="en-GB"/>
          </a:p>
          <a:p>
            <a:r>
              <a:rPr lang="en-GB"/>
              <a:t>Practical handoff: Predict SNAT and VIP translations, generate one test flow, and collect a log plus two-side packet state/output. Session clearing is optional and instructor-controlled because it disrupts traffic.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NAT; Virtual IPs; Logging; Session table; Packet sniffer; Debugging the packet flow.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D1-B04-S047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Which log best proves the firewall policy and NAT result for a connection?; What must be done after a debug-flow demonstration?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Looking only at the public side of DNAT; Running unfiltered debug on a busy device; Forgetting to stop/reset debug or treating session clear as harmless</a:t>
            </a:r>
          </a:p>
          <a:p>
            <a:endParaRPr lang="en-GB"/>
          </a:p>
          <a:p>
            <a:r>
              <a:rPr lang="en-GB"/>
              <a:t>Practical handoff: Predict SNAT and VIP translations, generate one test flow, and collect a log plus two-side packet state/output. Session clearing is optional and instructor-controlled because it disrupts traffic.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NAT; Virtual IPs; Logging; Session table; Packet sniffer; Debugging the packet flow.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Which log best proves the firewall policy and NAT result for a connection?</a:t>
            </a:r>
          </a:p>
          <a:p>
            <a:r>
              <a:rPr lang="en-GB"/>
              <a:t>A: The Traffic log, correlated with session and packet state/output.</a:t>
            </a:r>
          </a:p>
          <a:p>
            <a:endParaRPr lang="en-GB"/>
          </a:p>
          <a:p>
            <a:r>
              <a:rPr lang="en-GB"/>
              <a:t>Q: What must be done after a debug-flow demonstration?</a:t>
            </a:r>
          </a:p>
          <a:p>
            <a:r>
              <a:rPr lang="en-GB"/>
              <a:t>A: Disable debug output and reset filters/state; retain only necessary state/output.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D2-B05-S048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Interpret static and default routes in the routing table; Explain longest prefix, administrative distance, priority and ECMP; Validate next-hop and return-path behavior</a:t>
            </a:r>
          </a:p>
          <a:p>
            <a:endParaRPr lang="en-GB"/>
          </a:p>
          <a:p>
            <a:r>
              <a:rPr lang="en-GB"/>
              <a:t>Instructor demonstration / expected result: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Practical handoff: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Static routing; Routing table; ECMP.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“Routing Fundamentals &amp; Route Selection”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D2-B05-S049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Connected, static and dynamic routes can all be candidates; Longest prefix match chooses the narrowest destination range first; Administrative distance compares route sources for the same prefix; Priority can break ties within the same route source; verify exact behavior in the deployed build</a:t>
            </a:r>
          </a:p>
          <a:p>
            <a:endParaRPr lang="en-GB"/>
          </a:p>
          <a:p>
            <a:r>
              <a:rPr lang="en-GB"/>
              <a:t>Instructor demonstration / expected result: get router info routing-table details &lt;destination&gt; and identify selected route.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Practical handoff: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Static routing; Routing table; ECMP.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“Route selection starts with the most specific prefix”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D2-B05-S050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0.0.0.0/0 matches any IPv4 destination but loses to every more-specific route; The next hop must be reachable on the configured interface; Multiple defaults can provide preference or ECMP depending on distance/priority and state; Default gateway on a host points to FortiGate; default route on FortiGate points upstream</a:t>
            </a:r>
          </a:p>
          <a:p>
            <a:endParaRPr lang="en-GB"/>
          </a:p>
          <a:p>
            <a:r>
              <a:rPr lang="en-GB"/>
              <a:t>Instructor demonstration / expected result: Test gateway reachability with source interface/address specified.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Practical handoff: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Static routing; Routing table; ECMP.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“A default route is a last-resort candidate”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D2-B05-S051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Lower distance is preferred for equal prefixes; Different protocols have defaults; explicit changes should be documented; A lower distance does not fix an unreachable next hop; Use SD-WAN/health logic for measured service quality rather than abusing distance</a:t>
            </a:r>
          </a:p>
          <a:p>
            <a:endParaRPr lang="en-GB"/>
          </a:p>
          <a:p>
            <a:r>
              <a:rPr lang="en-GB"/>
              <a:t>Instructor demonstration / expected result: Inspect both protocol database and active routing table.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Practical handoff: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Static routing; Routing table; ECMP.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“Administrative distance expresses source trust, not path quality”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D2-B05-S052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Routes must be equal under relevant selection criteria; A session is normally pinned to one selected next hop; Per-packet assumptions are unsafe; hashing and platform behavior require confirmation; Symmetry, NAT and upstream state affect failover outcomes</a:t>
            </a:r>
          </a:p>
          <a:p>
            <a:endParaRPr lang="en-GB"/>
          </a:p>
          <a:p>
            <a:r>
              <a:rPr lang="en-GB"/>
              <a:t>Instructor demonstration / expected result: Generate multiple distinct five-tuples and compare egress/session state/output.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Practical handoff: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Static routing; Routing table; ECMP.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“ECMP installs equal-cost next hops; sessions choose a path”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D2-B05-S053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List every matching prefix; Choose longest prefix; For equal prefixes compare distance then applicable priority/metric; Confirm next-hop/interface state and perform return lookup</a:t>
            </a:r>
          </a:p>
          <a:p>
            <a:endParaRPr lang="en-GB"/>
          </a:p>
          <a:p>
            <a:r>
              <a:rPr lang="en-GB"/>
              <a:t>Instructor demonstration / expected result: Show selected route plus alternate state/output.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Practical handoff: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Static routing; Routing table; ECMP.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“Candidate route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D2-B05-S054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Practical handoff: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Static routing; Routing table; ECMP.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D2-B05-S055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Look up the exact destination; Verify the selected prefix and next hop; Test next-hop reachability from the expected source; Check policy/session egress; Repeat lookup for return destination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Practical handoff: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Static routing; Routing table; ECMP.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D2-B05-S056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Day 1 five-tuple and interface concepts; Prerequisite: Illustrative addresses from slide 3; Goal: Create two static candidates using instructor-approved lab routes, predict the winner, then validate route-table and traffic state/output. Avoid changing shared default routes without rollback.;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Practical handoff: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Static routing; Routing table; ECMP.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D2-B05-S057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Which criterion is evaluated before administrative distance?; Why might equal routes not visibly split one connection?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Comparing distance across different prefix lengths; Assuming ECMP means per-packet round robin; Ignoring the reverse destination route</a:t>
            </a:r>
          </a:p>
          <a:p>
            <a:endParaRPr lang="en-GB"/>
          </a:p>
          <a:p>
            <a:r>
              <a:rPr lang="en-GB"/>
              <a:t>Practical handoff: Create two static candidates using instructor-approved lab routes, predict the winner, then validate route-table and traffic state/output. Avoid changing shared default routes without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Static routing; Routing table; ECMP.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Which criterion is evaluated before administrative distance?</a:t>
            </a:r>
          </a:p>
          <a:p>
            <a:r>
              <a:rPr lang="en-GB"/>
              <a:t>A: Longest prefix match.</a:t>
            </a:r>
          </a:p>
          <a:p>
            <a:endParaRPr lang="en-GB"/>
          </a:p>
          <a:p>
            <a:r>
              <a:rPr lang="en-GB"/>
              <a:t>Q: Why might equal routes not visibly split one connection?</a:t>
            </a:r>
          </a:p>
          <a:p>
            <a:r>
              <a:rPr lang="en-GB"/>
              <a:t>A: Path selection is generally session/flow based, so one five-tuple remains pinned.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D2-B06-S058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Create clear address, service and group objects; Apply naming, reuse and ownership conventions; Review policies for maintainability and operational clarity</a:t>
            </a:r>
          </a:p>
          <a:p>
            <a:endParaRPr lang="en-GB"/>
          </a:p>
          <a:p>
            <a:r>
              <a:rPr lang="en-GB"/>
              <a:t>Instructor demonstration / expected result: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Practical handoff: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addresses; Services; Object groups; Firewall policy best practices.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“Object Management &amp; Policy Design Best Practices” before showing the answer.</a:t>
            </a:r>
          </a:p>
          <a:p>
            <a:endParaRPr lang="en-GB"/>
          </a:p>
          <a:p>
            <a:r>
              <a:rPr lang="en-GB"/>
              <a:t>[OPTIONAL SUPPLEMENT — IDENTITY/AUTHENTICATION, 10–15 MINUTES IF NEEDED]</a:t>
            </a:r>
          </a:p>
          <a:p>
            <a:r>
              <a:rPr lang="en-GB"/>
              <a:t>LDAP: FortiGate binds/searches a directory using a configured base DN and attributes; connectivity, TLS trust, bind permissions and group lookup are separate failure points. LDAP validates directory credentials/attributes but does not by itself create an IP-to-user mapping for transparent policy.</a:t>
            </a:r>
          </a:p>
          <a:p>
            <a:r>
              <a:rPr lang="en-GB"/>
              <a:t>RADIUS: the FortiGate acts as a network access client and receives Access-Accept, Access-Reject or Access-Challenge. Shared secret, client/NAS identity, source IP, timeout and returned group attributes must agree. Preserve a local break-glass administrator.</a:t>
            </a:r>
          </a:p>
          <a:p>
            <a:r>
              <a:rPr lang="en-GB"/>
              <a:t>FSSO: collector/agent methods learn user logon information and map user/group to workstation IP for identity-aware policy. Shared/NATed devices, stale logoff data, collector reachability and group filters affect accuracy. Validate the live user/IP mapping and matched policy rather than assuming directory success proves FSSO.</a:t>
            </a:r>
          </a:p>
          <a:p>
            <a:r>
              <a:rPr lang="en-GB"/>
              <a:t>Optional demo: test one LDAP/RADIUS server object, then inspect one FSSO user/IP mapping; do not let this supplement displace routing, VPN, EMS, HA or SD-WAN.</a:t>
            </a:r>
          </a:p>
          <a:p>
            <a:r>
              <a:rPr lang="en-GB"/>
              <a:t>Official preparation references: FortiGate/FortiOS 7.6.7 Administration Guide — LDAP servers, RADIUS servers, Firewall authentication and FSSO. Confirm FortiOS 7.6.7 build and authentication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D2-B06-S059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Address objects represent hosts, subnets, ranges, FQDNs or interfaces as supported; Service objects represent protocol and port ranges; Groups reduce repetition but can hide overly broad membership; Comments, owners and lifecycle information improve change safety</a:t>
            </a:r>
          </a:p>
          <a:p>
            <a:endParaRPr lang="en-GB"/>
          </a:p>
          <a:p>
            <a:r>
              <a:rPr lang="en-GB"/>
              <a:t>Instructor demonstration / expected result: Expand group membership and confirm the concrete match values.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Practical handoff: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addresses; Services; Object groups; Firewall policy best practices.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“Objects turn intent into reusable selectors”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D2-B06-S060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Name by function, environment and scope rather than transient ticket numbers; Avoid embedding unverified geography or ownership; Use consistent prefixes only when they add search value; Document exceptions and expiration dates for temporary objects</a:t>
            </a:r>
          </a:p>
          <a:p>
            <a:endParaRPr lang="en-GB"/>
          </a:p>
          <a:p>
            <a:r>
              <a:rPr lang="en-GB"/>
              <a:t>Instructor demonstration / expected result: Search for duplicates, unused objects and ambiguous names before adding new ones.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Practical handoff: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addresses; Services; Object groups; Firewall policy best practices.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“Naming should survive interface and personnel changes”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D2-B06-S061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Reuse canonical network/service objects; Create a group when members genuinely share policy treatment; Do not create mega-groups that make logging and review opaque; FQDN/dynamic objects add resolution dependencies that must be monitored</a:t>
            </a:r>
          </a:p>
          <a:p>
            <a:endParaRPr lang="en-GB"/>
          </a:p>
          <a:p>
            <a:r>
              <a:rPr lang="en-GB"/>
              <a:t>Instructor demonstration / expected result: Trace one object from definition to policy and traffic log.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Practical handoff: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addresses; Services; Object groups; Firewall policy best practices.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“Reusability must not erase policy intent”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D2-B06-S062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Place narrow exceptions intentionally; Separate flows with different owners, logging or security profiles; Use comments and change records to explain why a rule exists; Review zero-hit, expired and shadowed policies carefully before removal</a:t>
            </a:r>
          </a:p>
          <a:p>
            <a:endParaRPr lang="en-GB"/>
          </a:p>
          <a:p>
            <a:r>
              <a:rPr lang="en-GB"/>
              <a:t>Instructor demonstration / expected result: Use hit counters and logs as state/output, not sole justification for deletion.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Practical handoff: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addresses; Services; Object groups; Firewall policy best practices.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“Maintainable policy has a readable reason and state/output”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D2-B06-S063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Resolve all object/group members; Compare scope to the documented flow; Check ordering and overlapping rules; Confirm logs and security profiles support operations</a:t>
            </a:r>
          </a:p>
          <a:p>
            <a:endParaRPr lang="en-GB"/>
          </a:p>
          <a:p>
            <a:r>
              <a:rPr lang="en-GB"/>
              <a:t>Instructor demonstration / expected result: Export policy/object references before renaming.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Practical handoff: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addresses; Services; Object groups; Firewall policy best practices.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“Policy review example”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D2-B06-S064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Practical handoff: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addresses; Services; Object groups; Firewall policy best practices.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D2-B06-S065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Start from a failing/desired five-tuple; Resolve object membership; Check service protocol and port ranges; Inspect order, action, NAT and profiles; Use log/hit state/output and change history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Practical handoff: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addresses; Services; Object groups; Firewall policy best practices.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D2-B06-S066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Day 1 policy evaluation; Prerequisite: Agreed naming standard or instructor example; Goal: Review three policies for naming, reuse, scope and state/output. Propose changes without applying them unless each learner has an isolated configuration and rollback.;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Practical handoff: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addresses; Services; Object groups; Firewall policy best practices.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D2-B06-S067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When should objects be grouped?; Why is a zero hit count insufficient to delete a rule?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Creating duplicates instead of finding canonical objects; Using groups to conceal unrelated networks; Deleting a zero-hit rule without checking observation period</a:t>
            </a:r>
          </a:p>
          <a:p>
            <a:endParaRPr lang="en-GB"/>
          </a:p>
          <a:p>
            <a:r>
              <a:rPr lang="en-GB"/>
              <a:t>Practical handoff: Review three policies for naming, reuse, scope and state/output. Propose changes without applying them unless each learner has an isolated configuration and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Firewall addresses; Services; Object groups; Firewall policy best practices.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When should objects be grouped?</a:t>
            </a:r>
          </a:p>
          <a:p>
            <a:r>
              <a:rPr lang="en-GB"/>
              <a:t>A: When all members share the same policy intent and lifecycle.</a:t>
            </a:r>
          </a:p>
          <a:p>
            <a:endParaRPr lang="en-GB"/>
          </a:p>
          <a:p>
            <a:r>
              <a:rPr lang="en-GB"/>
              <a:t>Q: Why is a zero hit count insufficient to delete a rule?</a:t>
            </a:r>
          </a:p>
          <a:p>
            <a:r>
              <a:rPr lang="en-GB"/>
              <a:t>A: The observation window, logging, seasonality and dependency/change history may be incomplete.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D2-B07-S068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Explain AV, IPS, Web Filter and Application Control roles; Sequence security profiles with inspection prerequisites; Compare certificate and deep inspection with PKI and operational impacts</a:t>
            </a:r>
          </a:p>
          <a:p>
            <a:endParaRPr lang="en-GB"/>
          </a:p>
          <a:p>
            <a:r>
              <a:rPr lang="en-GB"/>
              <a:t>Instructor demonstration / expected result: Compare certificate and deep inspection on an instructor-approved HTTPS target. Prerequisite: isolated managed endpoint and inspection CA. If unavailable, use a conceptual certificate-chain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deep inspection without distributing the CA; Assuming every profile can inspect encrypted payload under certificate inspection; Treating a security log as proof of routing or return path</a:t>
            </a:r>
          </a:p>
          <a:p>
            <a:endParaRPr lang="en-GB"/>
          </a:p>
          <a:p>
            <a:r>
              <a:rPr lang="en-GB"/>
              <a:t>Practical handoff: Compare certificate and deep inspection on an instructor-approved HTTPS target. Prerequisite: isolated managed endpoint and inspection CA. If unavailable, use a conceptual certificate-chain exercise.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Security profiles; Inspection modes; SSL/SSH inspection; Certificates. Confirm FortiGuard package/service prerequisites and 7.6.7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“Security Services &amp; SSL Inspection”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D2-B07-S069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Antivirus scans supported content/files for malware; IPS matches exploit/protocol behavior using signatures and engines; Web Filter classifies and controls web destinations/categories; Application Control identifies applications beyond simple port labels</a:t>
            </a:r>
          </a:p>
          <a:p>
            <a:endParaRPr lang="en-GB"/>
          </a:p>
          <a:p>
            <a:r>
              <a:rPr lang="en-GB"/>
              <a:t>Instructor demonstration / expected result: Confirm profile mode, policy attachment and inspection mode before interpreting logs.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deep inspection without distributing the CA; Assuming every profile can inspect encrypted payload under certificate inspection; Treating a security log as proof of routing or return path</a:t>
            </a:r>
          </a:p>
          <a:p>
            <a:endParaRPr lang="en-GB"/>
          </a:p>
          <a:p>
            <a:r>
              <a:rPr lang="en-GB"/>
              <a:t>Practical handoff: Compare certificate and deep inspection on an instructor-approved HTTPS target. Prerequisite: isolated managed endpoint and inspection CA. If unavailable, use a conceptual certificate-chain exercise.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Security profiles; Inspection modes; SSL/SSH inspection; Certificates. Confirm FortiGuard package/service prerequisites and 7.6.7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“Security profiles answer different detection questions”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D2-B07-S070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Flow mode streams traffic through engines with lower buffering; Proxy mode terminates/proxies supported protocols for deeper protocol handling; Feature behavior and availability vary by profile/protocol/release; Choose mode by required controls and tested compatibility, not habit</a:t>
            </a:r>
          </a:p>
          <a:p>
            <a:endParaRPr lang="en-GB"/>
          </a:p>
          <a:p>
            <a:r>
              <a:rPr lang="en-GB"/>
              <a:t>Instructor demonstration / expected result: Check policy inspection mode and profile attachment in the FortiOS 7.6.7 build.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deep inspection without distributing the CA; Assuming every profile can inspect encrypted payload under certificate inspection; Treating a security log as proof of routing or return path</a:t>
            </a:r>
          </a:p>
          <a:p>
            <a:endParaRPr lang="en-GB"/>
          </a:p>
          <a:p>
            <a:r>
              <a:rPr lang="en-GB"/>
              <a:t>Practical handoff: Compare certificate and deep inspection on an instructor-approved HTTPS target. Prerequisite: isolated managed endpoint and inspection CA. If unavailable, use a conceptual certificate-chain exercise.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Security profiles; Inspection modes; SSL/SSH inspection; Certificates. Confirm FortiGuard package/service prerequisites and 7.6.7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“Inspection mode determines what profiles can see”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D2-B07-S071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Certificate inspection observes TLS handshake/certificate metadata without decrypting payload; Deep inspection decrypts and re-encrypts TLS traffic to expose content; Deep inspection requires endpoint trust in the inspection CA and policy/privacy approval; Exceptions are often needed for pinning, unsupported protocols or regulated traffic</a:t>
            </a:r>
          </a:p>
          <a:p>
            <a:endParaRPr lang="en-GB"/>
          </a:p>
          <a:p>
            <a:r>
              <a:rPr lang="en-GB"/>
              <a:t>Instructor demonstration / expected result: Test with a managed endpoint and verify presented certificate chain.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deep inspection without distributing the CA; Assuming every profile can inspect encrypted payload under certificate inspection; Treating a security log as proof of routing or return path</a:t>
            </a:r>
          </a:p>
          <a:p>
            <a:endParaRPr lang="en-GB"/>
          </a:p>
          <a:p>
            <a:r>
              <a:rPr lang="en-GB"/>
              <a:t>Practical handoff: Compare certificate and deep inspection on an instructor-approved HTTPS target. Prerequisite: isolated managed endpoint and inspection CA. If unavailable, use a conceptual certificate-chain exercise.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Security profiles; Inspection modes; SSL/SSH inspection; Certificates. Confirm FortiGuard package/service prerequisites and 7.6.7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“Certificate inspection and deep inspection solve different problems”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under deep inspection, the browser certificate issuer is the configured inspection CA; under certificate inspection, the original server certificate remains end to end. Source: FortiOS 7.6.7 Administration Guide — SSL/SSH inspection and deep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D2-B07-S073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Policy permits and selects inspection mode; TLS inspection exposes available metadata/content; AV/IPS/Web/App engines apply relevant controls; Traffic and security logs record different state/output</a:t>
            </a:r>
          </a:p>
          <a:p>
            <a:endParaRPr lang="en-GB"/>
          </a:p>
          <a:p>
            <a:r>
              <a:rPr lang="en-GB"/>
              <a:t>Instructor demonstration / expected result: Correlate logs by source/destination/time/session and verify the final user result.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deep inspection without distributing the CA; Assuming every profile can inspect encrypted payload under certificate inspection; Treating a security log as proof of routing or return path</a:t>
            </a:r>
          </a:p>
          <a:p>
            <a:endParaRPr lang="en-GB"/>
          </a:p>
          <a:p>
            <a:r>
              <a:rPr lang="en-GB"/>
              <a:t>Practical handoff: Compare certificate and deep inspection on an instructor-approved HTTPS target. Prerequisite: isolated managed endpoint and inspection CA. If unavailable, use a conceptual certificate-chain exercise.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Security profiles; Inspection modes; SSL/SSH inspection; Certificates. Confirm FortiGuard package/service prerequisites and 7.6.7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“Profile interaction on HTTPS”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D2-B07-S074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Enabling deep inspection without distributing the CA; Assuming every profile can inspect encrypted payload under certificate inspection; Treating a security log as proof of routing or return path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deep inspection without distributing the CA; Assuming every profile can inspect encrypted payload under certificate inspection; Treating a security log as proof of routing or return path</a:t>
            </a:r>
          </a:p>
          <a:p>
            <a:endParaRPr lang="en-GB"/>
          </a:p>
          <a:p>
            <a:r>
              <a:rPr lang="en-GB"/>
              <a:t>Practical handoff: Compare certificate and deep inspection on an instructor-approved HTTPS target. Prerequisite: isolated managed endpoint and inspection CA. If unavailable, use a conceptual certificate-chain exercise.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Security profiles; Inspection modes; SSL/SSH inspection; Certificates. Confirm FortiGuard package/service prerequisites and 7.6.7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D2-B07-S075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Prove basic path and policy first; Check TLS handshake/certificate errors; Confirm inspection mode and client trust; Identify which profile blocked or reset the session; Test an approved exception without broad bypass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deep inspection without distributing the CA; Assuming every profile can inspect encrypted payload under certificate inspection; Treating a security log as proof of routing or return path</a:t>
            </a:r>
          </a:p>
          <a:p>
            <a:endParaRPr lang="en-GB"/>
          </a:p>
          <a:p>
            <a:r>
              <a:rPr lang="en-GB"/>
              <a:t>Practical handoff: Compare certificate and deep inspection on an instructor-approved HTTPS target. Prerequisite: isolated managed endpoint and inspection CA. If unavailable, use a conceptual certificate-chain exercise.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Security profiles; Inspection modes; SSL/SSH inspection; Certificates. Confirm FortiGuard package/service prerequisites and 7.6.7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D2-B07-S076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Working outbound policy and logging; Prerequisite: Instructor-managed test content only; Goal: Compare certificate and deep inspection on an instructor-approved HTTPS target. Prerequisite: isolated managed endpoint and inspection CA. If unavailable, use a conceptual certificate-chain exercise.;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deep inspection without distributing the CA; Assuming every profile can inspect encrypted payload under certificate inspection; Treating a security log as proof of routing or return path</a:t>
            </a:r>
          </a:p>
          <a:p>
            <a:endParaRPr lang="en-GB"/>
          </a:p>
          <a:p>
            <a:r>
              <a:rPr lang="en-GB"/>
              <a:t>Practical handoff: Compare certificate and deep inspection on an instructor-approved HTTPS target. Prerequisite: isolated managed endpoint and inspection CA. If unavailable, use a conceptual certificate-chain exercise.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Security profiles; Inspection modes; SSL/SSH inspection; Certificates. Confirm FortiGuard package/service prerequisites and 7.6.7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D2-B07-S077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What payload does certificate inspection decrypt?; Why can deep inspection break an otherwise reachable site?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Enabling deep inspection without distributing the CA; Assuming every profile can inspect encrypted payload under certificate inspection; Treating a security log as proof of routing or return path</a:t>
            </a:r>
          </a:p>
          <a:p>
            <a:endParaRPr lang="en-GB"/>
          </a:p>
          <a:p>
            <a:r>
              <a:rPr lang="en-GB"/>
              <a:t>Practical handoff: Compare certificate and deep inspection on an instructor-approved HTTPS target. Prerequisite: isolated managed endpoint and inspection CA. If unavailable, use a conceptual certificate-chain exercise.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Security profiles; Inspection modes; SSL/SSH inspection; Certificates. Confirm FortiGuard package/service prerequisites and 7.6.7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What payload does certificate inspection decrypt?</a:t>
            </a:r>
          </a:p>
          <a:p>
            <a:r>
              <a:rPr lang="en-GB"/>
              <a:t>A: None; it uses visible TLS handshake and certificate metadata.</a:t>
            </a:r>
          </a:p>
          <a:p>
            <a:endParaRPr lang="en-GB"/>
          </a:p>
          <a:p>
            <a:r>
              <a:rPr lang="en-GB"/>
              <a:t>Q: Why can deep inspection break an otherwise reachable site?</a:t>
            </a:r>
          </a:p>
          <a:p>
            <a:r>
              <a:rPr lang="en-GB"/>
              <a:t>A: The client may not trust the inspection CA, the application may pin certificates, or protocol/privacy exceptions may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D2-B08-S078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Distinguish management, control and data planes; Explain NP/CP acceleration, fast/slow path and VM limitations; Monitor firmware, sessions, CPU, memory and Conserve Mode</a:t>
            </a:r>
          </a:p>
          <a:p>
            <a:endParaRPr lang="en-GB"/>
          </a:p>
          <a:p>
            <a:r>
              <a:rPr lang="en-GB"/>
              <a:t>Instructor demonstration / expected result: Collect a read-only baseline: build, uptime, interfaces, sessions, CPU and memory. ASIC/offload validation is an instructor appliance demo; firmware change is demonstration unless a maintenance window and rollback exist.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appliance ASIC commands apply to FortiGate-VM; Upgrading without configuration backup and release-note review; Treating Conserve Mode as a single process fault</a:t>
            </a:r>
          </a:p>
          <a:p>
            <a:endParaRPr lang="en-GB"/>
          </a:p>
          <a:p>
            <a:r>
              <a:rPr lang="en-GB"/>
              <a:t>Practical handoff: Collect a read-only baseline: build, uptime, interfaces, sessions, CPU and memory. ASIC/offload validation is an instructor appliance demo; firmware change is demonstration unless a maintenance window and rollback exist.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Hardware acceleration; Sessions; System performance; Conserve Mode; Firmware upgrades and release notes. Model-specific hardware guide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“FortiGate Hardware Architecture, Monitoring &amp; Operations”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D2-B08-S079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Management plane serves GUI/CLI/API and administration; Control plane learns routing, HA and system state; Data plane forwards sessions and applies security processing; A plane can be healthy while another is constrained</a:t>
            </a:r>
          </a:p>
          <a:p>
            <a:endParaRPr lang="en-GB"/>
          </a:p>
          <a:p>
            <a:r>
              <a:rPr lang="en-GB"/>
              <a:t>Instructor demonstration / expected result: Collect plane-specific state/output: admin latency, protocol state, session/packet counters.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appliance ASIC commands apply to FortiGate-VM; Upgrading without configuration backup and release-note review; Treating Conserve Mode as a single process fault</a:t>
            </a:r>
          </a:p>
          <a:p>
            <a:endParaRPr lang="en-GB"/>
          </a:p>
          <a:p>
            <a:r>
              <a:rPr lang="en-GB"/>
              <a:t>Practical handoff: Collect a read-only baseline: build, uptime, interfaces, sessions, CPU and memory. ASIC/offload validation is an instructor appliance demo; firmware change is demonstration unless a maintenance window and rollback exist.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Hardware acceleration; Sessions; System performance; Conserve Mode; Firmware upgrades and release notes. Model-specific hardware guide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“Planes separate configuration, decisions and packet work”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Instructor review: use model-specific hardware guides for NP/CP eligibility and counters. The Azure FGVM lab demonstrates software processing and Azure networking, not FortiASIC offload. Source: FortiOS 7.6.7 Administration Guide — Hardware acceleration; FortiGate-VM for Azure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D2-B08-S081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Session setup and exceptional traffic require CPU decisions; Established eligible sessions may be offloaded; Inspection, fragmentation, tunneling or feature choices can affect eligibility; No-offload is not automatically a fault; compare with documented support</a:t>
            </a:r>
          </a:p>
          <a:p>
            <a:endParaRPr lang="en-GB"/>
          </a:p>
          <a:p>
            <a:r>
              <a:rPr lang="en-GB"/>
              <a:t>Instructor demonstration / expected result: Inspect session offload flags/counters only with platform-specific documentation.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appliance ASIC commands apply to FortiGate-VM; Upgrading without configuration backup and release-note review; Treating Conserve Mode as a single process fault</a:t>
            </a:r>
          </a:p>
          <a:p>
            <a:endParaRPr lang="en-GB"/>
          </a:p>
          <a:p>
            <a:r>
              <a:rPr lang="en-GB"/>
              <a:t>Practical handoff: Collect a read-only baseline: build, uptime, interfaces, sessions, CPU and memory. ASIC/offload validation is an instructor appliance demo; firmware change is demonstration unless a maintenance window and rollback exist.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Hardware acceleration; Sessions; System performance; Conserve Mode; Firmware upgrades and release notes. Model-specific hardware guide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“Fast path and slow path describe processing eligibility”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D2-B08-S082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Confirm firmware build and support policy before change; Back up configuration and document rollback; Track session count, CPU and memory against normal workload; Recognize Conserve Mode as protective behavior under memory pressure</a:t>
            </a:r>
          </a:p>
          <a:p>
            <a:endParaRPr lang="en-GB"/>
          </a:p>
          <a:p>
            <a:r>
              <a:rPr lang="en-GB"/>
              <a:t>Instructor demonstration / expected result: get system performance status; diagnose sys top; diagnose sys session stat; commands are illustrative.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appliance ASIC commands apply to FortiGate-VM; Upgrading without configuration backup and release-note review; Treating Conserve Mode as a single process fault</a:t>
            </a:r>
          </a:p>
          <a:p>
            <a:endParaRPr lang="en-GB"/>
          </a:p>
          <a:p>
            <a:r>
              <a:rPr lang="en-GB"/>
              <a:t>Practical handoff: Collect a read-only baseline: build, uptime, interfaces, sessions, CPU and memory. ASIC/offload validation is an instructor appliance demo; firmware change is demonstration unless a maintenance window and rollback exist.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Hardware acceleration; Sessions; System performance; Conserve Mode; Firmware upgrades and release notes. Model-specific hardware guide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“Operations baseline”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D2-B08-S083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Assuming appliance ASIC commands apply to FortiGate-VM; Upgrading without configuration backup and release-note review; Treating Conserve Mode as a single process fault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appliance ASIC commands apply to FortiGate-VM; Upgrading without configuration backup and release-note review; Treating Conserve Mode as a single process fault</a:t>
            </a:r>
          </a:p>
          <a:p>
            <a:endParaRPr lang="en-GB"/>
          </a:p>
          <a:p>
            <a:r>
              <a:rPr lang="en-GB"/>
              <a:t>Practical handoff: Collect a read-only baseline: build, uptime, interfaces, sessions, CPU and memory. ASIC/offload validation is an instructor appliance demo; firmware change is demonstration unless a maintenance window and rollback exist.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Hardware acceleration; Sessions; System performance; Conserve Mode; Firmware upgrades and release notes. Model-specific hardware guide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D2-B08-S084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Confirm current build/model/VM and recent changes; Compare CPU, memory and session counts to baseline; Identify top consumers and inspection load; Check Conserve Mode thresholds/events and proxy behavior; Mitigate safely; preserve state/output before restart/upgrade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appliance ASIC commands apply to FortiGate-VM; Upgrading without configuration backup and release-note review; Treating Conserve Mode as a single process fault</a:t>
            </a:r>
          </a:p>
          <a:p>
            <a:endParaRPr lang="en-GB"/>
          </a:p>
          <a:p>
            <a:r>
              <a:rPr lang="en-GB"/>
              <a:t>Practical handoff: Collect a read-only baseline: build, uptime, interfaces, sessions, CPU and memory. ASIC/offload validation is an instructor appliance demo; firmware change is demonstration unless a maintenance window and rollback exist.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Hardware acceleration; Sessions; System performance; Conserve Mode; Firmware upgrades and release notes. Model-specific hardware guide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D2-B08-S085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Read-only operational access; Prerequisite: Model/build and deployment type identified; Goal: Collect a read-only baseline: build, uptime, interfaces, sessions, CPU and memory. ASIC/offload validation is an instructor appliance demo; firmware change is demonstration unless a maintenance window and rollback exist.;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appliance ASIC commands apply to FortiGate-VM; Upgrading without configuration backup and release-note review; Treating Conserve Mode as a single process fault</a:t>
            </a:r>
          </a:p>
          <a:p>
            <a:endParaRPr lang="en-GB"/>
          </a:p>
          <a:p>
            <a:r>
              <a:rPr lang="en-GB"/>
              <a:t>Practical handoff: Collect a read-only baseline: build, uptime, interfaces, sessions, CPU and memory. ASIC/offload validation is an instructor appliance demo; firmware change is demonstration unless a maintenance window and rollback exist.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Hardware acceleration; Sessions; System performance; Conserve Mode; Firmware upgrades and release notes. Model-specific hardware guide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D2-B08-S086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Why can a VM lab not prove NP/CP offload behavior?; What is Conserve Mode?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appliance ASIC commands apply to FortiGate-VM; Upgrading without configuration backup and release-note review; Treating Conserve Mode as a single process fault</a:t>
            </a:r>
          </a:p>
          <a:p>
            <a:endParaRPr lang="en-GB"/>
          </a:p>
          <a:p>
            <a:r>
              <a:rPr lang="en-GB"/>
              <a:t>Practical handoff: Collect a read-only baseline: build, uptime, interfaces, sessions, CPU and memory. ASIC/offload validation is an instructor appliance demo; firmware change is demonstration unless a maintenance window and rollback exist.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Hardware acceleration; Sessions; System performance; Conserve Mode; Firmware upgrades and release notes. Model-specific hardware guide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Why can a VM lab not prove NP/CP offload behavior?</a:t>
            </a:r>
          </a:p>
          <a:p>
            <a:r>
              <a:rPr lang="en-GB"/>
              <a:t>A: The VM does not contain the appliance’s ASIC datapath; acceleration depends on virtual platform capabilities.</a:t>
            </a:r>
          </a:p>
          <a:p>
            <a:endParaRPr lang="en-GB"/>
          </a:p>
          <a:p>
            <a:r>
              <a:rPr lang="en-GB"/>
              <a:t>Q: What is Conserve Mode?</a:t>
            </a:r>
          </a:p>
          <a:p>
            <a:r>
              <a:rPr lang="en-GB"/>
              <a:t>A: A protective FortiOS state triggered by memory pressure that changes/limits processing to preserve system stability; investigate causes and thresholds for the exact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D3-B09-S087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Explain route selection interactions with PBR; Plan controlled route redistribution; Establish OSPF neighbors and trace LSA-to-route exchange</a:t>
            </a:r>
          </a:p>
          <a:p>
            <a:endParaRPr lang="en-GB"/>
          </a:p>
          <a:p>
            <a:r>
              <a:rPr lang="en-GB"/>
              <a:t>Instructor demonstration / expected result: Form one OSPF adjacency or inspect an instructor capture, advertise a lab prefix, and prove neighbor → LSA → route → traffic. PBR change is isolated and includes rollback.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Troubleshooting only the routing table when adjacency is down; Redistributing everything without filters/tags; Using PBR to mask an addressing or return-path problem</a:t>
            </a:r>
          </a:p>
          <a:p>
            <a:endParaRPr lang="en-GB"/>
          </a:p>
          <a:p>
            <a:r>
              <a:rPr lang="en-GB"/>
              <a:t>Practical handoff: Form one OSPF adjacency or inspect an instructor capture, advertise a lab prefix, and prove neighbor → LSA → route → traffic. PBR change is isolated and includes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Policy routes; OSPF; Route maps and prefix lists; Route redistribution.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“Route Selection, PBR &amp; OSPF”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D3-B09-S088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 policy route matches fields such as ingress, source, destination and service as supported; If matched and valid, it directs a next hop/interface before normal route selection; A supporting route and reachable next hop are still required; PBR increases operational complexity; document scope and fallback</a:t>
            </a:r>
          </a:p>
          <a:p>
            <a:endParaRPr lang="en-GB"/>
          </a:p>
          <a:p>
            <a:r>
              <a:rPr lang="en-GB"/>
              <a:t>Instructor demonstration / expected result: Inspect policy-route list and debug-flow route decision for the exact test tuple.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Troubleshooting only the routing table when adjacency is down; Redistributing everything without filters/tags; Using PBR to mask an addressing or return-path problem</a:t>
            </a:r>
          </a:p>
          <a:p>
            <a:endParaRPr lang="en-GB"/>
          </a:p>
          <a:p>
            <a:r>
              <a:rPr lang="en-GB"/>
              <a:t>Practical handoff: Form one OSPF adjacency or inspect an instructor capture, advertise a lab prefix, and prove neighbor → LSA → route → traffic. PBR change is isolated and includes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Policy routes; OSPF; Route maps and prefix lists; Route redistribution.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“PBR can override destination-route intent for selected traffic”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D3-B09-S089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Redistribute only intentional prefixes with route maps/prefix filters; Metrics and tags help prevent loops and control preference; A route in one database is not automatically advertised into another; Default-route origination should be conditional and documented</a:t>
            </a:r>
          </a:p>
          <a:p>
            <a:endParaRPr lang="en-GB"/>
          </a:p>
          <a:p>
            <a:r>
              <a:rPr lang="en-GB"/>
              <a:t>Instructor demonstration / expected result: Verify source route, redistribution rule, advertised LSA and remote installation.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Troubleshooting only the routing table when adjacency is down; Redistributing everything without filters/tags; Using PBR to mask an addressing or return-path problem</a:t>
            </a:r>
          </a:p>
          <a:p>
            <a:endParaRPr lang="en-GB"/>
          </a:p>
          <a:p>
            <a:r>
              <a:rPr lang="en-GB"/>
              <a:t>Practical handoff: Form one OSPF adjacency or inspect an instructor capture, advertise a lab prefix, and prove neighbor → LSA → route → traffic. PBR change is isolated and includes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Policy routes; OSPF; Route maps and prefix lists; Route redistribution.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“Redistribution moves selected routes between protocols”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the neighbor reaches Full; the LSDB contains the branch prefix; HQ installs 10.20.10.0/24 with the intended OSPF next hop. Source: FortiOS 7.6.7 Administration Guide — OSPF neighbors, LSDB and routing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D3-B09-S091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Routers flood link-state information within defined scope; Area design limits flooding and supports hierarchy; The LSDB is not the routing table; SPF derives candidate paths; Route type and metric influence the installed result</a:t>
            </a:r>
          </a:p>
          <a:p>
            <a:endParaRPr lang="en-GB"/>
          </a:p>
          <a:p>
            <a:r>
              <a:rPr lang="en-GB"/>
              <a:t>Instructor demonstration / expected result: Compare OSPF database, routing table and packet forwarding state/output.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Troubleshooting only the routing table when adjacency is down; Redistributing everything without filters/tags; Using PBR to mask an addressing or return-path problem</a:t>
            </a:r>
          </a:p>
          <a:p>
            <a:endParaRPr lang="en-GB"/>
          </a:p>
          <a:p>
            <a:r>
              <a:rPr lang="en-GB"/>
              <a:t>Practical handoff: Form one OSPF adjacency or inspect an instructor capture, advertise a lab prefix, and prove neighbor → LSA → route → traffic. PBR change is isolated and includes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Policy routes; OSPF; Route maps and prefix lists; Route redistribution.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“LSAs build a shared topology; SPF installs best paths”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D3-B09-S092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Confirm interface and router ID; Reach Full neighbor state where expected; Verify prefix exists in LSDB with intended LSA/type; Verify active route and return route; Test traffic and preserve packet/session state/output</a:t>
            </a:r>
          </a:p>
          <a:p>
            <a:endParaRPr lang="en-GB"/>
          </a:p>
          <a:p>
            <a:r>
              <a:rPr lang="en-GB"/>
              <a:t>Instructor demonstration / expected result: Use neighbor, database and routing-table commands together.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Troubleshooting only the routing table when adjacency is down; Redistributing everything without filters/tags; Using PBR to mask an addressing or return-path problem</a:t>
            </a:r>
          </a:p>
          <a:p>
            <a:endParaRPr lang="en-GB"/>
          </a:p>
          <a:p>
            <a:r>
              <a:rPr lang="en-GB"/>
              <a:t>Practical handoff: Form one OSPF adjacency or inspect an instructor capture, advertise a lab prefix, and prove neighbor → LSA → route → traffic. PBR change is isolated and includes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Policy routes; OSPF; Route maps and prefix lists; Route redistribution.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“OSPF exchange state/output”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D3-B09-S093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Troubleshooting only the routing table when adjacency is down; Redistributing everything without filters/tags; Using PBR to mask an addressing or return-path problem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Troubleshooting only the routing table when adjacency is down; Redistributing everything without filters/tags; Using PBR to mask an addressing or return-path problem</a:t>
            </a:r>
          </a:p>
          <a:p>
            <a:endParaRPr lang="en-GB"/>
          </a:p>
          <a:p>
            <a:r>
              <a:rPr lang="en-GB"/>
              <a:t>Practical handoff: Form one OSPF adjacency or inspect an instructor capture, advertise a lab prefix, and prove neighbor → LSA → route → traffic. PBR change is isolated and includes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Policy routes; OSPF; Route maps and prefix lists; Route redistribution.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D3-B09-S094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Check physical/IP reachability and PBR scope; Verify OSPF interface/area/timers/authentication/MTU; Inspect neighbor state transition; Inspect LSDB and redistribution filter; Confirm active route, policy and return path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Troubleshooting only the routing table when adjacency is down; Redistributing everything without filters/tags; Using PBR to mask an addressing or return-path problem</a:t>
            </a:r>
          </a:p>
          <a:p>
            <a:endParaRPr lang="en-GB"/>
          </a:p>
          <a:p>
            <a:r>
              <a:rPr lang="en-GB"/>
              <a:t>Practical handoff: Form one OSPF adjacency or inspect an instructor capture, advertise a lab prefix, and prove neighbor → LSA → route → traffic. PBR change is isolated and includes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Policy routes; OSPF; Route maps and prefix lists; Route redistribution.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D3-B09-S095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Static routing mastery; Prerequisite: Two routing peers or instructor simulation; Goal: Form one OSPF adjacency or inspect an instructor capture, advertise a lab prefix, and prove neighbor → LSA → route → traffic. PBR change is isolated and includes rollback.;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Troubleshooting only the routing table when adjacency is down; Redistributing everything without filters/tags; Using PBR to mask an addressing or return-path problem</a:t>
            </a:r>
          </a:p>
          <a:p>
            <a:endParaRPr lang="en-GB"/>
          </a:p>
          <a:p>
            <a:r>
              <a:rPr lang="en-GB"/>
              <a:t>Practical handoff: Form one OSPF adjacency or inspect an instructor capture, advertise a lab prefix, and prove neighbor → LSA → route → traffic. PBR change is isolated and includes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Policy routes; OSPF; Route maps and prefix lists; Route redistribution.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D3-B09-S096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Which state/output proves route exchange beyond adjacency?; Why filter redistribution?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Troubleshooting only the routing table when adjacency is down; Redistributing everything without filters/tags; Using PBR to mask an addressing or return-path problem</a:t>
            </a:r>
          </a:p>
          <a:p>
            <a:endParaRPr lang="en-GB"/>
          </a:p>
          <a:p>
            <a:r>
              <a:rPr lang="en-GB"/>
              <a:t>Practical handoff: Form one OSPF adjacency or inspect an instructor capture, advertise a lab prefix, and prove neighbor → LSA → route → traffic. PBR change is isolated and includes rollback.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Policy routes; OSPF; Route maps and prefix lists; Route redistribution.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Which state/output proves route exchange beyond adjacency?</a:t>
            </a:r>
          </a:p>
          <a:p>
            <a:r>
              <a:rPr lang="en-GB"/>
              <a:t>A: The expected LSA/prefix in the database and installed route on the peer.</a:t>
            </a:r>
          </a:p>
          <a:p>
            <a:endParaRPr lang="en-GB"/>
          </a:p>
          <a:p>
            <a:r>
              <a:rPr lang="en-GB"/>
              <a:t>Q: Why filter redistribution?</a:t>
            </a:r>
          </a:p>
          <a:p>
            <a:r>
              <a:rPr lang="en-GB"/>
              <a:t>A: To limit scope, prevent loops/leaks and preserve predictable path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D3-B10-S097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Explain autonomous systems, eBGP/iBGP and neighbor establishment; Advertise only intended prefixes; Use attributes and filters to predict path selection</a:t>
            </a:r>
          </a:p>
          <a:p>
            <a:endParaRPr lang="en-GB"/>
          </a:p>
          <a:p>
            <a:r>
              <a:rPr lang="en-GB"/>
              <a:t>Instructor demonstration / expected result: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“BGP Fundamentals &amp; Practical Use”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only 10.10.10.0/24 is advertised; the peer receives it, marks one path best, resolves the next hop and installs the route. Source: FortiOS 7.6.7 Administration Guide — BGP, route maps and prefix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D3-B10-S099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Idle/Connect/Active indicate transport or retry state; OpenSent/OpenConfirm indicate BGP capability/parameter exchange; Established permits UPDATE messages; Timers, source address, multihop, password and AS configuration must agree</a:t>
            </a:r>
          </a:p>
          <a:p>
            <a:endParaRPr lang="en-GB"/>
          </a:p>
          <a:p>
            <a:r>
              <a:rPr lang="en-GB"/>
              <a:t>Instructor demonstration / expected result: get router info bgp summary; inspect peer state, uptime and received/advertised counts.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“BGP neighbor state reveals the failed stage”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D3-B10-S100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eBGP exchanges routes across AS boundaries and commonly changes next-hop behavior; iBGP distributes external/internal reachability within one AS; iBGP split-horizon requires full mesh or route reflectors at scale; IGP reachability to BGP next hops remains essential</a:t>
            </a:r>
          </a:p>
          <a:p>
            <a:endParaRPr lang="en-GB"/>
          </a:p>
          <a:p>
            <a:r>
              <a:rPr lang="en-GB"/>
              <a:t>Instructor demonstration / expected result: Trace next hop and AS_PATH after each advertisement.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“eBGP and iBGP serve different propagation roles”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D3-B10-S101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 network statement/redistribution mechanism does not create reachability by itself; The prefix must meet the platform’s origination conditions; Outbound filters prevent accidental leaks; Inbound filters and maximum-prefix controls limit accepted scope</a:t>
            </a:r>
          </a:p>
          <a:p>
            <a:endParaRPr lang="en-GB"/>
          </a:p>
          <a:p>
            <a:r>
              <a:rPr lang="en-GB"/>
              <a:t>Instructor demonstration / expected result: Compare local route, advertised-routes, peer received-routes and active table.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“Prefix advertisement requires route presence and policy permission”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D3-B10-S102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Policy can set weight/local preference and other attributes depending on scope; AS_PATH length, origin, MED, eBGP/iBGP and IGP cost are evaluated in an implementation-defined order; Only compare attributes when earlier criteria tie; Document which attributes are locally significant and confirm exact FortiOS order</a:t>
            </a:r>
          </a:p>
          <a:p>
            <a:endParaRPr lang="en-GB"/>
          </a:p>
          <a:p>
            <a:r>
              <a:rPr lang="en-GB"/>
              <a:t>Instructor demonstration / expected result: Inspect all paths and identify the first decision point that differs.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“BGP path selection is ordered, not a vote”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D3-B10-S103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Prefix lists match address and prefix-length ranges; Route maps match and permit/deny or set attributes; Direction matters: inbound changes acceptance; outbound changes advertisement; Always include an explicit policy for default/unmatched routes</a:t>
            </a:r>
          </a:p>
          <a:p>
            <a:endParaRPr lang="en-GB"/>
          </a:p>
          <a:p>
            <a:r>
              <a:rPr lang="en-GB"/>
              <a:t>Instructor demonstration / expected result: Review policy counters/advertised routes before and after change.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“Route maps and prefix lists implement routing policy”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D3-B10-S104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Peer state: Established with stable uptime; Control plane: expected prefix received/advertised and best path selected; Routing table: BGP route installed with intended next hop; Data plane: policy/session/packet state/output follows that next hop</a:t>
            </a:r>
          </a:p>
          <a:p>
            <a:endParaRPr lang="en-GB"/>
          </a:p>
          <a:p>
            <a:r>
              <a:rPr lang="en-GB"/>
              <a:t>Instructor demonstration / expected result: Capture summary, detailed prefix, route table and one test flow.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“BGP state/output connects peer, prefix and forwarding”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D3-B10-S105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Establish one eBGP peer; Originate one exact lab prefix; Apply outbound prefix filter; Confirm remote receipt and best path; Withdraw or deny and observe controlled change</a:t>
            </a:r>
          </a:p>
          <a:p>
            <a:endParaRPr lang="en-GB"/>
          </a:p>
          <a:p>
            <a:r>
              <a:rPr lang="en-GB"/>
              <a:t>Instructor demonstration / expected result: No production ASN or public prefix is implied.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“BGP controlled advertisement”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D3-B10-S106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D3-B10-S107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Verify route and TCP/179 reachability to peer; Check local/remote AS, update source, password and timers; Reach Established; inspect notifications if not; Verify origination and inbound/outbound filters; Confirm best path, active route and return path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D3-B10-S108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IP reachability between peers; Prerequisite: Unique AS and router-ID plan; Goal: Build or inspect one eBGP peering, advertise a single lab /24 through an explicit prefix list, then prove advertised, received, selected and forwarded state/output.;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D3-B10-S109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What does Established prove?; Which path wins if local preference differs?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Calling Active state established; Advertising a broad aggregate/default unintentionally; Changing AS_PATH/MED before checking next-hop reachability</a:t>
            </a:r>
          </a:p>
          <a:p>
            <a:endParaRPr lang="en-GB"/>
          </a:p>
          <a:p>
            <a:r>
              <a:rPr lang="en-GB"/>
              <a:t>Practical handoff: Build or inspect one eBGP peering, advertise a single lab /24 through an explicit prefix list, then prove advertised, received, selected and forwarded state/output.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BGP; BGP neighbors; Route maps and prefix lists; BGP path selection.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What does Established prove?</a:t>
            </a:r>
          </a:p>
          <a:p>
            <a:r>
              <a:rPr lang="en-GB"/>
              <a:t>A: The BGP session exchanged OPEN/KEEPALIVE successfully; it does not prove any particular prefix is permitted or installed.</a:t>
            </a:r>
          </a:p>
          <a:p>
            <a:endParaRPr lang="en-GB"/>
          </a:p>
          <a:p>
            <a:r>
              <a:rPr lang="en-GB"/>
              <a:t>Q: Which path wins if local preference differs?</a:t>
            </a:r>
          </a:p>
          <a:p>
            <a:r>
              <a:rPr lang="en-GB"/>
              <a:t>A: The higher local preference wins before later criteria such as AS_PATH, subject to the exact FortiOS selection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D3-B11-S110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Relate IKEv2 Phase 1, Phase 2 and route-based forwarding; Design selectors, routes and policies as one system; Explain ADVPN underlay/overlay, hub/spoke and shortcut behavior</a:t>
            </a:r>
          </a:p>
          <a:p>
            <a:endParaRPr lang="en-GB"/>
          </a:p>
          <a:p>
            <a:r>
              <a:rPr lang="en-GB"/>
              <a:t>Instructor demonstration / expected result: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“IPsec VPN Architecture &amp; ADVPN”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IKE and IPsec SAs are established, the branch route points to the tunnel interface, matching policies allow the flow, and encaps/decaps counters increase. Source: FortiOS 7.6.7 Administration Guide — IKEv2 and route-based IPsec VPN.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D3-B11-S112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Peers exchange proposals, identities, authentication and key material; Proposal, authentication method, IDs and reachability must be compatible; NAT traversal and fragmentation behavior depend on path/design; Logs/debug should be filtered by peer and stopped after capture</a:t>
            </a:r>
          </a:p>
          <a:p>
            <a:endParaRPr lang="en-GB"/>
          </a:p>
          <a:p>
            <a:r>
              <a:rPr lang="en-GB"/>
              <a:t>Instructor demonstration / expected result: Use tunnel summary and filtered IKE diagnostics; do not paste invented output.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“IKEv2 negotiation produces authenticated secure state”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D3-B11-S113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Route-based designs may use broad selectors but still require routing/policy boundaries; Mismatched local/remote selectors prevent or limit SA establishment; Overlapping prefixes complicate route and identity decisions; Rekey/lifetime mismatches can appear as intermittent failures</a:t>
            </a:r>
          </a:p>
          <a:p>
            <a:endParaRPr lang="en-GB"/>
          </a:p>
          <a:p>
            <a:r>
              <a:rPr lang="en-GB"/>
              <a:t>Instructor demonstration / expected result: Compare selectors on both peers and active SA packet counters.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“Phase 2 selectors define permitted protected traffic”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D3-B11-S114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Define underlay resilience, addressing, routing ownership and crypto standards; Choose static mesh, hub-spoke or dynamic overlay based on scale and traffic patterns; Account for MTU/MSS, NAT, asymmetric paths and overlapping networks; Document monitoring, certificate/PSK lifecycle and change coordination</a:t>
            </a:r>
          </a:p>
          <a:p>
            <a:endParaRPr lang="en-GB"/>
          </a:p>
          <a:p>
            <a:r>
              <a:rPr lang="en-GB"/>
              <a:t>Instructor demonstration / expected result: Design review must include data-plane test cases, not only IKE settings.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“VPN design begins with failure domains and scale”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Instructor review: ADVPN generation and OSPF-over-ADVPN behavior are release/design dependent. Confirm the supported FortiOS 7.6.7 Azure topology before lab use. Source: FortiOS 7.6.7 Administration Guide — ADVPN and dynamic routing over IPsec.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[OPTIONAL DEEP DIVE] Stable ID: D3-B11-S116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Neighbor model, network type and area design must fit the overlay; Shortcut routing must not break next-hop resolution; Hub route reflection/advertisement choices affect spoke reachability; Scale testing must include neighbors, LSAs, routes, tunnels and CPU/memory</a:t>
            </a:r>
          </a:p>
          <a:p>
            <a:endParaRPr lang="en-GB"/>
          </a:p>
          <a:p>
            <a:r>
              <a:rPr lang="en-GB"/>
              <a:t>Instructor demonstration / expected result: Confirm FortiOS 7.6.7 ADVPN guidance and the supported Azure FGVM topology before implementation.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“OSPF over ADVPN requires intentional network behavior”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[OPTIONAL DEEP DIVE] Stable ID: D3-B11-S117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Estimate concurrent hub-spoke and shortcut tunnels; Account for route scale, neighbor scale, session count, crypto throughput and inspection; Use platform data sheets and validated design guides, not slide estimates; Failure/rekey storms can be more demanding than steady state</a:t>
            </a:r>
          </a:p>
          <a:p>
            <a:endParaRPr lang="en-GB"/>
          </a:p>
          <a:p>
            <a:r>
              <a:rPr lang="en-GB"/>
              <a:t>Instructor demonstration / expected result: Record assumptions and validate against current Fortinet sizing guidance.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“ADVPN sizing tracks spokes, tunnels, routes and sessions”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D3-B11-S118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Underlay reaches peer address; IKEv2 authenticates peers and creates IKE SA; CHILD SA selectors protect intended prefixes; Routes send traffic to tunnel; policies permit both directions; Return route and session counters prove bidirectional flow</a:t>
            </a:r>
          </a:p>
          <a:p>
            <a:endParaRPr lang="en-GB"/>
          </a:p>
          <a:p>
            <a:r>
              <a:rPr lang="en-GB"/>
              <a:t>Instructor demonstration / expected result: Validate one layer at a time.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“End-to-end route-based VPN design”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D3-B11-S119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D3-B11-S120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Prove underlay route and UDP/500/4500 reachability; Validate Phase 1 identity/proposal/authentication; Validate Phase 2 selectors/proposals and counters; Check overlay route, policies and return path; Capture filtered packets/IKE diagnostics; reset debug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D3-B11-S121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Working underlay IP reachability; Prerequisite: Defined protected prefixes and crypto policy; Goal: Configure or inspect one route-based IKEv2 tunnel. ADVPN and OSPF-over-ADVPN are instructor demo/conceptual unless matching licenses, topology and exact release support are confirmed.;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D3-B11-S122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What does a route-based tunnel still need after SAs are up?; What is the ADVPN shortcut for?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Checking only tunnel-up status; Confusing underlay peer reachability with overlay protected routing; Assuming an ADVPN/OSPF example applies to every 7.6.7 deployment variant</a:t>
            </a:r>
          </a:p>
          <a:p>
            <a:endParaRPr lang="en-GB"/>
          </a:p>
          <a:p>
            <a:r>
              <a:rPr lang="en-GB"/>
              <a:t>Practical handoff: Configure or inspect one route-based IKEv2 tunnel. ADVPN and OSPF-over-ADVPN are instructor demo/conceptual unless matching licenses, topology and exact release support are confirmed.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VPN; IKEv2; Route-based VPN; ADVPN; Dynamic routing over IPsec. FortiOS 7.6.7 CLI Reference and release notes.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What does a route-based tunnel still need after SAs are up?</a:t>
            </a:r>
          </a:p>
          <a:p>
            <a:r>
              <a:rPr lang="en-GB"/>
              <a:t>A: Routes, firewall policies, matching selectors and a valid return path.</a:t>
            </a:r>
          </a:p>
          <a:p>
            <a:endParaRPr lang="en-GB"/>
          </a:p>
          <a:p>
            <a:r>
              <a:rPr lang="en-GB"/>
              <a:t>Q: What is the ADVPN shortcut for?</a:t>
            </a:r>
          </a:p>
          <a:p>
            <a:r>
              <a:rPr lang="en-GB"/>
              <a:t>A: To let eligible spoke-to-spoke data bypass the hub after dynamic discovery, while the underlay still reaches tunnel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D3-B12-S123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Localize failure across underlay, IKE, IPsec, routing, policy and return path; Interpret Phase 1/2 state and selectors; Use packet capture and CLI diagnostics without uncontrolled debug</a:t>
            </a:r>
          </a:p>
          <a:p>
            <a:endParaRPr lang="en-GB"/>
          </a:p>
          <a:p>
            <a:r>
              <a:rPr lang="en-GB"/>
              <a:t>Instructor demonstration / expected result: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“VPN Troubleshooting &amp; Operational Validation”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D3-B12-S124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Underlay route and peer reachability precede IKE; IKE SA precedes CHILD/IPsec SA; Selectors and traffic triggers affect Phase 2; Routes, policies and return path determine usable data flow</a:t>
            </a:r>
          </a:p>
          <a:p>
            <a:endParaRPr lang="en-GB"/>
          </a:p>
          <a:p>
            <a:r>
              <a:rPr lang="en-GB"/>
              <a:t>Instructor demonstration / expected result: Record state and timestamps before remediation.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“Tunnel establishment is a layered dependency chain”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D3-B12-S125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No response suggests path, NAT or peer availability; Proposal mismatch prevents cryptographic agreement; Authentication/ID mismatch fails after initial exchange; Certificate failures require time, chain and identity checks</a:t>
            </a:r>
          </a:p>
          <a:p>
            <a:endParaRPr lang="en-GB"/>
          </a:p>
          <a:p>
            <a:r>
              <a:rPr lang="en-GB"/>
              <a:t>Instructor demonstration / expected result: Compare both peers’ timestamps and stated failure reason.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“Phase 1 state/output isolates identity and proposal faults”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D3-B12-S126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An IKE SA can be healthy while no CHILD SA exists; Selector mismatch or proposal mismatch prevents data SA; Encaps/decaps counters show directionality; Rekey failures may preserve old state briefly, causing intermittent symptoms</a:t>
            </a:r>
          </a:p>
          <a:p>
            <a:endParaRPr lang="en-GB"/>
          </a:p>
          <a:p>
            <a:r>
              <a:rPr lang="en-GB"/>
              <a:t>Instructor demonstration / expected result: Compare both endpoints’ SA and packet counters.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“Phase 2 state/output links selectors to packet counters”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D3-B12-S127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Route lookup must select the tunnel for the protected destination; Policy ingress/egress pair must match actual interfaces; A broader WAN route can steal traffic if overlay route is absent; Return path must choose the reciprocal tunnel or valid symmetric design</a:t>
            </a:r>
          </a:p>
          <a:p>
            <a:endParaRPr lang="en-GB"/>
          </a:p>
          <a:p>
            <a:r>
              <a:rPr lang="en-GB"/>
              <a:t>Instructor demonstration / expected result: Run route lookup for both destination directions.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“Routing chooses the tunnel; policy permits the chosen path”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D3-B12-S128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Existing sessions can continue using old routing/policy decisions; A configuration fix may require a new test tuple or authorized session clear; NAT is usually unintended for site-to-site protected traffic unless designed; Asymmetric return creates one-sided counters and incomplete sessions</a:t>
            </a:r>
          </a:p>
          <a:p>
            <a:endParaRPr lang="en-GB"/>
          </a:p>
          <a:p>
            <a:r>
              <a:rPr lang="en-GB"/>
              <a:t>Instructor demonstration / expected result: If clearing, filter narrowly and warn learners about impact.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“Sessions preserve the chosen VPN and NAT state”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D3-B12-S129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Capture IKE on the underlay and protected traffic on LAN/tunnel-relevant interfaces; One-sided protected packets reveal where forwarding stops; ESP versus UDP/4500 depends on NAT traversal/path; Schematic output must be labelled illustrative unless captured in the declared lab</a:t>
            </a:r>
          </a:p>
          <a:p>
            <a:endParaRPr lang="en-GB"/>
          </a:p>
          <a:p>
            <a:r>
              <a:rPr lang="en-GB"/>
              <a:t>Instructor demonstration / expected result: Stop capture/debug and sanitize addresses before sharing.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“Packet capture bridges control state and actual traffic”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D3-B12-S130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Certificate inspection reads TLS handshake/certificate metadata without decrypting application payload; Deep inspection proxies TLS and exposes payload to security profiles; Deep inspection requires endpoint trust in the FortiGate inspection CA; Pinning, privacy policy and performance may require scoped exceptions</a:t>
            </a:r>
          </a:p>
          <a:p>
            <a:endParaRPr lang="en-GB"/>
          </a:p>
          <a:p>
            <a:r>
              <a:rPr lang="en-GB"/>
              <a:t>Instructor demonstration / expected result: Validate client certificate chain and matched SSL/SSH profile.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“Certificate inspection versus deep inspection”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D3-B12-S131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Symptom: Branch cannot reach HQ server; Check underlay and IKE state; Check CHILD SA selectors/counters; Check route and policy on both peers; Check session and captures; remediate only the failed layer</a:t>
            </a:r>
          </a:p>
          <a:p>
            <a:endParaRPr lang="en-GB"/>
          </a:p>
          <a:p>
            <a:r>
              <a:rPr lang="en-GB"/>
              <a:t>Instructor demonstration / expected result: Resolution criterion: bidirectional packets plus expected SA/session counters.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“Single VPN fault tree”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D3-B12-S132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D3-B12-S133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Underlay route/capture; Phase 1 peer/proposal/identity; Phase 2 selectors/proposal/counters; Overlay route and policies; Session, NAT and return-path capture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D3-B12-S134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Known-good test endpoints; Prerequisite: Authorization for VPN diagnostics; Goal: Instructor injects one safe fault (missing lab route, selector mismatch or disabled test policy). Teams diagnose without broad debug; state/output must identify the failed layer and prove restoration.;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D3-B12-S135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If encaps increases but decaps stays zero, what does it suggest?; Why use a new five-tuple after a route change?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Restarting IKE before preserving failure state/output; Clearing all sessions instead of using a fresh tuple/filter; Declaring success from Phase 1 only</a:t>
            </a:r>
          </a:p>
          <a:p>
            <a:endParaRPr lang="en-GB"/>
          </a:p>
          <a:p>
            <a:r>
              <a:rPr lang="en-GB"/>
              <a:t>Practical handoff: Instructor injects one safe fault (missing lab route, selector mismatch or disabled test policy). Teams diagnose without broad debug; state/output must identify the failed layer and prove restoration.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IPsec monitoring and troubleshooting; Debugging IPsec VPN; Packet sniffer; Sessions.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If encaps increases but decaps stays zero, what does it suggest?</a:t>
            </a:r>
          </a:p>
          <a:p>
            <a:r>
              <a:rPr lang="en-GB"/>
              <a:t>A: Local traffic enters encryption but return protected traffic is not arriving; inspect remote routing/policy/peer path.</a:t>
            </a:r>
          </a:p>
          <a:p>
            <a:endParaRPr lang="en-GB"/>
          </a:p>
          <a:p>
            <a:r>
              <a:rPr lang="en-GB"/>
              <a:t>Q: Why use a new five-tuple after a route change?</a:t>
            </a:r>
          </a:p>
          <a:p>
            <a:r>
              <a:rPr lang="en-GB"/>
              <a:t>A: Existing session state may retain the previous egress/policy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D4-B13-S136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Describe FortiClient components, VPN profiles and endpoint integration; Explain EMS telemetry and centralized profile management; Compare EMS and Intune by use case without claiming equivalence</a:t>
            </a:r>
          </a:p>
          <a:p>
            <a:endParaRPr lang="en-GB"/>
          </a:p>
          <a:p>
            <a:r>
              <a:rPr lang="en-GB"/>
              <a:t>Instructor demonstration / expected result: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“FortiClient Architecture &amp; EMS Awareness”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D4-B13-S137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Available modules depend on edition, platform, license and EMS policy; VPN, endpoint telemetry, ZTNA and security features have separate prerequisites; FortiGate remote-access settings and FortiClient profile must align; Client logs are essential state/output when GUI status is insufficient</a:t>
            </a:r>
          </a:p>
          <a:p>
            <a:endParaRPr lang="en-GB"/>
          </a:p>
          <a:p>
            <a:r>
              <a:rPr lang="en-GB"/>
              <a:t>Instructor demonstration / expected result: Record client version, OS, enabled features and profile source.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“FortiClient is an endpoint platform with modular capabilities”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D4-B13-S138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Profile defines gateway, tunnel type and user/certificate parameters as supported; Split/full tunnel and DNS behavior affect traffic path; MFA/SSO/certificate methods require matching FortiGate identity design; Remote-access option support must be checked for exact FortiOS/FortiClient release</a:t>
            </a:r>
          </a:p>
          <a:p>
            <a:endParaRPr lang="en-GB"/>
          </a:p>
          <a:p>
            <a:r>
              <a:rPr lang="en-GB"/>
              <a:t>Instructor demonstration / expected result: Validate client log, assigned address/routes/DNS and FortiGate session state/output.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“VPN profiles encode gateway and authentication intent”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the endpoint is registered to the intended EMS, receives the assigned profile, and its VPN/access session appears on FortiGate. FortiClient/EMS exact release and licensing remain instructor review items. Source: official FortiClient EMS Administration Guide and FortiOS 7.6.7 Administration Guide — endpoint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D4-B13-S140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Endpoint tags/posture can inform access policy where supported; Certificate deployment and trust stores can enable deep inspection or VPN authentication; Client upgrades/profile changes need staged rollout and rollback; Privacy and endpoint-ownership boundaries must be documented</a:t>
            </a:r>
          </a:p>
          <a:p>
            <a:endParaRPr lang="en-GB"/>
          </a:p>
          <a:p>
            <a:r>
              <a:rPr lang="en-GB"/>
              <a:t>Instructor demonstration / expected result: Prove which system owns each control.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“Endpoint integration connects identity, posture and network policy”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D4-B13-S141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Certificate inspection uses visible TLS metadata and does not decrypt payload; Deep inspection requires endpoint trust in the inspection CA and exposes payload to profiles; EMS can help distribute relevant FortiClient/endpoint policy in supported designs; Intune may distribute certificates/configuration, but it does not become EMS or replace FortiGate inspection policy</a:t>
            </a:r>
          </a:p>
          <a:p>
            <a:endParaRPr lang="en-GB"/>
          </a:p>
          <a:p>
            <a:r>
              <a:rPr lang="en-GB"/>
              <a:t>Instructor demonstration / expected result: Validate trust chain on endpoint and the policy’s SSL/SSH profile.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“Inspection profiles on managed endpoints: certificate vs deep inspection”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D4-B13-S142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EMS is FortiClient-centric: profiles, telemetry and network-access integrations; Intune manages broader device/app/compliance configuration in Microsoft ecosystems; They can coexist: Intune enrolls/configures device; EMS manages FortiClient-specific posture/profile; Replacement is use-case specific; never claim blanket feature equivalence</a:t>
            </a:r>
          </a:p>
          <a:p>
            <a:endParaRPr lang="en-GB"/>
          </a:p>
          <a:p>
            <a:r>
              <a:rPr lang="en-GB"/>
              <a:t>Instructor demonstration / expected result: Instructor confirms current product licensing and integration documentation.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“EMS and Intune overlap only in selected endpoint-management tasks”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D4-B13-S143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Endpoint network state and routes/DNS; FortiClient event/VPN logs; EMS profile/telemetry status if used; FortiGate authentication, VPN, policy and session logs</a:t>
            </a:r>
          </a:p>
          <a:p>
            <a:endParaRPr lang="en-GB"/>
          </a:p>
          <a:p>
            <a:r>
              <a:rPr lang="en-GB"/>
              <a:t>Instructor demonstration / expected result: Use one timestamped five-tuple across endpoint, EMS and FortiGate state/output.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“Client troubleshooting correlates four command or log fields”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D4-B13-S144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Requirement: consistent VPN gateway and certificate trust; Choose EMS, Intune or coexistence based on ownership and supported controls; Deploy to a pilot group; Validate client and FortiGate state/output; Define rollback and help-desk signals</a:t>
            </a:r>
          </a:p>
          <a:p>
            <a:endParaRPr lang="en-GB"/>
          </a:p>
          <a:p>
            <a:r>
              <a:rPr lang="en-GB"/>
              <a:t>Instructor demonstration / expected result: No tenant, credential or working deployment is implied.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“Managed VPN profile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D4-B13-S145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D4-B13-S146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Confirm endpoint OS/client/version/license; Verify assigned profile and gateway reachability; Check authentication/certificate trust; Inspect client and EMS logs; Correlate FortiGate VPN/policy/session state/output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D4-B13-S147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Managed test endpoint for live demo; Prerequisite: FortiClient/EMS versions and licensing declared; Goal: Compare two endpoint-management designs and inspect one VPN profile. Live EMS activity requires a supplied tenant, license and supported versions; otherwise use screenshots/documentation supplied by the instructor.;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D4-B13-S148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When can EMS and Intune coexist?; What does FortiClient “connected” fail to prove?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Assuming every FortiClient installation is EMS-managed; Claiming EMS and Intune are interchangeable; Troubleshooting only on the gateway</a:t>
            </a:r>
          </a:p>
          <a:p>
            <a:endParaRPr lang="en-GB"/>
          </a:p>
          <a:p>
            <a:r>
              <a:rPr lang="en-GB"/>
              <a:t>Practical handoff: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endParaRPr lang="en-GB"/>
          </a:p>
          <a:p>
            <a:r>
              <a:rPr lang="en-GB"/>
              <a:t>Official reference for instructor preparation: Official FortiClient and FortiClient EMS Administration Guides for the deployed FortiClient/EMS release; FortiGate/FortiOS 7.6.7 Administration Guide: Remote access and endpoint/ZTNA integration. Confirm licensing and support matrix.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When can EMS and Intune coexist?</a:t>
            </a:r>
          </a:p>
          <a:p>
            <a:r>
              <a:rPr lang="en-GB"/>
              <a:t>A: When ownership is explicit—for example, Intune manages broad device configuration while EMS manages FortiClient-specific profiles and telemetry.</a:t>
            </a:r>
          </a:p>
          <a:p>
            <a:endParaRPr lang="en-GB"/>
          </a:p>
          <a:p>
            <a:r>
              <a:rPr lang="en-GB"/>
              <a:t>Q: What does FortiClient “connected” fail to prove?</a:t>
            </a:r>
          </a:p>
          <a:p>
            <a:r>
              <a:rPr lang="en-GB"/>
              <a:t>A: That routes, DNS, FortiGate policy and the target application path are working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D4-B14-S149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Explain FGCP prerequisites, heartbeat, election and synchronization; Trace Active-Passive failover and session impact; Separate appliance HA demonstration from cloud HA designs</a:t>
            </a:r>
          </a:p>
          <a:p>
            <a:endParaRPr lang="en-GB"/>
          </a:p>
          <a:p>
            <a:r>
              <a:rPr lang="en-GB"/>
              <a:t>Instructor demonstration / expected result: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“FortiGate High Availability Fundamentals” before showing the answer.</a:t>
            </a:r>
          </a:p>
          <a:p>
            <a:endParaRPr lang="en-GB"/>
          </a:p>
          <a:p>
            <a:r>
              <a:rPr lang="en-GB"/>
              <a:t>Azure lab emphasis: use an Azure-supported HA design only if the required pair and Azure networking components are provisioned. The heartbeat, election and session-synchronization explanation also covers physical appliances, but cable/link demonstrations require separate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before failover, members are synchronized and one unit is primary; after the approved trigger, the secondary becomes primary and eligible sessions recover as designed. Azure HA requires the current Fortinet Azure architecture. Source: FortiOS 7.6.7 Administration Guide — FGCP HA, session pickup and failover; FortiGate-VM for Azure HA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D4-B14-S151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Priority, override behavior, monitored interfaces and uptime/state influence election according to configuration; Preemption/override choices affect whether the preferred unit reclaims primary; A stable cluster is more important than repeatedly forcing preferred ownership; Document expected primary and the exact trigger for change</a:t>
            </a:r>
          </a:p>
          <a:p>
            <a:endParaRPr lang="en-GB"/>
          </a:p>
          <a:p>
            <a:r>
              <a:rPr lang="en-GB"/>
              <a:t>Instructor demonstration / expected result: Show member state and election-relevant values on both units.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“Election selects the current primary using ordered criteria”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D4-B14-S152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Most configuration is synchronized; some member-specific settings remain local; Session pickup/session synchronization must be configured and supported for desired protocols/features; Security engine and dynamic state behavior may vary during failover; Checksum mismatch requires investigation before relying on redundancy</a:t>
            </a:r>
          </a:p>
          <a:p>
            <a:endParaRPr lang="en-GB"/>
          </a:p>
          <a:p>
            <a:r>
              <a:rPr lang="en-GB"/>
              <a:t>Instructor demonstration / expected result: Compare cluster checksums and one test session before/after controlled failover.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“Synchronization preserves cluster configuration and selected runtime state”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D4-B14-S153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Heartbeat loss, monitored interface failure and device failure are distinct events; Link-monitor/path health mechanisms may be needed beyond physical interface state; Failover time includes detection, election, forwarding convergence and upstream learning; Flapping monitored links can cause repeated disruption</a:t>
            </a:r>
          </a:p>
          <a:p>
            <a:endParaRPr lang="en-GB"/>
          </a:p>
          <a:p>
            <a:r>
              <a:rPr lang="en-GB"/>
              <a:t>Instructor demonstration / expected result: Declare expected trigger, timer and convergence state/output before test.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“Monitored failures trigger role change only when configured”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D4-B14-S154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Synced eligible sessions can continue with limited interruption; Unsynchronized or unsupported sessions must be re-established; NAT, IPsec, routing and authentication state have specific HA considerations; Measure user impact, not only role change</a:t>
            </a:r>
          </a:p>
          <a:p>
            <a:endParaRPr lang="en-GB"/>
          </a:p>
          <a:p>
            <a:r>
              <a:rPr lang="en-GB"/>
              <a:t>Instructor demonstration / expected result: Track session on both members and packet loss during failover.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“Session behavior depends on synchronization and traffic type”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D4-B14-S155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Firmware/model mismatch prevents expected formation; Heartbeat VLAN/switch behavior can introduce loss or loops; Duplicate management/IP design can make a healthy cluster appear unreachable; Upstream/downstream MAC/ARP convergence can dominate outage time</a:t>
            </a:r>
          </a:p>
          <a:p>
            <a:endParaRPr lang="en-GB"/>
          </a:p>
          <a:p>
            <a:r>
              <a:rPr lang="en-GB"/>
              <a:t>Instructor demonstration / expected result: Capture heartbeat/role events plus adjacent switch/router state/output.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HA faults cluster around prerequisites and Layer 2”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[OPTIONAL DEEP DIVE] Stable ID: D4-B14-S156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Cloud instances lack physical heartbeat/transparent L2 assumptions in many designs; Routing, load balancers, APIs and provider failover mechanisms may be required; Licensing and bootstrap/state synchronization depend on marketplace/deployment model; Use the exact Fortinet cloud deployment guide for the platform</a:t>
            </a:r>
          </a:p>
          <a:p>
            <a:endParaRPr lang="en-GB"/>
          </a:p>
          <a:p>
            <a:r>
              <a:rPr lang="en-GB"/>
              <a:t>Instructor demonstration / expected result: Keep cloud HA conceptual unless the cloud architecture and permissions are supplied.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“Cloud HA is a provider-integrated design, not an appliance clone”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D4-B14-S157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Record primary/secondary and sync state; Generate an eligible test session; Trigger one approved monitored failure; Measure role, packet loss and session result; Restore and confirm stable resynchronization</a:t>
            </a:r>
          </a:p>
          <a:p>
            <a:endParaRPr lang="en-GB"/>
          </a:p>
          <a:p>
            <a:r>
              <a:rPr lang="en-GB"/>
              <a:t>Instructor demonstration / expected result: Success includes expected service behavior and clean recovery.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“Controlled Active-Passive failover”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D4-B14-S158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D4-B14-S159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Check member compatibility and heartbeat; Confirm role/election and sync checksums; Inspect monitored failure event; Separate role change from network convergence; Validate session/application recovery and resync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D4-B14-S160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Two compatible appliances or instructor demonstration; Prerequisite: Dedicated heartbeat links and matching configuration prerequisites; Goal: Instructor demonstrates a controlled failover on a dedicated pair; learners predict election and session outcome. If no pair exists, analyze an event timeline and configuration checklist.;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D4-B14-S161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What is the heartbeat used for?; Why can traffic remain interrupted after the secondary becomes primary?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Building HA with mismatched firmware or modes; Assuming configuration sync means all sessions survive; Testing cloud HA with appliance assumptions</a:t>
            </a:r>
          </a:p>
          <a:p>
            <a:endParaRPr lang="en-GB"/>
          </a:p>
          <a:p>
            <a:r>
              <a:rPr lang="en-GB"/>
              <a:t>Practical handoff: Instructor demonstrates a controlled failover on a dedicated pair; learners predict election and session outcome. If no pair exists, analyze an event timeline and configuration checklist.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FGCP HA; Primary election; Session pickup; HA troubleshooting. Model-specific and cloud-provider deployment guides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What is the heartbeat used for?</a:t>
            </a:r>
          </a:p>
          <a:p>
            <a:r>
              <a:rPr lang="en-GB"/>
              <a:t>A: Member health, election and synchronization/control exchange between cluster units.</a:t>
            </a:r>
          </a:p>
          <a:p>
            <a:endParaRPr lang="en-GB"/>
          </a:p>
          <a:p>
            <a:r>
              <a:rPr lang="en-GB"/>
              <a:t>Q: Why can traffic remain interrupted after the secondary becomes primary?</a:t>
            </a:r>
          </a:p>
          <a:p>
            <a:r>
              <a:rPr lang="en-GB"/>
              <a:t>A: Adjacent network convergence, unsynchronized sessions or dependent routing/security state may still be recovering.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D4-B15-S162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Build SD-WAN from members, zones, health checks and rules; Predict SLA-based application path selection and failover; Place FortiAnalyzer, FortiManager and security services without inventing entitlements</a:t>
            </a:r>
          </a:p>
          <a:p>
            <a:endParaRPr lang="en-GB"/>
          </a:p>
          <a:p>
            <a:r>
              <a:rPr lang="en-GB"/>
              <a:t>Instructor demonstration / expected result: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“Fortinet SD-WAN &amp; Design Considerations”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Illustrative values only. Expected result: before degradation, the new voice session uses ISP-A; after ISP-A fails the stated SLA, a new session uses ISP-B. Confirm actual egress in SD-WAN service state and session output. Source: FortiOS 7.6.7 Administration Guide — SD-WAN performance SLA and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D4-B15-S164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Target should represent the path/service dependency, not only the next-hop router; Latency, jitter and packet loss thresholds define SLA state as supported; Probe interval/fail/recovery settings trade responsiveness against instability; Multiple targets can reduce false positives but complicate interpretation</a:t>
            </a:r>
          </a:p>
          <a:p>
            <a:endParaRPr lang="en-GB"/>
          </a:p>
          <a:p>
            <a:r>
              <a:rPr lang="en-GB"/>
              <a:t>Instructor demonstration / expected result: Compare raw measurements, SLA state and application experience.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“Health checks must measure the service you care about”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D4-B15-S165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 member can be up but out of SLA; Rules can prefer, balance or choose based on quality/cost strategies as supported; Hysteresis/recovery behavior prevents oscillation; Existing sessions may remain pinned while new sessions choose differently</a:t>
            </a:r>
          </a:p>
          <a:p>
            <a:endParaRPr lang="en-GB"/>
          </a:p>
          <a:p>
            <a:r>
              <a:rPr lang="en-GB"/>
              <a:t>Instructor demonstration / expected result: Record rule, threshold, member SLA state and selected session interface.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“SLA criteria turn measurements into path eligibility”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D4-B15-S166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Rules can use address/service/application constructs depending on design; Application identity may be learned after initial packets; Fallback/default rule must be intentional; Security profiles and SSL visibility affect application identification</a:t>
            </a:r>
          </a:p>
          <a:p>
            <a:endParaRPr lang="en-GB"/>
          </a:p>
          <a:p>
            <a:r>
              <a:rPr lang="en-GB"/>
              <a:t>Instructor demonstration / expected result: Use session details and logs to confirm the final matched rule/member.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“Application steering depends on identification timing”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D4-B15-S167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Probe detects threshold breach; Rule removes or de-prioritizes member; New sessions select another eligible path; Existing session continuity depends on NAT, remote state and design</a:t>
            </a:r>
          </a:p>
          <a:p>
            <a:endParaRPr lang="en-GB"/>
          </a:p>
          <a:p>
            <a:r>
              <a:rPr lang="en-GB"/>
              <a:t>Instructor demonstration / expected result: Test new and long-lived flows separately.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“Failover is detection plus session/application recovery”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D4-B15-S168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Check member/health-check state; Confirm rule match and priority/strategy; Inspect route/policy/session chosen interface; Capture packets at candidate egresses; Correlate traffic logs with SLA events</a:t>
            </a:r>
          </a:p>
          <a:p>
            <a:endParaRPr lang="en-GB"/>
          </a:p>
          <a:p>
            <a:r>
              <a:rPr lang="en-GB"/>
              <a:t>Instructor demonstration / expected result: A clean proof names rule, member, NAT address and return packets.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“Verify the actual egress path, not the intended diagram”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D4-B15-S169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FortiAnalyzer centralizes logs, analytics and reporting workflows; FortiManager centralizes configuration, policy packages and controlled deployment; FortiOS includes local management, routing, SD-WAN and security capabilities subject to platform/build; Security services and cloud subscriptions add update/intelligence/management value; exact entitlement must be verified</a:t>
            </a:r>
          </a:p>
          <a:p>
            <a:endParaRPr lang="en-GB"/>
          </a:p>
          <a:p>
            <a:r>
              <a:rPr lang="en-GB"/>
              <a:t>Instructor demonstration / expected result: Instructor reviews current order/contract and Fortinet product documentation.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“FortiAnalyzer and FortiManager solve different operational problems”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[OPTIONAL DEEP DIVE] Stable ID: D4-B15-S170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Base FortiOS feature availability varies by model/release; FortiGuard services require relevant subscriptions and connectivity; Manager/analyzer cloud/on-prem offerings have separate sizing and licensing; Avoid promising retention, device counts or service entitlement without current documentation</a:t>
            </a:r>
          </a:p>
          <a:p>
            <a:endParaRPr lang="en-GB"/>
          </a:p>
          <a:p>
            <a:r>
              <a:rPr lang="en-GB"/>
              <a:t>Instructor demonstration / expected result: Create a validation checklist rather than a price/entitlement claim.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“Licensing boundaries are a validation task, not a memory test”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Expected result: ISP-A reports out-of-SLA values, the voice rule selects ISP-B, and a new session shows ISP-B as egress with the expected source NAT. Source: FortiOS 7.6.7 Administration Guide — SD-WAN diagnostics and session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D4-B15-S172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D4-B15-S173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Check member/link and probe reachability; Review SLA raw values and threshold state; Confirm matched SD-WAN rule; Inspect route, policy, session and NAT egress; Capture both links; test new session and recovery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D4-B15-S174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Two WAN paths or instructor simulation; Prerequisite: Defined performance targets and test applications; Goal: Create or analyze one health check and two rules, predict path under normal/degraded conditions, then verify selected member. If two links are unavailable, use an instructor-provided state table.;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D4-B15-S175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What is the difference between a member being up and in SLA?; What proves the selected path?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Probing only the local gateway; Expecting an existing session to move seamlessly; Assuming FortiAnalyzer or FortiManager is included/licensed</a:t>
            </a:r>
          </a:p>
          <a:p>
            <a:endParaRPr lang="en-GB"/>
          </a:p>
          <a:p>
            <a:r>
              <a:rPr lang="en-GB"/>
              <a:t>Practical handoff: Create or analyze one health check and two rules, predict path under normal/degraded conditions, then verify selected member. If two links are unavailable, use an instructor-provided state table.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SD-WAN members/zones; Performance SLA; SD-WAN rules; Diagnostics. Official FortiManager, FortiAnalyzer and FortiGuard service documentation for current licensing.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What is the difference between a member being up and in SLA?</a:t>
            </a:r>
          </a:p>
          <a:p>
            <a:r>
              <a:rPr lang="en-GB"/>
              <a:t>A: Up indicates basic availability; in-SLA means measured criteria meet the rule’s thresholds.</a:t>
            </a:r>
          </a:p>
          <a:p>
            <a:endParaRPr lang="en-GB"/>
          </a:p>
          <a:p>
            <a:r>
              <a:rPr lang="en-GB"/>
              <a:t>Q: What proves the selected path?</a:t>
            </a:r>
          </a:p>
          <a:p>
            <a:r>
              <a:rPr lang="en-GB"/>
              <a:t>A: Rule/service state plus session egress/NAT and packet or traffic-log state/output on the chosen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D4-B16-S176</a:t>
            </a:r>
          </a:p>
          <a:p>
            <a:endParaRPr lang="en-GB"/>
          </a:p>
          <a:p>
            <a:r>
              <a:rPr lang="en-GB"/>
              <a:t>Approximate timing: 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Relate session scale, offload, inspection and resource use; Troubleshoot CPU, memory and Conserve Mode from state/output; Complete an integrated policy/routing/VPN/SD-WAN capstone</a:t>
            </a:r>
          </a:p>
          <a:p>
            <a:endParaRPr lang="en-GB"/>
          </a:p>
          <a:p>
            <a:r>
              <a:rPr lang="en-GB"/>
              <a:t>Instructor demonstration / expected result: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“Performance Optimization, Advanced Troubleshooting &amp; Capstone”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D4-B16-S177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Concurrent sessions differ from new sessions per second; Long-lived, idle and half-open sessions consume different operational attention; NAT, inspection and logging add state/resources; Use model datasheet and measured baseline; never copy a generic maximum into design</a:t>
            </a:r>
          </a:p>
          <a:p>
            <a:endParaRPr lang="en-GB"/>
          </a:p>
          <a:p>
            <a:r>
              <a:rPr lang="en-GB"/>
              <a:t>Instructor demonstration / expected result: Compare session count/rate, timeout distribution and peak trend.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“Session-table sizing begins with traffic behavior”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[OPTIONAL DEEP DIVE] Stable ID: D4-B16-S178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Check whether the session and enabled features are eligible; First packets and exception traffic can remain on CPU; VM acceleration uses hypervisor/cloud mechanisms rather than appliance NP/CP; A no-offload flag is state/output to investigate, not automatic misconfiguration</a:t>
            </a:r>
          </a:p>
          <a:p>
            <a:endParaRPr lang="en-GB"/>
          </a:p>
          <a:p>
            <a:r>
              <a:rPr lang="en-GB"/>
              <a:t>Instructor demonstration / expected result: Use model-specific documentation and session diagnostics.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“Hardware offload validation must be platform specific”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D4-B16-S179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Identify whether load is sustained or bursty; Locate responsible processes/cores and traffic changes; Correlate policy/profile, routing events, logging and session setup; Avoid restarting before preserving state/output and understanding impact</a:t>
            </a:r>
          </a:p>
          <a:p>
            <a:endParaRPr lang="en-GB"/>
          </a:p>
          <a:p>
            <a:r>
              <a:rPr lang="en-GB"/>
              <a:t>Instructor demonstration / expected result: Capture performance status/top samples and event timeline.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“CPU troubleshooting starts with time and workload correlation”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D4-B16-S180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Track used memory, proxy buffers, sessions and process growth; Conserve Mode is triggered by system memory thresholds and protects stability; Entry/exit thresholds and behavior must be confirmed for exact build/model; A reboot removes state/output and may only postpone recurrence</a:t>
            </a:r>
          </a:p>
          <a:p>
            <a:endParaRPr lang="en-GB"/>
          </a:p>
          <a:p>
            <a:r>
              <a:rPr lang="en-GB"/>
              <a:t>Instructor demonstration / expected result: Use release-specific Conserve Mode documentation and support guidance.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“Memory management requires trend, consumers and thresholds”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D4-B16-S181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First protect stability and reduce unsafe load; Identify whether sessions, proxy inspection or a process dominates; Apply scoped mitigation and monitor exit/re-entry; Escalate with state/output when leak/defect is suspected</a:t>
            </a:r>
          </a:p>
          <a:p>
            <a:endParaRPr lang="en-GB"/>
          </a:p>
          <a:p>
            <a:r>
              <a:rPr lang="en-GB"/>
              <a:t>Instructor demonstration / expected result: Resolution includes stable memory below recovery threshold and no recurring event.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“Conserve Mode changes the troubleshooting priority”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D4-B16-S182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Deep inspection adds TLS termination, certificate generation and content scanning; Cipher suites, key sizes, session resumption and traffic mix affect cost; Certificate inspection has lower visibility and generally lower processing cost; Capacity planning must use representative encrypted traffic and enabled profiles</a:t>
            </a:r>
          </a:p>
          <a:p>
            <a:endParaRPr lang="en-GB"/>
          </a:p>
          <a:p>
            <a:r>
              <a:rPr lang="en-GB"/>
              <a:t>Instructor demonstration / expected result: Do not extrapolate one lab VM result to appliance capacity.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“SSL inspection has measurable compute and compatibility cost”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D4-B16-S183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AV, IPS, Web and App Control engage different engines and update packages; Encrypted traffic requires sufficient inspection visibility before content scanning; Logging volume and disk/remote transport can become bottlenecks; Profile tuning should preserve security requirements and use measured state/output</a:t>
            </a:r>
          </a:p>
          <a:p>
            <a:endParaRPr lang="en-GB"/>
          </a:p>
          <a:p>
            <a:r>
              <a:rPr lang="en-GB"/>
              <a:t>Instructor demonstration / expected result: Compare security events, CPU/memory and user impact.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“Security profiles consume resources according to traffic mix”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D4-B16-S184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Start with symptom and exact five-tuple/time; Check physical/interface and routing; Check policy/NAT/session; Check VPN/SD-WAN/security-profile layers as applicable; Check resource pressure and recent changes last/throughout</a:t>
            </a:r>
          </a:p>
          <a:p>
            <a:endParaRPr lang="en-GB"/>
          </a:p>
          <a:p>
            <a:r>
              <a:rPr lang="en-GB"/>
              <a:t>Instructor demonstration / expected result: Stop, reset and document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“An state/output ladder prevents random configuration changes”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D4-B16-S185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Client 10.10.10.25 in HQ user LAN; Branch server 10.20.10.50 reached through IPsec/ADVPN or SD-WAN member; HQ DMZ server 10.10.20.10 published by VIP where applicable; ISP-A 203.0.113.0/30 and ISP-B 198.51.100.0/30 are documentation ranges</a:t>
            </a:r>
          </a:p>
          <a:p>
            <a:endParaRPr lang="en-GB"/>
          </a:p>
          <a:p>
            <a:r>
              <a:rPr lang="en-GB"/>
              <a:t>Instructor demonstration / expected result: No Azure design, credentials or student ranges are implied.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“Capstone topology uses one consistent illustrative design”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D4-B16-S186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User reports HTTPS timeout to branch application; DNS answer is correct and must be recorded; Traffic may fail at policy, overlay route, SD-WAN rule or resource pressure; Teams must avoid changing more than one variable at a time</a:t>
            </a:r>
          </a:p>
          <a:p>
            <a:endParaRPr lang="en-GB"/>
          </a:p>
          <a:p>
            <a:r>
              <a:rPr lang="en-GB"/>
              <a:t>Instructor demonstration / expected result: Success is localization with state/output, not fastest guessing.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“Capstone symptom: application is intermittently unreachable”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D4-B16-S187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Fault A: disabled/narrowed lab policy or wrong service object; Fault B: missing/more-specific route or mismatched VPN selector; Fault C: SD-WAN SLA target/rule steers to failed lab path; Optional observation: elevated memory metric from instructor-provided snapshot—no synthetic Conserve Mode on shared equipment</a:t>
            </a:r>
          </a:p>
          <a:p>
            <a:endParaRPr lang="en-GB"/>
          </a:p>
          <a:p>
            <a:r>
              <a:rPr lang="en-GB"/>
              <a:t>Instructor demonstration / expected result: Never claim hardware/EMS/HA faults are live if resources are absent.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“Capstone fault set is chosen from achievable prerequisites”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D4-B16-S188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Exact test tuple, timestamp and expected path; Route/PBR/SD-WAN decision; Matched policy, NAT and session state; VPN SA/selectors/counters when used; Packet/log state/output and CPU/memory status</a:t>
            </a:r>
          </a:p>
          <a:p>
            <a:endParaRPr lang="en-GB"/>
          </a:p>
          <a:p>
            <a:r>
              <a:rPr lang="en-GB"/>
              <a:t>Instructor demonstration / expected result: Teams submit a concise before/after state/output table.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“Capstone troubleshooting record connects every layer”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D4-B16-S189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Reproduce once and freeze the test definition; Predict path using route, policy and overlay state; Collect minimally invasive state/output; Name the failed decision and proposed change; Apply approved change; retest; restore injected fault baseline</a:t>
            </a:r>
          </a:p>
          <a:p>
            <a:endParaRPr lang="en-GB"/>
          </a:p>
          <a:p>
            <a:r>
              <a:rPr lang="en-GB"/>
              <a:t>Instructor demonstration / expected result: Document every disruptive command.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“Capstone workflow: localize before remediation”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D4-B16-S190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Expected route/member/tunnel selected; Correct policy/VIP/NAT and security profile applied; Bidirectional packets and session byte counters increase; Application succeeds without Conserve Mode or abnormal resource trend; Rollback remains available and intentional faults are removed</a:t>
            </a:r>
          </a:p>
          <a:p>
            <a:endParaRPr lang="en-GB"/>
          </a:p>
          <a:p>
            <a:r>
              <a:rPr lang="en-GB"/>
              <a:t>Instructor demonstration / expected result: Debrief explains why each misleading clue did not prove the path.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“Capstone resolution criteria are observable”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[OPTIONAL DEEP DIVE] Stable ID: D4-B16-S191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Expected result: route and tunnel are healthy; debug/log shows deny or wrong policy/service; Fix: restore intended lab object/policy order/action; Retest: new HTTPS tuple matches intended policy and logs accept; Debrief: route reachability did not imply policy permission</a:t>
            </a:r>
          </a:p>
          <a:p>
            <a:endParaRPr lang="en-GB"/>
          </a:p>
          <a:p>
            <a:r>
              <a:rPr lang="en-GB"/>
              <a:t>Instructor demonstration / expected result: Answer key belongs in notes; visible slide shows state/output structure.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“Instructor answer key: policy fault”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[OPTIONAL DEEP DIVE] Stable ID: D4-B16-S192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Expected result: policy is plausible but route selects wrong interface or Phase 2 counters are one-sided; Fix: restore exact lab route or reciprocal selector/return route; Retest: tunnel counters increase both directions and session uses tunnel; Debrief: Phase 1 up did not prove the protected subnet path</a:t>
            </a:r>
          </a:p>
          <a:p>
            <a:endParaRPr lang="en-GB"/>
          </a:p>
          <a:p>
            <a:r>
              <a:rPr lang="en-GB"/>
              <a:t>Instructor demonstration / expected result: No production route manipulation.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“Instructor answer key: route/VPN fault”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[OPTIONAL DEEP DIVE] Stable ID: D4-B16-S193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Expected result: rule/SLA selects degraded member, or instructor snapshot shows memory protection event; Fix: correct lab SLA target/rule or apply scoped resource mitigation per runbook; Retest: new session uses healthy member; memory remains stable below recovery threshold; Debrief: link-up and role state were incomplete state/output</a:t>
            </a:r>
          </a:p>
          <a:p>
            <a:endParaRPr lang="en-GB"/>
          </a:p>
          <a:p>
            <a:r>
              <a:rPr lang="en-GB"/>
              <a:t>Instructor demonstration / expected result: Do not intentionally drive a shared unit into Conserve Mode.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“Instructor answer key: SD-WAN/resource fault”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[OPTIONAL DEEP DIVE] Stable ID: D4-B16-S194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State model, exact FortiOS build and topology; Give timestamps, timezone, symptom and reproduction; Include filtered diagnostics and before/after change record; Remove credentials/private data and identify business impact</a:t>
            </a:r>
          </a:p>
          <a:p>
            <a:endParaRPr lang="en-GB"/>
          </a:p>
          <a:p>
            <a:r>
              <a:rPr lang="en-GB"/>
              <a:t>Instructor demonstration / expected result: Follow organizational and Fortinet support data-collection guidance.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“Operational escalation package makes support efficient”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D4-B16-S195</a:t>
            </a:r>
          </a:p>
          <a:p>
            <a:endParaRPr lang="en-GB"/>
          </a:p>
          <a:p>
            <a:r>
              <a:rPr lang="en-GB"/>
              <a:t>Approximate timing: 7–9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Teams receive symptom plus one or two declared achievable faults; They predict expected path and collect route/policy/session/overlay/resource state/output; They propose one reversible change; They prove restoration and remove intentional faults; Class compares state/output quality and false leads</a:t>
            </a:r>
          </a:p>
          <a:p>
            <a:endParaRPr lang="en-GB"/>
          </a:p>
          <a:p>
            <a:r>
              <a:rPr lang="en-GB"/>
              <a:t>Instructor demonstration / expected result: Instructor selects fault set based on actual lab resources.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“Integrated triage rehearsal”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D4-B16-S196</a:t>
            </a:r>
          </a:p>
          <a:p>
            <a:endParaRPr lang="en-GB"/>
          </a:p>
          <a:p>
            <a:r>
              <a:rPr lang="en-GB"/>
              <a:t>Approximate timing: 4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Instructor demonstration / expected result: Record the smallest safe test that separates the competing explanations.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“Common mistakes change the state/output pattern”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D4-B16-S197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Define tuple/time/symptom; Check route/PBR/SD-WAN/VPN state; Check policy/NAT/session/logs; Check packet direction and security profile; Check CPU/memory/Conserve events and validate one reversible fix</a:t>
            </a:r>
          </a:p>
          <a:p>
            <a:endParaRPr lang="en-GB"/>
          </a:p>
          <a:p>
            <a:r>
              <a:rPr lang="en-GB"/>
              <a:t>Instructor demonstration / expected result: Preserve timestamps and before/after state; stop/reset debug operations.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“Troubleshooting workflow: narrow the failed decision”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D4-B16-S198</a:t>
            </a:r>
          </a:p>
          <a:p>
            <a:endParaRPr lang="en-GB"/>
          </a:p>
          <a:p>
            <a:r>
              <a:rPr lang="en-GB"/>
              <a:t>Approximate timing: 2–3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Prerequisite: Read-only performance access; Prerequisite: Baseline or instructor-provided metrics; Goal: Run the integrated capstone with one or two achievable lab faults. Required state/output: symptom, expected path, failed decision, reversible fix, bidirectional proof and resource sanity check. Debrief removes every intentional fault.; Expected state/output: configuration/state plus traffic or log proof; Debrief: compare prediction with state/output; restore intentional changes</a:t>
            </a:r>
          </a:p>
          <a:p>
            <a:endParaRPr lang="en-GB"/>
          </a:p>
          <a:p>
            <a:r>
              <a:rPr lang="en-GB"/>
              <a:t>Instructor demonstration / expected result: Instructor confirms resources and environment-specific placeholders before the exercise.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“Practical handoff: predict, observe, explain”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D4-B16-S199</a:t>
            </a:r>
          </a:p>
          <a:p>
            <a:endParaRPr lang="en-GB"/>
          </a:p>
          <a:p>
            <a:r>
              <a:rPr lang="en-GB"/>
              <a:t>Approximate timing: 5–7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What is the first deliverable in the capstone?; When is the incident resolved?</a:t>
            </a:r>
          </a:p>
          <a:p>
            <a:endParaRPr lang="en-GB"/>
          </a:p>
          <a:p>
            <a:r>
              <a:rPr lang="en-GB"/>
              <a:t>Instructor demonstration / expected result: Require a reason or command or log field, not only a one-word answer.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What is the first deliverable in the capstone?</a:t>
            </a:r>
          </a:p>
          <a:p>
            <a:r>
              <a:rPr lang="en-GB"/>
              <a:t>A: A precise symptom/test definition: timestamp, five-tuple, expected path and success criterion.</a:t>
            </a:r>
          </a:p>
          <a:p>
            <a:endParaRPr lang="en-GB"/>
          </a:p>
          <a:p>
            <a:r>
              <a:rPr lang="en-GB"/>
              <a:t>Q: When is the incident resolved?</a:t>
            </a:r>
          </a:p>
          <a:p>
            <a:r>
              <a:rPr lang="en-GB"/>
              <a:t>A: When the intended path/policy/overlay is proven, bidirectional application traffic succeeds, resources are stable and injected faults are removed with rollback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D4-B16-S200</a:t>
            </a:r>
          </a:p>
          <a:p>
            <a:endParaRPr lang="en-GB"/>
          </a:p>
          <a:p>
            <a:r>
              <a:rPr lang="en-GB"/>
              <a:t>Approximate timing: 5–10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Every block includes theory, worked state/output, mistakes, troubleshooting, practical handoff and knowledge check; Advanced coverage completes BGP, IPsec/ADVPN, VPN validation, FortiClient/EMS, HA, SD-WAN and performance; Optional deep dives are marked in notes; practice time is protected; Instructor validates FortiOS 7.6.7 build, platform, licensing and lab topology before delivery</a:t>
            </a:r>
          </a:p>
          <a:p>
            <a:endParaRPr lang="en-GB"/>
          </a:p>
          <a:p>
            <a:r>
              <a:rPr lang="en-GB"/>
              <a:t>Instructor demonstration / expected result: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Changing policy, route and tunnel simultaneously; Clearing sessions or restarting before preserving state/output; Using a VM result to claim appliance offload/capacity</a:t>
            </a:r>
          </a:p>
          <a:p>
            <a:endParaRPr lang="en-GB"/>
          </a:p>
          <a:p>
            <a:r>
              <a:rPr lang="en-GB"/>
              <a:t>Practical handoff: Run the integrated capstone with one or two achievable lab faults. Required state/output: symptom, expected path, failed decision, reversible fix, bidirectional proof and resource sanity check. Debrief removes every intentional fault.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System performance; Sessions; Hardware acceleration; Conserve Mode; SSL inspection; Troubleshooting. Exact model hardware guide, CLI Reference and release notes required.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Knowledge check answer key:</a:t>
            </a:r>
          </a:p>
          <a:p>
            <a:endParaRPr lang="en-GB"/>
          </a:p>
          <a:p>
            <a:r>
              <a:rPr lang="en-GB"/>
              <a:t>Q: What state/output chain should a FortiGate administrator build?</a:t>
            </a:r>
          </a:p>
          <a:p>
            <a:r>
              <a:rPr lang="en-GB"/>
              <a:t>A: Tuple/time → route/PBR/SD-WAN/VPN → policy/NAT/session → packet/log/profile → CPU/memory state.</a:t>
            </a:r>
          </a:p>
          <a:p>
            <a:endParaRPr lang="en-GB"/>
          </a:p>
          <a:p>
            <a:r>
              <a:rPr lang="en-GB"/>
              <a:t>Q: What remains to be confirmed before delivery?</a:t>
            </a:r>
          </a:p>
          <a:p>
            <a:r>
              <a:rPr lang="en-GB"/>
              <a:t>A: Exact FortiOS 7.6.x build, platform/model, feature support, licensing and actual lab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D1-B01-S004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Two Foundations days followed by two Advanced days; basic routing precedes policy/NAT dependencies and dynamic routing.; Generic objectives replaced by topic facts, worked traffic, decision state/output, mistakes and troubleshooting.; FortiLink, hardware planes/offload, Conserve Mode, expanded OSPF/BGP, IPsec/ADVPN, EMS, HA, SD-WAN and capstone.; Editable PowerPoint, existing red/navy visual language, widescreen aspect ratio and proportionate optional authentication context in notes.</a:t>
            </a:r>
          </a:p>
          <a:p>
            <a:endParaRPr lang="en-GB"/>
          </a:p>
          <a:p>
            <a:r>
              <a:rPr lang="en-GB"/>
              <a:t>Instructor demonstration / expected result: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“Change summary” before showing the answer.</a:t>
            </a:r>
          </a:p>
          <a:p>
            <a:r>
              <a:rPr lang="en-GB"/>
              <a:t>Instructor-only production information. Do not present during student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D1-B01-S005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FortiOS 7.6.7; Azure FortiGate-VM lab platform; FortiClient/EMS versions and licensing; Available HA, FortiSwitch, dual-WAN and VPN resources; Use placeholders until mappings are supplied; Filter and stop/reset all debug; Treat session clearing, restore and firmware changes as disruptive; Do not drive shared equipment into Conserve Mode; LDAP/RADIUS/FSSO details retained as optional discussion in identity/policy notes; ASIC, cloud HA and EMS live tasks are demonstrations unless prerequisites exist; Licensing claims require current contract/product documents</a:t>
            </a:r>
          </a:p>
          <a:p>
            <a:endParaRPr lang="en-GB"/>
          </a:p>
          <a:p>
            <a:r>
              <a:rPr lang="en-GB"/>
              <a:t>Instructor demonstration / expected result: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“Assumptions and validation” before showing the answer.</a:t>
            </a:r>
          </a:p>
          <a:p>
            <a:r>
              <a:rPr lang="en-GB"/>
              <a:t>Instructor-only production information. Do not present during student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D1-B01-S006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Block 1: slides 8–17; Block 2: slides 18–27; Block 3: slides 28–37; Block 4: slides 38–47; Block 5: slides 48–57; Block 6: slides 58–67; Block 7: slides 68–77; Block 8: slides 78–86</a:t>
            </a:r>
          </a:p>
          <a:p>
            <a:endParaRPr lang="en-GB"/>
          </a:p>
          <a:p>
            <a:r>
              <a:rPr lang="en-GB"/>
              <a:t>Instructor demonstration / expected result: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“Coverage matrix 1-8” before showing the answer.</a:t>
            </a:r>
          </a:p>
          <a:p>
            <a:r>
              <a:rPr lang="en-GB"/>
              <a:t>Instructor-only production information. Do not present during student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[CORE LECTURE] Stable ID: D1-B01-S007</a:t>
            </a:r>
          </a:p>
          <a:p>
            <a:endParaRPr lang="en-GB"/>
          </a:p>
          <a:p>
            <a:r>
              <a:rPr lang="en-GB"/>
              <a:t>Approximate timing: 4–6 minutes. Protect the block’s practical/discussion reserve; skip optional slides when time is short.</a:t>
            </a:r>
          </a:p>
          <a:p>
            <a:endParaRPr lang="en-GB"/>
          </a:p>
          <a:p>
            <a:r>
              <a:rPr lang="en-GB"/>
              <a:t>Explanation: Block 9: slides 87–96; Block 10: slides 97–109; Block 11: slides 110–122; Block 12: slides 123–135; Block 13: slides 136–148; Block 14: slides 149–161; Block 15: slides 162–175; Block 16: slides 176–199</a:t>
            </a:r>
          </a:p>
          <a:p>
            <a:endParaRPr lang="en-GB"/>
          </a:p>
          <a:p>
            <a:r>
              <a:rPr lang="en-GB"/>
              <a:t>Instructor demonstration / expected result: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Illustrative topology note: addresses and interface names are documentation examples only. Replace &lt;port&gt;, &lt;peer&gt;, &lt;policy-id&gt;, &lt;VDOM&gt; and lab-specific values before class.</a:t>
            </a:r>
          </a:p>
          <a:p>
            <a:endParaRPr lang="en-GB"/>
          </a:p>
          <a:p>
            <a:r>
              <a:rPr lang="en-GB"/>
              <a:t>Typical mistakes to surface: Treating DNS success as proof of end-to-end reachability; Assuming destination port proves the application; Looking at policy without checking route/return path</a:t>
            </a:r>
          </a:p>
          <a:p>
            <a:endParaRPr lang="en-GB"/>
          </a:p>
          <a:p>
            <a:r>
              <a:rPr lang="en-GB"/>
              <a:t>Practical handoff: Learners predict and then trace one illustrative TCP flow. Prerequisite: reachable lab FortiGate or instructor demonstration; state/output: route, policy ID, session tuple and bidirectional packets.</a:t>
            </a:r>
          </a:p>
          <a:p>
            <a:endParaRPr lang="en-GB"/>
          </a:p>
          <a:p>
            <a:r>
              <a:rPr lang="en-GB"/>
              <a:t>Official reference for instructor preparation: FortiGate/FortiOS 7.6.7 Administration Guide: Life of a packet; Sessions; Debugging the packet flow. CLI syntax cross-check: FortiOS 7.6.7 CLI Reference.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Discussion prompt: Ask learners to predict the state/output for “Coverage matrix 9-16” before showing the answer.</a:t>
            </a:r>
          </a:p>
          <a:p>
            <a:r>
              <a:rPr lang="en-GB"/>
              <a:t>Instructor-only production information. Do not present during student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FORTIGATE ADMINISTRATOR COURSE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74980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5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to operational readiness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873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65836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FORTIGATE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261872"/>
            <a:ext cx="777240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800" b="1">
                <a:solidFill>
                  <a:srgbClr val="FFFFFF"/>
                </a:solidFill>
              </a:rPr>
              <a:t>Administrator Course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58368" y="1975104"/>
            <a:ext cx="658368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200" b="1">
                <a:solidFill>
                  <a:srgbClr val="D8E0EA"/>
                </a:solidFill>
              </a:rPr>
              <a:t>Foundations + Advanced • v1.3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76656" y="2670048"/>
            <a:ext cx="96926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0">
                <a:solidFill>
                  <a:srgbClr val="FFFFFF"/>
                </a:solidFill>
              </a:rPr>
              <a:t>Four days • 16 instructor-led blocks • theory with practical handoffs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76656" y="3310128"/>
            <a:ext cx="987552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C9D1DD"/>
                </a:solidFill>
              </a:rPr>
              <a:t>Lab baseline: FortiOS 7.6.7 on Azure FortiGate-VM • physical appliance theory included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6656" y="5047488"/>
            <a:ext cx="1047902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>
            <a:spLocks/>
          </p:cNvSpPr>
          <p:nvPr/>
        </p:nvSpPr>
        <p:spPr>
          <a:xfrm>
            <a:off x="676656" y="5340096"/>
            <a:ext cx="7315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09:00–16:00 daily  |  Four 90-minute blocks per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5760720"/>
            <a:ext cx="914400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EB8C6"/>
                </a:solidFill>
              </a:rPr>
              <a:t>Editable theory deck • illustrative addressing • </a:t>
            </a:r>
            <a:r>
              <a:rPr lang="en-GB" sz="1200" b="0">
                <a:solidFill>
                  <a:srgbClr val="AEB8C6"/>
                </a:solidFill>
              </a:rPr>
              <a:t>observable packet and protocol behavior</a:t>
            </a:r>
            <a:endParaRPr sz="1200" b="0">
              <a:solidFill>
                <a:srgbClr val="AEB8C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Four days build from packet behavior to integrated operations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521207" y="1133856"/>
            <a:ext cx="10698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0">
                <a:solidFill>
                  <a:srgbClr val="687385"/>
                </a:solidFill>
              </a:rPr>
              <a:t>Every 90-minute block reserves time for practice and discussion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1600200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DAY 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1965960"/>
            <a:ext cx="2468880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58368" y="2194560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687385"/>
                </a:solidFill>
              </a:rPr>
              <a:t>09:00–10:30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58368" y="2450591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1">
                <a:solidFill>
                  <a:srgbClr val="1E2B40"/>
                </a:solidFill>
              </a:rPr>
              <a:t>Network Foundations &amp; FortiGate Packet Flow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58368" y="3127248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687385"/>
                </a:solidFill>
              </a:rPr>
              <a:t>10:30–12:00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3383280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1">
                <a:solidFill>
                  <a:srgbClr val="1E2B40"/>
                </a:solidFill>
              </a:rPr>
              <a:t>FortiGate Introduction &amp; Initial Configuration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58368" y="4059935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687385"/>
                </a:solidFill>
              </a:rPr>
              <a:t>13:00–14:30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4315968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1">
                <a:solidFill>
                  <a:srgbClr val="1E2B40"/>
                </a:solidFill>
              </a:rPr>
              <a:t>Segmentation, Zones &amp; Firewall Policy Design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58368" y="4992623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687385"/>
                </a:solidFill>
              </a:rPr>
              <a:t>14:30–16:00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48655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NAT, Logging &amp; CLI Troubleshooting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1600200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DAY 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29000" y="1965960"/>
            <a:ext cx="2468880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29000" y="2194560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09:00–10:30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450591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Routing Fundamentals &amp; Route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127248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10:30–12:00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383280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Object Management &amp; Policy Design Best 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059935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13:00–14:30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315968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Security Services &amp; SSL Inspection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992623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14:30–16:00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248655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FortiGate Hardware Architecture, Monitoring &amp;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1600200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DAY 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99631" y="1965960"/>
            <a:ext cx="2468881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99631" y="2194560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09:00–10:30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1" y="2450591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Route Selection, PBR &amp; OSPF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1" y="3127248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10:30–12:00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1" y="3383280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BGP Fundamentals &amp; Practical 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1" y="4059935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13:00–14:30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1" y="4315968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IPsec VPN Architecture &amp; ADVPN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1" y="4992623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14:30–16:00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1" y="5248655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VPN Troubleshooting &amp; Operational 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0264" y="1600200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DAY 4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970264" y="1965960"/>
            <a:ext cx="2468880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970264" y="2194560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09:00–10:30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0264" y="2450591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FortiClient Architecture &amp; EMS Awareness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70264" y="3127248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10:30–12:00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0264" y="3383280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FortiGate High Availability Fundamentals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70264" y="4059935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13:00–14:30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0264" y="4315968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Fortinet SD-WAN &amp; Design Considerations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0264" y="4992623"/>
            <a:ext cx="2468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14:30–16:00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70264" y="5248655"/>
            <a:ext cx="24688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2B40"/>
                </a:solidFill>
              </a:rPr>
              <a:t>Performance Optimization, Advanced Troubleshooting &amp; Capstone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COURSE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Reference topology for all worked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Illustrative RFC 1918 and documentation ranges; Azure interface names remain instructor-supplied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3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502920" y="1874519"/>
            <a:ext cx="160020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76072" y="1993391"/>
            <a:ext cx="145389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HQ USERS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576072" y="2350008"/>
            <a:ext cx="145389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10.10.10.0/24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03120" y="2212848"/>
            <a:ext cx="5029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103120" y="1956815"/>
            <a:ext cx="5029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HTTPS / DNS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2606040" y="1691640"/>
            <a:ext cx="1920240" cy="12801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2679192" y="1810512"/>
            <a:ext cx="17739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HQ FGVM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679192" y="2167128"/>
            <a:ext cx="1773936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LAN 10.10.10.1
DMZ 10.10.20.1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2606040" y="3657600"/>
            <a:ext cx="192024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2679192" y="3776472"/>
            <a:ext cx="17739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DMZ SERVER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2679192" y="4133087"/>
            <a:ext cx="177393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10.10.20.10</a:t>
            </a:r>
          </a:p>
        </p:txBody>
      </p:sp>
      <p:sp>
        <p:nvSpPr>
          <p:cNvPr id="19" name="Right Arrow 18"/>
          <p:cNvSpPr>
            <a:spLocks/>
          </p:cNvSpPr>
          <p:nvPr/>
        </p:nvSpPr>
        <p:spPr>
          <a:xfrm>
            <a:off x="4526280" y="2212848"/>
            <a:ext cx="54864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4526280" y="1956815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underlay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>
          <a:xfrm>
            <a:off x="5074920" y="1691640"/>
            <a:ext cx="2011680" cy="12801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148072" y="1810512"/>
            <a:ext cx="186537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AZURE WAN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5148072" y="2167128"/>
            <a:ext cx="186537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ISP-A 203.0.113.0/30
ISP-B 198.51.100.0/30</a:t>
            </a:r>
          </a:p>
        </p:txBody>
      </p:sp>
      <p:sp>
        <p:nvSpPr>
          <p:cNvPr id="24" name="Right Arrow 23"/>
          <p:cNvSpPr>
            <a:spLocks/>
          </p:cNvSpPr>
          <p:nvPr/>
        </p:nvSpPr>
        <p:spPr>
          <a:xfrm>
            <a:off x="7086600" y="2212848"/>
            <a:ext cx="5029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5" name="TextBox 24"/>
          <p:cNvSpPr txBox="1"/>
          <p:nvPr/>
        </p:nvSpPr>
        <p:spPr>
          <a:xfrm>
            <a:off x="7086600" y="1956815"/>
            <a:ext cx="50292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IPsec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691640"/>
            <a:ext cx="1920240" cy="12801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62672" y="1810512"/>
            <a:ext cx="17739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BRANCH FGVM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2167128"/>
            <a:ext cx="177393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overlay endpoint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09760" y="2212848"/>
            <a:ext cx="5029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0" y="1956815"/>
            <a:ext cx="50292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HTTPS</a:t>
            </a:r>
          </a:p>
        </p:txBody>
      </p:sp>
      <p:sp>
        <p:nvSpPr>
          <p:cNvPr id="31" name="Rectangle 30"/>
          <p:cNvSpPr>
            <a:spLocks/>
          </p:cNvSpPr>
          <p:nvPr/>
        </p:nvSpPr>
        <p:spPr>
          <a:xfrm>
            <a:off x="10012680" y="1874519"/>
            <a:ext cx="160020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2" name="TextBox 31"/>
          <p:cNvSpPr txBox="1"/>
          <p:nvPr/>
        </p:nvSpPr>
        <p:spPr>
          <a:xfrm>
            <a:off x="10085832" y="1993391"/>
            <a:ext cx="1453896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BRANCH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2350008"/>
            <a:ext cx="145389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10.20.10.50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886200"/>
            <a:ext cx="1828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LOGICAL OVERLAY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80560" y="4251960"/>
            <a:ext cx="5074920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09160" y="4407408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Protected prefixes: 10.10.10.0/24 ↔ 10.20.10.0/24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Use the same addresses throughout the course; separate Azure underlay reachability from VPN/SD-WAN overlay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1  •  09:00–10:30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Network Foundations &amp; FortiGate Packet Flow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Foundations • Day 1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Explain packet fields, DNS, TCP/UDP and forwarding decisions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Trace a new session through FortiGate decision stages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Distinguish flow/proxy inspection and locate implicit deny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Basic IPv4 subnetting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Illustrative topology on slide 3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GUI/CLI access is demonstrated in the next block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~54 min • reserve ~36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008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The five-tuple is the identity of a unidirectional flow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521207" y="1133856"/>
            <a:ext cx="10698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0">
                <a:solidFill>
                  <a:srgbClr val="687385"/>
                </a:solidFill>
              </a:rPr>
              <a:t>FortiGate session matching begins with concrete packet fields, not application names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600200"/>
          <a:ext cx="67208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marL="73152" marR="73152" marT="36576" marB="36576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73152" marR="73152" marT="36576" marB="36576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 marL="73152" marR="73152" marT="36576" marB="36576"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Source IP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10.10.10.25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Which host originated the packet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Destination IP</a:t>
                      </a:r>
                    </a:p>
                  </a:txBody>
                  <a:tcPr marL="73152" marR="73152" marT="36576" marB="36576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203.0.113.80</a:t>
                      </a:r>
                    </a:p>
                  </a:txBody>
                  <a:tcPr marL="73152" marR="73152" marT="36576" marB="36576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Which host the packet targets</a:t>
                      </a:r>
                    </a:p>
                  </a:txBody>
                  <a:tcPr marL="73152" marR="73152" marT="36576" marB="36576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Source 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51514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Ephemeral client-side transport 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Destination port</a:t>
                      </a:r>
                    </a:p>
                  </a:txBody>
                  <a:tcPr marL="73152" marR="73152" marT="36576" marB="36576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443</a:t>
                      </a:r>
                    </a:p>
                  </a:txBody>
                  <a:tcPr marL="73152" marR="73152" marT="36576" marB="36576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Service endpoint; not proof of the application</a:t>
                      </a:r>
                    </a:p>
                  </a:txBody>
                  <a:tcPr marL="73152" marR="73152" marT="36576" marB="36576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TCP (6)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B40"/>
                          </a:solidFill>
                        </a:defRPr>
                      </a:pPr>
                      <a:r>
                        <a:t>Separates TCP from UDP/ICMP flows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7680960" y="1627632"/>
            <a:ext cx="0" cy="4178808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01000" y="1691640"/>
            <a:ext cx="29260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SESSION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84831"/>
            <a:ext cx="3246120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return packet reverses source and destination. FortiGate associates it with the existing session and applies the stored policy, NAT and security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840480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Worked packet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187952"/>
            <a:ext cx="3246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10.10.10.25:51514 → 203.0.113.80:443 / TCP
Return: 203.0.113.80:443 → translated client tuple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5257800"/>
            <a:ext cx="32461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87385"/>
                </a:solidFill>
              </a:rPr>
              <a:t>Validate: diagnose sys session filter src 10.10.10.25; diagnose sys session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009 • DAY 1 • BLOCK 01 • Network Foundations &amp; Packet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DNS turns names into routable destinations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59918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2379726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Client query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5755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03854" y="1901952"/>
            <a:ext cx="259918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51358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513582" y="2340864"/>
            <a:ext cx="2379726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Resolver cache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3036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149340" y="1901952"/>
            <a:ext cx="259918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259068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6259068" y="2340864"/>
            <a:ext cx="2379726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Authority lookup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852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894826" y="1901952"/>
            <a:ext cx="259918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900455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004554" y="2340864"/>
            <a:ext cx="2379726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Answer + TTL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Recursive resolution follows cache, root, TLD and authoritative data as needed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A/AAAA answers provide addresses; TTL controls cache lifetime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DNS success does not prove policy or route success to the returned address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Use a filtered packet capture on UDP/TCP 53 and compare query, response and TTL.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010 • DAY 1 • BLOCK 01 • Network Foundations &amp; Packet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TCP handshake creates state that return traffic can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New connection: client 10.10.10.25:51514 → server 203.0.113.80:443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7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640080" y="2057400"/>
            <a:ext cx="192024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13231" y="2176272"/>
            <a:ext cx="17739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13231" y="2532888"/>
            <a:ext cx="177393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10.10.10.25:51514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920240"/>
            <a:ext cx="2057400" cy="118872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5148072" y="2039112"/>
            <a:ext cx="1911095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FORTIGATE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148072" y="2395728"/>
            <a:ext cx="1911095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policy 12 • session 0042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5480" y="2057400"/>
            <a:ext cx="192024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9628632" y="2176272"/>
            <a:ext cx="17739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SERVER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628632" y="2532888"/>
            <a:ext cx="177393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203.0.113.80:443</a:t>
            </a:r>
          </a:p>
        </p:txBody>
      </p:sp>
      <p:sp>
        <p:nvSpPr>
          <p:cNvPr id="17" name="Right Arrow 16"/>
          <p:cNvSpPr>
            <a:spLocks/>
          </p:cNvSpPr>
          <p:nvPr/>
        </p:nvSpPr>
        <p:spPr>
          <a:xfrm>
            <a:off x="2606040" y="2011680"/>
            <a:ext cx="23317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2606040" y="1755648"/>
            <a:ext cx="233172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1  SYN →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269480" y="2011680"/>
            <a:ext cx="214884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1755648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1  SYN →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7269480" y="3035808"/>
            <a:ext cx="2148840" cy="201168"/>
          </a:xfrm>
          <a:prstGeom prst="leftArrow">
            <a:avLst/>
          </a:prstGeom>
          <a:solidFill>
            <a:srgbClr val="167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2761488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2  ← SYN-ACK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2606040" y="3035808"/>
            <a:ext cx="2331720" cy="201168"/>
          </a:xfrm>
          <a:prstGeom prst="leftArrow">
            <a:avLst/>
          </a:prstGeom>
          <a:solidFill>
            <a:srgbClr val="167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06040" y="2761488"/>
            <a:ext cx="2331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2  ← SYN-ACK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06040" y="3730752"/>
            <a:ext cx="23317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06040" y="3474720"/>
            <a:ext cx="2331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3  ACK →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69480" y="3730752"/>
            <a:ext cx="214884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9480" y="3474720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3  ACK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2761488"/>
            <a:ext cx="169164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SESSION CREATED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279392"/>
            <a:ext cx="42976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The entry stores policy, route, NAT and TCP state. Return packets match the reverse tuple.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Stateful inspection does not “trust replies”; it associates the reverse five-tuple with an existing allowed session.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New sessions take the full path; established sessions reuse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Simplified teaching view—feature/platform exceptions exist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8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1508760"/>
            <a:ext cx="18288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200" b="1">
                <a:solidFill>
                  <a:srgbClr val="E60012"/>
                </a:solidFill>
              </a:rPr>
              <a:t>NEW SESSION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502920" y="1874519"/>
            <a:ext cx="1417320" cy="86868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576072" y="1993391"/>
            <a:ext cx="12710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Ingress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576072" y="2350008"/>
            <a:ext cx="127101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packet + interface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47672" y="2221992"/>
            <a:ext cx="438912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23160" y="1874519"/>
            <a:ext cx="1417320" cy="86868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2496312" y="1993391"/>
            <a:ext cx="127101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Route/PBR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350008"/>
            <a:ext cx="127101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candidate egress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67912" y="2221992"/>
            <a:ext cx="438912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4343400" y="1874519"/>
            <a:ext cx="1417320" cy="86868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4416552" y="1993391"/>
            <a:ext cx="127101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4416552" y="2350008"/>
            <a:ext cx="127101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first matching rule</a:t>
            </a:r>
          </a:p>
        </p:txBody>
      </p:sp>
      <p:sp>
        <p:nvSpPr>
          <p:cNvPr id="20" name="Right Arrow 19"/>
          <p:cNvSpPr>
            <a:spLocks/>
          </p:cNvSpPr>
          <p:nvPr/>
        </p:nvSpPr>
        <p:spPr>
          <a:xfrm>
            <a:off x="5788152" y="2221992"/>
            <a:ext cx="438912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1" name="Rectangle 20"/>
          <p:cNvSpPr>
            <a:spLocks/>
          </p:cNvSpPr>
          <p:nvPr/>
        </p:nvSpPr>
        <p:spPr>
          <a:xfrm>
            <a:off x="6263640" y="1874519"/>
            <a:ext cx="1417320" cy="86868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2" name="TextBox 21"/>
          <p:cNvSpPr txBox="1"/>
          <p:nvPr/>
        </p:nvSpPr>
        <p:spPr>
          <a:xfrm>
            <a:off x="6336792" y="1993391"/>
            <a:ext cx="12710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NAT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350008"/>
            <a:ext cx="127101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original ↔ translated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708392" y="2221992"/>
            <a:ext cx="438912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80" y="1874519"/>
            <a:ext cx="1417320" cy="86868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57032" y="1993391"/>
            <a:ext cx="12710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Inspection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2350008"/>
            <a:ext cx="127101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profiles as configured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628632" y="2221992"/>
            <a:ext cx="438912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104120" y="1874519"/>
            <a:ext cx="1417320" cy="86868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77272" y="1993391"/>
            <a:ext cx="12710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Create 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77272" y="2350008"/>
            <a:ext cx="127101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store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46120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76A3"/>
                </a:solidFill>
              </a:rPr>
              <a:t>ESTABLISHED SESSION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657600"/>
            <a:ext cx="182880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" y="3776472"/>
            <a:ext cx="16824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Reverse tuple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4133087"/>
            <a:ext cx="16824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reply packet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542032" y="4005072"/>
            <a:ext cx="640080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0" y="3657600"/>
            <a:ext cx="205740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73552" y="3776472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Session lookup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3552" y="4133087"/>
            <a:ext cx="1911095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policy/NAT/egress state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285232" y="4005072"/>
            <a:ext cx="640080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43600" y="3657600"/>
            <a:ext cx="205740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16752" y="3776472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Forward + inspect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6752" y="4133087"/>
            <a:ext cx="1911095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according to stored state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028431" y="4005072"/>
            <a:ext cx="640080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86800" y="3657600"/>
            <a:ext cx="205740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59952" y="3776472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Update counters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9952" y="4133087"/>
            <a:ext cx="1911095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bytes / timeout / TCP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074920"/>
            <a:ext cx="103327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47A00"/>
                </a:solidFill>
              </a:rPr>
              <a:t>Local-in traffic, proxy behavior, tunnels, hardware offload and special features can add or change stages.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Use this as a troubleshooting map, not as a universal implementation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First HTTPS session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9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SYN enters LAN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Route selects WAN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756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Policy 12 accepts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SNAT creates reply tuple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SYN-ACK matches 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A session entry shows the original tuple and the return packets increment the reply counters.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10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DNS success proves the application path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Test the returned IP and TCP handshake; DNS only proves name resolution.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Port 443 proves HTTPS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Inspect the handshake/application state; a port number identifies a socket, not the application.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Policy is the only forwarding decision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Check route and return path first; policy cannot repair an absent route.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Reproduce one flow and record its five-tuple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Check route and neighbor reachability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Identify the matched policy and NAT decision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Confirm session creation and reverse traffic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184029"/>
            <a:ext cx="1830628" cy="91717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Use filtered sniffer/debug only if </a:t>
            </a:r>
            <a:r>
              <a:rPr lang="en-GB" sz="1400" b="1">
                <a:solidFill>
                  <a:srgbClr val="1E2B40"/>
                </a:solidFill>
              </a:rPr>
              <a:t>route, session and logs are</a:t>
            </a:r>
            <a:r>
              <a:rPr sz="1400" b="1">
                <a:solidFill>
                  <a:srgbClr val="1E2B40"/>
                </a:solidFill>
              </a:rPr>
              <a:t> inconclusive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35364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Identify the matched policy and NAT decision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Confirm session creation and reverse traffic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Use filtered sniffer/debug only if </a:t>
            </a:r>
            <a:r>
              <a:rPr lang="en-GB"/>
              <a:t>route, session and logs are</a:t>
            </a:r>
            <a:r>
              <a:t> inconclusive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015 • DAY 1 • BLOCK 01 • Network Foundations &amp; Packet 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274735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Basic IPv4 subnetting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Illustrative topology on slide 3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Learners predict and then trace one illustrative TCP flow. Prerequisite: reachable lab FortiGate or instructor demonstration; capture: route, policy ID, session tuple and bidirectional packets.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88667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Learners predict and then trace one illustrative TCP flow. Prerequisite: reachable lab FortiGate or instructor demonstration; capture: route, policy ID, session tuple and bidirectional packets.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A session entry shows the original tuple and the return packets increment the reply counters.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016 • DAY 1 • BLOCK 01 • Network Foundations &amp; Packet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Which five values identify a TCP/UDP flow?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Why can a return packet bypass a second full policy decision?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017 • DAY 1 • BLOCK 01 • Network Foundations &amp; Packet 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1  •  10:30–12:00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FortiGate Introduction &amp; Initial Configuration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Foundations • Day 1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Locate FortiGate in the Fortinet ecosystem and FortiOS management model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Configure interfaces, administrative access and DNS safely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Back up, restore and validate an initial configuration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Console or authorized management network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Instructor-supplied credentials and interface mapping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Maintenance window for restore demonstrations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~52 min • reserve ~38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018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FortiOS combines forwarding, policy and security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965960"/>
            <a:ext cx="310896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051560" y="2130552"/>
            <a:ext cx="292607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ADMIN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26280" y="1965960"/>
            <a:ext cx="310896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4617720" y="2130552"/>
            <a:ext cx="292607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FORTIOS
config + state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092440" y="1965960"/>
            <a:ext cx="310896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8183879" y="2130552"/>
            <a:ext cx="292607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FORTIGUARD /
MANAGERS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822960" y="3383280"/>
            <a:ext cx="10515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Use standalone FortiGate first; introduce managers as design choices, not prerequisites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60120" y="4069080"/>
            <a:ext cx="10241280" cy="14173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FortiGate enforces policy; FortiManager centralizes configuration workflows; FortiAnalyzer centralizes analytics/logging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GUI and CLI operate on the same configuration database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VDOMs can partition administration and forwarding when enabled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Feature visibility changes the GUI, not underlying platform support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60120" y="5650992"/>
            <a:ext cx="10241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get system status; confirm serial/model/build and operation mode.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019 • DAY 1 • BLOCK 02 • Introduction &amp; Initial Configuration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Management access must be deliberately bounded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GUI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HTTPS session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Role-scoped navigation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Good for discovery and visual status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CLI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SSH/console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Scriptable and exact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Required for many diagnostics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Management station &lt;admin-ip&gt; reaches &lt;mgmt-interface&gt;; internet hosts must not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020 • DAY 1 • BLOCK 02 • Introduction &amp; Initial Configuration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Interfaces and DNS create the initial control-plane dependencies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6583680" cy="42519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877824" y="1783080"/>
            <a:ext cx="61264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ILLUSTRATIVE CLI — validate on FortiOS 7.6.7 / Azure FortiGate-VM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877824" y="2212848"/>
            <a:ext cx="6080760" cy="3154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0">
                <a:solidFill>
                  <a:srgbClr val="E6ECF4"/>
                </a:solidFill>
                <a:latin typeface="Consolas"/>
              </a:rPr>
              <a:t>show system interface &lt;port&gt;
get system dns
execute ping &lt;resolver-ip&gt;
execute nslookup &lt;fqdn&gt;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1719072"/>
            <a:ext cx="3154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READ THE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121408"/>
            <a:ext cx="3383280" cy="214884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t>• Set role, alias, address/mask and administrative access intentionally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t>• Avoid overlapping subnets and accidental DHCP conflicts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t>• System DNS supports name resolution for updates, FQDN objects and services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t>• NTP and correct time are prerequisites for logs and certificates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4553712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Safe operation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4882896"/>
            <a:ext cx="3401568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Configure &lt;lan-port&gt; and resolver placeholders from the instructor worksheet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021 • DAY 1 • BLOCK 02 • Introduction &amp; Initial Configuration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Backup and restore are change-control controls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Export a configuration before significant change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Protect backups because they contain sensitive configuration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Restore can replace current configuration and trigger reboot or service interruption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Match backup, firmware branch, model and VDOM context before reuse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Demonstrate backup; discuss restore without disrupting a shared class environment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Compare revision metadata and perform restore only in an isolated appliance or instructor demo.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configured interface is up, DNS resolves the test name, and the backup completes with the expected timestamp.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022 • DAY 1 • BLOCK 02 • Introduction &amp; Initial Configuration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Initial operational check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19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Confirm FortiOS 7.6.7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Check interface link/IP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140756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Resolve test FQDN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Reach expected next hop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Create dated backup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configured interface is up, DNS resolves the test name, and the backup completes with the expected timestamp.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20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Enable management on every interface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Restrict HTTPS/SSH to the management interface and trusted sources; this reduces exposure.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Restore without compatibility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Check model, build and VDOM context before restore; incompatible backups can interrupt service.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Ping proves the initial setup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Test DNS, admin access, route and backup separately; ICMP does not cover those dependencies.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21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Verify physical/link state and IP addressing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Confirm the admin station route and allowed protocol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Check trusted-host/profile restrictions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Validate DNS and time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Back up before remediation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trusted-host/profile restrictions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Validate DNS and time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Back up before remediation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025 • DAY 1 • BLOCK 02 • Introduction &amp; Initial Configuration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22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329673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Console or authorized management network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Instructor-supplied credentials and interface mapping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Configure one designated interface and DNS using instructor-provided values; capture interface status, name-resolution output and a backup file. Restore remains instructor demo unless each learner has an isolated unit.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2148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Configure one designated interface and DNS using instructor-provided values; capture interface status, name-resolution output and a backup file. Restore remains instructor demo unless each learner has an isolated unit.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configured interface is up, DNS resolves the test name, and the backup completes with the expected timestamp.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026 • DAY 1 • BLOCK 02 • Introduction &amp; Initial Configuration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23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Where is HTTPS/SSH administrative access enabled?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Why must time be correct before certificate troubleshooting?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027 • DAY 1 • BLOCK 02 • Introduction &amp; Initial Configuration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1  •  13:00–14:30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Segmentation, Zones &amp; Firewall Policy Design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Foundations • Day 1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Choose LAN/WAN/DMZ boundaries using least privilege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Explain FortiSwitch/FortiLink roles without assuming lab availability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Build ordered policies from reusable objects and logging requirements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Block 1 routing/session concepts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Known trust zones and application flows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FortiSwitch hardware is instructor-demo only unless supplied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~54 min • reserve ~36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028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Segmentation permits named flows and denies everything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Zones simplify references; they do not create isolation by themselves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25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594360" y="1828800"/>
            <a:ext cx="182880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67512" y="1947672"/>
            <a:ext cx="168249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LAN ZONE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67512" y="2304288"/>
            <a:ext cx="16824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10.10.10.0/24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5166360" y="1828800"/>
            <a:ext cx="182880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5239512" y="1947672"/>
            <a:ext cx="16824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DMZ ZONE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239512" y="2304288"/>
            <a:ext cx="16824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10.10.20.0/24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9738360" y="1828800"/>
            <a:ext cx="182880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/>
          <p:nvPr/>
        </p:nvSpPr>
        <p:spPr>
          <a:xfrm>
            <a:off x="9811512" y="1947672"/>
            <a:ext cx="16824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WAN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811512" y="2304288"/>
            <a:ext cx="16824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untrusted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594360" y="3977639"/>
            <a:ext cx="182880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8" name="TextBox 17"/>
          <p:cNvSpPr txBox="1"/>
          <p:nvPr/>
        </p:nvSpPr>
        <p:spPr>
          <a:xfrm>
            <a:off x="667512" y="4096511"/>
            <a:ext cx="16824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GUEST ZONE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67512" y="4453127"/>
            <a:ext cx="16824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10.10.30.0/24</a:t>
            </a:r>
          </a:p>
        </p:txBody>
      </p:sp>
      <p:sp>
        <p:nvSpPr>
          <p:cNvPr id="20" name="Right Arrow 19"/>
          <p:cNvSpPr>
            <a:spLocks/>
          </p:cNvSpPr>
          <p:nvPr/>
        </p:nvSpPr>
        <p:spPr>
          <a:xfrm>
            <a:off x="2514600" y="2176272"/>
            <a:ext cx="242316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1" name="TextBox 20"/>
          <p:cNvSpPr txBox="1"/>
          <p:nvPr/>
        </p:nvSpPr>
        <p:spPr>
          <a:xfrm>
            <a:off x="2514600" y="1920239"/>
            <a:ext cx="242316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HTTPS 443 allowed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7086600" y="2176272"/>
            <a:ext cx="242316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/>
          <p:nvPr/>
        </p:nvSpPr>
        <p:spPr>
          <a:xfrm>
            <a:off x="7086600" y="1920239"/>
            <a:ext cx="242316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published HTTPS</a:t>
            </a:r>
          </a:p>
        </p:txBody>
      </p:sp>
      <p:sp>
        <p:nvSpPr>
          <p:cNvPr id="24" name="Right Arrow 23"/>
          <p:cNvSpPr>
            <a:spLocks/>
          </p:cNvSpPr>
          <p:nvPr/>
        </p:nvSpPr>
        <p:spPr>
          <a:xfrm>
            <a:off x="2514600" y="4315968"/>
            <a:ext cx="242316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5" name="TextBox 24"/>
          <p:cNvSpPr txBox="1"/>
          <p:nvPr/>
        </p:nvSpPr>
        <p:spPr>
          <a:xfrm>
            <a:off x="2514600" y="4059935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DNS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4315968"/>
            <a:ext cx="1737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60012"/>
                </a:solidFill>
              </a:rPr>
              <a:t>DENY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257800" y="4114800"/>
            <a:ext cx="1645920" cy="566928"/>
          </a:xfrm>
          <a:prstGeom prst="line">
            <a:avLst/>
          </a:prstGeom>
          <a:ln w="381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57800" y="4114800"/>
            <a:ext cx="1645920" cy="566928"/>
          </a:xfrm>
          <a:prstGeom prst="line">
            <a:avLst/>
          </a:prstGeom>
          <a:ln w="381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18120" y="388620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Policy intent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224528"/>
            <a:ext cx="333756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LAN → DMZ: HTTPS only</a:t>
            </a:r>
          </a:p>
          <a:p>
            <a:pPr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Guest → LAN/DMZ: denied</a:t>
            </a:r>
          </a:p>
          <a:p>
            <a:pPr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WAN → DMZ: VIP + HTTPS</a:t>
            </a:r>
          </a:p>
          <a:p>
            <a:pPr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Zone membership alone permits nothing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Draw the permitted arrows first; each arrow becomes a narrowly scoped firewall policy and a positive/negative test.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26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Zones simplify policy only when members share intent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 zone groups interfaces for policy references and consistent treatment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Do not combine interfaces with different trust or logging requirements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Intra-zone traffic behavior must be explicitly understood and tested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Naming should reveal function, not physical port number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Zone BRANCH-LANS can be useful; zone TRUSTED-MIX is usually ambiguous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List each member and prove that one policy intent applies to all.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test flow matches the intended policy; the denied flow is logged by the implicit or explicit deny.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030 • DAY 1 • BLOCK 03 • Segmentation, Zones &amp; Policy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27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FortiLink joins FortiGate policy with managed switching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965960"/>
            <a:ext cx="221742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051560" y="2130552"/>
            <a:ext cx="203453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FORTIGATE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7539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34739" y="1965960"/>
            <a:ext cx="221742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3726179" y="2130552"/>
            <a:ext cx="203453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FORTILINK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9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09359" y="1965960"/>
            <a:ext cx="221742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400799" y="2130552"/>
            <a:ext cx="203453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FORTISWITCH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26780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983980" y="1965960"/>
            <a:ext cx="221742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075419" y="2130552"/>
            <a:ext cx="203453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VLAN ENDPOINTS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822960" y="3383280"/>
            <a:ext cx="10515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Conceptual exercise: place users, voice, APs and servers into VLANs and policies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960120" y="4069080"/>
            <a:ext cx="10241280" cy="14173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FortiLink is the management/control connection for supported FortiSwitch deployments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FortiGate can manage switch ports, VLANs and topology from the Security Fabric/LAN edge workflow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Access, trunk and native VLAN choices remain layer-2 design decisions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Model, FortiOS/FortiSwitchOS and topology support must be confirmed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650992"/>
            <a:ext cx="10241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Instructor demo only unless a compatible FortiSwitch, links and supported versions exist.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031 • DAY 1 • BLOCK 03 • Segmentation, Zones &amp; Policy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28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First match wins: specificity and order are design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Ingress pair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Address match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Service/schedule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First match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Action + profiles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The first matching enabled policy supplies action, NAT, logging and profiles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Broad rules above narrow rules can shadow intended controls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Objects and groups reduce error when they have clear names and owners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Use policy lookup/hit counters and logs to prove the matched policy.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032 • DAY 1 • BLOCK 03 • Segmentation, Zones &amp; Policy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Policy from a flow matrix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29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Name business flow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Create address/service objects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756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Order specific rule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Enable required logging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Test allow and deny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test flow matches the intended policy; the denied flow is logged by the implicit or explicit deny.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30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Use all objects to save 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Create named source, destination and service objects; scope becomes reviewable and reusable.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Put unlike interfaces in one zone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Group only interfaces with the same policy intent; zones do not create isolation.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Put broad allow above exceptions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Place specific rules first and use policy lookup; first match otherwise shadows them.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31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Confirm ingress and expected egress interfaces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Resolve object membership to concrete IP/port values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Check policy order and shadowing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Inspect hit count and traffic log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Test an explicit negative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policy order and shadowing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Inspect hit count and traffic log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Test an explicit negative case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035 • DAY 1 • BLOCK 03 • Segmentation, Zones &amp; Policy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32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302204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Block 1 routing/session concepts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Known trust zones and application flows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Build a two-flow policy matrix, implement with reusable objects, then prove one allowed and one denied flow. FortiSwitch/FortiLink remains conceptual or instructor demonstration unless hardware is declared.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Build a two-flow policy matrix, implement with reusable objects, then prove one allowed and one denied flow. FortiSwitch/FortiLink remains conceptual or instructor demonstration unless hardware is declared.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test flow matches the intended policy; the denied flow is logged by the implicit or explicit deny.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036 • DAY 1 • BLOCK 03 • Segmentation, Zones &amp; Policy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33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decides which of two matching policies is used?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When is a zone a poor abstraction?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037 • DAY 1 • BLOCK 03 • Segmentation, Zones &amp; Policy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1  •  14:30–16:00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NAT, Logging &amp; CLI Troubleshooting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Foundations • Day 1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Trace SNAT/PAT, DNAT/VIP and hairpin flows in both directions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Select Traffic, Event and Security logs for the question asked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Use session, sniffer and debug-flow diagnostics safely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Routing and policy fundamentals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A test client and reachable service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Authorization to clear sessions or enable debug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~56 min • reserve ~34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038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SNAT/PAT changes the source tuple—and reverses it for the reply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Illustrative outbound HTTPS session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35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594360" y="1920240"/>
            <a:ext cx="201168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67512" y="2039112"/>
            <a:ext cx="186537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67512" y="2395728"/>
            <a:ext cx="186537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10.10.10.25:51514</a:t>
            </a:r>
          </a:p>
        </p:txBody>
      </p:sp>
      <p:sp>
        <p:nvSpPr>
          <p:cNvPr id="11" name="Right Arrow 10"/>
          <p:cNvSpPr>
            <a:spLocks/>
          </p:cNvSpPr>
          <p:nvPr/>
        </p:nvSpPr>
        <p:spPr>
          <a:xfrm>
            <a:off x="2651760" y="2267712"/>
            <a:ext cx="9601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651760" y="2011680"/>
            <a:ext cx="96012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original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83080"/>
            <a:ext cx="2057400" cy="118872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3730752" y="1901952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FORTIGATE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730752" y="2258568"/>
            <a:ext cx="1911095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SNAT/PAT session</a:t>
            </a:r>
          </a:p>
        </p:txBody>
      </p:sp>
      <p:sp>
        <p:nvSpPr>
          <p:cNvPr id="16" name="Right Arrow 15"/>
          <p:cNvSpPr>
            <a:spLocks/>
          </p:cNvSpPr>
          <p:nvPr/>
        </p:nvSpPr>
        <p:spPr>
          <a:xfrm>
            <a:off x="5760720" y="2267712"/>
            <a:ext cx="9601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/>
          <p:nvPr/>
        </p:nvSpPr>
        <p:spPr>
          <a:xfrm>
            <a:off x="5760720" y="2011680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translated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920240"/>
            <a:ext cx="201168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839712" y="2039112"/>
            <a:ext cx="186537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SERVER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6839712" y="2395728"/>
            <a:ext cx="186537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203.0.113.80:443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47088"/>
            <a:ext cx="1280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OUTBOUND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9052560" y="2103120"/>
            <a:ext cx="22860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400" b="1">
                <a:solidFill>
                  <a:srgbClr val="233A59"/>
                </a:solidFill>
              </a:rPr>
              <a:t>10.10.10.25:51514
→ 203.0.113.80:443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063240"/>
            <a:ext cx="12801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WIRE TUPLE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319272"/>
            <a:ext cx="22860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400" b="1">
                <a:solidFill>
                  <a:srgbClr val="233A59"/>
                </a:solidFill>
              </a:rPr>
              <a:t>198.51.100.2:62001
→ 203.0.113.80:443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6766560" y="4370832"/>
            <a:ext cx="5074920" cy="237744"/>
          </a:xfrm>
          <a:prstGeom prst="leftArrow">
            <a:avLst/>
          </a:prstGeom>
          <a:solidFill>
            <a:srgbClr val="167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1828800" y="4709160"/>
            <a:ext cx="8595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300" b="1">
                <a:solidFill>
                  <a:srgbClr val="233A59"/>
                </a:solidFill>
              </a:rPr>
              <a:t>REPLY: 203.0.113.80:443 → 198.51.100.2:62001 • FortiGate reverses to 10.10.10.25:51514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33872"/>
            <a:ext cx="7315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769864"/>
            <a:ext cx="987552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233A59"/>
                </a:solidFill>
              </a:rPr>
              <a:t>Record both directions: NAT succeeds only when the return packet matches the translated reply tuple.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A VIP translates the published destination before forwarding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External access to the HQ DMZ server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36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594360" y="1965960"/>
            <a:ext cx="210312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67512" y="2084831"/>
            <a:ext cx="1956815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EXTERNAL CLIENT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67512" y="2441448"/>
            <a:ext cx="1956815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203.0.113.50:53000</a:t>
            </a:r>
          </a:p>
        </p:txBody>
      </p:sp>
      <p:sp>
        <p:nvSpPr>
          <p:cNvPr id="11" name="Right Arrow 10"/>
          <p:cNvSpPr>
            <a:spLocks/>
          </p:cNvSpPr>
          <p:nvPr/>
        </p:nvSpPr>
        <p:spPr>
          <a:xfrm>
            <a:off x="2743200" y="2313432"/>
            <a:ext cx="9601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743200" y="2057400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public tuple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783080"/>
            <a:ext cx="2423160" cy="123444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3822191" y="1901952"/>
            <a:ext cx="227685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VIP ON FORTIGATE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258568"/>
            <a:ext cx="227685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198.51.100.10:443
→ 10.10.20.10:8443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17920" y="2313432"/>
            <a:ext cx="9601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217920" y="2057400"/>
            <a:ext cx="96012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mapped tuple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>
          <a:xfrm>
            <a:off x="7223760" y="1965960"/>
            <a:ext cx="210312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7296912" y="2084831"/>
            <a:ext cx="1956815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DMZ SERVER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296912" y="2441448"/>
            <a:ext cx="1956815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10.10.20.10:8443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783080"/>
            <a:ext cx="15544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FIREWALL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148840"/>
            <a:ext cx="210312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>
                <a:solidFill>
                  <a:srgbClr val="1E2B40"/>
                </a:solidFill>
              </a:defRPr>
            </a:pPr>
            <a:r>
              <a:t>• Ingress: WAN</a:t>
            </a:r>
          </a:p>
          <a:p>
            <a:pPr>
              <a:spcAft>
                <a:spcPts val="400"/>
              </a:spcAft>
              <a:defRPr sz="1300">
                <a:solidFill>
                  <a:srgbClr val="1E2B40"/>
                </a:solidFill>
              </a:defRPr>
            </a:pPr>
            <a:r>
              <a:t>• Destination: VIP object</a:t>
            </a:r>
          </a:p>
          <a:p>
            <a:pPr>
              <a:spcAft>
                <a:spcPts val="400"/>
              </a:spcAft>
              <a:defRPr sz="1300">
                <a:solidFill>
                  <a:srgbClr val="1E2B40"/>
                </a:solidFill>
              </a:defRPr>
            </a:pPr>
            <a:r>
              <a:t>• Service: HTTPS</a:t>
            </a:r>
          </a:p>
          <a:p>
            <a:pPr>
              <a:spcAft>
                <a:spcPts val="400"/>
              </a:spcAft>
              <a:defRPr sz="1300">
                <a:solidFill>
                  <a:srgbClr val="1E2B40"/>
                </a:solidFill>
              </a:defRPr>
            </a:pPr>
            <a:r>
              <a:t>• Egress route: DMZ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76A3"/>
                </a:solidFill>
              </a:rPr>
              <a:t>Reply translation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2423160" y="4096512"/>
            <a:ext cx="5852160" cy="228600"/>
          </a:xfrm>
          <a:prstGeom prst="leftArrow">
            <a:avLst/>
          </a:prstGeom>
          <a:solidFill>
            <a:srgbClr val="167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94560" y="4480560"/>
            <a:ext cx="6309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10.10.20.10:8443 → client becomes 198.51.100.10:443 →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VIP defines translation; the firewall policy, route and return path still decide whether the service works.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Hairpin access uses the public VIP from an internal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Internal client and server remain in separate segments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37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594360" y="1965960"/>
            <a:ext cx="210312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67512" y="2084831"/>
            <a:ext cx="1956815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LAN CLIENT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67512" y="2441448"/>
            <a:ext cx="1956815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10.10.10.25:51514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43200" y="2313432"/>
            <a:ext cx="91440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743200" y="2057400"/>
            <a:ext cx="9144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public address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3703320" y="1783080"/>
            <a:ext cx="2560320" cy="123444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4" name="TextBox 13"/>
          <p:cNvSpPr txBox="1"/>
          <p:nvPr/>
        </p:nvSpPr>
        <p:spPr>
          <a:xfrm>
            <a:off x="3776472" y="1901952"/>
            <a:ext cx="2414015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FORTIGATE VIP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258568"/>
            <a:ext cx="2414015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198.51.100.10:443
→ 10.10.20.10:8443</a:t>
            </a:r>
          </a:p>
        </p:txBody>
      </p:sp>
      <p:sp>
        <p:nvSpPr>
          <p:cNvPr id="16" name="Right Arrow 15"/>
          <p:cNvSpPr>
            <a:spLocks/>
          </p:cNvSpPr>
          <p:nvPr/>
        </p:nvSpPr>
        <p:spPr>
          <a:xfrm>
            <a:off x="6309360" y="2313432"/>
            <a:ext cx="91440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9144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DNAT + policy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>
          <a:xfrm>
            <a:off x="7269480" y="1965960"/>
            <a:ext cx="210312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/>
          <p:nvPr/>
        </p:nvSpPr>
        <p:spPr>
          <a:xfrm>
            <a:off x="7342631" y="2084831"/>
            <a:ext cx="195681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DMZ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2441448"/>
            <a:ext cx="1956815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10.10.20.10:8443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49039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Why source NAT may be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566928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Without SNAT, the server may reply directly to the client</a:t>
            </a:r>
          </a:p>
          <a:p>
            <a:pPr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Direct reply bypasses the FortiGate session and breaks symmetry</a:t>
            </a:r>
          </a:p>
          <a:p>
            <a:pPr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SNAT forces the reply through FortiGate for reverse translation</a:t>
            </a:r>
          </a:p>
          <a:p>
            <a:pPr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Split DNS can avoid hairpinning when appropriate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749039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Expected packet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114800"/>
            <a:ext cx="36576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33A59"/>
                </a:solidFill>
              </a:rPr>
              <a:t>LAN → FortiGate → DMZ
DMZ → FortiGate → 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Hairpin troubleshooting must check DNAT, optional SNAT, policy and the server’s return route as one session.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38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Logs and CLI answer different layers of the incident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6583680" cy="42519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877824" y="1783080"/>
            <a:ext cx="61264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ILLUSTRATIVE CLI — validate on FortiOS 7.6.7 / Azure FortiGate-VM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877824" y="2212848"/>
            <a:ext cx="6080760" cy="3154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0">
                <a:solidFill>
                  <a:srgbClr val="E6ECF4"/>
                </a:solidFill>
                <a:latin typeface="Consolas"/>
              </a:rPr>
              <a:t>diagnose sys session filter clear
diagnose sys session filter src &lt;client-ip&gt;
diagnose sys session list
diagnose sniffer packet any "host &lt;ip&gt; and port &lt;port&gt;" 4 0 l
diagnose debug reset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54112" y="1719072"/>
            <a:ext cx="3154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READ THE OUTPUT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54112" y="2121408"/>
            <a:ext cx="3383280" cy="214884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Traffic logs show policy, action, interfaces, addresses, ports and bytes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Event logs show system/admin/HA/routing events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Security logs show profile detections and actions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Session table shows live state; sniffer shows packets; debug flow explains decisions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54112" y="4553712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Safe operation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54112" y="4882896"/>
            <a:ext cx="3401568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 deny without a session points to policy/route processing; a session without replies points downstream/return path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042 • DAY 1 • BLOCK 04 • NAT, Logging &amp; CLI Troubleshooting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NAT in both directions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39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Record original tuple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Read translated session tuple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140756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Capture LAN side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Capture WAN/server side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Match reply translation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session shows original and translated tuples, and packet captures show the reverse translation on the reply.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40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Check only the public side of DNAT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Capture WAN and DMZ sides; comparing tuples shows whether the VIP translated and forwarded.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Run unfiltered debug flow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Filter by address/port and bound the capture; this prevents noise and operational impact.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Clear all sessions after a change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Use a new five-tuple or narrow session filter; broad clearing disrupts unrelated users.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41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Define the expected original and translated tuples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Check route and matching policy/VIP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Inspect live session state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Capture at two interfaces to localize loss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Run filtered debug flow; disable/reset immediately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Inspect live session state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Capture at two interfaces to localize loss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Run filtered debug flow; disable/reset immediately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045 • DAY 1 • BLOCK 04 • NAT, Logging &amp; CLI Troubleshooting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42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274735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Routing and policy fundamentals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A test client and reachable service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Predict SNAT and VIP translations, generate one test flow, and collect a log plus two-side packet behavior. Session clearing is optional and instructor-controlled because it disrupts traffic.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88667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Predict SNAT and VIP translations, generate one test flow, and collect a log plus two-side packet behavior. Session clearing is optional and instructor-controlled because it disrupts traffic.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session shows original and translated tuples, and packet captures show the reverse translation on the reply.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046 • DAY 1 • BLOCK 04 • NAT, Logging &amp; CLI Troubleshooting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43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Which log best proves the firewall policy and NAT result for a connection?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must be done after a debug-flow demonstration?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047 • DAY 1 • BLOCK 04 • NAT, Logging &amp; CLI Troubleshooting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2  •  09:00–10:30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Routing Fundamentals &amp; Route Selection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Foundations • Day 2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Interpret static and default routes in the routing table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Explain longest prefix, administrative distance, priority and ECMP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Validate next-hop and return-path behavior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Day 1 five-tuple and interface concepts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Illustrative addresses from slide 3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Two next hops for ECMP demonstration if available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~52 min • reserve ~38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048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45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Route selection starts with the most specific prefix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CANDIDATES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10.20.10.0/24 via VPN, distance 10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10.20.0.0/16 via WAN2, distance 5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0.0.0.0/0 via WAN1, distance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WINNER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The /24 wins by longest prefix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Distance is compared only among equal prefixes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Return path requires an independent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10.20.10.25 matches /24 over /16 over /0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049 • DAY 2 • BLOCK 05 • Routing Fundamentals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46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A default route is a last-resort candidate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0.0.0.0/0 matches any IPv4 destination but loses to every more-specific route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The next hop must be reachable on the configured interface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Multiple defaults can provide preference or ECMP depending on distance/priority and state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Default gateway on a host points to FortiGate; default route on FortiGate points upstream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Client default gateway 10.10.10.1; FortiGate default route via ISP-A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Test gateway reachability with source interface/address specified.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routing table installs the most-specific eligible route with the expected next hop.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050 • DAY 2 • BLOCK 05 • Routing Fundamentals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47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Administrative distance expresses source trust, not path quality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Lower distance is preferred for equal prefixes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Different protocols have defaults; explicit changes should be documented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 lower distance does not fix an unreachable next hop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Use SD-WAN/health logic for measured service quality rather than abusing distance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Static and OSPF learn the same /24; compare distance and installation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Inspect both protocol database and active routing table.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routing table installs the most-specific eligible route with the expected next hop.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051 • DAY 2 • BLOCK 05 • Routing Fundamentals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48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ECMP installs equal-cost next hops; sessions choose a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965960"/>
            <a:ext cx="310896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051560" y="2130552"/>
            <a:ext cx="292607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CLIENT FLOWS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26280" y="1965960"/>
            <a:ext cx="310896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4617720" y="2130552"/>
            <a:ext cx="292607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FORTIGATE
ECMP HASH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092440" y="1965960"/>
            <a:ext cx="310896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8183879" y="2130552"/>
            <a:ext cx="292607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ISP-A / ISP-B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822960" y="3383280"/>
            <a:ext cx="10515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Two equal defaults distribute new sessions; one existing session does not split packet by packet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60120" y="4069080"/>
            <a:ext cx="10241280" cy="14173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Routes must be equal under relevant selection criteria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A session is normally pinned to one selected next hop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Per-packet assumptions are unsafe; hashing and platform behavior require confirmation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Symmetry, NAT and upstream state affect failover outcomes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60120" y="5650992"/>
            <a:ext cx="1024128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Generate multiple five-tuples and compare the egress interface recorded in each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052 • DAY 2 • BLOCK 05 • Routing Fundamentals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Candidate route selection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49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List matching prefixes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Choose longest prefix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756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Compare distance for ties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3371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Resolve next hop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Check return 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routing table installs the most-specific eligible route with the expected next hop.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50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Compare distance across different prefixes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Choose longest prefix first; distance is compared among equal prefixes.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Assume ECMP splits each packet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Generate multiple sessions; ECMP generally selects per flow/session.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Ignore the reverse route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Run a lookup for the client prefix; the reply uses an independent decision.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51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Look up the exact destination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Verify the selected prefix and next hop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Test next-hop reachability from the expected source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Check policy/session egress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Repeat lookup for return destination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Test next-hop reachability from the expected source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policy/session egress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Repeat lookup for return destination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055 • DAY 2 • BLOCK 05 • Routing Fundamentals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52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274735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Day 1 five-tuple and interface concepts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Illustrative addresses from slide 3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Create two static candidates using instructor-approved lab routes, predict the winner, then validate route-table result and test flow. Avoid changing shared default routes without rollback.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6250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Create two static candidates using instructor-approved lab routes, predict the winner, then validate route-table result and test flow. Avoid changing shared default routes without rollback.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routing table installs the most-specific eligible route with the expected next hop.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056 • DAY 2 • BLOCK 05 • Routing Fundamentals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53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Which criterion is evaluated before administrative distance?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Why might equal routes not visibly split one connection?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057 • DAY 2 • BLOCK 05 • Routing Fundamentals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2  •  10:30–12:00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Object Management &amp; Policy Design Best Practices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Foundations • Day 2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Create clear address, service and group objects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Apply naming, reuse and ownership conventions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Review policies for maintainability and operational clarity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Day 1 policy evaluation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Agreed naming standard or instructor example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Read-only review is sufficient for shared labs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~50 min • reserve ~40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058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55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Objects turn intent into reusable selectors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Address objects represent hosts, subnets, ranges, FQDNs or interfaces as supported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Service objects represent protocol and port ranges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Groups reduce repetition but can hide overly broad membership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Comments, owners and lifecycle information improve change safety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APP-PROD-10.10.20.10 and SVC-HTTPS-8443 are clearer than “server1” and “custom1”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Expand group membership and confirm the concrete match values.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policy references the intended reusable objects and the test traffic matches that policy ID.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059 • DAY 2 • BLOCK 06 • Objects &amp; Policy Design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56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Naming should survive interface and personnel changes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Name by function, environment and scope rather than transient ticket numbers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Avoid embedding unverified geography or ownership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Use consistent prefixes only when they add search value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Document exceptions and expiration dates for temporary objects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TEMP-VENDOR-HTTPS-EXP-2026-10-31 is auditable if lifecycle is enforced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Search for duplicates, unused objects and ambiguous names before adding new ones.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policy references the intended reusable objects and the test traffic matches that policy ID.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060 • DAY 2 • BLOCK 06 • Objects &amp; Policy Design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57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Reusability must not erase policy intent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Reuse canonical network/service objects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Create a group when members genuinely share policy treatment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Do not create mega-groups that make logging and review opaque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FQDN/dynamic objects add resolution dependencies that must be monitored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A web-services group may be valid; “ALL-SERVERS” usually needs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Trace one object from definition to policy and traffic log.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policy references </a:t>
            </a:r>
            <a:r>
              <a:rPr sz="1000" b="0">
                <a:solidFill>
                  <a:srgbClr val="687385"/>
                </a:solidFill>
              </a:rPr>
              <a:t>the </a:t>
            </a:r>
            <a:r>
              <a:rPr lang="en-GB" sz="1000" b="0">
                <a:solidFill>
                  <a:srgbClr val="687385"/>
                </a:solidFill>
              </a:rPr>
              <a:t>intended reusable objects </a:t>
            </a:r>
            <a:r>
              <a:rPr sz="1000" b="0">
                <a:solidFill>
                  <a:srgbClr val="687385"/>
                </a:solidFill>
              </a:rPr>
              <a:t>and </a:t>
            </a:r>
            <a:r>
              <a:rPr lang="en-GB" sz="1000" b="0">
                <a:solidFill>
                  <a:srgbClr val="687385"/>
                </a:solidFill>
              </a:rPr>
              <a:t>the test </a:t>
            </a:r>
            <a:r>
              <a:rPr sz="1000" b="0">
                <a:solidFill>
                  <a:srgbClr val="687385"/>
                </a:solidFill>
              </a:rPr>
              <a:t>traffic</a:t>
            </a:r>
            <a:r>
              <a:rPr lang="en-GB" sz="1000" b="0">
                <a:solidFill>
                  <a:srgbClr val="687385"/>
                </a:solidFill>
              </a:rPr>
              <a:t> matches that policy ID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061 • DAY 2 • BLOCK 06 • Objects &amp; Policy Design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58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Maintainable policy has a clear purpose and owner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CLEAR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Specific objects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Single business purpose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Expected logging/profile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Named owner/lifecycle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FRAGILE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all/all services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Mixed purposes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No comment or owner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Permanent temporary access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 policy name should let an operator predict source, destination and service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062 • DAY 2 • BLOCK 06 • Objects &amp; Policy Design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Policy review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59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Expand object groups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Compare scope to intent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140756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Check rule order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313371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Review logs/hits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Retain rollback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policy references the intended reusable objects and the test traffic matches that policy ID.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60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Create duplicate objects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Search existing objects first; canonical objects reduce inconsistent policy scope.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Use mega-groups for convenience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Group only members with the same owner and treatment; large mixed groups hide access.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Delete a zero-hit rule immediately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Confirm logging window, seasonality and owner; zero hits alone does not prove obsolescence.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61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Start from a failing/desired five-tuple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Resolve object membership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Check service protocol and port ranges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Inspect order, action, NAT and profiles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291751"/>
            <a:ext cx="1830628" cy="70173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Use </a:t>
            </a:r>
            <a:r>
              <a:rPr lang="en-GB" sz="1400" b="1">
                <a:solidFill>
                  <a:srgbClr val="1E2B40"/>
                </a:solidFill>
              </a:rPr>
              <a:t>traffic logs, </a:t>
            </a:r>
            <a:r>
              <a:rPr sz="1400" b="1">
                <a:solidFill>
                  <a:srgbClr val="1E2B40"/>
                </a:solidFill>
              </a:rPr>
              <a:t>hit </a:t>
            </a:r>
            <a:r>
              <a:rPr lang="en-GB" sz="1400" b="1">
                <a:solidFill>
                  <a:srgbClr val="1E2B40"/>
                </a:solidFill>
              </a:rPr>
              <a:t>counters</a:t>
            </a:r>
            <a:r>
              <a:rPr sz="1400" b="1">
                <a:solidFill>
                  <a:srgbClr val="1E2B40"/>
                </a:solidFill>
              </a:rPr>
              <a:t> and change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09510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service protocol and port ranges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Inspect order, action, NAT and profiles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Use </a:t>
            </a:r>
            <a:r>
              <a:rPr lang="en-GB"/>
              <a:t>traffic logs, </a:t>
            </a:r>
            <a:r>
              <a:t>hit </a:t>
            </a:r>
            <a:r>
              <a:rPr lang="en-GB"/>
              <a:t>counters</a:t>
            </a:r>
            <a:r>
              <a:t> and change history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065 • DAY 2 • BLOCK 06 • Objects &amp; Policy Design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62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274735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Day 1 policy evaluation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Agreed naming standard or instructor example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Review three policies for naming, reuse, scope and ownership. Propose changes without applying them unless each learner has an isolated configuration and rollback.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6250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Review three policies for naming, reuse, scope and ownership. Propose changes without applying them unless each learner has an isolated configuration and rollback.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policy references the intended reusable objects and the test traffic matches that policy ID.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066 • DAY 2 • BLOCK 06 • Objects &amp; Policy Design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63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When should objects be grouped?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Why is a zero hit count insufficient to delete a rule?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067 • DAY 2 • BLOCK 06 • Objects &amp; Policy Design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2  •  13:00–14:30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Security Services &amp; SSL Inspection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Foundations • Day 2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Explain AV, IPS, Web Filter and Application Control roles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Sequence security profiles with inspection prerequisites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Compare certificate and deep inspection with PKI and operational impacts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Working outbound policy and logging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Instructor-managed test content only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Trusted inspection CA distribution for deep-inspection lab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~58 min • reserve ~32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068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65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Security profiles answer different detection questions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CONTENT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Antivirus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Web content/category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BEHAVIOR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IPS exploits/protocols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Application signatures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One session may trigger multiple profile decisions; logs must be correlated by time/session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069 • DAY 2 • BLOCK 07 • Security Services &amp; SSL Inspection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66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Inspection mode determines what profiles can see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Flow mode streams traffic through engines with lower buffering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Proxy mode terminates/proxies supported protocols for deeper protocol handling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Feature behavior and availability vary by profile/protocol/release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Choose mode by required controls and tested compatibility, not habit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Document the required visibility first; then choose inspection/profile combination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Check policy inspection mode and profile attachment in the FortiOS 7.6.7 build.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client trusts the inspection certificate and the relevant security profile records the intended action.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070 • DAY 2 • BLOCK 07 • Security Services &amp; SSL Inspection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67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Certificate inspection and deep inspection solve different problems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CERTIFICATE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Handshake metadata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No payload decryption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Lower endpoint impact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DEEP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Payload visible to profiles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Inspection CA required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Compatibility/performance impact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Certificate inspection can categorize based on visible data; deep inspection enables content scanning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071 • DAY 2 • BLOCK 07 • Security Services &amp; SSL Inspection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Deep inspection creates two TLS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Certificate inspection reads handshake metadata but does not decrypt the application payload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68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548640" y="1874519"/>
            <a:ext cx="201168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21792" y="1993391"/>
            <a:ext cx="186537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21792" y="2350008"/>
            <a:ext cx="186537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trusts Inspection CA</a:t>
            </a:r>
          </a:p>
        </p:txBody>
      </p:sp>
      <p:sp>
        <p:nvSpPr>
          <p:cNvPr id="11" name="Right Arrow 10"/>
          <p:cNvSpPr>
            <a:spLocks/>
          </p:cNvSpPr>
          <p:nvPr/>
        </p:nvSpPr>
        <p:spPr>
          <a:xfrm>
            <a:off x="2606040" y="2221992"/>
            <a:ext cx="109728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606040" y="1965960"/>
            <a:ext cx="10972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TLS #1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691640"/>
            <a:ext cx="2423160" cy="12801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3822191" y="1810512"/>
            <a:ext cx="22768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FORTIGATE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822191" y="2167128"/>
            <a:ext cx="227685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decrypt • inspect • re-encrypt</a:t>
            </a:r>
          </a:p>
        </p:txBody>
      </p:sp>
      <p:sp>
        <p:nvSpPr>
          <p:cNvPr id="16" name="Right Arrow 15"/>
          <p:cNvSpPr>
            <a:spLocks/>
          </p:cNvSpPr>
          <p:nvPr/>
        </p:nvSpPr>
        <p:spPr>
          <a:xfrm>
            <a:off x="6217920" y="2221992"/>
            <a:ext cx="109728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/>
          <p:nvPr/>
        </p:nvSpPr>
        <p:spPr>
          <a:xfrm>
            <a:off x="6217920" y="1965960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TLS #2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874519"/>
            <a:ext cx="201168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7434072" y="1993391"/>
            <a:ext cx="186537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SERVER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434072" y="2350008"/>
            <a:ext cx="186537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original certificate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Certificate presented to client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85800" y="3730752"/>
            <a:ext cx="38862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1">
                <a:solidFill>
                  <a:srgbClr val="233A59"/>
                </a:solidFill>
              </a:rPr>
              <a:t>Replacement certificate for server name
signed by the FortiGate Inspection 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9260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Certificate received from server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9400" y="3730752"/>
            <a:ext cx="324612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1">
                <a:solidFill>
                  <a:srgbClr val="233A59"/>
                </a:solidFill>
              </a:rPr>
              <a:t>Original server certificate
validated by FortiGate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600200"/>
            <a:ext cx="1691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CERTIFICATE INSPECTION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9738360" y="1965960"/>
            <a:ext cx="182880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>
                <a:solidFill>
                  <a:srgbClr val="1E2B40"/>
                </a:solidFill>
              </a:defRPr>
            </a:pPr>
            <a:r>
              <a:rPr lang="en-GB"/>
              <a:t>• No payload decryption</a:t>
            </a:r>
          </a:p>
          <a:p>
            <a:pPr>
              <a:spcAft>
                <a:spcPts val="400"/>
              </a:spcAft>
              <a:defRPr sz="1200">
                <a:solidFill>
                  <a:srgbClr val="1E2B40"/>
                </a:solidFill>
              </a:defRPr>
            </a:pPr>
            <a:r>
              <a:rPr lang="en-GB"/>
              <a:t>• Reads visible TLS metadata</a:t>
            </a:r>
          </a:p>
          <a:p>
            <a:pPr>
              <a:spcAft>
                <a:spcPts val="400"/>
              </a:spcAft>
              <a:defRPr sz="1200">
                <a:solidFill>
                  <a:srgbClr val="1E2B40"/>
                </a:solidFill>
              </a:defRPr>
            </a:pPr>
            <a:r>
              <a:rPr lang="en-GB"/>
              <a:t>• Cannot scan encrypted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33872"/>
            <a:ext cx="7315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769864"/>
            <a:ext cx="987552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233A59"/>
                </a:solidFill>
              </a:rPr>
              <a:t>The browser trusts the replacement certificate only when the inspection CA is installed and trusted on the endpoint.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HTTPS profile interaction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69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Policy selects SSL profile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TLS visibility is established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756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Security profiles inspect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Traffic/security logs record action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Client receives allow/block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client trusts the inspection certificate and the relevant security profile records the intended action.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70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Enable deep inspection without CA deployment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Install and trust the inspection CA on managed clients; otherwise browsers reject replacement certificates.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Expect certificate inspection to scan payload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Use deep inspection when content scanning is required; certificate inspection does not decrypt payload.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Blame the profile before checking TLS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Check certificate chain, time and pinning first; TLS can fail before a profile scans content.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71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Prove basic path and policy first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Check TLS handshake/certificate errors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Confirm inspection mode and client trust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Identify which profile blocked or reset the session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Test an approved exception without broad bypass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Confirm inspection mode and client trust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Identify which profile blocked or reset the session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Test an approved exception without broad bypass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075 • DAY 2 • BLOCK 07 • Security Services &amp; SSL Inspection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72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302204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Working outbound policy and logging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Instructor-managed test content only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Compare certificate and deep inspection on an instructor-approved HTTPS target. Prerequisite: isolated managed endpoint and inspection CA. If unavailable, use a conceptual certificate-chain exercise.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Compare certificate and deep inspection on an instructor-approved HTTPS target. Prerequisite: isolated managed endpoint and inspection CA. If unavailable, use a conceptual certificate-chain exercise.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client trusts the inspection certificate and the relevant security profile records the intended action.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076 • DAY 2 • BLOCK 07 • Security Services &amp; SSL Inspection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73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payload does certificate inspection decrypt?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Why can deep inspection break an otherwise reachable site?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077 • DAY 2 • BLOCK 07 • Security Services &amp; SSL Inspection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2  •  14:30–16:00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FortiGate Hardware Architecture, Monitoring &amp; Operations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Foundations • Day 2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Distinguish management, control and data planes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Explain NP/CP acceleration, fast/slow path and VM limitations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Monitor firmware, sessions, CPU, memory and Conserve Mode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506182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Read-only operational access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Lab baseline: FortiOS 7.6.7 Azure FGVM; physical appliance concepts are theoretical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Maintenance window for upgrades or disruptive tests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~54 min • reserve ~36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078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75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Planes separate configuration, decisions and packet work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MANAGEMENT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GUI/CLI/API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Admins/config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4370831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CONTROL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1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370831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Routes/HA/state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Protocol decisions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8083296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83296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>
            <a:spLocks/>
          </p:cNvSpPr>
          <p:nvPr/>
        </p:nvSpPr>
        <p:spPr>
          <a:xfrm>
            <a:off x="8083296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Sessions/forwarding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NAT/security engines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GUI responsiveness does not prove packet forwarding health; forwarding does not prove routing adjacency health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079 • DAY 2 • BLOCK 08 • Hardware, Monitoring &amp; Operations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Appliance offload and Azure FGVM use different datapaths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First packets and unsupported features remain on the CPU path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76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481328"/>
            <a:ext cx="42976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200" b="1">
                <a:solidFill>
                  <a:srgbClr val="E60012"/>
                </a:solidFill>
              </a:rPr>
              <a:t>PHYSICAL FORTIGATE APPLIANCE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685800" y="1874519"/>
            <a:ext cx="1874519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58952" y="1993391"/>
            <a:ext cx="17282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CPU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58952" y="2350008"/>
            <a:ext cx="1728216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session setup
route • policy • NAT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2286000"/>
            <a:ext cx="731520" cy="18288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606040" y="2029967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eligible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3383280" y="1874519"/>
            <a:ext cx="1874519" cy="1143000"/>
          </a:xfrm>
          <a:prstGeom prst="rect">
            <a:avLst/>
          </a:prstGeom>
          <a:solidFill>
            <a:srgbClr val="23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/>
          <p:nvPr/>
        </p:nvSpPr>
        <p:spPr>
          <a:xfrm>
            <a:off x="3456432" y="1993391"/>
            <a:ext cx="17282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NP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456432" y="2350008"/>
            <a:ext cx="172821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accelerated forwarding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777240" y="3310128"/>
            <a:ext cx="43434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CP assists supported content / crypto processing on applicable models and features.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85800" y="4160520"/>
            <a:ext cx="31089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TRAFFIC THAT STAYS ON CPU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85800" y="4480560"/>
            <a:ext cx="4389120" cy="776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>
                <a:solidFill>
                  <a:srgbClr val="1E2B40"/>
                </a:solidFill>
              </a:defRPr>
            </a:pPr>
            <a:r>
              <a:rPr lang="en-GB"/>
              <a:t>• First packets and session setup</a:t>
            </a:r>
          </a:p>
          <a:p>
            <a:pPr>
              <a:spcAft>
                <a:spcPts val="400"/>
              </a:spcAft>
              <a:defRPr sz="1300">
                <a:solidFill>
                  <a:srgbClr val="1E2B40"/>
                </a:solidFill>
              </a:defRPr>
            </a:pPr>
            <a:r>
              <a:rPr lang="en-GB"/>
              <a:t>• Unsupported/offload-ineligible features</a:t>
            </a:r>
          </a:p>
          <a:p>
            <a:pPr>
              <a:spcAft>
                <a:spcPts val="400"/>
              </a:spcAft>
              <a:defRPr sz="1300">
                <a:solidFill>
                  <a:srgbClr val="1E2B40"/>
                </a:solidFill>
              </a:defRPr>
            </a:pPr>
            <a:r>
              <a:rPr lang="en-GB"/>
              <a:t>• Exceptional traffic and control-plane work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97880" y="1463040"/>
            <a:ext cx="0" cy="406908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63640" y="1481328"/>
            <a:ext cx="42976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200" b="1">
                <a:solidFill>
                  <a:srgbClr val="E60012"/>
                </a:solidFill>
              </a:rPr>
              <a:t>AZURE FORTIGATE-VM LAB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874519"/>
            <a:ext cx="1920240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1993391"/>
            <a:ext cx="17739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vCPU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350008"/>
            <a:ext cx="177393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FortiOS software path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275320" y="2286000"/>
            <a:ext cx="731520" cy="18288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2029967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vNIC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874519"/>
            <a:ext cx="2057400" cy="1143000"/>
          </a:xfrm>
          <a:prstGeom prst="rect">
            <a:avLst/>
          </a:prstGeom>
          <a:solidFill>
            <a:srgbClr val="23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25712" y="1993391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AZURE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2350008"/>
            <a:ext cx="1911095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VM/vNIC/cloud acceleration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429000"/>
            <a:ext cx="457200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No physical NP/CP ASIC datapath</a:t>
            </a:r>
          </a:p>
          <a:p>
            <a:pPr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Use CPU/session counters for lab learning</a:t>
            </a:r>
          </a:p>
          <a:p>
            <a:pPr>
              <a:spcAft>
                <a:spcPts val="400"/>
              </a:spcAft>
              <a:defRPr sz="1400">
                <a:solidFill>
                  <a:srgbClr val="1E2B40"/>
                </a:solidFill>
              </a:defRPr>
            </a:pPr>
            <a:r>
              <a:t>• Do not extrapolate FGVM results to appliance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Teach appliance NP/CP concepts separately from what learners can actually verify in the Azure FGVM lab.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77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Fast path and slow path describe processing eligibility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Session setup and exceptional traffic require CPU decisions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Established eligible sessions may be offloaded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Inspection, fragmentation, tunneling or feature choices can affect eligibility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No-offload is not automatically a fault; compare with documented support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A session can work correctly without offload but consume more 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Inspect session offload flags/counters only with platform-specific documentation.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CPU, memory </a:t>
            </a:r>
            <a:r>
              <a:rPr sz="1000" b="0">
                <a:solidFill>
                  <a:srgbClr val="687385"/>
                </a:solidFill>
              </a:rPr>
              <a:t>and </a:t>
            </a:r>
            <a:r>
              <a:rPr lang="en-GB" sz="1000" b="0">
                <a:solidFill>
                  <a:srgbClr val="687385"/>
                </a:solidFill>
              </a:rPr>
              <a:t>session values are recorded; appliance-only offload counters are not inferred from Azure FGVM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081 • DAY 2 • BLOCK 08 • Hardware, Monitoring &amp; Operations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Operations baseline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78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Record build and uptime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Count sessions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140756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Sample CPU/memory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Check Conserve Mode events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Compare with normal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CPU, memory and session values are recorded; appliance-only offload counters are not inferred from Azure FGVM.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79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Expect NP/CP counters in Azure FGVM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Use VM CPU/session counters in the lab; ASIC offload requires a physical appliance.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Upgrade without backup and release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Back up and read 7.6.7 release notes/upgrade path; this preserves rollback.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Treat Conserve Mode as one process fault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Check memory trend, sessions, proxy use and top processes; multiple consumers can trigger it.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80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Confirm current build/model/VM and recent changes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Compare CPU, memory and session counts to baseline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Identify top consumers and inspection load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Check Conserve Mode thresholds/events and proxy behavior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Mitigate safely; preserve evidence before restart/upgrade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Identify top consumers and inspection load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Conserve Mode thresholds/events and proxy behavior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Mitigate safely; preserve evidence before restart/upgrade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084 • DAY 2 • BLOCK 08 • Hardware, Monitoring &amp; Operations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81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302204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Read-only operational access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Model/build and deployment type identified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Collect a read-only baseline: build, uptime, interfaces, sessions, CPU and memory. ASIC/offload validation is an instructor appliance demo; firmware change is demonstration unless a maintenance window and rollback exist.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Collect a read-only baseline: build, uptime, interfaces, sessions, CPU and memory. ASIC/offload validation is an instructor appliance demo; firmware change is demonstration unless a maintenance window and rollback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CPU, memory </a:t>
            </a:r>
            <a:r>
              <a:rPr sz="1000" b="0">
                <a:solidFill>
                  <a:srgbClr val="687385"/>
                </a:solidFill>
              </a:rPr>
              <a:t>and </a:t>
            </a:r>
            <a:r>
              <a:rPr lang="en-GB" sz="1000" b="0">
                <a:solidFill>
                  <a:srgbClr val="687385"/>
                </a:solidFill>
              </a:rPr>
              <a:t>session values are recorded; appliance-only offload counters are not inferred from Azure FGVM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085 • DAY 2 • BLOCK 08 • Hardware, Monitoring &amp; Operations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82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Why can a VM lab not prove NP/CP offload behavior?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is Conserve Mode?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086 • DAY 2 • BLOCK 08 • Hardware, Monitoring &amp; Operations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3  •  09:00–10:30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Route Selection, PBR &amp; OSPF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Advanced • Day 1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Explain route selection interactions with PBR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Plan controlled route redistribution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Establish OSPF neighbors and trace LSA-to-route exchange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Static routing mastery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Two routing peers or instructor simulation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Unique router IDs and non-overlapping lab prefixes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~56 min • reserve ~34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087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84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PBR can override destination-route intent for selected traffic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Packet fields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PBR match?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Next hop valid?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Forward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Fallback 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If matched and valid, it directs a next hop/interface before normal route selection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A supporting route and reachable next hop are still required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PBR increases operational complexity; document scope and fallback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Inspect policy-route list and debug-flow route decision for the exact test tuple.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088 • DAY 3 • BLOCK 09 • Route Selection, PBR &amp; OSPF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85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Redistribution moves selected routes between protocols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Redistribute only intentional prefixes with route maps/prefix filters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Metrics and tags help prevent loops and control preference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 route in one database is not automatically advertised into another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Default-route origination should be conditional and documented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Static branch /24 enters OSPF only if it passes the prefix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Verify source route, redistribution rule, advertised LSA and remote installation.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OSPF neighbor reaches Full and the advertised branch prefix is installed with </a:t>
            </a:r>
            <a:r>
              <a:rPr sz="1000" b="0">
                <a:solidFill>
                  <a:srgbClr val="687385"/>
                </a:solidFill>
              </a:rPr>
              <a:t>the </a:t>
            </a:r>
            <a:r>
              <a:rPr lang="en-GB" sz="1000" b="0">
                <a:solidFill>
                  <a:srgbClr val="687385"/>
                </a:solidFill>
              </a:rPr>
              <a:t>expected next hop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089 • DAY 3 • BLOCK 09 • Route Selection, PBR &amp; OSPF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OSPF neighbors exchange LSAs; SPF installs the best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Concrete example: Branch advertises 10.20.10.0/24 into area 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86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685800" y="1965960"/>
            <a:ext cx="192024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58952" y="2084831"/>
            <a:ext cx="17739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HQ FGT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58952" y="2441448"/>
            <a:ext cx="177393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RID 10.255.0.1</a:t>
            </a:r>
          </a:p>
        </p:txBody>
      </p:sp>
      <p:sp>
        <p:nvSpPr>
          <p:cNvPr id="11" name="Right Arrow 10"/>
          <p:cNvSpPr>
            <a:spLocks/>
          </p:cNvSpPr>
          <p:nvPr/>
        </p:nvSpPr>
        <p:spPr>
          <a:xfrm>
            <a:off x="2651760" y="2304288"/>
            <a:ext cx="11887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651760" y="2048256"/>
            <a:ext cx="118872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Hello / DBD / LSA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965960"/>
            <a:ext cx="1920240" cy="914400"/>
          </a:xfrm>
          <a:prstGeom prst="rect">
            <a:avLst/>
          </a:prstGeom>
          <a:solidFill>
            <a:srgbClr val="23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3959352" y="2084831"/>
            <a:ext cx="17739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AREA 0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959352" y="2441448"/>
            <a:ext cx="177393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transit network</a:t>
            </a:r>
          </a:p>
        </p:txBody>
      </p:sp>
      <p:sp>
        <p:nvSpPr>
          <p:cNvPr id="16" name="Right Arrow 15"/>
          <p:cNvSpPr>
            <a:spLocks/>
          </p:cNvSpPr>
          <p:nvPr/>
        </p:nvSpPr>
        <p:spPr>
          <a:xfrm>
            <a:off x="5852160" y="2304288"/>
            <a:ext cx="118872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/>
          <p:nvPr/>
        </p:nvSpPr>
        <p:spPr>
          <a:xfrm>
            <a:off x="5852160" y="2048256"/>
            <a:ext cx="1188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LSA / 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1965960"/>
            <a:ext cx="192024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7159752" y="2084831"/>
            <a:ext cx="17739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BRANCH FGT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159752" y="2441448"/>
            <a:ext cx="177393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RID 10.255.0.2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1965960"/>
            <a:ext cx="192024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9628632" y="2084831"/>
            <a:ext cx="17739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BRANCH LAN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9628632" y="2441448"/>
            <a:ext cx="177393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10.20.10.0/24</a:t>
            </a:r>
          </a:p>
        </p:txBody>
      </p:sp>
      <p:sp>
        <p:nvSpPr>
          <p:cNvPr id="24" name="Right Arrow 23"/>
          <p:cNvSpPr>
            <a:spLocks/>
          </p:cNvSpPr>
          <p:nvPr/>
        </p:nvSpPr>
        <p:spPr>
          <a:xfrm>
            <a:off x="9052560" y="2304288"/>
            <a:ext cx="45720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5" name="TextBox 24"/>
          <p:cNvSpPr txBox="1"/>
          <p:nvPr/>
        </p:nvSpPr>
        <p:spPr>
          <a:xfrm>
            <a:off x="9052560" y="2048256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LAN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777240" y="3474720"/>
            <a:ext cx="20116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NEIGHBOR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94760"/>
            <a:ext cx="50292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Down → Init → 2-Way → ExStart → Exchange → Loading → Full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474720"/>
            <a:ext cx="20116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HQ ROUTING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94760"/>
            <a:ext cx="4572000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O 10.20.10.0/24 via &lt;Branch overlay IP&gt;
The route appears only after adjacency and LSA processing.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833872"/>
            <a:ext cx="7315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Full adjacency is necessary, but the learned prefix must also appear in the LSDB and active routing table.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87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LSAs build a shared topology; SPF installs best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965960"/>
            <a:ext cx="221742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051560" y="2130552"/>
            <a:ext cx="203453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R1 AREA 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7539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34739" y="1965960"/>
            <a:ext cx="221742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3726179" y="2130552"/>
            <a:ext cx="203453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LSA FLOOD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59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09359" y="1965960"/>
            <a:ext cx="221742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400799" y="2130552"/>
            <a:ext cx="203453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R2 LSDB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26780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983980" y="1965960"/>
            <a:ext cx="221742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075419" y="2130552"/>
            <a:ext cx="203453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SPF → ROUTE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822960" y="3383280"/>
            <a:ext cx="10515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A connected /24 is advertised, appears in LSDB, then installs as OSPF route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960120" y="4069080"/>
            <a:ext cx="10241280" cy="14173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Routers flood link-state information within defined scope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Area design limits flooding and supports hierarchy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The LSDB is not the routing table; SPF derives candidate paths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Route type and metric influence the installed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650992"/>
            <a:ext cx="1024128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Compare </a:t>
            </a:r>
            <a:r>
              <a:rPr lang="en-GB" sz="1300" b="1">
                <a:solidFill>
                  <a:srgbClr val="E60012"/>
                </a:solidFill>
              </a:rPr>
              <a:t>the </a:t>
            </a:r>
            <a:r>
              <a:rPr sz="1300" b="1">
                <a:solidFill>
                  <a:srgbClr val="E60012"/>
                </a:solidFill>
              </a:rPr>
              <a:t>OSPF database, </a:t>
            </a:r>
            <a:r>
              <a:rPr lang="en-GB" sz="1300" b="1">
                <a:solidFill>
                  <a:srgbClr val="E60012"/>
                </a:solidFill>
              </a:rPr>
              <a:t>installed route </a:t>
            </a:r>
            <a:r>
              <a:rPr sz="1300" b="1">
                <a:solidFill>
                  <a:srgbClr val="E60012"/>
                </a:solidFill>
              </a:rPr>
              <a:t>and </a:t>
            </a:r>
            <a:r>
              <a:rPr lang="en-GB" sz="1300" b="1">
                <a:solidFill>
                  <a:srgbClr val="E60012"/>
                </a:solidFill>
              </a:rPr>
              <a:t>one forwarded test flow</a:t>
            </a:r>
            <a:r>
              <a:rPr sz="1300" b="1">
                <a:solidFill>
                  <a:srgbClr val="E60012"/>
                </a:solidFill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091 • DAY 3 • BLOCK 09 • Route Selection, PBR &amp; OSPF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2011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088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OSPF route exchange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88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Reach Full neighbor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Receive/flood LSA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140756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Run SPF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3371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Install route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Forward test traffic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OSPF neighbor reaches Full and the advertised branch prefix is installed with the expected next hop.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89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Troubleshoot only the routing table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Check neighbor state and LSDB first; no route installs until adjacency and LSA exchange succeed.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081528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Redistribute every route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Apply prefix/route-map filters; controlled redistribution prevents leaks and loops.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379976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Use PBR to hide a return-path problem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Correct both route directions; PBR only changes selected matching traffic.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90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Check physical/IP reachability and PBR scope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Verify OSPF interface/area/timers/authentication/MTU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Inspect neighbor state transition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Inspect LSDB and redistribution filter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Confirm active route, policy and return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Inspect neighbor state transition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Inspect LSDB and redistribution filter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Confirm active route, policy and return path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094 • DAY 3 • BLOCK 09 • Route Selection, PBR &amp; OSPF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91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274735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Static routing mastery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Two routing peers or instructor simulation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Form one OSPF adjacency or inspect an instructor capture, advertise a lab prefix, and prove neighbor → LSA → route → traffic. PBR change is isolated and includes rollback.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Form one OSPF adjacency or inspect an instructor capture, advertise a lab prefix, and prove neighbor → LSA → route → traffic. PBR change is isolated and includes rollback.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OSPF neighbor reaches Full and the advertised branch prefix is installed with the expected next hop.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095 • DAY 3 • BLOCK 09 • Route Selection, PBR &amp; OSPF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92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657039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Which command output shows route exchange beyond adjacency?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Why filter redistribution?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096 • DAY 3 • BLOCK 09 • Route Selection, PBR &amp; OSPF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3  •  10:30–12:00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800" b="1">
                <a:solidFill>
                  <a:srgbClr val="FFFFFF"/>
                </a:solidFill>
              </a:rPr>
              <a:t>BGP exchanges policy-controlled reachability between autonomous systems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BGP Fundamentals &amp; Practical Use • Advanced Day 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BGP IN ONE MINUTE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rPr lang="en-GB"/>
              <a:t>• An autonomous system (AS) applies one routing policy under an AS number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rPr lang="en-GB"/>
              <a:t>• eBGP peers use different ASes; iBGP peers share an AS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rPr lang="en-GB"/>
              <a:t>• TCP/179 and OPEN/KEEPALIVE must succeed before UPDATE messages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rPr lang="en-GB"/>
              <a:t>• Filters control which prefixes are accepted and advertised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PEERING STATE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Route to neighbor and TCP reachability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State progresses to Established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Intended prefix is advertised/received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Best path installs with reachable next hop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~58 min • reserve ~32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097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094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BGP policy controls which reachable prefixes cross an AS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Received does not automatically mean selected or installed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94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594360" y="1828800"/>
            <a:ext cx="2148840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67512" y="1947672"/>
            <a:ext cx="20025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HQ • AS 65010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67512" y="2304288"/>
            <a:ext cx="200253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advertises 10.10.10.0/24</a:t>
            </a:r>
          </a:p>
        </p:txBody>
      </p:sp>
      <p:sp>
        <p:nvSpPr>
          <p:cNvPr id="11" name="Right Arrow 10"/>
          <p:cNvSpPr>
            <a:spLocks/>
          </p:cNvSpPr>
          <p:nvPr/>
        </p:nvSpPr>
        <p:spPr>
          <a:xfrm>
            <a:off x="2788920" y="2267712"/>
            <a:ext cx="114300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788920" y="2011680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eBGP TCP/179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828800"/>
            <a:ext cx="2148840" cy="1143000"/>
          </a:xfrm>
          <a:prstGeom prst="rect">
            <a:avLst/>
          </a:prstGeom>
          <a:solidFill>
            <a:srgbClr val="23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4050791" y="1947672"/>
            <a:ext cx="20025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EDGE • AS 65020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2304288"/>
            <a:ext cx="200253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filter policy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72200" y="2267712"/>
            <a:ext cx="114300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172200" y="2011680"/>
            <a:ext cx="11430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accepted prefix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>
          <a:xfrm>
            <a:off x="7360920" y="1828800"/>
            <a:ext cx="2148840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7434072" y="1947672"/>
            <a:ext cx="20025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BRANCH • AS 65100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434072" y="2304288"/>
            <a:ext cx="200253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receives UPDATE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31520" y="3429000"/>
            <a:ext cx="30175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OUTBOUND FILTER AT AS 65010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49039"/>
            <a:ext cx="3474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3A59"/>
                </a:solidFill>
              </a:rPr>
              <a:t>permit 10.10.10.0/24
deny 0.0.0.0/0 le 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429000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CONTROL → FORWARDING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749039"/>
            <a:ext cx="29260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B40"/>
                </a:solidFill>
              </a:rPr>
              <a:t>1  Prefix received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41648"/>
            <a:ext cx="29260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B40"/>
                </a:solidFill>
              </a:rPr>
              <a:t>2  Policy permits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34255"/>
            <a:ext cx="29260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B40"/>
                </a:solidFill>
              </a:rPr>
              <a:t>3  Best path selected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626864"/>
            <a:ext cx="29260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B40"/>
                </a:solidFill>
              </a:rPr>
              <a:t>4  Next hop reachable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919472"/>
            <a:ext cx="29260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B40"/>
                </a:solidFill>
              </a:rPr>
              <a:t>5  Route installed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429000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INSTALLED ROUTE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49039"/>
            <a:ext cx="26517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3A59"/>
                </a:solidFill>
              </a:rPr>
              <a:t>B 10.10.10.0/24
via &lt;eBGP next hop&gt;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Troubleshoot BGP in order: peer Established → prefix permitted → best path selected → next hop resolved → route installed.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95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BGP neighbor state reveals the failed 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Idle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Connect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OpenSent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OpenConfirm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Established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OpenSent/OpenConfirm indicate BGP capability/parameter exchange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Established permits UPDATE messages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Timers, source address, multihop, password and AS configuration must agree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get router info bgp summary; inspect peer state, uptime and received/advertised counts.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099 • DAY 3 • BLOCK 10 • BGP Fundamentals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96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eBGP and iBGP serve different propagation roles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eBGP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Different AS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External policy boundary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AS_PATH changes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iBGP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Same AS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Internal distribution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Full mesh or RR design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Route reflector design is optional deep dive; do not infer full-mesh scalability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100 • DAY 3 • BLOCK 10 • BGP Fundamentals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97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Prefix advertisement requires route presence and policy permission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 network statement/redistribution mechanism does not create reachability by itself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The prefix must meet the platform’s origination conditions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Outbound filters prevent accidental leaks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Inbound filters and maximum-prefix controls limit accepted scope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Advertise 10.20.10.0/24 only; reject documentation default and unrelated internal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Compare local route, advertised-routes, peer received-routes and active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peer reaches Established, the permitted prefix is received, and </a:t>
            </a:r>
            <a:r>
              <a:rPr sz="1000" b="0">
                <a:solidFill>
                  <a:srgbClr val="687385"/>
                </a:solidFill>
              </a:rPr>
              <a:t>the </a:t>
            </a:r>
            <a:r>
              <a:rPr lang="en-GB" sz="1000" b="0">
                <a:solidFill>
                  <a:srgbClr val="687385"/>
                </a:solidFill>
              </a:rPr>
              <a:t>selected BGP </a:t>
            </a:r>
            <a:r>
              <a:rPr sz="1000" b="0">
                <a:solidFill>
                  <a:srgbClr val="687385"/>
                </a:solidFill>
              </a:rPr>
              <a:t>path </a:t>
            </a:r>
            <a:r>
              <a:rPr lang="en-GB" sz="1000" b="0">
                <a:solidFill>
                  <a:srgbClr val="687385"/>
                </a:solidFill>
              </a:rPr>
              <a:t>is installed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101 • DAY 3 • BLOCK 10 • BGP Fundamentals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98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BGP path selection is ordered, not a vote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PATH 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local-pref 200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AS_PATH 65020 65100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next hop reachable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4370831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PATH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1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370831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local-pref 100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AS_PATH 65200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next hop reachable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8083296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RESULT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83296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>
            <a:spLocks/>
          </p:cNvSpPr>
          <p:nvPr/>
        </p:nvSpPr>
        <p:spPr>
          <a:xfrm>
            <a:off x="8083296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A wins at local preference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Later criteria not evaluated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Validate best-path marker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Two /24 paths: higher local preference can win before shorter AS_PATH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102 • DAY 3 • BLOCK 10 • BGP Fundamentals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99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Route maps and prefix lists implement routing 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6583680" cy="42519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877824" y="1783080"/>
            <a:ext cx="61264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ILLUSTRATIVE CLI — validate on FortiOS 7.6.7 / Azure FortiGate-VM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877824" y="2212848"/>
            <a:ext cx="6080760" cy="3154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0">
                <a:solidFill>
                  <a:srgbClr val="E6ECF4"/>
                </a:solidFill>
                <a:latin typeface="Consolas"/>
              </a:rPr>
              <a:t>get router info bgp summary
get router info bgp network
get router info bgp neighbors &lt;peer&gt; advertised-routes
get router info bgp neighbors &lt;peer&gt; received-routes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54112" y="1719072"/>
            <a:ext cx="3154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READ THE OUTPUT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54112" y="2121408"/>
            <a:ext cx="3383280" cy="214884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Prefix lists match address and prefix-length ranges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Route maps match and permit/deny or set attributes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Direction matters: inbound changes acceptance; outbound changes advertisement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Always include an explicit policy for default/unmatched routes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54112" y="4553712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Safe operation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54112" y="4882896"/>
            <a:ext cx="3401568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Outbound permit for 10.20.10.0/24; deny everything else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103 • DAY 3 • BLOCK 10 • BGP Fundamentals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100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BGP state connects peer, prefix selection and forwarding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1820691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Peer state: Established with stable uptime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Control plane: expected prefix received/advertised and best path selected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Routing table: BGP route installed with intended next hop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Data plane: policy/session/packet behavior follows that next hop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A received route can lose selection or fail installation; never stop at prefix count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Capture summary, detailed prefix, route table and one test flow.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peer reaches Established, the permitted prefix is received, and the selected BGP path is installed.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104 • DAY 3 • BLOCK 10 • BGP Fundamentals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Controlled BGP advertisement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101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Peer reaches Established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Prefix list permits /24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756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UPDATE advertises prefix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Peer selects best path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Route installs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peer reaches Established, the permitted prefix is received, and the selected BGP path is installed.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102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Call Active state healthy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Check TCP/179 and peer parameters; BGP Active means the session is not Established.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Advertise a broad default accidentally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Use an explicit outbound prefix list and review advertised-routes before activation.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Tune attributes before next-hop reachability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Resolve the next hop first; an unusable path cannot enter forwarding.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103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Verify route and TCP/179 reachability to peer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Check local/remote AS, update source, password and timers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Reach Established; inspect notifications if not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Verify origination and inbound/outbound filters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Confirm best path, active route and return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Reach Established; inspect notifications if not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Verify origination and inbound/outbound filters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Confirm best path, active route and return path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107 • DAY 3 • BLOCK 10 • BGP Fundamentals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104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274735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IP reachability between peers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Unique AS and router-ID plan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Build or inspect one eBGP peering, advertise a single lab /24 through an explicit prefix list, then prove advertised, received, selected and forwarded state.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Build or inspect one eBGP peering, advertise a single lab /24 through an explicit prefix list, then prove advertised, received, selected and forwarded state.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peer reaches Established, the permitted prefix is received, and the selected BGP path is installed.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108 • DAY 3 • BLOCK 10 • BGP Fundamentals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105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does Established prove?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Which path wins if local preference differs?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109 • DAY 3 • BLOCK 10 • BGP Fundamentals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3  •  13:00–14:30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IPsec VPN Architecture &amp; ADVPN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Advanced • Day 1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Relate IKEv2 Phase 1, Phase 2 and route-based forwarding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Design selectors, routes and policies as one system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Explain ADVPN underlay/overlay, hub/spoke and shortcut behavior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Working underlay IP reachability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Defined protected prefixes and crypto policy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ADVPN feature/version support confirmed before lab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~60 min • reserve ~30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110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Route-based IPsec connects protected subnets over an underlay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Negotiation creates SAs; application traffic follows routes and firewall policies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107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411480" y="1965960"/>
            <a:ext cx="164592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484632" y="2084831"/>
            <a:ext cx="149961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HQ LAN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484632" y="2441448"/>
            <a:ext cx="149961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10.10.10.0/24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423160" y="1828800"/>
            <a:ext cx="1828800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496312" y="1947672"/>
            <a:ext cx="16824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HQ FGVM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496312" y="2304288"/>
            <a:ext cx="16824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peer 203.0.113.2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4983480" y="1828800"/>
            <a:ext cx="2148840" cy="1143000"/>
          </a:xfrm>
          <a:prstGeom prst="rect">
            <a:avLst/>
          </a:prstGeom>
          <a:solidFill>
            <a:srgbClr val="23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/>
          <p:nvPr/>
        </p:nvSpPr>
        <p:spPr>
          <a:xfrm>
            <a:off x="5056632" y="1947672"/>
            <a:ext cx="20025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AZURE / INTERNET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056632" y="2304288"/>
            <a:ext cx="200253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underlay reachability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7818120" y="1828800"/>
            <a:ext cx="1828800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8" name="TextBox 17"/>
          <p:cNvSpPr txBox="1"/>
          <p:nvPr/>
        </p:nvSpPr>
        <p:spPr>
          <a:xfrm>
            <a:off x="7891272" y="1947672"/>
            <a:ext cx="16824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BRANCH FGVM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7891272" y="2304288"/>
            <a:ext cx="16824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peer 198.51.100.2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10058400" y="1965960"/>
            <a:ext cx="164592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1" name="TextBox 20"/>
          <p:cNvSpPr txBox="1"/>
          <p:nvPr/>
        </p:nvSpPr>
        <p:spPr>
          <a:xfrm>
            <a:off x="10131552" y="2084831"/>
            <a:ext cx="14996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BRANCH LAN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10131552" y="2441448"/>
            <a:ext cx="149961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HU" sz="1000" b="0">
                <a:solidFill>
                  <a:srgbClr val="D8E0EA"/>
                </a:solidFill>
              </a:rPr>
              <a:t>10.20.10.0/24</a:t>
            </a:r>
          </a:p>
        </p:txBody>
      </p:sp>
      <p:sp>
        <p:nvSpPr>
          <p:cNvPr id="23" name="Right Arrow 22"/>
          <p:cNvSpPr>
            <a:spLocks/>
          </p:cNvSpPr>
          <p:nvPr/>
        </p:nvSpPr>
        <p:spPr>
          <a:xfrm>
            <a:off x="2057400" y="2286000"/>
            <a:ext cx="320040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Right Arrow 23"/>
          <p:cNvSpPr>
            <a:spLocks/>
          </p:cNvSpPr>
          <p:nvPr/>
        </p:nvSpPr>
        <p:spPr>
          <a:xfrm>
            <a:off x="4297680" y="2286000"/>
            <a:ext cx="640080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5" name="TextBox 24"/>
          <p:cNvSpPr txBox="1"/>
          <p:nvPr/>
        </p:nvSpPr>
        <p:spPr>
          <a:xfrm>
            <a:off x="4297680" y="2029967"/>
            <a:ext cx="6400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UDP 500/4500</a:t>
            </a:r>
          </a:p>
        </p:txBody>
      </p:sp>
      <p:sp>
        <p:nvSpPr>
          <p:cNvPr id="26" name="Right Arrow 25"/>
          <p:cNvSpPr>
            <a:spLocks/>
          </p:cNvSpPr>
          <p:nvPr/>
        </p:nvSpPr>
        <p:spPr>
          <a:xfrm>
            <a:off x="7178040" y="2286000"/>
            <a:ext cx="594360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7" name="TextBox 26"/>
          <p:cNvSpPr txBox="1"/>
          <p:nvPr/>
        </p:nvSpPr>
        <p:spPr>
          <a:xfrm>
            <a:off x="7178040" y="2029967"/>
            <a:ext cx="59436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IKEv2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692640" y="2286000"/>
            <a:ext cx="320040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4251960" y="3840480"/>
            <a:ext cx="3611880" cy="0"/>
          </a:xfrm>
          <a:prstGeom prst="line">
            <a:avLst/>
          </a:prstGeom>
          <a:ln w="508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86200" y="4041648"/>
            <a:ext cx="4343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IPsec overlay / CHILD SA selectors: 10.10.10.0/24 ↔ 10.20.10.0/24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63440"/>
            <a:ext cx="100584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617720"/>
            <a:ext cx="3291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B40"/>
                </a:solidFill>
              </a:rPr>
              <a:t>IKE_SA_INIT → IKE_AUTH → CHILD 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663440"/>
            <a:ext cx="6400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61772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B40"/>
                </a:solidFill>
              </a:rPr>
              <a:t>route → tunnel interface → policy → encrypted packets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tunnel can be “up” while application traffic fails because route, policy, selectors or return path are wrong.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108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IKEv2 negotiation produces authenticated secure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IKE_SA_INIT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IKE_AUTH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CHILD 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Route/policy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Protected traffic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Proposal, authentication method, IDs and reachability must be compatible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NAT traversal and fragmentation behavior depend on path/design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Logs/debug should be filtered by peer and stopped after capture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Use tunnel summary and filtered IKE diagnostics; do not paste invented output.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112 • DAY 3 • BLOCK 11 • IPsec &amp; ADVPN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109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Phase 2 selectors define permitted protected traffic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Route-based designs may use broad selectors but still require routing/policy boundaries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Mismatched local/remote selectors prevent or limit SA establishment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Overlapping prefixes complicate route and identity decisions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Rekey/lifetime mismatches can appear as intermittent failures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HQ local 10.10.10.0/24 must match Branch remote 10.10.10.0/24 reciprocally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Compare selectors on both peers and active SA packet counters.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IKE and IPsec SAs are up, the protected route points to </a:t>
            </a:r>
            <a:r>
              <a:rPr sz="1000" b="0">
                <a:solidFill>
                  <a:srgbClr val="687385"/>
                </a:solidFill>
              </a:rPr>
              <a:t>the </a:t>
            </a:r>
            <a:r>
              <a:rPr lang="en-GB" sz="1000" b="0">
                <a:solidFill>
                  <a:srgbClr val="687385"/>
                </a:solidFill>
              </a:rPr>
              <a:t>tunnel, </a:t>
            </a:r>
            <a:r>
              <a:rPr sz="1000" b="0">
                <a:solidFill>
                  <a:srgbClr val="687385"/>
                </a:solidFill>
              </a:rPr>
              <a:t>and </a:t>
            </a:r>
            <a:r>
              <a:rPr lang="en-GB" sz="1000" b="0">
                <a:solidFill>
                  <a:srgbClr val="687385"/>
                </a:solidFill>
              </a:rPr>
              <a:t>both tunnel counters increase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113 • DAY 3 • BLOCK 11 • IPsec &amp; ADVPN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110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VPN design begins with failure domains and scale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Define underlay resilience, addressing, routing ownership and crypto standards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Choose static mesh, hub-spoke or dynamic overlay based on scale and traffic patterns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Account for MTU/MSS, NAT, asymmetric paths and overlapping networks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Document monitoring, certificate/PSK lifecycle and change coordination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A tunnel “up” with no traffic can still be a routing, policy or return-path failure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Design review must include data-plane test cases, not only IKE settings.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IKE and IPsec SAs are up, the protected route points to the tunnel, and both tunnel counters increase.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114 • DAY 3 • BLOCK 11 • IPsec &amp; ADVPN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ADVPN starts through the hub, then builds a spoke shortcut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Underlay reaches tunnel endpoints; overlay routes select protected destinations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111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685800" y="1874519"/>
            <a:ext cx="196596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58952" y="1993391"/>
            <a:ext cx="181965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SPOKE A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58952" y="2350008"/>
            <a:ext cx="181965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LAN 10.20.10.0/24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5074920" y="1371600"/>
            <a:ext cx="2011680" cy="1143000"/>
          </a:xfrm>
          <a:prstGeom prst="rect">
            <a:avLst/>
          </a:prstGeom>
          <a:solidFill>
            <a:srgbClr val="23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5148072" y="1490472"/>
            <a:ext cx="186537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HUB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148072" y="1847088"/>
            <a:ext cx="186537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control / discovery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9555480" y="1874519"/>
            <a:ext cx="196596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/>
          <p:nvPr/>
        </p:nvSpPr>
        <p:spPr>
          <a:xfrm>
            <a:off x="9628632" y="1993391"/>
            <a:ext cx="18196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SPOKE B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628632" y="2350008"/>
            <a:ext cx="181965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LAN 10.30.10.0/24</a:t>
            </a:r>
          </a:p>
        </p:txBody>
      </p:sp>
      <p:sp>
        <p:nvSpPr>
          <p:cNvPr id="17" name="Right Arrow 16"/>
          <p:cNvSpPr>
            <a:spLocks/>
          </p:cNvSpPr>
          <p:nvPr/>
        </p:nvSpPr>
        <p:spPr>
          <a:xfrm>
            <a:off x="2697480" y="2011680"/>
            <a:ext cx="224028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8" name="TextBox 17"/>
          <p:cNvSpPr txBox="1"/>
          <p:nvPr/>
        </p:nvSpPr>
        <p:spPr>
          <a:xfrm>
            <a:off x="2697480" y="1755648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1  initial data → hub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32320" y="2011680"/>
            <a:ext cx="224028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132320" y="1755648"/>
            <a:ext cx="22402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1  hub → spoke 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51760" y="4069080"/>
            <a:ext cx="6903720" cy="0"/>
          </a:xfrm>
          <a:prstGeom prst="line">
            <a:avLst/>
          </a:prstGeom>
          <a:ln w="508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>
            <a:spLocks/>
          </p:cNvSpPr>
          <p:nvPr/>
        </p:nvSpPr>
        <p:spPr>
          <a:xfrm>
            <a:off x="2926080" y="4297680"/>
            <a:ext cx="64008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2  Dynamic shortcut tunnel: subsequent spoke-to-spoke application traffic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19472"/>
            <a:ext cx="10972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UNDERLAY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864608"/>
            <a:ext cx="4114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0">
                <a:solidFill>
                  <a:srgbClr val="1E2B40"/>
                </a:solidFill>
              </a:rPr>
              <a:t>Public/private transport routes reach hub and spoke tunnel endpoints.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919472"/>
            <a:ext cx="10972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OVERLAY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864608"/>
            <a:ext cx="3840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0"/>
                </a:solidFill>
              </a:rPr>
              <a:t>Protected prefixes and dynamic routing choose the logical tunnel path.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Shortcut formation changes the data path; hub discovery/control activity and underlay reachability remain essential.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112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OSPF over ADVPN requires intentional network behavior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Neighbor model, network type and area design must fit the overlay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Shortcut routing must not break next-hop resolution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Hub route reflection/advertisement choices affect spoke reachability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Scale testing must include neighbors, LSAs, routes, tunnels and CPU/memory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Do not present one OSPF-over-ADVPN recipe as universal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Confirm FortiOS 7.6.7 ADVPN guidance and the supported Azure FGVM topology before implementation.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IKE and IPsec SAs are up, the protected route points to the tunnel, and both tunnel counters increase.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116 • DAY 3 • BLOCK 11 • IPsec &amp; ADVPN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113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ADVPN sizing tracks spokes, tunnels, routes and sessions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Estimate concurrent hub-spoke and shortcut tunnels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Account for route scale, neighbor scale, session count, crypto throughput and inspection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Use platform data sheets and validated design guides, not slide estimates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Failure/rekey storms can be more demanding than steady state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Sizing remains an instructor design exercise without a declared appliance/model and traffic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Record assumptions and validate against current Fortinet sizing guidance.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IKE and IPsec SAs are up, the protected route points to </a:t>
            </a:r>
            <a:r>
              <a:rPr sz="1000" b="0">
                <a:solidFill>
                  <a:srgbClr val="687385"/>
                </a:solidFill>
              </a:rPr>
              <a:t>the </a:t>
            </a:r>
            <a:r>
              <a:rPr lang="en-GB" sz="1000" b="0">
                <a:solidFill>
                  <a:srgbClr val="687385"/>
                </a:solidFill>
              </a:rPr>
              <a:t>tunnel, </a:t>
            </a:r>
            <a:r>
              <a:rPr sz="1000" b="0">
                <a:solidFill>
                  <a:srgbClr val="687385"/>
                </a:solidFill>
              </a:rPr>
              <a:t>and </a:t>
            </a:r>
            <a:r>
              <a:rPr lang="en-GB" sz="1000" b="0">
                <a:solidFill>
                  <a:srgbClr val="687385"/>
                </a:solidFill>
              </a:rPr>
              <a:t>both tunnel counters increase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117 • DAY 3 • BLOCK 11 • IPsec &amp; ADVPN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Route-based VPN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114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Reach peer over underlay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Create IKE SA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140756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Create CHILD SA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Route points to tunnel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Policy permits protected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IKE and IPsec SAs are up, the protected route points to the tunnel, and both tunnel counters increase.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115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Check only tunnel-up status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Verify selectors, route, policy and bidirectional counters; IKE state alone does not carry traffic.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Confuse underlay and overlay routes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Check peer reachability separately from protected-prefix routes; they solve different paths.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Copy one ADVPN recipe everywhere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Confirm the supported 7.6.7 ADVPN generation and routing design before configuration.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116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Prove underlay route and UDP/500/4500 reachability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Validate Phase 1 identity/proposal/authentication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Validate Phase 2 selectors/proposals and counters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Check overlay route, policies and return path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Capture filtered packets/IKE diagnostics; reset debug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Validate Phase 2 selectors/proposals and counters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overlay route, policies and return path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Capture filtered packets/IKE diagnostics; reset debug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120 • DAY 3 • BLOCK 11 • IPsec &amp; ADVPN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117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302204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Working underlay IP reachability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Defined protected prefixes and crypto policy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Configure or inspect one route-based IKEv2 tunnel. ADVPN and OSPF-over-ADVPN are instructor demo/conceptual unless matching licenses, topology and exact release support are confirmed.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Configure or inspect one route-based IKEv2 tunnel. ADVPN and OSPF-over-ADVPN are instructor demo/conceptual unless matching licenses, topology and exact release support are confirmed.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IKE and IPsec SAs are up, the protected route points to </a:t>
            </a:r>
            <a:r>
              <a:rPr sz="1000" b="0">
                <a:solidFill>
                  <a:srgbClr val="687385"/>
                </a:solidFill>
              </a:rPr>
              <a:t>the </a:t>
            </a:r>
            <a:r>
              <a:rPr lang="en-GB" sz="1000" b="0">
                <a:solidFill>
                  <a:srgbClr val="687385"/>
                </a:solidFill>
              </a:rPr>
              <a:t>tunnel, </a:t>
            </a:r>
            <a:r>
              <a:rPr sz="1000" b="0">
                <a:solidFill>
                  <a:srgbClr val="687385"/>
                </a:solidFill>
              </a:rPr>
              <a:t>and </a:t>
            </a:r>
            <a:r>
              <a:rPr lang="en-GB" sz="1000" b="0">
                <a:solidFill>
                  <a:srgbClr val="687385"/>
                </a:solidFill>
              </a:rPr>
              <a:t>both tunnel counters increase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121 • DAY 3 • BLOCK 11 • IPsec &amp; ADVPN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118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does a route-based tunnel still need after SAs are up?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is the ADVPN shortcut for?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122 • DAY 3 • BLOCK 11 • IPsec &amp; ADVPN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3  •  14:30–16:00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VPN Troubleshooting &amp; Operational Validation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Advanced • Day 1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Localize failure across underlay, IKE, IPsec, routing, policy and return path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Interpret Phase 1/2 state and selectors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Use packet capture and CLI diagnostics without uncontrolled debug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26380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Known-good test endpoints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Authorization for VPN diagnostics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Peer-side state or an instructor-provided capture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~58 min • reserve ~32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123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120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Tunnel establishment is a layered dependency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Underlay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42388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488692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598420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598420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IKE SA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7271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319015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442874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4428744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IPsec 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3036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149339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59067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7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Route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3335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979664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939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9391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Policy/session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63684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809988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1971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9716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Return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IKE SA precedes CHILD/IPsec SA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Selectors and traffic triggers affect Phase 2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Routes, policies and return path determine usable data flow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Record state and timestamps before remediation.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124 • DAY 3 • BLOCK 12 • VPN Troubleshooting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121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Phase 1 state isolates reachability, identity and proposal faults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No response suggests path, NAT or peer availability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Proposal mismatch prevents cryptographic agreement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Authentication/ID mismatch fails after initial exchange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Certificate failures require time, chain and identity checks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Filter IKE diagnostics to the peer; avoid broad debug on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Compare both peers’ timestamps and stated failure reason.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failed VPN layer is identified by peer state, selectors, route, policy </a:t>
            </a:r>
            <a:r>
              <a:rPr sz="1000" b="0">
                <a:solidFill>
                  <a:srgbClr val="687385"/>
                </a:solidFill>
              </a:rPr>
              <a:t>and </a:t>
            </a:r>
            <a:r>
              <a:rPr lang="en-GB" sz="1000" b="0">
                <a:solidFill>
                  <a:srgbClr val="687385"/>
                </a:solidFill>
              </a:rPr>
              <a:t>directional counters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125 • DAY 3 • BLOCK 12 • VPN Troubleshooting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122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Phase 2 state links selectors to directional packet counters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An IKE SA can be healthy while no CHILD SA exists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Selector mismatch or proposal mismatch prevents data SA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Encaps/decaps counters show directionality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Rekey failures may preserve old state briefly, causing intermittent symptoms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84023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Encaps increasing with zero decaps points toward the remote policy, path or return route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Compare both endpoints’ SA and packet counters.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failed VPN layer is identified by peer state, selectors, route, policy and directional counters.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126 • DAY 3 • BLOCK 12 • VPN Troubleshooting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123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Routing chooses the tunnel; policy permits the chosen path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Route lookup must select the tunnel for the protected destination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Policy ingress/egress pair must match actual interfaces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 broader WAN route can steal traffic if overlay route is absent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Return path must choose the reciprocal tunnel or valid symmetric design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Tunnel-up does not override a more-specific route to another interface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Run route lookup for both destination directions.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failed VPN layer is identified by peer state, selectors, route, policy and directional counters.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127 • DAY 3 • BLOCK 12 • VPN Troubleshooting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124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Sessions preserve the chosen VPN and NAT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6583680" cy="42519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877824" y="1783080"/>
            <a:ext cx="61264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ILLUSTRATIVE CLI — validate on FortiOS 7.6.7 / Azure FortiGate-VM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877824" y="2212848"/>
            <a:ext cx="6080760" cy="3154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0">
                <a:solidFill>
                  <a:srgbClr val="E6ECF4"/>
                </a:solidFill>
                <a:latin typeface="Consolas"/>
              </a:rPr>
              <a:t>get vpn ipsec tunnel summary
diagnose vpn tunnel list
get router info routing-table details &lt;protected-ip&gt;
diagnose sys session filter dst &lt;protected-ip&gt;
diagnose sys session list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54112" y="1719072"/>
            <a:ext cx="3154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READ THE OUTPUT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54112" y="2121408"/>
            <a:ext cx="3383280" cy="214884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Existing sessions can continue using old routing/policy decisions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A configuration fix may require a new test tuple or authorized session clear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NAT is usually unintended for site-to-site protected traffic unless designed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Asymmetric return creates one-sided counters and incomplete sessions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54112" y="4553712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Safe operation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54112" y="4882896"/>
            <a:ext cx="3401568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Use a new source port before disruptive session clearing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128 • DAY 3 • BLOCK 12 • VPN Troubleshooting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125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Packet capture shows where protected traffic stops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Capture IKE on the underlay and protected traffic on LAN/tunnel-relevant interfaces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One-sided protected packets reveal where forwarding stops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ESP versus UDP/4500 depends on NAT traversal/path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Schematic output must be labelled illustrative unless captured in the declared lab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Use host/port filters and bounded packet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Stop capture/debug and sanitize addresses before sharing.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failed VPN layer is identified by peer state, selectors, route, policy </a:t>
            </a:r>
            <a:r>
              <a:rPr sz="1000" b="0">
                <a:solidFill>
                  <a:srgbClr val="687385"/>
                </a:solidFill>
              </a:rPr>
              <a:t>and </a:t>
            </a:r>
            <a:r>
              <a:rPr lang="en-GB" sz="1000" b="0">
                <a:solidFill>
                  <a:srgbClr val="687385"/>
                </a:solidFill>
              </a:rPr>
              <a:t>directional counters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129 • DAY 3 • BLOCK 12 • VPN Troubleshooting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126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Certificate inspection versus deep inspection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OPTION 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Certificate inspection reads TLS handshake/certificate metadata without decrypting application payload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Deep inspection proxies TLS and exposes payload to security profiles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OPTION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Deep inspection requires endpoint trust in the FortiGate inspection CA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Pinning, privacy policy and performance may require scoped exceptions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This is a cross-course diagnostic reminder: IPsec protects packets between gateways; SSL inspection acts on application TLS flows according to policy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130 • DAY 3 • BLOCK 12 • VPN Troubleshooting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VPN fault isolation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127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Underlay reachability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Phase 1 state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140756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Phase 2 selectors/counters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313371" y="2351657"/>
            <a:ext cx="178856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Overlay route/policy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Return traffic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failed VPN layer is identified by peer state, selectors, route, policy and directional counters.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128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Restart IKE before collecting state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Record peer/SA error and counters first; restart removes the failing condition.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Clear every session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Use a fresh test flow or narrow filter; broad clearing hides scope and disrupts service.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Declare success from Phase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Require route, policy and increasing encap/decap counters; Phase 1 authenticates only the peers.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129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Underlay route/capture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Phase 1 peer/proposal/identity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Phase 2 selectors/proposal/counters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Overlay route and policies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Session, NAT and return-path capture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Phase 2 selectors/proposal/counters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Overlay route and policies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Session, NAT and return-path capture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133 • DAY 3 • BLOCK 12 • VPN Troubleshooting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130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302204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Known-good test endpoints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Authorization for VPN diagnostics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Instructor injects one safe fault (missing lab route, selector mismatch or disabled test policy). Teams diagnose without broad debug; the captured state must identify the failed layer and the retest must show restoration.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88667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Instructor injects one safe fault (missing lab route, selector mismatch or disabled test policy). Teams diagnose without broad debug; the captured state must identify the failed layer and the retest must show restoration.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failed VPN layer is identified by peer state, selectors, route, policy and directional counters.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134 • DAY 3 • BLOCK 12 • VPN Troubleshooting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131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If encaps increases but decaps stays zero, what does it suggest?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Why use a new five-tuple after a route change?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135 • DAY 3 • BLOCK 12 • VPN Troubleshooting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4  •  09:00–10:30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FortiClient Architecture &amp; EMS Awareness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Advanced • Day 2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Describe FortiClient components, VPN profiles and endpoint integration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Explain EMS telemetry and centralized profile management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Compare EMS and Intune by use case without claiming equivalence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Managed test endpoint for live demo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FortiClient/EMS versions and licensing declared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No assumption that EMS is deployed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~58 min • reserve ~32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136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133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FortiClient is an endpoint platform with modular capabilities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965960"/>
            <a:ext cx="310896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051560" y="2130552"/>
            <a:ext cx="292607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ENDPOINT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26280" y="1965960"/>
            <a:ext cx="310896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130552"/>
            <a:ext cx="292607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FORTICLIENT
MODULES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092440" y="1965960"/>
            <a:ext cx="3108960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2130552"/>
            <a:ext cx="292607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FORTIGATE / 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10515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Treat “FortiClient installed” as insufficient scope; state the module and management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69080"/>
            <a:ext cx="10241280" cy="1340752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t>• Available modules depend on edition, platform, license and EMS policy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t>• VPN, endpoint telemetry, ZTNA and security features have separate prerequisites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t>• FortiGate remote-access settings and FortiClient profile must align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t>• Client logs </a:t>
            </a:r>
            <a:r>
              <a:rPr lang="en-GB"/>
              <a:t>show failures that the </a:t>
            </a:r>
            <a:r>
              <a:t>status </a:t>
            </a:r>
            <a:r>
              <a:rPr lang="en-GB"/>
              <a:t>icon does not explain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650992"/>
            <a:ext cx="10241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Record client version, OS, enabled features and profile source.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137 • DAY 4 • BLOCK 13 • FortiClient &amp; EMS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134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VPN profiles encode gateway and authentication intent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Profile defines gateway, tunnel type and user/certificate parameters as supported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Split/full tunnel and DNS behavior affect traffic path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MFA/SSO/certificate methods require matching FortiGate identity design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Remote-access option support must be checked for exact FortiOS/FortiClient release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Use placeholders &lt;vpn-gateway&gt; and &lt;auth-method&gt;; do not invent tenant values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Check client log, assigned address/routes/DNS and the FortiGate session.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endpoint shows its assigned FortiClient profile and EMS connection; FortiGate logs the resulting access session.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138 • DAY 4 • BLOCK 13 • FortiClient &amp; EMS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EMS distributes FortiClient policy and receives endpoint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FortiGate still makes network/VPN access decisions from its configured policy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135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594360" y="1737360"/>
            <a:ext cx="2148840" cy="1234440"/>
          </a:xfrm>
          <a:prstGeom prst="rect">
            <a:avLst/>
          </a:prstGeom>
          <a:solidFill>
            <a:srgbClr val="23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67512" y="1856231"/>
            <a:ext cx="20025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EMS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67512" y="2212848"/>
            <a:ext cx="200253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profiles • inventory
telemetry • endpoint tags</a:t>
            </a:r>
          </a:p>
        </p:txBody>
      </p:sp>
      <p:sp>
        <p:nvSpPr>
          <p:cNvPr id="11" name="Right Arrow 10"/>
          <p:cNvSpPr>
            <a:spLocks/>
          </p:cNvSpPr>
          <p:nvPr/>
        </p:nvSpPr>
        <p:spPr>
          <a:xfrm>
            <a:off x="2788920" y="2194560"/>
            <a:ext cx="100584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788920" y="1938528"/>
            <a:ext cx="100584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policy / telemetry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737360"/>
            <a:ext cx="2148840" cy="123444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3913632" y="1856231"/>
            <a:ext cx="20025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FORTICLIENT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913632" y="2212848"/>
            <a:ext cx="2002536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VPN • certificates
posture / logs</a:t>
            </a:r>
          </a:p>
        </p:txBody>
      </p:sp>
      <p:sp>
        <p:nvSpPr>
          <p:cNvPr id="16" name="Right Arrow 15"/>
          <p:cNvSpPr>
            <a:spLocks/>
          </p:cNvSpPr>
          <p:nvPr/>
        </p:nvSpPr>
        <p:spPr>
          <a:xfrm>
            <a:off x="6035040" y="2194560"/>
            <a:ext cx="100584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/>
          <p:nvPr/>
        </p:nvSpPr>
        <p:spPr>
          <a:xfrm>
            <a:off x="6035040" y="1938528"/>
            <a:ext cx="1005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VPN / ZTNA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1737360"/>
            <a:ext cx="2148840" cy="123444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7159752" y="1856231"/>
            <a:ext cx="20025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FORTIGATE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159752" y="2212848"/>
            <a:ext cx="2002536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auth • policy • session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81160" y="2194560"/>
            <a:ext cx="100584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9281160" y="1938528"/>
            <a:ext cx="1005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application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10332720" y="1874519"/>
            <a:ext cx="1325880" cy="96012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10405872" y="1993391"/>
            <a:ext cx="117957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PRIVATE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5872" y="2350008"/>
            <a:ext cx="117957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10.20.10.50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731520" y="3520440"/>
            <a:ext cx="1828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MANAGEMENT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474720"/>
            <a:ext cx="36576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1E2B40"/>
                </a:solidFill>
              </a:rPr>
              <a:t>EMS → assigned profile; endpoint → telemetry/status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20440"/>
            <a:ext cx="12801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ACCESS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474720"/>
            <a:ext cx="36576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1E2B40"/>
                </a:solidFill>
              </a:rPr>
              <a:t>Endpoint traffic → FortiGate VPN/policy →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43400"/>
            <a:ext cx="103327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233A59"/>
                </a:solidFill>
              </a:rPr>
              <a:t>EMS is not implied by installing FortiClient. Check the endpoint’s EMS connection and assigned profile.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769864"/>
            <a:ext cx="987552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233A59"/>
                </a:solidFill>
              </a:rPr>
              <a:t>Correlate endpoint profile, client logs, EMS status and the FortiGate session rather than treating one console as the whole path.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136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Endpoint integration connects identity, posture and network policy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Endpoint tags/posture can inform access policy where supported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Certificate deployment and trust stores can enable deep inspection or VPN authentication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Client upgrades/profile changes need staged rollout and rollback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Privacy and endpoint-ownership boundaries must be documented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A managed device may receive VPN profile and inspection CA through different management systems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Prove which system owns each control.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endpoint shows its assigned FortiClient profile and EMS connection; FortiGate logs the resulting access session.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140 • DAY 4 • BLOCK 13 • FortiClient &amp; EMS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137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Inspection profiles on managed endpoints: certificate vs deep inspection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CERTIFICATE INSPECTION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Reads TLS handshake and certificate metadata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Does not decrypt application payload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Lower privacy and endpoint-trust impact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Cannot scan encrypted content or URLs beyond visible 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DEEP INSPECTION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Terminates and re-signs TLS sessions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Requires clients to trust the inspection CA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Enables content/security profile inspection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Creates compatibility, privacy and performance considerations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EMS or another endpoint-management system can distribute the inspection CA; this does not make EMS and Intune equivalent products.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141 • DAY 4 • BLOCK 13 • FortiClient &amp; EMS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138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EMS and Intune overlap only in selected endpoint-management tasks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EMS FIT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FortiClient profiles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FortiClient telemetry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ZTNA/network integration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4370831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INTUNE FIT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1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370831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Device enrollment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Broad configuration/app policy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Microsoft compliance ecosystem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8083296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COEXISTENCE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83296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>
            <a:spLocks/>
          </p:cNvSpPr>
          <p:nvPr/>
        </p:nvSpPr>
        <p:spPr>
          <a:xfrm>
            <a:off x="8083296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Clear ownership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Avoid duplicate settings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Test precedence/rollback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Map each requirement—VPN profile, CA, app compliance, FortiClient telemetry—to an accountable system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142 • DAY 4 • BLOCK 13 • FortiClient &amp; EMS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139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Client troubleshooting correlates endpoint, EMS and FortiGate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6583680" cy="42519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877824" y="1783080"/>
            <a:ext cx="61264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ILLUSTRATIVE CLI — validate on FortiOS 7.6.7 / Azure FortiGate-VM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877824" y="2212848"/>
            <a:ext cx="6080760" cy="3154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0">
                <a:solidFill>
                  <a:srgbClr val="E6ECF4"/>
                </a:solidFill>
                <a:latin typeface="Consolas"/>
              </a:rPr>
              <a:t>Endpoint: record FortiClient version/profile, route table and DNS
EMS: confirm endpoint registration and assigned profile (if deployed)
FortiGate: correlate auth/VPN/traffic session logs
Use exact product documentation for log locations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54112" y="1719072"/>
            <a:ext cx="3154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READ THE OUTPUT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54112" y="2121408"/>
            <a:ext cx="3383280" cy="214884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Endpoint network state and routes/DNS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FortiClient event/VPN logs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EMS profile/telemetry status if used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FortiGate authentication, VPN, policy and session logs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54112" y="4553712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Safe operation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54112" y="4882896"/>
            <a:ext cx="3401568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 client-side “connected” icon does not prove protected application reachability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143 • DAY 4 • BLOCK 13 • FortiClient &amp; EMS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Managed VPN profile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140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Endpoint registers to EMS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EMS assigns profile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140756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FortiClient applies gateway/auth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FortiGate authenticates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Session reaches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endpoint shows its assigned FortiClient profile and EMS connection; FortiGate logs the resulting access session.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141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Assume installed FortiClient is EMS-managed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Check the EMS connection and assigned profile; installation alone is not centralized management.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Treat EMS and Intune as equivalent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Assign each requirement to the product that supports it; they overlap only for selected endpoint tasks.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379976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Troubleshoot only FortiGate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Correlate client logs, endpoint routes/DNS, EMS profile and FortiGate session state.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142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Confirm endpoint OS/client/version/license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Verify assigned profile and gateway reachability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Check authentication/certificate trust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Inspect client and EMS logs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291751"/>
            <a:ext cx="1830628" cy="70173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Correlate FortiGate VPN</a:t>
            </a:r>
            <a:r>
              <a:rPr lang="en-HU" sz="1400" b="1">
                <a:solidFill>
                  <a:srgbClr val="1E2B40"/>
                </a:solidFill>
              </a:rPr>
              <a:t>, </a:t>
            </a:r>
            <a:r>
              <a:rPr sz="1400" b="1">
                <a:solidFill>
                  <a:srgbClr val="1E2B40"/>
                </a:solidFill>
              </a:rPr>
              <a:t>policy</a:t>
            </a:r>
            <a:r>
              <a:rPr lang="en-GB" sz="1400" b="1">
                <a:solidFill>
                  <a:srgbClr val="1E2B40"/>
                </a:solidFill>
              </a:rPr>
              <a:t> and </a:t>
            </a:r>
            <a:r>
              <a:rPr sz="1400" b="1">
                <a:solidFill>
                  <a:srgbClr val="1E2B40"/>
                </a:solidFill>
              </a:rPr>
              <a:t>session </a:t>
            </a:r>
            <a:r>
              <a:rPr lang="en-GB" sz="1400" b="1">
                <a:solidFill>
                  <a:srgbClr val="1E2B40"/>
                </a:solidFill>
              </a:rPr>
              <a:t>state</a:t>
            </a:r>
            <a:endParaRPr sz="1400" b="1">
              <a:solidFill>
                <a:srgbClr val="1E2B4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09510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authentication/certificate trust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Inspect client and EMS logs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Correlate FortiGate VPN</a:t>
            </a:r>
            <a:r>
              <a:rPr lang="en-HU"/>
              <a:t>, </a:t>
            </a:r>
            <a:r>
              <a:t>policy</a:t>
            </a:r>
            <a:r>
              <a:rPr lang="en-GB"/>
              <a:t> and </a:t>
            </a:r>
            <a:r>
              <a:t>session </a:t>
            </a:r>
            <a:r>
              <a:rPr lang="en-GB"/>
              <a:t>state</a:t>
            </a:r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146 • DAY 4 • BLOCK 13 • FortiClient &amp; EMS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143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302204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Managed test endpoint for live demo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FortiClient/EMS versions and licensing declared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Compare two endpoint-management designs and inspect one VPN profile. Live EMS activity requires a supplied tenant, license and supported versions; otherwise use screenshots/documentation supplied by the instructor.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Compare two endpoint-management designs and inspect one VPN profile. Live EMS activity requires a supplied tenant, license and supported versions; otherwise use screenshots/documentation supplied by the instructor.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endpoint shows its assigned FortiClient profile and EMS connection; FortiGate logs the resulting access session.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147 • DAY 4 • BLOCK 13 • FortiClient &amp; EMS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144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When can EMS and Intune coexist?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does FortiClient “connected” fail to prove?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148 • DAY 4 • BLOCK 13 • FortiClient &amp; EMS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4  •  10:30–12:00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FortiGate High Availability Fundamentals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Advanced • Day 2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Explain FGCP prerequisites, heartbeat, election and synchronization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Trace Active-Passive failover and session impact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Separate appliance HA demonstration from cloud HA designs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74855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Azure FGVM: FGCP only with a provisioned HA pair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Match heartbeat and configuration prerequisites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Physical-appliance HA: theory or separate demo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5074920"/>
            <a:ext cx="3931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D8E0EA"/>
                </a:solidFill>
              </a:rPr>
              <a:t>Teach ~58 min • reserve ~32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149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Active/passive HA synchronizes state before a controlled failover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Physical appliance concepts shown; Azure deployment mechanics require the Fortinet Azure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146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685800" y="1828800"/>
            <a:ext cx="2057400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58952" y="1947672"/>
            <a:ext cx="1911095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58952" y="2304288"/>
            <a:ext cx="1911095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forwarding traffic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685800" y="3977639"/>
            <a:ext cx="2057400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758952" y="4096511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SECONDARY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58952" y="4453127"/>
            <a:ext cx="1911095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standby / synchronized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395728"/>
            <a:ext cx="1828800" cy="0"/>
          </a:xfrm>
          <a:prstGeom prst="line">
            <a:avLst/>
          </a:prstGeom>
          <a:ln w="381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4553712"/>
            <a:ext cx="1828800" cy="0"/>
          </a:xfrm>
          <a:prstGeom prst="line">
            <a:avLst/>
          </a:prstGeom>
          <a:ln w="38100">
            <a:solidFill>
              <a:srgbClr val="1676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617720" y="2834640"/>
            <a:ext cx="2148840" cy="1188720"/>
          </a:xfrm>
          <a:prstGeom prst="rect">
            <a:avLst/>
          </a:prstGeom>
          <a:solidFill>
            <a:srgbClr val="23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4690872" y="2953512"/>
            <a:ext cx="20025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HEARTBEAT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4690872" y="3310128"/>
            <a:ext cx="2002536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health • election
config/session sync</a:t>
            </a:r>
          </a:p>
        </p:txBody>
      </p:sp>
      <p:sp>
        <p:nvSpPr>
          <p:cNvPr id="19" name="Right Arrow 18"/>
          <p:cNvSpPr>
            <a:spLocks/>
          </p:cNvSpPr>
          <p:nvPr/>
        </p:nvSpPr>
        <p:spPr>
          <a:xfrm>
            <a:off x="6812280" y="2331720"/>
            <a:ext cx="91440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6812280" y="2075687"/>
            <a:ext cx="9144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before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>
          <a:xfrm>
            <a:off x="7772400" y="1874519"/>
            <a:ext cx="2743200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2" name="TextBox 21"/>
          <p:cNvSpPr txBox="1"/>
          <p:nvPr/>
        </p:nvSpPr>
        <p:spPr>
          <a:xfrm>
            <a:off x="7845552" y="1993391"/>
            <a:ext cx="25968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UPSTREAM / DOWNSTREAM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2350008"/>
            <a:ext cx="25968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traffic via primary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12280" y="4434840"/>
            <a:ext cx="91440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178807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87385"/>
                </a:solidFill>
              </a:rPr>
              <a:t>after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977639"/>
            <a:ext cx="2743200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45552" y="4096511"/>
            <a:ext cx="259689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UPSTREAM / DOWNSTREAM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4453127"/>
            <a:ext cx="259689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traffic via new primary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440680"/>
            <a:ext cx="18288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FAILOVER 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385816"/>
            <a:ext cx="7132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B40"/>
                </a:solidFill>
              </a:rPr>
              <a:t>monitored failure → election → role change → adjacent-network convergence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Session continuity depends on synchronized eligible state; role change alone does not guarantee zero application interruption.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0" y="2395728"/>
            <a:ext cx="45720" cy="438912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572000" y="4023360"/>
            <a:ext cx="45720" cy="530352"/>
          </a:xfrm>
          <a:prstGeom prst="line">
            <a:avLst/>
          </a:prstGeom>
          <a:ln w="25400">
            <a:solidFill>
              <a:srgbClr val="1676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147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Election selects the current primary using ordered criteria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Priority, override behavior, monitored interfaces and uptime/state influence election according to configuration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Preemption/override choices affect whether the preferred unit reclaims primary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 stable cluster is more important than repeatedly forcing preferred ownership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Document expected primary and the exact trigger for change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Predict election before disconnecting anything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Show member state and election-relevant values on both units.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secondary is synchronized before failover; after failover, the new primary forwards eligible test sessions.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151 • DAY 4 • BLOCK 14 • High Availability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148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Synchronization preserves cluster configuration and selected runtime state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Most configuration is synchronized; some member-specific settings remain local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Session pickup/session synchronization must be configured and supported for desired protocols/features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Security engine and dynamic state behavior may vary during failover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Checksum mismatch requires investigation before relying on redundancy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Configuration sync does not guarantee every session survives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Compare cluster checksums and one test session before/after controlled failover.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secondary is synchronized before failover; after failover, the new primary forwards eligible test sessions.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152 • DAY 4 • BLOCK 14 • High Availability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149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Monitored failures trigger role change only when configured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Failure detected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Heartbeat/election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New primary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L2/L3 convergence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Session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Link-monitor/path health mechanisms may be needed beyond physical interface state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Failover time includes detection, election, forwarding convergence and upstream learning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Flapping monitored links can cause repeated disruption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Declare </a:t>
            </a:r>
            <a:r>
              <a:rPr lang="en-GB" sz="1500" b="1">
                <a:solidFill>
                  <a:srgbClr val="233A59"/>
                </a:solidFill>
              </a:rPr>
              <a:t>the </a:t>
            </a:r>
            <a:r>
              <a:rPr sz="1500" b="1">
                <a:solidFill>
                  <a:srgbClr val="233A59"/>
                </a:solidFill>
              </a:rPr>
              <a:t>trigger, </a:t>
            </a:r>
            <a:r>
              <a:rPr lang="en-GB" sz="1500" b="1">
                <a:solidFill>
                  <a:srgbClr val="233A59"/>
                </a:solidFill>
              </a:rPr>
              <a:t>expected </a:t>
            </a:r>
            <a:r>
              <a:rPr sz="1500" b="1">
                <a:solidFill>
                  <a:srgbClr val="233A59"/>
                </a:solidFill>
              </a:rPr>
              <a:t>timer and convergence </a:t>
            </a:r>
            <a:r>
              <a:rPr lang="en-GB" sz="1500" b="1">
                <a:solidFill>
                  <a:srgbClr val="233A59"/>
                </a:solidFill>
              </a:rPr>
              <a:t>checkpoints </a:t>
            </a:r>
            <a:r>
              <a:rPr sz="1500" b="1">
                <a:solidFill>
                  <a:srgbClr val="233A59"/>
                </a:solidFill>
              </a:rPr>
              <a:t>before</a:t>
            </a:r>
            <a:r>
              <a:rPr lang="en-GB" sz="1500" b="1">
                <a:solidFill>
                  <a:srgbClr val="233A59"/>
                </a:solidFill>
              </a:rPr>
              <a:t> the</a:t>
            </a:r>
            <a:r>
              <a:rPr sz="1500" b="1">
                <a:solidFill>
                  <a:srgbClr val="233A59"/>
                </a:solidFill>
              </a:rPr>
              <a:t> test.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153 • DAY 4 • BLOCK 14 • High Availability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150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Session behavior depends on synchronization and traffic type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Synced eligible sessions can continue with limited interruption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Unsynchronized or unsupported sessions must be re-established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NAT, IPsec, routing and authentication state have specific HA considerations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Measure user impact, not only role change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A long-lived TCP stream and a new connection reveal different effects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Track session on both members and packet loss during failover.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secondary is synchronized before failover; after failover, the new primary forwards eligible test sessions.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154 • DAY 4 • BLOCK 14 • High Availability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151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Common HA faults cluster around prerequisites and Layer 2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Firmware/model mismatch prevents expected formation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Heartbeat VLAN/switch behavior can introduce loss or loops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Duplicate management/IP design can make a healthy cluster appear unreachable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Upstream/downstream MAC/ARP convergence can dominate outage time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Separate cluster health from surrounding-network convergence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Capture heartbeat/role events plus adjacent switch/router state.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secondary is synchronized before failover; after failover, the new primary forwards eligible test sessions.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155 • DAY 4 • BLOCK 14 • High Availability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152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Cloud HA is a provider-integrated design, not an appliance clone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Cloud instances lack physical heartbeat/transparent L2 assumptions in many designs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Routing, load balancers, APIs and provider failover mechanisms may be required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Licensing and bootstrap/state synchronization depend on marketplace/deployment model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Use the exact Fortinet cloud deployment guide for the platform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84023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A physical-appliance cable-pull does not validate Azure FGVM failover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Keep cloud HA conceptual unless the cloud architecture and permissions are supplied.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secondary is synchronized before failover; after failover, the new primary forwards eligible test sessions.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156 • DAY 4 • BLOCK 14 • High Availability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Controlled HA failover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153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Confirm sync/primary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Start eligible test session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756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Trigger monitored failure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Secondary becomes primary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Measure application 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secondary is synchronized before failover; after failover, the new primary forwards eligible test sessions.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154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Build HA from mismatched members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Match supported model/build/mode and HA settings before joining; compatibility is prerequisite.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Assume config sync means every session survives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Enable/verify supported session pickup and test the traffic type; runtime state varies.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Use appliance failover assumptions in Azure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Follow the Fortinet Azure HA architecture; cloud routing/load-balancing changes the mechanism.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155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Check member compatibility and heartbeat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Confirm role/election and sync checksums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Inspect monitored failure event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Separate role change from network convergence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Validate session/application recovery and resync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Inspect monitored failure event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Separate role change from network convergence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Validate session/application recovery and resync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159 • DAY 4 • BLOCK 14 • High Availability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156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329673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Two compatible appliances or instructor demonstration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Dedicated heartbeat links and matching configuration prerequisites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Instructor demonstrates a controlled failover on a dedicated pair; learners predict election and session outcome. If no pair exists, analyze an event timeline and configuration checklist.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Instructor demonstrates a controlled failover on a dedicated pair; learners predict election and session outcome. If no pair exists, analyze an event timeline and configuration checklist.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secondary is synchronized before failover; after failover, the new primary forwards eligible test sessions.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160 • DAY 4 • BLOCK 14 • High Availability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157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is the heartbeat used for?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Why can traffic remain interrupted after the secondary becomes primary?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161 • DAY 4 • BLOCK 14 • High Availability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4  •  13:00–14:30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Fortinet SD-WAN &amp; Design Considerations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Advanced • Day 2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20574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Build SD-WAN from members, zones, health checks and rules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Predict SLA-based application path selection and failover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Place FortiAnalyzer, FortiManager and security services without inventing entitlements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Two WAN paths or instructor simulation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Defined performance targets and test applications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Licensing/subscription details confirmed by instructor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~60 min • reserve ~30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162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SD-WAN selects a member from rule intent and measured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Illustrative voice rule: latency &lt;25 ms, jitter &lt;10 ms, loss &lt;1%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159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502920" y="2011680"/>
            <a:ext cx="1920240" cy="9144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76072" y="2130552"/>
            <a:ext cx="1773936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VOICE SESSION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576072" y="2487168"/>
            <a:ext cx="1773936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10.10.10.25 → SaaS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788920" y="1874519"/>
            <a:ext cx="2057400" cy="1188720"/>
          </a:xfrm>
          <a:prstGeom prst="rect">
            <a:avLst/>
          </a:prstGeom>
          <a:solidFill>
            <a:srgbClr val="233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862072" y="1993391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SD-WAN RULE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862072" y="2350008"/>
            <a:ext cx="1911095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voice → best-quality member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257800" y="1417320"/>
            <a:ext cx="21031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BEFORE DEGRADATION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783080"/>
            <a:ext cx="29260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ISP-A 18 ms / 4 ms / 0.2%  ✓
ISP-B 35 ms / 8 ms / 0.4%  ✕ latency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183879" y="2057400"/>
            <a:ext cx="91440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8183879" y="1801368"/>
            <a:ext cx="9144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select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874519"/>
            <a:ext cx="2103120" cy="118872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217152" y="1993391"/>
            <a:ext cx="195681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FFFFFF"/>
                </a:solidFill>
              </a:rPr>
              <a:t>ISP-A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217152" y="2350008"/>
            <a:ext cx="1956815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000" b="0">
                <a:solidFill>
                  <a:srgbClr val="D8E0EA"/>
                </a:solidFill>
              </a:rPr>
              <a:t>selected egress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257800" y="3429000"/>
            <a:ext cx="22860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AFTER ISP-A DEGRADES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257800" y="3794760"/>
            <a:ext cx="292608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ISP-A 42 ms / 15 ms / 2.0%  ✕
ISP-B 20 ms / 6 ms / 0.3%  ✓</a:t>
            </a:r>
          </a:p>
        </p:txBody>
      </p:sp>
      <p:sp>
        <p:nvSpPr>
          <p:cNvPr id="23" name="Right Arrow 22"/>
          <p:cNvSpPr>
            <a:spLocks/>
          </p:cNvSpPr>
          <p:nvPr/>
        </p:nvSpPr>
        <p:spPr>
          <a:xfrm>
            <a:off x="8183879" y="4069080"/>
            <a:ext cx="914400" cy="20116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8183879" y="3813048"/>
            <a:ext cx="9144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900" b="1">
                <a:solidFill>
                  <a:srgbClr val="687385"/>
                </a:solidFill>
              </a:rPr>
              <a:t>new →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886200"/>
            <a:ext cx="2103120" cy="118872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17152" y="4005072"/>
            <a:ext cx="195681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ISP-B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4361688"/>
            <a:ext cx="1956815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8E0EA"/>
                </a:solidFill>
              </a:rPr>
              <a:t>selected for new session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468880" y="2377440"/>
            <a:ext cx="274320" cy="164592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Link-up is insufficient: the rule considers measured SLA, and existing sessions may behave differently from new sessions.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160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Health checks must measure the service you care about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Target should represent the path/service dependency, not only the next-hop router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Latency, jitter and packet loss thresholds define SLA state as supported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Probe interval/fail/recovery settings trade responsiveness against instability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Multiple targets can reduce false positives but complicate interpretation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An ISP gateway can respond while SaaS path is impaired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Compare raw measurements, SLA state and application experience.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SD-WAN rule selects the member that meets the stated SLA, and the session egress matches that member.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164 • DAY 4 • BLOCK 15 • SD-WAN &amp; Design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161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SLA criteria turn measurements into path eligibility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ISP-A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35 ms latency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0.5% loss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SLA: fail for 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ISP-B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1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0831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18 ms latency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0.1% loss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SLA: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RESULT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83296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83296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Voice → ISP-B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New session path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Verify actual egress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ISP-A latency 35 ms/loss 0.5%; ISP-B 18 ms/loss 0.1%—voice rule chooses B if thresholds demand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165 • DAY 4 • BLOCK 15 • SD-WAN &amp; Design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162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Application steering depends on identification timing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Rules can use address/service/application constructs depending on design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Application identity may be learned after initial packets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Fallback/default rule must be intentional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Security profiles and SSL visibility affect application identification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A first packet can use a provisional path before application is identified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Use session details and logs to confirm the final matched rule/member.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SD-WAN rule selects the member that meets the stated SLA, and the session egress matches that member.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166 • DAY 4 • BLOCK 15 • SD-WAN &amp; Design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163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Failover is detection plus session/application recovery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SLA breach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Member ineligible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Rule recalculates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New egress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Application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Rule removes or de-prioritizes member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New sessions select another eligible path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Existing session continuity depends on NAT, remote state and design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Test new and long-lived flows separately.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167 • DAY 4 • BLOCK 15 • SD-WAN &amp; Design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164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Verify the actual egress path, not the intended 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6583680" cy="42519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877824" y="1783080"/>
            <a:ext cx="61264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ILLUSTRATIVE CLI — validate on FortiOS 7.6.7 / Azure FortiGate-VM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877824" y="2212848"/>
            <a:ext cx="6080760" cy="3154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0">
                <a:solidFill>
                  <a:srgbClr val="E6ECF4"/>
                </a:solidFill>
                <a:latin typeface="Consolas"/>
              </a:rPr>
              <a:t>diagnose sys sdwan health-check
diagnose sys sdwan service
get router info routing-table details &lt;destination&gt;
diagnose sys session filter dst &lt;destination&gt;
diagnose sys session list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54112" y="1719072"/>
            <a:ext cx="3154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READ THE OUTPUT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54112" y="2121408"/>
            <a:ext cx="3383280" cy="214884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Check member/health-check state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Confirm rule match and priority/strategy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Inspect route/policy/session chosen interface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Capture packets at candidate egresses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54112" y="4553712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Safe operation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54112" y="4882896"/>
            <a:ext cx="3401568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Use unique test tuple and timestamp to avoid stale session confusion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168 • DAY 4 • BLOCK 15 • SD-WAN &amp; Design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165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FortiAnalyzer and FortiManager solve different operational problems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FORTIOS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Local config/GUI/CLI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Routing, policy, SD-WAN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Local logs within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FORTIANALYZER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1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0831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Central logs/analytics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Reports/incidents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Retention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FORTIMANAGER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83296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83296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Central config/policy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Templates/ADOM workflow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Controlled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Use product roles, not invented bundle claims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169 • DAY 4 • BLOCK 15 • SD-WAN &amp; Design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166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Licensing boundaries are a validation task, not a memory test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Base FortiOS feature availability varies by model/release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FortiGuard services require relevant subscriptions and connectivity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Manager/analyzer cloud/on-prem offerings have separate sizing and licensing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Avoid promising retention, device counts or service entitlement without current documentation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Mark every design dependency as built-in, subscription, external platform or instructor-confirmed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Create a validation checklist rather than a price/entitlement claim.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SD-WAN rule selects the member that meets the stated SLA, and the session egress matches that member.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170 • DAY 4 • BLOCK 15 • SD-WAN &amp; Design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Confirm SD-WAN selection in SLA state, rule match and session egress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Before/after scenario continued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167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31520" y="1600200"/>
            <a:ext cx="20116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1  HEALTH CHECK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" y="1920240"/>
            <a:ext cx="228600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1">
                <a:solidFill>
                  <a:srgbClr val="233A59"/>
                </a:solidFill>
              </a:rPr>
              <a:t>Probe the service-relevant target.
Record latency, jitter and loss.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2212848"/>
            <a:ext cx="502920" cy="18288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3657600" y="1600200"/>
            <a:ext cx="1828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2  SLA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0116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3A59"/>
                </a:solidFill>
              </a:rPr>
              <a:t>ISP-A: out of SLA
ISP-B: in SLA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06440" y="2212848"/>
            <a:ext cx="502920" cy="18288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400800" y="1600200"/>
            <a:ext cx="1828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3  RULE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0116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3A59"/>
                </a:solidFill>
              </a:rPr>
              <a:t>Voice rule removes A
and chooses 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49640" y="2212848"/>
            <a:ext cx="502920" cy="18288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144000" y="1600200"/>
            <a:ext cx="1828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4 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20240"/>
            <a:ext cx="20116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3A59"/>
                </a:solidFill>
              </a:rPr>
              <a:t>Egress: ISP-B
NAT: ISP-B address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14400" y="3657600"/>
            <a:ext cx="1097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BEFORE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1920240" y="3602736"/>
            <a:ext cx="27432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1">
                <a:solidFill>
                  <a:srgbClr val="1E2B40"/>
                </a:solidFill>
              </a:rPr>
              <a:t>voice session → ISP-A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486400" y="3657600"/>
            <a:ext cx="10972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AFTER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400800" y="3602736"/>
            <a:ext cx="32004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1">
                <a:solidFill>
                  <a:srgbClr val="1E2B40"/>
                </a:solidFill>
              </a:rPr>
              <a:t>new voice session → ISP-B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100584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500" b="1">
                <a:solidFill>
                  <a:srgbClr val="233A59"/>
                </a:solidFill>
              </a:rPr>
              <a:t>Existing-session behavior depends on application/NAT/remote state; test long-lived and new flows separately.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33872"/>
            <a:ext cx="7315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Do not stop at the intent diagram—confirm the matched SD-WAN rule and the actual session egress member.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168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Probe only the ISP 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Probe a service-relevant target; a local gateway can stay up while the application path fails.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Expect an existing session to move seamlessly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Test both new and long-lived flows; NAT and remote state can require reconnection.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Assume managers are bundled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Check current licensing and architecture; FortiManager and FortiAnalyzer have distinct roles.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169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Check member/link and probe reachability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Review SLA raw values and threshold state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Confirm matched SD-WAN rule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Inspect route, policy, session and NAT egress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Capture both links; test new session and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Confirm matched SD-WAN rule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Inspect route, policy, session and NAT egress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Capture both links; test new session and recovery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173 • DAY 4 • BLOCK 15 • SD-WAN &amp; Design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170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302204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Two WAN paths or instructor simulation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Defined performance targets and test applications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Create or analyze one health check and two rules, predict path under normal/degraded conditions, then verify selected member. If two links are unavailable, use an instructor-provided state table.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Create or analyze one health check and two rules, predict path under normal/degraded conditions, then verify selected member. If two links are unavailable, use an instructor-provided state table.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SD-WAN rule selects the member that meets the stated SLA, and the session egress matches that member.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174 • DAY 4 • BLOCK 15 • SD-WAN &amp; Design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171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is the difference between a member being up and in SLA?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proves the selected path?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175 • DAY 4 • BLOCK 15 • SD-WAN &amp; Design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58368" y="566928"/>
            <a:ext cx="5212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DAY 4  •  14:30–16:00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58368" y="1097280"/>
            <a:ext cx="105156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400" b="1">
                <a:solidFill>
                  <a:srgbClr val="FFFFFF"/>
                </a:solidFill>
              </a:rPr>
              <a:t>Performance Optimization, Advanced Troubleshooting &amp; Capstone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76656" y="2084831"/>
            <a:ext cx="8686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C9D1DD"/>
                </a:solidFill>
              </a:rPr>
              <a:t>Advanced • Day 2 of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2578608"/>
            <a:ext cx="10616184" cy="0"/>
          </a:xfrm>
          <a:prstGeom prst="line">
            <a:avLst/>
          </a:prstGeom>
          <a:ln w="12700">
            <a:solidFill>
              <a:srgbClr val="40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685800" y="2889504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LEARNING OBJECTIVES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85800" y="3218688"/>
            <a:ext cx="6035040" cy="1692451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Relate session scale, offload, inspection and resource use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Troubleshoot CPU, memory and Conserve Mode from measured state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rPr lang="en-GB"/>
              <a:t>• Complete an integrated policy/routing/VPN/SD-WAN capstone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315200" y="2889504"/>
            <a:ext cx="3657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PREREQUISITES + PRACTICE RESERVE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315200" y="3218688"/>
            <a:ext cx="3886200" cy="114300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Read-only performance access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Baseline or instructor-provided metrics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rPr lang="en-GB"/>
              <a:t>• Safe fault injection in an isolated lab only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315200" y="4709160"/>
            <a:ext cx="39319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D8E0EA"/>
                </a:solidFill>
              </a:rPr>
              <a:t>Teach ~58 min • reserve ~32 min for guided activity, discussion and debrief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424160" y="5715000"/>
            <a:ext cx="731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2000" b="1">
                <a:solidFill>
                  <a:srgbClr val="E60012"/>
                </a:solidFill>
              </a:rPr>
              <a:t>176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173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Session-table sizing begins with traffic behavior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Concurrent sessions differ from new sessions per second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Long-lived, idle and half-open sessions consume different operational attention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NAT, inspection and logging add state/resources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Use model datasheet and measured baseline; never copy a generic maximum into design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A branch with many short web sessions stresses setup rate differently from persistent VPN 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Compare session count/rate, timeout distribution and peak trend.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</a:t>
            </a:r>
            <a:r>
              <a:rPr sz="1000" b="0">
                <a:solidFill>
                  <a:srgbClr val="687385"/>
                </a:solidFill>
              </a:rPr>
              <a:t>the </a:t>
            </a:r>
            <a:r>
              <a:rPr lang="en-GB" sz="1000" b="0">
                <a:solidFill>
                  <a:srgbClr val="687385"/>
                </a:solidFill>
              </a:rPr>
              <a:t>failed decision, applies one reversible fix, </a:t>
            </a:r>
            <a:r>
              <a:rPr sz="1000" b="0">
                <a:solidFill>
                  <a:srgbClr val="687385"/>
                </a:solidFill>
              </a:rPr>
              <a:t>and </a:t>
            </a:r>
            <a:r>
              <a:rPr lang="en-GB" sz="1000" b="0">
                <a:solidFill>
                  <a:srgbClr val="687385"/>
                </a:solidFill>
              </a:rPr>
              <a:t>the application succeeds with stable resources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177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174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Hardware offload validation must be platform specific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2095382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Check whether the session and enabled features are eligible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First packets and exception traffic can remain on CPU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Azure FGVM performance uses VM/vNIC/cloud acceleration—not a physical NP/CP ASIC datapath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 no-offload flag requires investigation; it is not automatically a misconfiguration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Compare an eligible simple flow and an inspected/tunneled flow on a declared appliance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Use model-specific documentation and session diagnostics.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178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175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CPU troubleshooting starts with time and workload correlation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6583680" cy="42519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877824" y="1783080"/>
            <a:ext cx="61264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ILLUSTRATIVE CLI — validate on FortiOS 7.6.7 / Azure FortiGate-VM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877824" y="2212848"/>
            <a:ext cx="6080760" cy="3154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0">
                <a:solidFill>
                  <a:srgbClr val="E6ECF4"/>
                </a:solidFill>
                <a:latin typeface="Consolas"/>
              </a:rPr>
              <a:t>get system performance status
diagnose sys top 1 20
diagnose sys session stat
# Stop interactive top with the documented key sequence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54112" y="1719072"/>
            <a:ext cx="3154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READ THE OUTPUT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54112" y="2121408"/>
            <a:ext cx="3383280" cy="2591094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Identify whether load is sustained or bursty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Locate responsible processes/cores and traffic changes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Correlate policy/profile, routing events, logging and session setup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E2B40"/>
                </a:solidFill>
              </a:defRPr>
            </a:pPr>
            <a:r>
              <a:rPr lang="en-GB"/>
              <a:t>• Record process, session and memory state before restarting or changing load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54112" y="4553712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Safe operation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54112" y="4882896"/>
            <a:ext cx="3401568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High CPU during an IPS update differs from sustained packet-processing saturation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179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176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Memory management requires trend, consumers and thresholds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2370072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Track used memory, proxy buffers, sessions and process growth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Conserve Mode is triggered by system memory thresholds and protects stability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Entry/exit thresholds and behavior must be confirmed for exact build/model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 reboot removes transient state and may only postpone recurrence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Collect event log, process and session state before mitigation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Use release-specific Conserve Mode documentation and support guidance.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180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177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Conserve Mode changes the troubleshooting priority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Threshold crossed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Protective behavior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Identify consumer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Scoped mitigation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Stable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35364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Identify whether sessions, proxy inspection or a process dominates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Apply scoped mitigation and monitor exit/re-entry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Escalate with </a:t>
            </a:r>
            <a:r>
              <a:rPr lang="en-GB"/>
              <a:t>timestamps, process samples and memory trends </a:t>
            </a:r>
            <a:r>
              <a:t>when </a:t>
            </a:r>
            <a:r>
              <a:rPr lang="en-GB"/>
              <a:t>a </a:t>
            </a:r>
            <a:r>
              <a:t>defect is suspected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Resolution includes stable memory below recovery threshold and no recurring event.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181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178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SSL inspection has measurable compute and compatibility cost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Deep inspection adds TLS termination, certificate generation and content scanning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Cipher suites, key sizes, session resumption and traffic mix affect cost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Certificate inspection has lower visibility and generally lower processing cost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Capacity planning must use representative encrypted traffic and enabled profiles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Measure throughput/latency/CPU with and without the intended profile in a controlled test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Do not extrapolate one lab VM result to appliance capacity.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182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179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Security profiles consume resources according to traffic mix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2644763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AV, IPS, Web and App Control engage different engines and update packages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Encrypted traffic requires sufficient inspection visibility before content scanning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Logging volume and disk/remote transport can become bottlenecks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Profile tuning should preserve security requirements and use representative measurements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Optimize exclusions/signatures only with risk owner approval and rollback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Compare security events, CPU/memory and user impact.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183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A layered workflow prevents random configuration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Symptom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42388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488692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598420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598420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Route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7271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319015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442874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4428744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Policy/NAT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3036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149339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59067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7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Overlay/SD-WAN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3335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979664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939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9391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Profiles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63684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809988" y="1901952"/>
            <a:ext cx="16840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1971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9716" y="2340864"/>
            <a:ext cx="146456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Resources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policy/NAT/session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VPN/SD-WAN/security-profile layers as applicable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resource pressure and recent changes last/throughout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Stop, reset and document debug operations.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184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Capstone topology uses one consistent illustrative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965960"/>
            <a:ext cx="1682495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051560" y="2130552"/>
            <a:ext cx="1499616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>
                <a:solidFill>
                  <a:srgbClr val="FFFFFF"/>
                </a:solidFill>
              </a:rPr>
              <a:t>HQ CLIENT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2615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099815" y="1965960"/>
            <a:ext cx="1682495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91256" y="2130552"/>
            <a:ext cx="1499616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HQ FGT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82312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39512" y="1965960"/>
            <a:ext cx="1682495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30951" y="2130552"/>
            <a:ext cx="1499616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WAN / VPN / SD-WAN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22007" y="2496312"/>
            <a:ext cx="457201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79208" y="1965960"/>
            <a:ext cx="1682495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70648" y="2130552"/>
            <a:ext cx="1499616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BRANCH FGT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61704" y="2496312"/>
            <a:ext cx="457200" cy="0"/>
          </a:xfrm>
          <a:prstGeom prst="line">
            <a:avLst/>
          </a:prstGeom>
          <a:ln w="317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518904" y="1965960"/>
            <a:ext cx="1682495" cy="105156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10344" y="2130552"/>
            <a:ext cx="1499616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BRANCH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83280"/>
            <a:ext cx="10515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Instructor replaces interface names and chooses only faults supported by the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69080"/>
            <a:ext cx="10241280" cy="14173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t>• Client 10.10.10.25 in HQ user LAN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t>• Branch server 10.20.10.50 reached through IPsec/ADVPN or SD-WAN member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t>• HQ DMZ server 10.10.20.10 published by VIP where applicable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B40"/>
                </a:solidFill>
              </a:defRPr>
            </a:pPr>
            <a:r>
              <a:t>• ISP-A 203.0.113.0/30 and ISP-B 198.51.100.0/30 are documentation ranges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650992"/>
            <a:ext cx="1024128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Azure </a:t>
            </a:r>
            <a:r>
              <a:rPr lang="en-GB" sz="1300" b="1">
                <a:solidFill>
                  <a:srgbClr val="E60012"/>
                </a:solidFill>
              </a:rPr>
              <a:t>FGVM is confirmed; VNet, subnet, NSG, UDR, load-balancer</a:t>
            </a:r>
            <a:r>
              <a:rPr sz="1300" b="1">
                <a:solidFill>
                  <a:srgbClr val="E60012"/>
                </a:solidFill>
              </a:rPr>
              <a:t>, credentials </a:t>
            </a:r>
            <a:r>
              <a:rPr lang="en-GB" sz="1300" b="1">
                <a:solidFill>
                  <a:srgbClr val="E60012"/>
                </a:solidFill>
              </a:rPr>
              <a:t>and </a:t>
            </a:r>
            <a:r>
              <a:rPr sz="1300" b="1">
                <a:solidFill>
                  <a:srgbClr val="E60012"/>
                </a:solidFill>
              </a:rPr>
              <a:t>student ranges </a:t>
            </a:r>
            <a:r>
              <a:rPr lang="en-GB" sz="1300" b="1">
                <a:solidFill>
                  <a:srgbClr val="E60012"/>
                </a:solidFill>
              </a:rPr>
              <a:t>remain unspecified</a:t>
            </a:r>
            <a:r>
              <a:rPr sz="1300" b="1">
                <a:solidFill>
                  <a:srgbClr val="E60012"/>
                </a:solidFill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185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Capstone symptom: application is intermittently unreachable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User reports HTTPS timeout to branch application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DNS answer is correct and must be recorded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Traffic may fail at policy, overlay route, SD-WAN rule or resource pressure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Teams must avoid changing more than one variable at a time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84023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Timebox triage; assign a diagnostic owner and change recorder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Success is identifying the failed decision from actual device state—not fastest guessing.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186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Capstone fault set is chosen from achievable prerequisites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Fault A: disabled/narrowed lab policy or wrong service object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Fault B: missing/more-specific route or mismatched VPN selector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Fault C: SD-WAN SLA target/rule steers to failed lab path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Optional observation: elevated memory metric from instructor-provided snapshot—no synthetic Conserve Mode on shared equipment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Inject only one or two faults in isolated lab; state them in instructor notes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Never claim hardware/EMS/HA faults are live if resources are absent.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187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184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Capstone record connects every relevant layer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1923283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Exact test tuple, timestamp and expected path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Route/PBR/SD-WAN decision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Matched policy, NAT and session state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VPN SA/selectors/counters when used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Relevant packet/log output and CPU/memory status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Screenshots alone need labels and context; CLI output must be captured from the actual lab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Teams submit a concise before/after state table.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188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Capstone workflow: localize before remediation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1923283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Reproduce once and freeze the test definition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Predict path using route, policy and overlay state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Collect minimally invasive diagnostics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Name the failed decision and proposed change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Apply approved change; retest; restore injected fault baseline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Use fresh five-tuple after route/policy changes to avoid stale session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B40"/>
                </a:solidFill>
              </a:rPr>
              <a:t>Document every disruptive command.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</a:t>
            </a:r>
            <a:r>
              <a:rPr sz="1000" b="0">
                <a:solidFill>
                  <a:srgbClr val="687385"/>
                </a:solidFill>
              </a:rPr>
              <a:t>the </a:t>
            </a:r>
            <a:r>
              <a:rPr lang="en-GB" sz="1000" b="0">
                <a:solidFill>
                  <a:srgbClr val="687385"/>
                </a:solidFill>
              </a:rPr>
              <a:t>failed decision, applies one reversible fix, </a:t>
            </a:r>
            <a:r>
              <a:rPr sz="1000" b="0">
                <a:solidFill>
                  <a:srgbClr val="687385"/>
                </a:solidFill>
              </a:rPr>
              <a:t>and </a:t>
            </a:r>
            <a:r>
              <a:rPr lang="en-GB" sz="1000" b="0">
                <a:solidFill>
                  <a:srgbClr val="687385"/>
                </a:solidFill>
              </a:rPr>
              <a:t>the application succeeds with stable resources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189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186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Capstone resolution criteria are observable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route/member/tunnel selected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Correct policy/VIP/NAT and security profile applied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Bidirectional packets and session byte counters increase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Application succeeds without Conserve Mode or abnormal resource trend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Rollback remains available and intentional faults are removed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“Ping works” is not sufficient for HTTPS success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Debrief explains why each misleading clue did not prove the path.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190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Capstone checkpoint: policy and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Student exercise—record the command or log field that answers each question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187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64592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3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1417320" y="1572768"/>
            <a:ext cx="9326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800" b="1">
                <a:solidFill>
                  <a:srgbClr val="1E2B40"/>
                </a:solidFill>
              </a:rPr>
              <a:t>Which policy ID should match the test tuple?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2286000"/>
            <a:ext cx="946404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88036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417320" y="2807208"/>
            <a:ext cx="9326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800" b="1">
                <a:solidFill>
                  <a:srgbClr val="1E2B40"/>
                </a:solidFill>
              </a:rPr>
              <a:t>Is NAT required, and what should the translated tuple be?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3520440"/>
            <a:ext cx="946404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/>
          </p:cNvSpPr>
          <p:nvPr/>
        </p:nvSpPr>
        <p:spPr>
          <a:xfrm>
            <a:off x="777240" y="41148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3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417320" y="4041648"/>
            <a:ext cx="9326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800" b="1">
                <a:solidFill>
                  <a:srgbClr val="1E2B40"/>
                </a:solidFill>
              </a:rPr>
              <a:t>Which traffic-log fields distinguish deny, accept and security-profile action?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4754880"/>
            <a:ext cx="946404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58368" y="5833872"/>
            <a:ext cx="7315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1417320" y="5769864"/>
            <a:ext cx="987552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233A59"/>
                </a:solidFill>
              </a:rPr>
              <a:t>Do not reveal the injected fault; require the team to connect each conclusion to the actual lab state.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Capstone checkpoint: route and VPN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Student exercise—record the command or log field that answers each question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188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64592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3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1417320" y="1572768"/>
            <a:ext cx="9326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800" b="1">
                <a:solidFill>
                  <a:srgbClr val="1E2B40"/>
                </a:solidFill>
              </a:rPr>
              <a:t>Which route should win for the protected destination?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2286000"/>
            <a:ext cx="946404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88036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417320" y="2807208"/>
            <a:ext cx="9326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800" b="1">
                <a:solidFill>
                  <a:srgbClr val="1E2B40"/>
                </a:solidFill>
              </a:rPr>
              <a:t>Are Phase 2 selectors reciprocal?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3520440"/>
            <a:ext cx="946404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/>
          </p:cNvSpPr>
          <p:nvPr/>
        </p:nvSpPr>
        <p:spPr>
          <a:xfrm>
            <a:off x="777240" y="41148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3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417320" y="4041648"/>
            <a:ext cx="9326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800" b="1">
                <a:solidFill>
                  <a:srgbClr val="1E2B40"/>
                </a:solidFill>
              </a:rPr>
              <a:t>Which encap/decap pattern identifies the failing direction?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4754880"/>
            <a:ext cx="946404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58368" y="5833872"/>
            <a:ext cx="7315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1417320" y="5769864"/>
            <a:ext cx="987552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233A59"/>
                </a:solidFill>
              </a:rPr>
              <a:t>Do not reveal the injected fault; require the team to connect each conclusion to the actual lab state.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Capstone checkpoint: SD-WAN and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5"/>
                </a:solidFill>
              </a:rPr>
              <a:t>Student exercise—record the command or log field that answers each question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11109960" y="6537960"/>
            <a:ext cx="502920" cy="1892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189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64592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3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1417320" y="1572768"/>
            <a:ext cx="9326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800" b="1">
                <a:solidFill>
                  <a:srgbClr val="1E2B40"/>
                </a:solidFill>
              </a:rPr>
              <a:t>Which rule and SLA should select the egress member?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2286000"/>
            <a:ext cx="946404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88036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417320" y="2807208"/>
            <a:ext cx="9326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800" b="1">
                <a:solidFill>
                  <a:srgbClr val="1E2B40"/>
                </a:solidFill>
              </a:rPr>
              <a:t>Does a new session use the expected member/NAT address?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3520440"/>
            <a:ext cx="946404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41148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3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41648"/>
            <a:ext cx="9326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800" b="1">
                <a:solidFill>
                  <a:srgbClr val="1E2B40"/>
                </a:solidFill>
              </a:rPr>
              <a:t>Are CPU, memory or Conserve Mode affecting the result?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4754880"/>
            <a:ext cx="946404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5833872"/>
            <a:ext cx="7315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769864"/>
            <a:ext cx="987552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233A59"/>
                </a:solidFill>
              </a:rPr>
              <a:t>Do not reveal the injected fault; require the team to connect each conclusion to the actual lab state.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190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Operational escalation package makes support efficient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43891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State model, exact FortiOS build and topology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Give timestamps, timezone, symptom and reproduction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Include filtered diagnostics and before/after change record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Remove credentials/private data and identify business impact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84023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A timestamped, reproducible diagnostic bundle is more useful than a long unfiltered debug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Follow organizational and Fortinet support data-collection guidance.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194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191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Integrated capstone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191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85800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95528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Define tuple and symptom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3822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858414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2" name="TextBox 11"/>
          <p:cNvSpPr txBox="1"/>
          <p:nvPr/>
        </p:nvSpPr>
        <p:spPr>
          <a:xfrm>
            <a:off x="2949854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968142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Check route/overlay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4866436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5" name="Rectangle 14"/>
          <p:cNvSpPr/>
          <p:nvPr/>
        </p:nvSpPr>
        <p:spPr>
          <a:xfrm>
            <a:off x="5031028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5122468" y="1938528"/>
            <a:ext cx="365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140756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Check policy/NAT/session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39051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3643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295083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313371" y="2243935"/>
            <a:ext cx="1788566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FFFFFF"/>
                </a:solidFill>
              </a:rPr>
              <a:t>Check profiles/resources</a:t>
            </a:r>
          </a:p>
        </p:txBody>
      </p:sp>
      <p:sp>
        <p:nvSpPr>
          <p:cNvPr id="22" name="Right Arrow 21"/>
          <p:cNvSpPr>
            <a:spLocks/>
          </p:cNvSpPr>
          <p:nvPr/>
        </p:nvSpPr>
        <p:spPr>
          <a:xfrm>
            <a:off x="9211665" y="2340864"/>
            <a:ext cx="164592" cy="146304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9376257" y="1828800"/>
            <a:ext cx="2008022" cy="1143000"/>
          </a:xfrm>
          <a:prstGeom prst="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4" name="TextBox 23"/>
          <p:cNvSpPr txBox="1"/>
          <p:nvPr/>
        </p:nvSpPr>
        <p:spPr>
          <a:xfrm>
            <a:off x="9467697" y="1938528"/>
            <a:ext cx="3657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0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5985" y="2267712"/>
            <a:ext cx="178856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Apply one reversible fix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15544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33A59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Each step names a FortiGate state or packet change that can be checked directly; stop when the failed step is identified.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5486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87385"/>
                </a:solidFill>
              </a:rPr>
              <a:t>192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099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B40"/>
                </a:solidFill>
              </a:rPr>
              <a:t>Common mistakes—and how to correct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6537960"/>
            <a:ext cx="502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87385"/>
                </a:solidFill>
              </a:rPr>
              <a:t>192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85800" y="1417320"/>
            <a:ext cx="329184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MISTAKE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4160520" y="1417320"/>
            <a:ext cx="70408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CORRECTION — AND WHY IT HELPS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Change policy, route and tunnel together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737360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51960" y="1783080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Change one layer at a time with rollback; otherwise the causal fix is unknown.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34639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/>
          </p:cNvSpPr>
          <p:nvPr/>
        </p:nvSpPr>
        <p:spPr>
          <a:xfrm>
            <a:off x="685800" y="3081528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Restart before recording the failure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3035808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4251960" y="3081528"/>
            <a:ext cx="69037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0">
                <a:solidFill>
                  <a:srgbClr val="233A59"/>
                </a:solidFill>
              </a:rPr>
              <a:t>Capture route/session/protocol/resource state first; restart destroys transient clues.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133087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85800" y="4379976"/>
            <a:ext cx="31089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600" b="1">
                <a:solidFill>
                  <a:srgbClr val="1E2B40"/>
                </a:solidFill>
              </a:rPr>
              <a:t>Use FGVM results as appliance capacity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4334256"/>
            <a:ext cx="0" cy="96012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0" y="4379976"/>
            <a:ext cx="6903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A59"/>
                </a:solidFill>
              </a:rPr>
              <a:t>Use model data sheets and representative appliance testing; VM results do not prove ASIC capacity.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431536"/>
            <a:ext cx="10469880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833872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60012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769864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33A59"/>
                </a:solidFill>
              </a:rPr>
              <a:t>A correction changes a concrete configuration, test or interpretation—not merely the wording used to describe it.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193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Troubleshooting workflow: narrow the failed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768096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1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68096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400" b="1">
                <a:solidFill>
                  <a:srgbClr val="1E2B40"/>
                </a:solidFill>
              </a:rPr>
              <a:t>Define tuple/time/symptom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8452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4756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4484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4484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Check route/PBR/SD-WAN/VPN state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4841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51145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0873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873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Check policy/NAT/session/logs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1230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47534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7262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262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Check packet direction and security profile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7619" y="2523744"/>
            <a:ext cx="146304" cy="0"/>
          </a:xfrm>
          <a:prstGeom prst="line">
            <a:avLst/>
          </a:prstGeom>
          <a:ln w="2540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443923" y="1901952"/>
            <a:ext cx="20500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3651" y="2020824"/>
            <a:ext cx="4114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3651" y="2340864"/>
            <a:ext cx="1830628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2B40"/>
                </a:solidFill>
              </a:rPr>
              <a:t>Check CPU/memory/Conserve events and validate one reversible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0012"/>
                </a:solidFill>
              </a:rPr>
              <a:t>What to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0791"/>
            <a:ext cx="6446520" cy="15087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policy/NAT/session/logs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packet direction and security profile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E2B40"/>
                </a:solidFill>
              </a:defRPr>
            </a:pPr>
            <a:r>
              <a:t>• Check CPU/memory/Conserve events and validate one reversible fix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703320"/>
            <a:ext cx="0" cy="2093976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0" y="3703320"/>
            <a:ext cx="29260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INSTRUCTOR DEMONSTRATION</a:t>
            </a:r>
            <a:endParaRPr sz="1100" b="1">
              <a:solidFill>
                <a:srgbClr val="E6001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4096512"/>
            <a:ext cx="33375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3A59"/>
                </a:solidFill>
              </a:rPr>
              <a:t>Preserve timestamps and before/after state; stop/reset debug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440680"/>
            <a:ext cx="3337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If debug is used, filter by the test tuple and disable</a:t>
            </a:r>
            <a:r>
              <a:rPr sz="1000" b="0">
                <a:solidFill>
                  <a:srgbClr val="687385"/>
                </a:solidFill>
              </a:rPr>
              <a:t>/reset </a:t>
            </a:r>
            <a:r>
              <a:rPr lang="en-GB" sz="1000" b="0">
                <a:solidFill>
                  <a:srgbClr val="687385"/>
                </a:solidFill>
              </a:rPr>
              <a:t>it immediately </a:t>
            </a:r>
            <a:r>
              <a:rPr sz="1000" b="0">
                <a:solidFill>
                  <a:srgbClr val="687385"/>
                </a:solidFill>
              </a:rPr>
              <a:t>after </a:t>
            </a:r>
            <a:r>
              <a:rPr lang="en-GB" sz="1000" b="0">
                <a:solidFill>
                  <a:srgbClr val="687385"/>
                </a:solidFill>
              </a:rPr>
              <a:t>capture</a:t>
            </a:r>
            <a:r>
              <a:rPr sz="1000" b="0">
                <a:solidFill>
                  <a:srgbClr val="687385"/>
                </a:solidFill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197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194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Practical handoff: predict, observe, explain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554480"/>
            <a:ext cx="6583680" cy="3022046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Read-only performance access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Prerequisite: Baseline or instructor-provided metrics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Goal: Run the integrated capstone with one or two achievable lab faults. Required evidence: symptom, expected path, failed decision, reversible fix, bidirectional proof and resource sanity check. Debrief removes every intentional fault.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EXPECTED RESULT: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E2B40"/>
                </a:solidFill>
              </a:defRPr>
            </a:pPr>
            <a:r>
              <a:rPr lang="en-GB"/>
              <a:t>• Debrief: compare the prediction with the actual command/log result; restore intentional changes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1600200"/>
            <a:ext cx="0" cy="434340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7790688" y="1627632"/>
            <a:ext cx="342900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ILLUSTRATIVE SCENARIO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7790688" y="2057400"/>
            <a:ext cx="3337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1">
                <a:solidFill>
                  <a:srgbClr val="233A59"/>
                </a:solidFill>
              </a:rPr>
              <a:t>Run the integrated capstone with one or two achievable lab faults. Required evidence: symptom, expected path, failed decision, reversible fix, bidirectional proof and resource sanity check. Debrief removes every intentional fault.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790688" y="3822191"/>
            <a:ext cx="1828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E60012"/>
                </a:solidFill>
              </a:rPr>
              <a:t>EXPECTED RESULT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790688" y="4187952"/>
            <a:ext cx="333756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500" b="0">
                <a:solidFill>
                  <a:srgbClr val="1E2B40"/>
                </a:solidFill>
              </a:rPr>
              <a:t>Instructor confirms resources and environment-specific placeholders before the exercise.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790688" y="5596128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000" b="1">
                <a:solidFill>
                  <a:srgbClr val="687385"/>
                </a:solidFill>
              </a:rPr>
              <a:t>Expected observation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509760" y="5577840"/>
            <a:ext cx="1691640" cy="82484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GB" sz="1000" b="0">
                <a:solidFill>
                  <a:srgbClr val="687385"/>
                </a:solidFill>
              </a:rPr>
              <a:t>The team identifies the failed decision, applies one reversible fix, and the application succeeds with stable resources.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198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195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Knowledge check — explain the result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/>
          </p:cNvSpPr>
          <p:nvPr/>
        </p:nvSpPr>
        <p:spPr>
          <a:xfrm>
            <a:off x="658368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What is the first deliverable in the capstone?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227064" y="1600200"/>
            <a:ext cx="5312664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QUESTION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27064" y="1984248"/>
            <a:ext cx="5312664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/>
          </p:cNvSpPr>
          <p:nvPr/>
        </p:nvSpPr>
        <p:spPr>
          <a:xfrm>
            <a:off x="6227064" y="2176272"/>
            <a:ext cx="5312664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rPr lang="en-GB"/>
              <a:t>• When is the incident resolved?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233A59"/>
                </a:solidFill>
              </a:rPr>
              <a:t>Answers and teaching rationale are in speaker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199 • DAY 4 • BLOCK 16 • Performance, Troubleshooting &amp; Capstone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76656" y="566928"/>
            <a:ext cx="2743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COURSE WRAP-UP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76656" y="1188720"/>
            <a:ext cx="9966960" cy="11633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3600" b="1">
                <a:solidFill>
                  <a:srgbClr val="FFFFFF"/>
                </a:solidFill>
              </a:rPr>
              <a:t>Operate from packet state, logs and protocol state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94944" y="1993392"/>
            <a:ext cx="98755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900" b="1">
                <a:solidFill>
                  <a:srgbClr val="D8E0EA"/>
                </a:solidFill>
              </a:rPr>
              <a:t>A complete diagnosis connects packet fields to route, policy, session, overlay, inspection and resource state.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777240" y="290779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300" b="1">
                <a:solidFill>
                  <a:srgbClr val="E60012"/>
                </a:solidFill>
              </a:rPr>
              <a:t>01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325880" y="2907792"/>
            <a:ext cx="9601200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0">
                <a:solidFill>
                  <a:srgbClr val="FFFFFF"/>
                </a:solidFill>
              </a:rPr>
              <a:t>Every block includes theory, a worked mechanism, mistakes, troubleshooting, practical handoff and knowledge check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77240" y="3621024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300" b="1">
                <a:solidFill>
                  <a:srgbClr val="E60012"/>
                </a:solidFill>
              </a:rPr>
              <a:t>02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1325880" y="3621024"/>
            <a:ext cx="9601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0">
                <a:solidFill>
                  <a:srgbClr val="FFFFFF"/>
                </a:solidFill>
              </a:rPr>
              <a:t>Advanced coverage completes BGP, IPsec/ADVPN, VPN validation, FortiClient/EMS, HA, SD-WAN and performance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77240" y="433425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300" b="1">
                <a:solidFill>
                  <a:srgbClr val="E60012"/>
                </a:solidFill>
              </a:rPr>
              <a:t>03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325880" y="4334256"/>
            <a:ext cx="9601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0">
                <a:solidFill>
                  <a:srgbClr val="FFFFFF"/>
                </a:solidFill>
              </a:rPr>
              <a:t>Optional deep dives are marked in notes; practice time is protected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77240" y="50474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HU" sz="1300" b="1">
                <a:solidFill>
                  <a:srgbClr val="E60012"/>
                </a:solidFill>
              </a:rPr>
              <a:t>04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1325880" y="5047488"/>
            <a:ext cx="960120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0">
                <a:solidFill>
                  <a:srgbClr val="FFFFFF"/>
                </a:solidFill>
              </a:rPr>
              <a:t>Instructor validates FortiOS 7.6.7 build, platform, licensing and lab topology before delivery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94944" y="6080760"/>
            <a:ext cx="10241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400" b="1">
                <a:solidFill>
                  <a:srgbClr val="E60012"/>
                </a:solidFill>
              </a:rPr>
              <a:t>Final Q&amp;A • capstone debrief • remove intentional faults • retain diagnostics and rollback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502920" y="6537960"/>
            <a:ext cx="1014984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750" b="0">
                <a:solidFill>
                  <a:srgbClr val="687385"/>
                </a:solidFill>
              </a:rPr>
              <a:t>FortiGate Foundations + Advanced | Lab: FortiOS 7.6.7 on Azure FortiGate-VM • physical appliance theory included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197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Instructor preparation: what changed in version 1.3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13232" y="1627632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200" b="1">
                <a:solidFill>
                  <a:srgbClr val="E60012"/>
                </a:solidFill>
              </a:rPr>
              <a:t>RESEQUENCED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2331720" y="1627632"/>
            <a:ext cx="87325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0">
                <a:solidFill>
                  <a:srgbClr val="1E2B40"/>
                </a:solidFill>
              </a:rPr>
              <a:t>Two Foundations days followed by two Advanced days; basic routing precedes policy/NAT dependencies and dynamic routing.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713232" y="2651760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200" b="1">
                <a:solidFill>
                  <a:srgbClr val="E60012"/>
                </a:solidFill>
              </a:rPr>
              <a:t>REWRITTEN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331720" y="2651760"/>
            <a:ext cx="873252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0">
                <a:solidFill>
                  <a:srgbClr val="1E2B40"/>
                </a:solidFill>
              </a:rPr>
              <a:t>Generic objectives replaced by topic facts, worked traffic, corrections and troubleshooting.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13232" y="3675888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200" b="1">
                <a:solidFill>
                  <a:srgbClr val="E60012"/>
                </a:solidFill>
              </a:rPr>
              <a:t>ADDED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2331720" y="3675888"/>
            <a:ext cx="87325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0">
                <a:solidFill>
                  <a:srgbClr val="1E2B40"/>
                </a:solidFill>
              </a:rPr>
              <a:t>FortiLink, hardware planes/offload, Conserve Mode, expanded OSPF/BGP, IPsec/ADVPN, EMS, HA, SD-WAN and capstone.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13232" y="4700016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200" b="1">
                <a:solidFill>
                  <a:srgbClr val="E60012"/>
                </a:solidFill>
              </a:rPr>
              <a:t>PRESERVED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2331720" y="4700016"/>
            <a:ext cx="87325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700" b="0">
                <a:solidFill>
                  <a:srgbClr val="1E2B40"/>
                </a:solidFill>
              </a:rPr>
              <a:t>Editable PowerPoint, existing red/navy visual language, widescreen aspect ratio and proportionate optional authentication context in notes.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CHANGE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6032"/>
            <a:ext cx="21945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E60012"/>
                </a:solidFill>
              </a:rPr>
              <a:t>INSTRUCTOR APPENDIX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502920" y="6537960"/>
            <a:ext cx="1014984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750" b="0">
                <a:solidFill>
                  <a:srgbClr val="687385"/>
                </a:solidFill>
              </a:rPr>
              <a:t>FortiGate Foundations + Advanced | Lab: FortiOS 7.6.7 on Azure FortiGate-VM • physical appliance theory included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198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8556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Use the declared Azure lab baseline—and distinguish physical-appliance theory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1600200"/>
            <a:ext cx="3456432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b="1">
                <a:solidFill>
                  <a:srgbClr val="E60012"/>
                </a:solidFill>
              </a:rPr>
              <a:t>DECLARED LAB BASELINE</a:t>
            </a:r>
            <a:endParaRPr sz="1300" b="1">
              <a:solidFill>
                <a:srgbClr val="E60012"/>
              </a:solidFill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58368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2176272"/>
            <a:ext cx="3456432" cy="251601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FortiOS </a:t>
            </a:r>
            <a:r>
              <a:rPr lang="en-HU"/>
              <a:t>7.6.7</a:t>
            </a:r>
            <a:endParaRPr/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</a:t>
            </a:r>
            <a:r>
              <a:rPr lang="en-GB"/>
              <a:t>Azure </a:t>
            </a:r>
            <a:r>
              <a:t>FortiGate-VM</a:t>
            </a:r>
            <a:r>
              <a:rPr lang="en-GB"/>
              <a:t> for all hands-on labs</a:t>
            </a:r>
            <a:endParaRPr/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</a:t>
            </a:r>
            <a:r>
              <a:rPr lang="en-GB"/>
              <a:t>Physical appliance NP</a:t>
            </a:r>
            <a:r>
              <a:t>/</a:t>
            </a:r>
            <a:r>
              <a:rPr lang="en-GB"/>
              <a:t>CP </a:t>
            </a:r>
            <a:r>
              <a:t>and </a:t>
            </a:r>
            <a:r>
              <a:rPr lang="en-GB"/>
              <a:t>FGCP remain theory/demo</a:t>
            </a:r>
            <a:endParaRPr/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</a:t>
            </a:r>
            <a:r>
              <a:rPr lang="en-GB"/>
              <a:t>Instructor still confirms optional </a:t>
            </a:r>
            <a:r>
              <a:t>HA, FortiSwitch, </a:t>
            </a:r>
            <a:r>
              <a:rPr lang="en-GB"/>
              <a:t>EMS and </a:t>
            </a:r>
            <a:r>
              <a:t>dual-WAN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SAFE LAB BOUNDARIES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70831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70831" y="2176272"/>
            <a:ext cx="3456432" cy="333756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Use placeholders until mappings are supplied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Filter and stop/reset all debug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Treat session clearing, restore and firmware changes as disruptive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Do not drive shared equipment into Conserve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1600200"/>
            <a:ext cx="3456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0012"/>
                </a:solidFill>
              </a:rPr>
              <a:t>OPTIONAL CONTEXT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83296" y="1984248"/>
            <a:ext cx="3456432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83296" y="2176272"/>
            <a:ext cx="3456432" cy="241341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LDAP/RADIUS/FSSO details retained as optional discussion in identity/policy notes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</a:t>
            </a:r>
            <a:r>
              <a:rPr lang="en-GB"/>
              <a:t>Appliance </a:t>
            </a:r>
            <a:r>
              <a:t>ASIC and </a:t>
            </a:r>
            <a:r>
              <a:rPr lang="en-GB"/>
              <a:t>FGCP </a:t>
            </a:r>
            <a:r>
              <a:t>tasks are </a:t>
            </a:r>
            <a:r>
              <a:rPr lang="en-GB"/>
              <a:t>theory/demo </a:t>
            </a:r>
            <a:r>
              <a:t>unless </a:t>
            </a:r>
            <a:r>
              <a:rPr lang="en-GB"/>
              <a:t>separate hardware exists</a:t>
            </a:r>
            <a:endParaRPr/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E2B40"/>
                </a:solidFill>
              </a:defRPr>
            </a:pPr>
            <a:r>
              <a:t>• Licensing claims require current contract/product documents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724144"/>
            <a:ext cx="123444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1">
                <a:solidFill>
                  <a:srgbClr val="233A59"/>
                </a:solidFill>
              </a:rPr>
              <a:t>KEY DISTINCTION</a:t>
            </a:r>
            <a:endParaRPr sz="1100" b="1">
              <a:solidFill>
                <a:srgbClr val="233A59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20240" y="5687568"/>
            <a:ext cx="9235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59"/>
                </a:solidFill>
              </a:rPr>
              <a:t>No deployed resource, entitlement, credential, interface mapping or successful result is assumed.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687385"/>
                </a:solidFill>
              </a:rPr>
              <a:t>ASSUMPTIONS +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56032"/>
            <a:ext cx="21945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E60012"/>
                </a:solidFill>
              </a:rPr>
              <a:t>INSTRUCTOR APPENDIX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502920" y="6537960"/>
            <a:ext cx="1014984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750" b="0">
                <a:solidFill>
                  <a:srgbClr val="687385"/>
                </a:solidFill>
              </a:rPr>
              <a:t>FortiGate Foundations + Advanced | Lab: FortiOS 7.6.7 on Azure FortiGate-VM • physical appliance theory included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199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Coverage matrix — blocks 1–8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521207" y="1133856"/>
            <a:ext cx="10698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0">
                <a:solidFill>
                  <a:srgbClr val="687385"/>
                </a:solidFill>
              </a:rPr>
              <a:t>Final slide ranges are stable in this revised 200-slide deck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326730"/>
              </p:ext>
            </p:extLst>
          </p:nvPr>
        </p:nvGraphicFramePr>
        <p:xfrm>
          <a:off x="658368" y="1481328"/>
          <a:ext cx="108356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64008" marR="64008" marT="22860" marB="22860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DAY</a:t>
                      </a:r>
                    </a:p>
                  </a:txBody>
                  <a:tcPr marL="64008" marR="64008" marT="22860" marB="22860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marL="64008" marR="64008" marT="22860" marB="22860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marL="64008" marR="64008" marT="22860" marB="22860"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4–13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Network Foundations &amp; FortiGate Packet Flow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14–23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FortiGate Introduction &amp; Initial Configuration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24–33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Segmentation, Zones &amp; Firewall Policy Design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34–43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NAT, Logging &amp; CLI Troubleshooting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44–53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Routing Fundamentals &amp; Route Selection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54–63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Object Management &amp; Policy Design Best Practices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64–73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Security Services &amp; SSL Inspection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74–82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FortiGate Hardware Architecture, Monitoring &amp; Operations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COVERAGE MATRIX • BLOCKS 1–8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56032"/>
            <a:ext cx="21945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E60012"/>
                </a:solidFill>
              </a:rPr>
              <a:t>INSTRUCTOR APPENDIX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889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/>
          </p:cNvSpPr>
          <p:nvPr/>
        </p:nvSpPr>
        <p:spPr>
          <a:xfrm>
            <a:off x="502920" y="6537960"/>
            <a:ext cx="1014984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750" b="0">
                <a:solidFill>
                  <a:srgbClr val="687385"/>
                </a:solidFill>
              </a:rPr>
              <a:t>FortiGate Foundations + Advanced | Lab: FortiOS 7.6.7 on Azure FortiGate-VM • physical appliance theory included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11155680" y="6528816"/>
            <a:ext cx="502920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HU" sz="750" b="0">
                <a:solidFill>
                  <a:srgbClr val="687385"/>
                </a:solidFill>
              </a:rPr>
              <a:t>200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2600" b="1">
                <a:solidFill>
                  <a:srgbClr val="1E2B40"/>
                </a:solidFill>
              </a:rPr>
              <a:t>Coverage matrix — blocks 9–16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521207" y="1133856"/>
            <a:ext cx="10698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100" b="0">
                <a:solidFill>
                  <a:srgbClr val="687385"/>
                </a:solidFill>
              </a:rPr>
              <a:t>Final slide ranges are stable in this revised 200-slide deck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325158"/>
              </p:ext>
            </p:extLst>
          </p:nvPr>
        </p:nvGraphicFramePr>
        <p:xfrm>
          <a:off x="658368" y="1481328"/>
          <a:ext cx="108356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64008" marR="64008" marT="22860" marB="22860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DAY</a:t>
                      </a:r>
                    </a:p>
                  </a:txBody>
                  <a:tcPr marL="64008" marR="64008" marT="22860" marB="22860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marL="64008" marR="64008" marT="22860" marB="22860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marL="64008" marR="64008" marT="22860" marB="22860"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83–92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Route Selection, PBR &amp; OSPF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93–105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BGP Fundamentals &amp; Practical Use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106–118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IPsec VPN Architecture &amp; ADVPN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119–131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VPN Troubleshooting &amp; Operational Validation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132–144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FortiClient Architecture &amp; EMS Awareness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145–157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FortiGate High Availability Fundamentals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158–171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Fortinet SD-WAN &amp; Design Considerations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rPr lang="en-HU"/>
                        <a:t>172–195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E2B40"/>
                          </a:solidFill>
                        </a:defRPr>
                      </a:pPr>
                      <a:r>
                        <a:t>Performance Optimization, Advanced Troubleshooting &amp; Capstone</a:t>
                      </a:r>
                    </a:p>
                  </a:txBody>
                  <a:tcPr marL="64008" marR="64008" marT="22860" marB="22860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>
            <a:spLocks/>
          </p:cNvSpPr>
          <p:nvPr/>
        </p:nvSpPr>
        <p:spPr>
          <a:xfrm>
            <a:off x="502920" y="420624"/>
            <a:ext cx="10744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850" b="1">
                <a:solidFill>
                  <a:srgbClr val="687385"/>
                </a:solidFill>
              </a:rPr>
              <a:t>COVERAGE MATRIX • BLOCKS 9–16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56032"/>
            <a:ext cx="21945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E60012"/>
                </a:solidFill>
              </a:rPr>
              <a:t>INSTRUCTOR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68797</Words>
  <Application>Microsoft Macintosh PowerPoint</Application>
  <PresentationFormat>Widescreen</PresentationFormat>
  <Paragraphs>6867</Paragraphs>
  <Slides>200</Slides>
  <Notes>200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200</vt:i4>
      </vt:variant>
    </vt:vector>
  </HeadingPairs>
  <TitlesOfParts>
    <vt:vector size="204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FortiGate Administrator Course - 200 Slides</dc:title>
  <dc:subject>Fortinet FortiGate beginner administrator course</dc:subject>
  <dc:creator>Attila Csontos</dc:creator>
  <cp:lastModifiedBy>Laszlo Stomp</cp:lastModifiedBy>
  <cp:revision>3</cp:revision>
  <dcterms:created xsi:type="dcterms:W3CDTF">2026-09-08T13:12:09Z</dcterms:created>
  <dcterms:modified xsi:type="dcterms:W3CDTF">2026-10-03T07:38:22Z</dcterms:modified>
</cp:coreProperties>
</file>